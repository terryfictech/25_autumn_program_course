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231" r:id="rId3"/>
    <p:sldId id="891" r:id="rId5"/>
    <p:sldId id="1179" r:id="rId6"/>
    <p:sldId id="1267" r:id="rId7"/>
    <p:sldId id="1172" r:id="rId8"/>
    <p:sldId id="659" r:id="rId9"/>
    <p:sldId id="1342" r:id="rId10"/>
    <p:sldId id="1350" r:id="rId11"/>
    <p:sldId id="1170" r:id="rId12"/>
    <p:sldId id="1351" r:id="rId13"/>
    <p:sldId id="1302" r:id="rId14"/>
    <p:sldId id="1303" r:id="rId15"/>
    <p:sldId id="1304" r:id="rId16"/>
    <p:sldId id="1305" r:id="rId17"/>
    <p:sldId id="1306" r:id="rId18"/>
    <p:sldId id="568" r:id="rId19"/>
    <p:sldId id="1311" r:id="rId20"/>
    <p:sldId id="1315" r:id="rId21"/>
    <p:sldId id="1318" r:id="rId22"/>
    <p:sldId id="1321" r:id="rId23"/>
    <p:sldId id="1352" r:id="rId24"/>
    <p:sldId id="1175" r:id="rId25"/>
    <p:sldId id="729" r:id="rId26"/>
    <p:sldId id="1176" r:id="rId27"/>
    <p:sldId id="733" r:id="rId28"/>
    <p:sldId id="730" r:id="rId29"/>
    <p:sldId id="1353" r:id="rId30"/>
    <p:sldId id="650" r:id="rId31"/>
    <p:sldId id="601" r:id="rId32"/>
    <p:sldId id="602" r:id="rId33"/>
    <p:sldId id="603" r:id="rId34"/>
    <p:sldId id="610" r:id="rId35"/>
    <p:sldId id="612" r:id="rId36"/>
    <p:sldId id="613" r:id="rId37"/>
    <p:sldId id="615" r:id="rId38"/>
    <p:sldId id="626" r:id="rId39"/>
    <p:sldId id="620" r:id="rId40"/>
    <p:sldId id="621" r:id="rId41"/>
    <p:sldId id="622" r:id="rId42"/>
  </p:sldIdLst>
  <p:sldSz cx="9144000" cy="6858000" type="screen4x3"/>
  <p:notesSz cx="6858000" cy="9144000"/>
  <p:custDataLst>
    <p:tags r:id="rId4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FB1"/>
    <a:srgbClr val="0066FF"/>
    <a:srgbClr val="0000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7" autoAdjust="0"/>
    <p:restoredTop sz="90767" autoAdjust="0"/>
  </p:normalViewPr>
  <p:slideViewPr>
    <p:cSldViewPr snapToGrid="0" showGuides="1">
      <p:cViewPr varScale="1">
        <p:scale>
          <a:sx n="78" d="100"/>
          <a:sy n="78" d="100"/>
        </p:scale>
        <p:origin x="1435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gs" Target="tags/tag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yoj.ruc.edu.cn/index.php/teacher/problem/detail/pno/286.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课上练习：</a:t>
            </a:r>
            <a:r>
              <a:rPr lang="en-US" altLang="zh-CN" b="0" i="0" u="none" strike="noStrike" dirty="0">
                <a:solidFill>
                  <a:srgbClr val="4183C4"/>
                </a:solidFill>
                <a:effectLst/>
                <a:latin typeface="Lato" panose="020F0502020204030203" pitchFamily="34" charset="0"/>
                <a:hlinkClick r:id="rId3"/>
              </a:rPr>
              <a:t>#286 </a:t>
            </a:r>
            <a:r>
              <a:rPr lang="zh-CN" altLang="en-US" b="0" i="0" u="none" strike="noStrike" dirty="0">
                <a:solidFill>
                  <a:srgbClr val="4183C4"/>
                </a:solidFill>
                <a:effectLst/>
                <a:latin typeface="Lato" panose="020F0502020204030203" pitchFamily="34" charset="0"/>
                <a:hlinkClick r:id="rId3"/>
              </a:rPr>
              <a:t>链表操作（删除节点）</a:t>
            </a:r>
            <a:endParaRPr lang="en-US" altLang="zh-CN" b="0" i="0" u="none" strike="noStrike" dirty="0">
              <a:solidFill>
                <a:srgbClr val="4183C4"/>
              </a:solidFill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作业：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#676.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笨小猴，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#132 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指针练习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n-lt"/>
              </a:rPr>
              <a:t>，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#596. string(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函数提交版）</a:t>
            </a:r>
            <a:endParaRPr lang="zh-CN" altLang="en-US" b="1" i="0" dirty="0"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1" i="0" dirty="0">
              <a:effectLst/>
              <a:latin typeface="Lato" panose="020F0502020204030203" pitchFamily="34" charset="0"/>
            </a:endParaRP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3379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F534DBA-B7A8-4B2C-A547-487B6C2367B2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latin typeface="Garamond" panose="02020404030301010803" pitchFamily="18" charset="0"/>
                <a:cs typeface="Arial" panose="020B0604020202020204" pitchFamily="34" charset="0"/>
              </a:rPr>
              <a:t>&amp;ar0 = 0012FF74 //</a:t>
            </a:r>
            <a:r>
              <a:rPr lang="zh-CN" altLang="en-US" b="1">
                <a:latin typeface="Garamond" panose="02020404030301010803" pitchFamily="18" charset="0"/>
                <a:cs typeface="Arial" panose="020B0604020202020204" pitchFamily="34" charset="0"/>
              </a:rPr>
              <a:t>整个数组的指针</a:t>
            </a:r>
            <a:endParaRPr lang="en-US" altLang="zh-CN" b="1" dirty="0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dirty="0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altLang="zh-CN" b="1" dirty="0">
                <a:latin typeface="Garamond" panose="02020404030301010803" pitchFamily="18" charset="0"/>
                <a:cs typeface="Arial" panose="020B0604020202020204" pitchFamily="34" charset="0"/>
              </a:rPr>
              <a:t>ar0=00FFF8F4</a:t>
            </a:r>
            <a:endParaRPr lang="pt-BR" altLang="zh-CN" b="1" dirty="0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altLang="zh-CN" b="1" dirty="0">
                <a:latin typeface="Garamond" panose="02020404030301010803" pitchFamily="18" charset="0"/>
                <a:cs typeface="Arial" panose="020B0604020202020204" pitchFamily="34" charset="0"/>
              </a:rPr>
              <a:t>ar0+1=00FFF8F8</a:t>
            </a:r>
            <a:endParaRPr lang="pt-BR" altLang="zh-CN" b="1" dirty="0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altLang="zh-CN" b="1" dirty="0">
                <a:latin typeface="Garamond" panose="02020404030301010803" pitchFamily="18" charset="0"/>
                <a:cs typeface="Arial" panose="020B0604020202020204" pitchFamily="34" charset="0"/>
              </a:rPr>
              <a:t>&amp;ar0=00FFF8F4</a:t>
            </a:r>
            <a:endParaRPr lang="pt-BR" altLang="zh-CN" b="1" dirty="0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altLang="zh-CN" b="1" dirty="0">
                <a:latin typeface="Garamond" panose="02020404030301010803" pitchFamily="18" charset="0"/>
                <a:cs typeface="Arial" panose="020B0604020202020204" pitchFamily="34" charset="0"/>
              </a:rPr>
              <a:t>&amp;ar0+1=00FFF900</a:t>
            </a:r>
            <a:endParaRPr lang="pt-BR" altLang="zh-CN" b="1" dirty="0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altLang="zh-CN" b="1" dirty="0">
                <a:latin typeface="Garamond" panose="02020404030301010803" pitchFamily="18" charset="0"/>
                <a:cs typeface="Arial" panose="020B0604020202020204" pitchFamily="34" charset="0"/>
              </a:rPr>
              <a:t>&amp;ar0[0]=00FFF8F4</a:t>
            </a:r>
            <a:endParaRPr lang="pt-BR" altLang="zh-CN" b="1" dirty="0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altLang="zh-CN" b="1" dirty="0">
                <a:latin typeface="Garamond" panose="02020404030301010803" pitchFamily="18" charset="0"/>
                <a:cs typeface="Arial" panose="020B0604020202020204" pitchFamily="34" charset="0"/>
              </a:rPr>
              <a:t>&amp;ar0[0]+1=00FFF8F8</a:t>
            </a:r>
            <a:endParaRPr lang="en-US" altLang="zh-CN" b="1" dirty="0"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512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C8EDECE-04AF-4146-9399-62E5292756CC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C/C++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程序中的内存分为两个部分：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atinLnBrk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栈：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在函数内部声明的所有变量都将占用栈内存。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latinLnBrk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堆：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这是程序中未使用的内存，在程序运行时可用于动态分配内存。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自学</a:t>
            </a:r>
            <a:r>
              <a:rPr lang="en-US" dirty="0" err="1"/>
              <a:t>recalloc</a:t>
            </a:r>
            <a:r>
              <a:rPr lang="zh-CN" altLang="en-US" dirty="0"/>
              <a:t>函数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1D8F0F-237A-4FC2-9D22-165D99CBDDE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7414926" y="813763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圆: 空心 6"/>
          <p:cNvSpPr/>
          <p:nvPr/>
        </p:nvSpPr>
        <p:spPr>
          <a:xfrm>
            <a:off x="-1447253" y="-1783037"/>
            <a:ext cx="3960000" cy="3960000"/>
          </a:xfrm>
          <a:prstGeom prst="donut">
            <a:avLst>
              <a:gd name="adj" fmla="val 1484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4" y="2063683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4" y="2155123"/>
            <a:ext cx="6606253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409455" y="215530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389185"/>
            <a:ext cx="8280000" cy="4936895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295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69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260000"/>
            <a:ext cx="8280000" cy="5040000"/>
          </a:xfrm>
        </p:spPr>
        <p:txBody>
          <a:bodyPr/>
          <a:lstStyle>
            <a:lvl2pPr indent="-288290">
              <a:defRPr/>
            </a:lvl2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45">
              <a:defRPr/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45">
              <a:defRPr/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000" y="2037714"/>
            <a:ext cx="4066182" cy="438828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037714"/>
            <a:ext cx="4082850" cy="438828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4" y="2155123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BF01F0-5869-42E2-A8FD-A9376291A2A2}" type="slidenum">
              <a:rPr lang="en-US" altLang="zh-CN"/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00" dir="10800000" algn="tl" rotWithShape="0">
              <a:srgbClr val="73726C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" name="Oval 1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7" name="Oval 16"/>
          <p:cNvSpPr/>
          <p:nvPr/>
        </p:nvSpPr>
        <p:spPr>
          <a:xfrm>
            <a:off x="2408239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3375"/>
              </a:lnSpc>
              <a:buNone/>
              <a:defRPr sz="3000" b="1" cap="all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3970" indent="0">
              <a:lnSpc>
                <a:spcPts val="1725"/>
              </a:lnSpc>
              <a:spcBef>
                <a:spcPts val="0"/>
              </a:spcBef>
              <a:buNone/>
              <a:defRPr sz="15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65537A-573F-4928-9A76-1F19383F4DC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CF29FA-0C56-410B-9D24-8B2794A9700F}" type="datetime5">
              <a:rPr lang="en-US" altLang="zh-CN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/>
          <p:nvPr/>
        </p:nvSpPr>
        <p:spPr>
          <a:xfrm>
            <a:off x="1014414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invGray">
          <a:xfrm>
            <a:off x="1014414" y="0"/>
            <a:ext cx="7302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00" dir="10800000" algn="tl" rotWithShape="0">
              <a:srgbClr val="73726C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30D4E2-FF31-4937-A321-2C46F1F7AD9F}" type="datetime5">
              <a:rPr lang="en-US" altLang="zh-CN" smtClean="0"/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2C4C4-4215-4352-B597-B2750E65EFF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8C19DD-317E-406D-9237-E4A42EAADDA7}" type="slidenum">
              <a:rPr lang="en-US" altLang="zh-CN"/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emf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828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6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29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50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1268873" y="3811522"/>
            <a:ext cx="7557287" cy="1655762"/>
          </a:xfrm>
        </p:spPr>
        <p:txBody>
          <a:bodyPr>
            <a:normAutofit/>
          </a:bodyPr>
          <a:lstStyle/>
          <a:p>
            <a:pPr algn="r"/>
            <a:r>
              <a:rPr lang="en-US" altLang="zh-CN" sz="3600" dirty="0"/>
              <a:t>——</a:t>
            </a:r>
            <a:r>
              <a:rPr lang="zh-CN" altLang="en-US" sz="3600" dirty="0"/>
              <a:t>指针的指</a:t>
            </a:r>
            <a:r>
              <a:rPr lang="zh-CN" altLang="en-US" sz="3600"/>
              <a:t>针，动态内存等</a:t>
            </a:r>
            <a:endParaRPr lang="en-US" sz="3600" dirty="0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603856" y="1941437"/>
            <a:ext cx="6606253" cy="1655763"/>
          </a:xfrm>
        </p:spPr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22</a:t>
            </a:r>
            <a:r>
              <a:rPr lang="zh-CN" altLang="en-US" dirty="0"/>
              <a:t>讲 指针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上上讲内容回顾（指针基础）</a:t>
            </a:r>
            <a:endParaRPr 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指针与指针变量的概念</a:t>
            </a:r>
            <a:endParaRPr lang="en-US" altLang="zh-CN" dirty="0"/>
          </a:p>
          <a:p>
            <a:r>
              <a:rPr lang="zh-CN" altLang="en-US" dirty="0"/>
              <a:t>指针与数组</a:t>
            </a:r>
            <a:endParaRPr lang="en-US" altLang="zh-CN" dirty="0"/>
          </a:p>
          <a:p>
            <a:r>
              <a:rPr lang="zh-CN" altLang="en-US" dirty="0"/>
              <a:t>字符串及其处理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400" dirty="0"/>
              <a:t>指针与结构体</a:t>
            </a:r>
            <a:endParaRPr lang="en-US" altLang="zh-CN" sz="2400" dirty="0"/>
          </a:p>
          <a:p>
            <a:pPr lvl="1"/>
            <a:r>
              <a:rPr lang="en-US" altLang="zh-CN" sz="2000" dirty="0"/>
              <a:t>-&gt; </a:t>
            </a:r>
            <a:r>
              <a:rPr lang="zh-CN" altLang="en-US" sz="2000" dirty="0"/>
              <a:t>操作符</a:t>
            </a:r>
            <a:endParaRPr lang="en-US" altLang="zh-CN" sz="2000" dirty="0"/>
          </a:p>
          <a:p>
            <a:r>
              <a:rPr lang="en-US" altLang="zh-CN" sz="2400" dirty="0"/>
              <a:t>void</a:t>
            </a:r>
            <a:r>
              <a:rPr lang="zh-CN" altLang="en-US" sz="2400" dirty="0"/>
              <a:t>指针</a:t>
            </a:r>
            <a:endParaRPr lang="en-US" altLang="zh-CN" sz="2400" dirty="0"/>
          </a:p>
          <a:p>
            <a:pPr lvl="1"/>
            <a:r>
              <a:rPr lang="zh-CN" altLang="en-US" sz="2000" dirty="0"/>
              <a:t>可以指向任何类型</a:t>
            </a:r>
            <a:endParaRPr lang="en-US" altLang="zh-CN" sz="2000" dirty="0"/>
          </a:p>
          <a:p>
            <a:pPr lvl="2"/>
            <a:r>
              <a:rPr lang="en-US" altLang="zh-CN" sz="1800" dirty="0">
                <a:solidFill>
                  <a:srgbClr val="FF0000"/>
                </a:solidFill>
              </a:rPr>
              <a:t>how</a:t>
            </a:r>
            <a:r>
              <a:rPr lang="zh-CN" altLang="en-US" sz="1800" dirty="0">
                <a:solidFill>
                  <a:srgbClr val="FF0000"/>
                </a:solidFill>
              </a:rPr>
              <a:t>？用处？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lvl="1"/>
            <a:r>
              <a:rPr lang="zh-CN" altLang="en-US" sz="2000" dirty="0"/>
              <a:t>不能使用间接访问运算符</a:t>
            </a:r>
            <a:endParaRPr lang="en-US" altLang="zh-CN" sz="2000" dirty="0"/>
          </a:p>
          <a:p>
            <a:pPr lvl="1"/>
            <a:r>
              <a:rPr lang="en-US" altLang="zh-CN" sz="2000" dirty="0"/>
              <a:t>void</a:t>
            </a:r>
            <a:r>
              <a:rPr lang="zh-CN" altLang="en-US" sz="2000" dirty="0"/>
              <a:t>指针运算</a:t>
            </a:r>
            <a:endParaRPr lang="en-US" altLang="zh-CN" sz="2000" dirty="0"/>
          </a:p>
          <a:p>
            <a:pPr lvl="1"/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动态分配内存时使用</a:t>
            </a:r>
            <a:endParaRPr lang="en-US" altLang="zh-C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zh-CN" altLang="en-US" sz="2400" dirty="0"/>
              <a:t>指针与函数</a:t>
            </a:r>
            <a:endParaRPr lang="en-US" altLang="zh-CN" sz="2400" dirty="0"/>
          </a:p>
          <a:p>
            <a:pPr lvl="1"/>
            <a:r>
              <a:rPr lang="zh-CN" altLang="en-US" sz="2000" dirty="0"/>
              <a:t>函数参数为指针</a:t>
            </a:r>
            <a:endParaRPr lang="en-US" altLang="zh-CN" sz="2000" dirty="0"/>
          </a:p>
          <a:p>
            <a:pPr lvl="1"/>
            <a:r>
              <a:rPr lang="zh-CN" altLang="en-US" sz="2000" dirty="0"/>
              <a:t>函数返回值为指针</a:t>
            </a:r>
            <a:endParaRPr lang="en-US" altLang="zh-CN" sz="2000" dirty="0"/>
          </a:p>
          <a:p>
            <a:pPr lvl="1"/>
            <a:r>
              <a:rPr lang="zh-CN" altLang="en-US" sz="2000" dirty="0"/>
              <a:t>指向函数的指针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9161865" cy="886662"/>
          </a:xfrm>
        </p:spPr>
        <p:txBody>
          <a:bodyPr>
            <a:normAutofit/>
          </a:bodyPr>
          <a:lstStyle/>
          <a:p>
            <a:r>
              <a:rPr lang="zh-CN" altLang="en-US" dirty="0"/>
              <a:t>上讲内容回顾（指针与结构体、函数）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  <p:sp>
        <p:nvSpPr>
          <p:cNvPr id="7" name="TextBox 6"/>
          <p:cNvSpPr txBox="1"/>
          <p:nvPr/>
        </p:nvSpPr>
        <p:spPr>
          <a:xfrm>
            <a:off x="4139248" y="6025890"/>
            <a:ext cx="4865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如果我要实现一个功能，会怎么实现呢？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用指针可以实现链表</a:t>
            </a:r>
            <a:endParaRPr lang="zh-CN" altLang="en-US" dirty="0"/>
          </a:p>
        </p:txBody>
      </p:sp>
      <p:pic>
        <p:nvPicPr>
          <p:cNvPr id="3074" name="Picture 2" descr="36张图带你深刻理解链表_链表图示-CSDN博客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06" r="2888" b="24854"/>
          <a:stretch>
            <a:fillRect/>
          </a:stretch>
        </p:blipFill>
        <p:spPr bwMode="auto">
          <a:xfrm>
            <a:off x="0" y="1324695"/>
            <a:ext cx="9144000" cy="2668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0569" y="4263977"/>
            <a:ext cx="326641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struct node {</a:t>
            </a:r>
            <a:br>
              <a:rPr lang="en-US" altLang="zh-CN" sz="3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sz="3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   int m;</a:t>
            </a:r>
            <a:br>
              <a:rPr lang="en-US" altLang="zh-CN" sz="3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sz="3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   node *next;</a:t>
            </a:r>
            <a:br>
              <a:rPr lang="en-US" altLang="zh-CN" sz="3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sz="3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};</a:t>
            </a:r>
            <a:endParaRPr lang="zh-CN" alt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4735060" y="4440875"/>
            <a:ext cx="38889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思考：链表添加</a:t>
            </a:r>
            <a:r>
              <a:rPr lang="en-US" altLang="zh-CN" sz="2800" dirty="0"/>
              <a:t>/</a:t>
            </a:r>
            <a:r>
              <a:rPr lang="zh-CN" altLang="en-US" sz="2800" dirty="0"/>
              <a:t>删除数据比数组容易吗？</a:t>
            </a:r>
            <a:endParaRPr lang="en-US" altLang="zh-CN" sz="2800" dirty="0"/>
          </a:p>
          <a:p>
            <a:r>
              <a:rPr lang="zh-CN" altLang="en-US" sz="2800" dirty="0"/>
              <a:t>例如，原本有序存着数据</a:t>
            </a:r>
            <a:r>
              <a:rPr lang="en-US" altLang="zh-CN" sz="2800" dirty="0"/>
              <a:t>2-&gt;3-&gt;5-&gt;8</a:t>
            </a:r>
            <a:r>
              <a:rPr lang="zh-CN" altLang="en-US" sz="2800" dirty="0"/>
              <a:t>；要插入</a:t>
            </a:r>
            <a:r>
              <a:rPr lang="en-US" altLang="zh-CN" sz="2800" dirty="0"/>
              <a:t>4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void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指针类型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zh-CN" altLang="en-US" sz="2800" dirty="0"/>
              <a:t>定义</a:t>
            </a:r>
            <a:r>
              <a:rPr lang="en-US" altLang="zh-CN" sz="2800" dirty="0"/>
              <a:t>void</a:t>
            </a:r>
            <a:r>
              <a:rPr lang="zh-CN" altLang="en-US" sz="2800" dirty="0"/>
              <a:t>类型指针，不需要指定它是指向哪种数据类型，实际上它可以指向任何数据类型。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void</a:t>
            </a:r>
            <a:r>
              <a:rPr lang="zh-CN" altLang="en-US" sz="2800" dirty="0"/>
              <a:t>类型指针一般用在动态内容分配中。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例：</a:t>
            </a: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		</a:t>
            </a:r>
            <a:r>
              <a:rPr lang="en-US" altLang="zh-CN" sz="2800" dirty="0"/>
              <a:t>void *p1;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		char *p2;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		</a:t>
            </a:r>
            <a:r>
              <a:rPr lang="en-US" altLang="zh-CN" sz="2800" dirty="0">
                <a:solidFill>
                  <a:srgbClr val="FF0000"/>
                </a:solidFill>
              </a:rPr>
              <a:t>p1 = malloc( </a:t>
            </a:r>
            <a:r>
              <a:rPr lang="en-US" altLang="zh-CN" sz="2800" dirty="0" err="1">
                <a:solidFill>
                  <a:srgbClr val="FF0000"/>
                </a:solidFill>
              </a:rPr>
              <a:t>sizeof</a:t>
            </a:r>
            <a:r>
              <a:rPr lang="en-US" altLang="zh-CN" sz="2800" dirty="0">
                <a:solidFill>
                  <a:srgbClr val="FF0000"/>
                </a:solidFill>
              </a:rPr>
              <a:t>( char ) * 1000 );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		p2 = ( char * ) p1;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        </a:t>
            </a:r>
            <a:r>
              <a:rPr lang="en-US" altLang="zh-CN" sz="2800" dirty="0"/>
              <a:t>free</a:t>
            </a:r>
            <a:r>
              <a:rPr lang="zh-CN" altLang="en-US" sz="2800" dirty="0"/>
              <a:t> </a:t>
            </a:r>
            <a:r>
              <a:rPr lang="en-US" altLang="zh-CN" sz="2800" dirty="0"/>
              <a:t>(p1);</a:t>
            </a:r>
            <a:endParaRPr lang="en-US" altLang="zh-CN" sz="2800" dirty="0"/>
          </a:p>
        </p:txBody>
      </p:sp>
      <p:sp>
        <p:nvSpPr>
          <p:cNvPr id="4" name="Line Callout 1 3"/>
          <p:cNvSpPr/>
          <p:nvPr/>
        </p:nvSpPr>
        <p:spPr>
          <a:xfrm>
            <a:off x="6372225" y="5921375"/>
            <a:ext cx="2397125" cy="654050"/>
          </a:xfrm>
          <a:prstGeom prst="borderCallout1">
            <a:avLst>
              <a:gd name="adj1" fmla="val -23307"/>
              <a:gd name="adj2" fmla="val 12611"/>
              <a:gd name="adj3" fmla="val -89463"/>
              <a:gd name="adj4" fmla="val -37156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后面会详细介绍</a:t>
            </a:r>
            <a:endParaRPr lang="en-US" altLang="zh-CN" dirty="0">
              <a:solidFill>
                <a:srgbClr val="FFFFFF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上讲重点内容回顾：</a:t>
            </a:r>
            <a:br>
              <a:rPr lang="en-US" altLang="zh-CN" dirty="0"/>
            </a:br>
            <a:r>
              <a:rPr lang="en-US" altLang="zh-CN" dirty="0"/>
              <a:t>		</a:t>
            </a:r>
            <a:r>
              <a:rPr lang="zh-CN" altLang="en-US" sz="3600" dirty="0">
                <a:solidFill>
                  <a:srgbClr val="C00000"/>
                </a:solidFill>
              </a:rPr>
              <a:t>指向函数的指针</a:t>
            </a:r>
            <a:r>
              <a:rPr lang="zh-CN" altLang="en-US" sz="3600" dirty="0">
                <a:solidFill>
                  <a:schemeClr val="tx1"/>
                </a:solidFill>
              </a:rPr>
              <a:t>作为</a:t>
            </a:r>
            <a:r>
              <a:rPr lang="zh-CN" altLang="en-US" sz="3600" dirty="0">
                <a:solidFill>
                  <a:srgbClr val="0000FF"/>
                </a:solidFill>
              </a:rPr>
              <a:t>函数参数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112410"/>
            <a:ext cx="8280000" cy="3857233"/>
          </a:xfrm>
        </p:spPr>
        <p:txBody>
          <a:bodyPr>
            <a:normAutofit lnSpcReduction="10000"/>
          </a:bodyPr>
          <a:lstStyle/>
          <a:p>
            <a:r>
              <a:rPr lang="en-US" sz="2800" dirty="0" err="1"/>
              <a:t>qsort</a:t>
            </a:r>
            <a:r>
              <a:rPr lang="zh-CN" altLang="en-US" sz="2800" dirty="0"/>
              <a:t>函数</a:t>
            </a:r>
            <a:endParaRPr lang="zh-CN" altLang="en-US" sz="2800" dirty="0"/>
          </a:p>
          <a:p>
            <a:r>
              <a:rPr lang="en-US" sz="2800" dirty="0">
                <a:solidFill>
                  <a:srgbClr val="C00000"/>
                </a:solidFill>
              </a:rPr>
              <a:t>void </a:t>
            </a:r>
            <a:r>
              <a:rPr lang="en-US" sz="2800" dirty="0" err="1">
                <a:solidFill>
                  <a:srgbClr val="C00000"/>
                </a:solidFill>
              </a:rPr>
              <a:t>qsort</a:t>
            </a:r>
            <a:r>
              <a:rPr lang="en-US" sz="2800" dirty="0">
                <a:solidFill>
                  <a:srgbClr val="C00000"/>
                </a:solidFill>
              </a:rPr>
              <a:t>(</a:t>
            </a:r>
            <a:r>
              <a:rPr lang="en-US" sz="2800" dirty="0">
                <a:solidFill>
                  <a:srgbClr val="00B050"/>
                </a:solidFill>
              </a:rPr>
              <a:t>void*</a:t>
            </a:r>
            <a:r>
              <a:rPr lang="en-US" sz="2800" dirty="0">
                <a:solidFill>
                  <a:srgbClr val="C00000"/>
                </a:solidFill>
              </a:rPr>
              <a:t> base, </a:t>
            </a:r>
            <a:r>
              <a:rPr lang="en-US" sz="2800" dirty="0" err="1">
                <a:solidFill>
                  <a:srgbClr val="C00000"/>
                </a:solidFill>
              </a:rPr>
              <a:t>size_t</a:t>
            </a:r>
            <a:r>
              <a:rPr lang="en-US" sz="2800" dirty="0">
                <a:solidFill>
                  <a:srgbClr val="C00000"/>
                </a:solidFill>
              </a:rPr>
              <a:t> n, </a:t>
            </a:r>
            <a:r>
              <a:rPr lang="en-US" sz="2800" dirty="0" err="1">
                <a:solidFill>
                  <a:srgbClr val="C00000"/>
                </a:solidFill>
              </a:rPr>
              <a:t>size_t</a:t>
            </a:r>
            <a:r>
              <a:rPr lang="en-US" sz="2800" dirty="0">
                <a:solidFill>
                  <a:srgbClr val="C00000"/>
                </a:solidFill>
              </a:rPr>
              <a:t> size, </a:t>
            </a:r>
            <a:r>
              <a:rPr lang="en-US" sz="2800" dirty="0" err="1">
                <a:solidFill>
                  <a:srgbClr val="C00000"/>
                </a:solidFill>
              </a:rPr>
              <a:t>int</a:t>
            </a:r>
            <a:r>
              <a:rPr lang="en-US" sz="2800" dirty="0">
                <a:solidFill>
                  <a:srgbClr val="C00000"/>
                </a:solidFill>
              </a:rPr>
              <a:t> (*</a:t>
            </a:r>
            <a:r>
              <a:rPr lang="en-US" sz="2800" dirty="0" err="1">
                <a:solidFill>
                  <a:srgbClr val="C00000"/>
                </a:solidFill>
              </a:rPr>
              <a:t>cmp</a:t>
            </a:r>
            <a:r>
              <a:rPr lang="en-US" sz="2800" dirty="0">
                <a:solidFill>
                  <a:srgbClr val="C00000"/>
                </a:solidFill>
              </a:rPr>
              <a:t>)(</a:t>
            </a:r>
            <a:r>
              <a:rPr lang="en-US" sz="2800" dirty="0" err="1">
                <a:solidFill>
                  <a:srgbClr val="00B050"/>
                </a:solidFill>
              </a:rPr>
              <a:t>const</a:t>
            </a:r>
            <a:r>
              <a:rPr lang="en-US" sz="2800" dirty="0">
                <a:solidFill>
                  <a:srgbClr val="00B050"/>
                </a:solidFill>
              </a:rPr>
              <a:t> void*</a:t>
            </a:r>
            <a:r>
              <a:rPr lang="en-US" sz="2800" dirty="0">
                <a:solidFill>
                  <a:srgbClr val="C00000"/>
                </a:solidFill>
              </a:rPr>
              <a:t>, </a:t>
            </a:r>
            <a:r>
              <a:rPr lang="en-US" sz="2800" dirty="0" err="1">
                <a:solidFill>
                  <a:srgbClr val="00B050"/>
                </a:solidFill>
              </a:rPr>
              <a:t>const</a:t>
            </a:r>
            <a:r>
              <a:rPr lang="en-US" sz="2800" dirty="0">
                <a:solidFill>
                  <a:srgbClr val="00B050"/>
                </a:solidFill>
              </a:rPr>
              <a:t> void*</a:t>
            </a:r>
            <a:r>
              <a:rPr lang="en-US" sz="2800" dirty="0">
                <a:solidFill>
                  <a:srgbClr val="C00000"/>
                </a:solidFill>
              </a:rPr>
              <a:t>))</a:t>
            </a:r>
            <a:endParaRPr lang="en-US" sz="2800" dirty="0">
              <a:solidFill>
                <a:srgbClr val="C00000"/>
              </a:solidFill>
            </a:endParaRPr>
          </a:p>
          <a:p>
            <a:pPr lvl="1"/>
            <a:r>
              <a:rPr lang="en-US" sz="2400" dirty="0"/>
              <a:t>base </a:t>
            </a:r>
            <a:r>
              <a:rPr lang="zh-CN" altLang="en-US" sz="2400" dirty="0"/>
              <a:t>为要排序的数组</a:t>
            </a:r>
            <a:endParaRPr lang="zh-CN" altLang="en-US" sz="2400" dirty="0"/>
          </a:p>
          <a:p>
            <a:pPr lvl="1"/>
            <a:r>
              <a:rPr lang="en-US" sz="2400" dirty="0"/>
              <a:t>n</a:t>
            </a:r>
            <a:r>
              <a:rPr lang="zh-CN" altLang="en-US" sz="2400" dirty="0"/>
              <a:t>为要排序数组的长度</a:t>
            </a:r>
            <a:endParaRPr lang="zh-CN" altLang="en-US" sz="2400" dirty="0"/>
          </a:p>
          <a:p>
            <a:pPr lvl="1"/>
            <a:r>
              <a:rPr lang="en-US" sz="2400" dirty="0"/>
              <a:t>size</a:t>
            </a:r>
            <a:r>
              <a:rPr lang="zh-CN" altLang="en-US" sz="2400" dirty="0"/>
              <a:t>为数组元素的大小（以字节为单位） </a:t>
            </a:r>
            <a:endParaRPr lang="zh-CN" altLang="en-US" sz="2400" dirty="0"/>
          </a:p>
          <a:p>
            <a:pPr lvl="1"/>
            <a:r>
              <a:rPr lang="en-US" sz="2400" dirty="0" err="1"/>
              <a:t>cmp</a:t>
            </a:r>
            <a:r>
              <a:rPr lang="zh-CN" altLang="en-US" sz="2400" dirty="0"/>
              <a:t>为判断大小函数的指针</a:t>
            </a:r>
            <a:endParaRPr lang="zh-CN" altLang="en-US" sz="2400" dirty="0"/>
          </a:p>
          <a:p>
            <a:pPr lvl="2"/>
            <a:r>
              <a:rPr lang="zh-CN" altLang="en-US" sz="2000" dirty="0"/>
              <a:t>这个函数需要自己定义， 如果</a:t>
            </a:r>
            <a:r>
              <a:rPr lang="en-US" sz="2000" dirty="0"/>
              <a:t>a&gt;b，</a:t>
            </a:r>
            <a:r>
              <a:rPr lang="zh-CN" altLang="en-US" sz="2000" dirty="0"/>
              <a:t>函数返回</a:t>
            </a:r>
            <a:r>
              <a:rPr lang="en-US" altLang="zh-CN" sz="2000" dirty="0"/>
              <a:t>1</a:t>
            </a:r>
            <a:r>
              <a:rPr lang="zh-CN" altLang="en-US" sz="2000" dirty="0"/>
              <a:t>；</a:t>
            </a:r>
            <a:r>
              <a:rPr lang="en-US" sz="2000" dirty="0"/>
              <a:t>a&lt;b，</a:t>
            </a:r>
            <a:r>
              <a:rPr lang="zh-CN" altLang="en-US" sz="2000" dirty="0"/>
              <a:t>函数返回</a:t>
            </a:r>
            <a:r>
              <a:rPr lang="en-US" altLang="zh-CN" sz="2000" dirty="0"/>
              <a:t>-1</a:t>
            </a:r>
            <a:r>
              <a:rPr lang="zh-CN" altLang="en-US" sz="2000" dirty="0"/>
              <a:t>；</a:t>
            </a:r>
            <a:r>
              <a:rPr lang="en-US" sz="2000" dirty="0"/>
              <a:t>a=b，</a:t>
            </a:r>
            <a:r>
              <a:rPr lang="zh-CN" altLang="en-US" sz="2000" dirty="0"/>
              <a:t>函数返回</a:t>
            </a:r>
            <a:r>
              <a:rPr lang="en-US" altLang="zh-CN" sz="2000" dirty="0"/>
              <a:t>0 </a:t>
            </a:r>
            <a:endParaRPr lang="en-US" altLang="zh-CN" sz="20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指针的指针</a:t>
            </a:r>
            <a:endParaRPr lang="en-US" altLang="zh-CN" dirty="0"/>
          </a:p>
          <a:p>
            <a:r>
              <a:rPr lang="zh-CN" altLang="en-US" dirty="0"/>
              <a:t>指针数组</a:t>
            </a:r>
            <a:endParaRPr lang="en-US" altLang="zh-CN" dirty="0"/>
          </a:p>
          <a:p>
            <a:r>
              <a:rPr lang="zh-CN" altLang="en-US" dirty="0"/>
              <a:t>动态分配内存</a:t>
            </a:r>
            <a:endParaRPr lang="en-US" altLang="zh-CN" dirty="0"/>
          </a:p>
          <a:p>
            <a:pPr lvl="1"/>
            <a:r>
              <a:rPr lang="zh-CN" altLang="en-US" dirty="0"/>
              <a:t>动态数组</a:t>
            </a:r>
            <a:endParaRPr lang="en-US" altLang="zh-CN" dirty="0"/>
          </a:p>
          <a:p>
            <a:r>
              <a:rPr lang="zh-CN" altLang="en-US" dirty="0"/>
              <a:t>其他</a:t>
            </a:r>
            <a:endParaRPr lang="en-US" altLang="zh-CN" dirty="0"/>
          </a:p>
          <a:p>
            <a:pPr lvl="1"/>
            <a:r>
              <a:rPr lang="en-US" altLang="zh-CN" dirty="0"/>
              <a:t>const</a:t>
            </a:r>
            <a:r>
              <a:rPr lang="zh-CN" altLang="en-US" dirty="0"/>
              <a:t>与指针</a:t>
            </a:r>
            <a:endParaRPr lang="en-US" altLang="zh-CN" dirty="0"/>
          </a:p>
          <a:p>
            <a:pPr lvl="1"/>
            <a:r>
              <a:rPr lang="zh-CN" altLang="en-US" dirty="0"/>
              <a:t>主函数的参数</a:t>
            </a:r>
            <a:endParaRPr lang="en-US" altLang="zh-CN" dirty="0"/>
          </a:p>
          <a:p>
            <a:pPr lvl="1"/>
            <a:r>
              <a:rPr lang="zh-CN" altLang="en-US" dirty="0"/>
              <a:t>引用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本讲内容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指针的指针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指针数组</a:t>
            </a:r>
            <a:endParaRPr lang="en-US" altLang="zh-CN" dirty="0"/>
          </a:p>
          <a:p>
            <a:r>
              <a:rPr lang="zh-CN" altLang="en-US" dirty="0"/>
              <a:t>动态分配内存</a:t>
            </a:r>
            <a:endParaRPr lang="en-US" altLang="zh-CN" dirty="0"/>
          </a:p>
          <a:p>
            <a:pPr lvl="1"/>
            <a:r>
              <a:rPr lang="zh-CN" altLang="en-US" dirty="0"/>
              <a:t>动态数组</a:t>
            </a:r>
            <a:endParaRPr lang="en-US" altLang="zh-CN" dirty="0"/>
          </a:p>
          <a:p>
            <a:r>
              <a:rPr lang="zh-CN" altLang="en-US" dirty="0"/>
              <a:t>其他</a:t>
            </a:r>
            <a:endParaRPr lang="en-US" altLang="zh-CN" dirty="0"/>
          </a:p>
          <a:p>
            <a:pPr lvl="1"/>
            <a:r>
              <a:rPr lang="en-US" altLang="zh-CN" dirty="0"/>
              <a:t>const</a:t>
            </a:r>
            <a:r>
              <a:rPr lang="zh-CN" altLang="en-US" dirty="0"/>
              <a:t>与指针</a:t>
            </a:r>
            <a:endParaRPr lang="en-US" altLang="zh-CN" dirty="0"/>
          </a:p>
          <a:p>
            <a:pPr lvl="1"/>
            <a:r>
              <a:rPr lang="zh-CN" altLang="en-US" dirty="0"/>
              <a:t>主函数的参数</a:t>
            </a:r>
            <a:endParaRPr lang="en-US" altLang="zh-CN" dirty="0"/>
          </a:p>
          <a:p>
            <a:pPr lvl="1"/>
            <a:r>
              <a:rPr lang="zh-CN" altLang="en-US" dirty="0"/>
              <a:t>引用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本讲内容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指针的指针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/>
              <a:t>可以定义指向指针的指针</a:t>
            </a:r>
            <a:endParaRPr lang="en-US" altLang="zh-CN" sz="2800"/>
          </a:p>
          <a:p>
            <a:pPr lvl="1"/>
            <a:r>
              <a:rPr lang="zh-CN" altLang="en-US" sz="2400"/>
              <a:t>二级指针，例子：</a:t>
            </a:r>
            <a:r>
              <a:rPr lang="en-US" altLang="zh-CN" sz="2400"/>
              <a:t>int</a:t>
            </a:r>
            <a:r>
              <a:rPr lang="zh-CN" altLang="en-US" sz="2400"/>
              <a:t> **</a:t>
            </a:r>
            <a:r>
              <a:rPr lang="en-US" altLang="zh-CN" sz="2400"/>
              <a:t>q</a:t>
            </a:r>
            <a:endParaRPr lang="en-US" altLang="zh-CN" sz="2400"/>
          </a:p>
          <a:p>
            <a:pPr lvl="1"/>
            <a:r>
              <a:rPr lang="zh-CN" altLang="en-US" sz="2400"/>
              <a:t>三级指针，例子：</a:t>
            </a:r>
            <a:r>
              <a:rPr lang="en-US" altLang="zh-CN" sz="2400"/>
              <a:t>int</a:t>
            </a:r>
            <a:r>
              <a:rPr lang="zh-CN" altLang="en-US" sz="2400"/>
              <a:t> ***</a:t>
            </a:r>
            <a:r>
              <a:rPr lang="en-US" altLang="zh-CN" sz="2400"/>
              <a:t>r</a:t>
            </a:r>
            <a:endParaRPr lang="en-US" altLang="en-US" sz="2400">
              <a:ea typeface="华文中宋" panose="0201060004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dirty="0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32772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09C2F9F-21C8-49B7-B07C-DB1470D31712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grpSp>
        <p:nvGrpSpPr>
          <p:cNvPr id="32773" name="Group 6"/>
          <p:cNvGrpSpPr/>
          <p:nvPr/>
        </p:nvGrpSpPr>
        <p:grpSpPr bwMode="auto">
          <a:xfrm>
            <a:off x="5387975" y="2371725"/>
            <a:ext cx="3144838" cy="4187825"/>
            <a:chOff x="5387986" y="2371725"/>
            <a:chExt cx="3144454" cy="4188475"/>
          </a:xfrm>
        </p:grpSpPr>
        <p:sp>
          <p:nvSpPr>
            <p:cNvPr id="8" name="Rectangle 7"/>
            <p:cNvSpPr/>
            <p:nvPr/>
          </p:nvSpPr>
          <p:spPr>
            <a:xfrm>
              <a:off x="6441957" y="2522561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441957" y="3213231"/>
              <a:ext cx="2017467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41957" y="3573650"/>
              <a:ext cx="2017467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41957" y="3932480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441957" y="4296074"/>
              <a:ext cx="2017467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41957" y="4654904"/>
              <a:ext cx="2017467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00000000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41957" y="5012148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00000000</a:t>
              </a:r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441957" y="5370978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00000100</a:t>
              </a: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441957" y="6090227"/>
              <a:ext cx="2017467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6372116" y="2522561"/>
              <a:ext cx="2160324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372116" y="6450646"/>
              <a:ext cx="2160324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Up Arrow 18"/>
            <p:cNvSpPr/>
            <p:nvPr/>
          </p:nvSpPr>
          <p:spPr>
            <a:xfrm>
              <a:off x="7198804" y="2371725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Up Arrow 19"/>
            <p:cNvSpPr/>
            <p:nvPr/>
          </p:nvSpPr>
          <p:spPr>
            <a:xfrm rot="10800000">
              <a:off x="7198804" y="6237312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801" name="TextBox 20"/>
            <p:cNvSpPr txBox="1">
              <a:spLocks noChangeArrowheads="1"/>
            </p:cNvSpPr>
            <p:nvPr/>
          </p:nvSpPr>
          <p:spPr bwMode="auto">
            <a:xfrm>
              <a:off x="5873333" y="5752309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200</a:t>
              </a:r>
              <a:endParaRPr lang="en-US" altLang="en-US"/>
            </a:p>
          </p:txBody>
        </p:sp>
        <p:sp>
          <p:nvSpPr>
            <p:cNvPr id="32802" name="TextBox 21"/>
            <p:cNvSpPr txBox="1">
              <a:spLocks noChangeArrowheads="1"/>
            </p:cNvSpPr>
            <p:nvPr/>
          </p:nvSpPr>
          <p:spPr bwMode="auto">
            <a:xfrm>
              <a:off x="5873333" y="540245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201</a:t>
              </a:r>
              <a:endParaRPr lang="en-US" altLang="en-US"/>
            </a:p>
          </p:txBody>
        </p:sp>
        <p:sp>
          <p:nvSpPr>
            <p:cNvPr id="32803" name="TextBox 22"/>
            <p:cNvSpPr txBox="1">
              <a:spLocks noChangeArrowheads="1"/>
            </p:cNvSpPr>
            <p:nvPr/>
          </p:nvSpPr>
          <p:spPr bwMode="auto">
            <a:xfrm>
              <a:off x="5877944" y="503846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202</a:t>
              </a:r>
              <a:endParaRPr lang="en-US" altLang="en-US"/>
            </a:p>
          </p:txBody>
        </p:sp>
        <p:sp>
          <p:nvSpPr>
            <p:cNvPr id="32804" name="TextBox 23"/>
            <p:cNvSpPr txBox="1">
              <a:spLocks noChangeArrowheads="1"/>
            </p:cNvSpPr>
            <p:nvPr/>
          </p:nvSpPr>
          <p:spPr bwMode="auto">
            <a:xfrm>
              <a:off x="5875011" y="4680717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203</a:t>
              </a:r>
              <a:endParaRPr lang="en-US" altLang="en-US"/>
            </a:p>
          </p:txBody>
        </p:sp>
        <p:sp>
          <p:nvSpPr>
            <p:cNvPr id="32805" name="TextBox 24"/>
            <p:cNvSpPr txBox="1">
              <a:spLocks noChangeArrowheads="1"/>
            </p:cNvSpPr>
            <p:nvPr/>
          </p:nvSpPr>
          <p:spPr bwMode="auto">
            <a:xfrm>
              <a:off x="5877944" y="4330606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204</a:t>
              </a:r>
              <a:endParaRPr lang="en-US" altLang="en-US"/>
            </a:p>
          </p:txBody>
        </p:sp>
        <p:sp>
          <p:nvSpPr>
            <p:cNvPr id="32806" name="TextBox 25"/>
            <p:cNvSpPr txBox="1">
              <a:spLocks noChangeArrowheads="1"/>
            </p:cNvSpPr>
            <p:nvPr/>
          </p:nvSpPr>
          <p:spPr bwMode="auto">
            <a:xfrm>
              <a:off x="5387986" y="3939895"/>
              <a:ext cx="10310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605-608</a:t>
              </a:r>
              <a:endParaRPr lang="en-US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441957" y="2860751"/>
              <a:ext cx="2017467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441957" y="5729809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00000001</a:t>
              </a:r>
              <a:endParaRPr lang="en-US" dirty="0"/>
            </a:p>
          </p:txBody>
        </p:sp>
        <p:sp>
          <p:nvSpPr>
            <p:cNvPr id="32809" name="TextBox 29"/>
            <p:cNvSpPr txBox="1">
              <a:spLocks noChangeArrowheads="1"/>
            </p:cNvSpPr>
            <p:nvPr/>
          </p:nvSpPr>
          <p:spPr bwMode="auto">
            <a:xfrm>
              <a:off x="5405298" y="3221938"/>
              <a:ext cx="10310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609-612</a:t>
              </a:r>
              <a:endParaRPr lang="en-US" altLang="en-US"/>
            </a:p>
          </p:txBody>
        </p:sp>
      </p:grpSp>
      <p:sp>
        <p:nvSpPr>
          <p:cNvPr id="33" name="Rectangle 32"/>
          <p:cNvSpPr/>
          <p:nvPr/>
        </p:nvSpPr>
        <p:spPr>
          <a:xfrm>
            <a:off x="6448425" y="4672013"/>
            <a:ext cx="2016125" cy="1409700"/>
          </a:xfrm>
          <a:prstGeom prst="rect">
            <a:avLst/>
          </a:prstGeom>
          <a:solidFill>
            <a:srgbClr val="FFFDA9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775" name="Rectangle 33"/>
          <p:cNvSpPr>
            <a:spLocks noChangeArrowheads="1"/>
          </p:cNvSpPr>
          <p:nvPr/>
        </p:nvSpPr>
        <p:spPr bwMode="auto">
          <a:xfrm>
            <a:off x="6439281" y="5507588"/>
            <a:ext cx="2016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en-US" sz="2000" dirty="0">
                <a:solidFill>
                  <a:srgbClr val="FF0000"/>
                </a:solidFill>
                <a:latin typeface="Monaco"/>
              </a:rPr>
              <a:t>var</a:t>
            </a:r>
            <a:r>
              <a:rPr lang="zh-CN" altLang="en-US" sz="2000" dirty="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000" dirty="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Monaco"/>
              </a:rPr>
              <a:t>1025</a:t>
            </a:r>
            <a:endParaRPr lang="en-US" altLang="en-US" sz="2000" dirty="0">
              <a:solidFill>
                <a:srgbClr val="FF0000"/>
              </a:solidFill>
            </a:endParaRPr>
          </a:p>
        </p:txBody>
      </p:sp>
      <p:sp>
        <p:nvSpPr>
          <p:cNvPr id="32776" name="Rectangle 36"/>
          <p:cNvSpPr>
            <a:spLocks noChangeArrowheads="1"/>
          </p:cNvSpPr>
          <p:nvPr/>
        </p:nvSpPr>
        <p:spPr bwMode="auto">
          <a:xfrm>
            <a:off x="6443663" y="3917950"/>
            <a:ext cx="1262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rgbClr val="FF0000"/>
                </a:solidFill>
                <a:latin typeface="Monaco"/>
              </a:rPr>
              <a:t>p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200</a:t>
            </a:r>
            <a:endParaRPr lang="en-US" altLang="en-US" sz="2000">
              <a:solidFill>
                <a:srgbClr val="FF0000"/>
              </a:solidFill>
            </a:endParaRPr>
          </a:p>
        </p:txBody>
      </p:sp>
      <p:cxnSp>
        <p:nvCxnSpPr>
          <p:cNvPr id="38" name="Elbow Connector 37"/>
          <p:cNvCxnSpPr>
            <a:cxnSpLocks noChangeShapeType="1"/>
            <a:endCxn id="29" idx="3"/>
          </p:cNvCxnSpPr>
          <p:nvPr/>
        </p:nvCxnSpPr>
        <p:spPr bwMode="auto">
          <a:xfrm flipH="1">
            <a:off x="8458200" y="4114800"/>
            <a:ext cx="4763" cy="1795463"/>
          </a:xfrm>
          <a:prstGeom prst="bentConnector3">
            <a:avLst>
              <a:gd name="adj1" fmla="val -6813713"/>
            </a:avLst>
          </a:prstGeom>
          <a:noFill/>
          <a:ln w="25400">
            <a:solidFill>
              <a:schemeClr val="accent2"/>
            </a:solidFill>
            <a:miter lim="800000"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78" name="Rectangle 38"/>
          <p:cNvSpPr>
            <a:spLocks noChangeArrowheads="1"/>
          </p:cNvSpPr>
          <p:nvPr/>
        </p:nvSpPr>
        <p:spPr bwMode="auto">
          <a:xfrm>
            <a:off x="6443663" y="3190875"/>
            <a:ext cx="1262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rgbClr val="FF0000"/>
                </a:solidFill>
                <a:latin typeface="Monaco"/>
              </a:rPr>
              <a:t>q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605</a:t>
            </a:r>
            <a:endParaRPr lang="en-US" altLang="en-US" sz="2000">
              <a:solidFill>
                <a:srgbClr val="FF0000"/>
              </a:solidFill>
            </a:endParaRPr>
          </a:p>
        </p:txBody>
      </p:sp>
      <p:cxnSp>
        <p:nvCxnSpPr>
          <p:cNvPr id="40" name="Elbow Connector 39"/>
          <p:cNvCxnSpPr>
            <a:cxnSpLocks noChangeShapeType="1"/>
            <a:stCxn id="9" idx="3"/>
            <a:endCxn id="11" idx="3"/>
          </p:cNvCxnSpPr>
          <p:nvPr/>
        </p:nvCxnSpPr>
        <p:spPr bwMode="auto">
          <a:xfrm>
            <a:off x="8458200" y="3392488"/>
            <a:ext cx="12700" cy="720725"/>
          </a:xfrm>
          <a:prstGeom prst="bentConnector3">
            <a:avLst>
              <a:gd name="adj1" fmla="val 1800000"/>
            </a:avLst>
          </a:prstGeom>
          <a:noFill/>
          <a:ln w="25400">
            <a:solidFill>
              <a:schemeClr val="accent2"/>
            </a:solidFill>
            <a:miter lim="800000"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0" name="TextBox 41"/>
          <p:cNvSpPr txBox="1">
            <a:spLocks noChangeArrowheads="1"/>
          </p:cNvSpPr>
          <p:nvPr/>
        </p:nvSpPr>
        <p:spPr bwMode="auto">
          <a:xfrm>
            <a:off x="5405438" y="2846388"/>
            <a:ext cx="10302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613-616</a:t>
            </a:r>
            <a:endParaRPr lang="en-US" altLang="en-US"/>
          </a:p>
        </p:txBody>
      </p:sp>
      <p:sp>
        <p:nvSpPr>
          <p:cNvPr id="32781" name="Rectangle 42"/>
          <p:cNvSpPr>
            <a:spLocks noChangeArrowheads="1"/>
          </p:cNvSpPr>
          <p:nvPr/>
        </p:nvSpPr>
        <p:spPr bwMode="auto">
          <a:xfrm>
            <a:off x="6434138" y="2841625"/>
            <a:ext cx="1262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rgbClr val="FF0000"/>
                </a:solidFill>
                <a:latin typeface="Monaco"/>
              </a:rPr>
              <a:t>r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609</a:t>
            </a:r>
            <a:endParaRPr lang="en-US" altLang="en-US" sz="2000">
              <a:solidFill>
                <a:srgbClr val="FF0000"/>
              </a:solidFill>
            </a:endParaRPr>
          </a:p>
        </p:txBody>
      </p:sp>
      <p:sp>
        <p:nvSpPr>
          <p:cNvPr id="32782" name="Rectangle 30"/>
          <p:cNvSpPr>
            <a:spLocks noChangeArrowheads="1"/>
          </p:cNvSpPr>
          <p:nvPr/>
        </p:nvSpPr>
        <p:spPr bwMode="auto">
          <a:xfrm>
            <a:off x="1763713" y="2873375"/>
            <a:ext cx="3814762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en-US" dirty="0">
                <a:solidFill>
                  <a:srgbClr val="7F0055"/>
                </a:solidFill>
                <a:latin typeface="Monaco"/>
              </a:rPr>
              <a:t>int</a:t>
            </a:r>
            <a:r>
              <a:rPr lang="en-US" altLang="en-US" dirty="0">
                <a:latin typeface="Monaco"/>
              </a:rPr>
              <a:t> var = </a:t>
            </a:r>
            <a:r>
              <a:rPr lang="en-US" altLang="zh-CN" dirty="0">
                <a:latin typeface="Monaco"/>
              </a:rPr>
              <a:t>1025</a:t>
            </a:r>
            <a:r>
              <a:rPr lang="en-US" altLang="en-US" dirty="0">
                <a:latin typeface="Monaco"/>
              </a:rPr>
              <a:t>;</a:t>
            </a:r>
            <a:endParaRPr lang="en-US" altLang="en-US" dirty="0">
              <a:latin typeface="Monaco"/>
            </a:endParaRPr>
          </a:p>
          <a:p>
            <a:r>
              <a:rPr lang="en-US" altLang="en-US" dirty="0">
                <a:solidFill>
                  <a:srgbClr val="7F0055"/>
                </a:solidFill>
                <a:latin typeface="Monaco"/>
              </a:rPr>
              <a:t>int</a:t>
            </a:r>
            <a:r>
              <a:rPr lang="en-US" altLang="en-US" dirty="0">
                <a:latin typeface="Monaco"/>
              </a:rPr>
              <a:t> *p = &amp;var;</a:t>
            </a:r>
            <a:endParaRPr lang="en-US" altLang="en-US" dirty="0">
              <a:latin typeface="Monaco"/>
            </a:endParaRPr>
          </a:p>
          <a:p>
            <a:r>
              <a:rPr lang="en-US" altLang="en-US" dirty="0">
                <a:solidFill>
                  <a:srgbClr val="7F0055"/>
                </a:solidFill>
                <a:latin typeface="Monaco"/>
              </a:rPr>
              <a:t>int</a:t>
            </a:r>
            <a:r>
              <a:rPr lang="en-US" altLang="en-US" dirty="0">
                <a:latin typeface="Monaco"/>
              </a:rPr>
              <a:t> **q = &amp;p;</a:t>
            </a:r>
            <a:endParaRPr lang="en-US" altLang="en-US" dirty="0">
              <a:latin typeface="Monaco"/>
            </a:endParaRPr>
          </a:p>
          <a:p>
            <a:r>
              <a:rPr lang="en-US" altLang="en-US" dirty="0">
                <a:solidFill>
                  <a:srgbClr val="7F0055"/>
                </a:solidFill>
                <a:latin typeface="Monaco"/>
              </a:rPr>
              <a:t>int</a:t>
            </a:r>
            <a:r>
              <a:rPr lang="en-US" altLang="en-US" dirty="0">
                <a:latin typeface="Monaco"/>
              </a:rPr>
              <a:t> ***r = &amp;q;</a:t>
            </a:r>
            <a:endParaRPr lang="en-US" altLang="en-US" dirty="0">
              <a:latin typeface="Monaco"/>
            </a:endParaRPr>
          </a:p>
          <a:p>
            <a:r>
              <a:rPr lang="en-US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(</a:t>
            </a:r>
            <a:r>
              <a:rPr lang="en-US" altLang="en-US" dirty="0">
                <a:solidFill>
                  <a:srgbClr val="2A00FF"/>
                </a:solidFill>
                <a:latin typeface="Monaco"/>
              </a:rPr>
              <a:t>"*p = %d\n"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, *p);</a:t>
            </a:r>
            <a:endParaRPr lang="en-US" altLang="en-US" dirty="0">
              <a:solidFill>
                <a:srgbClr val="2A00FF"/>
              </a:solidFill>
              <a:latin typeface="Monaco"/>
            </a:endParaRPr>
          </a:p>
          <a:p>
            <a:r>
              <a:rPr lang="en-US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(</a:t>
            </a:r>
            <a:r>
              <a:rPr lang="en-US" altLang="en-US" dirty="0">
                <a:solidFill>
                  <a:srgbClr val="2A00FF"/>
                </a:solidFill>
                <a:latin typeface="Monaco"/>
              </a:rPr>
              <a:t>"*q = %d\n"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, *q);</a:t>
            </a:r>
            <a:endParaRPr lang="en-US" altLang="en-US" dirty="0">
              <a:solidFill>
                <a:srgbClr val="2A00FF"/>
              </a:solidFill>
              <a:latin typeface="Monaco"/>
            </a:endParaRPr>
          </a:p>
          <a:p>
            <a:r>
              <a:rPr lang="en-US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(</a:t>
            </a:r>
            <a:r>
              <a:rPr lang="en-US" altLang="en-US" dirty="0">
                <a:solidFill>
                  <a:srgbClr val="2A00FF"/>
                </a:solidFill>
                <a:latin typeface="Monaco"/>
              </a:rPr>
              <a:t>"**q = %d\n"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, **q);</a:t>
            </a:r>
            <a:endParaRPr lang="en-US" altLang="en-US" dirty="0">
              <a:solidFill>
                <a:srgbClr val="2A00FF"/>
              </a:solidFill>
              <a:latin typeface="Monaco"/>
            </a:endParaRPr>
          </a:p>
          <a:p>
            <a:r>
              <a:rPr lang="en-US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(</a:t>
            </a:r>
            <a:r>
              <a:rPr lang="en-US" altLang="en-US" dirty="0">
                <a:solidFill>
                  <a:srgbClr val="2A00FF"/>
                </a:solidFill>
                <a:latin typeface="Monaco"/>
              </a:rPr>
              <a:t>"**r = %d\n"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, **r);</a:t>
            </a:r>
            <a:endParaRPr lang="en-US" altLang="en-US" dirty="0">
              <a:solidFill>
                <a:srgbClr val="2A00FF"/>
              </a:solidFill>
              <a:latin typeface="Monaco"/>
            </a:endParaRPr>
          </a:p>
          <a:p>
            <a:r>
              <a:rPr lang="en-US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(</a:t>
            </a:r>
            <a:r>
              <a:rPr lang="en-US" altLang="en-US" dirty="0">
                <a:solidFill>
                  <a:srgbClr val="2A00FF"/>
                </a:solidFill>
                <a:latin typeface="Monaco"/>
              </a:rPr>
              <a:t>"***r = %d\n"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, ***r);</a:t>
            </a:r>
            <a:endParaRPr lang="en-US" altLang="en-US" dirty="0">
              <a:solidFill>
                <a:srgbClr val="2A00FF"/>
              </a:solidFill>
              <a:latin typeface="Monaco"/>
            </a:endParaRPr>
          </a:p>
          <a:p>
            <a:r>
              <a:rPr lang="en-US" altLang="en-US" dirty="0">
                <a:latin typeface="Monaco"/>
              </a:rPr>
              <a:t>***r = 10;</a:t>
            </a:r>
            <a:endParaRPr lang="en-US" altLang="en-US" dirty="0">
              <a:latin typeface="Monaco"/>
            </a:endParaRPr>
          </a:p>
          <a:p>
            <a:r>
              <a:rPr lang="en-US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 (</a:t>
            </a:r>
            <a:r>
              <a:rPr lang="en-US" altLang="en-US" dirty="0">
                <a:solidFill>
                  <a:srgbClr val="2A00FF"/>
                </a:solidFill>
                <a:latin typeface="Monaco"/>
              </a:rPr>
              <a:t>"var = %d\n"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, var);</a:t>
            </a:r>
            <a:endParaRPr lang="en-US" altLang="en-US" dirty="0">
              <a:solidFill>
                <a:srgbClr val="2A00FF"/>
              </a:solidFill>
              <a:latin typeface="Monaco"/>
            </a:endParaRPr>
          </a:p>
          <a:p>
            <a:r>
              <a:rPr lang="en-US" altLang="en-US" dirty="0">
                <a:latin typeface="Monaco"/>
              </a:rPr>
              <a:t>**q = *p + 2;</a:t>
            </a:r>
            <a:endParaRPr lang="en-US" altLang="en-US" dirty="0">
              <a:latin typeface="Monaco"/>
            </a:endParaRPr>
          </a:p>
          <a:p>
            <a:r>
              <a:rPr lang="en-US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 (</a:t>
            </a:r>
            <a:r>
              <a:rPr lang="en-US" altLang="en-US" dirty="0">
                <a:solidFill>
                  <a:srgbClr val="2A00FF"/>
                </a:solidFill>
                <a:latin typeface="Monaco"/>
              </a:rPr>
              <a:t>"var = %d\n"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, var);</a:t>
            </a:r>
            <a:endParaRPr lang="en-US" altLang="en-US" dirty="0">
              <a:solidFill>
                <a:srgbClr val="2A00FF"/>
              </a:solidFill>
              <a:latin typeface="Monaco"/>
            </a:endParaRPr>
          </a:p>
        </p:txBody>
      </p:sp>
      <p:cxnSp>
        <p:nvCxnSpPr>
          <p:cNvPr id="46" name="Elbow Connector 45"/>
          <p:cNvCxnSpPr>
            <a:cxnSpLocks noChangeShapeType="1"/>
            <a:stCxn id="28" idx="3"/>
            <a:endCxn id="9" idx="3"/>
          </p:cNvCxnSpPr>
          <p:nvPr/>
        </p:nvCxnSpPr>
        <p:spPr bwMode="auto">
          <a:xfrm>
            <a:off x="8458200" y="3041650"/>
            <a:ext cx="0" cy="350838"/>
          </a:xfrm>
          <a:prstGeom prst="bentConnector3">
            <a:avLst>
              <a:gd name="adj1" fmla="val -2147483648"/>
            </a:avLst>
          </a:prstGeom>
          <a:noFill/>
          <a:ln w="25400">
            <a:solidFill>
              <a:schemeClr val="accent2"/>
            </a:solidFill>
            <a:miter lim="800000"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TextBox 40"/>
          <p:cNvSpPr txBox="1"/>
          <p:nvPr/>
        </p:nvSpPr>
        <p:spPr>
          <a:xfrm>
            <a:off x="5903563" y="110369"/>
            <a:ext cx="1743228" cy="20313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*p = 1025</a:t>
            </a:r>
            <a:endParaRPr lang="zh-CN" altLang="en-US" dirty="0"/>
          </a:p>
          <a:p>
            <a:r>
              <a:rPr lang="zh-CN" altLang="en-US" dirty="0"/>
              <a:t>*q = 10485256</a:t>
            </a:r>
            <a:endParaRPr lang="zh-CN" altLang="en-US" dirty="0"/>
          </a:p>
          <a:p>
            <a:r>
              <a:rPr lang="zh-CN" altLang="en-US" dirty="0"/>
              <a:t>**q = 1025</a:t>
            </a:r>
            <a:endParaRPr lang="zh-CN" altLang="en-US" dirty="0"/>
          </a:p>
          <a:p>
            <a:r>
              <a:rPr lang="zh-CN" altLang="en-US" dirty="0"/>
              <a:t>**r = 10485256</a:t>
            </a:r>
            <a:endParaRPr lang="zh-CN" altLang="en-US" dirty="0"/>
          </a:p>
          <a:p>
            <a:r>
              <a:rPr lang="zh-CN" altLang="en-US" dirty="0"/>
              <a:t>***r = 1025</a:t>
            </a:r>
            <a:endParaRPr lang="zh-CN" altLang="en-US" dirty="0"/>
          </a:p>
          <a:p>
            <a:r>
              <a:rPr lang="zh-CN" altLang="en-US" dirty="0"/>
              <a:t>var = 10</a:t>
            </a:r>
            <a:endParaRPr lang="zh-CN" altLang="en-US" dirty="0"/>
          </a:p>
          <a:p>
            <a:r>
              <a:rPr lang="zh-CN" altLang="en-US" dirty="0"/>
              <a:t>var = 12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指针的指针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指针数组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动态分配内存</a:t>
            </a:r>
            <a:endParaRPr lang="en-US" altLang="zh-CN" dirty="0"/>
          </a:p>
          <a:p>
            <a:pPr lvl="1"/>
            <a:r>
              <a:rPr lang="zh-CN" altLang="en-US" dirty="0"/>
              <a:t>动态数组</a:t>
            </a:r>
            <a:endParaRPr lang="en-US" altLang="zh-CN" dirty="0"/>
          </a:p>
          <a:p>
            <a:r>
              <a:rPr lang="zh-CN" altLang="en-US" dirty="0"/>
              <a:t>其他</a:t>
            </a:r>
            <a:endParaRPr lang="en-US" altLang="zh-CN" dirty="0"/>
          </a:p>
          <a:p>
            <a:pPr lvl="1"/>
            <a:r>
              <a:rPr lang="en-US" altLang="zh-CN" dirty="0"/>
              <a:t>const</a:t>
            </a:r>
            <a:r>
              <a:rPr lang="zh-CN" altLang="en-US" dirty="0"/>
              <a:t>与指针</a:t>
            </a:r>
            <a:endParaRPr lang="en-US" altLang="zh-CN" dirty="0"/>
          </a:p>
          <a:p>
            <a:pPr lvl="1"/>
            <a:r>
              <a:rPr lang="zh-CN" altLang="en-US" dirty="0"/>
              <a:t>主函数的参数</a:t>
            </a:r>
            <a:endParaRPr lang="en-US" altLang="zh-CN" dirty="0"/>
          </a:p>
          <a:p>
            <a:pPr lvl="1"/>
            <a:r>
              <a:rPr lang="zh-CN" altLang="en-US" dirty="0"/>
              <a:t>引用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本讲内容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指针数组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概念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指针数组是指针的数组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数组单元中存放的是地址，这些地址指向同一种数据类型的变量。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指针数组的定义和初始化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int ar0[ ]={0,1,2};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int ar1[ ]={1,2,3};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int ar2[ ]={2,3,4};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int*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p[ ]</a:t>
            </a:r>
            <a:r>
              <a:rPr lang="en-US" altLang="zh-CN" dirty="0"/>
              <a:t>={ar0, ar1, ar2};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5283200" y="3862070"/>
            <a:ext cx="303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//p[i][j],</a:t>
            </a:r>
            <a:r>
              <a:rPr lang="zh-CN" altLang="en-US"/>
              <a:t>类似</a:t>
            </a:r>
            <a:r>
              <a:rPr lang="zh-CN" altLang="en-US"/>
              <a:t>二维数组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说明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492619" name="Group 75"/>
          <p:cNvGraphicFramePr>
            <a:graphicFrameLocks noGrp="1"/>
          </p:cNvGraphicFramePr>
          <p:nvPr>
            <p:ph sz="half" idx="1"/>
          </p:nvPr>
        </p:nvGraphicFramePr>
        <p:xfrm>
          <a:off x="1692275" y="2708275"/>
          <a:ext cx="1306513" cy="1973263"/>
        </p:xfrm>
        <a:graphic>
          <a:graphicData uri="http://schemas.openxmlformats.org/drawingml/2006/table">
            <a:tbl>
              <a:tblPr/>
              <a:tblGrid>
                <a:gridCol w="1306513"/>
              </a:tblGrid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ar0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8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ar1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ar2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2670" name="Group 126"/>
          <p:cNvGraphicFramePr>
            <a:graphicFrameLocks noGrp="1"/>
          </p:cNvGraphicFramePr>
          <p:nvPr>
            <p:ph sz="half" idx="2"/>
          </p:nvPr>
        </p:nvGraphicFramePr>
        <p:xfrm>
          <a:off x="4211638" y="1916113"/>
          <a:ext cx="4038600" cy="676275"/>
        </p:xfrm>
        <a:graphic>
          <a:graphicData uri="http://schemas.openxmlformats.org/drawingml/2006/table">
            <a:tbl>
              <a:tblPr/>
              <a:tblGrid>
                <a:gridCol w="1346200"/>
                <a:gridCol w="1346200"/>
                <a:gridCol w="1346200"/>
              </a:tblGrid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2617" name="Group 73"/>
          <p:cNvGraphicFramePr>
            <a:graphicFrameLocks noGrp="1"/>
          </p:cNvGraphicFramePr>
          <p:nvPr/>
        </p:nvGraphicFramePr>
        <p:xfrm>
          <a:off x="539750" y="2708275"/>
          <a:ext cx="1306513" cy="1973263"/>
        </p:xfrm>
        <a:graphic>
          <a:graphicData uri="http://schemas.openxmlformats.org/drawingml/2006/table">
            <a:tbl>
              <a:tblPr/>
              <a:tblGrid>
                <a:gridCol w="1306513"/>
              </a:tblGrid>
              <a:tr h="657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&amp;p[0]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8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&amp;p[1]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&amp;p[2]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47" name="Text Box 74"/>
          <p:cNvSpPr txBox="1">
            <a:spLocks noChangeArrowheads="1"/>
          </p:cNvSpPr>
          <p:nvPr/>
        </p:nvSpPr>
        <p:spPr bwMode="auto">
          <a:xfrm>
            <a:off x="755650" y="2060575"/>
            <a:ext cx="2087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Garamond" panose="02020404030301010803" pitchFamily="18" charset="0"/>
                <a:cs typeface="Arial" panose="020B0604020202020204" pitchFamily="34" charset="0"/>
              </a:rPr>
              <a:t>指针数组</a:t>
            </a:r>
            <a:r>
              <a:rPr lang="en-US" altLang="zh-CN" sz="2400" b="1">
                <a:latin typeface="Garamond" panose="02020404030301010803" pitchFamily="18" charset="0"/>
                <a:cs typeface="Arial" panose="020B0604020202020204" pitchFamily="34" charset="0"/>
              </a:rPr>
              <a:t>p</a:t>
            </a:r>
            <a:endParaRPr lang="en-US" altLang="zh-CN" sz="2400" b="1"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492676" name="Group 132"/>
          <p:cNvGraphicFramePr>
            <a:graphicFrameLocks noGrp="1"/>
          </p:cNvGraphicFramePr>
          <p:nvPr/>
        </p:nvGraphicFramePr>
        <p:xfrm>
          <a:off x="4211638" y="3213100"/>
          <a:ext cx="4038600" cy="676275"/>
        </p:xfrm>
        <a:graphic>
          <a:graphicData uri="http://schemas.openxmlformats.org/drawingml/2006/table">
            <a:tbl>
              <a:tblPr/>
              <a:tblGrid>
                <a:gridCol w="1346200"/>
                <a:gridCol w="1346200"/>
                <a:gridCol w="1346200"/>
              </a:tblGrid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2689" name="Group 145"/>
          <p:cNvGraphicFramePr>
            <a:graphicFrameLocks noGrp="1"/>
          </p:cNvGraphicFramePr>
          <p:nvPr/>
        </p:nvGraphicFramePr>
        <p:xfrm>
          <a:off x="4211638" y="4508500"/>
          <a:ext cx="4038600" cy="676275"/>
        </p:xfrm>
        <a:graphic>
          <a:graphicData uri="http://schemas.openxmlformats.org/drawingml/2006/table">
            <a:tbl>
              <a:tblPr/>
              <a:tblGrid>
                <a:gridCol w="1346200"/>
                <a:gridCol w="1346200"/>
                <a:gridCol w="1346200"/>
              </a:tblGrid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2669" name="Group 125"/>
          <p:cNvGraphicFramePr>
            <a:graphicFrameLocks noGrp="1"/>
          </p:cNvGraphicFramePr>
          <p:nvPr/>
        </p:nvGraphicFramePr>
        <p:xfrm>
          <a:off x="4211638" y="2565400"/>
          <a:ext cx="4176712" cy="676275"/>
        </p:xfrm>
        <a:graphic>
          <a:graphicData uri="http://schemas.openxmlformats.org/drawingml/2006/table">
            <a:tbl>
              <a:tblPr/>
              <a:tblGrid>
                <a:gridCol w="1392237"/>
                <a:gridCol w="1392238"/>
                <a:gridCol w="1392237"/>
              </a:tblGrid>
              <a:tr h="67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&amp;ar0[0]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&amp;ar0[1]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&amp;ar0[2]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2675" name="Group 131"/>
          <p:cNvGraphicFramePr>
            <a:graphicFrameLocks noGrp="1"/>
          </p:cNvGraphicFramePr>
          <p:nvPr/>
        </p:nvGraphicFramePr>
        <p:xfrm>
          <a:off x="4211638" y="3860800"/>
          <a:ext cx="4038600" cy="676275"/>
        </p:xfrm>
        <a:graphic>
          <a:graphicData uri="http://schemas.openxmlformats.org/drawingml/2006/table">
            <a:tbl>
              <a:tblPr/>
              <a:tblGrid>
                <a:gridCol w="1346200"/>
                <a:gridCol w="1346200"/>
                <a:gridCol w="1346200"/>
              </a:tblGrid>
              <a:tr h="67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&amp;ar1[0]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&amp;ar1[1]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&amp;ar1[2]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2677" name="Group 133"/>
          <p:cNvGraphicFramePr>
            <a:graphicFrameLocks noGrp="1"/>
          </p:cNvGraphicFramePr>
          <p:nvPr/>
        </p:nvGraphicFramePr>
        <p:xfrm>
          <a:off x="4211638" y="5157788"/>
          <a:ext cx="4248150" cy="676275"/>
        </p:xfrm>
        <a:graphic>
          <a:graphicData uri="http://schemas.openxmlformats.org/drawingml/2006/table">
            <a:tbl>
              <a:tblPr/>
              <a:tblGrid>
                <a:gridCol w="1416050"/>
                <a:gridCol w="1416050"/>
                <a:gridCol w="1416050"/>
              </a:tblGrid>
              <a:tr h="676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&amp;ar2[0]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&amp;ar2[1]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&amp;ar2[2]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80" name="Line 146"/>
          <p:cNvSpPr>
            <a:spLocks noChangeShapeType="1"/>
          </p:cNvSpPr>
          <p:nvPr/>
        </p:nvSpPr>
        <p:spPr bwMode="auto">
          <a:xfrm flipV="1">
            <a:off x="2987675" y="2205038"/>
            <a:ext cx="1152525" cy="792162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Garamond" panose="02020404030301010803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181" name="Line 147"/>
          <p:cNvSpPr>
            <a:spLocks noChangeShapeType="1"/>
          </p:cNvSpPr>
          <p:nvPr/>
        </p:nvSpPr>
        <p:spPr bwMode="auto">
          <a:xfrm>
            <a:off x="2987675" y="3644900"/>
            <a:ext cx="1296988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Garamond" panose="02020404030301010803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182" name="Line 148"/>
          <p:cNvSpPr>
            <a:spLocks noChangeShapeType="1"/>
          </p:cNvSpPr>
          <p:nvPr/>
        </p:nvSpPr>
        <p:spPr bwMode="auto">
          <a:xfrm>
            <a:off x="2987675" y="4365625"/>
            <a:ext cx="1223963" cy="6477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latin typeface="Garamond" panose="02020404030301010803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sz="4000">
                <a:cs typeface="+mj-cs"/>
              </a:rPr>
              <a:t>例程</a:t>
            </a:r>
            <a:endParaRPr lang="zh-CN" altLang="en-US" sz="4000">
              <a:cs typeface="+mj-cs"/>
            </a:endParaRP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287338" y="908050"/>
            <a:ext cx="8532812" cy="5727700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#include &lt;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stdio.h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&gt;          //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预编译命令</a:t>
            </a:r>
            <a:endParaRPr kumimoji="1"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int main()                            	//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主函数</a:t>
            </a:r>
            <a:endParaRPr kumimoji="1"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{                                        	//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函数体开始</a:t>
            </a:r>
            <a:endParaRPr kumimoji="1"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int ar0[ ]={0,1,2};		//</a:t>
            </a:r>
            <a:r>
              <a:rPr kumimoji="1" lang="zh-CN" altLang="pt-BR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定义整数数组</a:t>
            </a: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ar0,</a:t>
            </a:r>
            <a:r>
              <a:rPr kumimoji="1" lang="zh-CN" altLang="pt-BR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并初始化</a:t>
            </a:r>
            <a:endParaRPr kumimoji="1" lang="zh-CN" altLang="pt-BR" sz="24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int ar1[ ]={1,2,3};		//</a:t>
            </a:r>
            <a:r>
              <a:rPr kumimoji="1" lang="zh-CN" altLang="pt-BR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定义整数数组</a:t>
            </a: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ar1,</a:t>
            </a:r>
            <a:r>
              <a:rPr kumimoji="1" lang="zh-CN" altLang="pt-BR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并初始化</a:t>
            </a:r>
            <a:endParaRPr kumimoji="1" lang="pt-BR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int ar2[ ]={2,3,4};		//</a:t>
            </a:r>
            <a:r>
              <a:rPr kumimoji="1" lang="zh-CN" altLang="pt-BR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定义整数数组</a:t>
            </a: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ar2,</a:t>
            </a:r>
            <a:r>
              <a:rPr kumimoji="1" lang="zh-CN" altLang="pt-BR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并初始化</a:t>
            </a:r>
            <a:endParaRPr kumimoji="1" lang="pt-BR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zh-CN" altLang="pt-BR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int *p[ ]={ar0, ar1, ar2};//</a:t>
            </a:r>
            <a:r>
              <a:rPr kumimoji="1" lang="zh-CN" altLang="pt-BR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定义指针数组</a:t>
            </a: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,</a:t>
            </a:r>
            <a:r>
              <a:rPr kumimoji="1" lang="zh-CN" altLang="pt-BR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并初始化</a:t>
            </a:r>
            <a:endParaRPr kumimoji="1" lang="zh-CN" altLang="pt-BR" sz="24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endParaRPr kumimoji="1" lang="pt-BR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printf("</a:t>
            </a:r>
            <a:r>
              <a:rPr kumimoji="1" lang="zh-CN" altLang="pt-BR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数组名就是该数组的符号地址，是数组的元素首地址</a:t>
            </a: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:\n");</a:t>
            </a:r>
            <a:endParaRPr kumimoji="1" lang="pt-BR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printf("ar0=%08X\n", ar0);</a:t>
            </a:r>
            <a:endParaRPr kumimoji="1" lang="pt-BR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printf("&amp;ar0=%08X\n", &amp;ar0);	// </a:t>
            </a:r>
            <a:r>
              <a:rPr kumimoji="1" lang="zh-CN" altLang="pt-BR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输出数组</a:t>
            </a: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ar0</a:t>
            </a:r>
            <a:r>
              <a:rPr kumimoji="1" lang="zh-CN" altLang="pt-BR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的地址</a:t>
            </a:r>
            <a:endParaRPr kumimoji="1" lang="zh-CN" altLang="pt-BR" sz="24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zh-CN" altLang="pt-BR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printf("&amp;ar0[0]=%08X\n", &amp;ar0[0]); </a:t>
            </a:r>
            <a:endParaRPr kumimoji="1" lang="pt-BR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				 // </a:t>
            </a:r>
            <a:r>
              <a:rPr kumimoji="1" lang="zh-CN" altLang="pt-BR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输出数组</a:t>
            </a:r>
            <a:r>
              <a:rPr kumimoji="1" lang="pt-BR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ar0</a:t>
            </a:r>
            <a:r>
              <a:rPr kumimoji="1" lang="zh-CN" altLang="pt-BR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的元素首地址</a:t>
            </a:r>
            <a:endParaRPr kumimoji="1"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96645" name="Text Box 5"/>
          <p:cNvSpPr txBox="1">
            <a:spLocks noChangeArrowheads="1"/>
          </p:cNvSpPr>
          <p:nvPr/>
        </p:nvSpPr>
        <p:spPr bwMode="auto">
          <a:xfrm>
            <a:off x="2541588" y="1690688"/>
            <a:ext cx="5976937" cy="1522412"/>
          </a:xfrm>
          <a:prstGeom prst="rect">
            <a:avLst/>
          </a:prstGeom>
          <a:solidFill>
            <a:schemeClr val="bg2"/>
          </a:solidFill>
          <a:ln w="5715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latin typeface="Garamond" panose="02020404030301010803" pitchFamily="18" charset="0"/>
                <a:cs typeface="Arial" panose="020B0604020202020204" pitchFamily="34" charset="0"/>
              </a:rPr>
              <a:t>数组名就是该数组的符号地址，是数组的元素首地址：</a:t>
            </a:r>
            <a:endParaRPr lang="zh-CN" altLang="en-US" b="1" dirty="0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 dirty="0">
                <a:latin typeface="Garamond" panose="02020404030301010803" pitchFamily="18" charset="0"/>
                <a:cs typeface="Arial" panose="020B0604020202020204" pitchFamily="34" charset="0"/>
              </a:rPr>
              <a:t>ar0 = 0012FF74</a:t>
            </a:r>
            <a:endParaRPr lang="en-US" altLang="zh-CN" b="1" dirty="0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 dirty="0">
                <a:latin typeface="Garamond" panose="02020404030301010803" pitchFamily="18" charset="0"/>
                <a:cs typeface="Arial" panose="020B0604020202020204" pitchFamily="34" charset="0"/>
              </a:rPr>
              <a:t>&amp;ar0 = 0012FF74</a:t>
            </a:r>
            <a:endParaRPr lang="en-US" altLang="zh-CN" b="1" dirty="0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 dirty="0">
                <a:latin typeface="Garamond" panose="02020404030301010803" pitchFamily="18" charset="0"/>
                <a:cs typeface="Arial" panose="020B0604020202020204" pitchFamily="34" charset="0"/>
              </a:rPr>
              <a:t>&amp;ar0[0] = 0012FF74</a:t>
            </a:r>
            <a:endParaRPr lang="en-US" altLang="zh-CN" b="1" dirty="0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endParaRPr lang="en-US" altLang="zh-CN" b="1" dirty="0"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9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4"/>
          <p:cNvSpPr txBox="1">
            <a:spLocks noChangeArrowheads="1"/>
          </p:cNvSpPr>
          <p:nvPr/>
        </p:nvSpPr>
        <p:spPr bwMode="auto">
          <a:xfrm>
            <a:off x="137736" y="361950"/>
            <a:ext cx="8868527" cy="6134100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	printf("p=%08X\n", p);  // 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</a:t>
            </a:r>
            <a:endParaRPr kumimoji="1" lang="en-US" altLang="zh-CN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	printf("&amp;p=%08X\n", &amp;p);        // 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输出数组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的地址</a:t>
            </a:r>
            <a:endParaRPr kumimoji="1" lang="zh-CN" altLang="en-US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	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printf(</a:t>
            </a:r>
            <a:r>
              <a:rPr kumimoji="1" lang="en-US" altLang="zh-CN" sz="2200" b="1">
                <a:cs typeface="Arial" panose="020B0604020202020204" pitchFamily="34" charset="0"/>
              </a:rPr>
              <a:t>“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&amp;p[0]=%08X\n</a:t>
            </a:r>
            <a:r>
              <a:rPr kumimoji="1" lang="en-US" altLang="zh-CN" sz="2200" b="1">
                <a:cs typeface="Arial" panose="020B0604020202020204" pitchFamily="34" charset="0"/>
              </a:rPr>
              <a:t>”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, &amp;p[0]);     // 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输出数组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的元素首地址</a:t>
            </a:r>
            <a:endParaRPr kumimoji="1" lang="zh-CN" altLang="en-US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endParaRPr kumimoji="1" lang="zh-CN" altLang="en-US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	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printf("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指针数组本身是一个数组，它的元素是连续存放的：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\n");</a:t>
            </a:r>
            <a:endParaRPr kumimoji="1" lang="en-US" altLang="zh-CN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	printf("&amp;p[0]=%08X\n", &amp;p[0]);  // 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p[0]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的地址</a:t>
            </a:r>
            <a:endParaRPr kumimoji="1" lang="zh-CN" altLang="en-US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	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printf("&amp;p[1]=%08X\n", &amp;p[1]);  // 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p[1]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的地址</a:t>
            </a:r>
            <a:endParaRPr kumimoji="1" lang="zh-CN" altLang="en-US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	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printf("&amp;p[2]=%08X\n", &amp;p[2]);  // 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p[2]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的地址</a:t>
            </a:r>
            <a:endParaRPr kumimoji="1" lang="zh-CN" altLang="en-US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endParaRPr kumimoji="1" lang="zh-CN" altLang="en-US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	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printf("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指针数组的每一个元素是一个指针：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\n");</a:t>
            </a:r>
            <a:endParaRPr kumimoji="1" lang="en-US" altLang="zh-CN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	printf("p[0]=%08X\n", p[0]);    // 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p[0]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的内容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, 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是一个指针值</a:t>
            </a:r>
            <a:endParaRPr kumimoji="1" lang="zh-CN" altLang="en-US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	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printf("ar0=%08X\n", ar0);      // 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ar0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的地址</a:t>
            </a:r>
            <a:endParaRPr kumimoji="1" lang="zh-CN" altLang="en-US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endParaRPr kumimoji="1" lang="zh-CN" altLang="en-US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	printf("p[1]=%08X\n", p[1]);    // </a:t>
            </a:r>
            <a:r>
              <a:rPr kumimoji="1" lang="en-US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p[1]</a:t>
            </a:r>
            <a:r>
              <a:rPr kumimoji="1" lang="en-US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的内容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, </a:t>
            </a:r>
            <a:r>
              <a:rPr kumimoji="1" lang="en-US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是一个指针值</a:t>
            </a:r>
            <a:endParaRPr kumimoji="1" lang="en-US" altLang="zh-CN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	printf("ar1=%08X\n", ar1);      // </a:t>
            </a:r>
            <a:r>
              <a:rPr kumimoji="1" lang="en-US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ar0</a:t>
            </a:r>
            <a:r>
              <a:rPr kumimoji="1" lang="en-US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的地址</a:t>
            </a:r>
            <a:endParaRPr kumimoji="1" lang="en-US" altLang="zh-CN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endParaRPr kumimoji="1" lang="en-US" altLang="zh-CN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	printf("p[2]=%08X\n", p[2]);    // </a:t>
            </a:r>
            <a:r>
              <a:rPr kumimoji="1" lang="en-US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p[2]</a:t>
            </a:r>
            <a:r>
              <a:rPr kumimoji="1" lang="en-US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的内容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, </a:t>
            </a:r>
            <a:r>
              <a:rPr kumimoji="1" lang="en-US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是一个指针值</a:t>
            </a:r>
            <a:endParaRPr kumimoji="1" lang="en-US" altLang="zh-CN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	printf("ar2=%08X\n", ar2);      // </a:t>
            </a:r>
            <a:r>
              <a:rPr kumimoji="1" lang="en-US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ar0</a:t>
            </a:r>
            <a:r>
              <a:rPr kumimoji="1" lang="en-US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的地址</a:t>
            </a:r>
            <a:endParaRPr kumimoji="1" lang="en-US" altLang="zh-CN" sz="2200" b="1"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497669" name="Text Box 5"/>
          <p:cNvSpPr txBox="1">
            <a:spLocks noChangeArrowheads="1"/>
          </p:cNvSpPr>
          <p:nvPr/>
        </p:nvSpPr>
        <p:spPr bwMode="auto">
          <a:xfrm>
            <a:off x="2195513" y="1557338"/>
            <a:ext cx="5976937" cy="1247775"/>
          </a:xfrm>
          <a:prstGeom prst="rect">
            <a:avLst/>
          </a:prstGeom>
          <a:solidFill>
            <a:schemeClr val="bg2"/>
          </a:solidFill>
          <a:ln w="5715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800">
                <a:ea typeface="宋体" panose="02010600030101010101" pitchFamily="2" charset="-122"/>
              </a:rPr>
              <a:t>p = 0012FF50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>
                <a:ea typeface="宋体" panose="02010600030101010101" pitchFamily="2" charset="-122"/>
              </a:rPr>
              <a:t>&amp;p = 0012FF50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>
                <a:ea typeface="宋体" panose="02010600030101010101" pitchFamily="2" charset="-122"/>
              </a:rPr>
              <a:t>&amp;p[0] = 0012FF50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defRPr/>
            </a:pP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497670" name="Text Box 6"/>
          <p:cNvSpPr txBox="1">
            <a:spLocks noChangeArrowheads="1"/>
          </p:cNvSpPr>
          <p:nvPr/>
        </p:nvSpPr>
        <p:spPr bwMode="auto">
          <a:xfrm>
            <a:off x="2195513" y="3213100"/>
            <a:ext cx="5976937" cy="1522413"/>
          </a:xfrm>
          <a:prstGeom prst="rect">
            <a:avLst/>
          </a:prstGeom>
          <a:solidFill>
            <a:schemeClr val="bg2"/>
          </a:solidFill>
          <a:ln w="5715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latin typeface="Garamond" panose="02020404030301010803" pitchFamily="18" charset="0"/>
                <a:cs typeface="Arial" panose="020B0604020202020204" pitchFamily="34" charset="0"/>
              </a:rPr>
              <a:t>指针数组本身是一个数组，它的元素是连续存放的：</a:t>
            </a:r>
            <a:endParaRPr lang="zh-CN" altLang="en-US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&amp;p[0] = 0012FF50</a:t>
            </a:r>
            <a:endParaRPr lang="en-US" altLang="zh-CN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&amp;p[1] = 0012FF54</a:t>
            </a:r>
            <a:endParaRPr lang="en-US" altLang="zh-CN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&amp;p[2] = 0012FF58</a:t>
            </a:r>
            <a:endParaRPr lang="en-US" altLang="zh-CN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endParaRPr lang="en-US" altLang="zh-CN" b="1"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497671" name="Text Box 7"/>
          <p:cNvSpPr txBox="1">
            <a:spLocks noChangeArrowheads="1"/>
          </p:cNvSpPr>
          <p:nvPr/>
        </p:nvSpPr>
        <p:spPr bwMode="auto">
          <a:xfrm>
            <a:off x="1908175" y="549275"/>
            <a:ext cx="5976938" cy="2071688"/>
          </a:xfrm>
          <a:prstGeom prst="rect">
            <a:avLst/>
          </a:prstGeom>
          <a:solidFill>
            <a:schemeClr val="bg2"/>
          </a:solidFill>
          <a:ln w="5715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latin typeface="Garamond" panose="02020404030301010803" pitchFamily="18" charset="0"/>
                <a:cs typeface="Arial" panose="020B0604020202020204" pitchFamily="34" charset="0"/>
              </a:rPr>
              <a:t>指针数组的每一个元素是一个指针：</a:t>
            </a:r>
            <a:endParaRPr lang="zh-CN" altLang="en-US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p[0] = 0012FF74</a:t>
            </a:r>
            <a:endParaRPr lang="en-US" altLang="zh-CN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ar0 = 0012FF74</a:t>
            </a:r>
            <a:endParaRPr lang="en-US" altLang="zh-CN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p[1] = 0012FF68</a:t>
            </a:r>
            <a:endParaRPr lang="en-US" altLang="zh-CN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ar1 = 0012FF68</a:t>
            </a:r>
            <a:endParaRPr lang="en-US" altLang="zh-CN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p[2] = 0012FF5C</a:t>
            </a:r>
            <a:endParaRPr lang="en-US" altLang="zh-CN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ar2 = 0012FF5C</a:t>
            </a:r>
            <a:endParaRPr lang="en-US" altLang="zh-CN" b="1"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9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4976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9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4976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9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1" dur="500"/>
                                        <p:tgtEl>
                                          <p:spTgt spid="4976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9" grpId="0" animBg="1"/>
      <p:bldP spid="497669" grpId="1" animBg="1"/>
      <p:bldP spid="497670" grpId="0" animBg="1"/>
      <p:bldP spid="497670" grpId="1" animBg="1"/>
      <p:bldP spid="497671" grpId="0" animBg="1"/>
      <p:bldP spid="497671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4"/>
          <p:cNvSpPr txBox="1">
            <a:spLocks noChangeArrowheads="1"/>
          </p:cNvSpPr>
          <p:nvPr/>
        </p:nvSpPr>
        <p:spPr bwMode="auto">
          <a:xfrm>
            <a:off x="179388" y="260350"/>
            <a:ext cx="8893175" cy="4794250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    </a:t>
            </a:r>
            <a:endParaRPr kumimoji="1" lang="en-US" altLang="zh-CN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     printf("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可利用指针数组的元素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(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指针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)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来访问所指向的数组的元素，就像使用二维数组：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\n");</a:t>
            </a:r>
            <a:endParaRPr kumimoji="1" lang="en-US" altLang="zh-CN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endParaRPr kumimoji="1" lang="en-US" altLang="zh-CN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    printf("*p[0]=%d\n", *p[0]);  // 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p[0]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所指内容</a:t>
            </a:r>
            <a:endParaRPr kumimoji="1" lang="zh-CN" altLang="en-US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    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printf("*ar0=%d\n", *ar0);    // 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ar0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地址中内容</a:t>
            </a:r>
            <a:endParaRPr kumimoji="1" lang="zh-CN" altLang="en-US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    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printf("&amp;p[0][0]=%08X\n", &amp;p[0][0]);     // 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p[0][0]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的地址</a:t>
            </a:r>
            <a:endParaRPr kumimoji="1" lang="zh-CN" altLang="en-US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endParaRPr kumimoji="1" lang="zh-CN" altLang="en-US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    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printf("&amp;ar0[0]=%08X\n", &amp;ar0[0]);        // 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ar0[0]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的地址</a:t>
            </a:r>
            <a:endParaRPr kumimoji="1" lang="zh-CN" altLang="en-US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    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printf("p[0][1]=%d\n", p[0][1]);  // 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p[0][1]</a:t>
            </a:r>
            <a:endParaRPr kumimoji="1" lang="en-US" altLang="zh-CN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    printf("ar0[1]=%d\n", ar0[1]);    // </a:t>
            </a:r>
            <a:r>
              <a:rPr kumimoji="1" lang="zh-CN" altLang="en-US" sz="2200" b="1">
                <a:latin typeface="Garamond" panose="02020404030301010803" pitchFamily="18" charset="0"/>
                <a:cs typeface="Arial" panose="020B0604020202020204" pitchFamily="34" charset="0"/>
              </a:rPr>
              <a:t>输出</a:t>
            </a:r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ar0[1]</a:t>
            </a:r>
            <a:endParaRPr kumimoji="1" lang="en-US" altLang="zh-CN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endParaRPr kumimoji="1" lang="en-US" altLang="zh-CN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    return 0;</a:t>
            </a:r>
            <a:endParaRPr kumimoji="1" lang="en-US" altLang="zh-CN" sz="2200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kumimoji="1" lang="en-US" altLang="zh-CN" sz="2200" b="1">
                <a:latin typeface="Garamond" panose="02020404030301010803" pitchFamily="18" charset="0"/>
                <a:cs typeface="Arial" panose="020B0604020202020204" pitchFamily="34" charset="0"/>
              </a:rPr>
              <a:t>}</a:t>
            </a:r>
            <a:endParaRPr kumimoji="1" lang="en-US" altLang="zh-CN" sz="2200" b="1"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498693" name="Text Box 5"/>
          <p:cNvSpPr txBox="1">
            <a:spLocks noChangeArrowheads="1"/>
          </p:cNvSpPr>
          <p:nvPr/>
        </p:nvSpPr>
        <p:spPr bwMode="auto">
          <a:xfrm>
            <a:off x="2698750" y="4508500"/>
            <a:ext cx="5976938" cy="2346325"/>
          </a:xfrm>
          <a:prstGeom prst="rect">
            <a:avLst/>
          </a:prstGeom>
          <a:solidFill>
            <a:schemeClr val="bg2"/>
          </a:solidFill>
          <a:ln w="5715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latin typeface="Garamond" panose="02020404030301010803" pitchFamily="18" charset="0"/>
                <a:cs typeface="Arial" panose="020B0604020202020204" pitchFamily="34" charset="0"/>
              </a:rPr>
              <a:t>可利用指针数组的元素</a:t>
            </a:r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(</a:t>
            </a:r>
            <a:r>
              <a:rPr lang="zh-CN" altLang="en-US" b="1">
                <a:latin typeface="Garamond" panose="02020404030301010803" pitchFamily="18" charset="0"/>
                <a:cs typeface="Arial" panose="020B0604020202020204" pitchFamily="34" charset="0"/>
              </a:rPr>
              <a:t>指针</a:t>
            </a:r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)</a:t>
            </a:r>
            <a:r>
              <a:rPr lang="zh-CN" altLang="en-US" b="1">
                <a:latin typeface="Garamond" panose="02020404030301010803" pitchFamily="18" charset="0"/>
                <a:cs typeface="Arial" panose="020B0604020202020204" pitchFamily="34" charset="0"/>
              </a:rPr>
              <a:t>来访问所指向的数组的元素，就像使用二维数组：</a:t>
            </a:r>
            <a:endParaRPr lang="zh-CN" altLang="en-US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zh-CN" altLang="en-US" b="1">
                <a:latin typeface="Garamond" panose="02020404030301010803" pitchFamily="18" charset="0"/>
                <a:cs typeface="Arial" panose="020B0604020202020204" pitchFamily="34" charset="0"/>
              </a:rPr>
              <a:t>*</a:t>
            </a:r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p[0] = 0</a:t>
            </a:r>
            <a:endParaRPr lang="en-US" altLang="zh-CN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*ar0 = 0</a:t>
            </a:r>
            <a:endParaRPr lang="en-US" altLang="zh-CN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&amp;p[0][0] = 0012FF74</a:t>
            </a:r>
            <a:endParaRPr lang="en-US" altLang="zh-CN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&amp;ar0[0] = 0012FF74</a:t>
            </a:r>
            <a:endParaRPr lang="en-US" altLang="zh-CN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p[0][1] = 1</a:t>
            </a:r>
            <a:endParaRPr lang="en-US" altLang="zh-CN" b="1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r>
              <a:rPr lang="en-US" altLang="zh-CN" b="1">
                <a:latin typeface="Garamond" panose="02020404030301010803" pitchFamily="18" charset="0"/>
                <a:cs typeface="Arial" panose="020B0604020202020204" pitchFamily="34" charset="0"/>
              </a:rPr>
              <a:t>ar0[1] = 1</a:t>
            </a:r>
            <a:endParaRPr lang="en-US" altLang="zh-CN" b="1"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9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4986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3" grpId="0" animBg="1"/>
      <p:bldP spid="498693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831905" y="721976"/>
            <a:ext cx="8532812" cy="5750613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#include &lt;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stdio.h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#include &lt;iostream&gt;          //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预编译命令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using namespace std;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int main()                            	//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主函数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{                                        	//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函数体开始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int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char  s[ ] = “China";	//s[ ]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为字符数组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char *t = s;		//t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为指向字符数组的指针变量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// p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为指针数组变量，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数组元素依次指向</a:t>
            </a:r>
            <a:endParaRPr kumimoji="1"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// 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字符串“</a:t>
            </a:r>
            <a:r>
              <a:rPr kumimoji="1" lang="en-US" altLang="zh-CN" sz="240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China",“Canada",“Denmark",“Greece</a:t>
            </a: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"</a:t>
            </a:r>
            <a:endParaRPr kumimoji="1"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char* p[ ]={“</a:t>
            </a:r>
            <a:r>
              <a:rPr kumimoji="1" lang="en-US" altLang="zh-CN" sz="2400" dirty="0" err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China",“Canada",“Denmark",“Greece</a:t>
            </a:r>
            <a:r>
              <a:rPr kumimoji="1"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“};</a:t>
            </a:r>
            <a:r>
              <a:rPr kumimoji="1"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kumimoji="1" lang="en-US" altLang="zh-CN" sz="2400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670145" y="147428"/>
            <a:ext cx="186266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指针数组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718513" y="688693"/>
            <a:ext cx="7859044" cy="2901820"/>
          </a:xfrm>
          <a:prstGeom prst="rect">
            <a:avLst/>
          </a:prstGeom>
          <a:noFill/>
          <a:ln w="12700" cap="sq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int </a:t>
            </a:r>
            <a:r>
              <a:rPr kumimoji="1" lang="en-US" altLang="zh-CN"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i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;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char  s[ ] = “China";	//s[ ]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为字符数组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char* t = s;		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               //t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为指向字符数组的指针变量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char*p[ ]={ “</a:t>
            </a:r>
            <a:r>
              <a:rPr kumimoji="1" lang="en-US" altLang="zh-CN"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China",“Canada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",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                       “</a:t>
            </a:r>
            <a:r>
              <a:rPr kumimoji="1" lang="en-US" altLang="zh-CN"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Denmark",“Greece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“ };</a:t>
            </a:r>
            <a:r>
              <a:rPr kumimoji="1"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endParaRPr kumimoji="1" lang="en-US" altLang="zh-CN" sz="3200" b="1" dirty="0">
              <a:solidFill>
                <a:schemeClr val="bg2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671" y="3852123"/>
            <a:ext cx="3583364" cy="175592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590513"/>
            <a:ext cx="4572000" cy="324710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918555" y="165473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例题分析</a:t>
            </a:r>
            <a:endParaRPr kumimoji="1"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121132" y="381418"/>
            <a:ext cx="6901735" cy="3471720"/>
          </a:xfrm>
          <a:prstGeom prst="rect">
            <a:avLst/>
          </a:prstGeom>
          <a:noFill/>
          <a:ln w="12700" cap="sq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printf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("1.1: </a:t>
            </a:r>
            <a:r>
              <a:rPr kumimoji="1" lang="en-US" altLang="en-US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s </a:t>
            </a:r>
            <a:r>
              <a:rPr kumimoji="1" lang="en-US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的地址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%08X\n", &amp;s);</a:t>
            </a: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printf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("1.2: </a:t>
            </a:r>
            <a:r>
              <a:rPr kumimoji="1" lang="en-US" altLang="en-US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s </a:t>
            </a:r>
            <a:r>
              <a:rPr kumimoji="1" lang="en-US" altLang="en-US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的内容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%s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\n", s);        </a:t>
            </a: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printf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("1.3: </a:t>
            </a:r>
            <a:r>
              <a:rPr kumimoji="1" lang="en-US" altLang="en-US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t </a:t>
            </a:r>
            <a:r>
              <a:rPr kumimoji="1" lang="en-US" altLang="en-US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指向的内容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%s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\n", t);</a:t>
            </a: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printf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("1.4: </a:t>
            </a:r>
            <a:r>
              <a:rPr kumimoji="1" lang="en-US" altLang="en-US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*t </a:t>
            </a:r>
            <a:r>
              <a:rPr kumimoji="1" lang="en-US" altLang="en-US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表示的内容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%c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\n", *t);        </a:t>
            </a: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printf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("1.5: </a:t>
            </a:r>
            <a:r>
              <a:rPr kumimoji="1" lang="en-US" altLang="en-US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*s </a:t>
            </a:r>
            <a:r>
              <a:rPr kumimoji="1" lang="en-US" altLang="en-US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表示的内容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%c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\n",  *s);</a:t>
            </a: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printf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("1.6: </a:t>
            </a:r>
            <a:r>
              <a:rPr kumimoji="1" lang="en-US" altLang="en-US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t </a:t>
            </a:r>
            <a:r>
              <a:rPr kumimoji="1" lang="en-US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所在的地址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%08X\n", &amp;t);</a:t>
            </a: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213" y="4181055"/>
            <a:ext cx="3583364" cy="175592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256777" y="4362671"/>
            <a:ext cx="3681664" cy="175432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1.1: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 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s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的地址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0x0012FF78</a:t>
            </a:r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1.2: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 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s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的内容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China</a:t>
            </a:r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1.3: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 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t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指向的内容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China</a:t>
            </a:r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1.4: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 *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t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表示的内容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</a:t>
            </a:r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1.5: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 *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s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表示的内容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</a:t>
            </a:r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1.6: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 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t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所在的地址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0x0012FF74</a:t>
            </a:r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01474" y="3923238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输出结果：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203158" y="244810"/>
            <a:ext cx="6232358" cy="2985433"/>
          </a:xfrm>
          <a:prstGeom prst="rect">
            <a:avLst/>
          </a:prstGeom>
          <a:noFill/>
          <a:ln w="12700" cap="sq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printf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("2.1: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P[0]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指向的字符串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%s\n", p[0]); </a:t>
            </a: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printf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("2.2: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P[1]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指向的字符串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%s\n", p[1]);</a:t>
            </a: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printf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("2.3: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P[2]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指向的字符串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%s\n", p[2]);</a:t>
            </a: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printf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("2.4: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P[3]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指向的字符串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%s\n", p[3]); </a:t>
            </a: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947" y="3272590"/>
            <a:ext cx="4572000" cy="324710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160520" y="4362671"/>
            <a:ext cx="3887223" cy="120032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2.1: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P[0]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指向的字符串 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China</a:t>
            </a:r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2.2: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P[1]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指向的字符串 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Canada</a:t>
            </a:r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2.3: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P[2]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指向的字符串 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Denmark</a:t>
            </a:r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2.4: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P[3]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指向的字符串 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Greece</a:t>
            </a:r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05218" y="3923238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输出结果：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852488" y="0"/>
            <a:ext cx="7605712" cy="3108543"/>
          </a:xfrm>
          <a:prstGeom prst="rect">
            <a:avLst/>
          </a:prstGeom>
          <a:noFill/>
          <a:ln w="12700" cap="sq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1" lang="en-US" altLang="zh-CN" sz="2400" b="1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1" lang="en-US" altLang="zh-CN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printf("3.1: </a:t>
            </a:r>
            <a:r>
              <a:rPr kumimoji="1" lang="zh-CN" altLang="en-US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p[0]</a:t>
            </a:r>
            <a:r>
              <a:rPr kumimoji="1" lang="zh-CN" altLang="en-US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本身的地址</a:t>
            </a:r>
            <a:r>
              <a:rPr kumimoji="1" lang="en-US" altLang="zh-CN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%08X\n", &amp;p[0]);</a:t>
            </a:r>
            <a:endParaRPr kumimoji="1" lang="en-US" altLang="zh-CN" sz="2000" b="1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kumimoji="1" lang="en-US" altLang="zh-CN" sz="2000" b="1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printf("3.2: </a:t>
            </a:r>
            <a:r>
              <a:rPr kumimoji="1" lang="zh-CN" altLang="en-US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p[1]</a:t>
            </a:r>
            <a:r>
              <a:rPr kumimoji="1" lang="zh-CN" altLang="en-US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本身的地址</a:t>
            </a:r>
            <a:r>
              <a:rPr kumimoji="1" lang="en-US" altLang="zh-CN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%08X\n", &amp;p[1]);</a:t>
            </a:r>
            <a:endParaRPr kumimoji="1" lang="en-US" altLang="zh-CN" sz="2000" b="1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kumimoji="1" lang="en-US" altLang="zh-CN" sz="2000" b="1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printf("3.3: </a:t>
            </a:r>
            <a:r>
              <a:rPr kumimoji="1" lang="zh-CN" altLang="en-US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p[2]</a:t>
            </a:r>
            <a:r>
              <a:rPr kumimoji="1" lang="zh-CN" altLang="en-US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本身的地址</a:t>
            </a:r>
            <a:r>
              <a:rPr kumimoji="1" lang="en-US" altLang="zh-CN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%08X\n", &amp;p[2]);</a:t>
            </a:r>
            <a:endParaRPr kumimoji="1" lang="en-US" altLang="zh-CN" sz="2000" b="1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kumimoji="1" lang="en-US" altLang="zh-CN" sz="2000" b="1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printf("3.4: </a:t>
            </a:r>
            <a:r>
              <a:rPr kumimoji="1" lang="zh-CN" altLang="en-US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p[3]</a:t>
            </a:r>
            <a:r>
              <a:rPr kumimoji="1" lang="zh-CN" altLang="en-US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本身的地址</a:t>
            </a:r>
            <a:r>
              <a:rPr kumimoji="1" lang="en-US" altLang="zh-CN" sz="2000" b="1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%08X\n", &amp;p[3]);</a:t>
            </a:r>
            <a:endParaRPr kumimoji="1" lang="en-US" altLang="zh-CN" sz="2000" b="1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9108" y="2940108"/>
            <a:ext cx="4135103" cy="324710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184584" y="4013753"/>
            <a:ext cx="3887223" cy="120032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3.1: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p[0]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本身的地址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0x0012FF64</a:t>
            </a:r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3.2: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p[1]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本身的地址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0x0012FF68</a:t>
            </a:r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3.3: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p[2]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本身的地址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0x0012FF6C</a:t>
            </a:r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3.4: 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p[3]</a:t>
            </a:r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本身的地址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0x0012FF70</a:t>
            </a:r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29282" y="3574320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输出结果：</a:t>
            </a:r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-33962" y="3222730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0x0012FF64</a:t>
            </a:r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-59720" y="3923238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0x0012FF68</a:t>
            </a:r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047" y="4776089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0x0012FF6C</a:t>
            </a:r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-59720" y="5563000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0x0012FF70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指针的指针</a:t>
            </a:r>
            <a:endParaRPr lang="en-US" altLang="zh-CN" dirty="0"/>
          </a:p>
          <a:p>
            <a:r>
              <a:rPr lang="zh-CN" altLang="en-US" dirty="0"/>
              <a:t>指针数组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动态分配内存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动态数组</a:t>
            </a:r>
            <a:endParaRPr lang="en-US" altLang="zh-CN" dirty="0"/>
          </a:p>
          <a:p>
            <a:r>
              <a:rPr lang="zh-CN" altLang="en-US" dirty="0"/>
              <a:t>其他</a:t>
            </a:r>
            <a:endParaRPr lang="en-US" altLang="zh-CN" dirty="0"/>
          </a:p>
          <a:p>
            <a:pPr lvl="1"/>
            <a:r>
              <a:rPr lang="en-US" altLang="zh-CN" dirty="0"/>
              <a:t>const</a:t>
            </a:r>
            <a:r>
              <a:rPr lang="zh-CN" altLang="en-US" dirty="0"/>
              <a:t>与指针</a:t>
            </a:r>
            <a:endParaRPr lang="en-US" altLang="zh-CN" dirty="0"/>
          </a:p>
          <a:p>
            <a:pPr lvl="1"/>
            <a:r>
              <a:rPr lang="zh-CN" altLang="en-US" dirty="0"/>
              <a:t>主函数的参数</a:t>
            </a:r>
            <a:endParaRPr lang="en-US" altLang="zh-CN" dirty="0"/>
          </a:p>
          <a:p>
            <a:pPr lvl="1"/>
            <a:r>
              <a:rPr lang="zh-CN" altLang="en-US" dirty="0"/>
              <a:t>引用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本讲内容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静态数组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/>
              <a:t>复习：数组的定义形式</a:t>
            </a:r>
            <a:endParaRPr lang="en-US" altLang="zh-CN" sz="2800"/>
          </a:p>
          <a:p>
            <a:pPr lvl="1"/>
            <a:r>
              <a:rPr lang="zh-CN" altLang="en-US" sz="2400"/>
              <a:t>类型说明符 数组名</a:t>
            </a:r>
            <a:r>
              <a:rPr lang="en-US" altLang="zh-CN" sz="2400"/>
              <a:t>[</a:t>
            </a:r>
            <a:r>
              <a:rPr lang="zh-CN" altLang="en-US" sz="2400"/>
              <a:t>常量</a:t>
            </a:r>
            <a:r>
              <a:rPr lang="en-US" altLang="zh-CN" sz="2400"/>
              <a:t>]</a:t>
            </a:r>
            <a:endParaRPr lang="en-US" altLang="zh-CN" sz="2400"/>
          </a:p>
          <a:p>
            <a:pPr lvl="1"/>
            <a:r>
              <a:rPr lang="zh-CN" altLang="en-US" sz="2400"/>
              <a:t>例：</a:t>
            </a:r>
            <a:r>
              <a:rPr lang="en-US" altLang="zh-CN" sz="2400"/>
              <a:t> float sheep[10];</a:t>
            </a:r>
            <a:r>
              <a:rPr lang="zh-CN" altLang="en-US" sz="2400"/>
              <a:t>   </a:t>
            </a:r>
            <a:r>
              <a:rPr lang="en-US" altLang="zh-CN" sz="2400"/>
              <a:t>int</a:t>
            </a:r>
            <a:r>
              <a:rPr lang="zh-CN" altLang="en-US" sz="2400"/>
              <a:t> </a:t>
            </a:r>
            <a:r>
              <a:rPr lang="en-US" altLang="zh-CN" sz="2400"/>
              <a:t>a2001[1000];</a:t>
            </a:r>
            <a:endParaRPr lang="en-US" altLang="zh-CN" sz="2400"/>
          </a:p>
          <a:p>
            <a:r>
              <a:rPr lang="zh-CN" altLang="en-US" sz="2800"/>
              <a:t>上述方式定义的是</a:t>
            </a:r>
            <a:r>
              <a:rPr lang="zh-CN" altLang="en-US" sz="2800">
                <a:solidFill>
                  <a:srgbClr val="FF0000"/>
                </a:solidFill>
              </a:rPr>
              <a:t>静态数组</a:t>
            </a:r>
            <a:endParaRPr lang="en-US" altLang="zh-CN" sz="2800">
              <a:solidFill>
                <a:srgbClr val="FF0000"/>
              </a:solidFill>
            </a:endParaRPr>
          </a:p>
          <a:p>
            <a:pPr lvl="1"/>
            <a:r>
              <a:rPr lang="zh-CN" altLang="en-US" sz="2400"/>
              <a:t>数组大小由程序员预先定义</a:t>
            </a:r>
            <a:r>
              <a:rPr lang="en-US" altLang="zh-CN" sz="2400"/>
              <a:t>——</a:t>
            </a:r>
            <a:r>
              <a:rPr lang="zh-CN" altLang="en-US" sz="2400"/>
              <a:t>不灵活、会浪费</a:t>
            </a:r>
            <a:endParaRPr lang="en-US" altLang="zh-CN" sz="2400"/>
          </a:p>
          <a:p>
            <a:pPr lvl="1"/>
            <a:r>
              <a:rPr lang="zh-CN" altLang="en-US" sz="2400"/>
              <a:t>数组的长度受限制</a:t>
            </a:r>
            <a:r>
              <a:rPr lang="en-US" altLang="zh-CN" sz="2400"/>
              <a:t>——</a:t>
            </a:r>
            <a:r>
              <a:rPr lang="zh-CN" altLang="en-US" sz="2400"/>
              <a:t>难以应对大的数据</a:t>
            </a:r>
            <a:endParaRPr lang="en-US" altLang="en-US" sz="2400">
              <a:ea typeface="华文中宋" panose="0201060004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5018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3775AD-FDBA-44BD-8F71-53526489CF33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835150" y="4365625"/>
            <a:ext cx="4572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en-US">
                <a:solidFill>
                  <a:srgbClr val="931A68"/>
                </a:solidFill>
                <a:latin typeface="Monaco"/>
              </a:rPr>
              <a:t>#include</a:t>
            </a:r>
            <a:r>
              <a:rPr lang="en-US" altLang="en-US">
                <a:solidFill>
                  <a:srgbClr val="3933FF"/>
                </a:solidFill>
                <a:latin typeface="Monaco"/>
              </a:rPr>
              <a:t>&lt;iostream&gt;</a:t>
            </a:r>
            <a:endParaRPr lang="en-US" altLang="en-US">
              <a:solidFill>
                <a:srgbClr val="3933FF"/>
              </a:solidFill>
              <a:latin typeface="Monaco"/>
            </a:endParaRPr>
          </a:p>
          <a:p>
            <a:r>
              <a:rPr lang="en-US" altLang="en-US">
                <a:solidFill>
                  <a:srgbClr val="931A68"/>
                </a:solidFill>
                <a:latin typeface="Monaco"/>
              </a:rPr>
              <a:t>using</a:t>
            </a:r>
            <a:r>
              <a:rPr lang="en-US" altLang="en-US">
                <a:solidFill>
                  <a:srgbClr val="000000"/>
                </a:solidFill>
                <a:latin typeface="Monaco"/>
              </a:rPr>
              <a:t> </a:t>
            </a:r>
            <a:r>
              <a:rPr lang="en-US" altLang="en-US">
                <a:solidFill>
                  <a:srgbClr val="931A68"/>
                </a:solidFill>
                <a:latin typeface="Monaco"/>
              </a:rPr>
              <a:t>namespace</a:t>
            </a:r>
            <a:r>
              <a:rPr lang="en-US" altLang="en-US">
                <a:solidFill>
                  <a:srgbClr val="000000"/>
                </a:solidFill>
                <a:latin typeface="Monaco"/>
              </a:rPr>
              <a:t> std;</a:t>
            </a:r>
            <a:endParaRPr lang="en-US" altLang="en-US">
              <a:solidFill>
                <a:srgbClr val="931A68"/>
              </a:solidFill>
              <a:latin typeface="Monaco"/>
            </a:endParaRPr>
          </a:p>
          <a:p>
            <a:r>
              <a:rPr lang="en-US" altLang="en-US">
                <a:solidFill>
                  <a:srgbClr val="931A68"/>
                </a:solidFill>
                <a:latin typeface="Monaco"/>
              </a:rPr>
              <a:t>int</a:t>
            </a:r>
            <a:r>
              <a:rPr lang="en-US" altLang="en-US">
                <a:latin typeface="Monaco"/>
              </a:rPr>
              <a:t> main() {</a:t>
            </a:r>
            <a:endParaRPr lang="en-US" altLang="en-US">
              <a:latin typeface="Monaco"/>
            </a:endParaRPr>
          </a:p>
          <a:p>
            <a:r>
              <a:rPr lang="zh-CN" altLang="en-US">
                <a:solidFill>
                  <a:srgbClr val="931A68"/>
                </a:solidFill>
                <a:latin typeface="Monaco"/>
              </a:rPr>
              <a:t>    </a:t>
            </a:r>
            <a:r>
              <a:rPr lang="en-US" altLang="en-US">
                <a:solidFill>
                  <a:srgbClr val="931A68"/>
                </a:solidFill>
                <a:latin typeface="Monaco"/>
              </a:rPr>
              <a:t>int</a:t>
            </a:r>
            <a:r>
              <a:rPr lang="en-US" altLang="en-US">
                <a:latin typeface="Monaco"/>
              </a:rPr>
              <a:t> big_array[2097152];</a:t>
            </a:r>
            <a:endParaRPr lang="en-US" altLang="en-US">
              <a:latin typeface="Monaco"/>
            </a:endParaRPr>
          </a:p>
          <a:p>
            <a:r>
              <a:rPr lang="zh-CN" altLang="en-US">
                <a:latin typeface="Monaco"/>
              </a:rPr>
              <a:t>    </a:t>
            </a:r>
            <a:r>
              <a:rPr lang="en-US" altLang="en-US">
                <a:latin typeface="Monaco"/>
              </a:rPr>
              <a:t>cout &lt;&lt; big_array[0];</a:t>
            </a:r>
            <a:endParaRPr lang="en-US" altLang="en-US">
              <a:latin typeface="Monaco"/>
            </a:endParaRPr>
          </a:p>
          <a:p>
            <a:r>
              <a:rPr lang="en-US" altLang="en-US">
                <a:latin typeface="Monaco"/>
              </a:rPr>
              <a:t>}</a:t>
            </a:r>
            <a:endParaRPr lang="en-US" altLang="en-US">
              <a:latin typeface="Monaco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795963" y="4641850"/>
            <a:ext cx="6302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32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❌</a:t>
            </a:r>
            <a:endParaRPr lang="en-US" alt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664325" y="4749800"/>
            <a:ext cx="1800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程序无法运行！</a:t>
            </a:r>
            <a:endParaRPr lang="en-US" alt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940425" y="5272088"/>
            <a:ext cx="26701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原因：静态数组存放在内存的</a:t>
            </a:r>
            <a:r>
              <a:rPr kumimoji="1"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栈空间</a:t>
            </a:r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内，大小受栈限制（了解即可）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头文件：</a:t>
            </a:r>
            <a:r>
              <a:rPr lang="en-US" altLang="zh-CN" dirty="0"/>
              <a:t>#include &lt;</a:t>
            </a:r>
            <a:r>
              <a:rPr lang="en-US" altLang="zh-CN" dirty="0" err="1"/>
              <a:t>stdlib.h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 err="1"/>
              <a:t>malloc</a:t>
            </a:r>
            <a:r>
              <a:rPr lang="en-US" altLang="zh-CN" dirty="0"/>
              <a:t>() 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en-US" altLang="zh-CN" dirty="0" err="1"/>
              <a:t>malloc</a:t>
            </a:r>
            <a:r>
              <a:rPr lang="zh-CN" altLang="en-US" dirty="0"/>
              <a:t>用来从内存池中提取一块合适的内存，并返回一个指向这块内存的指针，这块内存此时并没有以任何方式进行初始化。</a:t>
            </a:r>
            <a:endParaRPr lang="en-US" altLang="zh-CN" dirty="0"/>
          </a:p>
          <a:p>
            <a:pPr lvl="1"/>
            <a:r>
              <a:rPr lang="zh-CN" altLang="en-US" dirty="0"/>
              <a:t>原型：</a:t>
            </a:r>
            <a:r>
              <a:rPr lang="en-US" altLang="zh-CN" dirty="0">
                <a:solidFill>
                  <a:srgbClr val="FF0000"/>
                </a:solidFill>
              </a:rPr>
              <a:t>void* </a:t>
            </a:r>
            <a:r>
              <a:rPr lang="en-US" altLang="zh-CN" dirty="0" err="1"/>
              <a:t>malloc</a:t>
            </a:r>
            <a:r>
              <a:rPr lang="en-US" altLang="zh-CN" dirty="0"/>
              <a:t> (</a:t>
            </a:r>
            <a:r>
              <a:rPr lang="en-US" altLang="zh-CN" dirty="0" err="1"/>
              <a:t>size_t</a:t>
            </a:r>
            <a:r>
              <a:rPr lang="en-US" altLang="zh-CN" dirty="0"/>
              <a:t> size);</a:t>
            </a:r>
            <a:endParaRPr lang="en-US" altLang="zh-CN" dirty="0"/>
          </a:p>
          <a:p>
            <a:pPr lvl="1"/>
            <a:r>
              <a:rPr lang="en-US" altLang="zh-CN" dirty="0"/>
              <a:t>size </a:t>
            </a:r>
            <a:r>
              <a:rPr lang="zh-CN" altLang="en-US" dirty="0"/>
              <a:t>为需要分配的内存空间的大小，以字节（</a:t>
            </a:r>
            <a:r>
              <a:rPr lang="en-US" altLang="zh-CN" dirty="0"/>
              <a:t>Byte</a:t>
            </a:r>
            <a:r>
              <a:rPr lang="zh-CN" altLang="en-US" dirty="0"/>
              <a:t>）为单位</a:t>
            </a:r>
            <a:endParaRPr lang="en-US" altLang="zh-CN" dirty="0"/>
          </a:p>
          <a:p>
            <a:pPr lvl="1"/>
            <a:r>
              <a:rPr lang="zh-CN" altLang="en-US" dirty="0"/>
              <a:t>注意：返回值类型是 </a:t>
            </a:r>
            <a:r>
              <a:rPr lang="en-US" altLang="zh-CN" dirty="0"/>
              <a:t>void *</a:t>
            </a:r>
            <a:r>
              <a:rPr lang="zh-CN" altLang="en-US" dirty="0"/>
              <a:t>，</a:t>
            </a:r>
            <a:r>
              <a:rPr lang="en-US" altLang="zh-CN" dirty="0"/>
              <a:t>void </a:t>
            </a:r>
            <a:r>
              <a:rPr lang="zh-CN" altLang="en-US" dirty="0"/>
              <a:t>并不是说没有返回值或者返回空指针，而是</a:t>
            </a:r>
            <a:r>
              <a:rPr lang="zh-CN" altLang="en-US" dirty="0">
                <a:solidFill>
                  <a:srgbClr val="FF0000"/>
                </a:solidFill>
              </a:rPr>
              <a:t>返回的指针类型未知</a:t>
            </a:r>
            <a:r>
              <a:rPr lang="zh-CN" altLang="en-US" dirty="0"/>
              <a:t>。在使用 </a:t>
            </a:r>
            <a:r>
              <a:rPr lang="en-US" altLang="zh-CN" dirty="0" err="1"/>
              <a:t>malloc</a:t>
            </a:r>
            <a:r>
              <a:rPr lang="en-US" altLang="zh-CN" dirty="0"/>
              <a:t>() </a:t>
            </a:r>
            <a:r>
              <a:rPr lang="zh-CN" altLang="en-US" dirty="0"/>
              <a:t>时通常需要进行强制类型转换，将 </a:t>
            </a:r>
            <a:r>
              <a:rPr lang="en-US" altLang="zh-CN" dirty="0"/>
              <a:t>void </a:t>
            </a:r>
            <a:r>
              <a:rPr lang="zh-CN" altLang="en-US" dirty="0"/>
              <a:t>指针转换为希望的类型，失败返回</a:t>
            </a:r>
            <a:r>
              <a:rPr lang="en-US" altLang="zh-CN" dirty="0"/>
              <a:t>NULL</a:t>
            </a:r>
            <a:endParaRPr lang="en-US" altLang="zh-CN" dirty="0"/>
          </a:p>
          <a:p>
            <a:r>
              <a:rPr lang="en-US" altLang="zh-CN" dirty="0" err="1"/>
              <a:t>calloc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en-US" altLang="zh-CN" dirty="0"/>
              <a:t>void* </a:t>
            </a:r>
            <a:r>
              <a:rPr lang="en-US" altLang="zh-CN" dirty="0" err="1"/>
              <a:t>calloc</a:t>
            </a:r>
            <a:r>
              <a:rPr lang="en-US" altLang="zh-CN" dirty="0"/>
              <a:t> (</a:t>
            </a:r>
            <a:r>
              <a:rPr lang="en-US" altLang="zh-CN" dirty="0" err="1"/>
              <a:t>size_t</a:t>
            </a:r>
            <a:r>
              <a:rPr lang="en-US" altLang="zh-CN" dirty="0"/>
              <a:t> </a:t>
            </a:r>
            <a:r>
              <a:rPr lang="en-US" altLang="zh-CN" dirty="0" err="1"/>
              <a:t>num</a:t>
            </a:r>
            <a:r>
              <a:rPr lang="en-US" altLang="zh-CN" dirty="0"/>
              <a:t>, </a:t>
            </a:r>
            <a:r>
              <a:rPr lang="en-US" altLang="zh-CN" dirty="0" err="1"/>
              <a:t>size_t</a:t>
            </a:r>
            <a:r>
              <a:rPr lang="en-US" altLang="zh-CN" dirty="0"/>
              <a:t> size);</a:t>
            </a:r>
            <a:endParaRPr lang="en-US" altLang="zh-CN" dirty="0"/>
          </a:p>
          <a:p>
            <a:pPr lvl="1"/>
            <a:r>
              <a:rPr lang="en-US" altLang="zh-CN" b="1" dirty="0"/>
              <a:t>Allocate and zero-initialize array</a:t>
            </a:r>
            <a:endParaRPr lang="en-US" altLang="zh-CN" b="1" dirty="0"/>
          </a:p>
          <a:p>
            <a:r>
              <a:rPr lang="en-US" altLang="zh-CN" dirty="0"/>
              <a:t>free()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zh-CN" altLang="en-US" dirty="0"/>
              <a:t>用来把前面动态分配的内存归还内存池以供后续</a:t>
            </a:r>
            <a:endParaRPr lang="en-US" altLang="zh-CN" dirty="0"/>
          </a:p>
          <a:p>
            <a:pPr lvl="1"/>
            <a:r>
              <a:rPr lang="en-US" altLang="zh-CN" dirty="0"/>
              <a:t> void *free(void *pointer);</a:t>
            </a:r>
            <a:endParaRPr lang="en-US" altLang="zh-C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动态分配内存</a:t>
            </a:r>
            <a:r>
              <a:rPr lang="en-US" altLang="zh-CN" dirty="0"/>
              <a:t>——C</a:t>
            </a:r>
            <a:r>
              <a:rPr lang="zh-CN" altLang="en-US" dirty="0"/>
              <a:t>语言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动态数组举例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程序设计导论</a:t>
            </a:r>
            <a:endParaRPr lang="zh-CN" altLang="en-US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5427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EEE98BC-4DEC-475D-B36E-1B0C72BA004F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sp>
        <p:nvSpPr>
          <p:cNvPr id="54276" name="Rectangle 5"/>
          <p:cNvSpPr>
            <a:spLocks noChangeArrowheads="1"/>
          </p:cNvSpPr>
          <p:nvPr/>
        </p:nvSpPr>
        <p:spPr bwMode="auto">
          <a:xfrm>
            <a:off x="1594801" y="1238352"/>
            <a:ext cx="6553200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en-US" sz="2000" dirty="0">
                <a:solidFill>
                  <a:srgbClr val="931A68"/>
                </a:solidFill>
                <a:latin typeface="Monaco"/>
              </a:rPr>
              <a:t>#include</a:t>
            </a:r>
            <a:r>
              <a:rPr lang="en-US" altLang="en-US" sz="2000" dirty="0">
                <a:solidFill>
                  <a:srgbClr val="3933FF"/>
                </a:solidFill>
                <a:latin typeface="Monaco"/>
              </a:rPr>
              <a:t>&lt;iostream&gt;</a:t>
            </a:r>
            <a:endParaRPr lang="en-US" altLang="en-US" sz="2000" dirty="0">
              <a:solidFill>
                <a:srgbClr val="3933FF"/>
              </a:solidFill>
              <a:latin typeface="Monaco"/>
            </a:endParaRPr>
          </a:p>
          <a:p>
            <a:r>
              <a:rPr lang="en-US" altLang="en-US" sz="2000" dirty="0">
                <a:solidFill>
                  <a:srgbClr val="931A68"/>
                </a:solidFill>
                <a:latin typeface="Monaco"/>
              </a:rPr>
              <a:t>using</a:t>
            </a:r>
            <a:r>
              <a:rPr lang="en-US" altLang="en-US" sz="2000" dirty="0">
                <a:solidFill>
                  <a:srgbClr val="000000"/>
                </a:solidFill>
                <a:latin typeface="Monaco"/>
              </a:rPr>
              <a:t> </a:t>
            </a:r>
            <a:r>
              <a:rPr lang="en-US" altLang="en-US" sz="2000" dirty="0">
                <a:solidFill>
                  <a:srgbClr val="931A68"/>
                </a:solidFill>
                <a:latin typeface="Monaco"/>
              </a:rPr>
              <a:t>namespace</a:t>
            </a:r>
            <a:r>
              <a:rPr lang="en-US" altLang="en-US" sz="2000" dirty="0">
                <a:solidFill>
                  <a:srgbClr val="000000"/>
                </a:solidFill>
                <a:latin typeface="Monaco"/>
              </a:rPr>
              <a:t> std;</a:t>
            </a:r>
            <a:endParaRPr lang="en-US" altLang="en-US" sz="2000" dirty="0">
              <a:solidFill>
                <a:srgbClr val="931A68"/>
              </a:solidFill>
              <a:latin typeface="Monaco"/>
            </a:endParaRPr>
          </a:p>
          <a:p>
            <a:r>
              <a:rPr lang="en-US" altLang="en-US" sz="2000" dirty="0">
                <a:solidFill>
                  <a:srgbClr val="931A68"/>
                </a:solidFill>
                <a:latin typeface="Monaco"/>
              </a:rPr>
              <a:t>#include</a:t>
            </a:r>
            <a:r>
              <a:rPr lang="en-US" altLang="en-US" sz="2000" dirty="0">
                <a:solidFill>
                  <a:srgbClr val="000000"/>
                </a:solidFill>
                <a:latin typeface="Monaco"/>
              </a:rPr>
              <a:t> </a:t>
            </a:r>
            <a:r>
              <a:rPr lang="en-US" altLang="en-US" sz="2000" dirty="0">
                <a:solidFill>
                  <a:srgbClr val="3933FF"/>
                </a:solidFill>
                <a:latin typeface="Monaco"/>
              </a:rPr>
              <a:t>&lt;</a:t>
            </a:r>
            <a:r>
              <a:rPr lang="en-US" altLang="en-US" sz="2000" dirty="0" err="1">
                <a:solidFill>
                  <a:srgbClr val="3933FF"/>
                </a:solidFill>
                <a:latin typeface="Monaco"/>
              </a:rPr>
              <a:t>stdlib.h</a:t>
            </a:r>
            <a:r>
              <a:rPr lang="en-US" altLang="en-US" sz="2000" dirty="0">
                <a:solidFill>
                  <a:srgbClr val="3933FF"/>
                </a:solidFill>
                <a:latin typeface="Monaco"/>
              </a:rPr>
              <a:t>&gt;</a:t>
            </a:r>
            <a:endParaRPr lang="en-US" altLang="en-US" sz="2000" dirty="0">
              <a:solidFill>
                <a:srgbClr val="3933FF"/>
              </a:solidFill>
              <a:latin typeface="Monaco"/>
            </a:endParaRPr>
          </a:p>
          <a:p>
            <a:r>
              <a:rPr lang="en-US" altLang="en-US" sz="2000" dirty="0">
                <a:solidFill>
                  <a:srgbClr val="931A68"/>
                </a:solidFill>
                <a:latin typeface="Monaco"/>
              </a:rPr>
              <a:t>int</a:t>
            </a:r>
            <a:r>
              <a:rPr lang="en-US" altLang="en-US" sz="2000" dirty="0">
                <a:latin typeface="Monaco"/>
              </a:rPr>
              <a:t> main() {</a:t>
            </a:r>
            <a:endParaRPr lang="en-US" altLang="en-US" sz="2000" dirty="0">
              <a:latin typeface="Monaco"/>
            </a:endParaRPr>
          </a:p>
          <a:p>
            <a:r>
              <a:rPr lang="zh-CN" altLang="en-US" sz="2000" dirty="0">
                <a:solidFill>
                  <a:srgbClr val="931A68"/>
                </a:solidFill>
                <a:latin typeface="Monaco"/>
              </a:rPr>
              <a:t>    </a:t>
            </a:r>
            <a:r>
              <a:rPr lang="en-US" altLang="en-US" sz="2000" dirty="0">
                <a:solidFill>
                  <a:srgbClr val="931A68"/>
                </a:solidFill>
                <a:latin typeface="Monaco"/>
              </a:rPr>
              <a:t>int</a:t>
            </a:r>
            <a:r>
              <a:rPr lang="en-US" altLang="en-US" sz="2000" dirty="0">
                <a:latin typeface="Monaco"/>
              </a:rPr>
              <a:t> *</a:t>
            </a:r>
            <a:r>
              <a:rPr lang="en-US" altLang="en-US" sz="2000" dirty="0" err="1">
                <a:latin typeface="Monaco"/>
              </a:rPr>
              <a:t>ptr</a:t>
            </a:r>
            <a:r>
              <a:rPr lang="en-US" altLang="en-US" sz="2000" dirty="0">
                <a:latin typeface="Monaco"/>
              </a:rPr>
              <a:t>;</a:t>
            </a:r>
            <a:endParaRPr lang="en-US" altLang="en-US" sz="2000" dirty="0">
              <a:latin typeface="Monaco"/>
            </a:endParaRPr>
          </a:p>
          <a:p>
            <a:r>
              <a:rPr lang="zh-CN" altLang="en-US" sz="2000" dirty="0">
                <a:solidFill>
                  <a:srgbClr val="931A68"/>
                </a:solidFill>
                <a:latin typeface="Monaco"/>
              </a:rPr>
              <a:t>    </a:t>
            </a:r>
            <a:r>
              <a:rPr lang="en-US" altLang="en-US" sz="2000" dirty="0">
                <a:solidFill>
                  <a:srgbClr val="931A68"/>
                </a:solidFill>
                <a:latin typeface="Monaco"/>
              </a:rPr>
              <a:t>int</a:t>
            </a:r>
            <a:r>
              <a:rPr lang="en-US" altLang="en-US" sz="2000" dirty="0">
                <a:latin typeface="Monaco"/>
              </a:rPr>
              <a:t> </a:t>
            </a:r>
            <a:r>
              <a:rPr lang="en-US" altLang="en-US" sz="2000" dirty="0" err="1">
                <a:latin typeface="Monaco"/>
              </a:rPr>
              <a:t>len</a:t>
            </a:r>
            <a:r>
              <a:rPr lang="en-US" altLang="en-US" sz="2000" dirty="0">
                <a:latin typeface="Monaco"/>
              </a:rPr>
              <a:t>;</a:t>
            </a:r>
            <a:endParaRPr lang="en-US" altLang="en-US" sz="2000" dirty="0">
              <a:latin typeface="Monaco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Monaco"/>
              </a:rPr>
              <a:t>    </a:t>
            </a:r>
            <a:r>
              <a:rPr lang="en-US" altLang="en-US" sz="2000" dirty="0" err="1">
                <a:solidFill>
                  <a:srgbClr val="000000"/>
                </a:solidFill>
                <a:latin typeface="Monaco"/>
              </a:rPr>
              <a:t>cout</a:t>
            </a:r>
            <a:r>
              <a:rPr lang="en-US" altLang="en-US" sz="2000" dirty="0">
                <a:solidFill>
                  <a:srgbClr val="000000"/>
                </a:solidFill>
                <a:latin typeface="Monaco"/>
              </a:rPr>
              <a:t> &lt;&lt; </a:t>
            </a:r>
            <a:r>
              <a:rPr lang="en-US" altLang="en-US" sz="2000" dirty="0">
                <a:solidFill>
                  <a:srgbClr val="3933FF"/>
                </a:solidFill>
                <a:latin typeface="Monaco"/>
              </a:rPr>
              <a:t>"Input array length: "</a:t>
            </a:r>
            <a:r>
              <a:rPr lang="en-US" altLang="en-US" sz="2000" dirty="0">
                <a:solidFill>
                  <a:srgbClr val="000000"/>
                </a:solidFill>
                <a:latin typeface="Monaco"/>
              </a:rPr>
              <a:t>;</a:t>
            </a:r>
            <a:endParaRPr lang="en-US" altLang="en-US" sz="2000" dirty="0">
              <a:solidFill>
                <a:srgbClr val="3933FF"/>
              </a:solidFill>
              <a:latin typeface="Monaco"/>
            </a:endParaRPr>
          </a:p>
          <a:p>
            <a:r>
              <a:rPr lang="zh-CN" altLang="en-US" sz="2000" dirty="0">
                <a:latin typeface="Monaco"/>
              </a:rPr>
              <a:t>    </a:t>
            </a:r>
            <a:r>
              <a:rPr lang="en-US" altLang="en-US" sz="2000" dirty="0" err="1">
                <a:latin typeface="Monaco"/>
              </a:rPr>
              <a:t>cin</a:t>
            </a:r>
            <a:r>
              <a:rPr lang="en-US" altLang="en-US" sz="2000" dirty="0">
                <a:latin typeface="Monaco"/>
              </a:rPr>
              <a:t> &gt;&gt; </a:t>
            </a:r>
            <a:r>
              <a:rPr lang="en-US" altLang="en-US" sz="2000" dirty="0" err="1">
                <a:latin typeface="Monaco"/>
              </a:rPr>
              <a:t>len</a:t>
            </a:r>
            <a:r>
              <a:rPr lang="en-US" altLang="en-US" sz="2000" dirty="0">
                <a:latin typeface="Monaco"/>
              </a:rPr>
              <a:t>;</a:t>
            </a:r>
            <a:endParaRPr lang="en-US" altLang="en-US" sz="2000" dirty="0">
              <a:latin typeface="Monaco"/>
            </a:endParaRPr>
          </a:p>
          <a:p>
            <a:r>
              <a:rPr lang="zh-CN" altLang="en-US" sz="2000" dirty="0">
                <a:latin typeface="Monaco"/>
              </a:rPr>
              <a:t>    </a:t>
            </a:r>
            <a:r>
              <a:rPr lang="en-US" altLang="en-US" sz="2000" dirty="0" err="1">
                <a:latin typeface="Monaco"/>
              </a:rPr>
              <a:t>ptr</a:t>
            </a:r>
            <a:r>
              <a:rPr lang="en-US" altLang="en-US" sz="2000" dirty="0">
                <a:latin typeface="Monaco"/>
              </a:rPr>
              <a:t> = (</a:t>
            </a:r>
            <a:r>
              <a:rPr lang="en-US" altLang="en-US" sz="2000" dirty="0">
                <a:solidFill>
                  <a:srgbClr val="931A68"/>
                </a:solidFill>
                <a:latin typeface="Monaco"/>
              </a:rPr>
              <a:t>int</a:t>
            </a:r>
            <a:r>
              <a:rPr lang="en-US" altLang="en-US" sz="2000" dirty="0">
                <a:latin typeface="Monaco"/>
              </a:rPr>
              <a:t> *) </a:t>
            </a:r>
            <a:r>
              <a:rPr lang="en-US" altLang="en-US" sz="2000" dirty="0">
                <a:solidFill>
                  <a:srgbClr val="793D93"/>
                </a:solidFill>
                <a:latin typeface="Monaco"/>
              </a:rPr>
              <a:t>malloc</a:t>
            </a:r>
            <a:r>
              <a:rPr lang="en-US" altLang="en-US" sz="2000" dirty="0">
                <a:latin typeface="Monaco"/>
              </a:rPr>
              <a:t>(</a:t>
            </a:r>
            <a:r>
              <a:rPr lang="en-US" altLang="en-US" sz="2000" dirty="0" err="1">
                <a:latin typeface="Monaco"/>
              </a:rPr>
              <a:t>len</a:t>
            </a:r>
            <a:r>
              <a:rPr lang="en-US" altLang="en-US" sz="2000" dirty="0">
                <a:latin typeface="Monaco"/>
              </a:rPr>
              <a:t> * </a:t>
            </a:r>
            <a:r>
              <a:rPr lang="en-US" altLang="en-US" sz="2000" dirty="0" err="1">
                <a:solidFill>
                  <a:srgbClr val="931A68"/>
                </a:solidFill>
                <a:latin typeface="Monaco"/>
              </a:rPr>
              <a:t>sizeof</a:t>
            </a:r>
            <a:r>
              <a:rPr lang="en-US" altLang="en-US" sz="2000" dirty="0">
                <a:latin typeface="Monaco"/>
              </a:rPr>
              <a:t>(</a:t>
            </a:r>
            <a:r>
              <a:rPr lang="en-US" altLang="en-US" sz="2000" dirty="0">
                <a:solidFill>
                  <a:srgbClr val="931A68"/>
                </a:solidFill>
                <a:latin typeface="Monaco"/>
              </a:rPr>
              <a:t>int</a:t>
            </a:r>
            <a:r>
              <a:rPr lang="en-US" altLang="en-US" sz="2000" dirty="0">
                <a:latin typeface="Monaco"/>
              </a:rPr>
              <a:t>));</a:t>
            </a:r>
            <a:endParaRPr lang="en-US" altLang="en-US" sz="2000" dirty="0">
              <a:latin typeface="Monaco"/>
            </a:endParaRPr>
          </a:p>
          <a:p>
            <a:r>
              <a:rPr lang="zh-CN" altLang="en-US" sz="2000" dirty="0">
                <a:solidFill>
                  <a:srgbClr val="931A68"/>
                </a:solidFill>
                <a:latin typeface="Monaco"/>
              </a:rPr>
              <a:t>    </a:t>
            </a:r>
            <a:r>
              <a:rPr lang="en-US" altLang="en-US" sz="2000" dirty="0">
                <a:solidFill>
                  <a:srgbClr val="931A68"/>
                </a:solidFill>
                <a:latin typeface="Monaco"/>
              </a:rPr>
              <a:t>for</a:t>
            </a:r>
            <a:r>
              <a:rPr lang="en-US" altLang="en-US" sz="2000" dirty="0">
                <a:latin typeface="Monaco"/>
              </a:rPr>
              <a:t> (</a:t>
            </a:r>
            <a:r>
              <a:rPr lang="en-US" altLang="en-US" sz="2000" dirty="0">
                <a:solidFill>
                  <a:srgbClr val="931A68"/>
                </a:solidFill>
                <a:latin typeface="Monaco"/>
              </a:rPr>
              <a:t>int</a:t>
            </a:r>
            <a:r>
              <a:rPr lang="en-US" altLang="en-US" sz="2000" dirty="0">
                <a:latin typeface="Monaco"/>
              </a:rPr>
              <a:t> </a:t>
            </a:r>
            <a:r>
              <a:rPr lang="en-US" altLang="en-US" sz="2000" dirty="0" err="1">
                <a:latin typeface="Monaco"/>
              </a:rPr>
              <a:t>i</a:t>
            </a:r>
            <a:r>
              <a:rPr lang="en-US" altLang="en-US" sz="2000" dirty="0">
                <a:latin typeface="Monaco"/>
              </a:rPr>
              <a:t> = 0; </a:t>
            </a:r>
            <a:r>
              <a:rPr lang="en-US" altLang="en-US" sz="2000" dirty="0" err="1">
                <a:latin typeface="Monaco"/>
              </a:rPr>
              <a:t>i</a:t>
            </a:r>
            <a:r>
              <a:rPr lang="en-US" altLang="en-US" sz="2000" dirty="0">
                <a:latin typeface="Monaco"/>
              </a:rPr>
              <a:t> &lt; </a:t>
            </a:r>
            <a:r>
              <a:rPr lang="en-US" altLang="en-US" sz="2000" dirty="0" err="1">
                <a:latin typeface="Monaco"/>
              </a:rPr>
              <a:t>len</a:t>
            </a:r>
            <a:r>
              <a:rPr lang="en-US" altLang="en-US" sz="2000" dirty="0">
                <a:latin typeface="Monaco"/>
              </a:rPr>
              <a:t>; </a:t>
            </a:r>
            <a:r>
              <a:rPr lang="en-US" altLang="en-US" sz="2000" dirty="0" err="1">
                <a:latin typeface="Monaco"/>
              </a:rPr>
              <a:t>i</a:t>
            </a:r>
            <a:r>
              <a:rPr lang="en-US" altLang="en-US" sz="2000" dirty="0">
                <a:latin typeface="Monaco"/>
              </a:rPr>
              <a:t>++) {</a:t>
            </a:r>
            <a:endParaRPr lang="en-US" altLang="en-US" sz="2000" dirty="0">
              <a:latin typeface="Monaco"/>
            </a:endParaRPr>
          </a:p>
          <a:p>
            <a:r>
              <a:rPr lang="zh-CN" altLang="en-US" sz="2000" dirty="0">
                <a:latin typeface="Monaco"/>
              </a:rPr>
              <a:t>        </a:t>
            </a:r>
            <a:r>
              <a:rPr lang="en-US" altLang="en-US" sz="2000" dirty="0" err="1">
                <a:latin typeface="Monaco"/>
              </a:rPr>
              <a:t>ptr</a:t>
            </a:r>
            <a:r>
              <a:rPr lang="en-US" altLang="en-US" sz="2000" dirty="0">
                <a:latin typeface="Monaco"/>
              </a:rPr>
              <a:t>[</a:t>
            </a:r>
            <a:r>
              <a:rPr lang="en-US" altLang="en-US" sz="2000" dirty="0" err="1">
                <a:latin typeface="Monaco"/>
              </a:rPr>
              <a:t>i</a:t>
            </a:r>
            <a:r>
              <a:rPr lang="en-US" altLang="en-US" sz="2000" dirty="0">
                <a:latin typeface="Monaco"/>
              </a:rPr>
              <a:t>] = </a:t>
            </a:r>
            <a:r>
              <a:rPr lang="en-US" altLang="en-US" sz="2000" dirty="0" err="1">
                <a:latin typeface="Monaco"/>
              </a:rPr>
              <a:t>i</a:t>
            </a:r>
            <a:r>
              <a:rPr lang="en-US" altLang="en-US" sz="2000" dirty="0">
                <a:latin typeface="Monaco"/>
              </a:rPr>
              <a:t> + 1;</a:t>
            </a:r>
            <a:endParaRPr lang="en-US" altLang="en-US" sz="2000" dirty="0">
              <a:latin typeface="Monaco"/>
            </a:endParaRPr>
          </a:p>
          <a:p>
            <a:r>
              <a:rPr lang="zh-CN" altLang="en-US" sz="2000" dirty="0">
                <a:latin typeface="Monaco"/>
              </a:rPr>
              <a:t>        </a:t>
            </a:r>
            <a:r>
              <a:rPr lang="en-US" altLang="en-US" sz="2000" dirty="0" err="1">
                <a:latin typeface="Monaco"/>
              </a:rPr>
              <a:t>cout</a:t>
            </a:r>
            <a:r>
              <a:rPr lang="en-US" altLang="en-US" sz="2000" dirty="0">
                <a:latin typeface="Monaco"/>
              </a:rPr>
              <a:t> &lt;&lt; </a:t>
            </a:r>
            <a:r>
              <a:rPr lang="en-US" altLang="en-US" sz="2000" dirty="0" err="1">
                <a:latin typeface="Monaco"/>
              </a:rPr>
              <a:t>ptr</a:t>
            </a:r>
            <a:r>
              <a:rPr lang="en-US" altLang="en-US" sz="2000" dirty="0">
                <a:latin typeface="Monaco"/>
              </a:rPr>
              <a:t>[</a:t>
            </a:r>
            <a:r>
              <a:rPr lang="en-US" altLang="en-US" sz="2000" dirty="0" err="1">
                <a:latin typeface="Monaco"/>
              </a:rPr>
              <a:t>i</a:t>
            </a:r>
            <a:r>
              <a:rPr lang="en-US" altLang="en-US" sz="2000" dirty="0">
                <a:latin typeface="Monaco"/>
              </a:rPr>
              <a:t>] &lt;&lt; </a:t>
            </a:r>
            <a:r>
              <a:rPr lang="en-US" altLang="en-US" sz="2000" dirty="0" err="1">
                <a:latin typeface="Monaco"/>
              </a:rPr>
              <a:t>endl</a:t>
            </a:r>
            <a:r>
              <a:rPr lang="en-US" altLang="en-US" sz="2000" dirty="0">
                <a:latin typeface="Monaco"/>
              </a:rPr>
              <a:t>;</a:t>
            </a:r>
            <a:endParaRPr lang="en-US" altLang="en-US" sz="2000" dirty="0">
              <a:latin typeface="Monaco"/>
            </a:endParaRPr>
          </a:p>
          <a:p>
            <a:r>
              <a:rPr lang="zh-CN" altLang="en-US" sz="2000" dirty="0">
                <a:latin typeface="Monaco"/>
              </a:rPr>
              <a:t>    </a:t>
            </a:r>
            <a:r>
              <a:rPr lang="en-US" altLang="en-US" sz="2000" dirty="0">
                <a:latin typeface="Monaco"/>
              </a:rPr>
              <a:t>}</a:t>
            </a:r>
            <a:endParaRPr lang="en-US" altLang="en-US" sz="2000" dirty="0">
              <a:latin typeface="Monaco"/>
            </a:endParaRPr>
          </a:p>
          <a:p>
            <a:r>
              <a:rPr lang="zh-CN" altLang="en-US" sz="2000" dirty="0">
                <a:solidFill>
                  <a:srgbClr val="793D93"/>
                </a:solidFill>
                <a:latin typeface="Monaco"/>
              </a:rPr>
              <a:t>    </a:t>
            </a:r>
            <a:r>
              <a:rPr lang="en-US" altLang="en-US" sz="2000" dirty="0">
                <a:solidFill>
                  <a:srgbClr val="793D93"/>
                </a:solidFill>
                <a:latin typeface="Monaco"/>
              </a:rPr>
              <a:t>free</a:t>
            </a:r>
            <a:r>
              <a:rPr lang="en-US" altLang="en-US" sz="2000" dirty="0">
                <a:latin typeface="Monaco"/>
              </a:rPr>
              <a:t>(</a:t>
            </a:r>
            <a:r>
              <a:rPr lang="en-US" altLang="en-US" sz="2000" dirty="0" err="1">
                <a:latin typeface="Monaco"/>
              </a:rPr>
              <a:t>ptr</a:t>
            </a:r>
            <a:r>
              <a:rPr lang="en-US" altLang="en-US" sz="2000" dirty="0">
                <a:latin typeface="Monaco"/>
              </a:rPr>
              <a:t>);</a:t>
            </a:r>
            <a:endParaRPr lang="en-US" altLang="en-US" sz="2000" dirty="0">
              <a:latin typeface="Monaco"/>
            </a:endParaRPr>
          </a:p>
          <a:p>
            <a:r>
              <a:rPr lang="zh-CN" altLang="en-US" sz="2000" dirty="0">
                <a:solidFill>
                  <a:srgbClr val="931A68"/>
                </a:solidFill>
                <a:latin typeface="Monaco"/>
              </a:rPr>
              <a:t>    </a:t>
            </a:r>
            <a:r>
              <a:rPr lang="en-US" altLang="en-US" sz="2000" dirty="0">
                <a:solidFill>
                  <a:srgbClr val="931A68"/>
                </a:solidFill>
                <a:latin typeface="Monaco"/>
              </a:rPr>
              <a:t>return</a:t>
            </a:r>
            <a:r>
              <a:rPr lang="en-US" altLang="en-US" sz="2000" dirty="0">
                <a:solidFill>
                  <a:srgbClr val="000000"/>
                </a:solidFill>
                <a:latin typeface="Monaco"/>
              </a:rPr>
              <a:t> 0;</a:t>
            </a:r>
            <a:endParaRPr lang="en-US" altLang="en-US" sz="2000" dirty="0">
              <a:solidFill>
                <a:srgbClr val="931A68"/>
              </a:solidFill>
              <a:latin typeface="Monaco"/>
            </a:endParaRPr>
          </a:p>
          <a:p>
            <a:r>
              <a:rPr lang="en-US" altLang="en-US" sz="2000" dirty="0">
                <a:latin typeface="Monaco"/>
              </a:rPr>
              <a:t>}</a:t>
            </a:r>
            <a:endParaRPr lang="en-US" altLang="en-US" sz="2000" dirty="0">
              <a:latin typeface="Monac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7741" y="1196752"/>
            <a:ext cx="4104456" cy="51706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#include &lt;</a:t>
            </a:r>
            <a:r>
              <a:rPr lang="en-US" dirty="0" err="1"/>
              <a:t>stdlib.h</a:t>
            </a:r>
            <a:r>
              <a:rPr lang="en-US" dirty="0"/>
              <a:t>&gt;</a:t>
            </a:r>
            <a:endParaRPr lang="en-US" dirty="0"/>
          </a:p>
          <a:p>
            <a:r>
              <a:rPr lang="en-US" dirty="0"/>
              <a:t>#include &lt;</a:t>
            </a:r>
            <a:r>
              <a:rPr lang="en-US" dirty="0" err="1"/>
              <a:t>stdio.h</a:t>
            </a:r>
            <a:r>
              <a:rPr lang="en-US" dirty="0"/>
              <a:t>&gt;</a:t>
            </a:r>
            <a:endParaRPr lang="en-US" dirty="0"/>
          </a:p>
          <a:p>
            <a:br>
              <a:rPr lang="en-US" dirty="0"/>
            </a:br>
            <a:r>
              <a:rPr lang="en-US" dirty="0" err="1"/>
              <a:t>int</a:t>
            </a:r>
            <a:r>
              <a:rPr lang="en-US" dirty="0"/>
              <a:t> </a:t>
            </a:r>
            <a:r>
              <a:rPr lang="en-US" dirty="0" err="1"/>
              <a:t>func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 **array, </a:t>
            </a:r>
            <a:r>
              <a:rPr lang="en-US" dirty="0" err="1"/>
              <a:t>int</a:t>
            </a:r>
            <a:r>
              <a:rPr lang="en-US" dirty="0"/>
              <a:t> n, </a:t>
            </a:r>
            <a:r>
              <a:rPr lang="en-US" dirty="0" err="1"/>
              <a:t>int</a:t>
            </a:r>
            <a:r>
              <a:rPr lang="en-US" dirty="0"/>
              <a:t> m)</a:t>
            </a:r>
            <a:endParaRPr lang="en-US" dirty="0"/>
          </a:p>
          <a:p>
            <a:r>
              <a:rPr lang="en-US" dirty="0"/>
              <a:t>{</a:t>
            </a:r>
            <a:endParaRPr lang="en-US" dirty="0"/>
          </a:p>
          <a:p>
            <a:r>
              <a:rPr lang="en-US" dirty="0"/>
              <a:t>    </a:t>
            </a:r>
            <a:r>
              <a:rPr lang="en-US" dirty="0" err="1"/>
              <a:t>int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, j;</a:t>
            </a:r>
            <a:endParaRPr lang="en-US" dirty="0"/>
          </a:p>
          <a:p>
            <a:r>
              <a:rPr lang="en-US" dirty="0"/>
              <a:t>    for (</a:t>
            </a:r>
            <a:r>
              <a:rPr lang="en-US" dirty="0" err="1"/>
              <a:t>i</a:t>
            </a:r>
            <a:r>
              <a:rPr lang="en-US" dirty="0"/>
              <a:t> = 0; </a:t>
            </a:r>
            <a:r>
              <a:rPr lang="en-US" dirty="0" err="1"/>
              <a:t>i</a:t>
            </a:r>
            <a:r>
              <a:rPr lang="en-US" dirty="0"/>
              <a:t> &lt; n; </a:t>
            </a:r>
            <a:r>
              <a:rPr lang="en-US" dirty="0" err="1"/>
              <a:t>i</a:t>
            </a:r>
            <a:r>
              <a:rPr lang="en-US" dirty="0"/>
              <a:t> ++)</a:t>
            </a:r>
            <a:endParaRPr lang="en-US" dirty="0"/>
          </a:p>
          <a:p>
            <a:r>
              <a:rPr lang="en-US" dirty="0"/>
              <a:t>    {</a:t>
            </a:r>
            <a:endParaRPr lang="en-US" dirty="0"/>
          </a:p>
          <a:p>
            <a:r>
              <a:rPr lang="en-US" dirty="0"/>
              <a:t>        for (j = 0; j &lt; m; j ++)</a:t>
            </a:r>
            <a:endParaRPr lang="en-US" dirty="0"/>
          </a:p>
          <a:p>
            <a:r>
              <a:rPr lang="en-US" dirty="0"/>
              <a:t>        {</a:t>
            </a:r>
            <a:endParaRPr lang="en-US" dirty="0"/>
          </a:p>
          <a:p>
            <a:r>
              <a:rPr lang="en-US" dirty="0"/>
              <a:t>            </a:t>
            </a:r>
            <a:r>
              <a:rPr lang="en-US" dirty="0" err="1"/>
              <a:t>printf</a:t>
            </a:r>
            <a:r>
              <a:rPr lang="en-US" dirty="0"/>
              <a:t>("%d ", array[</a:t>
            </a:r>
            <a:r>
              <a:rPr lang="en-US" dirty="0" err="1"/>
              <a:t>i</a:t>
            </a:r>
            <a:r>
              <a:rPr lang="en-US" dirty="0"/>
              <a:t>][j]);</a:t>
            </a:r>
            <a:endParaRPr lang="en-US" dirty="0"/>
          </a:p>
          <a:p>
            <a:r>
              <a:rPr lang="en-US" dirty="0"/>
              <a:t>        }</a:t>
            </a:r>
            <a:endParaRPr lang="en-US" dirty="0"/>
          </a:p>
          <a:p>
            <a:r>
              <a:rPr lang="en-US" dirty="0"/>
              <a:t>        </a:t>
            </a:r>
            <a:r>
              <a:rPr lang="en-US" dirty="0" err="1"/>
              <a:t>printf</a:t>
            </a:r>
            <a:r>
              <a:rPr lang="en-US" dirty="0"/>
              <a:t>("\n");</a:t>
            </a:r>
            <a:endParaRPr lang="en-US" dirty="0"/>
          </a:p>
          <a:p>
            <a:r>
              <a:rPr lang="en-US" dirty="0"/>
              <a:t>    }</a:t>
            </a:r>
            <a:endParaRPr lang="en-US" dirty="0"/>
          </a:p>
          <a:p>
            <a:br>
              <a:rPr lang="en-US" dirty="0"/>
            </a:br>
            <a:r>
              <a:rPr lang="en-US" dirty="0"/>
              <a:t>    return 0;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br>
              <a:rPr lang="en-US" sz="1200" dirty="0"/>
            </a:b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4560560" y="1212140"/>
            <a:ext cx="4304389" cy="57543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/>
              <a:t>int</a:t>
            </a:r>
            <a:r>
              <a:rPr lang="en-US" sz="1600" dirty="0"/>
              <a:t> main() </a:t>
            </a:r>
            <a:endParaRPr lang="en-US" sz="1600" dirty="0"/>
          </a:p>
          <a:p>
            <a:r>
              <a:rPr lang="en-US" sz="1600" dirty="0"/>
              <a:t>{</a:t>
            </a:r>
            <a:endParaRPr lang="en-US" sz="1600" dirty="0"/>
          </a:p>
          <a:p>
            <a:r>
              <a:rPr lang="en-US" sz="1600" dirty="0"/>
              <a:t>    </a:t>
            </a:r>
            <a:r>
              <a:rPr lang="en-US" sz="1600" dirty="0" err="1"/>
              <a:t>int</a:t>
            </a:r>
            <a:r>
              <a:rPr lang="en-US" sz="1600" dirty="0"/>
              <a:t> n, m, </a:t>
            </a:r>
            <a:r>
              <a:rPr lang="en-US" sz="1600" dirty="0" err="1"/>
              <a:t>i</a:t>
            </a:r>
            <a:r>
              <a:rPr lang="en-US" sz="1600" dirty="0"/>
              <a:t>, j;</a:t>
            </a:r>
            <a:endParaRPr lang="en-US" sz="1600" dirty="0"/>
          </a:p>
          <a:p>
            <a:r>
              <a:rPr lang="en-US" sz="1600" dirty="0"/>
              <a:t>    </a:t>
            </a:r>
            <a:r>
              <a:rPr lang="en-US" sz="1600" dirty="0" err="1"/>
              <a:t>int</a:t>
            </a:r>
            <a:r>
              <a:rPr lang="en-US" sz="1600" dirty="0"/>
              <a:t> **array;</a:t>
            </a:r>
            <a:endParaRPr lang="en-US" sz="1600" dirty="0"/>
          </a:p>
          <a:p>
            <a:r>
              <a:rPr lang="en-US" sz="1600" dirty="0"/>
              <a:t>    </a:t>
            </a:r>
            <a:r>
              <a:rPr lang="en-US" sz="1600" dirty="0" err="1"/>
              <a:t>scanf</a:t>
            </a:r>
            <a:r>
              <a:rPr lang="en-US" sz="1600" dirty="0"/>
              <a:t>("%</a:t>
            </a:r>
            <a:r>
              <a:rPr lang="en-US" sz="1600" dirty="0" err="1"/>
              <a:t>d%d</a:t>
            </a:r>
            <a:r>
              <a:rPr lang="en-US" sz="1600" dirty="0"/>
              <a:t>", &amp;n, &amp;m);</a:t>
            </a:r>
            <a:endParaRPr lang="en-US" sz="1600" dirty="0"/>
          </a:p>
          <a:p>
            <a:r>
              <a:rPr lang="en-US" sz="1600" dirty="0"/>
              <a:t>    array = (</a:t>
            </a:r>
            <a:r>
              <a:rPr lang="en-US" sz="1600" dirty="0" err="1"/>
              <a:t>int</a:t>
            </a:r>
            <a:r>
              <a:rPr lang="en-US" sz="1600" dirty="0"/>
              <a:t> **) </a:t>
            </a:r>
            <a:r>
              <a:rPr lang="en-US" sz="1600" dirty="0" err="1"/>
              <a:t>malloc</a:t>
            </a:r>
            <a:r>
              <a:rPr lang="en-US" sz="1600" dirty="0"/>
              <a:t>(m * </a:t>
            </a:r>
            <a:r>
              <a:rPr lang="en-US" sz="1600" dirty="0" err="1"/>
              <a:t>sizeof</a:t>
            </a:r>
            <a:r>
              <a:rPr lang="en-US" sz="1600" dirty="0"/>
              <a:t>(</a:t>
            </a:r>
            <a:r>
              <a:rPr lang="en-US" sz="1600" dirty="0" err="1"/>
              <a:t>int</a:t>
            </a:r>
            <a:r>
              <a:rPr lang="en-US" sz="1600" dirty="0"/>
              <a:t> *));</a:t>
            </a:r>
            <a:endParaRPr lang="en-US" sz="1600" dirty="0"/>
          </a:p>
          <a:p>
            <a:r>
              <a:rPr lang="en-US" sz="1600" dirty="0"/>
              <a:t>    for(</a:t>
            </a:r>
            <a:r>
              <a:rPr lang="en-US" sz="1600" dirty="0" err="1"/>
              <a:t>i</a:t>
            </a:r>
            <a:r>
              <a:rPr lang="en-US" sz="1600" dirty="0"/>
              <a:t> = 0; </a:t>
            </a:r>
            <a:r>
              <a:rPr lang="en-US" sz="1600" dirty="0" err="1"/>
              <a:t>i</a:t>
            </a:r>
            <a:r>
              <a:rPr lang="en-US" sz="1600" dirty="0"/>
              <a:t> &lt; m; </a:t>
            </a:r>
            <a:r>
              <a:rPr lang="en-US" sz="1600" dirty="0" err="1"/>
              <a:t>i</a:t>
            </a:r>
            <a:r>
              <a:rPr lang="en-US" sz="1600" dirty="0"/>
              <a:t> ++)</a:t>
            </a:r>
            <a:endParaRPr lang="en-US" sz="1600" dirty="0"/>
          </a:p>
          <a:p>
            <a:r>
              <a:rPr lang="en-US" sz="1600" dirty="0"/>
              <a:t>        array[</a:t>
            </a:r>
            <a:r>
              <a:rPr lang="en-US" sz="1600" dirty="0" err="1"/>
              <a:t>i</a:t>
            </a:r>
            <a:r>
              <a:rPr lang="en-US" sz="1600" dirty="0"/>
              <a:t>] = (</a:t>
            </a:r>
            <a:r>
              <a:rPr lang="en-US" sz="1600" dirty="0" err="1"/>
              <a:t>int</a:t>
            </a:r>
            <a:r>
              <a:rPr lang="en-US" sz="1600" dirty="0"/>
              <a:t> *) </a:t>
            </a:r>
            <a:r>
              <a:rPr lang="en-US" sz="1600" dirty="0" err="1"/>
              <a:t>malloc</a:t>
            </a:r>
            <a:r>
              <a:rPr lang="en-US" sz="1600" dirty="0"/>
              <a:t>(n * </a:t>
            </a:r>
            <a:r>
              <a:rPr lang="en-US" sz="1600" dirty="0" err="1"/>
              <a:t>sizeof</a:t>
            </a:r>
            <a:r>
              <a:rPr lang="en-US" sz="1600" dirty="0"/>
              <a:t>(</a:t>
            </a:r>
            <a:r>
              <a:rPr lang="en-US" sz="1600" dirty="0" err="1"/>
              <a:t>int</a:t>
            </a:r>
            <a:r>
              <a:rPr lang="en-US" sz="1600" dirty="0"/>
              <a:t>));</a:t>
            </a:r>
            <a:endParaRPr lang="en-US" sz="1600" dirty="0"/>
          </a:p>
          <a:p>
            <a:br>
              <a:rPr lang="en-US" sz="1600" dirty="0"/>
            </a:br>
            <a:r>
              <a:rPr lang="en-US" sz="1600" dirty="0"/>
              <a:t>    for (</a:t>
            </a:r>
            <a:r>
              <a:rPr lang="en-US" sz="1600" dirty="0" err="1"/>
              <a:t>i</a:t>
            </a:r>
            <a:r>
              <a:rPr lang="en-US" sz="1600" dirty="0"/>
              <a:t> = 0; </a:t>
            </a:r>
            <a:r>
              <a:rPr lang="en-US" sz="1600" dirty="0" err="1"/>
              <a:t>i</a:t>
            </a:r>
            <a:r>
              <a:rPr lang="en-US" sz="1600" dirty="0"/>
              <a:t> &lt; n; </a:t>
            </a:r>
            <a:r>
              <a:rPr lang="en-US" sz="1600" dirty="0" err="1"/>
              <a:t>i</a:t>
            </a:r>
            <a:r>
              <a:rPr lang="en-US" sz="1600" dirty="0"/>
              <a:t> ++)</a:t>
            </a:r>
            <a:endParaRPr lang="en-US" sz="1600" dirty="0"/>
          </a:p>
          <a:p>
            <a:r>
              <a:rPr lang="en-US" sz="1600" dirty="0"/>
              <a:t>    {</a:t>
            </a:r>
            <a:endParaRPr lang="en-US" sz="1600" dirty="0"/>
          </a:p>
          <a:p>
            <a:r>
              <a:rPr lang="en-US" sz="1600" dirty="0"/>
              <a:t>        for (j = 0; j &lt; m; j ++)</a:t>
            </a:r>
            <a:endParaRPr lang="en-US" sz="1600" dirty="0"/>
          </a:p>
          <a:p>
            <a:r>
              <a:rPr lang="en-US" sz="1600" dirty="0"/>
              <a:t>            </a:t>
            </a:r>
            <a:r>
              <a:rPr lang="en-US" sz="1600" dirty="0" err="1"/>
              <a:t>scanf</a:t>
            </a:r>
            <a:r>
              <a:rPr lang="en-US" sz="1600" dirty="0"/>
              <a:t>("%d", &amp;array[</a:t>
            </a:r>
            <a:r>
              <a:rPr lang="en-US" sz="1600" dirty="0" err="1"/>
              <a:t>i</a:t>
            </a:r>
            <a:r>
              <a:rPr lang="en-US" sz="1600" dirty="0"/>
              <a:t>][j]);</a:t>
            </a:r>
            <a:endParaRPr lang="en-US" sz="1600" dirty="0"/>
          </a:p>
          <a:p>
            <a:r>
              <a:rPr lang="en-US" sz="1600" dirty="0"/>
              <a:t>    }</a:t>
            </a:r>
            <a:endParaRPr lang="en-US" sz="1600" dirty="0"/>
          </a:p>
          <a:p>
            <a:br>
              <a:rPr lang="en-US" sz="1600" dirty="0"/>
            </a:br>
            <a:r>
              <a:rPr lang="en-US" sz="1600" dirty="0"/>
              <a:t>    </a:t>
            </a:r>
            <a:r>
              <a:rPr lang="en-US" sz="1600" dirty="0" err="1"/>
              <a:t>func</a:t>
            </a:r>
            <a:r>
              <a:rPr lang="en-US" sz="1600" dirty="0"/>
              <a:t>(array, n, m);</a:t>
            </a:r>
            <a:endParaRPr lang="en-US" sz="1600" dirty="0"/>
          </a:p>
          <a:p>
            <a:r>
              <a:rPr lang="en-US" sz="1600" dirty="0"/>
              <a:t>    // free here;</a:t>
            </a:r>
            <a:r>
              <a:rPr lang="zh-CN" altLang="en-US" sz="1600" dirty="0"/>
              <a:t>注意</a:t>
            </a:r>
            <a:r>
              <a:rPr lang="en-US" altLang="zh-CN" sz="1600" dirty="0"/>
              <a:t>free</a:t>
            </a:r>
            <a:r>
              <a:rPr lang="zh-CN" altLang="en-US" sz="1600" dirty="0"/>
              <a:t>的顺序！</a:t>
            </a:r>
            <a:endParaRPr lang="en-US" sz="1600" dirty="0"/>
          </a:p>
          <a:p>
            <a:r>
              <a:rPr lang="en-US" sz="1600" dirty="0"/>
              <a:t>for(int i=0;i&lt;m;i++) free(array[i]);</a:t>
            </a:r>
            <a:endParaRPr lang="en-US" sz="1600" dirty="0"/>
          </a:p>
          <a:p>
            <a:r>
              <a:rPr lang="en-US" sz="1600" dirty="0"/>
              <a:t>    free(array);</a:t>
            </a:r>
            <a:endParaRPr lang="en-US" sz="1600" dirty="0"/>
          </a:p>
          <a:p>
            <a:br>
              <a:rPr lang="en-US" sz="1600" dirty="0"/>
            </a:br>
            <a:r>
              <a:rPr lang="en-US" sz="1600" dirty="0"/>
              <a:t>    return 0;</a:t>
            </a:r>
            <a:endParaRPr lang="en-US" sz="1600" dirty="0"/>
          </a:p>
          <a:p>
            <a:br>
              <a:rPr lang="en-US" sz="1600" dirty="0"/>
            </a:br>
            <a:r>
              <a:rPr lang="en-US" sz="1600" dirty="0"/>
              <a:t>}</a:t>
            </a:r>
            <a:endParaRPr lang="en-US" sz="16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动态分配内存举例</a:t>
            </a:r>
            <a:r>
              <a:rPr lang="en-US" altLang="zh-CN" dirty="0"/>
              <a:t>2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</a:t>
            </a:r>
            <a:r>
              <a:rPr lang="zh-CN" altLang="en-US" dirty="0"/>
              <a:t>和 </a:t>
            </a:r>
            <a:r>
              <a:rPr lang="en-US" dirty="0"/>
              <a:t>delete </a:t>
            </a:r>
            <a:r>
              <a:rPr lang="zh-CN" altLang="en-US" dirty="0"/>
              <a:t>运算符</a:t>
            </a:r>
            <a:endParaRPr lang="en-US" altLang="zh-CN" dirty="0"/>
          </a:p>
          <a:p>
            <a:r>
              <a:rPr lang="zh-CN" altLang="en-US" dirty="0"/>
              <a:t>例如：</a:t>
            </a:r>
            <a:endParaRPr lang="en-US" altLang="zh-CN" dirty="0"/>
          </a:p>
          <a:p>
            <a:pPr lvl="1"/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dirty="0"/>
              <a:t>*</a:t>
            </a:r>
            <a:r>
              <a:rPr lang="en-US" dirty="0" err="1"/>
              <a:t>pvalue</a:t>
            </a:r>
            <a:r>
              <a:rPr lang="en-US" dirty="0"/>
              <a:t> = NULL, </a:t>
            </a:r>
            <a:r>
              <a:rPr lang="zh-CN" altLang="en-US" dirty="0"/>
              <a:t>*</a:t>
            </a:r>
            <a:r>
              <a:rPr lang="en-US" dirty="0" err="1"/>
              <a:t>pAry</a:t>
            </a:r>
            <a:r>
              <a:rPr lang="en-US" dirty="0"/>
              <a:t>; // </a:t>
            </a:r>
            <a:r>
              <a:rPr lang="zh-CN" altLang="en-US" dirty="0"/>
              <a:t>初始化为 </a:t>
            </a:r>
            <a:r>
              <a:rPr lang="en-US" dirty="0"/>
              <a:t>null </a:t>
            </a:r>
            <a:r>
              <a:rPr lang="zh-CN" altLang="en-US" dirty="0"/>
              <a:t>的指针</a:t>
            </a:r>
            <a:endParaRPr lang="en-US" altLang="zh-CN" dirty="0"/>
          </a:p>
          <a:p>
            <a:pPr lvl="1"/>
            <a:r>
              <a:rPr lang="en-US" dirty="0" err="1"/>
              <a:t>pvalue</a:t>
            </a:r>
            <a:r>
              <a:rPr lang="en-US" dirty="0"/>
              <a:t> = new </a:t>
            </a:r>
            <a:r>
              <a:rPr lang="en-US" altLang="zh-CN" dirty="0" err="1"/>
              <a:t>int</a:t>
            </a:r>
            <a:r>
              <a:rPr lang="en-US" dirty="0"/>
              <a:t>; // </a:t>
            </a:r>
            <a:r>
              <a:rPr lang="zh-CN" altLang="en-US" dirty="0"/>
              <a:t>为变量请求内存</a:t>
            </a:r>
            <a:endParaRPr lang="en-US" altLang="zh-CN" dirty="0"/>
          </a:p>
          <a:p>
            <a:pPr lvl="1"/>
            <a:r>
              <a:rPr lang="en-US" altLang="zh-CN" dirty="0" err="1"/>
              <a:t>pAry</a:t>
            </a:r>
            <a:r>
              <a:rPr lang="en-US" altLang="zh-CN" dirty="0"/>
              <a:t> = new </a:t>
            </a:r>
            <a:r>
              <a:rPr lang="en-US" altLang="zh-CN" dirty="0" err="1"/>
              <a:t>int</a:t>
            </a:r>
            <a:r>
              <a:rPr lang="en-US" altLang="zh-CN" dirty="0"/>
              <a:t>[10]; // </a:t>
            </a:r>
            <a:r>
              <a:rPr lang="zh-CN" altLang="en-US" dirty="0"/>
              <a:t>为数组的动态内存分配</a:t>
            </a:r>
            <a:endParaRPr lang="en-US" dirty="0"/>
          </a:p>
          <a:p>
            <a:r>
              <a:rPr lang="zh-CN" altLang="en-US" dirty="0"/>
              <a:t>二维数组的动态分配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动态分配内存</a:t>
            </a:r>
            <a:r>
              <a:rPr lang="en-US" altLang="zh-CN" dirty="0"/>
              <a:t>——C++</a:t>
            </a:r>
            <a:r>
              <a:rPr lang="zh-CN" altLang="en-US" dirty="0"/>
              <a:t>语言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372754" y="3615566"/>
            <a:ext cx="5184576" cy="35394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/>
              <a:t>int</a:t>
            </a:r>
            <a:r>
              <a:rPr lang="en-US" sz="1600" dirty="0"/>
              <a:t> **array</a:t>
            </a:r>
            <a:endParaRPr lang="en-US" sz="1600" dirty="0"/>
          </a:p>
          <a:p>
            <a:r>
              <a:rPr lang="en-US" sz="1600" dirty="0"/>
              <a:t>// </a:t>
            </a:r>
            <a:r>
              <a:rPr lang="zh-CN" altLang="en-US" sz="1600" dirty="0"/>
              <a:t>数组第一维长度为 </a:t>
            </a:r>
            <a:r>
              <a:rPr lang="en-US" sz="1600" dirty="0"/>
              <a:t>m， </a:t>
            </a:r>
            <a:r>
              <a:rPr lang="zh-CN" altLang="en-US" sz="1600" dirty="0"/>
              <a:t>第二维长度为 </a:t>
            </a:r>
            <a:r>
              <a:rPr lang="en-US" sz="1600" dirty="0"/>
              <a:t>n</a:t>
            </a:r>
            <a:endParaRPr lang="en-US" sz="1600" dirty="0"/>
          </a:p>
          <a:p>
            <a:r>
              <a:rPr lang="en-US" sz="1600" dirty="0"/>
              <a:t>// </a:t>
            </a:r>
            <a:r>
              <a:rPr lang="zh-CN" altLang="en-US" sz="1600" dirty="0"/>
              <a:t>动态分配空间</a:t>
            </a:r>
            <a:endParaRPr lang="zh-CN" altLang="en-US" sz="1600" dirty="0"/>
          </a:p>
          <a:p>
            <a:r>
              <a:rPr lang="en-US" sz="1600" dirty="0"/>
              <a:t>array = new </a:t>
            </a:r>
            <a:r>
              <a:rPr lang="en-US" sz="1600" dirty="0" err="1"/>
              <a:t>int</a:t>
            </a:r>
            <a:r>
              <a:rPr lang="en-US" sz="1600" dirty="0"/>
              <a:t> *[m];</a:t>
            </a:r>
            <a:endParaRPr lang="en-US" sz="1600" dirty="0"/>
          </a:p>
          <a:p>
            <a:r>
              <a:rPr lang="en-US" sz="1600" dirty="0"/>
              <a:t>for( </a:t>
            </a:r>
            <a:r>
              <a:rPr lang="en-US" sz="1600" dirty="0" err="1"/>
              <a:t>int</a:t>
            </a:r>
            <a:r>
              <a:rPr lang="en-US" sz="1600" dirty="0"/>
              <a:t> </a:t>
            </a:r>
            <a:r>
              <a:rPr lang="en-US" sz="1600" dirty="0" err="1"/>
              <a:t>i</a:t>
            </a:r>
            <a:r>
              <a:rPr lang="en-US" sz="1600" dirty="0"/>
              <a:t>=0; </a:t>
            </a:r>
            <a:r>
              <a:rPr lang="en-US" sz="1600" dirty="0" err="1"/>
              <a:t>i</a:t>
            </a:r>
            <a:r>
              <a:rPr lang="en-US" sz="1600" dirty="0"/>
              <a:t>&lt;m; </a:t>
            </a:r>
            <a:r>
              <a:rPr lang="en-US" sz="1600" dirty="0" err="1"/>
              <a:t>i</a:t>
            </a:r>
            <a:r>
              <a:rPr lang="en-US" sz="1600" dirty="0"/>
              <a:t>++ )</a:t>
            </a:r>
            <a:endParaRPr lang="en-US" sz="1600" dirty="0"/>
          </a:p>
          <a:p>
            <a:r>
              <a:rPr lang="en-US" sz="1600" dirty="0"/>
              <a:t>{</a:t>
            </a:r>
            <a:endParaRPr lang="en-US" sz="1600" dirty="0"/>
          </a:p>
          <a:p>
            <a:r>
              <a:rPr lang="en-US" sz="1600" dirty="0"/>
              <a:t>    array[</a:t>
            </a:r>
            <a:r>
              <a:rPr lang="en-US" sz="1600" dirty="0" err="1"/>
              <a:t>i</a:t>
            </a:r>
            <a:r>
              <a:rPr lang="en-US" sz="1600" dirty="0"/>
              <a:t>] = new </a:t>
            </a:r>
            <a:r>
              <a:rPr lang="en-US" sz="1600" dirty="0" err="1"/>
              <a:t>int</a:t>
            </a:r>
            <a:r>
              <a:rPr lang="en-US" sz="1600" dirty="0"/>
              <a:t> [n]  ;</a:t>
            </a:r>
            <a:endParaRPr lang="en-US" sz="1600" dirty="0"/>
          </a:p>
          <a:p>
            <a:r>
              <a:rPr lang="en-US" sz="1600" dirty="0"/>
              <a:t>}</a:t>
            </a:r>
            <a:endParaRPr lang="en-US" sz="1600" dirty="0"/>
          </a:p>
          <a:p>
            <a:r>
              <a:rPr lang="en-US" sz="1600" dirty="0"/>
              <a:t>//</a:t>
            </a:r>
            <a:r>
              <a:rPr lang="zh-CN" altLang="en-US" sz="1600" dirty="0"/>
              <a:t>释放</a:t>
            </a:r>
            <a:endParaRPr lang="zh-CN" altLang="en-US" sz="1600" dirty="0"/>
          </a:p>
          <a:p>
            <a:r>
              <a:rPr lang="en-US" sz="1600" dirty="0"/>
              <a:t>for( </a:t>
            </a:r>
            <a:r>
              <a:rPr lang="en-US" sz="1600" dirty="0" err="1"/>
              <a:t>int</a:t>
            </a:r>
            <a:r>
              <a:rPr lang="en-US" sz="1600" dirty="0"/>
              <a:t> </a:t>
            </a:r>
            <a:r>
              <a:rPr lang="en-US" sz="1600" dirty="0" err="1"/>
              <a:t>i</a:t>
            </a:r>
            <a:r>
              <a:rPr lang="en-US" sz="1600" dirty="0"/>
              <a:t>=0; </a:t>
            </a:r>
            <a:r>
              <a:rPr lang="en-US" sz="1600" dirty="0" err="1"/>
              <a:t>i</a:t>
            </a:r>
            <a:r>
              <a:rPr lang="en-US" sz="1600" dirty="0"/>
              <a:t>&lt;m; </a:t>
            </a:r>
            <a:r>
              <a:rPr lang="en-US" sz="1600" dirty="0" err="1"/>
              <a:t>i</a:t>
            </a:r>
            <a:r>
              <a:rPr lang="en-US" sz="1600" dirty="0"/>
              <a:t>++ )</a:t>
            </a:r>
            <a:endParaRPr lang="en-US" sz="1600" dirty="0"/>
          </a:p>
          <a:p>
            <a:r>
              <a:rPr lang="en-US" sz="1600" dirty="0"/>
              <a:t>{</a:t>
            </a:r>
            <a:endParaRPr lang="en-US" sz="1600" dirty="0"/>
          </a:p>
          <a:p>
            <a:r>
              <a:rPr lang="en-US" sz="1600" dirty="0"/>
              <a:t>    delete [] </a:t>
            </a:r>
            <a:r>
              <a:rPr lang="en-US" sz="1600" dirty="0" err="1"/>
              <a:t>arrary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];</a:t>
            </a:r>
            <a:endParaRPr lang="en-US" sz="1600" dirty="0"/>
          </a:p>
          <a:p>
            <a:r>
              <a:rPr lang="en-US" sz="1600" dirty="0"/>
              <a:t>}</a:t>
            </a:r>
            <a:endParaRPr lang="en-US" sz="1600" dirty="0"/>
          </a:p>
          <a:p>
            <a:r>
              <a:rPr lang="en-US" sz="1600" dirty="0"/>
              <a:t>delete [] array;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指针的指针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指针数组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动态分配内存</a:t>
            </a:r>
            <a:endParaRPr lang="en-US" altLang="zh-CN" dirty="0"/>
          </a:p>
          <a:p>
            <a:pPr lvl="1"/>
            <a:r>
              <a:rPr lang="zh-CN" altLang="en-US" dirty="0"/>
              <a:t>动态数组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其他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const</a:t>
            </a:r>
            <a:r>
              <a:rPr lang="zh-CN" altLang="en-US" dirty="0"/>
              <a:t>与指针</a:t>
            </a:r>
            <a:endParaRPr lang="en-US" altLang="zh-CN" dirty="0"/>
          </a:p>
          <a:p>
            <a:pPr lvl="1"/>
            <a:r>
              <a:rPr lang="zh-CN" altLang="en-US" dirty="0"/>
              <a:t>主函数的参数</a:t>
            </a:r>
            <a:endParaRPr lang="en-US" altLang="zh-CN" dirty="0"/>
          </a:p>
          <a:p>
            <a:pPr lvl="1"/>
            <a:r>
              <a:rPr lang="zh-CN" altLang="en-US" dirty="0"/>
              <a:t>引用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本讲内容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en-US" dirty="0"/>
              <a:t>onst</a:t>
            </a:r>
            <a:r>
              <a:rPr lang="zh-CN" altLang="en-US" dirty="0"/>
              <a:t>与指针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pointer to </a:t>
            </a:r>
            <a:r>
              <a:rPr lang="en-US" b="1" dirty="0" err="1"/>
              <a:t>const</a:t>
            </a:r>
            <a:endParaRPr lang="en-US" b="1" dirty="0"/>
          </a:p>
          <a:p>
            <a:pPr lvl="1"/>
            <a:r>
              <a:rPr lang="zh-CN" altLang="en-US" b="1" dirty="0"/>
              <a:t>指针本身可以被改变</a:t>
            </a:r>
            <a:endParaRPr lang="en-US" altLang="zh-CN" b="1" dirty="0"/>
          </a:p>
          <a:p>
            <a:pPr lvl="1"/>
            <a:r>
              <a:rPr lang="zh-CN" altLang="en-US" b="1" dirty="0"/>
              <a:t>指针指向的值不能通过该指针改变</a:t>
            </a:r>
            <a:r>
              <a:rPr lang="en-US" altLang="zh-CN" b="1" dirty="0"/>
              <a:t>,</a:t>
            </a:r>
            <a:r>
              <a:rPr lang="zh-CN" altLang="en-US" b="1" dirty="0"/>
              <a:t>但可以通过其他方式改变</a:t>
            </a:r>
            <a:endParaRPr lang="en-US" b="1" dirty="0"/>
          </a:p>
          <a:p>
            <a:pPr lvl="1"/>
            <a:r>
              <a:rPr lang="zh-CN" altLang="en-US" b="1" dirty="0"/>
              <a:t>例如：</a:t>
            </a:r>
            <a:r>
              <a:rPr lang="en-US" b="1" dirty="0" err="1"/>
              <a:t>const</a:t>
            </a:r>
            <a:r>
              <a:rPr lang="en-US" b="1" dirty="0"/>
              <a:t> char* </a:t>
            </a:r>
            <a:r>
              <a:rPr lang="zh-CN" altLang="en-US" b="1" dirty="0"/>
              <a:t>、</a:t>
            </a:r>
            <a:r>
              <a:rPr lang="en-US" b="1" dirty="0"/>
              <a:t>char </a:t>
            </a:r>
            <a:r>
              <a:rPr lang="en-US" b="1" dirty="0" err="1"/>
              <a:t>const</a:t>
            </a:r>
            <a:r>
              <a:rPr lang="en-US" b="1" dirty="0"/>
              <a:t>*</a:t>
            </a:r>
            <a:endParaRPr lang="en-US" b="1" dirty="0"/>
          </a:p>
          <a:p>
            <a:r>
              <a:rPr lang="en-US" b="1" dirty="0" err="1"/>
              <a:t>const</a:t>
            </a:r>
            <a:r>
              <a:rPr lang="en-US" b="1" dirty="0"/>
              <a:t> pointer</a:t>
            </a:r>
            <a:endParaRPr lang="en-US" b="1" dirty="0"/>
          </a:p>
          <a:p>
            <a:pPr lvl="1"/>
            <a:r>
              <a:rPr lang="zh-CN" altLang="en-US" b="1" dirty="0"/>
              <a:t>指针本身不能被改变，不能赋值</a:t>
            </a:r>
            <a:endParaRPr lang="en-US" altLang="zh-CN" b="1" dirty="0"/>
          </a:p>
          <a:p>
            <a:pPr lvl="1"/>
            <a:r>
              <a:rPr lang="en-US" dirty="0"/>
              <a:t>int * const </a:t>
            </a:r>
            <a:r>
              <a:rPr lang="en-US" dirty="0" err="1"/>
              <a:t>ptr</a:t>
            </a:r>
            <a:r>
              <a:rPr lang="en-US" dirty="0"/>
              <a:t> = &amp;value1;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00EDE-010D-4A31-AB2B-52BB66DE7FC3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cs typeface="+mj-cs"/>
              </a:rPr>
              <a:t>main</a:t>
            </a:r>
            <a:r>
              <a:rPr lang="zh-CN" altLang="en-US" dirty="0">
                <a:cs typeface="+mj-cs"/>
              </a:rPr>
              <a:t>函数的形参</a:t>
            </a:r>
            <a:endParaRPr lang="zh-CN" altLang="en-US" dirty="0">
              <a:cs typeface="+mj-cs"/>
            </a:endParaRPr>
          </a:p>
        </p:txBody>
      </p:sp>
      <p:sp>
        <p:nvSpPr>
          <p:cNvPr id="6297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600" b="0" dirty="0"/>
              <a:t>	</a:t>
            </a:r>
            <a:r>
              <a:rPr lang="en-US" altLang="zh-CN" sz="3600" b="0" dirty="0" err="1"/>
              <a:t>int</a:t>
            </a:r>
            <a:r>
              <a:rPr lang="en-US" altLang="zh-CN" sz="3600" b="0" dirty="0"/>
              <a:t> main( </a:t>
            </a:r>
            <a:r>
              <a:rPr lang="en-US" altLang="zh-CN" sz="3600" b="0" dirty="0" err="1"/>
              <a:t>int</a:t>
            </a:r>
            <a:r>
              <a:rPr lang="en-US" altLang="zh-CN" sz="3600" b="0" dirty="0"/>
              <a:t> </a:t>
            </a:r>
            <a:r>
              <a:rPr lang="en-US" altLang="zh-CN" sz="3600" b="0" dirty="0" err="1"/>
              <a:t>argc</a:t>
            </a:r>
            <a:r>
              <a:rPr lang="en-US" altLang="zh-CN" sz="3600" b="0" dirty="0"/>
              <a:t>, char *</a:t>
            </a:r>
            <a:r>
              <a:rPr lang="en-US" altLang="zh-CN" sz="3600" b="0" dirty="0" err="1"/>
              <a:t>argv</a:t>
            </a:r>
            <a:r>
              <a:rPr lang="en-US" altLang="zh-CN" sz="3600" b="0" dirty="0"/>
              <a:t>[ ] )</a:t>
            </a:r>
            <a:endParaRPr lang="en-US" altLang="zh-CN" sz="3600" b="0" dirty="0"/>
          </a:p>
          <a:p>
            <a:pPr eaLnBrk="1" hangingPunct="1">
              <a:defRPr/>
            </a:pPr>
            <a:r>
              <a:rPr lang="zh-CN" altLang="en-US" sz="2800" dirty="0"/>
              <a:t>其中：</a:t>
            </a:r>
            <a:endParaRPr lang="zh-CN" altLang="en-US" sz="2800" dirty="0"/>
          </a:p>
          <a:p>
            <a:pPr lvl="1" eaLnBrk="1" hangingPunct="1">
              <a:defRPr/>
            </a:pPr>
            <a:r>
              <a:rPr lang="en-US" altLang="zh-CN" sz="2400" dirty="0" err="1"/>
              <a:t>argc</a:t>
            </a:r>
            <a:r>
              <a:rPr lang="zh-CN" altLang="en-US" sz="2400" dirty="0"/>
              <a:t>：表示调用</a:t>
            </a:r>
            <a:r>
              <a:rPr lang="en-US" altLang="zh-CN" sz="2400" dirty="0"/>
              <a:t>main</a:t>
            </a:r>
            <a:r>
              <a:rPr lang="zh-CN" altLang="en-US" sz="2400" dirty="0"/>
              <a:t>时的参数个数；</a:t>
            </a:r>
            <a:endParaRPr lang="zh-CN" altLang="en-US" sz="2400" dirty="0"/>
          </a:p>
          <a:p>
            <a:pPr lvl="1" eaLnBrk="1" hangingPunct="1">
              <a:defRPr/>
            </a:pPr>
            <a:r>
              <a:rPr lang="en-US" altLang="zh-CN" sz="2400" dirty="0" err="1"/>
              <a:t>argv</a:t>
            </a:r>
            <a:r>
              <a:rPr lang="zh-CN" altLang="en-US" sz="2400" dirty="0"/>
              <a:t>：是一个指向字符数组的指针数组变量；</a:t>
            </a:r>
            <a:endParaRPr lang="zh-CN" altLang="en-US" sz="2400" dirty="0"/>
          </a:p>
          <a:p>
            <a:pPr lvl="1" eaLnBrk="1" hangingPunct="1">
              <a:defRPr/>
            </a:pPr>
            <a:r>
              <a:rPr lang="en-US" altLang="zh-CN" sz="2400" dirty="0"/>
              <a:t>main</a:t>
            </a:r>
            <a:r>
              <a:rPr lang="zh-CN" altLang="en-US" sz="2400" dirty="0"/>
              <a:t>形参名习惯用</a:t>
            </a:r>
            <a:r>
              <a:rPr lang="en-US" altLang="zh-CN" sz="2400" dirty="0" err="1"/>
              <a:t>argv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argc</a:t>
            </a:r>
            <a:r>
              <a:rPr lang="zh-CN" altLang="en-US" sz="2400" dirty="0"/>
              <a:t>，实际上可以取任意合法的函数形参名。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main</a:t>
            </a:r>
            <a:r>
              <a:rPr lang="zh-CN" altLang="en-US" dirty="0"/>
              <a:t>函数的形参</a:t>
            </a:r>
            <a:endParaRPr lang="zh-CN" altLang="en-US" dirty="0"/>
          </a:p>
        </p:txBody>
      </p:sp>
      <p:sp>
        <p:nvSpPr>
          <p:cNvPr id="6307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2800" dirty="0"/>
              <a:t>main</a:t>
            </a:r>
            <a:r>
              <a:rPr lang="zh-CN" altLang="en-US" sz="2800" dirty="0"/>
              <a:t>函数的调用形式：</a:t>
            </a:r>
            <a:endParaRPr lang="zh-CN" altLang="en-US" sz="2800" dirty="0"/>
          </a:p>
          <a:p>
            <a:pPr eaLnBrk="1" hangingPunct="1">
              <a:defRPr/>
            </a:pPr>
            <a:r>
              <a:rPr lang="zh-CN" altLang="en-US" sz="2800" dirty="0"/>
              <a:t>命令名  参数</a:t>
            </a:r>
            <a:r>
              <a:rPr lang="en-US" altLang="zh-CN" sz="2800" dirty="0"/>
              <a:t>1  </a:t>
            </a:r>
            <a:r>
              <a:rPr lang="zh-CN" altLang="en-US" sz="2800" dirty="0"/>
              <a:t>参数</a:t>
            </a:r>
            <a:r>
              <a:rPr lang="en-US" altLang="zh-CN" sz="2800" dirty="0"/>
              <a:t>2  </a:t>
            </a:r>
            <a:r>
              <a:rPr lang="en-US" altLang="zh-CN" sz="2800" dirty="0">
                <a:latin typeface="Arial" panose="020B0604020202020204" pitchFamily="34" charset="0"/>
              </a:rPr>
              <a:t>……</a:t>
            </a:r>
            <a:r>
              <a:rPr lang="en-US" altLang="zh-CN" sz="2800" dirty="0"/>
              <a:t>  </a:t>
            </a:r>
            <a:r>
              <a:rPr lang="zh-CN" altLang="en-US" sz="2800" dirty="0"/>
              <a:t>参数</a:t>
            </a:r>
            <a:r>
              <a:rPr lang="en-US" altLang="zh-CN" sz="2800" dirty="0"/>
              <a:t>n</a:t>
            </a:r>
            <a:endParaRPr lang="en-US" altLang="zh-CN" sz="2800" dirty="0"/>
          </a:p>
          <a:p>
            <a:pPr eaLnBrk="1" hangingPunct="1">
              <a:defRPr/>
            </a:pPr>
            <a:r>
              <a:rPr lang="zh-CN" altLang="en-US" sz="2800" dirty="0"/>
              <a:t>其中：</a:t>
            </a:r>
            <a:endParaRPr lang="zh-CN" altLang="en-US" sz="2800" dirty="0"/>
          </a:p>
          <a:p>
            <a:pPr lvl="1" eaLnBrk="1" hangingPunct="1">
              <a:defRPr/>
            </a:pPr>
            <a:r>
              <a:rPr lang="zh-CN" altLang="en-US" sz="2400" dirty="0"/>
              <a:t>命令名：经过编译、链接得到的可执行文件的文件名，一般是（</a:t>
            </a:r>
            <a:r>
              <a:rPr lang="en-US" altLang="zh-CN" sz="2400" dirty="0"/>
              <a:t>.EXE</a:t>
            </a:r>
            <a:r>
              <a:rPr lang="zh-CN" altLang="en-US" sz="2400" dirty="0"/>
              <a:t>或</a:t>
            </a:r>
            <a:r>
              <a:rPr lang="en-US" altLang="zh-CN" sz="2400" dirty="0"/>
              <a:t>.COM</a:t>
            </a:r>
            <a:r>
              <a:rPr lang="zh-CN" altLang="en-US" sz="2400" dirty="0"/>
              <a:t>）文件。</a:t>
            </a:r>
            <a:endParaRPr lang="zh-CN" altLang="en-US" sz="2400" dirty="0"/>
          </a:p>
          <a:p>
            <a:pPr lvl="1" eaLnBrk="1" hangingPunct="1">
              <a:defRPr/>
            </a:pPr>
            <a:r>
              <a:rPr lang="zh-CN" altLang="en-US" sz="2400" dirty="0"/>
              <a:t>参数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Arial" panose="020B0604020202020204" pitchFamily="34" charset="0"/>
              </a:rPr>
              <a:t>……</a:t>
            </a:r>
            <a:r>
              <a:rPr lang="zh-CN" altLang="en-US" sz="2400" dirty="0"/>
              <a:t>参数</a:t>
            </a:r>
            <a:r>
              <a:rPr lang="en-US" altLang="zh-CN" sz="2400" dirty="0"/>
              <a:t>n</a:t>
            </a:r>
            <a:r>
              <a:rPr lang="zh-CN" altLang="en-US" sz="2400" dirty="0"/>
              <a:t>：用空格分隔，它们是一些字符串。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/>
              <a:t>例：带有参数的方式调用</a:t>
            </a:r>
            <a:r>
              <a:rPr lang="en-US" altLang="zh-CN" sz="3600"/>
              <a:t>C</a:t>
            </a:r>
            <a:r>
              <a:rPr lang="zh-CN" altLang="en-US" sz="3600"/>
              <a:t>程序。</a:t>
            </a:r>
            <a:endParaRPr lang="zh-CN" altLang="en-US" sz="3600"/>
          </a:p>
        </p:txBody>
      </p:sp>
      <p:sp>
        <p:nvSpPr>
          <p:cNvPr id="631811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839311"/>
            <a:ext cx="3962400" cy="4114800"/>
          </a:xfrm>
          <a:ln>
            <a:solidFill>
              <a:schemeClr val="tx1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charset="0"/>
              <a:buNone/>
              <a:defRPr/>
            </a:pPr>
            <a:r>
              <a:rPr lang="en-US" altLang="zh-CN" sz="2400"/>
              <a:t>int main( int argc, char *argv[ ] )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charset="0"/>
              <a:buNone/>
              <a:defRPr/>
            </a:pPr>
            <a:r>
              <a:rPr lang="en-US" altLang="zh-CN" sz="2400"/>
              <a:t>{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charset="0"/>
              <a:buNone/>
              <a:defRPr/>
            </a:pPr>
            <a:r>
              <a:rPr lang="en-US" altLang="zh-CN" sz="2400"/>
              <a:t>	while (argc &gt; 1 )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charset="0"/>
              <a:buNone/>
              <a:defRPr/>
            </a:pPr>
            <a:r>
              <a:rPr lang="en-US" altLang="zh-CN" sz="2400"/>
              <a:t>	{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charset="0"/>
              <a:buNone/>
              <a:defRPr/>
            </a:pPr>
            <a:r>
              <a:rPr lang="en-US" altLang="zh-CN" sz="2400"/>
              <a:t>		++argv;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charset="0"/>
              <a:buNone/>
              <a:defRPr/>
            </a:pPr>
            <a:r>
              <a:rPr lang="en-US" altLang="zh-CN" sz="2400"/>
              <a:t>		printf( "%s\n", *argv );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charset="0"/>
              <a:buNone/>
              <a:defRPr/>
            </a:pPr>
            <a:r>
              <a:rPr lang="en-US" altLang="zh-CN" sz="2400"/>
              <a:t>		--argc;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charset="0"/>
              <a:buNone/>
              <a:defRPr/>
            </a:pPr>
            <a:r>
              <a:rPr lang="en-US" altLang="zh-CN" sz="2400"/>
              <a:t>	}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charset="0"/>
              <a:buNone/>
              <a:defRPr/>
            </a:pPr>
            <a:r>
              <a:rPr lang="en-US" altLang="zh-CN" sz="2400"/>
              <a:t>	return 0;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charset="0"/>
              <a:buNone/>
              <a:defRPr/>
            </a:pPr>
            <a:r>
              <a:rPr lang="en-US" altLang="zh-CN" sz="2400"/>
              <a:t>}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charset="0"/>
              <a:buNone/>
              <a:defRPr/>
            </a:pPr>
            <a:endParaRPr lang="en-US" altLang="zh-CN" sz="2400"/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4993072" y="1839311"/>
            <a:ext cx="3962400" cy="41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r>
              <a:rPr kumimoji="1" lang="zh-CN" altLang="en-US" sz="2400" b="0">
                <a:latin typeface="Times New Roman" panose="02020603050405020304" pitchFamily="18" charset="0"/>
              </a:rPr>
              <a:t>在命令行下调用可执行文件：</a:t>
            </a:r>
            <a:endParaRPr kumimoji="1" lang="zh-CN" altLang="en-US" sz="2400" b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endParaRPr kumimoji="1" lang="zh-CN" altLang="en-US" sz="2400" b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&gt;mainfunc China Beijing</a:t>
            </a:r>
            <a:endParaRPr kumimoji="1"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endParaRPr kumimoji="1" lang="en-US" altLang="zh-CN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r>
              <a:rPr kumimoji="1" lang="zh-CN" altLang="en-US" sz="2400" b="0">
                <a:latin typeface="Times New Roman" panose="02020603050405020304" pitchFamily="18" charset="0"/>
              </a:rPr>
              <a:t>执行结果：</a:t>
            </a:r>
            <a:endParaRPr kumimoji="1" lang="zh-CN" altLang="en-US" sz="2400" b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endParaRPr kumimoji="1" lang="zh-CN" altLang="en-US" sz="2400" b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r>
              <a:rPr kumimoji="1" lang="en-US" altLang="zh-CN" sz="2400" b="0">
                <a:latin typeface="Times New Roman" panose="02020603050405020304" pitchFamily="18" charset="0"/>
              </a:rPr>
              <a:t>China</a:t>
            </a:r>
            <a:endParaRPr kumimoji="1" lang="en-US" altLang="zh-CN" sz="2400" b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r>
              <a:rPr kumimoji="1" lang="en-US" altLang="zh-CN" sz="2400" b="0">
                <a:latin typeface="Times New Roman" panose="02020603050405020304" pitchFamily="18" charset="0"/>
              </a:rPr>
              <a:t>Beijing</a:t>
            </a:r>
            <a:endParaRPr kumimoji="1" lang="en-US" altLang="zh-CN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引用的概念及应用</a:t>
            </a:r>
            <a:endParaRPr lang="zh-CN" altLang="en-US" dirty="0"/>
          </a:p>
        </p:txBody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kumimoji="1" lang="zh-CN" altLang="en-US" dirty="0">
                <a:effectLst/>
              </a:rPr>
              <a:t>在 </a:t>
            </a:r>
            <a:r>
              <a:rPr kumimoji="1" lang="en-US" altLang="zh-CN" dirty="0">
                <a:solidFill>
                  <a:srgbClr val="FF0000"/>
                </a:solidFill>
                <a:effectLst/>
              </a:rPr>
              <a:t>C++ </a:t>
            </a:r>
            <a:r>
              <a:rPr kumimoji="1" lang="zh-CN" altLang="en-US" dirty="0">
                <a:effectLst/>
              </a:rPr>
              <a:t>中，为了方便，除了给变量起一个名之外，有时还要给它起一个</a:t>
            </a:r>
            <a:r>
              <a:rPr kumimoji="1" lang="zh-CN" altLang="en-US" dirty="0">
                <a:effectLst/>
                <a:latin typeface="Arial" panose="020B0604020202020204" pitchFamily="34" charset="0"/>
              </a:rPr>
              <a:t>“</a:t>
            </a:r>
            <a:r>
              <a:rPr kumimoji="1" lang="zh-CN" altLang="en-US" dirty="0">
                <a:effectLst/>
              </a:rPr>
              <a:t>别名</a:t>
            </a:r>
            <a:r>
              <a:rPr kumimoji="1" lang="zh-CN" altLang="en-US" dirty="0">
                <a:effectLst/>
                <a:latin typeface="Arial" panose="020B0604020202020204" pitchFamily="34" charset="0"/>
              </a:rPr>
              <a:t>”（引用）</a:t>
            </a:r>
            <a:endParaRPr kumimoji="1" lang="zh-CN" altLang="en-US" dirty="0">
              <a:effectLst/>
            </a:endParaRPr>
          </a:p>
          <a:p>
            <a:pPr marL="457200" lvl="1" indent="0">
              <a:buNone/>
            </a:pPr>
            <a:r>
              <a:rPr kumimoji="1" lang="en-US" altLang="zh-CN" dirty="0">
                <a:solidFill>
                  <a:schemeClr val="hlink"/>
                </a:solidFill>
                <a:effectLst/>
              </a:rPr>
              <a:t>         int </a:t>
            </a:r>
            <a:r>
              <a:rPr kumimoji="1" lang="en-US" altLang="zh-CN" dirty="0" err="1">
                <a:solidFill>
                  <a:schemeClr val="hlink"/>
                </a:solidFill>
                <a:effectLst/>
              </a:rPr>
              <a:t>i</a:t>
            </a:r>
            <a:r>
              <a:rPr kumimoji="1" lang="en-US" altLang="zh-CN" dirty="0">
                <a:solidFill>
                  <a:schemeClr val="hlink"/>
                </a:solidFill>
                <a:effectLst/>
              </a:rPr>
              <a:t> = 3;	// </a:t>
            </a:r>
            <a:r>
              <a:rPr kumimoji="1" lang="zh-CN" altLang="en-US" dirty="0">
                <a:solidFill>
                  <a:schemeClr val="hlink"/>
                </a:solidFill>
                <a:effectLst/>
              </a:rPr>
              <a:t>是定义</a:t>
            </a:r>
            <a:endParaRPr kumimoji="1" lang="zh-CN" altLang="en-US" dirty="0">
              <a:solidFill>
                <a:schemeClr val="hlink"/>
              </a:solidFill>
              <a:effectLst/>
            </a:endParaRPr>
          </a:p>
          <a:p>
            <a:pPr marL="457200" lvl="1" indent="0">
              <a:buNone/>
            </a:pPr>
            <a:r>
              <a:rPr kumimoji="1" lang="en-US" altLang="zh-CN" dirty="0">
                <a:solidFill>
                  <a:schemeClr val="hlink"/>
                </a:solidFill>
                <a:effectLst/>
              </a:rPr>
              <a:t>         int &amp;j = </a:t>
            </a:r>
            <a:r>
              <a:rPr kumimoji="1" lang="en-US" altLang="zh-CN" dirty="0" err="1">
                <a:solidFill>
                  <a:schemeClr val="hlink"/>
                </a:solidFill>
                <a:effectLst/>
              </a:rPr>
              <a:t>i</a:t>
            </a:r>
            <a:r>
              <a:rPr kumimoji="1" lang="en-US" altLang="zh-CN" dirty="0">
                <a:solidFill>
                  <a:schemeClr val="hlink"/>
                </a:solidFill>
                <a:effectLst/>
              </a:rPr>
              <a:t>;	// </a:t>
            </a:r>
            <a:r>
              <a:rPr kumimoji="1" lang="zh-CN" altLang="en-US" dirty="0">
                <a:solidFill>
                  <a:schemeClr val="hlink"/>
                </a:solidFill>
                <a:effectLst/>
              </a:rPr>
              <a:t>是声明，</a:t>
            </a:r>
            <a:r>
              <a:rPr kumimoji="1" lang="en-US" altLang="zh-CN" dirty="0">
                <a:solidFill>
                  <a:schemeClr val="hlink"/>
                </a:solidFill>
                <a:effectLst/>
              </a:rPr>
              <a:t>j</a:t>
            </a:r>
            <a:r>
              <a:rPr kumimoji="1" lang="zh-CN" altLang="en-US" dirty="0">
                <a:solidFill>
                  <a:schemeClr val="hlink"/>
                </a:solidFill>
              </a:rPr>
              <a:t>是引用</a:t>
            </a:r>
            <a:endParaRPr kumimoji="1" lang="en-US" altLang="zh-CN" dirty="0">
              <a:solidFill>
                <a:schemeClr val="hlink"/>
              </a:solidFill>
              <a:effectLst/>
            </a:endParaRPr>
          </a:p>
          <a:p>
            <a:pPr marL="457200" lvl="1" indent="0">
              <a:buNone/>
            </a:pPr>
            <a:endParaRPr kumimoji="1" lang="en-US" altLang="zh-CN" dirty="0">
              <a:solidFill>
                <a:schemeClr val="hlink"/>
              </a:solidFill>
            </a:endParaRPr>
          </a:p>
          <a:p>
            <a:pPr marL="457200" lvl="1" indent="0">
              <a:buNone/>
            </a:pPr>
            <a:r>
              <a:rPr kumimoji="1" lang="zh-CN" altLang="en-US" dirty="0"/>
              <a:t>先定义一个整型变量 </a:t>
            </a:r>
            <a:r>
              <a:rPr kumimoji="1" lang="en-US" altLang="zh-CN" dirty="0" err="1"/>
              <a:t>i</a:t>
            </a:r>
            <a:r>
              <a:rPr kumimoji="1" lang="en-US" altLang="zh-CN" dirty="0"/>
              <a:t> </a:t>
            </a:r>
            <a:r>
              <a:rPr kumimoji="1" lang="zh-CN" altLang="en-US" dirty="0"/>
              <a:t>并初始化为</a:t>
            </a:r>
            <a:r>
              <a:rPr kumimoji="1" lang="en-US" altLang="zh-CN" dirty="0"/>
              <a:t>3</a:t>
            </a:r>
            <a:r>
              <a:rPr kumimoji="1" lang="zh-CN" altLang="en-US" dirty="0"/>
              <a:t>。再声明 </a:t>
            </a:r>
            <a:r>
              <a:rPr kumimoji="1" lang="en-US" altLang="zh-CN" dirty="0"/>
              <a:t>j </a:t>
            </a:r>
            <a:r>
              <a:rPr kumimoji="1" lang="zh-CN" altLang="en-US" dirty="0"/>
              <a:t>是对整型数的引用，并初始化为引用 </a:t>
            </a:r>
            <a:r>
              <a:rPr kumimoji="1" lang="en-US" altLang="zh-CN" dirty="0" err="1"/>
              <a:t>i</a:t>
            </a:r>
            <a:r>
              <a:rPr kumimoji="1" lang="en-US" altLang="zh-CN" dirty="0"/>
              <a:t> </a:t>
            </a:r>
            <a:r>
              <a:rPr kumimoji="1" lang="zh-CN" altLang="en-US" dirty="0"/>
              <a:t>。</a:t>
            </a:r>
            <a:endParaRPr kumimoji="1" lang="zh-CN" altLang="en-US" dirty="0"/>
          </a:p>
          <a:p>
            <a:pPr marL="990600" lvl="1" indent="-533400">
              <a:buFont typeface="Wingdings" panose="05000000000000000000" pitchFamily="2" charset="2"/>
              <a:buAutoNum type="circleNumDbPlain"/>
            </a:pPr>
            <a:endParaRPr lang="zh-CN" altLang="en-US" dirty="0">
              <a:solidFill>
                <a:schemeClr val="hlink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35017" y="5153911"/>
            <a:ext cx="72994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chemeClr val="hlink"/>
                </a:solidFill>
              </a:rPr>
              <a:t>int </a:t>
            </a:r>
            <a:r>
              <a:rPr kumimoji="1" lang="en-US" altLang="zh-CN" dirty="0" err="1">
                <a:solidFill>
                  <a:schemeClr val="hlink"/>
                </a:solidFill>
              </a:rPr>
              <a:t>i</a:t>
            </a:r>
            <a:r>
              <a:rPr kumimoji="1" lang="en-US" altLang="zh-CN" dirty="0">
                <a:solidFill>
                  <a:schemeClr val="hlink"/>
                </a:solidFill>
              </a:rPr>
              <a:t> = 3;</a:t>
            </a:r>
            <a:r>
              <a:rPr kumimoji="1" lang="en-US" altLang="zh-CN" dirty="0"/>
              <a:t> </a:t>
            </a:r>
            <a:r>
              <a:rPr kumimoji="1" lang="zh-CN" altLang="en-US" dirty="0"/>
              <a:t>是定义和初始化，需要给变量分配内存空间。有了内存空间，才能将整型数 </a:t>
            </a:r>
            <a:r>
              <a:rPr kumimoji="1" lang="en-US" altLang="zh-CN" dirty="0"/>
              <a:t>3 </a:t>
            </a:r>
            <a:r>
              <a:rPr kumimoji="1" lang="zh-CN" altLang="en-US" dirty="0"/>
              <a:t>装到这个分配好的内存地址中。</a:t>
            </a:r>
            <a:endParaRPr kumimoji="1" lang="zh-CN" altLang="en-US" dirty="0"/>
          </a:p>
          <a:p>
            <a:r>
              <a:rPr kumimoji="1" lang="en-US" altLang="zh-CN" dirty="0">
                <a:solidFill>
                  <a:schemeClr val="hlink"/>
                </a:solidFill>
              </a:rPr>
              <a:t>int &amp;j=</a:t>
            </a:r>
            <a:r>
              <a:rPr kumimoji="1" lang="en-US" altLang="zh-CN" dirty="0" err="1">
                <a:solidFill>
                  <a:schemeClr val="hlink"/>
                </a:solidFill>
              </a:rPr>
              <a:t>i</a:t>
            </a:r>
            <a:r>
              <a:rPr kumimoji="1" lang="en-US" altLang="zh-CN" dirty="0">
                <a:solidFill>
                  <a:schemeClr val="hlink"/>
                </a:solidFill>
              </a:rPr>
              <a:t>;</a:t>
            </a:r>
            <a:r>
              <a:rPr kumimoji="1" lang="en-US" altLang="zh-CN" dirty="0"/>
              <a:t> </a:t>
            </a:r>
            <a:r>
              <a:rPr kumimoji="1" lang="zh-CN" altLang="en-US" dirty="0"/>
              <a:t>是声明和初始化，而不是定义和初始化，不需要分配内存单元给 </a:t>
            </a:r>
            <a:r>
              <a:rPr kumimoji="1" lang="en-US" altLang="zh-CN" dirty="0"/>
              <a:t>j</a:t>
            </a:r>
            <a:r>
              <a:rPr kumimoji="1" lang="zh-CN" altLang="en-US" dirty="0"/>
              <a:t>，仅仅声明了一个引用，或者说仅仅起了一个</a:t>
            </a:r>
            <a:r>
              <a:rPr kumimoji="1" lang="zh-CN" altLang="en-US" dirty="0">
                <a:latin typeface="Arial" panose="020B0604020202020204" pitchFamily="34" charset="0"/>
              </a:rPr>
              <a:t>“</a:t>
            </a:r>
            <a:r>
              <a:rPr kumimoji="1" lang="zh-CN" altLang="en-US" dirty="0"/>
              <a:t>别名</a:t>
            </a:r>
            <a:r>
              <a:rPr kumimoji="1" lang="zh-CN" altLang="en-US" dirty="0">
                <a:latin typeface="Arial" panose="020B0604020202020204" pitchFamily="34" charset="0"/>
              </a:rPr>
              <a:t>”</a:t>
            </a:r>
            <a:r>
              <a:rPr kumimoji="1" lang="zh-CN" altLang="en-US" dirty="0"/>
              <a:t>而已。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9" name="Rectangle 3"/>
          <p:cNvSpPr>
            <a:spLocks noGrp="1" noChangeArrowheads="1"/>
          </p:cNvSpPr>
          <p:nvPr>
            <p:ph idx="1"/>
          </p:nvPr>
        </p:nvSpPr>
        <p:spPr>
          <a:xfrm>
            <a:off x="432000" y="1188000"/>
            <a:ext cx="8280000" cy="486562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800" dirty="0" err="1">
                <a:effectLst/>
              </a:rPr>
              <a:t>int</a:t>
            </a:r>
            <a:r>
              <a:rPr kumimoji="1" lang="en-US" altLang="zh-CN" sz="2800" dirty="0">
                <a:effectLst/>
              </a:rPr>
              <a:t> </a:t>
            </a:r>
            <a:r>
              <a:rPr kumimoji="1" lang="en-US" altLang="zh-CN" sz="2800" dirty="0" err="1">
                <a:effectLst/>
              </a:rPr>
              <a:t>i</a:t>
            </a:r>
            <a:r>
              <a:rPr kumimoji="1" lang="en-US" altLang="zh-CN" sz="2800" dirty="0">
                <a:effectLst/>
              </a:rPr>
              <a:t>=3; </a:t>
            </a:r>
            <a:r>
              <a:rPr kumimoji="1" lang="zh-CN" altLang="en-US" sz="2800" dirty="0">
                <a:effectLst/>
              </a:rPr>
              <a:t>定义之后，系统为 </a:t>
            </a:r>
            <a:r>
              <a:rPr kumimoji="1" lang="en-US" altLang="zh-CN" sz="2800" dirty="0" err="1">
                <a:effectLst/>
              </a:rPr>
              <a:t>i</a:t>
            </a:r>
            <a:r>
              <a:rPr kumimoji="1" lang="en-US" altLang="zh-CN" sz="2800" dirty="0">
                <a:effectLst/>
              </a:rPr>
              <a:t> </a:t>
            </a:r>
            <a:r>
              <a:rPr kumimoji="1" lang="zh-CN" altLang="en-US" sz="2800" dirty="0">
                <a:effectLst/>
              </a:rPr>
              <a:t>分配了内存地址单元</a:t>
            </a:r>
            <a:r>
              <a:rPr kumimoji="1" lang="en-US" altLang="zh-CN" sz="2800" dirty="0">
                <a:effectLst/>
              </a:rPr>
              <a:t>,   </a:t>
            </a:r>
            <a:r>
              <a:rPr kumimoji="1" lang="en-US" altLang="zh-CN" sz="2800" dirty="0" err="1">
                <a:effectLst/>
              </a:rPr>
              <a:t>i</a:t>
            </a:r>
            <a:r>
              <a:rPr kumimoji="1" lang="zh-CN" altLang="en-US" sz="2800" dirty="0">
                <a:effectLst/>
              </a:rPr>
              <a:t>为符号地址。</a:t>
            </a:r>
            <a:endParaRPr kumimoji="1" lang="zh-CN" altLang="en-US" sz="2800" dirty="0">
              <a:effectLst/>
            </a:endParaRPr>
          </a:p>
          <a:p>
            <a:pPr>
              <a:lnSpc>
                <a:spcPct val="110000"/>
              </a:lnSpc>
            </a:pPr>
            <a:endParaRPr kumimoji="1" lang="zh-CN" altLang="en-US" sz="2800" dirty="0">
              <a:effectLst/>
            </a:endParaRPr>
          </a:p>
          <a:p>
            <a:pPr>
              <a:lnSpc>
                <a:spcPct val="110000"/>
              </a:lnSpc>
            </a:pPr>
            <a:endParaRPr kumimoji="1" lang="zh-CN" altLang="en-US" sz="2800" dirty="0">
              <a:effectLst/>
            </a:endParaRPr>
          </a:p>
          <a:p>
            <a:pPr>
              <a:lnSpc>
                <a:spcPct val="110000"/>
              </a:lnSpc>
            </a:pPr>
            <a:endParaRPr kumimoji="1" lang="zh-CN" altLang="en-US" sz="2800" dirty="0">
              <a:effectLst/>
            </a:endParaRPr>
          </a:p>
          <a:p>
            <a:pPr>
              <a:lnSpc>
                <a:spcPct val="110000"/>
              </a:lnSpc>
            </a:pPr>
            <a:endParaRPr kumimoji="1" lang="zh-CN" altLang="en-US" sz="2800" dirty="0">
              <a:effectLst/>
            </a:endParaRPr>
          </a:p>
          <a:p>
            <a:pPr>
              <a:lnSpc>
                <a:spcPct val="110000"/>
              </a:lnSpc>
            </a:pPr>
            <a:endParaRPr kumimoji="1" lang="zh-CN" altLang="en-US" sz="2800" dirty="0">
              <a:effectLst/>
            </a:endParaRPr>
          </a:p>
          <a:p>
            <a:pPr>
              <a:lnSpc>
                <a:spcPct val="110000"/>
              </a:lnSpc>
            </a:pPr>
            <a:endParaRPr kumimoji="1" lang="en-US" altLang="zh-CN" sz="2800" dirty="0">
              <a:effectLst/>
            </a:endParaRPr>
          </a:p>
          <a:p>
            <a:pPr>
              <a:lnSpc>
                <a:spcPct val="110000"/>
              </a:lnSpc>
            </a:pPr>
            <a:r>
              <a:rPr kumimoji="1" lang="en-US" altLang="zh-CN" sz="2800" dirty="0">
                <a:effectLst/>
              </a:rPr>
              <a:t>int &amp;j=</a:t>
            </a:r>
            <a:r>
              <a:rPr kumimoji="1" lang="en-US" altLang="zh-CN" sz="2800" dirty="0" err="1">
                <a:effectLst/>
              </a:rPr>
              <a:t>i</a:t>
            </a:r>
            <a:r>
              <a:rPr kumimoji="1" lang="en-US" altLang="zh-CN" sz="2800" dirty="0">
                <a:effectLst/>
              </a:rPr>
              <a:t>; </a:t>
            </a:r>
            <a:r>
              <a:rPr kumimoji="1" lang="zh-CN" altLang="en-US" sz="2800" dirty="0">
                <a:effectLst/>
              </a:rPr>
              <a:t>声明 </a:t>
            </a:r>
            <a:r>
              <a:rPr kumimoji="1" lang="en-US" altLang="zh-CN" sz="2800" dirty="0">
                <a:effectLst/>
              </a:rPr>
              <a:t>j </a:t>
            </a:r>
            <a:r>
              <a:rPr kumimoji="1" lang="zh-CN" altLang="en-US" sz="2800" dirty="0">
                <a:effectLst/>
              </a:rPr>
              <a:t>是 </a:t>
            </a:r>
            <a:r>
              <a:rPr kumimoji="1" lang="en-US" altLang="zh-CN" sz="2800" dirty="0" err="1">
                <a:effectLst/>
              </a:rPr>
              <a:t>i</a:t>
            </a:r>
            <a:r>
              <a:rPr kumimoji="1" lang="en-US" altLang="zh-CN" sz="2800" dirty="0">
                <a:effectLst/>
              </a:rPr>
              <a:t> </a:t>
            </a:r>
            <a:r>
              <a:rPr kumimoji="1" lang="zh-CN" altLang="en-US" sz="2800" dirty="0">
                <a:effectLst/>
              </a:rPr>
              <a:t>的</a:t>
            </a:r>
            <a:r>
              <a:rPr kumimoji="1" lang="zh-CN" altLang="en-US" sz="2800" dirty="0">
                <a:effectLst/>
                <a:latin typeface="Arial" panose="020B0604020202020204" pitchFamily="34" charset="0"/>
              </a:rPr>
              <a:t>“</a:t>
            </a:r>
            <a:r>
              <a:rPr kumimoji="1" lang="zh-CN" altLang="en-US" sz="2800" dirty="0">
                <a:effectLst/>
              </a:rPr>
              <a:t>别名</a:t>
            </a:r>
            <a:r>
              <a:rPr kumimoji="1" lang="zh-CN" altLang="en-US" sz="2800" dirty="0">
                <a:effectLst/>
                <a:latin typeface="Arial" panose="020B0604020202020204" pitchFamily="34" charset="0"/>
              </a:rPr>
              <a:t>”</a:t>
            </a:r>
            <a:r>
              <a:rPr kumimoji="1" lang="zh-CN" altLang="en-US" sz="2800" dirty="0">
                <a:effectLst/>
              </a:rPr>
              <a:t>。即 </a:t>
            </a:r>
            <a:r>
              <a:rPr kumimoji="1" lang="en-US" altLang="zh-CN" sz="2800" dirty="0">
                <a:effectLst/>
              </a:rPr>
              <a:t>j </a:t>
            </a:r>
            <a:r>
              <a:rPr kumimoji="1" lang="zh-CN" altLang="en-US" sz="2800" dirty="0">
                <a:effectLst/>
              </a:rPr>
              <a:t>是 </a:t>
            </a:r>
            <a:r>
              <a:rPr kumimoji="1" lang="en-US" altLang="zh-CN" sz="2800" dirty="0" err="1">
                <a:effectLst/>
              </a:rPr>
              <a:t>i</a:t>
            </a:r>
            <a:r>
              <a:rPr kumimoji="1" lang="en-US" altLang="zh-CN" sz="2800" dirty="0">
                <a:effectLst/>
              </a:rPr>
              <a:t> </a:t>
            </a:r>
            <a:r>
              <a:rPr kumimoji="1" lang="zh-CN" altLang="en-US" sz="2800" dirty="0">
                <a:effectLst/>
              </a:rPr>
              <a:t>的引用，系统并不去为 </a:t>
            </a:r>
            <a:r>
              <a:rPr kumimoji="1" lang="en-US" altLang="zh-CN" sz="2800" dirty="0">
                <a:effectLst/>
              </a:rPr>
              <a:t>j </a:t>
            </a:r>
            <a:r>
              <a:rPr kumimoji="1" lang="zh-CN" altLang="en-US" sz="2800" dirty="0">
                <a:effectLst/>
              </a:rPr>
              <a:t>分配内存单元。而是说 </a:t>
            </a:r>
            <a:r>
              <a:rPr kumimoji="1" lang="en-US" altLang="zh-CN" sz="2800" dirty="0">
                <a:effectLst/>
              </a:rPr>
              <a:t>j </a:t>
            </a:r>
            <a:r>
              <a:rPr kumimoji="1" lang="zh-CN" altLang="en-US" sz="2800" dirty="0">
                <a:effectLst/>
              </a:rPr>
              <a:t>是 </a:t>
            </a:r>
            <a:r>
              <a:rPr kumimoji="1" lang="en-US" altLang="zh-CN" sz="2800" dirty="0" err="1">
                <a:effectLst/>
              </a:rPr>
              <a:t>i</a:t>
            </a:r>
            <a:r>
              <a:rPr kumimoji="1" lang="en-US" altLang="zh-CN" sz="2800" dirty="0">
                <a:effectLst/>
              </a:rPr>
              <a:t> </a:t>
            </a:r>
            <a:r>
              <a:rPr kumimoji="1" lang="zh-CN" altLang="en-US" sz="2800" dirty="0">
                <a:effectLst/>
              </a:rPr>
              <a:t>的</a:t>
            </a:r>
            <a:r>
              <a:rPr kumimoji="1" lang="zh-CN" altLang="en-US" sz="2800" dirty="0">
                <a:effectLst/>
                <a:latin typeface="Arial" panose="020B0604020202020204" pitchFamily="34" charset="0"/>
              </a:rPr>
              <a:t>“</a:t>
            </a:r>
            <a:r>
              <a:rPr kumimoji="1" lang="zh-CN" altLang="en-US" sz="2800" dirty="0">
                <a:effectLst/>
              </a:rPr>
              <a:t>别名</a:t>
            </a:r>
            <a:r>
              <a:rPr kumimoji="1" lang="zh-CN" altLang="en-US" sz="2800" dirty="0">
                <a:effectLst/>
                <a:latin typeface="Arial" panose="020B0604020202020204" pitchFamily="34" charset="0"/>
              </a:rPr>
              <a:t>”</a:t>
            </a:r>
            <a:r>
              <a:rPr kumimoji="1" lang="zh-CN" altLang="en-US" sz="2800" dirty="0">
                <a:effectLst/>
              </a:rPr>
              <a:t>。别名和正名所代表的符号地址是同一个地址。</a:t>
            </a:r>
            <a:endParaRPr kumimoji="1" lang="zh-CN" altLang="en-US" sz="2800" dirty="0">
              <a:effectLst/>
            </a:endParaRPr>
          </a:p>
          <a:p>
            <a:pPr>
              <a:lnSpc>
                <a:spcPct val="110000"/>
              </a:lnSpc>
            </a:pPr>
            <a:r>
              <a:rPr kumimoji="1" lang="zh-CN" altLang="en-US" sz="2800" dirty="0">
                <a:effectLst/>
              </a:rPr>
              <a:t>为了验证上述说法，请作如下实验</a:t>
            </a:r>
            <a:endParaRPr kumimoji="1" lang="zh-CN" altLang="en-US" sz="2800" dirty="0">
              <a:effectLst/>
            </a:endParaRPr>
          </a:p>
          <a:p>
            <a:pPr>
              <a:lnSpc>
                <a:spcPct val="110000"/>
              </a:lnSpc>
            </a:pPr>
            <a:endParaRPr lang="zh-CN" altLang="en-US" sz="2800" dirty="0"/>
          </a:p>
        </p:txBody>
      </p:sp>
      <p:sp>
        <p:nvSpPr>
          <p:cNvPr id="5980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定义与声明</a:t>
            </a:r>
            <a:endParaRPr lang="zh-CN" altLang="en-US" dirty="0"/>
          </a:p>
        </p:txBody>
      </p:sp>
      <p:grpSp>
        <p:nvGrpSpPr>
          <p:cNvPr id="598020" name="Group 4"/>
          <p:cNvGrpSpPr/>
          <p:nvPr/>
        </p:nvGrpSpPr>
        <p:grpSpPr bwMode="auto">
          <a:xfrm>
            <a:off x="3311525" y="1965436"/>
            <a:ext cx="2520950" cy="2160587"/>
            <a:chOff x="2290" y="1146"/>
            <a:chExt cx="1588" cy="1361"/>
          </a:xfrm>
        </p:grpSpPr>
        <p:sp>
          <p:nvSpPr>
            <p:cNvPr id="598021" name="Rectangle 5"/>
            <p:cNvSpPr>
              <a:spLocks noChangeArrowheads="1"/>
            </p:cNvSpPr>
            <p:nvPr/>
          </p:nvSpPr>
          <p:spPr bwMode="auto">
            <a:xfrm>
              <a:off x="2290" y="1480"/>
              <a:ext cx="1588" cy="589"/>
            </a:xfrm>
            <a:prstGeom prst="rect">
              <a:avLst/>
            </a:prstGeom>
            <a:noFill/>
            <a:ln w="254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000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98022" name="Text Box 6"/>
            <p:cNvSpPr txBox="1">
              <a:spLocks noChangeArrowheads="1"/>
            </p:cNvSpPr>
            <p:nvPr/>
          </p:nvSpPr>
          <p:spPr bwMode="auto">
            <a:xfrm>
              <a:off x="2290" y="1146"/>
              <a:ext cx="12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400" dirty="0" err="1"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（别名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j</a:t>
              </a:r>
              <a:r>
                <a: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）</a:t>
              </a:r>
              <a:endPara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598023" name="Text Box 7"/>
            <p:cNvSpPr txBox="1">
              <a:spLocks noChangeArrowheads="1"/>
            </p:cNvSpPr>
            <p:nvPr/>
          </p:nvSpPr>
          <p:spPr bwMode="auto">
            <a:xfrm>
              <a:off x="2290" y="2069"/>
              <a:ext cx="1588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"/>
                </a:spcBef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&amp;</a:t>
              </a:r>
              <a:r>
                <a:rPr kumimoji="1" lang="en-US" altLang="zh-CN" sz="2400" dirty="0" err="1">
                  <a:latin typeface="Times New Roman" panose="02020603050405020304" pitchFamily="18" charset="0"/>
                  <a:ea typeface="黑体" panose="02010609060101010101" pitchFamily="49" charset="-122"/>
                </a:rPr>
                <a:t>i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=0x0012FF7C</a:t>
              </a:r>
              <a:endPara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>
                <a:lnSpc>
                  <a:spcPct val="80000"/>
                </a:lnSpc>
                <a:spcBef>
                  <a:spcPct val="5000"/>
                </a:spcBef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&amp;j=0x0012FF7C</a:t>
              </a:r>
              <a:endPara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Text Box 2"/>
          <p:cNvSpPr txBox="1">
            <a:spLocks noChangeArrowheads="1"/>
          </p:cNvSpPr>
          <p:nvPr/>
        </p:nvSpPr>
        <p:spPr bwMode="auto">
          <a:xfrm>
            <a:off x="251618" y="332656"/>
            <a:ext cx="8640763" cy="5743111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//************************************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//* 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主要功能：对“引用”的测试                  *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//************************************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#include &lt;iostream&gt;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预编译命令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using namespace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std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en-US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main(void)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主函数</a:t>
            </a:r>
            <a:endParaRPr kumimoji="1" lang="en-US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{</a:t>
            </a:r>
            <a:endParaRPr kumimoji="1" lang="en-US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en-US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en-US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=3;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定义和初始化</a:t>
            </a:r>
            <a:endParaRPr kumimoji="1" lang="en-US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en-US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&amp;j=</a:t>
            </a:r>
            <a:r>
              <a:rPr kumimoji="1" lang="en-US" altLang="en-US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声明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是对整数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的引用，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初始化为引用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endParaRPr kumimoji="1" lang="en-US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en-US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cout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&lt;&lt; "</a:t>
            </a:r>
            <a:r>
              <a:rPr kumimoji="1" lang="en-US" altLang="en-US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的地址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"&lt;&lt;&amp;</a:t>
            </a:r>
            <a:r>
              <a:rPr kumimoji="1" lang="en-US" altLang="en-US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&lt;&lt;</a:t>
            </a:r>
            <a:r>
              <a:rPr kumimoji="1" lang="en-US" altLang="en-US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endl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endParaRPr kumimoji="1" lang="en-US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en-US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cout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&lt;&lt; "j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的地址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"&lt;&lt;&amp;j&lt;&lt;</a:t>
            </a:r>
            <a:r>
              <a:rPr kumimoji="1" lang="en-US" altLang="en-US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endl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endParaRPr kumimoji="1" lang="en-US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if (&amp;</a:t>
            </a:r>
            <a:r>
              <a:rPr kumimoji="1" lang="en-US" altLang="en-US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==&amp;j)</a:t>
            </a:r>
            <a:endParaRPr kumimoji="1" lang="en-US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en-US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cout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&lt;&lt;"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名与别名两者所表示的地址相同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"&lt;&lt;</a:t>
            </a:r>
            <a:r>
              <a:rPr kumimoji="1" lang="en-US" altLang="en-US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endl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endParaRPr kumimoji="1" lang="en-US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else</a:t>
            </a:r>
            <a:endParaRPr kumimoji="1" lang="en-US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en-US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cout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&lt;&lt; "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名与别名两者所表示的地址不同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"&lt;&lt;</a:t>
            </a:r>
            <a:r>
              <a:rPr kumimoji="1" lang="en-US" altLang="en-US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endl</a:t>
            </a: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endParaRPr kumimoji="1" lang="en-US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return 0;</a:t>
            </a:r>
            <a:endParaRPr kumimoji="1" lang="en-US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}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99043" name="Rectangle 3"/>
          <p:cNvSpPr>
            <a:spLocks noChangeArrowheads="1"/>
          </p:cNvSpPr>
          <p:nvPr/>
        </p:nvSpPr>
        <p:spPr bwMode="auto">
          <a:xfrm>
            <a:off x="684213" y="3357563"/>
            <a:ext cx="7632203" cy="1943645"/>
          </a:xfrm>
          <a:prstGeom prst="rect">
            <a:avLst/>
          </a:prstGeom>
          <a:noFill/>
          <a:ln w="38100" cap="sq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Text Box 2"/>
          <p:cNvSpPr txBox="1">
            <a:spLocks noChangeArrowheads="1"/>
          </p:cNvSpPr>
          <p:nvPr/>
        </p:nvSpPr>
        <p:spPr bwMode="auto">
          <a:xfrm>
            <a:off x="1466193" y="917575"/>
            <a:ext cx="7498420" cy="495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输出结果为</a:t>
            </a:r>
            <a:endParaRPr kumimoji="1"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800" dirty="0" err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的地址：</a:t>
            </a:r>
            <a:r>
              <a:rPr kumimoji="1"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0x0012FF7C</a:t>
            </a:r>
            <a:endParaRPr kumimoji="1"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>
              <a:spcBef>
                <a:spcPct val="50000"/>
              </a:spcBef>
            </a:pPr>
            <a:r>
              <a:rPr kumimoji="1"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j</a:t>
            </a:r>
            <a:r>
              <a:rPr kumimoji="1"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的地址：</a:t>
            </a:r>
            <a:r>
              <a:rPr kumimoji="1"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0x0012FF7C</a:t>
            </a:r>
            <a:endParaRPr kumimoji="1"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>
              <a:spcBef>
                <a:spcPct val="50000"/>
              </a:spcBef>
            </a:pPr>
            <a:r>
              <a:rPr kumimoji="1"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名与别名地址相同。</a:t>
            </a:r>
            <a:endParaRPr kumimoji="1"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</a:pPr>
            <a:endParaRPr kumimoji="1"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</a:pPr>
            <a:endParaRPr kumimoji="1"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注意：</a:t>
            </a:r>
            <a:endParaRPr kumimoji="1"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		你的运算结果的地址不同，但 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和 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j 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的地址会是一样的。</a:t>
            </a:r>
            <a:endParaRPr kumimoji="1"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01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01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010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3944" y="260648"/>
            <a:ext cx="6881983" cy="56810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利用引用来传递参数</a:t>
            </a:r>
            <a:endParaRPr lang="en-US" dirty="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213945" y="1196752"/>
            <a:ext cx="7606330" cy="5410712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// 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交换两浮点数</a:t>
            </a:r>
            <a:endParaRPr kumimoji="1"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void swap(float &amp;xx, float &amp;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yy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{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	float temp;	// 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临时变量</a:t>
            </a:r>
            <a:endParaRPr kumimoji="1"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temp = xx;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	xx = 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yy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yy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 = temp;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}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 main()		// 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主函数</a:t>
            </a:r>
            <a:endParaRPr kumimoji="1"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{				// 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主函数开始</a:t>
            </a:r>
            <a:endParaRPr kumimoji="1"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float 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x,y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;		// 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定义两浮点数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x,y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	// 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提示输入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x,y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cout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&lt;&lt;"x="; 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cin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&gt;&gt;x;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cout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&lt;&lt;"y="; 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cin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&gt;&gt;y;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	// 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交换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x,y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并输出</a:t>
            </a:r>
            <a:endParaRPr kumimoji="1"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swap(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x,y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);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cout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&lt;&lt;"\n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调用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swap(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x,y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)\n";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cout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&lt;&lt;"x="&lt;&lt;x&lt;&lt;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endl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cout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&lt;&lt;"y="&lt;&lt;y&lt;&lt;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endl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	return 0;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}				// 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主函数结束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25000"/>
              </a:lnSpc>
              <a:spcBef>
                <a:spcPct val="1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子函数中两个形式参数被声明为引用，都是对浮点类型的数的引用。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  <a:spcBef>
                <a:spcPct val="1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主函数在键盘输入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x, y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值之后，执行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swap(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x,y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);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这时实参为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x, y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的值，形参为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xx,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yy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。将实参传递给形参的过程相当于在做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62230" indent="0">
              <a:lnSpc>
                <a:spcPct val="125000"/>
              </a:lnSpc>
              <a:spcBef>
                <a:spcPct val="10000"/>
              </a:spcBef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		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float &amp;xx=x;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62230" indent="0">
              <a:lnSpc>
                <a:spcPct val="125000"/>
              </a:lnSpc>
              <a:spcBef>
                <a:spcPct val="10000"/>
              </a:spcBef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		float &amp;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yy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=y;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  <a:spcBef>
                <a:spcPct val="1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使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成为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的引用，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yy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成为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y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的引用。或者说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成为变量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的地址（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&amp;x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）的符号名的别名；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yy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成为变量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y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的地址（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&amp;y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）的符号名的别名。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endParaRPr lang="en-US" dirty="0"/>
          </a:p>
        </p:txBody>
      </p:sp>
      <p:sp>
        <p:nvSpPr>
          <p:cNvPr id="606211" name="Rectangle 3"/>
          <p:cNvSpPr>
            <a:spLocks noChangeArrowheads="1"/>
          </p:cNvSpPr>
          <p:nvPr/>
        </p:nvSpPr>
        <p:spPr bwMode="auto">
          <a:xfrm>
            <a:off x="3806826" y="3848100"/>
            <a:ext cx="2447925" cy="1081088"/>
          </a:xfrm>
          <a:prstGeom prst="rect">
            <a:avLst/>
          </a:prstGeom>
          <a:noFill/>
          <a:ln w="38100" cap="sq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说明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使用引用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ct val="1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本来子函数是不能直接对变量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x, y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进行操作的。经过引用之后，两个“别名”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与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yy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替代了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x, y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。表面上看，主函数在调用子函数时，传递的是变量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x, y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，而实际上传递给子函数的是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x, y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变量的地址。</a:t>
            </a:r>
            <a:r>
              <a:rPr kumimoji="1"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形式上看是对 </a:t>
            </a:r>
            <a:r>
              <a:rPr kumimoji="1"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xx, </a:t>
            </a:r>
            <a:r>
              <a:rPr kumimoji="1" lang="en-US" altLang="zh-CN" sz="2400" dirty="0" err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yy</a:t>
            </a:r>
            <a:r>
              <a:rPr kumimoji="1"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进行操作，实质上在对 </a:t>
            </a:r>
            <a:r>
              <a:rPr kumimoji="1"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x, y </a:t>
            </a:r>
            <a:r>
              <a:rPr kumimoji="1"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进行操作。</a:t>
            </a:r>
            <a:endParaRPr kumimoji="1"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  <a:spcBef>
                <a:spcPct val="10000"/>
              </a:spcBef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  <a:spcBef>
                <a:spcPct val="10000"/>
              </a:spcBef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从这个例子看出，引用具有指针的强大功能，但在传递参数、调用函数时却有良好的可读性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sz="4000" b="0" dirty="0"/>
              <a:t>比较 </a:t>
            </a:r>
            <a:endParaRPr lang="en-US" altLang="zh-CN" sz="4000" b="0" dirty="0"/>
          </a:p>
          <a:p>
            <a:pPr lvl="1"/>
            <a:r>
              <a:rPr lang="en-US" altLang="zh-CN" sz="3600" b="0" dirty="0"/>
              <a:t>swap( float xx, float </a:t>
            </a:r>
            <a:r>
              <a:rPr lang="en-US" altLang="zh-CN" sz="3600" b="0" dirty="0" err="1"/>
              <a:t>yy</a:t>
            </a:r>
            <a:r>
              <a:rPr lang="en-US" altLang="zh-CN" sz="3600" b="0" dirty="0"/>
              <a:t> )</a:t>
            </a:r>
            <a:endParaRPr lang="en-US" altLang="zh-CN" sz="3600" b="0" dirty="0"/>
          </a:p>
          <a:p>
            <a:pPr lvl="1"/>
            <a:r>
              <a:rPr lang="en-US" altLang="zh-CN" sz="3600" dirty="0"/>
              <a:t>swap(float *xx, float *</a:t>
            </a:r>
            <a:r>
              <a:rPr lang="en-US" altLang="zh-CN" sz="3600" dirty="0" err="1"/>
              <a:t>yy</a:t>
            </a:r>
            <a:r>
              <a:rPr lang="en-US" altLang="zh-CN" sz="3600" dirty="0"/>
              <a:t>) </a:t>
            </a:r>
            <a:endParaRPr lang="en-US" altLang="zh-CN" sz="3600" b="0" dirty="0"/>
          </a:p>
          <a:p>
            <a:pPr lvl="1"/>
            <a:r>
              <a:rPr lang="en-US" altLang="zh-CN" sz="4000" b="0" dirty="0"/>
              <a:t>swap( float &amp;xx, float &amp;</a:t>
            </a:r>
            <a:r>
              <a:rPr lang="en-US" altLang="zh-CN" sz="4000" b="0" dirty="0" err="1"/>
              <a:t>yy</a:t>
            </a:r>
            <a:r>
              <a:rPr lang="en-US" altLang="zh-CN" sz="4000" b="0" dirty="0"/>
              <a:t> )</a:t>
            </a:r>
            <a:endParaRPr lang="en-US" altLang="zh-CN" sz="4000" b="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                   </a:t>
            </a:r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课后任务</a:t>
            </a:r>
            <a:endParaRPr lang="en-US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OPFI" val=""/>
</p:tagLst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9263</Words>
  <Application>WPS 演示</Application>
  <PresentationFormat>On-screen Show (4:3)</PresentationFormat>
  <Paragraphs>717</Paragraphs>
  <Slides>39</Slides>
  <Notes>8</Notes>
  <HiddenSlides>2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64" baseType="lpstr">
      <vt:lpstr>Arial</vt:lpstr>
      <vt:lpstr>宋体</vt:lpstr>
      <vt:lpstr>Wingdings</vt:lpstr>
      <vt:lpstr>Calibri</vt:lpstr>
      <vt:lpstr>Lato</vt:lpstr>
      <vt:lpstr>Open Sans</vt:lpstr>
      <vt:lpstr>Segoe Print</vt:lpstr>
      <vt:lpstr>Gill Sans MT</vt:lpstr>
      <vt:lpstr>华文中宋</vt:lpstr>
      <vt:lpstr>Monaco</vt:lpstr>
      <vt:lpstr>Calibri Light</vt:lpstr>
      <vt:lpstr>微软雅黑 Light</vt:lpstr>
      <vt:lpstr>微软雅黑</vt:lpstr>
      <vt:lpstr>Arial Unicode MS</vt:lpstr>
      <vt:lpstr>等线</vt:lpstr>
      <vt:lpstr>Garamond</vt:lpstr>
      <vt:lpstr>Times New Roman</vt:lpstr>
      <vt:lpstr>黑体</vt:lpstr>
      <vt:lpstr>Wingdings</vt:lpstr>
      <vt:lpstr>Monotype Sorts</vt:lpstr>
      <vt:lpstr>Magneto</vt:lpstr>
      <vt:lpstr>Saturday Sans Regular</vt:lpstr>
      <vt:lpstr>Impact</vt:lpstr>
      <vt:lpstr>Toots Regular</vt:lpstr>
      <vt:lpstr>课程PPT模板</vt:lpstr>
      <vt:lpstr>第22讲 指针</vt:lpstr>
      <vt:lpstr>上上讲内容回顾（指针基础）</vt:lpstr>
      <vt:lpstr>上讲内容回顾（指针与结构体、函数）</vt:lpstr>
      <vt:lpstr>用指针可以实现链表</vt:lpstr>
      <vt:lpstr>void 指针类型</vt:lpstr>
      <vt:lpstr>上讲重点内容回顾： 		指向函数的指针作为函数参数</vt:lpstr>
      <vt:lpstr>本讲内容</vt:lpstr>
      <vt:lpstr>本讲内容</vt:lpstr>
      <vt:lpstr>指针的指针</vt:lpstr>
      <vt:lpstr>本讲内容</vt:lpstr>
      <vt:lpstr>指针数组</vt:lpstr>
      <vt:lpstr>说明</vt:lpstr>
      <vt:lpstr>例程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本讲内容</vt:lpstr>
      <vt:lpstr>静态数组</vt:lpstr>
      <vt:lpstr>动态分配内存——C语言</vt:lpstr>
      <vt:lpstr>动态数组举例1</vt:lpstr>
      <vt:lpstr>动态分配内存举例2</vt:lpstr>
      <vt:lpstr>动态分配内存——C++语言</vt:lpstr>
      <vt:lpstr>本讲内容</vt:lpstr>
      <vt:lpstr>const与指针</vt:lpstr>
      <vt:lpstr>main函数的形参</vt:lpstr>
      <vt:lpstr>main函数的形参</vt:lpstr>
      <vt:lpstr>例：带有参数的方式调用C程序。</vt:lpstr>
      <vt:lpstr>引用的概念及应用</vt:lpstr>
      <vt:lpstr>定义与声明</vt:lpstr>
      <vt:lpstr>PowerPoint 演示文稿</vt:lpstr>
      <vt:lpstr>PowerPoint 演示文稿</vt:lpstr>
      <vt:lpstr>利用引用来传递参数</vt:lpstr>
      <vt:lpstr>说明</vt:lpstr>
      <vt:lpstr>使用引用</vt:lpstr>
      <vt:lpstr>课后任务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Yi.</cp:lastModifiedBy>
  <cp:revision>759</cp:revision>
  <dcterms:created xsi:type="dcterms:W3CDTF">2020-10-14T02:47:00Z</dcterms:created>
  <dcterms:modified xsi:type="dcterms:W3CDTF">2025-12-04T15:19:38Z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5CD2FAFE2EA0477988C2CA5B4ED37439_13</vt:lpwstr>
  </property>
  <property fmtid="{D5CDD505-2E9C-101B-9397-08002B2CF9AE}" pid="3" name="KSOProductBuildVer">
    <vt:lpwstr>2052-12.1.0.23542</vt:lpwstr>
  </property>
</Properties>
</file>