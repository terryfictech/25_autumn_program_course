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7"/>
  </p:handoutMasterIdLst>
  <p:sldIdLst>
    <p:sldId id="1092" r:id="rId3"/>
    <p:sldId id="1094" r:id="rId5"/>
    <p:sldId id="987" r:id="rId6"/>
    <p:sldId id="1230" r:id="rId7"/>
    <p:sldId id="1237" r:id="rId8"/>
    <p:sldId id="1231" r:id="rId9"/>
    <p:sldId id="1232" r:id="rId10"/>
    <p:sldId id="1228" r:id="rId11"/>
    <p:sldId id="921" r:id="rId12"/>
    <p:sldId id="1065" r:id="rId13"/>
    <p:sldId id="923" r:id="rId14"/>
    <p:sldId id="924" r:id="rId15"/>
    <p:sldId id="925" r:id="rId16"/>
    <p:sldId id="926" r:id="rId17"/>
    <p:sldId id="927" r:id="rId18"/>
    <p:sldId id="928" r:id="rId19"/>
    <p:sldId id="929" r:id="rId20"/>
    <p:sldId id="930" r:id="rId21"/>
    <p:sldId id="931" r:id="rId22"/>
    <p:sldId id="932" r:id="rId23"/>
    <p:sldId id="933" r:id="rId24"/>
    <p:sldId id="934" r:id="rId25"/>
    <p:sldId id="935" r:id="rId26"/>
    <p:sldId id="936" r:id="rId27"/>
    <p:sldId id="937" r:id="rId28"/>
    <p:sldId id="685" r:id="rId29"/>
    <p:sldId id="702" r:id="rId30"/>
    <p:sldId id="694" r:id="rId31"/>
    <p:sldId id="753" r:id="rId32"/>
    <p:sldId id="693" r:id="rId33"/>
    <p:sldId id="1016" r:id="rId34"/>
    <p:sldId id="677" r:id="rId35"/>
    <p:sldId id="1217" r:id="rId36"/>
    <p:sldId id="1218" r:id="rId37"/>
    <p:sldId id="1215" r:id="rId38"/>
    <p:sldId id="1219" r:id="rId39"/>
    <p:sldId id="1214" r:id="rId40"/>
    <p:sldId id="1220" r:id="rId41"/>
    <p:sldId id="1221" r:id="rId42"/>
    <p:sldId id="1222" r:id="rId43"/>
    <p:sldId id="680" r:id="rId44"/>
    <p:sldId id="1039" r:id="rId45"/>
    <p:sldId id="1211" r:id="rId46"/>
    <p:sldId id="1083" r:id="rId47"/>
    <p:sldId id="1066" r:id="rId48"/>
    <p:sldId id="1067" r:id="rId49"/>
    <p:sldId id="1068" r:id="rId50"/>
    <p:sldId id="1085" r:id="rId51"/>
    <p:sldId id="1070" r:id="rId52"/>
    <p:sldId id="1069" r:id="rId53"/>
    <p:sldId id="1072" r:id="rId54"/>
    <p:sldId id="1073" r:id="rId55"/>
    <p:sldId id="1074" r:id="rId56"/>
    <p:sldId id="1075" r:id="rId57"/>
    <p:sldId id="1076" r:id="rId58"/>
    <p:sldId id="1077" r:id="rId59"/>
    <p:sldId id="1234" r:id="rId60"/>
    <p:sldId id="1086" r:id="rId61"/>
    <p:sldId id="1087" r:id="rId62"/>
    <p:sldId id="1088" r:id="rId63"/>
    <p:sldId id="272" r:id="rId64"/>
    <p:sldId id="1226" r:id="rId65"/>
    <p:sldId id="1235" r:id="rId66"/>
  </p:sldIdLst>
  <p:sldSz cx="9144000" cy="6858000" type="screen4x3"/>
  <p:notesSz cx="6858000" cy="9144000"/>
  <p:custDataLst>
    <p:tags r:id="rId7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6700E"/>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39" autoAdjust="0"/>
    <p:restoredTop sz="73764" autoAdjust="0"/>
  </p:normalViewPr>
  <p:slideViewPr>
    <p:cSldViewPr snapToGrid="0" showGuides="1">
      <p:cViewPr varScale="1">
        <p:scale>
          <a:sx n="63" d="100"/>
          <a:sy n="63" d="100"/>
        </p:scale>
        <p:origin x="1958" y="38"/>
      </p:cViewPr>
      <p:guideLst>
        <p:guide orient="horz" pos="2160"/>
        <p:guide pos="2880"/>
      </p:guideLst>
    </p:cSldViewPr>
  </p:slideViewPr>
  <p:notesTextViewPr>
    <p:cViewPr>
      <p:scale>
        <a:sx n="1" d="1"/>
        <a:sy n="1" d="1"/>
      </p:scale>
      <p:origin x="0" y="0"/>
    </p:cViewPr>
  </p:notesTextViewPr>
  <p:notesViewPr>
    <p:cSldViewPr snapToGrid="0">
      <p:cViewPr varScale="1">
        <p:scale>
          <a:sx n="82" d="100"/>
          <a:sy n="82" d="100"/>
        </p:scale>
        <p:origin x="3954" y="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1" Type="http://schemas.openxmlformats.org/officeDocument/2006/relationships/tags" Target="tags/tag1.xml"/><Relationship Id="rId70" Type="http://schemas.openxmlformats.org/officeDocument/2006/relationships/tableStyles" Target="tableStyles.xml"/><Relationship Id="rId7" Type="http://schemas.openxmlformats.org/officeDocument/2006/relationships/slide" Target="slides/slide4.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handoutMaster" Target="handoutMasters/handoutMaster1.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563B7C-F87A-4992-9D16-F63F1FA43DB6}" type="datetimeFigureOut">
              <a:rPr lang="en-US" smtClean="0"/>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05AF18-CFCB-48CD-B900-85FE73933DD2}"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6F8E1-D84A-44BD-AFC6-9B54380022BF}" type="datetimeFigureOut">
              <a:rPr lang="en-US" smtClean="0"/>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B8F7-AA39-458F-B195-A32598CB259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baike.baidu.com/item/%E7%AC%AC%E4%BA%8C%E6%95%B0%E5%AD%A6%E5%BD%92%E7%BA%B3%E6%B3%95/4641553?fromModule=lemma_inlink" TargetMode="External"/><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课程大难点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练习：</a:t>
            </a:r>
            <a:r>
              <a:rPr lang="en-US" altLang="zh-CN" b="1" i="0" dirty="0">
                <a:effectLst/>
                <a:latin typeface="Lato" panose="020F0502020204030203" pitchFamily="34" charset="0"/>
              </a:rPr>
              <a:t>#202. </a:t>
            </a:r>
            <a:r>
              <a:rPr lang="zh-CN" altLang="en-US" b="1" i="0" dirty="0">
                <a:effectLst/>
                <a:latin typeface="Lato" panose="020F0502020204030203" pitchFamily="34" charset="0"/>
              </a:rPr>
              <a:t>分书问题</a:t>
            </a:r>
            <a:endParaRPr lang="zh-CN" altLang="en-US" b="1" i="0" dirty="0">
              <a:effectLst/>
              <a:latin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作业：</a:t>
            </a:r>
            <a:r>
              <a:rPr lang="en-US" altLang="zh-CN" dirty="0"/>
              <a:t>113,109,143,513,</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其他作业：（</a:t>
            </a:r>
            <a:r>
              <a:rPr lang="en-US" altLang="zh-CN" dirty="0">
                <a:solidFill>
                  <a:srgbClr val="212529"/>
                </a:solidFill>
                <a:effectLst/>
              </a:rPr>
              <a:t>291,133,129</a:t>
            </a:r>
            <a:r>
              <a:rPr lang="zh-CN" altLang="en-US" dirty="0">
                <a:solidFill>
                  <a:srgbClr val="212529"/>
                </a:solidFill>
                <a:effectLst/>
              </a:rPr>
              <a:t>）巩固进制部分</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Helvetica Neue"/>
              </a:rPr>
              <a:t>最简单和常见的数学归纳法是证明当</a:t>
            </a:r>
            <a:r>
              <a:rPr lang="en-US" altLang="zh-CN" b="0" i="1" dirty="0">
                <a:solidFill>
                  <a:srgbClr val="333333"/>
                </a:solidFill>
                <a:effectLst/>
                <a:latin typeface="Helvetica Neue"/>
              </a:rPr>
              <a:t>n</a:t>
            </a:r>
            <a:r>
              <a:rPr lang="zh-CN" altLang="en-US" b="0" i="0" dirty="0">
                <a:solidFill>
                  <a:srgbClr val="333333"/>
                </a:solidFill>
                <a:effectLst/>
                <a:latin typeface="Helvetica Neue"/>
              </a:rPr>
              <a:t>等于任意一个自然数时某命题成立。证明分下面两步：</a:t>
            </a:r>
            <a:endParaRPr lang="zh-CN" altLang="en-US" b="0" i="0" dirty="0">
              <a:solidFill>
                <a:srgbClr val="333333"/>
              </a:solidFill>
              <a:effectLst/>
              <a:latin typeface="Helvetica Neue"/>
            </a:endParaRPr>
          </a:p>
          <a:p>
            <a:pPr algn="l">
              <a:buFont typeface="+mj-lt"/>
              <a:buAutoNum type="arabicPeriod"/>
            </a:pPr>
            <a:r>
              <a:rPr lang="en-US" altLang="zh-CN" b="0" i="0" dirty="0">
                <a:solidFill>
                  <a:srgbClr val="333333"/>
                </a:solidFill>
                <a:effectLst/>
                <a:latin typeface="Helvetica Neue"/>
              </a:rPr>
              <a:t>1.</a:t>
            </a:r>
            <a:r>
              <a:rPr lang="zh-CN" altLang="en-US" b="0" i="0" dirty="0">
                <a:solidFill>
                  <a:srgbClr val="333333"/>
                </a:solidFill>
                <a:effectLst/>
                <a:latin typeface="Helvetica Neue"/>
              </a:rPr>
              <a:t>证明当</a:t>
            </a:r>
            <a:r>
              <a:rPr lang="en-US" altLang="zh-CN" b="0" i="1" dirty="0">
                <a:solidFill>
                  <a:srgbClr val="333333"/>
                </a:solidFill>
                <a:effectLst/>
                <a:latin typeface="Helvetica Neue"/>
              </a:rPr>
              <a:t>n</a:t>
            </a:r>
            <a:r>
              <a:rPr lang="en-US" altLang="zh-CN" b="0" i="0" dirty="0">
                <a:solidFill>
                  <a:srgbClr val="333333"/>
                </a:solidFill>
                <a:effectLst/>
                <a:latin typeface="Helvetica Neue"/>
              </a:rPr>
              <a:t>= 1</a:t>
            </a:r>
            <a:r>
              <a:rPr lang="zh-CN" altLang="en-US" b="0" i="0" dirty="0">
                <a:solidFill>
                  <a:srgbClr val="333333"/>
                </a:solidFill>
                <a:effectLst/>
                <a:latin typeface="Helvetica Neue"/>
              </a:rPr>
              <a:t>时命题成立。</a:t>
            </a:r>
            <a:endParaRPr lang="zh-CN" altLang="en-US" b="0" i="0" dirty="0">
              <a:solidFill>
                <a:srgbClr val="333333"/>
              </a:solidFill>
              <a:effectLst/>
              <a:latin typeface="Helvetica Neue"/>
            </a:endParaRPr>
          </a:p>
          <a:p>
            <a:pPr algn="l">
              <a:buFont typeface="+mj-lt"/>
              <a:buAutoNum type="arabicPeriod"/>
            </a:pPr>
            <a:r>
              <a:rPr lang="en-US" altLang="zh-CN" b="0" i="0" dirty="0">
                <a:solidFill>
                  <a:srgbClr val="333333"/>
                </a:solidFill>
                <a:effectLst/>
                <a:latin typeface="Helvetica Neue"/>
              </a:rPr>
              <a:t>2.</a:t>
            </a:r>
            <a:r>
              <a:rPr lang="zh-CN" altLang="en-US" b="0" i="0" dirty="0">
                <a:solidFill>
                  <a:srgbClr val="333333"/>
                </a:solidFill>
                <a:effectLst/>
                <a:latin typeface="Helvetica Neue"/>
              </a:rPr>
              <a:t>假设</a:t>
            </a:r>
            <a:r>
              <a:rPr lang="en-US" altLang="zh-CN" b="0" i="1" dirty="0">
                <a:solidFill>
                  <a:srgbClr val="333333"/>
                </a:solidFill>
                <a:effectLst/>
                <a:latin typeface="Helvetica Neue"/>
              </a:rPr>
              <a:t>n</a:t>
            </a:r>
            <a:r>
              <a:rPr lang="en-US" altLang="zh-CN" b="0" i="0" dirty="0">
                <a:solidFill>
                  <a:srgbClr val="333333"/>
                </a:solidFill>
                <a:effectLst/>
                <a:latin typeface="Helvetica Neue"/>
              </a:rPr>
              <a:t>=</a:t>
            </a:r>
            <a:r>
              <a:rPr lang="en-US" altLang="zh-CN" b="0" i="1" dirty="0">
                <a:solidFill>
                  <a:srgbClr val="333333"/>
                </a:solidFill>
                <a:effectLst/>
                <a:latin typeface="Helvetica Neue"/>
              </a:rPr>
              <a:t>m</a:t>
            </a:r>
            <a:r>
              <a:rPr lang="zh-CN" altLang="en-US" b="0" i="0" dirty="0">
                <a:solidFill>
                  <a:srgbClr val="333333"/>
                </a:solidFill>
                <a:effectLst/>
                <a:latin typeface="Helvetica Neue"/>
              </a:rPr>
              <a:t>时命题成立，那么可以</a:t>
            </a:r>
            <a:r>
              <a:rPr lang="zh-CN" altLang="en-US" b="1" i="0" dirty="0">
                <a:solidFill>
                  <a:srgbClr val="333333"/>
                </a:solidFill>
                <a:effectLst/>
                <a:latin typeface="Helvetica Neue"/>
              </a:rPr>
              <a:t>推导</a:t>
            </a:r>
            <a:r>
              <a:rPr lang="zh-CN" altLang="en-US" b="0" i="0" dirty="0">
                <a:solidFill>
                  <a:srgbClr val="333333"/>
                </a:solidFill>
                <a:effectLst/>
                <a:latin typeface="Helvetica Neue"/>
              </a:rPr>
              <a:t>出在</a:t>
            </a:r>
            <a:r>
              <a:rPr lang="en-US" altLang="zh-CN" b="0" i="1" dirty="0">
                <a:solidFill>
                  <a:srgbClr val="333333"/>
                </a:solidFill>
                <a:effectLst/>
                <a:latin typeface="Helvetica Neue"/>
              </a:rPr>
              <a:t>n</a:t>
            </a:r>
            <a:r>
              <a:rPr lang="en-US" altLang="zh-CN" b="0" i="0" dirty="0">
                <a:solidFill>
                  <a:srgbClr val="333333"/>
                </a:solidFill>
                <a:effectLst/>
                <a:latin typeface="Helvetica Neue"/>
              </a:rPr>
              <a:t>=</a:t>
            </a:r>
            <a:r>
              <a:rPr lang="en-US" altLang="zh-CN" b="0" i="1" dirty="0">
                <a:solidFill>
                  <a:srgbClr val="333333"/>
                </a:solidFill>
                <a:effectLst/>
                <a:latin typeface="Helvetica Neue"/>
              </a:rPr>
              <a:t>m</a:t>
            </a:r>
            <a:r>
              <a:rPr lang="en-US" altLang="zh-CN" b="0" i="0" dirty="0">
                <a:solidFill>
                  <a:srgbClr val="333333"/>
                </a:solidFill>
                <a:effectLst/>
                <a:latin typeface="Helvetica Neue"/>
              </a:rPr>
              <a:t>+1</a:t>
            </a:r>
            <a:r>
              <a:rPr lang="zh-CN" altLang="en-US" b="0" i="0" dirty="0">
                <a:solidFill>
                  <a:srgbClr val="333333"/>
                </a:solidFill>
                <a:effectLst/>
                <a:latin typeface="Helvetica Neue"/>
              </a:rPr>
              <a:t>时命题也成立。（</a:t>
            </a:r>
            <a:r>
              <a:rPr lang="en-US" altLang="zh-CN" b="0" i="1" dirty="0">
                <a:solidFill>
                  <a:srgbClr val="333333"/>
                </a:solidFill>
                <a:effectLst/>
                <a:latin typeface="Helvetica Neue"/>
              </a:rPr>
              <a:t>m</a:t>
            </a:r>
            <a:r>
              <a:rPr lang="zh-CN" altLang="en-US" b="0" i="0" dirty="0">
                <a:solidFill>
                  <a:srgbClr val="333333"/>
                </a:solidFill>
                <a:effectLst/>
                <a:latin typeface="Helvetica Neue"/>
              </a:rPr>
              <a:t>代表任意自然数）</a:t>
            </a:r>
            <a:endParaRPr lang="zh-CN" altLang="en-US" b="0" i="0" dirty="0">
              <a:solidFill>
                <a:srgbClr val="333333"/>
              </a:solidFill>
              <a:effectLst/>
              <a:latin typeface="Helvetica Neue"/>
            </a:endParaRPr>
          </a:p>
          <a:p>
            <a:endParaRPr lang="zh-CN" altLang="en-US" dirty="0"/>
          </a:p>
          <a:p>
            <a:pPr algn="l"/>
            <a:r>
              <a:rPr lang="zh-CN" altLang="en-US" b="1" i="0" u="none" strike="noStrike" dirty="0">
                <a:solidFill>
                  <a:srgbClr val="136EC2"/>
                </a:solidFill>
                <a:effectLst/>
                <a:latin typeface="Helvetica Neue"/>
                <a:hlinkClick r:id="rId3"/>
              </a:rPr>
              <a:t>第二数学归纳法</a:t>
            </a:r>
            <a:r>
              <a:rPr lang="zh-CN" altLang="en-US" b="1" i="0" dirty="0">
                <a:solidFill>
                  <a:srgbClr val="333333"/>
                </a:solidFill>
                <a:effectLst/>
                <a:latin typeface="Helvetica Neue"/>
              </a:rPr>
              <a:t>（完整归纳法）</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另一个一般化的方法叫完整归纳法（也称第二数学归纳法），在第二步中我们假定式子不仅当</a:t>
            </a:r>
            <a:r>
              <a:rPr lang="en-US" altLang="zh-CN" b="0" i="1" dirty="0">
                <a:solidFill>
                  <a:srgbClr val="333333"/>
                </a:solidFill>
                <a:effectLst/>
                <a:latin typeface="Helvetica Neue"/>
              </a:rPr>
              <a:t>n</a:t>
            </a:r>
            <a:r>
              <a:rPr lang="en-US" altLang="zh-CN" b="0" i="0" dirty="0">
                <a:solidFill>
                  <a:srgbClr val="333333"/>
                </a:solidFill>
                <a:effectLst/>
                <a:latin typeface="Helvetica Neue"/>
              </a:rPr>
              <a:t>=</a:t>
            </a:r>
            <a:r>
              <a:rPr lang="en-US" altLang="zh-CN" b="0" i="1" dirty="0">
                <a:solidFill>
                  <a:srgbClr val="333333"/>
                </a:solidFill>
                <a:effectLst/>
                <a:latin typeface="Helvetica Neue"/>
              </a:rPr>
              <a:t>m</a:t>
            </a:r>
            <a:r>
              <a:rPr lang="zh-CN" altLang="en-US" b="0" i="0" dirty="0">
                <a:solidFill>
                  <a:srgbClr val="333333"/>
                </a:solidFill>
                <a:effectLst/>
                <a:latin typeface="Helvetica Neue"/>
              </a:rPr>
              <a:t>时成立，当</a:t>
            </a:r>
            <a:r>
              <a:rPr lang="en-US" altLang="zh-CN" b="0" i="1" dirty="0">
                <a:solidFill>
                  <a:srgbClr val="333333"/>
                </a:solidFill>
                <a:effectLst/>
                <a:latin typeface="Helvetica Neue"/>
              </a:rPr>
              <a:t>n</a:t>
            </a:r>
            <a:r>
              <a:rPr lang="zh-CN" altLang="en-US" b="0" i="0" dirty="0">
                <a:solidFill>
                  <a:srgbClr val="333333"/>
                </a:solidFill>
                <a:effectLst/>
                <a:latin typeface="Helvetica Neue"/>
              </a:rPr>
              <a:t>小于或等于</a:t>
            </a:r>
            <a:r>
              <a:rPr lang="en-US" altLang="zh-CN" b="0" i="1" dirty="0">
                <a:solidFill>
                  <a:srgbClr val="333333"/>
                </a:solidFill>
                <a:effectLst/>
                <a:latin typeface="Helvetica Neue"/>
              </a:rPr>
              <a:t>m</a:t>
            </a:r>
            <a:r>
              <a:rPr lang="zh-CN" altLang="en-US" b="0" i="0" dirty="0">
                <a:solidFill>
                  <a:srgbClr val="333333"/>
                </a:solidFill>
                <a:effectLst/>
                <a:latin typeface="Helvetica Neue"/>
              </a:rPr>
              <a:t>时也成立</a:t>
            </a:r>
            <a:r>
              <a:rPr lang="en-US" altLang="zh-CN" b="0" i="0" dirty="0">
                <a:solidFill>
                  <a:srgbClr val="333333"/>
                </a:solidFill>
                <a:effectLst/>
                <a:latin typeface="Helvetica Neue"/>
              </a:rPr>
              <a:t>.</a:t>
            </a:r>
            <a:r>
              <a:rPr lang="zh-CN" altLang="en-US" b="0" i="0" dirty="0">
                <a:solidFill>
                  <a:srgbClr val="333333"/>
                </a:solidFill>
                <a:effectLst/>
                <a:latin typeface="Helvetica Neue"/>
              </a:rPr>
              <a:t>这样可以设计出这样两步</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algn="l">
              <a:buFont typeface="+mj-lt"/>
              <a:buAutoNum type="arabicPeriod"/>
            </a:pPr>
            <a:r>
              <a:rPr lang="en-US" altLang="zh-CN" b="0" i="0" dirty="0">
                <a:solidFill>
                  <a:srgbClr val="333333"/>
                </a:solidFill>
                <a:effectLst/>
                <a:latin typeface="Helvetica Neue"/>
              </a:rPr>
              <a:t>1.</a:t>
            </a:r>
            <a:r>
              <a:rPr lang="zh-CN" altLang="en-US" b="0" i="0" dirty="0">
                <a:solidFill>
                  <a:srgbClr val="333333"/>
                </a:solidFill>
                <a:effectLst/>
                <a:latin typeface="Helvetica Neue"/>
              </a:rPr>
              <a:t>证明当</a:t>
            </a:r>
            <a:r>
              <a:rPr lang="en-US" altLang="zh-CN" b="0" i="1" dirty="0">
                <a:solidFill>
                  <a:srgbClr val="333333"/>
                </a:solidFill>
                <a:effectLst/>
                <a:latin typeface="Helvetica Neue"/>
              </a:rPr>
              <a:t>n</a:t>
            </a:r>
            <a:r>
              <a:rPr lang="en-US" altLang="zh-CN" b="0" i="0" dirty="0">
                <a:solidFill>
                  <a:srgbClr val="333333"/>
                </a:solidFill>
                <a:effectLst/>
                <a:latin typeface="Helvetica Neue"/>
              </a:rPr>
              <a:t>= 0</a:t>
            </a:r>
            <a:r>
              <a:rPr lang="zh-CN" altLang="en-US" b="0" i="0" dirty="0">
                <a:solidFill>
                  <a:srgbClr val="333333"/>
                </a:solidFill>
                <a:effectLst/>
                <a:latin typeface="Helvetica Neue"/>
              </a:rPr>
              <a:t>时式子成立</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algn="l">
              <a:buFont typeface="+mj-lt"/>
              <a:buAutoNum type="arabicPeriod"/>
            </a:pPr>
            <a:r>
              <a:rPr lang="en-US" altLang="zh-CN" b="0" i="0" dirty="0">
                <a:solidFill>
                  <a:srgbClr val="333333"/>
                </a:solidFill>
                <a:effectLst/>
                <a:latin typeface="Helvetica Neue"/>
              </a:rPr>
              <a:t>2.</a:t>
            </a:r>
            <a:r>
              <a:rPr lang="zh-CN" altLang="en-US" b="0" i="0" dirty="0">
                <a:solidFill>
                  <a:srgbClr val="333333"/>
                </a:solidFill>
                <a:effectLst/>
                <a:latin typeface="Helvetica Neue"/>
              </a:rPr>
              <a:t>假设当</a:t>
            </a:r>
            <a:r>
              <a:rPr lang="en-US" altLang="zh-CN" b="0" i="1" dirty="0">
                <a:solidFill>
                  <a:srgbClr val="333333"/>
                </a:solidFill>
                <a:effectLst/>
                <a:latin typeface="Helvetica Neue"/>
              </a:rPr>
              <a:t>n</a:t>
            </a:r>
            <a:r>
              <a:rPr lang="zh-CN" altLang="en-US" b="0" i="0" dirty="0">
                <a:solidFill>
                  <a:srgbClr val="333333"/>
                </a:solidFill>
                <a:effectLst/>
                <a:latin typeface="Helvetica Neue"/>
              </a:rPr>
              <a:t>≤</a:t>
            </a:r>
            <a:r>
              <a:rPr lang="en-US" altLang="zh-CN" b="0" i="1" dirty="0">
                <a:solidFill>
                  <a:srgbClr val="333333"/>
                </a:solidFill>
                <a:effectLst/>
                <a:latin typeface="Helvetica Neue"/>
              </a:rPr>
              <a:t>m</a:t>
            </a:r>
            <a:r>
              <a:rPr lang="zh-CN" altLang="en-US" b="0" i="0" dirty="0">
                <a:solidFill>
                  <a:srgbClr val="333333"/>
                </a:solidFill>
                <a:effectLst/>
                <a:latin typeface="Helvetica Neue"/>
              </a:rPr>
              <a:t>时成立，证明当</a:t>
            </a:r>
            <a:r>
              <a:rPr lang="en-US" altLang="zh-CN" b="0" i="1" dirty="0">
                <a:solidFill>
                  <a:srgbClr val="333333"/>
                </a:solidFill>
                <a:effectLst/>
                <a:latin typeface="Helvetica Neue"/>
              </a:rPr>
              <a:t>n</a:t>
            </a:r>
            <a:r>
              <a:rPr lang="en-US" altLang="zh-CN" b="0" i="0" dirty="0">
                <a:solidFill>
                  <a:srgbClr val="333333"/>
                </a:solidFill>
                <a:effectLst/>
                <a:latin typeface="Helvetica Neue"/>
              </a:rPr>
              <a:t>=</a:t>
            </a:r>
            <a:r>
              <a:rPr lang="en-US" altLang="zh-CN" b="0" i="1" dirty="0">
                <a:solidFill>
                  <a:srgbClr val="333333"/>
                </a:solidFill>
                <a:effectLst/>
                <a:latin typeface="Helvetica Neue"/>
              </a:rPr>
              <a:t>m</a:t>
            </a:r>
            <a:r>
              <a:rPr lang="en-US" altLang="zh-CN" b="0" i="0" dirty="0">
                <a:solidFill>
                  <a:srgbClr val="333333"/>
                </a:solidFill>
                <a:effectLst/>
                <a:latin typeface="Helvetica Neue"/>
              </a:rPr>
              <a:t>+ 1</a:t>
            </a:r>
            <a:r>
              <a:rPr lang="zh-CN" altLang="en-US" b="0" i="0" dirty="0">
                <a:solidFill>
                  <a:srgbClr val="333333"/>
                </a:solidFill>
                <a:effectLst/>
                <a:latin typeface="Helvetica Neue"/>
              </a:rPr>
              <a:t>时式子也成立</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也可以直接一重</a:t>
            </a:r>
            <a:r>
              <a:rPr lang="en-US" altLang="zh-CN" dirty="0"/>
              <a:t>for</a:t>
            </a:r>
            <a:r>
              <a:rPr lang="zh-CN" altLang="en-US" dirty="0"/>
              <a:t>循环</a:t>
            </a:r>
            <a:r>
              <a:rPr lang="en-US" altLang="zh-CN" dirty="0"/>
              <a:t>0~63</a:t>
            </a:r>
            <a:r>
              <a:rPr lang="zh-CN" altLang="en-US" dirty="0"/>
              <a:t>，然后用位运算从整数中取出</a:t>
            </a:r>
            <a:r>
              <a:rPr lang="en-US" altLang="zh-CN" dirty="0"/>
              <a:t>2</a:t>
            </a:r>
            <a:r>
              <a:rPr lang="zh-CN" altLang="en-US" dirty="0"/>
              <a:t>进制的</a:t>
            </a:r>
            <a:r>
              <a:rPr lang="en-US" altLang="zh-CN" dirty="0"/>
              <a:t>A~F</a:t>
            </a:r>
            <a:r>
              <a:rPr lang="zh-CN" altLang="en-US" dirty="0"/>
              <a:t> </a:t>
            </a:r>
            <a:r>
              <a:rPr lang="en-US" altLang="zh-CN" dirty="0"/>
              <a:t>– </a:t>
            </a:r>
            <a:r>
              <a:rPr lang="zh-CN" altLang="en-US" dirty="0"/>
              <a:t>不太直观，没太大必要</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通用一点，不是</a:t>
            </a:r>
            <a:r>
              <a:rPr lang="en-US" altLang="zh-CN" dirty="0"/>
              <a:t>m=n</a:t>
            </a:r>
            <a:r>
              <a:rPr lang="zh-CN" altLang="en-US" dirty="0"/>
              <a:t>的情况</a:t>
            </a:r>
            <a:endParaRPr lang="en-US" altLang="zh-CN" dirty="0"/>
          </a:p>
          <a:p>
            <a:r>
              <a:rPr lang="zh-CN" altLang="en-US" dirty="0"/>
              <a:t>回溯的重要作用 </a:t>
            </a:r>
            <a:endParaRPr lang="en-US" altLang="zh-CN" dirty="0"/>
          </a:p>
          <a:p>
            <a:r>
              <a:rPr lang="en-US" altLang="zh-CN" dirty="0"/>
              <a:t>~ </a:t>
            </a:r>
            <a:r>
              <a:rPr lang="zh-CN" altLang="en-US" dirty="0"/>
              <a:t>递归调用函数的时候，</a:t>
            </a:r>
            <a:r>
              <a:rPr lang="en-US" altLang="zh-CN" dirty="0"/>
              <a:t>k=</a:t>
            </a:r>
            <a:r>
              <a:rPr lang="en-US" altLang="zh-CN" dirty="0" err="1"/>
              <a:t>i</a:t>
            </a:r>
            <a:r>
              <a:rPr lang="zh-CN" altLang="en-US" dirty="0"/>
              <a:t>的所有解都尝试过了</a:t>
            </a:r>
            <a:endParaRPr lang="en-US" altLang="zh-CN" dirty="0"/>
          </a:p>
          <a:p>
            <a:r>
              <a:rPr lang="en-US" altLang="zh-CN" dirty="0"/>
              <a:t>~ k</a:t>
            </a:r>
            <a:r>
              <a:rPr lang="zh-CN" altLang="en-US" dirty="0"/>
              <a:t>的所有可能都尝试过了（两个意义</a:t>
            </a:r>
            <a:r>
              <a:rPr lang="zh-CN" altLang="en-US" dirty="0">
                <a:sym typeface="Wingdings" panose="05000000000000000000" pitchFamily="2" charset="2"/>
              </a:rPr>
              <a:t>：一个是</a:t>
            </a:r>
            <a:r>
              <a:rPr lang="en-US" altLang="zh-CN" dirty="0">
                <a:sym typeface="Wingdings" panose="05000000000000000000" pitchFamily="2" charset="2"/>
              </a:rPr>
              <a:t>k</a:t>
            </a:r>
            <a:r>
              <a:rPr lang="zh-CN" altLang="en-US" dirty="0">
                <a:sym typeface="Wingdings" panose="05000000000000000000" pitchFamily="2" charset="2"/>
              </a:rPr>
              <a:t>可以尝试别的书了，另一个是这个书可以分给别人了）</a:t>
            </a:r>
            <a:endParaRPr lang="en-US" altLang="zh-CN" dirty="0">
              <a:sym typeface="Wingdings" panose="05000000000000000000" pitchFamily="2" charset="2"/>
            </a:endParaRPr>
          </a:p>
          <a:p>
            <a:r>
              <a:rPr lang="zh-CN" altLang="en-US" dirty="0">
                <a:sym typeface="Wingdings" panose="05000000000000000000" pitchFamily="2" charset="2"/>
              </a:rPr>
              <a:t>分书函数很难。</a:t>
            </a:r>
            <a:endParaRPr lang="en-US" altLang="zh-CN" dirty="0">
              <a:sym typeface="Wingdings" panose="05000000000000000000" pitchFamily="2" charset="2"/>
            </a:endParaRPr>
          </a:p>
          <a:p>
            <a:r>
              <a:rPr lang="en-US" altLang="zh-CN" dirty="0">
                <a:sym typeface="Wingdings" panose="05000000000000000000" pitchFamily="2" charset="2"/>
              </a:rPr>
              <a:t>Book</a:t>
            </a:r>
            <a:r>
              <a:rPr lang="zh-CN" altLang="en-US" dirty="0">
                <a:sym typeface="Wingdings" panose="05000000000000000000" pitchFamily="2" charset="2"/>
              </a:rPr>
              <a:t>数组</a:t>
            </a:r>
            <a:r>
              <a:rPr lang="en-US" altLang="zh-CN" dirty="0">
                <a:sym typeface="Wingdings" panose="05000000000000000000" pitchFamily="2" charset="2"/>
              </a:rPr>
              <a:t>/like</a:t>
            </a:r>
            <a:r>
              <a:rPr lang="zh-CN" altLang="en-US" dirty="0">
                <a:sym typeface="Wingdings" panose="05000000000000000000" pitchFamily="2" charset="2"/>
              </a:rPr>
              <a:t>数组 </a:t>
            </a:r>
            <a:r>
              <a:rPr lang="en-US" altLang="zh-CN" dirty="0">
                <a:sym typeface="Wingdings" panose="05000000000000000000" pitchFamily="2" charset="2"/>
              </a:rPr>
              <a:t>-&gt; </a:t>
            </a:r>
            <a:r>
              <a:rPr lang="zh-CN" altLang="en-US" dirty="0">
                <a:sym typeface="Wingdings" panose="05000000000000000000" pitchFamily="2" charset="2"/>
              </a:rPr>
              <a:t>传参</a:t>
            </a:r>
            <a:r>
              <a:rPr lang="en-US" altLang="zh-CN" dirty="0">
                <a:sym typeface="Wingdings" panose="05000000000000000000" pitchFamily="2" charset="2"/>
              </a:rPr>
              <a:t>/</a:t>
            </a:r>
            <a:r>
              <a:rPr lang="zh-CN" altLang="en-US" dirty="0">
                <a:sym typeface="Wingdings" panose="05000000000000000000" pitchFamily="2" charset="2"/>
              </a:rPr>
              <a:t>全局变量</a:t>
            </a:r>
            <a:endParaRPr lang="en-US" altLang="zh-CN" dirty="0">
              <a:sym typeface="Wingdings" panose="05000000000000000000" pitchFamily="2" charset="2"/>
            </a:endParaRPr>
          </a:p>
          <a:p>
            <a:endParaRPr lang="en-US" altLang="zh-CN" dirty="0">
              <a:sym typeface="Wingdings" panose="05000000000000000000" pitchFamily="2" charset="2"/>
            </a:endParaRPr>
          </a:p>
          <a:p>
            <a:r>
              <a:rPr lang="en-US" altLang="zh-CN" dirty="0">
                <a:sym typeface="Wingdings" panose="05000000000000000000" pitchFamily="2" charset="2"/>
              </a:rPr>
              <a:t>For</a:t>
            </a:r>
            <a:r>
              <a:rPr lang="zh-CN" altLang="en-US" dirty="0">
                <a:sym typeface="Wingdings" panose="05000000000000000000" pitchFamily="2" charset="2"/>
              </a:rPr>
              <a:t>循环内部有递归 </a:t>
            </a:r>
            <a:r>
              <a:rPr lang="en-US" altLang="zh-CN" dirty="0">
                <a:sym typeface="Wingdings" panose="05000000000000000000" pitchFamily="2" charset="2"/>
              </a:rPr>
              <a:t>– </a:t>
            </a:r>
            <a:r>
              <a:rPr lang="zh-CN" altLang="en-US" dirty="0">
                <a:sym typeface="Wingdings" panose="05000000000000000000" pitchFamily="2" charset="2"/>
              </a:rPr>
              <a:t>起始是嵌套了</a:t>
            </a:r>
            <a:r>
              <a:rPr lang="en-US" altLang="zh-CN" dirty="0">
                <a:sym typeface="Wingdings" panose="05000000000000000000" pitchFamily="2" charset="2"/>
              </a:rPr>
              <a:t>n</a:t>
            </a:r>
            <a:r>
              <a:rPr lang="zh-CN" altLang="en-US" dirty="0">
                <a:sym typeface="Wingdings" panose="05000000000000000000" pitchFamily="2" charset="2"/>
              </a:rPr>
              <a:t>个</a:t>
            </a:r>
            <a:r>
              <a:rPr lang="en-US" altLang="zh-CN" dirty="0">
                <a:sym typeface="Wingdings" panose="05000000000000000000" pitchFamily="2" charset="2"/>
              </a:rPr>
              <a:t>for</a:t>
            </a:r>
            <a:endParaRPr lang="en-US" altLang="zh-CN" dirty="0">
              <a:sym typeface="Wingdings" panose="05000000000000000000" pitchFamily="2" charset="2"/>
            </a:endParaRPr>
          </a:p>
          <a:p>
            <a:r>
              <a:rPr lang="zh-CN" altLang="en-US" dirty="0">
                <a:sym typeface="Wingdings" panose="05000000000000000000" pitchFamily="2" charset="2"/>
              </a:rPr>
              <a:t>原来不知道要写多少重循环，现在有了递归 </a:t>
            </a:r>
            <a:r>
              <a:rPr lang="en-US" altLang="zh-CN" dirty="0">
                <a:sym typeface="Wingdings" panose="05000000000000000000" pitchFamily="2" charset="2"/>
              </a:rPr>
              <a:t>– </a:t>
            </a:r>
            <a:r>
              <a:rPr lang="zh-CN" altLang="en-US" dirty="0">
                <a:sym typeface="Wingdings" panose="05000000000000000000" pitchFamily="2" charset="2"/>
              </a:rPr>
              <a:t>现在可以通过递归边界完成这个事情；变相实现了</a:t>
            </a:r>
            <a:r>
              <a:rPr lang="en-US" altLang="zh-CN" dirty="0">
                <a:sym typeface="Wingdings" panose="05000000000000000000" pitchFamily="2" charset="2"/>
              </a:rPr>
              <a:t>n</a:t>
            </a:r>
            <a:r>
              <a:rPr lang="zh-CN" altLang="en-US" dirty="0">
                <a:sym typeface="Wingdings" panose="05000000000000000000" pitchFamily="2" charset="2"/>
              </a:rPr>
              <a:t>层嵌套</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路网找最短路径</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这里的</a:t>
            </a:r>
            <a:r>
              <a:rPr lang="en-US" altLang="zh-CN" dirty="0"/>
              <a:t>1</a:t>
            </a:r>
            <a:r>
              <a:rPr lang="zh-CN" altLang="en-US" dirty="0"/>
              <a:t>，</a:t>
            </a:r>
            <a:r>
              <a:rPr lang="en-US" altLang="zh-CN" dirty="0"/>
              <a:t>2</a:t>
            </a:r>
            <a:r>
              <a:rPr lang="zh-CN" altLang="en-US" dirty="0"/>
              <a:t>，</a:t>
            </a:r>
            <a:r>
              <a:rPr lang="en-US" altLang="zh-CN" dirty="0"/>
              <a:t>3</a:t>
            </a:r>
            <a:r>
              <a:rPr lang="zh-CN" altLang="en-US" dirty="0"/>
              <a:t>是什么？遍历的顺序</a:t>
            </a:r>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可以对照</a:t>
            </a:r>
            <a:r>
              <a:rPr lang="en-US" altLang="zh-CN" dirty="0" err="1"/>
              <a:t>assignbook</a:t>
            </a:r>
            <a:r>
              <a:rPr lang="zh-CN" altLang="en-US" dirty="0"/>
              <a:t>去写这个代码</a:t>
            </a:r>
            <a:endParaRPr lang="en-US" altLang="zh-CN" dirty="0"/>
          </a:p>
          <a:p>
            <a:r>
              <a:rPr lang="zh-CN" altLang="en-US" dirty="0"/>
              <a:t>画个坐标轴</a:t>
            </a:r>
            <a:endParaRPr lang="en-US" altLang="zh-CN" dirty="0"/>
          </a:p>
          <a:p>
            <a:r>
              <a:rPr lang="en-US" altLang="zh-CN" dirty="0"/>
              <a:t>Y = x + a</a:t>
            </a:r>
            <a:endParaRPr lang="en-US" altLang="zh-CN" dirty="0"/>
          </a:p>
          <a:p>
            <a:r>
              <a:rPr lang="en-US" altLang="zh-CN" dirty="0"/>
              <a:t>Y = -x + a</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321</a:t>
            </a:r>
            <a:endParaRPr lang="en-US" altLang="zh-CN" dirty="0"/>
          </a:p>
          <a:p>
            <a:r>
              <a:rPr lang="en-US" altLang="zh-CN" dirty="0"/>
              <a:t>312</a:t>
            </a:r>
            <a:endParaRPr lang="en-US" altLang="zh-CN" dirty="0"/>
          </a:p>
          <a:p>
            <a:r>
              <a:rPr lang="zh-CN" altLang="en-US" dirty="0"/>
              <a:t>这两个反了</a:t>
            </a:r>
            <a:endParaRPr lang="zh-CN" altLang="en-US" dirty="0"/>
          </a:p>
        </p:txBody>
      </p:sp>
      <p:sp>
        <p:nvSpPr>
          <p:cNvPr id="4" name="Slide Number Placeholder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11" name="椭圆 10"/>
          <p:cNvSpPr/>
          <p:nvPr/>
        </p:nvSpPr>
        <p:spPr>
          <a:xfrm>
            <a:off x="8177483" y="5910463"/>
            <a:ext cx="504000" cy="50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椭圆 11"/>
          <p:cNvSpPr/>
          <p:nvPr/>
        </p:nvSpPr>
        <p:spPr>
          <a:xfrm>
            <a:off x="7414927" y="813765"/>
            <a:ext cx="742237" cy="742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lumMod val="50000"/>
                </a:schemeClr>
              </a:solidFill>
            </a:endParaRPr>
          </a:p>
        </p:txBody>
      </p:sp>
      <p:sp>
        <p:nvSpPr>
          <p:cNvPr id="10" name="椭圆 9"/>
          <p:cNvSpPr/>
          <p:nvPr/>
        </p:nvSpPr>
        <p:spPr>
          <a:xfrm>
            <a:off x="-2459620" y="610564"/>
            <a:ext cx="5400000" cy="5400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Subtitle 2"/>
          <p:cNvSpPr>
            <a:spLocks noGrp="1"/>
          </p:cNvSpPr>
          <p:nvPr>
            <p:ph type="subTitle" idx="1"/>
          </p:nvPr>
        </p:nvSpPr>
        <p:spPr>
          <a:xfrm>
            <a:off x="1268874" y="3811522"/>
            <a:ext cx="5429250" cy="1655762"/>
          </a:xfrm>
        </p:spPr>
        <p:txBody>
          <a:bodyPr/>
          <a:lstStyle>
            <a:lvl1pPr marL="0" indent="0" algn="l">
              <a:buNone/>
              <a:defRPr sz="2400" baseline="0">
                <a:latin typeface="Calibri" panose="020F0502020204030204" pitchFamily="34" charset="0"/>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2" name="Title 1"/>
          <p:cNvSpPr>
            <a:spLocks noGrp="1"/>
          </p:cNvSpPr>
          <p:nvPr>
            <p:ph type="ctrTitle"/>
          </p:nvPr>
        </p:nvSpPr>
        <p:spPr>
          <a:xfrm>
            <a:off x="1268875" y="2063685"/>
            <a:ext cx="6606253" cy="1655763"/>
          </a:xfrm>
        </p:spPr>
        <p:txBody>
          <a:bodyPr anchor="b">
            <a:normAutofit/>
          </a:bodyPr>
          <a:lstStyle>
            <a:lvl1pPr algn="l">
              <a:defRPr sz="5400" b="1"/>
            </a:lvl1pPr>
          </a:lstStyle>
          <a:p>
            <a:r>
              <a:rPr lang="zh-CN" altLang="en-US" dirty="0"/>
              <a:t>单击此处编辑母版标题样式</a:t>
            </a:r>
            <a:endParaRPr lang="en-US" dirty="0"/>
          </a:p>
        </p:txBody>
      </p:sp>
      <p:sp>
        <p:nvSpPr>
          <p:cNvPr id="4" name="弧形 3"/>
          <p:cNvSpPr/>
          <p:nvPr userDrawn="1"/>
        </p:nvSpPr>
        <p:spPr>
          <a:xfrm>
            <a:off x="-1790184" y="-1709103"/>
            <a:ext cx="3960000" cy="3883419"/>
          </a:xfrm>
          <a:prstGeom prst="arc">
            <a:avLst>
              <a:gd name="adj1" fmla="val 21064148"/>
              <a:gd name="adj2" fmla="val 5986293"/>
            </a:avLst>
          </a:prstGeom>
          <a:noFill/>
          <a:ln w="635000">
            <a:solidFill>
              <a:srgbClr val="FFC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节标题">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562471" y="2155124"/>
            <a:ext cx="6711517" cy="1655763"/>
          </a:xfrm>
        </p:spPr>
        <p:txBody>
          <a:bodyPr anchor="t">
            <a:normAutofit/>
          </a:bodyPr>
          <a:lstStyle>
            <a:lvl1pPr algn="l">
              <a:defRPr sz="5400" b="1"/>
            </a:lvl1pPr>
          </a:lstStyle>
          <a:p>
            <a:r>
              <a:rPr lang="zh-CN" altLang="en-US"/>
              <a:t>单击此处编辑母版标题样式</a:t>
            </a:r>
            <a:endParaRPr lang="en-US" dirty="0"/>
          </a:p>
        </p:txBody>
      </p:sp>
      <p:sp>
        <p:nvSpPr>
          <p:cNvPr id="9" name="圆: 空心 8"/>
          <p:cNvSpPr/>
          <p:nvPr/>
        </p:nvSpPr>
        <p:spPr>
          <a:xfrm>
            <a:off x="685564" y="2155124"/>
            <a:ext cx="544750" cy="558709"/>
          </a:xfrm>
          <a:prstGeom prst="donut">
            <a:avLst>
              <a:gd name="adj" fmla="val 34760"/>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2" name="Title 1"/>
          <p:cNvSpPr>
            <a:spLocks noGrp="1"/>
          </p:cNvSpPr>
          <p:nvPr>
            <p:ph type="title"/>
          </p:nvPr>
        </p:nvSpPr>
        <p:spPr>
          <a:xfrm>
            <a:off x="559293" y="431999"/>
            <a:ext cx="8152708" cy="935161"/>
          </a:xfrm>
        </p:spPr>
        <p:txBody>
          <a:bodyPr anchor="b"/>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559292" y="1615736"/>
            <a:ext cx="8152707" cy="4710344"/>
          </a:xfrm>
        </p:spPr>
        <p:txBody>
          <a:bodyPr anchor="t">
            <a:normAutofit/>
          </a:bodyPr>
          <a:lstStyle>
            <a:lvl1pPr marL="514350" indent="-514350">
              <a:lnSpc>
                <a:spcPct val="114000"/>
              </a:lnSpc>
              <a:buFont typeface="+mj-lt"/>
              <a:buAutoNum type="arabicPeriod"/>
              <a:defRPr sz="2800">
                <a:solidFill>
                  <a:schemeClr val="tx1">
                    <a:lumMod val="50000"/>
                    <a:lumOff val="50000"/>
                  </a:schemeClr>
                </a:solidFill>
                <a:latin typeface="+mj-ea"/>
                <a:ea typeface="+mj-ea"/>
              </a:defRPr>
            </a:lvl1pPr>
            <a:lvl2pPr marL="782955" indent="-457200">
              <a:buFont typeface="+mj-lt"/>
              <a:buAutoNum type="arabicPeriod"/>
              <a:defRPr>
                <a:solidFill>
                  <a:schemeClr val="tx1">
                    <a:lumMod val="50000"/>
                    <a:lumOff val="50000"/>
                  </a:schemeClr>
                </a:solidFill>
              </a:defRPr>
            </a:lvl2pPr>
            <a:lvl3pPr marL="1369695" indent="-457200">
              <a:buFont typeface="+mj-lt"/>
              <a:buAutoNum type="arabicPeriod"/>
              <a:defRPr>
                <a:solidFill>
                  <a:schemeClr val="tx1">
                    <a:lumMod val="50000"/>
                    <a:lumOff val="50000"/>
                  </a:schemeClr>
                </a:solidFill>
              </a:defRPr>
            </a:lvl3pPr>
            <a:lvl4pPr marL="1714500" indent="-342900">
              <a:buFont typeface="+mj-lt"/>
              <a:buAutoNum type="arabicPeriod"/>
              <a:defRPr>
                <a:solidFill>
                  <a:schemeClr val="tx1">
                    <a:lumMod val="50000"/>
                    <a:lumOff val="50000"/>
                  </a:schemeClr>
                </a:solidFill>
              </a:defRPr>
            </a:lvl4pPr>
            <a:lvl5pPr marL="2171700" indent="-342900">
              <a:buFont typeface="+mj-lt"/>
              <a:buAutoNum type="arabicPeriod"/>
              <a:defRPr>
                <a:solidFill>
                  <a:schemeClr val="tx1">
                    <a:lumMod val="50000"/>
                    <a:lumOff val="50000"/>
                  </a:schemeClr>
                </a:solidFill>
              </a:defRPr>
            </a:lvl5pPr>
          </a:lstStyle>
          <a:p>
            <a:pPr lvl="0"/>
            <a:r>
              <a:rPr lang="zh-CN" altLang="en-US" dirty="0"/>
              <a:t>目录项目</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32000" y="432000"/>
            <a:ext cx="8230387" cy="899650"/>
          </a:xfrm>
        </p:spPr>
        <p:txBody>
          <a:bodyPr anchor="b"/>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432000" y="1535837"/>
            <a:ext cx="8280000" cy="4764163"/>
          </a:xfrm>
        </p:spPr>
        <p:txBody>
          <a:bodyPr/>
          <a:lstStyle>
            <a:lvl1pPr marL="342900" indent="-342900">
              <a:buFont typeface="Wingdings" panose="05000000000000000000" pitchFamily="2" charset="2"/>
              <a:buChar char="§"/>
              <a:defRPr sz="2400"/>
            </a:lvl1pPr>
            <a:lvl2pPr marL="740410" indent="-342900">
              <a:buFont typeface="Wingdings" panose="05000000000000000000" pitchFamily="2" charset="2"/>
              <a:buChar char="§"/>
              <a:defRPr sz="2000"/>
            </a:lvl2pPr>
            <a:lvl3pPr marL="1198245" indent="-285750">
              <a:buFont typeface="Wingdings" panose="05000000000000000000" pitchFamily="2" charset="2"/>
              <a:buChar char="§"/>
              <a:defRPr sz="1800"/>
            </a:lvl3pPr>
            <a:lvl4pPr marL="1657350" indent="-285750">
              <a:buFont typeface="Wingdings" panose="05000000000000000000" pitchFamily="2" charset="2"/>
              <a:buChar char="§"/>
              <a:defRPr sz="1600"/>
            </a:lvl4pPr>
            <a:lvl5pPr marL="2114550" indent="-285750">
              <a:buFont typeface="Wingdings" panose="05000000000000000000" pitchFamily="2" charset="2"/>
              <a:buChar cha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432000" y="1260000"/>
            <a:ext cx="4082850" cy="5040000"/>
          </a:xfrm>
        </p:spPr>
        <p:txBody>
          <a:bodyPr/>
          <a:lstStyle>
            <a:lvl1pPr marL="360045">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629150" y="1260000"/>
            <a:ext cx="4082850" cy="5040000"/>
          </a:xfrm>
        </p:spPr>
        <p:txBody>
          <a:bodyPr/>
          <a:lstStyle>
            <a:lvl1pPr marL="360045">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32000" y="1188000"/>
            <a:ext cx="4066182"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432000" y="2037716"/>
            <a:ext cx="4066182" cy="4388285"/>
          </a:xfrm>
        </p:spPr>
        <p:txBody>
          <a:bodyPr/>
          <a:lstStyle>
            <a:lvl1pPr>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Text Placeholder 4"/>
          <p:cNvSpPr>
            <a:spLocks noGrp="1"/>
          </p:cNvSpPr>
          <p:nvPr>
            <p:ph type="body" sz="quarter" idx="3" hasCustomPrompt="1"/>
          </p:nvPr>
        </p:nvSpPr>
        <p:spPr>
          <a:xfrm>
            <a:off x="4629150" y="1188000"/>
            <a:ext cx="4082850"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4629150" y="2037716"/>
            <a:ext cx="4082850" cy="4388285"/>
          </a:xfrm>
        </p:spPr>
        <p:txBody>
          <a:bodyPr>
            <a:normAutofit/>
          </a:bodyPr>
          <a:lstStyle>
            <a:lvl1pPr>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0" name="Title 1"/>
          <p:cNvSpPr>
            <a:spLocks noGrp="1"/>
          </p:cNvSpPr>
          <p:nvPr>
            <p:ph type="title"/>
          </p:nvPr>
        </p:nvSpPr>
        <p:spPr>
          <a:xfrm>
            <a:off x="432000" y="432000"/>
            <a:ext cx="8280000" cy="683692"/>
          </a:xfrm>
        </p:spPr>
        <p:txBody>
          <a:bodyPr anchor="b"/>
          <a:lstStyle/>
          <a:p>
            <a:r>
              <a:rPr lang="zh-CN" altLang="en-US"/>
              <a:t>单击此处编辑母版标题样式</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dirty="0"/>
              <a:t>单击此处编辑母版标题样式</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5413374"/>
          </a:xfrm>
        </p:spPr>
        <p:txBody>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Text Placeholder 3"/>
          <p:cNvSpPr>
            <a:spLocks noGrp="1"/>
          </p:cNvSpPr>
          <p:nvPr>
            <p:ph type="body" sz="half" idx="2" hasCustomPrompt="1"/>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541337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结束，致谢">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268875" y="2155125"/>
            <a:ext cx="6606253" cy="1655763"/>
          </a:xfrm>
        </p:spPr>
        <p:txBody>
          <a:bodyPr anchor="b">
            <a:normAutofit/>
          </a:bodyPr>
          <a:lstStyle>
            <a:lvl1pPr algn="ctr">
              <a:defRPr sz="4400" b="1"/>
            </a:lvl1pPr>
          </a:lstStyle>
          <a:p>
            <a:r>
              <a:rPr lang="zh-CN" altLang="en-US" dirty="0"/>
              <a:t>单击此处编辑母版标题样式</a:t>
            </a:r>
            <a:endParaRPr lang="en-US" dirty="0"/>
          </a:p>
        </p:txBody>
      </p:sp>
      <p:sp>
        <p:nvSpPr>
          <p:cNvPr id="9" name="圆: 空心 8"/>
          <p:cNvSpPr/>
          <p:nvPr/>
        </p:nvSpPr>
        <p:spPr>
          <a:xfrm>
            <a:off x="8088487" y="5873868"/>
            <a:ext cx="720000" cy="720000"/>
          </a:xfrm>
          <a:prstGeom prst="donut">
            <a:avLst>
              <a:gd name="adj" fmla="val 24158"/>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32000" y="432000"/>
            <a:ext cx="7969050" cy="457000"/>
          </a:xfrm>
        </p:spPr>
        <p:txBody>
          <a:bodyPr>
            <a:normAutofit/>
          </a:bodyPr>
          <a:lstStyle>
            <a:lvl1pPr>
              <a:defRPr sz="2400"/>
            </a:lvl1pPr>
          </a:lstStyle>
          <a:p>
            <a:r>
              <a:rPr lang="zh-CN" altLang="en-US" dirty="0"/>
              <a:t>单击此处编辑母版标题样式</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800"/>
            </a:lvl1pPr>
            <a:lvl2pPr>
              <a:defRPr sz="2400"/>
            </a:lvl2pPr>
            <a:lvl3pPr>
              <a:defRPr sz="2000"/>
            </a:lvl3pPr>
            <a:lvl4pPr>
              <a:defRPr sz="1600"/>
            </a:lvl4pPr>
            <a:lvl5pPr>
              <a:defRPr sz="1600"/>
            </a:lvl5p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dirty="0"/>
          </a:p>
        </p:txBody>
      </p:sp>
      <p:sp>
        <p:nvSpPr>
          <p:cNvPr id="7" name="标题 6"/>
          <p:cNvSpPr>
            <a:spLocks noGrp="1"/>
          </p:cNvSpPr>
          <p:nvPr>
            <p:ph type="title"/>
          </p:nvPr>
        </p:nvSpPr>
        <p:spPr/>
        <p:txBody>
          <a:bodyPr>
            <a:normAutofit/>
          </a:bodyPr>
          <a:lstStyle>
            <a:lvl1pPr>
              <a:defRPr sz="4000"/>
            </a:lvl1pPr>
          </a:lstStyle>
          <a:p>
            <a:r>
              <a:rPr lang="zh-CN" altLang="en-US" dirty="0"/>
              <a:t>单击此处编辑母版标题样式</a:t>
            </a:r>
            <a:endParaRPr lang="en-US" dirty="0"/>
          </a:p>
        </p:txBody>
      </p:sp>
      <p:sp>
        <p:nvSpPr>
          <p:cNvPr id="8" name="日期占位符 7"/>
          <p:cNvSpPr>
            <a:spLocks noGrp="1"/>
          </p:cNvSpPr>
          <p:nvPr>
            <p:ph type="dt" sz="half" idx="10"/>
          </p:nvPr>
        </p:nvSpPr>
        <p:spPr/>
        <p:txBody>
          <a:bodyPr/>
          <a:lstStyle/>
          <a:p>
            <a:pPr>
              <a:defRPr/>
            </a:pPr>
            <a:endParaRPr lang="zh-CN" altLang="en-US"/>
          </a:p>
        </p:txBody>
      </p:sp>
      <p:sp>
        <p:nvSpPr>
          <p:cNvPr id="9" name="页脚占位符 8"/>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pPr>
              <a:defRPr/>
            </a:pPr>
            <a:fld id="{1AE995F9-82BC-4AFC-8E20-89426A466BF1}" type="slidenum">
              <a:rPr lang="zh-CN" altLang="en-US" smtClean="0"/>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US"/>
          </a:p>
        </p:txBody>
      </p:sp>
      <p:sp>
        <p:nvSpPr>
          <p:cNvPr id="3" name="SmartArt Placeholder 2"/>
          <p:cNvSpPr>
            <a:spLocks noGrp="1"/>
          </p:cNvSpPr>
          <p:nvPr>
            <p:ph type="dgm" idx="1"/>
          </p:nvPr>
        </p:nvSpPr>
        <p:spPr>
          <a:xfrm>
            <a:off x="457200" y="1600200"/>
            <a:ext cx="8229600" cy="4525963"/>
          </a:xfrm>
        </p:spPr>
        <p:txBody>
          <a:bodyPr/>
          <a:lstStyle/>
          <a:p>
            <a:pPr lvl="0"/>
            <a:endParaRPr lang="en-US" noProof="0"/>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fld id="{9CBF01F0-5869-42E2-A8FD-A9376291A2A2}" type="slidenum">
              <a:rPr lang="en-US" altLang="zh-CN"/>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457200" y="6251575"/>
            <a:ext cx="2133600" cy="476250"/>
          </a:xfrm>
        </p:spPr>
        <p:txBody>
          <a:bodyPr/>
          <a:lstStyle>
            <a:lvl1pPr>
              <a:defRPr/>
            </a:lvl1pPr>
          </a:lstStyle>
          <a:p>
            <a:endParaRPr lang="en-US" altLang="zh-CN"/>
          </a:p>
        </p:txBody>
      </p:sp>
      <p:sp>
        <p:nvSpPr>
          <p:cNvPr id="4" name="Slide Number Placeholder 3"/>
          <p:cNvSpPr>
            <a:spLocks noGrp="1"/>
          </p:cNvSpPr>
          <p:nvPr>
            <p:ph type="sldNum" sz="quarter" idx="11"/>
          </p:nvPr>
        </p:nvSpPr>
        <p:spPr>
          <a:xfrm>
            <a:off x="6553200" y="6248400"/>
            <a:ext cx="2133600" cy="476250"/>
          </a:xfrm>
        </p:spPr>
        <p:txBody>
          <a:bodyPr/>
          <a:lstStyle>
            <a:lvl1pPr>
              <a:defRPr/>
            </a:lvl1pPr>
          </a:lstStyle>
          <a:p>
            <a:fld id="{2C3C198E-E57D-4B2A-95E3-85F2315DF394}" type="slidenum">
              <a:rPr lang="en-US" altLang="zh-CN"/>
            </a:fld>
            <a:endParaRPr lang="en-US" altLang="zh-CN"/>
          </a:p>
        </p:txBody>
      </p:sp>
      <p:sp>
        <p:nvSpPr>
          <p:cNvPr id="5" name="Footer Placeholder 4"/>
          <p:cNvSpPr>
            <a:spLocks noGrp="1"/>
          </p:cNvSpPr>
          <p:nvPr>
            <p:ph type="ftr" sz="quarter" idx="12"/>
          </p:nvPr>
        </p:nvSpPr>
        <p:spPr>
          <a:xfrm>
            <a:off x="3124200" y="6248400"/>
            <a:ext cx="2895600" cy="476250"/>
          </a:xfrm>
        </p:spPr>
        <p:txBody>
          <a:bodyPr/>
          <a:lstStyle>
            <a:lvl1pPr>
              <a:defRPr/>
            </a:lvl1pPr>
          </a:lstStyle>
          <a:p>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showMasterSp="0">
  <p:cSld name="Blank">
    <p:spTree>
      <p:nvGrpSpPr>
        <p:cNvPr id="1" name=""/>
        <p:cNvGrpSpPr/>
        <p:nvPr/>
      </p:nvGrpSpPr>
      <p:grpSpPr>
        <a:xfrm>
          <a:off x="0" y="0"/>
          <a:ext cx="0" cy="0"/>
          <a:chOff x="0" y="0"/>
          <a:chExt cx="0" cy="0"/>
        </a:xfrm>
      </p:grpSpPr>
      <p:sp>
        <p:nvSpPr>
          <p:cNvPr id="2" name="Rectangle 12"/>
          <p:cNvSpPr/>
          <p:nvPr/>
        </p:nvSpPr>
        <p:spPr>
          <a:xfrm>
            <a:off x="1014414"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 name="Rectangle 13"/>
          <p:cNvSpPr>
            <a:spLocks noChangeArrowheads="1"/>
          </p:cNvSpPr>
          <p:nvPr/>
        </p:nvSpPr>
        <p:spPr bwMode="invGray">
          <a:xfrm>
            <a:off x="1014414" y="0"/>
            <a:ext cx="73025" cy="6858000"/>
          </a:xfrm>
          <a:prstGeom prst="rect">
            <a:avLst/>
          </a:prstGeom>
          <a:solidFill>
            <a:schemeClr val="bg1"/>
          </a:solidFill>
          <a:ln>
            <a:noFill/>
          </a:ln>
          <a:effectLst>
            <a:outerShdw blurRad="63500" dist="38000" dir="10800000" algn="tl" rotWithShape="0">
              <a:srgbClr val="73726C">
                <a:alpha val="2500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eaLnBrk="1" fontAlgn="auto" hangingPunct="1">
              <a:spcBef>
                <a:spcPts val="0"/>
              </a:spcBef>
              <a:spcAft>
                <a:spcPts val="0"/>
              </a:spcAft>
              <a:defRPr/>
            </a:pPr>
            <a:endParaRPr lang="en-US" sz="1350">
              <a:solidFill>
                <a:schemeClr val="lt1"/>
              </a:solidFill>
              <a:latin typeface="+mn-lt"/>
              <a:ea typeface="+mn-ea"/>
            </a:endParaRPr>
          </a:p>
        </p:txBody>
      </p:sp>
      <p:sp>
        <p:nvSpPr>
          <p:cNvPr id="4" name="Date Placeholder 1"/>
          <p:cNvSpPr>
            <a:spLocks noGrp="1"/>
          </p:cNvSpPr>
          <p:nvPr>
            <p:ph type="dt" sz="half" idx="10"/>
          </p:nvPr>
        </p:nvSpPr>
        <p:spPr/>
        <p:txBody>
          <a:bodyPr/>
          <a:lstStyle>
            <a:lvl1pPr>
              <a:defRPr/>
            </a:lvl1pPr>
          </a:lstStyle>
          <a:p>
            <a:pPr>
              <a:defRPr/>
            </a:pPr>
            <a:fld id="{6FFE84CC-6310-4C80-9154-19F585E2599D}" type="datetime5">
              <a:rPr lang="en-US" altLang="zh-CN" smtClean="0"/>
            </a:fld>
            <a:endParaRPr lang="zh-CN" altLang="en-US"/>
          </a:p>
        </p:txBody>
      </p:sp>
      <p:sp>
        <p:nvSpPr>
          <p:cNvPr id="5" name="Footer Placeholder 2"/>
          <p:cNvSpPr>
            <a:spLocks noGrp="1"/>
          </p:cNvSpPr>
          <p:nvPr>
            <p:ph type="ftr" sz="quarter" idx="11"/>
          </p:nvPr>
        </p:nvSpPr>
        <p:spPr/>
        <p:txBody>
          <a:bodyPr/>
          <a:lstStyle>
            <a:lvl1pPr>
              <a:defRPr/>
            </a:lvl1pPr>
          </a:lstStyle>
          <a:p>
            <a:endParaRPr lang="zh-CN" altLang="en-US"/>
          </a:p>
        </p:txBody>
      </p:sp>
      <p:sp>
        <p:nvSpPr>
          <p:cNvPr id="6" name="Slide Number Placeholder 3"/>
          <p:cNvSpPr>
            <a:spLocks noGrp="1"/>
          </p:cNvSpPr>
          <p:nvPr>
            <p:ph type="sldNum" sz="quarter" idx="12"/>
          </p:nvPr>
        </p:nvSpPr>
        <p:spPr/>
        <p:txBody>
          <a:bodyPr/>
          <a:lstStyle>
            <a:lvl1pPr>
              <a:defRPr/>
            </a:lvl1pPr>
          </a:lstStyle>
          <a:p>
            <a:pPr>
              <a:defRPr/>
            </a:pPr>
            <a:fld id="{6322C4C4-4215-4352-B597-B2750E65EFF0}" type="slidenum">
              <a:rPr lang="zh-CN" altLang="en-US"/>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emf"/><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000" y="432000"/>
            <a:ext cx="8280000" cy="886662"/>
          </a:xfrm>
          <a:prstGeom prst="rect">
            <a:avLst/>
          </a:prstGeom>
        </p:spPr>
        <p:txBody>
          <a:bodyPr vert="horz" lIns="91440" tIns="45720" rIns="91440" bIns="45720" rtlCol="0" anchor="t">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432000" y="1447062"/>
            <a:ext cx="8280000" cy="470516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360045" indent="-360045" algn="l" defTabSz="914400" rtl="0" eaLnBrk="1" latinLnBrk="0" hangingPunct="1">
        <a:lnSpc>
          <a:spcPct val="100000"/>
        </a:lnSpc>
        <a:spcBef>
          <a:spcPts val="1000"/>
        </a:spcBef>
        <a:buClr>
          <a:schemeClr val="accent4"/>
        </a:buClr>
        <a:buFontTx/>
        <a:buBlip>
          <a:blip r:embed="rId16"/>
        </a:buBlip>
        <a:defRPr sz="2800" kern="1200">
          <a:solidFill>
            <a:schemeClr val="tx1"/>
          </a:solidFill>
          <a:latin typeface="+mj-ea"/>
          <a:ea typeface="+mj-ea"/>
          <a:cs typeface="+mn-cs"/>
        </a:defRPr>
      </a:lvl1pPr>
      <a:lvl2pPr marL="685800" indent="-288290" algn="l" defTabSz="914400" rtl="0" eaLnBrk="1" latinLnBrk="0" hangingPunct="1">
        <a:lnSpc>
          <a:spcPct val="100000"/>
        </a:lnSpc>
        <a:spcBef>
          <a:spcPts val="500"/>
        </a:spcBef>
        <a:buClr>
          <a:schemeClr val="accent4"/>
        </a:buClr>
        <a:buFontTx/>
        <a:buBlip>
          <a:blip r:embed="rId16"/>
        </a:buBlip>
        <a:defRPr sz="2400" kern="1200">
          <a:solidFill>
            <a:schemeClr val="tx1"/>
          </a:solidFill>
          <a:latin typeface="+mn-lt"/>
          <a:ea typeface="+mn-ea"/>
          <a:cs typeface="+mn-cs"/>
        </a:defRPr>
      </a:lvl2pPr>
      <a:lvl3pPr marL="1143000" indent="-230505" algn="l" defTabSz="914400" rtl="0" eaLnBrk="1" latinLnBrk="0" hangingPunct="1">
        <a:lnSpc>
          <a:spcPct val="100000"/>
        </a:lnSpc>
        <a:spcBef>
          <a:spcPts val="500"/>
        </a:spcBef>
        <a:buClr>
          <a:schemeClr val="accent4"/>
        </a:buClr>
        <a:buSzPct val="100000"/>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2.xml"/><Relationship Id="rId4" Type="http://schemas.openxmlformats.org/officeDocument/2006/relationships/image" Target="../media/image8.wmf"/><Relationship Id="rId3" Type="http://schemas.openxmlformats.org/officeDocument/2006/relationships/oleObject" Target="../embeddings/oleObject3.bin"/><Relationship Id="rId2" Type="http://schemas.openxmlformats.org/officeDocument/2006/relationships/image" Target="../media/image7.wmf"/><Relationship Id="rId1"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9.wmf"/><Relationship Id="rId1"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3.xml"/><Relationship Id="rId2" Type="http://schemas.openxmlformats.org/officeDocument/2006/relationships/image" Target="../media/image10.wmf"/><Relationship Id="rId1"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4.xml"/><Relationship Id="rId2" Type="http://schemas.openxmlformats.org/officeDocument/2006/relationships/image" Target="../media/image11.wmf"/><Relationship Id="rId1"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2.xml"/><Relationship Id="rId2" Type="http://schemas.openxmlformats.org/officeDocument/2006/relationships/image" Target="../media/image12.wmf"/><Relationship Id="rId1" Type="http://schemas.openxmlformats.org/officeDocument/2006/relationships/oleObject" Target="../embeddings/oleObject7.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14.xml"/><Relationship Id="rId2" Type="http://schemas.openxmlformats.org/officeDocument/2006/relationships/image" Target="../media/image13.wmf"/><Relationship Id="rId1" Type="http://schemas.openxmlformats.org/officeDocument/2006/relationships/oleObject" Target="../embeddings/oleObject8.bin"/></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15.png"/><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19.png"/><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image" Target="../media/image21.jpeg"/><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9.png"/><Relationship Id="rId1"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0.png"/><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1.png"/><Relationship Id="rId1" Type="http://schemas.openxmlformats.org/officeDocument/2006/relationships/image" Target="../media/image28.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2.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slide" Target="slide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34.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image" Target="../media/image40.png"/><Relationship Id="rId1" Type="http://schemas.openxmlformats.org/officeDocument/2006/relationships/image" Target="../media/image39.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1194229" y="1556237"/>
            <a:ext cx="7875127" cy="2181107"/>
          </a:xfrm>
        </p:spPr>
        <p:txBody>
          <a:bodyPr>
            <a:normAutofit/>
          </a:bodyPr>
          <a:lstStyle/>
          <a:p>
            <a:r>
              <a:rPr lang="en-US" altLang="zh-CN" sz="4800" dirty="0"/>
              <a:t>18.</a:t>
            </a:r>
            <a:r>
              <a:rPr lang="zh-CN" altLang="en-US" sz="4800" dirty="0"/>
              <a:t> 递归</a:t>
            </a:r>
            <a:r>
              <a:rPr lang="en-US" altLang="zh-CN" sz="4800" dirty="0"/>
              <a:t>	</a:t>
            </a:r>
            <a:br>
              <a:rPr lang="en-US" altLang="zh-CN" sz="4800" dirty="0"/>
            </a:br>
            <a:r>
              <a:rPr lang="en-US" altLang="zh-CN" sz="4800" dirty="0"/>
              <a:t>			—— </a:t>
            </a:r>
            <a:r>
              <a:rPr lang="zh-CN" altLang="en-US" sz="4800" dirty="0"/>
              <a:t>搜索</a:t>
            </a:r>
            <a:r>
              <a:rPr lang="en-US" altLang="zh-CN" sz="4800" dirty="0"/>
              <a:t>	</a:t>
            </a:r>
            <a:endParaRPr lang="en-US" sz="4800" dirty="0"/>
          </a:p>
        </p:txBody>
      </p:sp>
      <p:sp>
        <p:nvSpPr>
          <p:cNvPr id="6" name="副标题 5"/>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递归算法举例</a:t>
            </a:r>
            <a:endParaRPr lang="en-US" dirty="0"/>
          </a:p>
        </p:txBody>
      </p:sp>
      <p:sp>
        <p:nvSpPr>
          <p:cNvPr id="4" name="内容占位符 3"/>
          <p:cNvSpPr>
            <a:spLocks noGrp="1"/>
          </p:cNvSpPr>
          <p:nvPr>
            <p:ph idx="1"/>
          </p:nvPr>
        </p:nvSpPr>
        <p:spPr/>
        <p:txBody>
          <a:bodyPr>
            <a:normAutofit/>
          </a:bodyPr>
          <a:lstStyle/>
          <a:p>
            <a:r>
              <a:rPr lang="zh-CN" altLang="en-US" dirty="0"/>
              <a:t>分治问题</a:t>
            </a:r>
            <a:endParaRPr lang="en-US" altLang="zh-CN" dirty="0"/>
          </a:p>
          <a:p>
            <a:pPr lvl="1"/>
            <a:r>
              <a:rPr lang="zh-CN" altLang="en-US" dirty="0"/>
              <a:t>二分查找</a:t>
            </a:r>
            <a:endParaRPr lang="en-US" altLang="zh-CN" dirty="0"/>
          </a:p>
          <a:p>
            <a:pPr lvl="1"/>
            <a:r>
              <a:rPr lang="zh-CN" altLang="en-US" dirty="0"/>
              <a:t>归并排序</a:t>
            </a:r>
            <a:endParaRPr lang="en-US" altLang="zh-CN" dirty="0"/>
          </a:p>
          <a:p>
            <a:pPr lvl="1"/>
            <a:r>
              <a:rPr lang="zh-CN" altLang="en-US" dirty="0"/>
              <a:t>快速排序</a:t>
            </a:r>
            <a:endParaRPr lang="en-US" altLang="zh-CN" dirty="0"/>
          </a:p>
          <a:p>
            <a:pPr lvl="1"/>
            <a:endParaRPr lang="en-US" altLang="zh-CN" dirty="0"/>
          </a:p>
          <a:p>
            <a:r>
              <a:rPr lang="zh-CN" altLang="en-US" dirty="0"/>
              <a:t>搜索问题</a:t>
            </a:r>
            <a:endParaRPr lang="en-US" altLang="zh-CN" dirty="0"/>
          </a:p>
          <a:p>
            <a:pPr lvl="1"/>
            <a:r>
              <a:rPr lang="zh-CN" altLang="en-US" dirty="0"/>
              <a:t>分书问题</a:t>
            </a:r>
            <a:endParaRPr lang="en-US" altLang="zh-CN" dirty="0"/>
          </a:p>
          <a:p>
            <a:pPr lvl="2"/>
            <a:r>
              <a:rPr lang="zh-CN" altLang="en-US" dirty="0"/>
              <a:t>递归分析工具</a:t>
            </a:r>
            <a:r>
              <a:rPr lang="en-US" altLang="zh-CN" dirty="0"/>
              <a:t>——</a:t>
            </a:r>
            <a:r>
              <a:rPr lang="zh-CN" altLang="en-US" dirty="0"/>
              <a:t>与或图</a:t>
            </a:r>
            <a:endParaRPr lang="zh-CN" altLang="en-US" dirty="0"/>
          </a:p>
          <a:p>
            <a:pPr lvl="1"/>
            <a:r>
              <a:rPr lang="zh-CN" altLang="en-US" dirty="0"/>
              <a:t>八皇后问题</a:t>
            </a:r>
            <a:endParaRPr lang="en-US" altLang="zh-CN" dirty="0"/>
          </a:p>
          <a:p>
            <a:pPr lvl="1"/>
            <a:r>
              <a:rPr lang="zh-CN" altLang="en-US" dirty="0"/>
              <a:t>全排列问题</a:t>
            </a:r>
            <a:endParaRPr lang="en-US" altLang="zh-CN" dirty="0"/>
          </a:p>
          <a:p>
            <a:pPr marL="397510" lvl="1"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zh-CN" altLang="en-US" dirty="0"/>
              <a:t>枚举法局限举例</a:t>
            </a:r>
            <a:r>
              <a:rPr lang="en-US" altLang="zh-CN" dirty="0"/>
              <a:t>1</a:t>
            </a:r>
            <a:r>
              <a:rPr lang="zh-CN" altLang="en-US" dirty="0">
                <a:latin typeface="Arial" panose="020B0604020202020204" pitchFamily="34" charset="0"/>
              </a:rPr>
              <a:t>：</a:t>
            </a:r>
            <a:r>
              <a:rPr lang="zh-CN" altLang="en-US" sz="4400" dirty="0"/>
              <a:t>找出作案人</a:t>
            </a:r>
            <a:endParaRPr lang="en-US" dirty="0"/>
          </a:p>
        </p:txBody>
      </p:sp>
      <p:sp>
        <p:nvSpPr>
          <p:cNvPr id="36866" name="Content Placeholder 2"/>
          <p:cNvSpPr>
            <a:spLocks noGrp="1"/>
          </p:cNvSpPr>
          <p:nvPr>
            <p:ph idx="1"/>
          </p:nvPr>
        </p:nvSpPr>
        <p:spPr/>
        <p:txBody>
          <a:bodyPr/>
          <a:lstStyle/>
          <a:p>
            <a:r>
              <a:rPr lang="zh-CN" altLang="en-US" dirty="0"/>
              <a:t>某地刑侦队对涉及六个嫌疑人的一桩疑案进行案情分析：</a:t>
            </a:r>
            <a:endParaRPr lang="en-US" altLang="zh-CN" dirty="0"/>
          </a:p>
          <a:p>
            <a:pPr lvl="1"/>
            <a:r>
              <a:rPr lang="en-US" altLang="zh-CN" dirty="0"/>
              <a:t>A</a:t>
            </a:r>
            <a:r>
              <a:rPr lang="zh-CN" altLang="en-US" dirty="0"/>
              <a:t>、</a:t>
            </a:r>
            <a:r>
              <a:rPr lang="en-US" altLang="zh-CN" dirty="0"/>
              <a:t>B</a:t>
            </a:r>
            <a:r>
              <a:rPr lang="zh-CN" altLang="en-US" dirty="0"/>
              <a:t>至少有一人作案；</a:t>
            </a:r>
            <a:endParaRPr lang="en-US" altLang="zh-CN" dirty="0"/>
          </a:p>
          <a:p>
            <a:pPr lvl="1"/>
            <a:r>
              <a:rPr lang="en-US" altLang="zh-CN" dirty="0"/>
              <a:t>A</a:t>
            </a:r>
            <a:r>
              <a:rPr lang="zh-CN" altLang="en-US" dirty="0"/>
              <a:t>、</a:t>
            </a:r>
            <a:r>
              <a:rPr lang="en-US" altLang="zh-CN" dirty="0"/>
              <a:t>D </a:t>
            </a:r>
            <a:r>
              <a:rPr lang="zh-CN" altLang="en-US" dirty="0"/>
              <a:t>不可能同时犯案；</a:t>
            </a:r>
            <a:endParaRPr lang="en-US" altLang="zh-CN" dirty="0"/>
          </a:p>
          <a:p>
            <a:pPr lvl="1"/>
            <a:r>
              <a:rPr lang="en-US" altLang="zh-CN" dirty="0"/>
              <a:t>A</a:t>
            </a:r>
            <a:r>
              <a:rPr lang="zh-CN" altLang="en-US" dirty="0"/>
              <a:t>、</a:t>
            </a:r>
            <a:r>
              <a:rPr lang="en-US" altLang="zh-CN" dirty="0"/>
              <a:t>E</a:t>
            </a:r>
            <a:r>
              <a:rPr lang="zh-CN" altLang="en-US" dirty="0"/>
              <a:t>、</a:t>
            </a:r>
            <a:r>
              <a:rPr lang="en-US" altLang="zh-CN" dirty="0"/>
              <a:t>F</a:t>
            </a:r>
            <a:r>
              <a:rPr lang="zh-CN" altLang="en-US" dirty="0"/>
              <a:t>三人中至少有两人参与作案；</a:t>
            </a:r>
            <a:endParaRPr lang="en-US" altLang="zh-CN" dirty="0"/>
          </a:p>
          <a:p>
            <a:pPr lvl="1"/>
            <a:r>
              <a:rPr lang="en-US" altLang="zh-CN" dirty="0"/>
              <a:t>B</a:t>
            </a:r>
            <a:r>
              <a:rPr lang="zh-CN" altLang="en-US" dirty="0"/>
              <a:t>、</a:t>
            </a:r>
            <a:r>
              <a:rPr lang="en-US" altLang="zh-CN" dirty="0"/>
              <a:t>C</a:t>
            </a:r>
            <a:r>
              <a:rPr lang="zh-CN" altLang="en-US" dirty="0"/>
              <a:t>或同时作案</a:t>
            </a:r>
            <a:r>
              <a:rPr lang="en-US" altLang="zh-CN" dirty="0"/>
              <a:t>,</a:t>
            </a:r>
            <a:r>
              <a:rPr lang="zh-CN" altLang="en-US" dirty="0"/>
              <a:t>或与本案无关；</a:t>
            </a:r>
            <a:endParaRPr lang="en-US" altLang="zh-CN" dirty="0"/>
          </a:p>
          <a:p>
            <a:pPr lvl="1"/>
            <a:r>
              <a:rPr lang="en-US" altLang="zh-CN" dirty="0"/>
              <a:t>C</a:t>
            </a:r>
            <a:r>
              <a:rPr lang="zh-CN" altLang="en-US" dirty="0"/>
              <a:t>、</a:t>
            </a:r>
            <a:r>
              <a:rPr lang="en-US" altLang="zh-CN" dirty="0"/>
              <a:t>D </a:t>
            </a:r>
            <a:r>
              <a:rPr lang="zh-CN" altLang="en-US" dirty="0"/>
              <a:t>中有且仅有一人作案；</a:t>
            </a:r>
            <a:endParaRPr lang="en-US" altLang="zh-CN" dirty="0"/>
          </a:p>
          <a:p>
            <a:pPr lvl="1"/>
            <a:r>
              <a:rPr lang="zh-CN" altLang="en-US" dirty="0"/>
              <a:t>若 </a:t>
            </a:r>
            <a:r>
              <a:rPr lang="en-US" altLang="zh-CN" dirty="0"/>
              <a:t>D </a:t>
            </a:r>
            <a:r>
              <a:rPr lang="zh-CN" altLang="en-US" dirty="0"/>
              <a:t>没参与，则 </a:t>
            </a:r>
            <a:r>
              <a:rPr lang="en-US" altLang="zh-CN" dirty="0"/>
              <a:t>E </a:t>
            </a:r>
            <a:r>
              <a:rPr lang="zh-CN" altLang="en-US" dirty="0"/>
              <a:t>也不可能参与。</a:t>
            </a:r>
            <a:endParaRPr lang="en-US" altLang="zh-CN" dirty="0"/>
          </a:p>
          <a:p>
            <a:r>
              <a:rPr lang="zh-CN" altLang="en-US" dirty="0"/>
              <a:t>试编写程序将作案人找出来。</a:t>
            </a:r>
            <a:endParaRPr lang="en-US" altLang="en-US" dirty="0">
              <a:ea typeface="华文中宋" panose="02010600040101010101" pitchFamily="2" charset="-122"/>
            </a:endParaRPr>
          </a:p>
        </p:txBody>
      </p:sp>
      <p:pic>
        <p:nvPicPr>
          <p:cNvPr id="6" name="Picture 5"/>
          <p:cNvPicPr>
            <a:picLocks noChangeAspect="1"/>
          </p:cNvPicPr>
          <p:nvPr/>
        </p:nvPicPr>
        <p:blipFill rotWithShape="1">
          <a:blip r:embed="rId1">
            <a:extLst>
              <a:ext uri="{28A0092B-C50C-407E-A947-70E740481C1C}">
                <a14:useLocalDpi xmlns:a14="http://schemas.microsoft.com/office/drawing/2010/main" val="0"/>
              </a:ext>
            </a:extLst>
          </a:blip>
          <a:srcRect l="28387" t="22979" r="25896"/>
          <a:stretch>
            <a:fillRect/>
          </a:stretch>
        </p:blipFill>
        <p:spPr bwMode="auto">
          <a:xfrm>
            <a:off x="7596188" y="5101388"/>
            <a:ext cx="1296987" cy="1135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代码实现</a:t>
            </a:r>
            <a:endParaRPr lang="en-US" dirty="0"/>
          </a:p>
        </p:txBody>
      </p:sp>
      <p:sp>
        <p:nvSpPr>
          <p:cNvPr id="5" name="Content Placeholder 2"/>
          <p:cNvSpPr txBox="1"/>
          <p:nvPr/>
        </p:nvSpPr>
        <p:spPr>
          <a:xfrm>
            <a:off x="695325" y="1770856"/>
            <a:ext cx="7499350" cy="3316287"/>
          </a:xfrm>
          <a:prstGeom prst="rect">
            <a:avLst/>
          </a:prstGeom>
        </p:spPr>
        <p:txBody>
          <a:bodyPr/>
          <a:lstStyle>
            <a:lvl1pPr marL="360045" indent="-360045" algn="l" defTabSz="914400" rtl="0" eaLnBrk="1" latinLnBrk="0" hangingPunct="1">
              <a:lnSpc>
                <a:spcPct val="100000"/>
              </a:lnSpc>
              <a:spcBef>
                <a:spcPts val="1000"/>
              </a:spcBef>
              <a:buClr>
                <a:schemeClr val="accent4"/>
              </a:buClr>
              <a:buFontTx/>
              <a:buBlip>
                <a:blip r:embed="rId1"/>
              </a:buBlip>
              <a:defRPr sz="2800" kern="1200">
                <a:solidFill>
                  <a:schemeClr val="tx1"/>
                </a:solidFill>
                <a:latin typeface="+mj-ea"/>
                <a:ea typeface="+mj-ea"/>
                <a:cs typeface="+mn-cs"/>
              </a:defRPr>
            </a:lvl1pPr>
            <a:lvl2pPr marL="685800" indent="-288290" algn="l" defTabSz="914400" rtl="0" eaLnBrk="1" latinLnBrk="0" hangingPunct="1">
              <a:lnSpc>
                <a:spcPct val="100000"/>
              </a:lnSpc>
              <a:spcBef>
                <a:spcPts val="500"/>
              </a:spcBef>
              <a:buClr>
                <a:schemeClr val="accent4"/>
              </a:buClr>
              <a:buFontTx/>
              <a:buBlip>
                <a:blip r:embed="rId1"/>
              </a:buBlip>
              <a:defRPr sz="2400" kern="1200">
                <a:solidFill>
                  <a:schemeClr val="tx1"/>
                </a:solidFill>
                <a:latin typeface="+mn-lt"/>
                <a:ea typeface="+mn-ea"/>
                <a:cs typeface="+mn-cs"/>
              </a:defRPr>
            </a:lvl2pPr>
            <a:lvl3pPr marL="1143000" indent="-230505" algn="l" defTabSz="914400" rtl="0" eaLnBrk="1" latinLnBrk="0" hangingPunct="1">
              <a:lnSpc>
                <a:spcPct val="100000"/>
              </a:lnSpc>
              <a:spcBef>
                <a:spcPts val="500"/>
              </a:spcBef>
              <a:buClr>
                <a:schemeClr val="accent4"/>
              </a:buClr>
              <a:buSzPct val="100000"/>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a:p>
          <a:p>
            <a:endParaRPr lang="en-US" altLang="zh-CN" dirty="0"/>
          </a:p>
          <a:p>
            <a:endParaRPr lang="en-US" altLang="zh-CN" dirty="0"/>
          </a:p>
        </p:txBody>
      </p:sp>
      <p:sp>
        <p:nvSpPr>
          <p:cNvPr id="6" name="Rectangle 7"/>
          <p:cNvSpPr>
            <a:spLocks noChangeArrowheads="1"/>
          </p:cNvSpPr>
          <p:nvPr/>
        </p:nvSpPr>
        <p:spPr bwMode="auto">
          <a:xfrm>
            <a:off x="908957" y="394737"/>
            <a:ext cx="81010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Aft>
                <a:spcPts val="1200"/>
              </a:spcAft>
              <a:buFont typeface="Wingdings 2" panose="05020102010507070707" pitchFamily="18" charset="2"/>
              <a:buNone/>
            </a:pPr>
            <a:r>
              <a:rPr lang="zh-CN" altLang="en-US" sz="5400" dirty="0">
                <a:solidFill>
                  <a:srgbClr val="0000CC"/>
                </a:solidFill>
                <a:latin typeface="Gill Sans MT" panose="020B0502020104020203" pitchFamily="34" charset="0"/>
                <a:ea typeface="华文中宋" panose="02010600040101010101" pitchFamily="2" charset="-122"/>
              </a:rPr>
              <a:t>循环嵌套</a:t>
            </a:r>
            <a:endParaRPr lang="en-US" altLang="zh-CN" sz="5400" dirty="0">
              <a:solidFill>
                <a:srgbClr val="0000CC"/>
              </a:solidFill>
              <a:latin typeface="Gill Sans MT" panose="020B0502020104020203" pitchFamily="34" charset="0"/>
              <a:ea typeface="华文中宋" panose="02010600040101010101" pitchFamily="2" charset="-122"/>
            </a:endParaRPr>
          </a:p>
        </p:txBody>
      </p:sp>
      <p:sp>
        <p:nvSpPr>
          <p:cNvPr id="7" name="Content Placeholder 2"/>
          <p:cNvSpPr txBox="1"/>
          <p:nvPr/>
        </p:nvSpPr>
        <p:spPr>
          <a:xfrm>
            <a:off x="432000" y="1447062"/>
            <a:ext cx="8280000" cy="4705165"/>
          </a:xfrm>
          <a:prstGeom prst="rect">
            <a:avLst/>
          </a:prstGeom>
        </p:spPr>
        <p:txBody>
          <a:bodyPr/>
          <a:lstStyle>
            <a:lvl1pPr marL="360045" indent="-360045" algn="l" defTabSz="914400" rtl="0" eaLnBrk="1" latinLnBrk="0" hangingPunct="1">
              <a:lnSpc>
                <a:spcPct val="100000"/>
              </a:lnSpc>
              <a:spcBef>
                <a:spcPts val="1000"/>
              </a:spcBef>
              <a:buClr>
                <a:schemeClr val="accent4"/>
              </a:buClr>
              <a:buFontTx/>
              <a:buBlip>
                <a:blip r:embed="rId1"/>
              </a:buBlip>
              <a:defRPr sz="2800" kern="1200">
                <a:solidFill>
                  <a:schemeClr val="tx1"/>
                </a:solidFill>
                <a:latin typeface="+mj-ea"/>
                <a:ea typeface="+mj-ea"/>
                <a:cs typeface="+mn-cs"/>
              </a:defRPr>
            </a:lvl1pPr>
            <a:lvl2pPr marL="685800" indent="-288290" algn="l" defTabSz="914400" rtl="0" eaLnBrk="1" latinLnBrk="0" hangingPunct="1">
              <a:lnSpc>
                <a:spcPct val="100000"/>
              </a:lnSpc>
              <a:spcBef>
                <a:spcPts val="500"/>
              </a:spcBef>
              <a:buClr>
                <a:schemeClr val="accent4"/>
              </a:buClr>
              <a:buFontTx/>
              <a:buBlip>
                <a:blip r:embed="rId1"/>
              </a:buBlip>
              <a:defRPr sz="2400" kern="1200">
                <a:solidFill>
                  <a:schemeClr val="tx1"/>
                </a:solidFill>
                <a:latin typeface="+mn-lt"/>
                <a:ea typeface="+mn-ea"/>
                <a:cs typeface="+mn-cs"/>
              </a:defRPr>
            </a:lvl2pPr>
            <a:lvl3pPr marL="1143000" indent="-230505" algn="l" defTabSz="914400" rtl="0" eaLnBrk="1" latinLnBrk="0" hangingPunct="1">
              <a:lnSpc>
                <a:spcPct val="100000"/>
              </a:lnSpc>
              <a:spcBef>
                <a:spcPts val="500"/>
              </a:spcBef>
              <a:buClr>
                <a:schemeClr val="accent4"/>
              </a:buClr>
              <a:buSzPct val="100000"/>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编一个程序输出下面所有的排列数</a:t>
            </a:r>
            <a:endParaRPr lang="en-US" altLang="zh-CN"/>
          </a:p>
          <a:p>
            <a:pPr lvl="1"/>
            <a:r>
              <a:rPr lang="en-US" altLang="zh-CN"/>
              <a:t>000000</a:t>
            </a:r>
            <a:endParaRPr lang="en-US" altLang="zh-CN"/>
          </a:p>
          <a:p>
            <a:pPr lvl="1"/>
            <a:r>
              <a:rPr lang="en-US" altLang="zh-CN"/>
              <a:t>000001</a:t>
            </a:r>
            <a:endParaRPr lang="en-US" altLang="zh-CN"/>
          </a:p>
          <a:p>
            <a:pPr lvl="1"/>
            <a:r>
              <a:rPr lang="en-US" altLang="zh-CN"/>
              <a:t>000010</a:t>
            </a:r>
            <a:endParaRPr lang="en-US" altLang="zh-CN"/>
          </a:p>
          <a:p>
            <a:pPr lvl="1"/>
            <a:r>
              <a:rPr lang="en-US" altLang="zh-CN"/>
              <a:t>000011</a:t>
            </a:r>
            <a:endParaRPr lang="en-US" altLang="zh-CN"/>
          </a:p>
          <a:p>
            <a:pPr lvl="1"/>
            <a:r>
              <a:rPr lang="en-US" altLang="zh-CN"/>
              <a:t>……</a:t>
            </a:r>
            <a:endParaRPr lang="en-US" altLang="zh-CN"/>
          </a:p>
          <a:p>
            <a:pPr lvl="1"/>
            <a:r>
              <a:rPr lang="en-US" altLang="zh-CN"/>
              <a:t>111111</a:t>
            </a:r>
            <a:endParaRPr lang="en-US" altLang="en-US" dirty="0">
              <a:ea typeface="华文中宋" panose="02010600040101010101" pitchFamily="2" charset="-122"/>
            </a:endParaRPr>
          </a:p>
        </p:txBody>
      </p:sp>
      <p:pic>
        <p:nvPicPr>
          <p:cNvPr id="8" name="Picture 4"/>
          <p:cNvPicPr>
            <a:picLocks noChangeAspect="1"/>
          </p:cNvPicPr>
          <p:nvPr/>
        </p:nvPicPr>
        <p:blipFill rotWithShape="1">
          <a:blip r:embed="rId2"/>
          <a:srcRect r="10489"/>
          <a:stretch>
            <a:fillRect/>
          </a:stretch>
        </p:blipFill>
        <p:spPr>
          <a:xfrm>
            <a:off x="2858936" y="2305323"/>
            <a:ext cx="5647391" cy="3662341"/>
          </a:xfrm>
          <a:prstGeom prst="rect">
            <a:avLst/>
          </a:prstGeom>
        </p:spPr>
      </p:pic>
      <p:pic>
        <p:nvPicPr>
          <p:cNvPr id="3" name="图片 2"/>
          <p:cNvPicPr>
            <a:picLocks noChangeAspect="1"/>
          </p:cNvPicPr>
          <p:nvPr/>
        </p:nvPicPr>
        <p:blipFill>
          <a:blip r:embed="rId3"/>
          <a:stretch>
            <a:fillRect/>
          </a:stretch>
        </p:blipFill>
        <p:spPr>
          <a:xfrm>
            <a:off x="5682631" y="5900983"/>
            <a:ext cx="1055461" cy="133362"/>
          </a:xfrm>
          <a:prstGeom prst="rect">
            <a:avLst/>
          </a:prstGeom>
        </p:spPr>
      </p:pic>
      <p:sp>
        <p:nvSpPr>
          <p:cNvPr id="2" name="文本框 1"/>
          <p:cNvSpPr txBox="1"/>
          <p:nvPr/>
        </p:nvSpPr>
        <p:spPr>
          <a:xfrm>
            <a:off x="496389" y="6069267"/>
            <a:ext cx="2931444" cy="523220"/>
          </a:xfrm>
          <a:prstGeom prst="rect">
            <a:avLst/>
          </a:prstGeom>
          <a:noFill/>
        </p:spPr>
        <p:txBody>
          <a:bodyPr wrap="none" rtlCol="0">
            <a:spAutoFit/>
          </a:bodyPr>
          <a:lstStyle/>
          <a:p>
            <a:r>
              <a:rPr lang="zh-CN" altLang="en-US" sz="2800" dirty="0">
                <a:solidFill>
                  <a:srgbClr val="FF0000"/>
                </a:solidFill>
              </a:rPr>
              <a:t>要写</a:t>
            </a:r>
            <a:r>
              <a:rPr lang="en-US" altLang="zh-CN" sz="2800" dirty="0">
                <a:solidFill>
                  <a:srgbClr val="FF0000"/>
                </a:solidFill>
              </a:rPr>
              <a:t>6</a:t>
            </a:r>
            <a:r>
              <a:rPr lang="zh-CN" altLang="en-US" sz="2800" dirty="0">
                <a:solidFill>
                  <a:srgbClr val="FF0000"/>
                </a:solidFill>
              </a:rPr>
              <a:t>重</a:t>
            </a:r>
            <a:r>
              <a:rPr lang="en-US" altLang="zh-CN" sz="2800" dirty="0">
                <a:solidFill>
                  <a:srgbClr val="FF0000"/>
                </a:solidFill>
              </a:rPr>
              <a:t>for</a:t>
            </a:r>
            <a:r>
              <a:rPr lang="zh-CN" altLang="en-US" sz="2800" dirty="0">
                <a:solidFill>
                  <a:srgbClr val="FF0000"/>
                </a:solidFill>
              </a:rPr>
              <a:t>循环！</a:t>
            </a:r>
            <a:endParaRPr lang="zh-CN" altLang="en-US" sz="2800"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000" y="29563"/>
            <a:ext cx="8280000" cy="871839"/>
          </a:xfrm>
        </p:spPr>
        <p:txBody>
          <a:bodyPr>
            <a:normAutofit/>
          </a:bodyPr>
          <a:lstStyle/>
          <a:p>
            <a:r>
              <a:rPr lang="zh-CN" altLang="en-US" dirty="0"/>
              <a:t>搜索路径</a:t>
            </a:r>
            <a:endParaRPr lang="zh-CN" altLang="en-US" dirty="0"/>
          </a:p>
        </p:txBody>
      </p:sp>
      <p:sp>
        <p:nvSpPr>
          <p:cNvPr id="3" name="TextBox 2"/>
          <p:cNvSpPr txBox="1"/>
          <p:nvPr/>
        </p:nvSpPr>
        <p:spPr>
          <a:xfrm>
            <a:off x="701750" y="1910525"/>
            <a:ext cx="829073" cy="3701013"/>
          </a:xfrm>
          <a:prstGeom prst="rect">
            <a:avLst/>
          </a:prstGeom>
          <a:noFill/>
        </p:spPr>
        <p:txBody>
          <a:bodyPr wrap="none" rtlCol="0">
            <a:spAutoFit/>
          </a:bodyPr>
          <a:lstStyle/>
          <a:p>
            <a:endParaRPr lang="en-US" altLang="zh-CN" sz="1050" dirty="0"/>
          </a:p>
          <a:p>
            <a:r>
              <a:rPr lang="en-US" altLang="zh-CN" sz="3200" dirty="0"/>
              <a:t>A=0</a:t>
            </a:r>
            <a:endParaRPr lang="en-US" altLang="zh-CN" sz="3200" dirty="0"/>
          </a:p>
          <a:p>
            <a:endParaRPr lang="en-US" altLang="zh-CN" sz="3200" dirty="0"/>
          </a:p>
          <a:p>
            <a:endParaRPr lang="en-US" altLang="zh-CN" sz="3200" dirty="0"/>
          </a:p>
          <a:p>
            <a:endParaRPr lang="en-US" altLang="zh-CN" sz="3200" dirty="0"/>
          </a:p>
          <a:p>
            <a:endParaRPr lang="en-US" altLang="zh-CN" sz="3200" dirty="0"/>
          </a:p>
          <a:p>
            <a:endParaRPr lang="en-US" altLang="zh-CN" sz="3200" dirty="0"/>
          </a:p>
          <a:p>
            <a:r>
              <a:rPr lang="en-US" altLang="zh-CN" sz="3200" dirty="0"/>
              <a:t>A=1</a:t>
            </a:r>
            <a:endParaRPr lang="zh-CN" altLang="en-US" sz="3200" dirty="0"/>
          </a:p>
        </p:txBody>
      </p:sp>
      <p:cxnSp>
        <p:nvCxnSpPr>
          <p:cNvPr id="5" name="Straight Connector 4"/>
          <p:cNvCxnSpPr/>
          <p:nvPr/>
        </p:nvCxnSpPr>
        <p:spPr>
          <a:xfrm flipV="1">
            <a:off x="1523083" y="1709222"/>
            <a:ext cx="627586" cy="6113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523083" y="2462462"/>
            <a:ext cx="702666" cy="59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241698" y="1127259"/>
            <a:ext cx="817853" cy="2554545"/>
          </a:xfrm>
          <a:prstGeom prst="rect">
            <a:avLst/>
          </a:prstGeom>
          <a:noFill/>
        </p:spPr>
        <p:txBody>
          <a:bodyPr wrap="none" rtlCol="0">
            <a:spAutoFit/>
          </a:bodyPr>
          <a:lstStyle/>
          <a:p>
            <a:r>
              <a:rPr lang="en-US" altLang="zh-CN" sz="3200" dirty="0"/>
              <a:t>B=0</a:t>
            </a:r>
            <a:endParaRPr lang="en-US" altLang="zh-CN" sz="3200" dirty="0"/>
          </a:p>
          <a:p>
            <a:endParaRPr lang="en-US" altLang="zh-CN" sz="3200" dirty="0"/>
          </a:p>
          <a:p>
            <a:endParaRPr lang="en-US" altLang="zh-CN" sz="3200" dirty="0"/>
          </a:p>
          <a:p>
            <a:endParaRPr lang="en-US" altLang="zh-CN" sz="2800" dirty="0"/>
          </a:p>
          <a:p>
            <a:r>
              <a:rPr lang="en-US" altLang="zh-CN" sz="3200" dirty="0"/>
              <a:t>B=1</a:t>
            </a:r>
            <a:endParaRPr lang="zh-CN" altLang="en-US" sz="3200" dirty="0"/>
          </a:p>
        </p:txBody>
      </p:sp>
      <p:cxnSp>
        <p:nvCxnSpPr>
          <p:cNvPr id="10" name="Straight Connector 9"/>
          <p:cNvCxnSpPr/>
          <p:nvPr/>
        </p:nvCxnSpPr>
        <p:spPr>
          <a:xfrm flipV="1">
            <a:off x="3154060" y="962248"/>
            <a:ext cx="726824" cy="37568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932008" y="552621"/>
            <a:ext cx="817853" cy="1569660"/>
          </a:xfrm>
          <a:prstGeom prst="rect">
            <a:avLst/>
          </a:prstGeom>
          <a:noFill/>
        </p:spPr>
        <p:txBody>
          <a:bodyPr wrap="none" rtlCol="0">
            <a:spAutoFit/>
          </a:bodyPr>
          <a:lstStyle/>
          <a:p>
            <a:r>
              <a:rPr lang="en-US" altLang="zh-CN" sz="3200" dirty="0"/>
              <a:t>C=0</a:t>
            </a:r>
            <a:endParaRPr lang="en-US" altLang="zh-CN" sz="3200" dirty="0"/>
          </a:p>
          <a:p>
            <a:endParaRPr lang="en-US" altLang="zh-CN" sz="3200" dirty="0"/>
          </a:p>
          <a:p>
            <a:r>
              <a:rPr lang="en-US" altLang="zh-CN" sz="3200" dirty="0"/>
              <a:t>C=1</a:t>
            </a:r>
            <a:endParaRPr lang="zh-CN" altLang="en-US" sz="3200" dirty="0"/>
          </a:p>
        </p:txBody>
      </p:sp>
      <p:cxnSp>
        <p:nvCxnSpPr>
          <p:cNvPr id="13" name="Straight Connector 12"/>
          <p:cNvCxnSpPr/>
          <p:nvPr/>
        </p:nvCxnSpPr>
        <p:spPr>
          <a:xfrm>
            <a:off x="3154060" y="1504508"/>
            <a:ext cx="726824" cy="2977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749861" y="552621"/>
            <a:ext cx="795018" cy="2512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536670" y="224561"/>
            <a:ext cx="846707" cy="1077218"/>
          </a:xfrm>
          <a:prstGeom prst="rect">
            <a:avLst/>
          </a:prstGeom>
          <a:noFill/>
        </p:spPr>
        <p:txBody>
          <a:bodyPr wrap="none" rtlCol="0">
            <a:spAutoFit/>
          </a:bodyPr>
          <a:lstStyle/>
          <a:p>
            <a:r>
              <a:rPr lang="en-US" altLang="zh-CN" sz="3200" dirty="0"/>
              <a:t>D=0</a:t>
            </a:r>
            <a:endParaRPr lang="en-US" altLang="zh-CN" sz="3200" dirty="0"/>
          </a:p>
          <a:p>
            <a:r>
              <a:rPr lang="en-US" altLang="zh-CN" sz="3200" dirty="0"/>
              <a:t>D=1</a:t>
            </a:r>
            <a:endParaRPr lang="zh-CN" altLang="en-US" sz="3200" dirty="0"/>
          </a:p>
        </p:txBody>
      </p:sp>
      <p:cxnSp>
        <p:nvCxnSpPr>
          <p:cNvPr id="21" name="Straight Connector 20"/>
          <p:cNvCxnSpPr/>
          <p:nvPr/>
        </p:nvCxnSpPr>
        <p:spPr>
          <a:xfrm>
            <a:off x="4749861" y="803861"/>
            <a:ext cx="786809" cy="2720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4742121" y="1598980"/>
            <a:ext cx="795018" cy="2512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528930" y="1270920"/>
            <a:ext cx="846707" cy="1077218"/>
          </a:xfrm>
          <a:prstGeom prst="rect">
            <a:avLst/>
          </a:prstGeom>
          <a:noFill/>
        </p:spPr>
        <p:txBody>
          <a:bodyPr wrap="none" rtlCol="0">
            <a:spAutoFit/>
          </a:bodyPr>
          <a:lstStyle/>
          <a:p>
            <a:r>
              <a:rPr lang="en-US" altLang="zh-CN" sz="3200" dirty="0"/>
              <a:t>D=0</a:t>
            </a:r>
            <a:endParaRPr lang="en-US" altLang="zh-CN" sz="3200" dirty="0"/>
          </a:p>
          <a:p>
            <a:r>
              <a:rPr lang="en-US" altLang="zh-CN" sz="3200" dirty="0"/>
              <a:t>D=1</a:t>
            </a:r>
            <a:endParaRPr lang="zh-CN" altLang="en-US" sz="3200" dirty="0"/>
          </a:p>
        </p:txBody>
      </p:sp>
      <p:cxnSp>
        <p:nvCxnSpPr>
          <p:cNvPr id="26" name="Straight Connector 25"/>
          <p:cNvCxnSpPr/>
          <p:nvPr/>
        </p:nvCxnSpPr>
        <p:spPr>
          <a:xfrm>
            <a:off x="4742121" y="1850220"/>
            <a:ext cx="786809" cy="2720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512662" y="216576"/>
            <a:ext cx="393056" cy="461665"/>
          </a:xfrm>
          <a:prstGeom prst="rect">
            <a:avLst/>
          </a:prstGeom>
          <a:noFill/>
        </p:spPr>
        <p:txBody>
          <a:bodyPr wrap="none" rtlCol="0">
            <a:spAutoFit/>
          </a:bodyPr>
          <a:lstStyle/>
          <a:p>
            <a:r>
              <a:rPr lang="en-US" altLang="zh-CN" sz="2400" dirty="0"/>
              <a:t>…</a:t>
            </a:r>
            <a:endParaRPr lang="zh-CN" altLang="en-US" sz="2400" dirty="0"/>
          </a:p>
        </p:txBody>
      </p:sp>
      <p:sp>
        <p:nvSpPr>
          <p:cNvPr id="28" name="TextBox 27"/>
          <p:cNvSpPr txBox="1"/>
          <p:nvPr/>
        </p:nvSpPr>
        <p:spPr>
          <a:xfrm>
            <a:off x="6512662" y="718662"/>
            <a:ext cx="393056" cy="461665"/>
          </a:xfrm>
          <a:prstGeom prst="rect">
            <a:avLst/>
          </a:prstGeom>
          <a:noFill/>
        </p:spPr>
        <p:txBody>
          <a:bodyPr wrap="none" rtlCol="0">
            <a:spAutoFit/>
          </a:bodyPr>
          <a:lstStyle/>
          <a:p>
            <a:r>
              <a:rPr lang="en-US" altLang="zh-CN" sz="2400" dirty="0"/>
              <a:t>…</a:t>
            </a:r>
            <a:endParaRPr lang="zh-CN" altLang="en-US" sz="2400" dirty="0"/>
          </a:p>
        </p:txBody>
      </p:sp>
      <p:sp>
        <p:nvSpPr>
          <p:cNvPr id="29" name="TextBox 28"/>
          <p:cNvSpPr txBox="1"/>
          <p:nvPr/>
        </p:nvSpPr>
        <p:spPr>
          <a:xfrm>
            <a:off x="6496713" y="1301243"/>
            <a:ext cx="393056" cy="461665"/>
          </a:xfrm>
          <a:prstGeom prst="rect">
            <a:avLst/>
          </a:prstGeom>
          <a:noFill/>
        </p:spPr>
        <p:txBody>
          <a:bodyPr wrap="none" rtlCol="0">
            <a:spAutoFit/>
          </a:bodyPr>
          <a:lstStyle/>
          <a:p>
            <a:r>
              <a:rPr lang="en-US" altLang="zh-CN" sz="2400" dirty="0"/>
              <a:t>…</a:t>
            </a:r>
            <a:endParaRPr lang="zh-CN" altLang="en-US" sz="2400" dirty="0"/>
          </a:p>
        </p:txBody>
      </p:sp>
      <p:sp>
        <p:nvSpPr>
          <p:cNvPr id="30" name="TextBox 29"/>
          <p:cNvSpPr txBox="1"/>
          <p:nvPr/>
        </p:nvSpPr>
        <p:spPr>
          <a:xfrm>
            <a:off x="6496713" y="1803329"/>
            <a:ext cx="393056" cy="461665"/>
          </a:xfrm>
          <a:prstGeom prst="rect">
            <a:avLst/>
          </a:prstGeom>
          <a:noFill/>
        </p:spPr>
        <p:txBody>
          <a:bodyPr wrap="none" rtlCol="0">
            <a:spAutoFit/>
          </a:bodyPr>
          <a:lstStyle/>
          <a:p>
            <a:r>
              <a:rPr lang="en-US" altLang="zh-CN" sz="2400" dirty="0"/>
              <a:t>…</a:t>
            </a:r>
            <a:endParaRPr lang="zh-CN" altLang="en-US" sz="2400" dirty="0"/>
          </a:p>
        </p:txBody>
      </p:sp>
      <p:cxnSp>
        <p:nvCxnSpPr>
          <p:cNvPr id="31" name="Straight Connector 30"/>
          <p:cNvCxnSpPr/>
          <p:nvPr/>
        </p:nvCxnSpPr>
        <p:spPr>
          <a:xfrm flipV="1">
            <a:off x="3154060" y="2841578"/>
            <a:ext cx="726824" cy="37568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3932008" y="2431951"/>
            <a:ext cx="817853" cy="1569660"/>
          </a:xfrm>
          <a:prstGeom prst="rect">
            <a:avLst/>
          </a:prstGeom>
          <a:noFill/>
        </p:spPr>
        <p:txBody>
          <a:bodyPr wrap="none" rtlCol="0">
            <a:spAutoFit/>
          </a:bodyPr>
          <a:lstStyle/>
          <a:p>
            <a:r>
              <a:rPr lang="en-US" altLang="zh-CN" sz="3200" dirty="0"/>
              <a:t>C=0</a:t>
            </a:r>
            <a:endParaRPr lang="en-US" altLang="zh-CN" sz="3200" dirty="0"/>
          </a:p>
          <a:p>
            <a:endParaRPr lang="en-US" altLang="zh-CN" sz="3200" dirty="0"/>
          </a:p>
          <a:p>
            <a:r>
              <a:rPr lang="en-US" altLang="zh-CN" sz="3200" dirty="0"/>
              <a:t>C=1</a:t>
            </a:r>
            <a:endParaRPr lang="zh-CN" altLang="en-US" sz="3200" dirty="0"/>
          </a:p>
        </p:txBody>
      </p:sp>
      <p:cxnSp>
        <p:nvCxnSpPr>
          <p:cNvPr id="33" name="Straight Connector 32"/>
          <p:cNvCxnSpPr/>
          <p:nvPr/>
        </p:nvCxnSpPr>
        <p:spPr>
          <a:xfrm>
            <a:off x="3154060" y="3383838"/>
            <a:ext cx="726824" cy="2977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4749861" y="2431951"/>
            <a:ext cx="795018" cy="2512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5536670" y="2103891"/>
            <a:ext cx="846707" cy="1077218"/>
          </a:xfrm>
          <a:prstGeom prst="rect">
            <a:avLst/>
          </a:prstGeom>
          <a:noFill/>
        </p:spPr>
        <p:txBody>
          <a:bodyPr wrap="none" rtlCol="0">
            <a:spAutoFit/>
          </a:bodyPr>
          <a:lstStyle/>
          <a:p>
            <a:r>
              <a:rPr lang="en-US" altLang="zh-CN" sz="3200" dirty="0"/>
              <a:t>D=0</a:t>
            </a:r>
            <a:endParaRPr lang="en-US" altLang="zh-CN" sz="3200" dirty="0"/>
          </a:p>
          <a:p>
            <a:r>
              <a:rPr lang="en-US" altLang="zh-CN" sz="3200" dirty="0"/>
              <a:t>D=1</a:t>
            </a:r>
            <a:endParaRPr lang="zh-CN" altLang="en-US" sz="3200" dirty="0"/>
          </a:p>
        </p:txBody>
      </p:sp>
      <p:cxnSp>
        <p:nvCxnSpPr>
          <p:cNvPr id="36" name="Straight Connector 35"/>
          <p:cNvCxnSpPr/>
          <p:nvPr/>
        </p:nvCxnSpPr>
        <p:spPr>
          <a:xfrm>
            <a:off x="4749861" y="2683191"/>
            <a:ext cx="786809" cy="2720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4742121" y="3478310"/>
            <a:ext cx="795018" cy="2512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5528930" y="3150250"/>
            <a:ext cx="846707" cy="1077218"/>
          </a:xfrm>
          <a:prstGeom prst="rect">
            <a:avLst/>
          </a:prstGeom>
          <a:noFill/>
        </p:spPr>
        <p:txBody>
          <a:bodyPr wrap="none" rtlCol="0">
            <a:spAutoFit/>
          </a:bodyPr>
          <a:lstStyle/>
          <a:p>
            <a:r>
              <a:rPr lang="en-US" altLang="zh-CN" sz="3200" dirty="0"/>
              <a:t>D=0</a:t>
            </a:r>
            <a:endParaRPr lang="en-US" altLang="zh-CN" sz="3200" dirty="0"/>
          </a:p>
          <a:p>
            <a:r>
              <a:rPr lang="en-US" altLang="zh-CN" sz="3200" dirty="0"/>
              <a:t>D=1</a:t>
            </a:r>
            <a:endParaRPr lang="zh-CN" altLang="en-US" sz="3200" dirty="0"/>
          </a:p>
        </p:txBody>
      </p:sp>
      <p:cxnSp>
        <p:nvCxnSpPr>
          <p:cNvPr id="39" name="Straight Connector 38"/>
          <p:cNvCxnSpPr/>
          <p:nvPr/>
        </p:nvCxnSpPr>
        <p:spPr>
          <a:xfrm>
            <a:off x="4742121" y="3729550"/>
            <a:ext cx="786809" cy="2720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6512662" y="2095906"/>
            <a:ext cx="393056" cy="461665"/>
          </a:xfrm>
          <a:prstGeom prst="rect">
            <a:avLst/>
          </a:prstGeom>
          <a:noFill/>
        </p:spPr>
        <p:txBody>
          <a:bodyPr wrap="none" rtlCol="0">
            <a:spAutoFit/>
          </a:bodyPr>
          <a:lstStyle/>
          <a:p>
            <a:r>
              <a:rPr lang="en-US" altLang="zh-CN" sz="2400" dirty="0"/>
              <a:t>…</a:t>
            </a:r>
            <a:endParaRPr lang="zh-CN" altLang="en-US" sz="2400" dirty="0"/>
          </a:p>
        </p:txBody>
      </p:sp>
      <p:sp>
        <p:nvSpPr>
          <p:cNvPr id="41" name="TextBox 40"/>
          <p:cNvSpPr txBox="1"/>
          <p:nvPr/>
        </p:nvSpPr>
        <p:spPr>
          <a:xfrm>
            <a:off x="6512662" y="2597992"/>
            <a:ext cx="393056" cy="461665"/>
          </a:xfrm>
          <a:prstGeom prst="rect">
            <a:avLst/>
          </a:prstGeom>
          <a:noFill/>
        </p:spPr>
        <p:txBody>
          <a:bodyPr wrap="none" rtlCol="0">
            <a:spAutoFit/>
          </a:bodyPr>
          <a:lstStyle/>
          <a:p>
            <a:r>
              <a:rPr lang="en-US" altLang="zh-CN" sz="2400" dirty="0"/>
              <a:t>…</a:t>
            </a:r>
            <a:endParaRPr lang="zh-CN" altLang="en-US" sz="2400" dirty="0"/>
          </a:p>
        </p:txBody>
      </p:sp>
      <p:sp>
        <p:nvSpPr>
          <p:cNvPr id="42" name="TextBox 41"/>
          <p:cNvSpPr txBox="1"/>
          <p:nvPr/>
        </p:nvSpPr>
        <p:spPr>
          <a:xfrm>
            <a:off x="6496713" y="3180573"/>
            <a:ext cx="393056" cy="461665"/>
          </a:xfrm>
          <a:prstGeom prst="rect">
            <a:avLst/>
          </a:prstGeom>
          <a:noFill/>
        </p:spPr>
        <p:txBody>
          <a:bodyPr wrap="none" rtlCol="0">
            <a:spAutoFit/>
          </a:bodyPr>
          <a:lstStyle/>
          <a:p>
            <a:r>
              <a:rPr lang="en-US" altLang="zh-CN" sz="2400" dirty="0"/>
              <a:t>…</a:t>
            </a:r>
            <a:endParaRPr lang="zh-CN" altLang="en-US" sz="2400" dirty="0"/>
          </a:p>
        </p:txBody>
      </p:sp>
      <p:sp>
        <p:nvSpPr>
          <p:cNvPr id="43" name="TextBox 42"/>
          <p:cNvSpPr txBox="1"/>
          <p:nvPr/>
        </p:nvSpPr>
        <p:spPr>
          <a:xfrm>
            <a:off x="6496713" y="3682659"/>
            <a:ext cx="393056" cy="461665"/>
          </a:xfrm>
          <a:prstGeom prst="rect">
            <a:avLst/>
          </a:prstGeom>
          <a:noFill/>
        </p:spPr>
        <p:txBody>
          <a:bodyPr wrap="none" rtlCol="0">
            <a:spAutoFit/>
          </a:bodyPr>
          <a:lstStyle/>
          <a:p>
            <a:r>
              <a:rPr lang="en-US" altLang="zh-CN" sz="2400" dirty="0"/>
              <a:t>…</a:t>
            </a:r>
            <a:endParaRPr lang="zh-CN" altLang="en-US" sz="2400" dirty="0"/>
          </a:p>
        </p:txBody>
      </p:sp>
      <p:grpSp>
        <p:nvGrpSpPr>
          <p:cNvPr id="89" name="Group 88"/>
          <p:cNvGrpSpPr/>
          <p:nvPr/>
        </p:nvGrpSpPr>
        <p:grpSpPr>
          <a:xfrm>
            <a:off x="1604173" y="4082920"/>
            <a:ext cx="3226778" cy="2543581"/>
            <a:chOff x="1607425" y="3932790"/>
            <a:chExt cx="3226778" cy="3729609"/>
          </a:xfrm>
        </p:grpSpPr>
        <p:cxnSp>
          <p:nvCxnSpPr>
            <p:cNvPr id="74" name="Straight Connector 73"/>
            <p:cNvCxnSpPr/>
            <p:nvPr/>
          </p:nvCxnSpPr>
          <p:spPr>
            <a:xfrm flipV="1">
              <a:off x="1607425" y="5089391"/>
              <a:ext cx="627586" cy="6113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1607425" y="5842631"/>
              <a:ext cx="702666" cy="597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2326040" y="4507428"/>
              <a:ext cx="817853" cy="2527210"/>
            </a:xfrm>
            <a:prstGeom prst="rect">
              <a:avLst/>
            </a:prstGeom>
            <a:noFill/>
          </p:spPr>
          <p:txBody>
            <a:bodyPr wrap="none" rtlCol="0">
              <a:spAutoFit/>
            </a:bodyPr>
            <a:lstStyle/>
            <a:p>
              <a:r>
                <a:rPr lang="en-US" altLang="zh-CN" sz="3200" dirty="0"/>
                <a:t>B=0</a:t>
              </a:r>
              <a:endParaRPr lang="en-US" altLang="zh-CN" sz="3200" dirty="0"/>
            </a:p>
            <a:p>
              <a:endParaRPr lang="en-US" altLang="zh-CN" dirty="0"/>
            </a:p>
            <a:p>
              <a:endParaRPr lang="en-US" altLang="zh-CN" sz="2400" dirty="0"/>
            </a:p>
            <a:p>
              <a:r>
                <a:rPr lang="en-US" altLang="zh-CN" sz="3200" dirty="0"/>
                <a:t>B=1</a:t>
              </a:r>
              <a:endParaRPr lang="zh-CN" altLang="en-US" sz="3200" dirty="0"/>
            </a:p>
          </p:txBody>
        </p:sp>
        <p:cxnSp>
          <p:nvCxnSpPr>
            <p:cNvPr id="77" name="Straight Connector 76"/>
            <p:cNvCxnSpPr/>
            <p:nvPr/>
          </p:nvCxnSpPr>
          <p:spPr>
            <a:xfrm flipV="1">
              <a:off x="3238402" y="4342417"/>
              <a:ext cx="726824" cy="37568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4016350" y="3932790"/>
              <a:ext cx="817853" cy="1850279"/>
            </a:xfrm>
            <a:prstGeom prst="rect">
              <a:avLst/>
            </a:prstGeom>
            <a:noFill/>
          </p:spPr>
          <p:txBody>
            <a:bodyPr wrap="none" rtlCol="0">
              <a:spAutoFit/>
            </a:bodyPr>
            <a:lstStyle/>
            <a:p>
              <a:r>
                <a:rPr lang="en-US" altLang="zh-CN" sz="3200" dirty="0"/>
                <a:t>C=0</a:t>
              </a:r>
              <a:endParaRPr lang="en-US" altLang="zh-CN" sz="3200" dirty="0"/>
            </a:p>
            <a:p>
              <a:endParaRPr lang="en-US" altLang="zh-CN" sz="1200" dirty="0"/>
            </a:p>
            <a:p>
              <a:r>
                <a:rPr lang="en-US" altLang="zh-CN" sz="3200" dirty="0"/>
                <a:t>C=1</a:t>
              </a:r>
              <a:endParaRPr lang="zh-CN" altLang="en-US" sz="3200" dirty="0"/>
            </a:p>
          </p:txBody>
        </p:sp>
        <p:cxnSp>
          <p:nvCxnSpPr>
            <p:cNvPr id="79" name="Straight Connector 78"/>
            <p:cNvCxnSpPr/>
            <p:nvPr/>
          </p:nvCxnSpPr>
          <p:spPr>
            <a:xfrm>
              <a:off x="3238402" y="4884677"/>
              <a:ext cx="726824" cy="2977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3238402" y="6221747"/>
              <a:ext cx="726824" cy="37568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4016350" y="5812120"/>
              <a:ext cx="817853" cy="1850279"/>
            </a:xfrm>
            <a:prstGeom prst="rect">
              <a:avLst/>
            </a:prstGeom>
            <a:noFill/>
          </p:spPr>
          <p:txBody>
            <a:bodyPr wrap="none" rtlCol="0">
              <a:spAutoFit/>
            </a:bodyPr>
            <a:lstStyle/>
            <a:p>
              <a:r>
                <a:rPr lang="en-US" altLang="zh-CN" sz="3200" dirty="0"/>
                <a:t>C=0</a:t>
              </a:r>
              <a:endParaRPr lang="en-US" altLang="zh-CN" sz="3200" dirty="0"/>
            </a:p>
            <a:p>
              <a:endParaRPr lang="en-US" altLang="zh-CN" sz="1050" dirty="0"/>
            </a:p>
            <a:p>
              <a:r>
                <a:rPr lang="en-US" altLang="zh-CN" sz="3200" dirty="0"/>
                <a:t>C=1</a:t>
              </a:r>
              <a:endParaRPr lang="zh-CN" altLang="en-US" sz="3200" dirty="0"/>
            </a:p>
          </p:txBody>
        </p:sp>
        <p:cxnSp>
          <p:nvCxnSpPr>
            <p:cNvPr id="84" name="Straight Connector 83"/>
            <p:cNvCxnSpPr/>
            <p:nvPr/>
          </p:nvCxnSpPr>
          <p:spPr>
            <a:xfrm>
              <a:off x="3238402" y="6764007"/>
              <a:ext cx="726824" cy="2977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0" name="TextBox 89"/>
          <p:cNvSpPr txBox="1"/>
          <p:nvPr/>
        </p:nvSpPr>
        <p:spPr>
          <a:xfrm>
            <a:off x="4844968" y="4082920"/>
            <a:ext cx="393056" cy="461665"/>
          </a:xfrm>
          <a:prstGeom prst="rect">
            <a:avLst/>
          </a:prstGeom>
          <a:noFill/>
        </p:spPr>
        <p:txBody>
          <a:bodyPr wrap="none" rtlCol="0">
            <a:spAutoFit/>
          </a:bodyPr>
          <a:lstStyle/>
          <a:p>
            <a:r>
              <a:rPr lang="en-US" altLang="zh-CN" sz="2400" dirty="0"/>
              <a:t>…</a:t>
            </a:r>
            <a:endParaRPr lang="zh-CN" altLang="en-US" sz="2400" dirty="0"/>
          </a:p>
        </p:txBody>
      </p:sp>
      <p:sp>
        <p:nvSpPr>
          <p:cNvPr id="91" name="TextBox 90"/>
          <p:cNvSpPr txBox="1"/>
          <p:nvPr/>
        </p:nvSpPr>
        <p:spPr>
          <a:xfrm>
            <a:off x="4844968" y="4732104"/>
            <a:ext cx="393056" cy="461665"/>
          </a:xfrm>
          <a:prstGeom prst="rect">
            <a:avLst/>
          </a:prstGeom>
          <a:noFill/>
        </p:spPr>
        <p:txBody>
          <a:bodyPr wrap="none" rtlCol="0">
            <a:spAutoFit/>
          </a:bodyPr>
          <a:lstStyle/>
          <a:p>
            <a:r>
              <a:rPr lang="en-US" altLang="zh-CN" sz="2400" dirty="0"/>
              <a:t>…</a:t>
            </a:r>
            <a:endParaRPr lang="zh-CN" altLang="en-US" sz="2400" dirty="0"/>
          </a:p>
        </p:txBody>
      </p:sp>
      <p:sp>
        <p:nvSpPr>
          <p:cNvPr id="92" name="TextBox 91"/>
          <p:cNvSpPr txBox="1"/>
          <p:nvPr/>
        </p:nvSpPr>
        <p:spPr>
          <a:xfrm>
            <a:off x="4844968" y="5417154"/>
            <a:ext cx="393056" cy="461665"/>
          </a:xfrm>
          <a:prstGeom prst="rect">
            <a:avLst/>
          </a:prstGeom>
          <a:noFill/>
        </p:spPr>
        <p:txBody>
          <a:bodyPr wrap="none" rtlCol="0">
            <a:spAutoFit/>
          </a:bodyPr>
          <a:lstStyle/>
          <a:p>
            <a:r>
              <a:rPr lang="en-US" altLang="zh-CN" sz="2400" dirty="0"/>
              <a:t>…</a:t>
            </a:r>
            <a:endParaRPr lang="zh-CN" altLang="en-US" sz="2400" dirty="0"/>
          </a:p>
        </p:txBody>
      </p:sp>
      <p:sp>
        <p:nvSpPr>
          <p:cNvPr id="93" name="TextBox 92"/>
          <p:cNvSpPr txBox="1"/>
          <p:nvPr/>
        </p:nvSpPr>
        <p:spPr>
          <a:xfrm>
            <a:off x="4844968" y="6066338"/>
            <a:ext cx="393056" cy="461665"/>
          </a:xfrm>
          <a:prstGeom prst="rect">
            <a:avLst/>
          </a:prstGeom>
          <a:noFill/>
        </p:spPr>
        <p:txBody>
          <a:bodyPr wrap="none" rtlCol="0">
            <a:spAutoFit/>
          </a:bodyPr>
          <a:lstStyle/>
          <a:p>
            <a:r>
              <a:rPr lang="en-US" altLang="zh-CN" sz="2400" dirty="0"/>
              <a:t>…</a:t>
            </a:r>
            <a:endParaRPr lang="zh-CN" altLang="en-US" sz="2400" dirty="0"/>
          </a:p>
        </p:txBody>
      </p:sp>
      <p:cxnSp>
        <p:nvCxnSpPr>
          <p:cNvPr id="94" name="Straight Connector 93"/>
          <p:cNvCxnSpPr/>
          <p:nvPr/>
        </p:nvCxnSpPr>
        <p:spPr>
          <a:xfrm flipV="1">
            <a:off x="242504" y="2557571"/>
            <a:ext cx="484809" cy="12034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250158" y="3865580"/>
            <a:ext cx="451592" cy="12146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用递归实现</a:t>
            </a:r>
            <a:endParaRPr lang="zh-CN" altLang="en-US" dirty="0"/>
          </a:p>
        </p:txBody>
      </p:sp>
      <p:sp>
        <p:nvSpPr>
          <p:cNvPr id="3" name="内容占位符 2"/>
          <p:cNvSpPr>
            <a:spLocks noGrp="1"/>
          </p:cNvSpPr>
          <p:nvPr>
            <p:ph idx="1"/>
          </p:nvPr>
        </p:nvSpPr>
        <p:spPr>
          <a:xfrm>
            <a:off x="1990982" y="1367160"/>
            <a:ext cx="5005485" cy="5378499"/>
          </a:xfrm>
          <a:solidFill>
            <a:schemeClr val="tx1"/>
          </a:solidFill>
        </p:spPr>
        <p:txBody>
          <a:bodyPr>
            <a:noAutofit/>
          </a:bodyPr>
          <a:lstStyle/>
          <a:p>
            <a:pPr>
              <a:spcBef>
                <a:spcPts val="0"/>
              </a:spcBef>
            </a:pPr>
            <a:r>
              <a:rPr lang="en-US" altLang="zh-CN" sz="1700" b="0" dirty="0">
                <a:solidFill>
                  <a:srgbClr val="C586C0"/>
                </a:solidFill>
                <a:effectLst/>
                <a:latin typeface="Consolas" panose="020B0609020204030204" pitchFamily="49" charset="0"/>
              </a:rPr>
              <a:t>#include</a:t>
            </a:r>
            <a:r>
              <a:rPr lang="en-US" altLang="zh-CN" sz="1700" b="0" dirty="0">
                <a:solidFill>
                  <a:srgbClr val="CE9178"/>
                </a:solidFill>
                <a:effectLst/>
                <a:latin typeface="Consolas" panose="020B0609020204030204" pitchFamily="49" charset="0"/>
              </a:rPr>
              <a:t>&lt;stdio.h&gt;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569CD6"/>
                </a:solidFill>
                <a:effectLst/>
                <a:latin typeface="Consolas" panose="020B0609020204030204" pitchFamily="49" charset="0"/>
              </a:rPr>
              <a:t>int</a:t>
            </a:r>
            <a:r>
              <a:rPr lang="en-US" altLang="zh-CN" sz="1700" b="0" dirty="0">
                <a:solidFill>
                  <a:srgbClr val="CCCCCC"/>
                </a:solidFill>
                <a:effectLst/>
                <a:latin typeface="Consolas" panose="020B0609020204030204" pitchFamily="49" charset="0"/>
              </a:rPr>
              <a:t> </a:t>
            </a:r>
            <a:r>
              <a:rPr lang="en-US" altLang="zh-CN" sz="1700" b="0" dirty="0" err="1">
                <a:solidFill>
                  <a:srgbClr val="9CDCFE"/>
                </a:solidFill>
                <a:effectLst/>
                <a:latin typeface="Consolas" panose="020B0609020204030204" pitchFamily="49" charset="0"/>
              </a:rPr>
              <a:t>ans</a:t>
            </a:r>
            <a:r>
              <a:rPr lang="en-US" altLang="zh-CN" sz="1700" b="0" dirty="0">
                <a:solidFill>
                  <a:srgbClr val="CCCCCC"/>
                </a:solidFill>
                <a:effectLst/>
                <a:latin typeface="Consolas" panose="020B0609020204030204" pitchFamily="49" charset="0"/>
              </a:rPr>
              <a:t>[</a:t>
            </a:r>
            <a:r>
              <a:rPr lang="en-US" altLang="zh-CN" sz="1700" b="0" dirty="0">
                <a:solidFill>
                  <a:srgbClr val="B5CEA8"/>
                </a:solidFill>
                <a:effectLst/>
                <a:latin typeface="Consolas" panose="020B0609020204030204" pitchFamily="49" charset="0"/>
              </a:rPr>
              <a:t>6</a:t>
            </a:r>
            <a:r>
              <a:rPr lang="en-US" altLang="zh-CN" sz="1700" b="0" dirty="0">
                <a:solidFill>
                  <a:srgbClr val="CCCCCC"/>
                </a:solidFill>
                <a:effectLst/>
                <a:latin typeface="Consolas" panose="020B0609020204030204" pitchFamily="49" charset="0"/>
              </a:rPr>
              <a:t>]</a:t>
            </a:r>
            <a:r>
              <a:rPr lang="en-US" altLang="zh-CN" sz="1700" b="0" dirty="0">
                <a:solidFill>
                  <a:srgbClr val="D4D4D4"/>
                </a:solidFill>
                <a:effectLst/>
                <a:latin typeface="Consolas" panose="020B0609020204030204" pitchFamily="49" charset="0"/>
              </a:rPr>
              <a:t>=</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569CD6"/>
                </a:solidFill>
                <a:effectLst/>
                <a:latin typeface="Consolas" panose="020B0609020204030204" pitchFamily="49" charset="0"/>
              </a:rPr>
              <a:t>void</a:t>
            </a:r>
            <a:r>
              <a:rPr lang="en-US" altLang="zh-CN" sz="1700" b="0" dirty="0">
                <a:solidFill>
                  <a:srgbClr val="CCCCCC"/>
                </a:solidFill>
                <a:effectLst/>
                <a:latin typeface="Consolas" panose="020B0609020204030204" pitchFamily="49" charset="0"/>
              </a:rPr>
              <a:t> </a:t>
            </a:r>
            <a:r>
              <a:rPr lang="en-US" altLang="zh-CN" sz="1700" b="0" dirty="0" err="1">
                <a:solidFill>
                  <a:srgbClr val="DCDCAA"/>
                </a:solidFill>
                <a:effectLst/>
                <a:latin typeface="Consolas" panose="020B0609020204030204" pitchFamily="49" charset="0"/>
              </a:rPr>
              <a:t>myprint</a:t>
            </a:r>
            <a:r>
              <a:rPr lang="en-US" altLang="zh-CN" sz="1700" b="0" dirty="0">
                <a:solidFill>
                  <a:srgbClr val="CCCCCC"/>
                </a:solidFill>
                <a:effectLst/>
                <a:latin typeface="Consolas" panose="020B0609020204030204" pitchFamily="49" charset="0"/>
              </a:rPr>
              <a:t>(</a:t>
            </a:r>
            <a:r>
              <a:rPr lang="en-US" altLang="zh-CN" sz="1700" b="0" dirty="0">
                <a:solidFill>
                  <a:srgbClr val="569CD6"/>
                </a:solidFill>
                <a:effectLst/>
                <a:latin typeface="Consolas" panose="020B0609020204030204" pitchFamily="49" charset="0"/>
              </a:rPr>
              <a:t>int</a:t>
            </a:r>
            <a:r>
              <a:rPr lang="en-US" altLang="zh-CN" sz="1700" b="0" dirty="0">
                <a:solidFill>
                  <a:srgbClr val="CCCCCC"/>
                </a:solidFill>
                <a:effectLst/>
                <a:latin typeface="Consolas" panose="020B0609020204030204" pitchFamily="49" charset="0"/>
              </a:rPr>
              <a:t> </a:t>
            </a:r>
            <a:r>
              <a:rPr lang="en-US" altLang="zh-CN" sz="1700" b="0" dirty="0">
                <a:solidFill>
                  <a:srgbClr val="9CDCFE"/>
                </a:solidFill>
                <a:effectLst/>
                <a:latin typeface="Consolas" panose="020B0609020204030204" pitchFamily="49" charset="0"/>
              </a:rPr>
              <a:t>k</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r>
              <a:rPr lang="en-US" altLang="zh-CN" sz="1700" b="0" dirty="0">
                <a:solidFill>
                  <a:srgbClr val="C586C0"/>
                </a:solidFill>
                <a:effectLst/>
                <a:latin typeface="Consolas" panose="020B0609020204030204" pitchFamily="49" charset="0"/>
              </a:rPr>
              <a:t>if</a:t>
            </a:r>
            <a:r>
              <a:rPr lang="en-US" altLang="zh-CN" sz="1700" b="0" dirty="0">
                <a:solidFill>
                  <a:srgbClr val="CCCCCC"/>
                </a:solidFill>
                <a:effectLst/>
                <a:latin typeface="Consolas" panose="020B0609020204030204" pitchFamily="49" charset="0"/>
              </a:rPr>
              <a:t>(</a:t>
            </a:r>
            <a:r>
              <a:rPr lang="en-US" altLang="zh-CN" sz="1700" b="0" dirty="0">
                <a:solidFill>
                  <a:srgbClr val="9CDCFE"/>
                </a:solidFill>
                <a:effectLst/>
                <a:latin typeface="Consolas" panose="020B0609020204030204" pitchFamily="49" charset="0"/>
              </a:rPr>
              <a:t>k</a:t>
            </a:r>
            <a:r>
              <a:rPr lang="en-US" altLang="zh-CN" sz="1700" b="0" dirty="0">
                <a:solidFill>
                  <a:srgbClr val="D4D4D4"/>
                </a:solidFill>
                <a:effectLst/>
                <a:latin typeface="Consolas" panose="020B0609020204030204" pitchFamily="49" charset="0"/>
              </a:rPr>
              <a:t>==</a:t>
            </a:r>
            <a:r>
              <a:rPr lang="en-US" altLang="zh-CN" sz="1700" b="0" dirty="0">
                <a:solidFill>
                  <a:srgbClr val="B5CEA8"/>
                </a:solidFill>
                <a:effectLst/>
                <a:latin typeface="Consolas" panose="020B0609020204030204" pitchFamily="49" charset="0"/>
              </a:rPr>
              <a:t>6</a:t>
            </a:r>
            <a:r>
              <a:rPr lang="en-US" altLang="zh-CN" sz="1700" b="0" dirty="0">
                <a:solidFill>
                  <a:srgbClr val="CCCCCC"/>
                </a:solidFill>
                <a:effectLst/>
                <a:latin typeface="Consolas" panose="020B0609020204030204" pitchFamily="49" charset="0"/>
              </a:rPr>
              <a:t>){ </a:t>
            </a:r>
            <a:r>
              <a:rPr lang="en-US" altLang="zh-CN" sz="1700" b="0" dirty="0">
                <a:solidFill>
                  <a:srgbClr val="00B050"/>
                </a:solidFill>
                <a:effectLst/>
                <a:latin typeface="Consolas" panose="020B0609020204030204" pitchFamily="49" charset="0"/>
              </a:rPr>
              <a:t>//</a:t>
            </a:r>
            <a:r>
              <a:rPr lang="zh-CN" altLang="en-US" sz="1700" b="0" dirty="0">
                <a:solidFill>
                  <a:srgbClr val="00B050"/>
                </a:solidFill>
                <a:effectLst/>
                <a:latin typeface="Consolas" panose="020B0609020204030204" pitchFamily="49" charset="0"/>
              </a:rPr>
              <a:t>输出结果</a:t>
            </a:r>
            <a:endParaRPr lang="en-US" altLang="zh-CN" sz="1700" b="0" dirty="0">
              <a:solidFill>
                <a:srgbClr val="00B050"/>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r>
              <a:rPr lang="en-US" altLang="zh-CN" sz="1700" b="0" dirty="0">
                <a:solidFill>
                  <a:srgbClr val="C586C0"/>
                </a:solidFill>
                <a:effectLst/>
                <a:latin typeface="Consolas" panose="020B0609020204030204" pitchFamily="49" charset="0"/>
              </a:rPr>
              <a:t>for</a:t>
            </a:r>
            <a:r>
              <a:rPr lang="en-US" altLang="zh-CN" sz="1700" b="0" dirty="0">
                <a:solidFill>
                  <a:srgbClr val="CCCCCC"/>
                </a:solidFill>
                <a:effectLst/>
                <a:latin typeface="Consolas" panose="020B0609020204030204" pitchFamily="49" charset="0"/>
              </a:rPr>
              <a:t>(</a:t>
            </a:r>
            <a:r>
              <a:rPr lang="en-US" altLang="zh-CN" sz="1700" b="0" dirty="0">
                <a:solidFill>
                  <a:srgbClr val="569CD6"/>
                </a:solidFill>
                <a:effectLst/>
                <a:latin typeface="Consolas" panose="020B0609020204030204" pitchFamily="49" charset="0"/>
              </a:rPr>
              <a:t>int</a:t>
            </a:r>
            <a:r>
              <a:rPr lang="en-US" altLang="zh-CN" sz="1700" b="0" dirty="0">
                <a:solidFill>
                  <a:srgbClr val="CCCCCC"/>
                </a:solidFill>
                <a:effectLst/>
                <a:latin typeface="Consolas" panose="020B0609020204030204" pitchFamily="49" charset="0"/>
              </a:rPr>
              <a:t> </a:t>
            </a:r>
            <a:r>
              <a:rPr lang="en-US" altLang="zh-CN" sz="1700" b="0" dirty="0" err="1">
                <a:solidFill>
                  <a:srgbClr val="9CDCFE"/>
                </a:solidFill>
                <a:effectLst/>
                <a:latin typeface="Consolas" panose="020B0609020204030204" pitchFamily="49" charset="0"/>
              </a:rPr>
              <a:t>i</a:t>
            </a:r>
            <a:r>
              <a:rPr lang="en-US" altLang="zh-CN" sz="1700" b="0" dirty="0">
                <a:solidFill>
                  <a:srgbClr val="D4D4D4"/>
                </a:solidFill>
                <a:effectLst/>
                <a:latin typeface="Consolas" panose="020B0609020204030204" pitchFamily="49" charset="0"/>
              </a:rPr>
              <a:t>=</a:t>
            </a:r>
            <a:r>
              <a:rPr lang="en-US" altLang="zh-CN" sz="1700" b="0" dirty="0">
                <a:solidFill>
                  <a:srgbClr val="B5CEA8"/>
                </a:solidFill>
                <a:effectLst/>
                <a:latin typeface="Consolas" panose="020B0609020204030204" pitchFamily="49" charset="0"/>
              </a:rPr>
              <a:t>0</a:t>
            </a:r>
            <a:r>
              <a:rPr lang="en-US" altLang="zh-CN" sz="1700" b="0" dirty="0">
                <a:solidFill>
                  <a:srgbClr val="CCCCCC"/>
                </a:solidFill>
                <a:effectLst/>
                <a:latin typeface="Consolas" panose="020B0609020204030204" pitchFamily="49" charset="0"/>
              </a:rPr>
              <a:t>;</a:t>
            </a:r>
            <a:r>
              <a:rPr lang="en-US" altLang="zh-CN" sz="1700" b="0" dirty="0">
                <a:solidFill>
                  <a:srgbClr val="9CDCFE"/>
                </a:solidFill>
                <a:effectLst/>
                <a:latin typeface="Consolas" panose="020B0609020204030204" pitchFamily="49" charset="0"/>
              </a:rPr>
              <a:t>i</a:t>
            </a:r>
            <a:r>
              <a:rPr lang="en-US" altLang="zh-CN" sz="1700" b="0" dirty="0">
                <a:solidFill>
                  <a:srgbClr val="D4D4D4"/>
                </a:solidFill>
                <a:effectLst/>
                <a:latin typeface="Consolas" panose="020B0609020204030204" pitchFamily="49" charset="0"/>
              </a:rPr>
              <a:t>&lt;</a:t>
            </a:r>
            <a:r>
              <a:rPr lang="en-US" altLang="zh-CN" sz="1700" b="0" dirty="0">
                <a:solidFill>
                  <a:srgbClr val="B5CEA8"/>
                </a:solidFill>
                <a:effectLst/>
                <a:latin typeface="Consolas" panose="020B0609020204030204" pitchFamily="49" charset="0"/>
              </a:rPr>
              <a:t>6</a:t>
            </a:r>
            <a:r>
              <a:rPr lang="en-US" altLang="zh-CN" sz="1700" b="0" dirty="0">
                <a:solidFill>
                  <a:srgbClr val="CCCCCC"/>
                </a:solidFill>
                <a:effectLst/>
                <a:latin typeface="Consolas" panose="020B0609020204030204" pitchFamily="49" charset="0"/>
              </a:rPr>
              <a:t>;</a:t>
            </a:r>
            <a:r>
              <a:rPr lang="en-US" altLang="zh-CN" sz="1700" b="0" dirty="0">
                <a:solidFill>
                  <a:srgbClr val="9CDCFE"/>
                </a:solidFill>
                <a:effectLst/>
                <a:latin typeface="Consolas" panose="020B0609020204030204" pitchFamily="49" charset="0"/>
              </a:rPr>
              <a:t>i</a:t>
            </a:r>
            <a:r>
              <a:rPr lang="en-US" altLang="zh-CN" sz="1700" b="0" dirty="0">
                <a:solidFill>
                  <a:srgbClr val="D4D4D4"/>
                </a:solidFill>
                <a:effectLst/>
                <a:latin typeface="Consolas" panose="020B0609020204030204" pitchFamily="49" charset="0"/>
              </a:rPr>
              <a:t>++</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r>
              <a:rPr lang="en-US" altLang="zh-CN" sz="1700" b="0" dirty="0" err="1">
                <a:solidFill>
                  <a:srgbClr val="DCDCAA"/>
                </a:solidFill>
                <a:effectLst/>
                <a:latin typeface="Consolas" panose="020B0609020204030204" pitchFamily="49" charset="0"/>
              </a:rPr>
              <a:t>printf</a:t>
            </a:r>
            <a:r>
              <a:rPr lang="en-US" altLang="zh-CN" sz="1700" b="0" dirty="0">
                <a:solidFill>
                  <a:srgbClr val="CCCCCC"/>
                </a:solidFill>
                <a:effectLst/>
                <a:latin typeface="Consolas" panose="020B0609020204030204" pitchFamily="49" charset="0"/>
              </a:rPr>
              <a:t>(</a:t>
            </a:r>
            <a:r>
              <a:rPr lang="en-US" altLang="zh-CN" sz="1700" b="0" dirty="0">
                <a:solidFill>
                  <a:srgbClr val="CE9178"/>
                </a:solidFill>
                <a:effectLst/>
                <a:latin typeface="Consolas" panose="020B0609020204030204" pitchFamily="49" charset="0"/>
              </a:rPr>
              <a:t>"</a:t>
            </a:r>
            <a:r>
              <a:rPr lang="en-US" altLang="zh-CN" sz="1700" b="0" dirty="0">
                <a:solidFill>
                  <a:srgbClr val="9CDCFE"/>
                </a:solidFill>
                <a:effectLst/>
                <a:latin typeface="Consolas" panose="020B0609020204030204" pitchFamily="49" charset="0"/>
              </a:rPr>
              <a:t>%d</a:t>
            </a:r>
            <a:r>
              <a:rPr lang="en-US" altLang="zh-CN" sz="1700" b="0" dirty="0">
                <a:solidFill>
                  <a:srgbClr val="CE9178"/>
                </a:solidFill>
                <a:effectLst/>
                <a:latin typeface="Consolas" panose="020B0609020204030204" pitchFamily="49" charset="0"/>
              </a:rPr>
              <a:t>"</a:t>
            </a:r>
            <a:r>
              <a:rPr lang="en-US" altLang="zh-CN" sz="1700" b="0" dirty="0">
                <a:solidFill>
                  <a:srgbClr val="CCCCCC"/>
                </a:solidFill>
                <a:effectLst/>
                <a:latin typeface="Consolas" panose="020B0609020204030204" pitchFamily="49" charset="0"/>
              </a:rPr>
              <a:t>,</a:t>
            </a:r>
            <a:r>
              <a:rPr lang="en-US" altLang="zh-CN" sz="1700" b="0" dirty="0" err="1">
                <a:solidFill>
                  <a:srgbClr val="9CDCFE"/>
                </a:solidFill>
                <a:effectLst/>
                <a:latin typeface="Consolas" panose="020B0609020204030204" pitchFamily="49" charset="0"/>
              </a:rPr>
              <a:t>ans</a:t>
            </a:r>
            <a:r>
              <a:rPr lang="en-US" altLang="zh-CN" sz="1700" b="0" dirty="0">
                <a:solidFill>
                  <a:srgbClr val="CCCCCC"/>
                </a:solidFill>
                <a:effectLst/>
                <a:latin typeface="Consolas" panose="020B0609020204030204" pitchFamily="49" charset="0"/>
              </a:rPr>
              <a:t>[</a:t>
            </a:r>
            <a:r>
              <a:rPr lang="en-US" altLang="zh-CN" sz="1700" b="0" dirty="0" err="1">
                <a:solidFill>
                  <a:srgbClr val="9CDCFE"/>
                </a:solidFill>
                <a:effectLst/>
                <a:latin typeface="Consolas" panose="020B0609020204030204" pitchFamily="49" charset="0"/>
              </a:rPr>
              <a:t>i</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r>
              <a:rPr lang="en-US" altLang="zh-CN" sz="1700" b="0" dirty="0" err="1">
                <a:solidFill>
                  <a:srgbClr val="DCDCAA"/>
                </a:solidFill>
                <a:effectLst/>
                <a:latin typeface="Consolas" panose="020B0609020204030204" pitchFamily="49" charset="0"/>
              </a:rPr>
              <a:t>printf</a:t>
            </a:r>
            <a:r>
              <a:rPr lang="en-US" altLang="zh-CN" sz="1700" b="0" dirty="0">
                <a:solidFill>
                  <a:srgbClr val="CCCCCC"/>
                </a:solidFill>
                <a:effectLst/>
                <a:latin typeface="Consolas" panose="020B0609020204030204" pitchFamily="49" charset="0"/>
              </a:rPr>
              <a:t>(</a:t>
            </a:r>
            <a:r>
              <a:rPr lang="en-US" altLang="zh-CN" sz="1700" b="0" dirty="0">
                <a:solidFill>
                  <a:srgbClr val="CE9178"/>
                </a:solidFill>
                <a:effectLst/>
                <a:latin typeface="Consolas" panose="020B0609020204030204" pitchFamily="49" charset="0"/>
              </a:rPr>
              <a:t>"</a:t>
            </a:r>
            <a:r>
              <a:rPr lang="en-US" altLang="zh-CN" sz="1700" b="0" dirty="0">
                <a:solidFill>
                  <a:srgbClr val="D7BA7D"/>
                </a:solidFill>
                <a:effectLst/>
                <a:latin typeface="Consolas" panose="020B0609020204030204" pitchFamily="49" charset="0"/>
              </a:rPr>
              <a:t>\n</a:t>
            </a:r>
            <a:r>
              <a:rPr lang="en-US" altLang="zh-CN" sz="1700" b="0" dirty="0">
                <a:solidFill>
                  <a:srgbClr val="CE9178"/>
                </a:solidFill>
                <a:effectLst/>
                <a:latin typeface="Consolas" panose="020B0609020204030204" pitchFamily="49" charset="0"/>
              </a:rPr>
              <a:t>"</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r>
              <a:rPr lang="en-US" altLang="zh-CN" sz="1700" b="0" dirty="0">
                <a:solidFill>
                  <a:srgbClr val="C586C0"/>
                </a:solidFill>
                <a:effectLst/>
                <a:latin typeface="Consolas" panose="020B0609020204030204" pitchFamily="49" charset="0"/>
              </a:rPr>
              <a:t>return</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r>
              <a:rPr lang="en-US" altLang="zh-CN" sz="1700" b="0" dirty="0">
                <a:solidFill>
                  <a:srgbClr val="C586C0"/>
                </a:solidFill>
                <a:effectLst/>
                <a:latin typeface="Consolas" panose="020B0609020204030204" pitchFamily="49" charset="0"/>
              </a:rPr>
              <a:t>for</a:t>
            </a:r>
            <a:r>
              <a:rPr lang="en-US" altLang="zh-CN" sz="1700" b="0" dirty="0">
                <a:solidFill>
                  <a:srgbClr val="CCCCCC"/>
                </a:solidFill>
                <a:effectLst/>
                <a:latin typeface="Consolas" panose="020B0609020204030204" pitchFamily="49" charset="0"/>
              </a:rPr>
              <a:t>(</a:t>
            </a:r>
            <a:r>
              <a:rPr lang="en-US" altLang="zh-CN" sz="1700" b="0" dirty="0">
                <a:solidFill>
                  <a:srgbClr val="569CD6"/>
                </a:solidFill>
                <a:effectLst/>
                <a:latin typeface="Consolas" panose="020B0609020204030204" pitchFamily="49" charset="0"/>
              </a:rPr>
              <a:t>int</a:t>
            </a:r>
            <a:r>
              <a:rPr lang="en-US" altLang="zh-CN" sz="1700" b="0" dirty="0">
                <a:solidFill>
                  <a:srgbClr val="CCCCCC"/>
                </a:solidFill>
                <a:effectLst/>
                <a:latin typeface="Consolas" panose="020B0609020204030204" pitchFamily="49" charset="0"/>
              </a:rPr>
              <a:t> </a:t>
            </a:r>
            <a:r>
              <a:rPr lang="en-US" altLang="zh-CN" sz="1700" b="0" dirty="0" err="1">
                <a:solidFill>
                  <a:srgbClr val="9CDCFE"/>
                </a:solidFill>
                <a:effectLst/>
                <a:latin typeface="Consolas" panose="020B0609020204030204" pitchFamily="49" charset="0"/>
              </a:rPr>
              <a:t>i</a:t>
            </a:r>
            <a:r>
              <a:rPr lang="en-US" altLang="zh-CN" sz="1700" b="0" dirty="0">
                <a:solidFill>
                  <a:srgbClr val="D4D4D4"/>
                </a:solidFill>
                <a:effectLst/>
                <a:latin typeface="Consolas" panose="020B0609020204030204" pitchFamily="49" charset="0"/>
              </a:rPr>
              <a:t>=</a:t>
            </a:r>
            <a:r>
              <a:rPr lang="en-US" altLang="zh-CN" sz="1700" b="0" dirty="0">
                <a:solidFill>
                  <a:srgbClr val="B5CEA8"/>
                </a:solidFill>
                <a:effectLst/>
                <a:latin typeface="Consolas" panose="020B0609020204030204" pitchFamily="49" charset="0"/>
              </a:rPr>
              <a:t>0</a:t>
            </a:r>
            <a:r>
              <a:rPr lang="en-US" altLang="zh-CN" sz="1700" b="0" dirty="0">
                <a:solidFill>
                  <a:srgbClr val="CCCCCC"/>
                </a:solidFill>
                <a:effectLst/>
                <a:latin typeface="Consolas" panose="020B0609020204030204" pitchFamily="49" charset="0"/>
              </a:rPr>
              <a:t>;</a:t>
            </a:r>
            <a:r>
              <a:rPr lang="en-US" altLang="zh-CN" sz="1700" b="0" dirty="0">
                <a:solidFill>
                  <a:srgbClr val="9CDCFE"/>
                </a:solidFill>
                <a:effectLst/>
                <a:latin typeface="Consolas" panose="020B0609020204030204" pitchFamily="49" charset="0"/>
              </a:rPr>
              <a:t>i</a:t>
            </a:r>
            <a:r>
              <a:rPr lang="en-US" altLang="zh-CN" sz="1700" b="0" dirty="0">
                <a:solidFill>
                  <a:srgbClr val="D4D4D4"/>
                </a:solidFill>
                <a:effectLst/>
                <a:latin typeface="Consolas" panose="020B0609020204030204" pitchFamily="49" charset="0"/>
              </a:rPr>
              <a:t>&lt;</a:t>
            </a:r>
            <a:r>
              <a:rPr lang="en-US" altLang="zh-CN" sz="1700" b="0" dirty="0">
                <a:solidFill>
                  <a:srgbClr val="B5CEA8"/>
                </a:solidFill>
                <a:effectLst/>
                <a:latin typeface="Consolas" panose="020B0609020204030204" pitchFamily="49" charset="0"/>
              </a:rPr>
              <a:t>2</a:t>
            </a:r>
            <a:r>
              <a:rPr lang="en-US" altLang="zh-CN" sz="1700" b="0" dirty="0">
                <a:solidFill>
                  <a:srgbClr val="CCCCCC"/>
                </a:solidFill>
                <a:effectLst/>
                <a:latin typeface="Consolas" panose="020B0609020204030204" pitchFamily="49" charset="0"/>
              </a:rPr>
              <a:t>;</a:t>
            </a:r>
            <a:r>
              <a:rPr lang="en-US" altLang="zh-CN" sz="1700" b="0" dirty="0">
                <a:solidFill>
                  <a:srgbClr val="9CDCFE"/>
                </a:solidFill>
                <a:effectLst/>
                <a:latin typeface="Consolas" panose="020B0609020204030204" pitchFamily="49" charset="0"/>
              </a:rPr>
              <a:t>i</a:t>
            </a:r>
            <a:r>
              <a:rPr lang="en-US" altLang="zh-CN" sz="1700" b="0" dirty="0">
                <a:solidFill>
                  <a:srgbClr val="D4D4D4"/>
                </a:solidFill>
                <a:effectLst/>
                <a:latin typeface="Consolas" panose="020B0609020204030204" pitchFamily="49" charset="0"/>
              </a:rPr>
              <a:t>++</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r>
              <a:rPr lang="en-US" altLang="zh-CN" sz="1700" b="0" dirty="0" err="1">
                <a:solidFill>
                  <a:srgbClr val="9CDCFE"/>
                </a:solidFill>
                <a:effectLst/>
                <a:latin typeface="Consolas" panose="020B0609020204030204" pitchFamily="49" charset="0"/>
              </a:rPr>
              <a:t>ans</a:t>
            </a:r>
            <a:r>
              <a:rPr lang="en-US" altLang="zh-CN" sz="1700" b="0" dirty="0">
                <a:solidFill>
                  <a:srgbClr val="CCCCCC"/>
                </a:solidFill>
                <a:effectLst/>
                <a:latin typeface="Consolas" panose="020B0609020204030204" pitchFamily="49" charset="0"/>
              </a:rPr>
              <a:t>[</a:t>
            </a:r>
            <a:r>
              <a:rPr lang="en-US" altLang="zh-CN" sz="1700" b="0" dirty="0">
                <a:solidFill>
                  <a:srgbClr val="9CDCFE"/>
                </a:solidFill>
                <a:effectLst/>
                <a:latin typeface="Consolas" panose="020B0609020204030204" pitchFamily="49" charset="0"/>
              </a:rPr>
              <a:t>k</a:t>
            </a:r>
            <a:r>
              <a:rPr lang="en-US" altLang="zh-CN" sz="1700" b="0" dirty="0">
                <a:solidFill>
                  <a:srgbClr val="CCCCCC"/>
                </a:solidFill>
                <a:effectLst/>
                <a:latin typeface="Consolas" panose="020B0609020204030204" pitchFamily="49" charset="0"/>
              </a:rPr>
              <a:t>]</a:t>
            </a:r>
            <a:r>
              <a:rPr lang="en-US" altLang="zh-CN" sz="1700" b="0" dirty="0">
                <a:solidFill>
                  <a:srgbClr val="D4D4D4"/>
                </a:solidFill>
                <a:effectLst/>
                <a:latin typeface="Consolas" panose="020B0609020204030204" pitchFamily="49" charset="0"/>
              </a:rPr>
              <a:t>=</a:t>
            </a:r>
            <a:r>
              <a:rPr lang="en-US" altLang="zh-CN" sz="1700" b="0" dirty="0" err="1">
                <a:solidFill>
                  <a:srgbClr val="9CDCFE"/>
                </a:solidFill>
                <a:effectLst/>
                <a:latin typeface="Consolas" panose="020B0609020204030204" pitchFamily="49" charset="0"/>
              </a:rPr>
              <a:t>i</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r>
              <a:rPr lang="en-US" altLang="zh-CN" sz="1700" b="0" dirty="0" err="1">
                <a:solidFill>
                  <a:srgbClr val="DCDCAA"/>
                </a:solidFill>
                <a:effectLst/>
                <a:latin typeface="Consolas" panose="020B0609020204030204" pitchFamily="49" charset="0"/>
              </a:rPr>
              <a:t>myprint</a:t>
            </a:r>
            <a:r>
              <a:rPr lang="en-US" altLang="zh-CN" sz="1700" b="0" dirty="0">
                <a:solidFill>
                  <a:srgbClr val="CCCCCC"/>
                </a:solidFill>
                <a:effectLst/>
                <a:latin typeface="Consolas" panose="020B0609020204030204" pitchFamily="49" charset="0"/>
              </a:rPr>
              <a:t>(</a:t>
            </a:r>
            <a:r>
              <a:rPr lang="en-US" altLang="zh-CN" sz="1700" b="0" dirty="0">
                <a:solidFill>
                  <a:srgbClr val="9CDCFE"/>
                </a:solidFill>
                <a:effectLst/>
                <a:latin typeface="Consolas" panose="020B0609020204030204" pitchFamily="49" charset="0"/>
              </a:rPr>
              <a:t>k</a:t>
            </a:r>
            <a:r>
              <a:rPr lang="en-US" altLang="zh-CN" sz="1700" b="0" dirty="0">
                <a:solidFill>
                  <a:srgbClr val="D4D4D4"/>
                </a:solidFill>
                <a:effectLst/>
                <a:latin typeface="Consolas" panose="020B0609020204030204" pitchFamily="49" charset="0"/>
              </a:rPr>
              <a:t>+</a:t>
            </a:r>
            <a:r>
              <a:rPr lang="en-US" altLang="zh-CN" sz="1700" b="0" dirty="0">
                <a:solidFill>
                  <a:srgbClr val="B5CEA8"/>
                </a:solidFill>
                <a:effectLst/>
                <a:latin typeface="Consolas" panose="020B0609020204030204" pitchFamily="49" charset="0"/>
              </a:rPr>
              <a:t>1</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569CD6"/>
                </a:solidFill>
                <a:effectLst/>
                <a:latin typeface="Consolas" panose="020B0609020204030204" pitchFamily="49" charset="0"/>
              </a:rPr>
              <a:t>int</a:t>
            </a:r>
            <a:r>
              <a:rPr lang="en-US" altLang="zh-CN" sz="1700" b="0" dirty="0">
                <a:solidFill>
                  <a:srgbClr val="CCCCCC"/>
                </a:solidFill>
                <a:effectLst/>
                <a:latin typeface="Consolas" panose="020B0609020204030204" pitchFamily="49" charset="0"/>
              </a:rPr>
              <a:t> </a:t>
            </a:r>
            <a:r>
              <a:rPr lang="en-US" altLang="zh-CN" sz="1700" b="0" dirty="0">
                <a:solidFill>
                  <a:srgbClr val="DCDCAA"/>
                </a:solidFill>
                <a:effectLst/>
                <a:latin typeface="Consolas" panose="020B0609020204030204" pitchFamily="49" charset="0"/>
              </a:rPr>
              <a:t>main</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r>
              <a:rPr lang="en-US" altLang="zh-CN" sz="1700" b="0" dirty="0" err="1">
                <a:solidFill>
                  <a:srgbClr val="DCDCAA"/>
                </a:solidFill>
                <a:effectLst/>
                <a:latin typeface="Consolas" panose="020B0609020204030204" pitchFamily="49" charset="0"/>
              </a:rPr>
              <a:t>myprint</a:t>
            </a:r>
            <a:r>
              <a:rPr lang="en-US" altLang="zh-CN" sz="1700" b="0" dirty="0">
                <a:solidFill>
                  <a:srgbClr val="CCCCCC"/>
                </a:solidFill>
                <a:effectLst/>
                <a:latin typeface="Consolas" panose="020B0609020204030204" pitchFamily="49" charset="0"/>
              </a:rPr>
              <a:t>(</a:t>
            </a:r>
            <a:r>
              <a:rPr lang="en-US" altLang="zh-CN" sz="1700" b="0" dirty="0">
                <a:solidFill>
                  <a:srgbClr val="B5CEA8"/>
                </a:solidFill>
                <a:effectLst/>
                <a:latin typeface="Consolas" panose="020B0609020204030204" pitchFamily="49" charset="0"/>
              </a:rPr>
              <a:t>0</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    </a:t>
            </a:r>
            <a:r>
              <a:rPr lang="en-US" altLang="zh-CN" sz="1700" b="0" dirty="0">
                <a:solidFill>
                  <a:srgbClr val="C586C0"/>
                </a:solidFill>
                <a:effectLst/>
                <a:latin typeface="Consolas" panose="020B0609020204030204" pitchFamily="49" charset="0"/>
              </a:rPr>
              <a:t>return</a:t>
            </a:r>
            <a:r>
              <a:rPr lang="en-US" altLang="zh-CN" sz="1700" b="0" dirty="0">
                <a:solidFill>
                  <a:srgbClr val="CCCCCC"/>
                </a:solidFill>
                <a:effectLst/>
                <a:latin typeface="Consolas" panose="020B0609020204030204" pitchFamily="49" charset="0"/>
              </a:rPr>
              <a:t> </a:t>
            </a:r>
            <a:r>
              <a:rPr lang="en-US" altLang="zh-CN" sz="1700" b="0" dirty="0">
                <a:solidFill>
                  <a:srgbClr val="B5CEA8"/>
                </a:solidFill>
                <a:effectLst/>
                <a:latin typeface="Consolas" panose="020B0609020204030204" pitchFamily="49" charset="0"/>
              </a:rPr>
              <a:t>0</a:t>
            </a:r>
            <a:r>
              <a:rPr lang="en-US" altLang="zh-CN" sz="1700" b="0" dirty="0">
                <a:solidFill>
                  <a:srgbClr val="CCCCCC"/>
                </a:solidFill>
                <a:effectLst/>
                <a:latin typeface="Consolas" panose="020B0609020204030204" pitchFamily="49" charset="0"/>
              </a:rPr>
              <a:t>;</a:t>
            </a:r>
            <a:endParaRPr lang="en-US" altLang="zh-CN" sz="1700" b="0" dirty="0">
              <a:solidFill>
                <a:srgbClr val="CCCCCC"/>
              </a:solidFill>
              <a:effectLst/>
              <a:latin typeface="Consolas" panose="020B0609020204030204" pitchFamily="49" charset="0"/>
            </a:endParaRPr>
          </a:p>
          <a:p>
            <a:pPr>
              <a:spcBef>
                <a:spcPts val="0"/>
              </a:spcBef>
            </a:pPr>
            <a:r>
              <a:rPr lang="en-US" altLang="zh-CN" sz="1700" b="0" dirty="0">
                <a:solidFill>
                  <a:srgbClr val="CCCCCC"/>
                </a:solidFill>
                <a:effectLst/>
                <a:latin typeface="Consolas" panose="020B0609020204030204" pitchFamily="49" charset="0"/>
              </a:rPr>
              <a:t>}</a:t>
            </a:r>
            <a:endParaRPr lang="zh-CN" alt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用递归实现</a:t>
            </a:r>
            <a:r>
              <a:rPr lang="en-US" altLang="zh-CN" dirty="0"/>
              <a:t>2</a:t>
            </a:r>
            <a:endParaRPr lang="zh-CN" altLang="en-US" dirty="0"/>
          </a:p>
        </p:txBody>
      </p:sp>
      <p:sp>
        <p:nvSpPr>
          <p:cNvPr id="3" name="内容占位符 2"/>
          <p:cNvSpPr>
            <a:spLocks noGrp="1"/>
          </p:cNvSpPr>
          <p:nvPr>
            <p:ph idx="1"/>
          </p:nvPr>
        </p:nvSpPr>
        <p:spPr>
          <a:xfrm>
            <a:off x="1990982" y="1367160"/>
            <a:ext cx="5005485" cy="5378499"/>
          </a:xfrm>
          <a:solidFill>
            <a:schemeClr val="tx1"/>
          </a:solidFill>
        </p:spPr>
        <p:txBody>
          <a:bodyPr>
            <a:noAutofit/>
          </a:bodyPr>
          <a:lstStyle/>
          <a:p>
            <a:pPr>
              <a:spcBef>
                <a:spcPts val="0"/>
              </a:spcBef>
            </a:pPr>
            <a:r>
              <a:rPr lang="en-US" altLang="zh-CN" sz="1500" b="0" dirty="0">
                <a:solidFill>
                  <a:srgbClr val="C586C0"/>
                </a:solidFill>
                <a:effectLst/>
                <a:latin typeface="Consolas" panose="020B0609020204030204" pitchFamily="49" charset="0"/>
              </a:rPr>
              <a:t>#include</a:t>
            </a:r>
            <a:r>
              <a:rPr lang="en-US" altLang="zh-CN" sz="1500" b="0" dirty="0">
                <a:solidFill>
                  <a:srgbClr val="CE9178"/>
                </a:solidFill>
                <a:effectLst/>
                <a:latin typeface="Consolas" panose="020B0609020204030204" pitchFamily="49" charset="0"/>
              </a:rPr>
              <a:t>&lt;stdio.h&gt;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569CD6"/>
                </a:solidFill>
                <a:effectLst/>
                <a:latin typeface="Consolas" panose="020B0609020204030204" pitchFamily="49" charset="0"/>
              </a:rPr>
              <a:t>int</a:t>
            </a:r>
            <a:r>
              <a:rPr lang="en-US" altLang="zh-CN" sz="1500" b="0" dirty="0">
                <a:solidFill>
                  <a:srgbClr val="CCCCCC"/>
                </a:solidFill>
                <a:effectLst/>
                <a:latin typeface="Consolas" panose="020B0609020204030204" pitchFamily="49" charset="0"/>
              </a:rPr>
              <a:t> </a:t>
            </a:r>
            <a:r>
              <a:rPr lang="en-US" altLang="zh-CN" sz="1500" b="0" dirty="0" err="1">
                <a:solidFill>
                  <a:srgbClr val="9CDCFE"/>
                </a:solidFill>
                <a:effectLst/>
                <a:latin typeface="Consolas" panose="020B0609020204030204" pitchFamily="49" charset="0"/>
              </a:rPr>
              <a:t>ans</a:t>
            </a:r>
            <a:r>
              <a:rPr lang="en-US" altLang="zh-CN" sz="1500" b="0" dirty="0">
                <a:solidFill>
                  <a:srgbClr val="CCCCCC"/>
                </a:solidFill>
                <a:effectLst/>
                <a:latin typeface="Consolas" panose="020B0609020204030204" pitchFamily="49" charset="0"/>
              </a:rPr>
              <a:t>[</a:t>
            </a:r>
            <a:r>
              <a:rPr lang="en-US" altLang="zh-CN" sz="1500" b="0" dirty="0">
                <a:solidFill>
                  <a:srgbClr val="B5CEA8"/>
                </a:solidFill>
                <a:effectLst/>
                <a:latin typeface="Consolas" panose="020B0609020204030204" pitchFamily="49" charset="0"/>
              </a:rPr>
              <a:t>100</a:t>
            </a:r>
            <a:r>
              <a:rPr lang="en-US" altLang="zh-CN" sz="1500" b="0" dirty="0">
                <a:solidFill>
                  <a:srgbClr val="CCCCCC"/>
                </a:solidFill>
                <a:effectLst/>
                <a:latin typeface="Consolas" panose="020B0609020204030204" pitchFamily="49" charset="0"/>
              </a:rPr>
              <a:t>]</a:t>
            </a:r>
            <a:r>
              <a:rPr lang="en-US" altLang="zh-CN" sz="1500" b="0" dirty="0">
                <a:solidFill>
                  <a:srgbClr val="D4D4D4"/>
                </a:solidFill>
                <a:effectLst/>
                <a:latin typeface="Consolas" panose="020B0609020204030204" pitchFamily="49" charset="0"/>
              </a:rPr>
              <a:t>=</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569CD6"/>
                </a:solidFill>
                <a:effectLst/>
                <a:latin typeface="Consolas" panose="020B0609020204030204" pitchFamily="49" charset="0"/>
              </a:rPr>
              <a:t>int</a:t>
            </a:r>
            <a:r>
              <a:rPr lang="en-US" altLang="zh-CN" sz="1500" b="0" dirty="0">
                <a:solidFill>
                  <a:srgbClr val="CCCCCC"/>
                </a:solidFill>
                <a:effectLst/>
                <a:latin typeface="Consolas" panose="020B0609020204030204" pitchFamily="49" charset="0"/>
              </a:rPr>
              <a:t> </a:t>
            </a:r>
            <a:r>
              <a:rPr lang="en-US" altLang="zh-CN" sz="1500" b="0" dirty="0">
                <a:solidFill>
                  <a:srgbClr val="9CDCFE"/>
                </a:solidFill>
                <a:effectLst/>
                <a:latin typeface="Consolas" panose="020B0609020204030204" pitchFamily="49" charset="0"/>
              </a:rPr>
              <a:t>n</a:t>
            </a:r>
            <a:r>
              <a:rPr lang="en-US" altLang="zh-CN" sz="1500" b="0" dirty="0">
                <a:solidFill>
                  <a:srgbClr val="CCCCCC"/>
                </a:solidFill>
                <a:effectLst/>
                <a:latin typeface="Consolas" panose="020B0609020204030204" pitchFamily="49" charset="0"/>
              </a:rPr>
              <a:t>, </a:t>
            </a:r>
            <a:r>
              <a:rPr lang="en-US" altLang="zh-CN" sz="1500" b="0" dirty="0">
                <a:solidFill>
                  <a:srgbClr val="9CDCFE"/>
                </a:solidFill>
                <a:effectLst/>
                <a:latin typeface="Consolas" panose="020B0609020204030204" pitchFamily="49" charset="0"/>
              </a:rPr>
              <a:t>m</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569CD6"/>
                </a:solidFill>
                <a:effectLst/>
                <a:latin typeface="Consolas" panose="020B0609020204030204" pitchFamily="49" charset="0"/>
              </a:rPr>
              <a:t>void</a:t>
            </a:r>
            <a:r>
              <a:rPr lang="en-US" altLang="zh-CN" sz="1500" b="0" dirty="0">
                <a:solidFill>
                  <a:srgbClr val="CCCCCC"/>
                </a:solidFill>
                <a:effectLst/>
                <a:latin typeface="Consolas" panose="020B0609020204030204" pitchFamily="49" charset="0"/>
              </a:rPr>
              <a:t> </a:t>
            </a:r>
            <a:r>
              <a:rPr lang="en-US" altLang="zh-CN" sz="1500" b="0" dirty="0" err="1">
                <a:solidFill>
                  <a:srgbClr val="DCDCAA"/>
                </a:solidFill>
                <a:effectLst/>
                <a:latin typeface="Consolas" panose="020B0609020204030204" pitchFamily="49" charset="0"/>
              </a:rPr>
              <a:t>myprint</a:t>
            </a:r>
            <a:r>
              <a:rPr lang="en-US" altLang="zh-CN" sz="1500" b="0" dirty="0">
                <a:solidFill>
                  <a:srgbClr val="CCCCCC"/>
                </a:solidFill>
                <a:effectLst/>
                <a:latin typeface="Consolas" panose="020B0609020204030204" pitchFamily="49" charset="0"/>
              </a:rPr>
              <a:t>(</a:t>
            </a:r>
            <a:r>
              <a:rPr lang="en-US" altLang="zh-CN" sz="1500" b="0" dirty="0">
                <a:solidFill>
                  <a:srgbClr val="569CD6"/>
                </a:solidFill>
                <a:effectLst/>
                <a:latin typeface="Consolas" panose="020B0609020204030204" pitchFamily="49" charset="0"/>
              </a:rPr>
              <a:t>int</a:t>
            </a:r>
            <a:r>
              <a:rPr lang="en-US" altLang="zh-CN" sz="1500" b="0" dirty="0">
                <a:solidFill>
                  <a:srgbClr val="CCCCCC"/>
                </a:solidFill>
                <a:effectLst/>
                <a:latin typeface="Consolas" panose="020B0609020204030204" pitchFamily="49" charset="0"/>
              </a:rPr>
              <a:t> </a:t>
            </a:r>
            <a:r>
              <a:rPr lang="en-US" altLang="zh-CN" sz="1500" b="0" dirty="0">
                <a:solidFill>
                  <a:srgbClr val="9CDCFE"/>
                </a:solidFill>
                <a:effectLst/>
                <a:latin typeface="Consolas" panose="020B0609020204030204" pitchFamily="49" charset="0"/>
              </a:rPr>
              <a:t>k</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r>
              <a:rPr lang="en-US" altLang="zh-CN" sz="1500" b="0" dirty="0">
                <a:solidFill>
                  <a:srgbClr val="C586C0"/>
                </a:solidFill>
                <a:effectLst/>
                <a:latin typeface="Consolas" panose="020B0609020204030204" pitchFamily="49" charset="0"/>
              </a:rPr>
              <a:t>if</a:t>
            </a:r>
            <a:r>
              <a:rPr lang="en-US" altLang="zh-CN" sz="1500" b="0" dirty="0">
                <a:solidFill>
                  <a:srgbClr val="CCCCCC"/>
                </a:solidFill>
                <a:effectLst/>
                <a:latin typeface="Consolas" panose="020B0609020204030204" pitchFamily="49" charset="0"/>
              </a:rPr>
              <a:t>(</a:t>
            </a:r>
            <a:r>
              <a:rPr lang="en-US" altLang="zh-CN" sz="1500" b="0" dirty="0">
                <a:solidFill>
                  <a:srgbClr val="9CDCFE"/>
                </a:solidFill>
                <a:effectLst/>
                <a:latin typeface="Consolas" panose="020B0609020204030204" pitchFamily="49" charset="0"/>
              </a:rPr>
              <a:t>k</a:t>
            </a:r>
            <a:r>
              <a:rPr lang="en-US" altLang="zh-CN" sz="1500" b="0" dirty="0">
                <a:solidFill>
                  <a:srgbClr val="D4D4D4"/>
                </a:solidFill>
                <a:effectLst/>
                <a:latin typeface="Consolas" panose="020B0609020204030204" pitchFamily="49" charset="0"/>
              </a:rPr>
              <a:t>==</a:t>
            </a:r>
            <a:r>
              <a:rPr lang="en-US" altLang="zh-CN" sz="1500" b="0" dirty="0">
                <a:solidFill>
                  <a:srgbClr val="9CDCFE"/>
                </a:solidFill>
                <a:effectLst/>
                <a:latin typeface="Consolas" panose="020B0609020204030204" pitchFamily="49" charset="0"/>
              </a:rPr>
              <a:t>n</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r>
              <a:rPr lang="en-US" altLang="zh-CN" sz="1500" b="0" dirty="0">
                <a:solidFill>
                  <a:srgbClr val="C586C0"/>
                </a:solidFill>
                <a:effectLst/>
                <a:latin typeface="Consolas" panose="020B0609020204030204" pitchFamily="49" charset="0"/>
              </a:rPr>
              <a:t>for</a:t>
            </a:r>
            <a:r>
              <a:rPr lang="en-US" altLang="zh-CN" sz="1500" b="0" dirty="0">
                <a:solidFill>
                  <a:srgbClr val="CCCCCC"/>
                </a:solidFill>
                <a:effectLst/>
                <a:latin typeface="Consolas" panose="020B0609020204030204" pitchFamily="49" charset="0"/>
              </a:rPr>
              <a:t>(</a:t>
            </a:r>
            <a:r>
              <a:rPr lang="en-US" altLang="zh-CN" sz="1500" b="0" dirty="0">
                <a:solidFill>
                  <a:srgbClr val="569CD6"/>
                </a:solidFill>
                <a:effectLst/>
                <a:latin typeface="Consolas" panose="020B0609020204030204" pitchFamily="49" charset="0"/>
              </a:rPr>
              <a:t>int</a:t>
            </a:r>
            <a:r>
              <a:rPr lang="en-US" altLang="zh-CN" sz="1500" b="0" dirty="0">
                <a:solidFill>
                  <a:srgbClr val="CCCCCC"/>
                </a:solidFill>
                <a:effectLst/>
                <a:latin typeface="Consolas" panose="020B0609020204030204" pitchFamily="49" charset="0"/>
              </a:rPr>
              <a:t> </a:t>
            </a:r>
            <a:r>
              <a:rPr lang="en-US" altLang="zh-CN" sz="1500" b="0" dirty="0" err="1">
                <a:solidFill>
                  <a:srgbClr val="9CDCFE"/>
                </a:solidFill>
                <a:effectLst/>
                <a:latin typeface="Consolas" panose="020B0609020204030204" pitchFamily="49" charset="0"/>
              </a:rPr>
              <a:t>i</a:t>
            </a:r>
            <a:r>
              <a:rPr lang="en-US" altLang="zh-CN" sz="1500" b="0" dirty="0">
                <a:solidFill>
                  <a:srgbClr val="D4D4D4"/>
                </a:solidFill>
                <a:effectLst/>
                <a:latin typeface="Consolas" panose="020B0609020204030204" pitchFamily="49" charset="0"/>
              </a:rPr>
              <a:t>=</a:t>
            </a:r>
            <a:r>
              <a:rPr lang="en-US" altLang="zh-CN" sz="1500" b="0" dirty="0">
                <a:solidFill>
                  <a:srgbClr val="B5CEA8"/>
                </a:solidFill>
                <a:effectLst/>
                <a:latin typeface="Consolas" panose="020B0609020204030204" pitchFamily="49" charset="0"/>
              </a:rPr>
              <a:t>0</a:t>
            </a:r>
            <a:r>
              <a:rPr lang="en-US" altLang="zh-CN" sz="1500" b="0" dirty="0">
                <a:solidFill>
                  <a:srgbClr val="CCCCCC"/>
                </a:solidFill>
                <a:effectLst/>
                <a:latin typeface="Consolas" panose="020B0609020204030204" pitchFamily="49" charset="0"/>
              </a:rPr>
              <a:t>;</a:t>
            </a:r>
            <a:r>
              <a:rPr lang="en-US" altLang="zh-CN" sz="1500" b="0" dirty="0">
                <a:solidFill>
                  <a:srgbClr val="9CDCFE"/>
                </a:solidFill>
                <a:effectLst/>
                <a:latin typeface="Consolas" panose="020B0609020204030204" pitchFamily="49" charset="0"/>
              </a:rPr>
              <a:t>i</a:t>
            </a:r>
            <a:r>
              <a:rPr lang="en-US" altLang="zh-CN" sz="1500" b="0" dirty="0">
                <a:solidFill>
                  <a:srgbClr val="D4D4D4"/>
                </a:solidFill>
                <a:effectLst/>
                <a:latin typeface="Consolas" panose="020B0609020204030204" pitchFamily="49" charset="0"/>
              </a:rPr>
              <a:t>&lt;</a:t>
            </a:r>
            <a:r>
              <a:rPr lang="en-US" altLang="zh-CN" sz="1500" b="0" dirty="0" err="1">
                <a:solidFill>
                  <a:srgbClr val="9CDCFE"/>
                </a:solidFill>
                <a:effectLst/>
                <a:latin typeface="Consolas" panose="020B0609020204030204" pitchFamily="49" charset="0"/>
              </a:rPr>
              <a:t>n</a:t>
            </a:r>
            <a:r>
              <a:rPr lang="en-US" altLang="zh-CN" sz="1500" b="0" dirty="0" err="1">
                <a:solidFill>
                  <a:srgbClr val="CCCCCC"/>
                </a:solidFill>
                <a:effectLst/>
                <a:latin typeface="Consolas" panose="020B0609020204030204" pitchFamily="49" charset="0"/>
              </a:rPr>
              <a:t>;</a:t>
            </a:r>
            <a:r>
              <a:rPr lang="en-US" altLang="zh-CN" sz="1500" b="0" dirty="0" err="1">
                <a:solidFill>
                  <a:srgbClr val="9CDCFE"/>
                </a:solidFill>
                <a:effectLst/>
                <a:latin typeface="Consolas" panose="020B0609020204030204" pitchFamily="49" charset="0"/>
              </a:rPr>
              <a:t>i</a:t>
            </a:r>
            <a:r>
              <a:rPr lang="en-US" altLang="zh-CN" sz="1500" b="0" dirty="0">
                <a:solidFill>
                  <a:srgbClr val="D4D4D4"/>
                </a:solidFill>
                <a:effectLst/>
                <a:latin typeface="Consolas" panose="020B0609020204030204" pitchFamily="49" charset="0"/>
              </a:rPr>
              <a:t>++</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r>
              <a:rPr lang="en-US" altLang="zh-CN" sz="1500" b="0" dirty="0" err="1">
                <a:solidFill>
                  <a:srgbClr val="DCDCAA"/>
                </a:solidFill>
                <a:effectLst/>
                <a:latin typeface="Consolas" panose="020B0609020204030204" pitchFamily="49" charset="0"/>
              </a:rPr>
              <a:t>printf</a:t>
            </a:r>
            <a:r>
              <a:rPr lang="en-US" altLang="zh-CN" sz="1500" b="0" dirty="0">
                <a:solidFill>
                  <a:srgbClr val="CCCCCC"/>
                </a:solidFill>
                <a:effectLst/>
                <a:latin typeface="Consolas" panose="020B0609020204030204" pitchFamily="49" charset="0"/>
              </a:rPr>
              <a:t>(</a:t>
            </a:r>
            <a:r>
              <a:rPr lang="en-US" altLang="zh-CN" sz="1500" b="0" dirty="0">
                <a:solidFill>
                  <a:srgbClr val="CE9178"/>
                </a:solidFill>
                <a:effectLst/>
                <a:latin typeface="Consolas" panose="020B0609020204030204" pitchFamily="49" charset="0"/>
              </a:rPr>
              <a:t>"</a:t>
            </a:r>
            <a:r>
              <a:rPr lang="en-US" altLang="zh-CN" sz="1500" b="0" dirty="0">
                <a:solidFill>
                  <a:srgbClr val="9CDCFE"/>
                </a:solidFill>
                <a:effectLst/>
                <a:latin typeface="Consolas" panose="020B0609020204030204" pitchFamily="49" charset="0"/>
              </a:rPr>
              <a:t>%d</a:t>
            </a:r>
            <a:r>
              <a:rPr lang="en-US" altLang="zh-CN" sz="1500" b="0" dirty="0">
                <a:solidFill>
                  <a:srgbClr val="CE9178"/>
                </a:solidFill>
                <a:effectLst/>
                <a:latin typeface="Consolas" panose="020B0609020204030204" pitchFamily="49" charset="0"/>
              </a:rPr>
              <a:t>"</a:t>
            </a:r>
            <a:r>
              <a:rPr lang="en-US" altLang="zh-CN" sz="1500" b="0" dirty="0">
                <a:solidFill>
                  <a:srgbClr val="CCCCCC"/>
                </a:solidFill>
                <a:effectLst/>
                <a:latin typeface="Consolas" panose="020B0609020204030204" pitchFamily="49" charset="0"/>
              </a:rPr>
              <a:t>,</a:t>
            </a:r>
            <a:r>
              <a:rPr lang="en-US" altLang="zh-CN" sz="1500" b="0" dirty="0" err="1">
                <a:solidFill>
                  <a:srgbClr val="9CDCFE"/>
                </a:solidFill>
                <a:effectLst/>
                <a:latin typeface="Consolas" panose="020B0609020204030204" pitchFamily="49" charset="0"/>
              </a:rPr>
              <a:t>ans</a:t>
            </a:r>
            <a:r>
              <a:rPr lang="en-US" altLang="zh-CN" sz="1500" b="0" dirty="0">
                <a:solidFill>
                  <a:srgbClr val="CCCCCC"/>
                </a:solidFill>
                <a:effectLst/>
                <a:latin typeface="Consolas" panose="020B0609020204030204" pitchFamily="49" charset="0"/>
              </a:rPr>
              <a:t>[</a:t>
            </a:r>
            <a:r>
              <a:rPr lang="en-US" altLang="zh-CN" sz="1500" b="0" dirty="0" err="1">
                <a:solidFill>
                  <a:srgbClr val="9CDCFE"/>
                </a:solidFill>
                <a:effectLst/>
                <a:latin typeface="Consolas" panose="020B0609020204030204" pitchFamily="49" charset="0"/>
              </a:rPr>
              <a:t>i</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r>
              <a:rPr lang="en-US" altLang="zh-CN" sz="1500" b="0" dirty="0" err="1">
                <a:solidFill>
                  <a:srgbClr val="DCDCAA"/>
                </a:solidFill>
                <a:effectLst/>
                <a:latin typeface="Consolas" panose="020B0609020204030204" pitchFamily="49" charset="0"/>
              </a:rPr>
              <a:t>printf</a:t>
            </a:r>
            <a:r>
              <a:rPr lang="en-US" altLang="zh-CN" sz="1500" b="0" dirty="0">
                <a:solidFill>
                  <a:srgbClr val="CCCCCC"/>
                </a:solidFill>
                <a:effectLst/>
                <a:latin typeface="Consolas" panose="020B0609020204030204" pitchFamily="49" charset="0"/>
              </a:rPr>
              <a:t>(</a:t>
            </a:r>
            <a:r>
              <a:rPr lang="en-US" altLang="zh-CN" sz="1500" b="0" dirty="0">
                <a:solidFill>
                  <a:srgbClr val="CE9178"/>
                </a:solidFill>
                <a:effectLst/>
                <a:latin typeface="Consolas" panose="020B0609020204030204" pitchFamily="49" charset="0"/>
              </a:rPr>
              <a:t>"</a:t>
            </a:r>
            <a:r>
              <a:rPr lang="en-US" altLang="zh-CN" sz="1500" b="0" dirty="0">
                <a:solidFill>
                  <a:srgbClr val="D7BA7D"/>
                </a:solidFill>
                <a:effectLst/>
                <a:latin typeface="Consolas" panose="020B0609020204030204" pitchFamily="49" charset="0"/>
              </a:rPr>
              <a:t>\n</a:t>
            </a:r>
            <a:r>
              <a:rPr lang="en-US" altLang="zh-CN" sz="1500" b="0" dirty="0">
                <a:solidFill>
                  <a:srgbClr val="CE9178"/>
                </a:solidFill>
                <a:effectLst/>
                <a:latin typeface="Consolas" panose="020B0609020204030204" pitchFamily="49" charset="0"/>
              </a:rPr>
              <a:t>"</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r>
              <a:rPr lang="en-US" altLang="zh-CN" sz="1500" b="0" dirty="0">
                <a:solidFill>
                  <a:srgbClr val="C586C0"/>
                </a:solidFill>
                <a:effectLst/>
                <a:latin typeface="Consolas" panose="020B0609020204030204" pitchFamily="49" charset="0"/>
              </a:rPr>
              <a:t>return</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r>
              <a:rPr lang="en-US" altLang="zh-CN" sz="1500" b="0" dirty="0">
                <a:solidFill>
                  <a:srgbClr val="C586C0"/>
                </a:solidFill>
                <a:effectLst/>
                <a:latin typeface="Consolas" panose="020B0609020204030204" pitchFamily="49" charset="0"/>
              </a:rPr>
              <a:t>for</a:t>
            </a:r>
            <a:r>
              <a:rPr lang="en-US" altLang="zh-CN" sz="1500" b="0" dirty="0">
                <a:solidFill>
                  <a:srgbClr val="CCCCCC"/>
                </a:solidFill>
                <a:effectLst/>
                <a:latin typeface="Consolas" panose="020B0609020204030204" pitchFamily="49" charset="0"/>
              </a:rPr>
              <a:t>(</a:t>
            </a:r>
            <a:r>
              <a:rPr lang="en-US" altLang="zh-CN" sz="1500" b="0" dirty="0">
                <a:solidFill>
                  <a:srgbClr val="569CD6"/>
                </a:solidFill>
                <a:effectLst/>
                <a:latin typeface="Consolas" panose="020B0609020204030204" pitchFamily="49" charset="0"/>
              </a:rPr>
              <a:t>int</a:t>
            </a:r>
            <a:r>
              <a:rPr lang="en-US" altLang="zh-CN" sz="1500" b="0" dirty="0">
                <a:solidFill>
                  <a:srgbClr val="CCCCCC"/>
                </a:solidFill>
                <a:effectLst/>
                <a:latin typeface="Consolas" panose="020B0609020204030204" pitchFamily="49" charset="0"/>
              </a:rPr>
              <a:t> </a:t>
            </a:r>
            <a:r>
              <a:rPr lang="en-US" altLang="zh-CN" sz="1500" b="0" dirty="0" err="1">
                <a:solidFill>
                  <a:srgbClr val="9CDCFE"/>
                </a:solidFill>
                <a:effectLst/>
                <a:latin typeface="Consolas" panose="020B0609020204030204" pitchFamily="49" charset="0"/>
              </a:rPr>
              <a:t>i</a:t>
            </a:r>
            <a:r>
              <a:rPr lang="en-US" altLang="zh-CN" sz="1500" b="0" dirty="0">
                <a:solidFill>
                  <a:srgbClr val="D4D4D4"/>
                </a:solidFill>
                <a:effectLst/>
                <a:latin typeface="Consolas" panose="020B0609020204030204" pitchFamily="49" charset="0"/>
              </a:rPr>
              <a:t>=</a:t>
            </a:r>
            <a:r>
              <a:rPr lang="en-US" altLang="zh-CN" sz="1500" b="0" dirty="0">
                <a:solidFill>
                  <a:srgbClr val="B5CEA8"/>
                </a:solidFill>
                <a:effectLst/>
                <a:latin typeface="Consolas" panose="020B0609020204030204" pitchFamily="49" charset="0"/>
              </a:rPr>
              <a:t>0</a:t>
            </a:r>
            <a:r>
              <a:rPr lang="en-US" altLang="zh-CN" sz="1500" b="0" dirty="0">
                <a:solidFill>
                  <a:srgbClr val="CCCCCC"/>
                </a:solidFill>
                <a:effectLst/>
                <a:latin typeface="Consolas" panose="020B0609020204030204" pitchFamily="49" charset="0"/>
              </a:rPr>
              <a:t>;</a:t>
            </a:r>
            <a:r>
              <a:rPr lang="en-US" altLang="zh-CN" sz="1500" b="0" dirty="0">
                <a:solidFill>
                  <a:srgbClr val="9CDCFE"/>
                </a:solidFill>
                <a:effectLst/>
                <a:latin typeface="Consolas" panose="020B0609020204030204" pitchFamily="49" charset="0"/>
              </a:rPr>
              <a:t>i</a:t>
            </a:r>
            <a:r>
              <a:rPr lang="en-US" altLang="zh-CN" sz="1500" b="0" dirty="0">
                <a:solidFill>
                  <a:srgbClr val="D4D4D4"/>
                </a:solidFill>
                <a:effectLst/>
                <a:latin typeface="Consolas" panose="020B0609020204030204" pitchFamily="49" charset="0"/>
              </a:rPr>
              <a:t>&lt;</a:t>
            </a:r>
            <a:r>
              <a:rPr lang="en-US" altLang="zh-CN" sz="1500" b="0" dirty="0" err="1">
                <a:solidFill>
                  <a:srgbClr val="9CDCFE"/>
                </a:solidFill>
                <a:effectLst/>
                <a:latin typeface="Consolas" panose="020B0609020204030204" pitchFamily="49" charset="0"/>
              </a:rPr>
              <a:t>m</a:t>
            </a:r>
            <a:r>
              <a:rPr lang="en-US" altLang="zh-CN" sz="1500" b="0" dirty="0" err="1">
                <a:solidFill>
                  <a:srgbClr val="CCCCCC"/>
                </a:solidFill>
                <a:effectLst/>
                <a:latin typeface="Consolas" panose="020B0609020204030204" pitchFamily="49" charset="0"/>
              </a:rPr>
              <a:t>;</a:t>
            </a:r>
            <a:r>
              <a:rPr lang="en-US" altLang="zh-CN" sz="1500" b="0" dirty="0" err="1">
                <a:solidFill>
                  <a:srgbClr val="9CDCFE"/>
                </a:solidFill>
                <a:effectLst/>
                <a:latin typeface="Consolas" panose="020B0609020204030204" pitchFamily="49" charset="0"/>
              </a:rPr>
              <a:t>i</a:t>
            </a:r>
            <a:r>
              <a:rPr lang="en-US" altLang="zh-CN" sz="1500" b="0" dirty="0">
                <a:solidFill>
                  <a:srgbClr val="D4D4D4"/>
                </a:solidFill>
                <a:effectLst/>
                <a:latin typeface="Consolas" panose="020B0609020204030204" pitchFamily="49" charset="0"/>
              </a:rPr>
              <a:t>++</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r>
              <a:rPr lang="en-US" altLang="zh-CN" sz="1500" b="0" dirty="0" err="1">
                <a:solidFill>
                  <a:srgbClr val="9CDCFE"/>
                </a:solidFill>
                <a:effectLst/>
                <a:latin typeface="Consolas" panose="020B0609020204030204" pitchFamily="49" charset="0"/>
              </a:rPr>
              <a:t>ans</a:t>
            </a:r>
            <a:r>
              <a:rPr lang="en-US" altLang="zh-CN" sz="1500" b="0" dirty="0">
                <a:solidFill>
                  <a:srgbClr val="CCCCCC"/>
                </a:solidFill>
                <a:effectLst/>
                <a:latin typeface="Consolas" panose="020B0609020204030204" pitchFamily="49" charset="0"/>
              </a:rPr>
              <a:t>[</a:t>
            </a:r>
            <a:r>
              <a:rPr lang="en-US" altLang="zh-CN" sz="1500" b="0" dirty="0">
                <a:solidFill>
                  <a:srgbClr val="9CDCFE"/>
                </a:solidFill>
                <a:effectLst/>
                <a:latin typeface="Consolas" panose="020B0609020204030204" pitchFamily="49" charset="0"/>
              </a:rPr>
              <a:t>k</a:t>
            </a:r>
            <a:r>
              <a:rPr lang="en-US" altLang="zh-CN" sz="1500" b="0" dirty="0">
                <a:solidFill>
                  <a:srgbClr val="CCCCCC"/>
                </a:solidFill>
                <a:effectLst/>
                <a:latin typeface="Consolas" panose="020B0609020204030204" pitchFamily="49" charset="0"/>
              </a:rPr>
              <a:t>]</a:t>
            </a:r>
            <a:r>
              <a:rPr lang="en-US" altLang="zh-CN" sz="1500" b="0" dirty="0">
                <a:solidFill>
                  <a:srgbClr val="D4D4D4"/>
                </a:solidFill>
                <a:effectLst/>
                <a:latin typeface="Consolas" panose="020B0609020204030204" pitchFamily="49" charset="0"/>
              </a:rPr>
              <a:t>=</a:t>
            </a:r>
            <a:r>
              <a:rPr lang="en-US" altLang="zh-CN" sz="1500" b="0" dirty="0" err="1">
                <a:solidFill>
                  <a:srgbClr val="9CDCFE"/>
                </a:solidFill>
                <a:effectLst/>
                <a:latin typeface="Consolas" panose="020B0609020204030204" pitchFamily="49" charset="0"/>
              </a:rPr>
              <a:t>i</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r>
              <a:rPr lang="en-US" altLang="zh-CN" sz="1500" b="0" dirty="0" err="1">
                <a:solidFill>
                  <a:srgbClr val="DCDCAA"/>
                </a:solidFill>
                <a:effectLst/>
                <a:latin typeface="Consolas" panose="020B0609020204030204" pitchFamily="49" charset="0"/>
              </a:rPr>
              <a:t>myprint</a:t>
            </a:r>
            <a:r>
              <a:rPr lang="en-US" altLang="zh-CN" sz="1500" b="0" dirty="0">
                <a:solidFill>
                  <a:srgbClr val="CCCCCC"/>
                </a:solidFill>
                <a:effectLst/>
                <a:latin typeface="Consolas" panose="020B0609020204030204" pitchFamily="49" charset="0"/>
              </a:rPr>
              <a:t>(</a:t>
            </a:r>
            <a:r>
              <a:rPr lang="en-US" altLang="zh-CN" sz="1500" b="0" dirty="0">
                <a:solidFill>
                  <a:srgbClr val="9CDCFE"/>
                </a:solidFill>
                <a:effectLst/>
                <a:latin typeface="Consolas" panose="020B0609020204030204" pitchFamily="49" charset="0"/>
              </a:rPr>
              <a:t>k</a:t>
            </a:r>
            <a:r>
              <a:rPr lang="en-US" altLang="zh-CN" sz="1500" b="0" dirty="0">
                <a:solidFill>
                  <a:srgbClr val="D4D4D4"/>
                </a:solidFill>
                <a:effectLst/>
                <a:latin typeface="Consolas" panose="020B0609020204030204" pitchFamily="49" charset="0"/>
              </a:rPr>
              <a:t>+</a:t>
            </a:r>
            <a:r>
              <a:rPr lang="en-US" altLang="zh-CN" sz="1500" b="0" dirty="0">
                <a:solidFill>
                  <a:srgbClr val="B5CEA8"/>
                </a:solidFill>
                <a:effectLst/>
                <a:latin typeface="Consolas" panose="020B0609020204030204" pitchFamily="49" charset="0"/>
              </a:rPr>
              <a:t>1</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569CD6"/>
                </a:solidFill>
                <a:effectLst/>
                <a:latin typeface="Consolas" panose="020B0609020204030204" pitchFamily="49" charset="0"/>
              </a:rPr>
              <a:t>int</a:t>
            </a:r>
            <a:r>
              <a:rPr lang="en-US" altLang="zh-CN" sz="1500" b="0" dirty="0">
                <a:solidFill>
                  <a:srgbClr val="CCCCCC"/>
                </a:solidFill>
                <a:effectLst/>
                <a:latin typeface="Consolas" panose="020B0609020204030204" pitchFamily="49" charset="0"/>
              </a:rPr>
              <a:t> </a:t>
            </a:r>
            <a:r>
              <a:rPr lang="en-US" altLang="zh-CN" sz="1500" b="0" dirty="0">
                <a:solidFill>
                  <a:srgbClr val="DCDCAA"/>
                </a:solidFill>
                <a:effectLst/>
                <a:latin typeface="Consolas" panose="020B0609020204030204" pitchFamily="49" charset="0"/>
              </a:rPr>
              <a:t>main</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r>
              <a:rPr lang="en-US" altLang="zh-CN" sz="1500" b="0" dirty="0">
                <a:solidFill>
                  <a:srgbClr val="9CDCFE"/>
                </a:solidFill>
                <a:effectLst/>
                <a:latin typeface="Consolas" panose="020B0609020204030204" pitchFamily="49" charset="0"/>
              </a:rPr>
              <a:t>n</a:t>
            </a:r>
            <a:r>
              <a:rPr lang="en-US" altLang="zh-CN" sz="1500" b="0" dirty="0">
                <a:solidFill>
                  <a:srgbClr val="CCCCCC"/>
                </a:solidFill>
                <a:effectLst/>
                <a:latin typeface="Consolas" panose="020B0609020204030204" pitchFamily="49" charset="0"/>
              </a:rPr>
              <a:t> </a:t>
            </a:r>
            <a:r>
              <a:rPr lang="en-US" altLang="zh-CN" sz="1500" b="0" dirty="0">
                <a:solidFill>
                  <a:srgbClr val="D4D4D4"/>
                </a:solidFill>
                <a:effectLst/>
                <a:latin typeface="Consolas" panose="020B0609020204030204" pitchFamily="49" charset="0"/>
              </a:rPr>
              <a:t>=</a:t>
            </a:r>
            <a:r>
              <a:rPr lang="en-US" altLang="zh-CN" sz="1500" b="0" dirty="0">
                <a:solidFill>
                  <a:srgbClr val="CCCCCC"/>
                </a:solidFill>
                <a:effectLst/>
                <a:latin typeface="Consolas" panose="020B0609020204030204" pitchFamily="49" charset="0"/>
              </a:rPr>
              <a:t> </a:t>
            </a:r>
            <a:r>
              <a:rPr lang="en-US" altLang="zh-CN" sz="1500" b="0" dirty="0">
                <a:solidFill>
                  <a:srgbClr val="B5CEA8"/>
                </a:solidFill>
                <a:effectLst/>
                <a:latin typeface="Consolas" panose="020B0609020204030204" pitchFamily="49" charset="0"/>
              </a:rPr>
              <a:t>6</a:t>
            </a:r>
            <a:r>
              <a:rPr lang="en-US" altLang="zh-CN" sz="1500" b="0" dirty="0">
                <a:solidFill>
                  <a:srgbClr val="CCCCCC"/>
                </a:solidFill>
                <a:effectLst/>
                <a:latin typeface="Consolas" panose="020B0609020204030204" pitchFamily="49" charset="0"/>
              </a:rPr>
              <a:t>; </a:t>
            </a:r>
            <a:r>
              <a:rPr lang="en-US" altLang="zh-CN" sz="1500" b="0" dirty="0">
                <a:solidFill>
                  <a:srgbClr val="9CDCFE"/>
                </a:solidFill>
                <a:effectLst/>
                <a:latin typeface="Consolas" panose="020B0609020204030204" pitchFamily="49" charset="0"/>
              </a:rPr>
              <a:t>m</a:t>
            </a:r>
            <a:r>
              <a:rPr lang="en-US" altLang="zh-CN" sz="1500" b="0" dirty="0">
                <a:solidFill>
                  <a:srgbClr val="CCCCCC"/>
                </a:solidFill>
                <a:effectLst/>
                <a:latin typeface="Consolas" panose="020B0609020204030204" pitchFamily="49" charset="0"/>
              </a:rPr>
              <a:t> </a:t>
            </a:r>
            <a:r>
              <a:rPr lang="en-US" altLang="zh-CN" sz="1500" b="0" dirty="0">
                <a:solidFill>
                  <a:srgbClr val="D4D4D4"/>
                </a:solidFill>
                <a:effectLst/>
                <a:latin typeface="Consolas" panose="020B0609020204030204" pitchFamily="49" charset="0"/>
              </a:rPr>
              <a:t>=</a:t>
            </a:r>
            <a:r>
              <a:rPr lang="en-US" altLang="zh-CN" sz="1500" b="0" dirty="0">
                <a:solidFill>
                  <a:srgbClr val="CCCCCC"/>
                </a:solidFill>
                <a:effectLst/>
                <a:latin typeface="Consolas" panose="020B0609020204030204" pitchFamily="49" charset="0"/>
              </a:rPr>
              <a:t> </a:t>
            </a:r>
            <a:r>
              <a:rPr lang="en-US" altLang="zh-CN" sz="1500" b="0" dirty="0">
                <a:solidFill>
                  <a:srgbClr val="B5CEA8"/>
                </a:solidFill>
                <a:effectLst/>
                <a:latin typeface="Consolas" panose="020B0609020204030204" pitchFamily="49" charset="0"/>
              </a:rPr>
              <a:t>2</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r>
              <a:rPr lang="en-US" altLang="zh-CN" sz="1500" b="0" dirty="0" err="1">
                <a:solidFill>
                  <a:srgbClr val="DCDCAA"/>
                </a:solidFill>
                <a:effectLst/>
                <a:latin typeface="Consolas" panose="020B0609020204030204" pitchFamily="49" charset="0"/>
              </a:rPr>
              <a:t>myprint</a:t>
            </a:r>
            <a:r>
              <a:rPr lang="en-US" altLang="zh-CN" sz="1500" b="0" dirty="0">
                <a:solidFill>
                  <a:srgbClr val="CCCCCC"/>
                </a:solidFill>
                <a:effectLst/>
                <a:latin typeface="Consolas" panose="020B0609020204030204" pitchFamily="49" charset="0"/>
              </a:rPr>
              <a:t>(</a:t>
            </a:r>
            <a:r>
              <a:rPr lang="en-US" altLang="zh-CN" sz="1500" b="0" dirty="0">
                <a:solidFill>
                  <a:srgbClr val="B5CEA8"/>
                </a:solidFill>
                <a:effectLst/>
                <a:latin typeface="Consolas" panose="020B0609020204030204" pitchFamily="49" charset="0"/>
              </a:rPr>
              <a:t>0</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    </a:t>
            </a:r>
            <a:r>
              <a:rPr lang="en-US" altLang="zh-CN" sz="1500" b="0" dirty="0">
                <a:solidFill>
                  <a:srgbClr val="C586C0"/>
                </a:solidFill>
                <a:effectLst/>
                <a:latin typeface="Consolas" panose="020B0609020204030204" pitchFamily="49" charset="0"/>
              </a:rPr>
              <a:t>return</a:t>
            </a:r>
            <a:r>
              <a:rPr lang="en-US" altLang="zh-CN" sz="1500" b="0" dirty="0">
                <a:solidFill>
                  <a:srgbClr val="CCCCCC"/>
                </a:solidFill>
                <a:effectLst/>
                <a:latin typeface="Consolas" panose="020B0609020204030204" pitchFamily="49" charset="0"/>
              </a:rPr>
              <a:t> </a:t>
            </a:r>
            <a:r>
              <a:rPr lang="en-US" altLang="zh-CN" sz="1500" b="0" dirty="0">
                <a:solidFill>
                  <a:srgbClr val="B5CEA8"/>
                </a:solidFill>
                <a:effectLst/>
                <a:latin typeface="Consolas" panose="020B0609020204030204" pitchFamily="49" charset="0"/>
              </a:rPr>
              <a:t>0</a:t>
            </a: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a:p>
            <a:pPr>
              <a:spcBef>
                <a:spcPts val="0"/>
              </a:spcBef>
            </a:pPr>
            <a:r>
              <a:rPr lang="en-US" altLang="zh-CN" sz="1500" b="0" dirty="0">
                <a:solidFill>
                  <a:srgbClr val="CCCCCC"/>
                </a:solidFill>
                <a:effectLst/>
                <a:latin typeface="Consolas" panose="020B0609020204030204" pitchFamily="49" charset="0"/>
              </a:rPr>
              <a:t>}</a:t>
            </a:r>
            <a:endParaRPr lang="en-US" altLang="zh-CN" sz="1500" b="0" dirty="0">
              <a:solidFill>
                <a:srgbClr val="CCCCCC"/>
              </a:solidFill>
              <a:effectLst/>
              <a:latin typeface="Consolas" panose="020B0609020204030204" pitchFamily="49" charset="0"/>
            </a:endParaRPr>
          </a:p>
        </p:txBody>
      </p:sp>
      <p:sp>
        <p:nvSpPr>
          <p:cNvPr id="6" name="矩形: 圆角 5"/>
          <p:cNvSpPr/>
          <p:nvPr/>
        </p:nvSpPr>
        <p:spPr>
          <a:xfrm>
            <a:off x="1928078" y="1907177"/>
            <a:ext cx="1834025" cy="287383"/>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p:cNvSpPr/>
          <p:nvPr/>
        </p:nvSpPr>
        <p:spPr>
          <a:xfrm>
            <a:off x="1990982" y="5581323"/>
            <a:ext cx="2497416" cy="287383"/>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4718304" y="2983557"/>
            <a:ext cx="41801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279392" y="4295938"/>
            <a:ext cx="41801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239690" y="2733621"/>
            <a:ext cx="62169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9293" y="431999"/>
            <a:ext cx="8516780" cy="935161"/>
          </a:xfrm>
        </p:spPr>
        <p:txBody>
          <a:bodyPr>
            <a:normAutofit/>
          </a:bodyPr>
          <a:lstStyle/>
          <a:p>
            <a:r>
              <a:rPr lang="zh-CN" altLang="en-US" dirty="0"/>
              <a:t>枚举法局限举例</a:t>
            </a:r>
            <a:r>
              <a:rPr lang="en-US" altLang="zh-CN" dirty="0"/>
              <a:t>2</a:t>
            </a:r>
            <a:r>
              <a:rPr lang="zh-CN" altLang="en-US" dirty="0">
                <a:latin typeface="Arial" panose="020B0604020202020204" pitchFamily="34" charset="0"/>
              </a:rPr>
              <a:t>： </a:t>
            </a:r>
            <a:r>
              <a:rPr lang="en-US" altLang="zh-CN" b="1" i="0" dirty="0">
                <a:effectLst/>
                <a:latin typeface="Lato" panose="020F0502020204030203" pitchFamily="34" charset="0"/>
              </a:rPr>
              <a:t>yoj147</a:t>
            </a:r>
            <a:r>
              <a:rPr lang="zh-CN" altLang="en-US" b="1" i="0" dirty="0">
                <a:effectLst/>
                <a:latin typeface="Lato" panose="020F0502020204030203" pitchFamily="34" charset="0"/>
              </a:rPr>
              <a:t>教室排课</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zh-CN" altLang="en-US" b="0" i="0" dirty="0">
                <a:solidFill>
                  <a:schemeClr val="tx1"/>
                </a:solidFill>
                <a:effectLst/>
                <a:latin typeface="Open Sans" panose="020B0606030504020204" pitchFamily="34" charset="0"/>
              </a:rPr>
              <a:t>信息学院有</a:t>
            </a:r>
            <a:r>
              <a:rPr lang="en-US" altLang="zh-CN" b="0" i="0" dirty="0">
                <a:solidFill>
                  <a:srgbClr val="FF0000"/>
                </a:solidFill>
                <a:effectLst/>
                <a:latin typeface="Open Sans" panose="020B0606030504020204" pitchFamily="34" charset="0"/>
              </a:rPr>
              <a:t>4</a:t>
            </a:r>
            <a:r>
              <a:rPr lang="zh-CN" altLang="en-US" b="0" i="0" dirty="0">
                <a:solidFill>
                  <a:schemeClr val="tx1"/>
                </a:solidFill>
                <a:effectLst/>
                <a:latin typeface="Open Sans" panose="020B0606030504020204" pitchFamily="34" charset="0"/>
              </a:rPr>
              <a:t>个专业</a:t>
            </a:r>
            <a:r>
              <a:rPr lang="en-US" altLang="zh-CN" b="0" i="0" dirty="0">
                <a:solidFill>
                  <a:schemeClr val="tx1"/>
                </a:solidFill>
                <a:effectLst/>
                <a:latin typeface="Open Sans" panose="020B0606030504020204" pitchFamily="34" charset="0"/>
              </a:rPr>
              <a:t>A</a:t>
            </a:r>
            <a:r>
              <a:rPr lang="zh-CN" altLang="en-US" b="0" i="0" dirty="0">
                <a:solidFill>
                  <a:schemeClr val="tx1"/>
                </a:solidFill>
                <a:effectLst/>
                <a:latin typeface="Open Sans" panose="020B0606030504020204" pitchFamily="34" charset="0"/>
              </a:rPr>
              <a:t>、</a:t>
            </a:r>
            <a:r>
              <a:rPr lang="en-US" altLang="zh-CN" b="0" i="0" dirty="0">
                <a:solidFill>
                  <a:schemeClr val="tx1"/>
                </a:solidFill>
                <a:effectLst/>
                <a:latin typeface="Open Sans" panose="020B0606030504020204" pitchFamily="34" charset="0"/>
              </a:rPr>
              <a:t>B</a:t>
            </a:r>
            <a:r>
              <a:rPr lang="zh-CN" altLang="en-US" b="0" i="0" dirty="0">
                <a:solidFill>
                  <a:schemeClr val="tx1"/>
                </a:solidFill>
                <a:effectLst/>
                <a:latin typeface="Open Sans" panose="020B0606030504020204" pitchFamily="34" charset="0"/>
              </a:rPr>
              <a:t>、</a:t>
            </a:r>
            <a:r>
              <a:rPr lang="en-US" altLang="zh-CN" b="0" i="0" dirty="0">
                <a:solidFill>
                  <a:schemeClr val="tx1"/>
                </a:solidFill>
                <a:effectLst/>
                <a:latin typeface="Open Sans" panose="020B0606030504020204" pitchFamily="34" charset="0"/>
              </a:rPr>
              <a:t>C</a:t>
            </a:r>
            <a:r>
              <a:rPr lang="zh-CN" altLang="en-US" b="0" i="0" dirty="0">
                <a:solidFill>
                  <a:schemeClr val="tx1"/>
                </a:solidFill>
                <a:effectLst/>
                <a:latin typeface="Open Sans" panose="020B0606030504020204" pitchFamily="34" charset="0"/>
              </a:rPr>
              <a:t>、</a:t>
            </a:r>
            <a:r>
              <a:rPr lang="en-US" altLang="zh-CN" b="0" i="0" dirty="0">
                <a:solidFill>
                  <a:schemeClr val="tx1"/>
                </a:solidFill>
                <a:effectLst/>
                <a:latin typeface="Open Sans" panose="020B0606030504020204" pitchFamily="34" charset="0"/>
              </a:rPr>
              <a:t>D</a:t>
            </a:r>
            <a:r>
              <a:rPr lang="zh-CN" altLang="en-US" b="0" i="0" dirty="0">
                <a:solidFill>
                  <a:schemeClr val="tx1"/>
                </a:solidFill>
                <a:effectLst/>
                <a:latin typeface="Open Sans" panose="020B0606030504020204" pitchFamily="34" charset="0"/>
              </a:rPr>
              <a:t>，各专业入学新生人数分别是</a:t>
            </a:r>
            <a:r>
              <a:rPr lang="en-US" altLang="zh-CN" b="0" i="0" dirty="0">
                <a:solidFill>
                  <a:schemeClr val="tx1"/>
                </a:solidFill>
                <a:effectLst/>
                <a:latin typeface="Open Sans" panose="020B0606030504020204" pitchFamily="34" charset="0"/>
              </a:rPr>
              <a:t>Na, Nb, Nc</a:t>
            </a:r>
            <a:r>
              <a:rPr lang="en-US" altLang="zh-CN" dirty="0">
                <a:solidFill>
                  <a:schemeClr val="tx1"/>
                </a:solidFill>
                <a:latin typeface="Open Sans" panose="020B0606030504020204" pitchFamily="34" charset="0"/>
              </a:rPr>
              <a:t>,</a:t>
            </a:r>
            <a:r>
              <a:rPr lang="zh-CN" altLang="en-US" dirty="0">
                <a:solidFill>
                  <a:schemeClr val="tx1"/>
                </a:solidFill>
                <a:latin typeface="Open Sans" panose="020B0606030504020204" pitchFamily="34" charset="0"/>
              </a:rPr>
              <a:t> </a:t>
            </a:r>
            <a:r>
              <a:rPr lang="en-US" altLang="zh-CN" b="0" i="0" dirty="0">
                <a:solidFill>
                  <a:schemeClr val="tx1"/>
                </a:solidFill>
                <a:effectLst/>
                <a:latin typeface="Open Sans" panose="020B0606030504020204" pitchFamily="34" charset="0"/>
              </a:rPr>
              <a:t>Nd</a:t>
            </a:r>
            <a:r>
              <a:rPr lang="zh-CN" altLang="en-US" b="0" i="0" dirty="0">
                <a:solidFill>
                  <a:schemeClr val="tx1"/>
                </a:solidFill>
                <a:effectLst/>
                <a:latin typeface="Open Sans" panose="020B0606030504020204" pitchFamily="34" charset="0"/>
              </a:rPr>
              <a:t>人。新学期开始有一门公共课，按专业划分成四个教学班，四个班在某个相同的时间段上课。已知该时间段还剩余</a:t>
            </a:r>
            <a:r>
              <a:rPr lang="en-US" altLang="zh-CN" dirty="0">
                <a:solidFill>
                  <a:srgbClr val="FF0000"/>
                </a:solidFill>
                <a:latin typeface="Open Sans" panose="020B0606030504020204" pitchFamily="34" charset="0"/>
              </a:rPr>
              <a:t>8</a:t>
            </a:r>
            <a:r>
              <a:rPr lang="zh-CN" altLang="en-US" b="0" i="0" dirty="0">
                <a:solidFill>
                  <a:schemeClr val="tx1"/>
                </a:solidFill>
                <a:effectLst/>
                <a:latin typeface="Open Sans" panose="020B0606030504020204" pitchFamily="34" charset="0"/>
              </a:rPr>
              <a:t>间教室可用，编号从</a:t>
            </a:r>
            <a:r>
              <a:rPr lang="en-US" altLang="zh-CN" dirty="0">
                <a:solidFill>
                  <a:srgbClr val="FF0000"/>
                </a:solidFill>
                <a:latin typeface="Open Sans" panose="020B0606030504020204" pitchFamily="34" charset="0"/>
              </a:rPr>
              <a:t>1</a:t>
            </a:r>
            <a:r>
              <a:rPr lang="zh-CN" altLang="en-US" b="0" i="0" dirty="0">
                <a:solidFill>
                  <a:schemeClr val="tx1"/>
                </a:solidFill>
                <a:effectLst/>
                <a:latin typeface="Open Sans" panose="020B0606030504020204" pitchFamily="34" charset="0"/>
              </a:rPr>
              <a:t>到</a:t>
            </a:r>
            <a:r>
              <a:rPr lang="en-US" altLang="zh-CN" dirty="0">
                <a:solidFill>
                  <a:srgbClr val="FF0000"/>
                </a:solidFill>
                <a:latin typeface="Open Sans" panose="020B0606030504020204" pitchFamily="34" charset="0"/>
              </a:rPr>
              <a:t>8</a:t>
            </a:r>
            <a:r>
              <a:rPr lang="zh-CN" altLang="en-US" b="0" i="0" dirty="0">
                <a:solidFill>
                  <a:schemeClr val="tx1"/>
                </a:solidFill>
                <a:effectLst/>
                <a:latin typeface="Open Sans" panose="020B0606030504020204" pitchFamily="34" charset="0"/>
              </a:rPr>
              <a:t>，每个教室能容纳的人数分别为</a:t>
            </a:r>
            <a:r>
              <a:rPr lang="en-US" altLang="zh-CN" dirty="0">
                <a:solidFill>
                  <a:srgbClr val="FF0000"/>
                </a:solidFill>
                <a:latin typeface="Open Sans" panose="020B0606030504020204" pitchFamily="34" charset="0"/>
              </a:rPr>
              <a:t>120</a:t>
            </a:r>
            <a:r>
              <a:rPr lang="zh-CN" altLang="en-US" b="0" i="0" dirty="0">
                <a:solidFill>
                  <a:schemeClr val="tx1"/>
                </a:solidFill>
                <a:effectLst/>
                <a:latin typeface="Open Sans" panose="020B0606030504020204" pitchFamily="34" charset="0"/>
              </a:rPr>
              <a:t>，</a:t>
            </a:r>
            <a:r>
              <a:rPr lang="en-US" altLang="zh-CN" dirty="0">
                <a:solidFill>
                  <a:srgbClr val="FF0000"/>
                </a:solidFill>
                <a:latin typeface="Open Sans" panose="020B0606030504020204" pitchFamily="34" charset="0"/>
              </a:rPr>
              <a:t>40</a:t>
            </a:r>
            <a:r>
              <a:rPr lang="zh-CN" altLang="en-US" b="0" i="0" dirty="0">
                <a:solidFill>
                  <a:schemeClr val="tx1"/>
                </a:solidFill>
                <a:effectLst/>
                <a:latin typeface="Open Sans" panose="020B0606030504020204" pitchFamily="34" charset="0"/>
              </a:rPr>
              <a:t>，</a:t>
            </a:r>
            <a:r>
              <a:rPr lang="en-US" altLang="zh-CN" dirty="0">
                <a:solidFill>
                  <a:srgbClr val="FF0000"/>
                </a:solidFill>
                <a:latin typeface="Open Sans" panose="020B0606030504020204" pitchFamily="34" charset="0"/>
              </a:rPr>
              <a:t>85</a:t>
            </a:r>
            <a:r>
              <a:rPr lang="zh-CN" altLang="en-US" b="0" i="0" dirty="0">
                <a:solidFill>
                  <a:schemeClr val="tx1"/>
                </a:solidFill>
                <a:effectLst/>
                <a:latin typeface="Open Sans" panose="020B0606030504020204" pitchFamily="34" charset="0"/>
              </a:rPr>
              <a:t>，</a:t>
            </a:r>
            <a:r>
              <a:rPr lang="en-US" altLang="zh-CN" dirty="0">
                <a:solidFill>
                  <a:srgbClr val="FF0000"/>
                </a:solidFill>
                <a:latin typeface="Open Sans" panose="020B0606030504020204" pitchFamily="34" charset="0"/>
              </a:rPr>
              <a:t>50</a:t>
            </a:r>
            <a:r>
              <a:rPr lang="zh-CN" altLang="en-US" b="0" i="0" dirty="0">
                <a:solidFill>
                  <a:schemeClr val="tx1"/>
                </a:solidFill>
                <a:effectLst/>
                <a:latin typeface="Open Sans" panose="020B0606030504020204" pitchFamily="34" charset="0"/>
              </a:rPr>
              <a:t>，</a:t>
            </a:r>
            <a:r>
              <a:rPr lang="en-US" altLang="zh-CN" dirty="0">
                <a:solidFill>
                  <a:srgbClr val="FF0000"/>
                </a:solidFill>
                <a:latin typeface="Open Sans" panose="020B0606030504020204" pitchFamily="34" charset="0"/>
              </a:rPr>
              <a:t>100</a:t>
            </a:r>
            <a:r>
              <a:rPr lang="zh-CN" altLang="en-US" b="0" i="0" dirty="0">
                <a:solidFill>
                  <a:schemeClr val="tx1"/>
                </a:solidFill>
                <a:effectLst/>
                <a:latin typeface="Open Sans" panose="020B0606030504020204" pitchFamily="34" charset="0"/>
              </a:rPr>
              <a:t>，</a:t>
            </a:r>
            <a:r>
              <a:rPr lang="en-US" altLang="zh-CN" dirty="0">
                <a:solidFill>
                  <a:srgbClr val="FF0000"/>
                </a:solidFill>
                <a:latin typeface="Open Sans" panose="020B0606030504020204" pitchFamily="34" charset="0"/>
              </a:rPr>
              <a:t>140</a:t>
            </a:r>
            <a:r>
              <a:rPr lang="zh-CN" altLang="en-US" b="0" i="0" dirty="0">
                <a:solidFill>
                  <a:schemeClr val="tx1"/>
                </a:solidFill>
                <a:effectLst/>
                <a:latin typeface="Open Sans" panose="020B0606030504020204" pitchFamily="34" charset="0"/>
              </a:rPr>
              <a:t>，</a:t>
            </a:r>
            <a:r>
              <a:rPr lang="en-US" altLang="zh-CN" dirty="0">
                <a:solidFill>
                  <a:srgbClr val="FF0000"/>
                </a:solidFill>
                <a:latin typeface="Open Sans" panose="020B0606030504020204" pitchFamily="34" charset="0"/>
              </a:rPr>
              <a:t>70</a:t>
            </a:r>
            <a:r>
              <a:rPr lang="zh-CN" altLang="en-US" b="0" i="0" dirty="0">
                <a:solidFill>
                  <a:schemeClr val="tx1"/>
                </a:solidFill>
                <a:effectLst/>
                <a:latin typeface="Open Sans" panose="020B0606030504020204" pitchFamily="34" charset="0"/>
              </a:rPr>
              <a:t>，</a:t>
            </a:r>
            <a:r>
              <a:rPr lang="en-US" altLang="zh-CN" dirty="0">
                <a:solidFill>
                  <a:srgbClr val="FF0000"/>
                </a:solidFill>
                <a:latin typeface="Open Sans" panose="020B0606030504020204" pitchFamily="34" charset="0"/>
              </a:rPr>
              <a:t>100</a:t>
            </a:r>
            <a:r>
              <a:rPr lang="zh-CN" altLang="en-US" b="0" i="0" dirty="0">
                <a:solidFill>
                  <a:schemeClr val="tx1"/>
                </a:solidFill>
                <a:effectLst/>
                <a:latin typeface="Open Sans" panose="020B0606030504020204" pitchFamily="34" charset="0"/>
              </a:rPr>
              <a:t>。试编一个程序，为上述四个教学班分配教室。 　　找出所有可行的分配方案，对于每个方案依次输出为专业</a:t>
            </a:r>
            <a:r>
              <a:rPr lang="en-US" altLang="zh-CN" b="0" i="0" dirty="0">
                <a:solidFill>
                  <a:schemeClr val="tx1"/>
                </a:solidFill>
                <a:effectLst/>
                <a:latin typeface="Open Sans" panose="020B0606030504020204" pitchFamily="34" charset="0"/>
              </a:rPr>
              <a:t>A</a:t>
            </a:r>
            <a:r>
              <a:rPr lang="zh-CN" altLang="en-US" b="0" i="0" dirty="0">
                <a:solidFill>
                  <a:schemeClr val="tx1"/>
                </a:solidFill>
                <a:effectLst/>
                <a:latin typeface="Open Sans" panose="020B0606030504020204" pitchFamily="34" charset="0"/>
              </a:rPr>
              <a:t>、</a:t>
            </a:r>
            <a:r>
              <a:rPr lang="en-US" altLang="zh-CN" b="0" i="0" dirty="0">
                <a:solidFill>
                  <a:schemeClr val="tx1"/>
                </a:solidFill>
                <a:effectLst/>
                <a:latin typeface="Open Sans" panose="020B0606030504020204" pitchFamily="34" charset="0"/>
              </a:rPr>
              <a:t>B</a:t>
            </a:r>
            <a:r>
              <a:rPr lang="zh-CN" altLang="en-US" b="0" i="0" dirty="0">
                <a:solidFill>
                  <a:schemeClr val="tx1"/>
                </a:solidFill>
                <a:effectLst/>
                <a:latin typeface="Open Sans" panose="020B0606030504020204" pitchFamily="34" charset="0"/>
              </a:rPr>
              <a:t>、</a:t>
            </a:r>
            <a:r>
              <a:rPr lang="en-US" altLang="zh-CN" b="0" i="0" dirty="0">
                <a:solidFill>
                  <a:schemeClr val="tx1"/>
                </a:solidFill>
                <a:effectLst/>
                <a:latin typeface="Open Sans" panose="020B0606030504020204" pitchFamily="34" charset="0"/>
              </a:rPr>
              <a:t>C</a:t>
            </a:r>
            <a:r>
              <a:rPr lang="zh-CN" altLang="en-US" b="0" i="0" dirty="0">
                <a:solidFill>
                  <a:schemeClr val="tx1"/>
                </a:solidFill>
                <a:effectLst/>
                <a:latin typeface="Open Sans" panose="020B0606030504020204" pitchFamily="34" charset="0"/>
              </a:rPr>
              <a:t>、</a:t>
            </a:r>
            <a:r>
              <a:rPr lang="en-US" altLang="zh-CN" b="0" i="0" dirty="0">
                <a:solidFill>
                  <a:schemeClr val="tx1"/>
                </a:solidFill>
                <a:effectLst/>
                <a:latin typeface="Open Sans" panose="020B0606030504020204" pitchFamily="34" charset="0"/>
              </a:rPr>
              <a:t>D</a:t>
            </a:r>
            <a:r>
              <a:rPr lang="zh-CN" altLang="en-US" b="0" i="0" dirty="0">
                <a:solidFill>
                  <a:schemeClr val="tx1"/>
                </a:solidFill>
                <a:effectLst/>
                <a:latin typeface="Open Sans" panose="020B0606030504020204" pitchFamily="34" charset="0"/>
              </a:rPr>
              <a:t>分配的教室编号，按照字典顺序输出所有方案。</a:t>
            </a:r>
            <a:endParaRPr lang="zh-CN" altLang="en-US" dirty="0">
              <a:solidFill>
                <a:schemeClr val="tx1"/>
              </a:solidFill>
            </a:endParaRPr>
          </a:p>
        </p:txBody>
      </p:sp>
      <p:sp>
        <p:nvSpPr>
          <p:cNvPr id="4" name="文本框 3"/>
          <p:cNvSpPr txBox="1"/>
          <p:nvPr/>
        </p:nvSpPr>
        <p:spPr>
          <a:xfrm>
            <a:off x="3725527" y="5805134"/>
            <a:ext cx="5089289" cy="954107"/>
          </a:xfrm>
          <a:prstGeom prst="rect">
            <a:avLst/>
          </a:prstGeom>
          <a:noFill/>
        </p:spPr>
        <p:txBody>
          <a:bodyPr wrap="square" rtlCol="0">
            <a:spAutoFit/>
          </a:bodyPr>
          <a:lstStyle/>
          <a:p>
            <a:r>
              <a:rPr lang="zh-CN" altLang="en-US" sz="2800" dirty="0">
                <a:solidFill>
                  <a:srgbClr val="FF0000"/>
                </a:solidFill>
                <a:latin typeface="Open Sans" panose="020B0606030504020204" pitchFamily="34" charset="0"/>
                <a:ea typeface="+mj-ea"/>
              </a:rPr>
              <a:t>哪个数字变成由输入确定就不能用多重</a:t>
            </a:r>
            <a:r>
              <a:rPr lang="en-US" altLang="zh-CN" sz="2800" dirty="0">
                <a:solidFill>
                  <a:srgbClr val="FF0000"/>
                </a:solidFill>
                <a:latin typeface="Open Sans" panose="020B0606030504020204" pitchFamily="34" charset="0"/>
                <a:ea typeface="+mj-ea"/>
              </a:rPr>
              <a:t>for</a:t>
            </a:r>
            <a:r>
              <a:rPr lang="zh-CN" altLang="en-US" sz="2800" dirty="0">
                <a:solidFill>
                  <a:srgbClr val="FF0000"/>
                </a:solidFill>
                <a:latin typeface="Open Sans" panose="020B0606030504020204" pitchFamily="34" charset="0"/>
                <a:ea typeface="+mj-ea"/>
              </a:rPr>
              <a:t>循环的枚举法了？</a:t>
            </a:r>
            <a:endParaRPr lang="zh-CN" altLang="en-US" sz="2800" dirty="0">
              <a:solidFill>
                <a:srgbClr val="FF0000"/>
              </a:solidFill>
              <a:latin typeface="Open Sans" panose="020B0606030504020204" pitchFamily="34" charset="0"/>
              <a:ea typeface="+mj-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Rot="1" noChangeArrowheads="1"/>
          </p:cNvSpPr>
          <p:nvPr>
            <p:ph type="title"/>
          </p:nvPr>
        </p:nvSpPr>
        <p:spPr/>
        <p:txBody>
          <a:bodyPr/>
          <a:lstStyle/>
          <a:p>
            <a:r>
              <a:rPr lang="zh-CN" altLang="en-US" dirty="0"/>
              <a:t>问题</a:t>
            </a:r>
            <a:r>
              <a:rPr lang="en-US" altLang="zh-CN" dirty="0"/>
              <a:t>1</a:t>
            </a:r>
            <a:r>
              <a:rPr lang="zh-CN" altLang="en-US" dirty="0"/>
              <a:t>：分书问题</a:t>
            </a:r>
            <a:endParaRPr lang="zh-CN" altLang="en-US" dirty="0"/>
          </a:p>
        </p:txBody>
      </p:sp>
      <p:sp>
        <p:nvSpPr>
          <p:cNvPr id="582659" name="Rectangle 3"/>
          <p:cNvSpPr>
            <a:spLocks noGrp="1" noChangeArrowheads="1"/>
          </p:cNvSpPr>
          <p:nvPr>
            <p:ph idx="1"/>
          </p:nvPr>
        </p:nvSpPr>
        <p:spPr>
          <a:xfrm>
            <a:off x="407193" y="1378007"/>
            <a:ext cx="8280000" cy="4764163"/>
          </a:xfrm>
        </p:spPr>
        <p:txBody>
          <a:bodyPr>
            <a:normAutofit/>
          </a:bodyPr>
          <a:lstStyle/>
          <a:p>
            <a:r>
              <a:rPr kumimoji="1" lang="zh-CN" altLang="en-US" dirty="0">
                <a:effectLst/>
              </a:rPr>
              <a:t>有编号分别为 </a:t>
            </a:r>
            <a:r>
              <a:rPr kumimoji="1" lang="en-US" altLang="zh-CN" dirty="0">
                <a:effectLst/>
              </a:rPr>
              <a:t>0</a:t>
            </a:r>
            <a:r>
              <a:rPr kumimoji="1" lang="zh-CN" altLang="en-US" dirty="0">
                <a:effectLst/>
              </a:rPr>
              <a:t>，</a:t>
            </a:r>
            <a:r>
              <a:rPr kumimoji="1" lang="en-US" altLang="zh-CN" dirty="0">
                <a:effectLst/>
              </a:rPr>
              <a:t>1</a:t>
            </a:r>
            <a:r>
              <a:rPr kumimoji="1" lang="zh-CN" altLang="en-US" dirty="0">
                <a:effectLst/>
              </a:rPr>
              <a:t>，</a:t>
            </a:r>
            <a:r>
              <a:rPr kumimoji="1" lang="en-US" altLang="zh-CN" dirty="0">
                <a:effectLst/>
              </a:rPr>
              <a:t>2</a:t>
            </a:r>
            <a:r>
              <a:rPr kumimoji="1" lang="zh-CN" altLang="en-US" dirty="0">
                <a:effectLst/>
              </a:rPr>
              <a:t>，</a:t>
            </a:r>
            <a:r>
              <a:rPr kumimoji="1" lang="en-US" altLang="zh-CN" dirty="0">
                <a:effectLst/>
              </a:rPr>
              <a:t>3</a:t>
            </a:r>
            <a:r>
              <a:rPr kumimoji="1" lang="zh-CN" altLang="en-US" dirty="0">
                <a:effectLst/>
              </a:rPr>
              <a:t>，</a:t>
            </a:r>
            <a:r>
              <a:rPr kumimoji="1" lang="en-US" altLang="zh-CN" dirty="0">
                <a:effectLst/>
              </a:rPr>
              <a:t>4 </a:t>
            </a:r>
            <a:r>
              <a:rPr kumimoji="1" lang="zh-CN" altLang="en-US" dirty="0">
                <a:effectLst/>
              </a:rPr>
              <a:t>的五本书，准备分给 </a:t>
            </a:r>
            <a:r>
              <a:rPr kumimoji="1" lang="en-US" altLang="zh-CN" dirty="0">
                <a:effectLst/>
              </a:rPr>
              <a:t>A, B, C, D, E </a:t>
            </a:r>
            <a:r>
              <a:rPr kumimoji="1" lang="zh-CN" altLang="en-US" dirty="0">
                <a:effectLst/>
              </a:rPr>
              <a:t>五个人，每个人阅读兴趣用一个二维数组加以描述：</a:t>
            </a:r>
            <a:endParaRPr kumimoji="1" lang="zh-CN" altLang="en-US" dirty="0">
              <a:effectLst/>
            </a:endParaRPr>
          </a:p>
          <a:p>
            <a:pPr>
              <a:buFont typeface="Wingdings" panose="05000000000000000000" pitchFamily="2" charset="2"/>
              <a:buNone/>
            </a:pPr>
            <a:endParaRPr kumimoji="1" lang="zh-CN" altLang="en-US" dirty="0">
              <a:effectLst/>
            </a:endParaRPr>
          </a:p>
          <a:p>
            <a:pPr>
              <a:buFont typeface="Wingdings" panose="05000000000000000000" pitchFamily="2" charset="2"/>
              <a:buNone/>
            </a:pPr>
            <a:r>
              <a:rPr kumimoji="1" lang="zh-CN" altLang="en-US" dirty="0">
                <a:effectLst/>
              </a:rPr>
              <a:t>	希望你写一个程序，输出所有分书方案，让人人皆大欢喜。</a:t>
            </a:r>
            <a:endParaRPr kumimoji="1" lang="zh-CN" altLang="en-US" dirty="0">
              <a:effectLst/>
            </a:endParaRPr>
          </a:p>
          <a:p>
            <a:endParaRPr kumimoji="1" lang="zh-CN" altLang="en-US" dirty="0">
              <a:effectLst/>
            </a:endParaRPr>
          </a:p>
        </p:txBody>
      </p:sp>
      <p:graphicFrame>
        <p:nvGraphicFramePr>
          <p:cNvPr id="582660" name="Object 4"/>
          <p:cNvGraphicFramePr>
            <a:graphicFrameLocks noChangeAspect="1"/>
          </p:cNvGraphicFramePr>
          <p:nvPr/>
        </p:nvGraphicFramePr>
        <p:xfrm>
          <a:off x="1973174" y="2094122"/>
          <a:ext cx="4404575" cy="763198"/>
        </p:xfrm>
        <a:graphic>
          <a:graphicData uri="http://schemas.openxmlformats.org/presentationml/2006/ole">
            <mc:AlternateContent xmlns:mc="http://schemas.openxmlformats.org/markup-compatibility/2006">
              <mc:Choice xmlns:v="urn:schemas-microsoft-com:vml" Requires="v">
                <p:oleObj spid="_x0000_s11643" name="Equation" r:id="rId1" imgW="1688465" imgH="304800" progId="Equation.DSMT4">
                  <p:embed/>
                </p:oleObj>
              </mc:Choice>
              <mc:Fallback>
                <p:oleObj name="Equation" r:id="rId1" imgW="1688465" imgH="3048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174" y="2094122"/>
                        <a:ext cx="4404575" cy="763198"/>
                      </a:xfrm>
                      <a:prstGeom prst="rect">
                        <a:avLst/>
                      </a:prstGeom>
                      <a:noFill/>
                      <a:ln>
                        <a:noFill/>
                      </a:ln>
                      <a:effectLst/>
                    </p:spPr>
                  </p:pic>
                </p:oleObj>
              </mc:Fallback>
            </mc:AlternateContent>
          </a:graphicData>
        </a:graphic>
      </p:graphicFrame>
      <p:grpSp>
        <p:nvGrpSpPr>
          <p:cNvPr id="5" name="Group 3"/>
          <p:cNvGrpSpPr/>
          <p:nvPr/>
        </p:nvGrpSpPr>
        <p:grpSpPr bwMode="auto">
          <a:xfrm>
            <a:off x="1365161" y="3548919"/>
            <a:ext cx="5860114" cy="3256836"/>
            <a:chOff x="612" y="1861"/>
            <a:chExt cx="3942" cy="2018"/>
          </a:xfrm>
        </p:grpSpPr>
        <p:sp>
          <p:nvSpPr>
            <p:cNvPr id="6" name="Text Box 4"/>
            <p:cNvSpPr txBox="1">
              <a:spLocks noChangeArrowheads="1"/>
            </p:cNvSpPr>
            <p:nvPr/>
          </p:nvSpPr>
          <p:spPr bwMode="auto">
            <a:xfrm>
              <a:off x="1267" y="1861"/>
              <a:ext cx="3287" cy="201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黑体" panose="02010609060101010101" pitchFamily="49" charset="-122"/>
                </a:rPr>
                <a:t>	      0      1         2        3       4</a:t>
              </a:r>
              <a:endParaRPr kumimoji="1" lang="en-US" altLang="zh-CN" sz="2400" dirty="0">
                <a:latin typeface="Times New Roman" panose="02020603050405020304" pitchFamily="18" charset="0"/>
                <a:ea typeface="黑体" panose="02010609060101010101" pitchFamily="49" charset="-122"/>
              </a:endParaRPr>
            </a:p>
            <a:p>
              <a:pPr>
                <a:spcBef>
                  <a:spcPct val="50000"/>
                </a:spcBef>
              </a:pPr>
              <a:r>
                <a:rPr kumimoji="1" lang="en-US" altLang="zh-CN" sz="2400" dirty="0">
                  <a:latin typeface="Times New Roman" panose="02020603050405020304" pitchFamily="18" charset="0"/>
                  <a:ea typeface="黑体" panose="02010609060101010101" pitchFamily="49" charset="-122"/>
                </a:rPr>
                <a:t>A</a:t>
              </a:r>
              <a:endParaRPr kumimoji="1" lang="en-US" altLang="zh-CN" sz="2400" dirty="0">
                <a:latin typeface="Times New Roman" panose="02020603050405020304" pitchFamily="18" charset="0"/>
                <a:ea typeface="黑体" panose="02010609060101010101" pitchFamily="49" charset="-122"/>
              </a:endParaRPr>
            </a:p>
            <a:p>
              <a:pPr>
                <a:spcBef>
                  <a:spcPct val="50000"/>
                </a:spcBef>
              </a:pPr>
              <a:r>
                <a:rPr kumimoji="1" lang="en-US" altLang="zh-CN" sz="2400" dirty="0">
                  <a:latin typeface="Times New Roman" panose="02020603050405020304" pitchFamily="18" charset="0"/>
                  <a:ea typeface="黑体" panose="02010609060101010101" pitchFamily="49" charset="-122"/>
                </a:rPr>
                <a:t>B</a:t>
              </a:r>
              <a:endParaRPr kumimoji="1" lang="en-US" altLang="zh-CN" sz="2400" dirty="0">
                <a:latin typeface="Times New Roman" panose="02020603050405020304" pitchFamily="18" charset="0"/>
                <a:ea typeface="黑体" panose="02010609060101010101" pitchFamily="49" charset="-122"/>
              </a:endParaRPr>
            </a:p>
            <a:p>
              <a:pPr>
                <a:spcBef>
                  <a:spcPct val="50000"/>
                </a:spcBef>
              </a:pPr>
              <a:r>
                <a:rPr kumimoji="1" lang="en-US" altLang="zh-CN" sz="2400" dirty="0">
                  <a:latin typeface="Times New Roman" panose="02020603050405020304" pitchFamily="18" charset="0"/>
                  <a:ea typeface="黑体" panose="02010609060101010101" pitchFamily="49" charset="-122"/>
                </a:rPr>
                <a:t>C</a:t>
              </a:r>
              <a:endParaRPr kumimoji="1" lang="en-US" altLang="zh-CN" sz="2400" dirty="0">
                <a:latin typeface="Times New Roman" panose="02020603050405020304" pitchFamily="18" charset="0"/>
                <a:ea typeface="黑体" panose="02010609060101010101" pitchFamily="49" charset="-122"/>
              </a:endParaRPr>
            </a:p>
            <a:p>
              <a:pPr>
                <a:spcBef>
                  <a:spcPct val="50000"/>
                </a:spcBef>
              </a:pPr>
              <a:r>
                <a:rPr kumimoji="1" lang="en-US" altLang="zh-CN" sz="2400" dirty="0">
                  <a:latin typeface="Times New Roman" panose="02020603050405020304" pitchFamily="18" charset="0"/>
                  <a:ea typeface="黑体" panose="02010609060101010101" pitchFamily="49" charset="-122"/>
                </a:rPr>
                <a:t>D</a:t>
              </a:r>
              <a:endParaRPr kumimoji="1" lang="en-US" altLang="zh-CN" sz="2400" dirty="0">
                <a:latin typeface="Times New Roman" panose="02020603050405020304" pitchFamily="18" charset="0"/>
                <a:ea typeface="黑体" panose="02010609060101010101" pitchFamily="49" charset="-122"/>
              </a:endParaRPr>
            </a:p>
            <a:p>
              <a:pPr>
                <a:spcBef>
                  <a:spcPct val="50000"/>
                </a:spcBef>
              </a:pPr>
              <a:r>
                <a:rPr kumimoji="1" lang="en-US" altLang="zh-CN" sz="2400" dirty="0">
                  <a:latin typeface="Times New Roman" panose="02020603050405020304" pitchFamily="18" charset="0"/>
                  <a:ea typeface="黑体" panose="02010609060101010101" pitchFamily="49" charset="-122"/>
                </a:rPr>
                <a:t>E</a:t>
              </a:r>
              <a:endParaRPr kumimoji="1" lang="en-US" altLang="zh-CN" sz="2400" dirty="0">
                <a:latin typeface="Times New Roman" panose="02020603050405020304" pitchFamily="18" charset="0"/>
                <a:ea typeface="黑体" panose="02010609060101010101" pitchFamily="49" charset="-122"/>
              </a:endParaRPr>
            </a:p>
          </p:txBody>
        </p:sp>
        <p:sp>
          <p:nvSpPr>
            <p:cNvPr id="7" name="Text Box 5"/>
            <p:cNvSpPr txBox="1">
              <a:spLocks noChangeArrowheads="1"/>
            </p:cNvSpPr>
            <p:nvPr/>
          </p:nvSpPr>
          <p:spPr bwMode="auto">
            <a:xfrm>
              <a:off x="612" y="2704"/>
              <a:ext cx="409" cy="2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a:latin typeface="Times New Roman" panose="02020603050405020304" pitchFamily="18" charset="0"/>
                  <a:ea typeface="黑体" panose="02010609060101010101" pitchFamily="49" charset="-122"/>
                </a:rPr>
                <a:t>人</a:t>
              </a:r>
              <a:endParaRPr kumimoji="1" lang="zh-CN" altLang="en-US" sz="2400">
                <a:latin typeface="Times New Roman" panose="02020603050405020304" pitchFamily="18" charset="0"/>
                <a:ea typeface="黑体" panose="02010609060101010101" pitchFamily="49" charset="-122"/>
              </a:endParaRPr>
            </a:p>
          </p:txBody>
        </p:sp>
        <p:sp>
          <p:nvSpPr>
            <p:cNvPr id="8" name="Text Box 6"/>
            <p:cNvSpPr txBox="1">
              <a:spLocks noChangeArrowheads="1"/>
            </p:cNvSpPr>
            <p:nvPr/>
          </p:nvSpPr>
          <p:spPr bwMode="auto">
            <a:xfrm>
              <a:off x="4182" y="1923"/>
              <a:ext cx="372" cy="286"/>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dirty="0">
                  <a:latin typeface="Times New Roman" panose="02020603050405020304" pitchFamily="18" charset="0"/>
                  <a:ea typeface="黑体" panose="02010609060101010101" pitchFamily="49" charset="-122"/>
                </a:rPr>
                <a:t>书</a:t>
              </a:r>
              <a:endParaRPr kumimoji="1" lang="zh-CN" altLang="en-US" sz="2400" dirty="0">
                <a:latin typeface="Times New Roman" panose="02020603050405020304" pitchFamily="18" charset="0"/>
                <a:ea typeface="黑体" panose="02010609060101010101" pitchFamily="49" charset="-122"/>
              </a:endParaRPr>
            </a:p>
          </p:txBody>
        </p:sp>
      </p:grpSp>
      <p:graphicFrame>
        <p:nvGraphicFramePr>
          <p:cNvPr id="9" name="Group 7"/>
          <p:cNvGraphicFramePr>
            <a:graphicFrameLocks noGrp="1"/>
          </p:cNvGraphicFramePr>
          <p:nvPr/>
        </p:nvGraphicFramePr>
        <p:xfrm>
          <a:off x="2998061" y="4038302"/>
          <a:ext cx="3771408" cy="2590800"/>
        </p:xfrm>
        <a:graphic>
          <a:graphicData uri="http://schemas.openxmlformats.org/drawingml/2006/table">
            <a:tbl>
              <a:tblPr/>
              <a:tblGrid>
                <a:gridCol w="754818"/>
                <a:gridCol w="754818"/>
                <a:gridCol w="752136"/>
                <a:gridCol w="754818"/>
                <a:gridCol w="754818"/>
              </a:tblGrid>
              <a:tr h="379672">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矩形 1"/>
          <p:cNvSpPr/>
          <p:nvPr/>
        </p:nvSpPr>
        <p:spPr>
          <a:xfrm>
            <a:off x="559918" y="3295951"/>
            <a:ext cx="4323620" cy="369332"/>
          </a:xfrm>
          <a:prstGeom prst="rect">
            <a:avLst/>
          </a:prstGeom>
        </p:spPr>
        <p:txBody>
          <a:bodyPr wrap="none">
            <a:spAutoFit/>
          </a:bodyPr>
          <a:lstStyle/>
          <a:p>
            <a:r>
              <a:rPr lang="zh-CN" altLang="en-US" dirty="0"/>
              <a:t>假定 </a:t>
            </a:r>
            <a:r>
              <a:rPr lang="en-US" altLang="zh-CN" dirty="0"/>
              <a:t>5 </a:t>
            </a:r>
            <a:r>
              <a:rPr lang="zh-CN" altLang="en-US" dirty="0"/>
              <a:t>个人对 </a:t>
            </a:r>
            <a:r>
              <a:rPr lang="en-US" altLang="zh-CN" dirty="0"/>
              <a:t>5 </a:t>
            </a:r>
            <a:r>
              <a:rPr lang="zh-CN" altLang="en-US" dirty="0"/>
              <a:t>本书的阅读兴趣如下表：</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32120" y="-178036"/>
            <a:ext cx="8280000" cy="886662"/>
          </a:xfrm>
        </p:spPr>
        <p:txBody>
          <a:bodyPr/>
          <a:lstStyle/>
          <a:p>
            <a:r>
              <a:rPr lang="zh-CN" altLang="en-US" dirty="0"/>
              <a:t>枚举法可解！</a:t>
            </a:r>
            <a:endParaRPr lang="zh-CN" altLang="en-US" dirty="0"/>
          </a:p>
        </p:txBody>
      </p:sp>
      <p:pic>
        <p:nvPicPr>
          <p:cNvPr id="317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1880" y="623041"/>
            <a:ext cx="7908435" cy="6234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4000" dirty="0"/>
              <a:t>解题思路：</a:t>
            </a:r>
            <a:r>
              <a:rPr lang="zh-CN" altLang="en-US" sz="4000" dirty="0">
                <a:solidFill>
                  <a:srgbClr val="FF0000"/>
                </a:solidFill>
              </a:rPr>
              <a:t>回溯法</a:t>
            </a:r>
            <a:r>
              <a:rPr lang="zh-CN" altLang="en-US" sz="4000" dirty="0"/>
              <a:t>（</a:t>
            </a:r>
            <a:r>
              <a:rPr lang="en-US" sz="4000" dirty="0"/>
              <a:t>backtracking</a:t>
            </a:r>
            <a:r>
              <a:rPr lang="zh-CN" altLang="en-US" sz="4000" dirty="0"/>
              <a:t>）</a:t>
            </a:r>
            <a:endParaRPr lang="en-US" sz="4000" dirty="0"/>
          </a:p>
        </p:txBody>
      </p:sp>
      <p:sp>
        <p:nvSpPr>
          <p:cNvPr id="3" name="Content Placeholder 2"/>
          <p:cNvSpPr>
            <a:spLocks noGrp="1"/>
          </p:cNvSpPr>
          <p:nvPr>
            <p:ph idx="1"/>
          </p:nvPr>
        </p:nvSpPr>
        <p:spPr/>
        <p:txBody>
          <a:bodyPr>
            <a:normAutofit/>
          </a:bodyPr>
          <a:lstStyle/>
          <a:p>
            <a:r>
              <a:rPr lang="zh-CN" altLang="en-US" dirty="0"/>
              <a:t>回溯法是计算机解题的一种通用算法，它可以找出问题的所有解或者部分解。</a:t>
            </a:r>
            <a:endParaRPr lang="en-US" altLang="zh-CN" dirty="0"/>
          </a:p>
          <a:p>
            <a:r>
              <a:rPr lang="zh-CN" altLang="en-US" dirty="0"/>
              <a:t>回溯法是一个类似枚举的</a:t>
            </a:r>
            <a:r>
              <a:rPr lang="zh-CN" altLang="en-US" dirty="0">
                <a:solidFill>
                  <a:srgbClr val="FF0000"/>
                </a:solidFill>
              </a:rPr>
              <a:t>搜索</a:t>
            </a:r>
            <a:r>
              <a:rPr lang="zh-CN" altLang="en-US" dirty="0"/>
              <a:t>尝试过程，也称为“试探法”。</a:t>
            </a:r>
            <a:endParaRPr lang="en-US" altLang="zh-CN" dirty="0"/>
          </a:p>
          <a:p>
            <a:r>
              <a:rPr lang="zh-CN" altLang="en-US" dirty="0"/>
              <a:t>回溯法比暴利枚举更加“聪明”，一旦在搜索尝试的过程中发现当前的候选不可能是有效解就立刻回退（</a:t>
            </a:r>
            <a:r>
              <a:rPr lang="en-US" dirty="0"/>
              <a:t>backtrack</a:t>
            </a:r>
            <a:r>
              <a:rPr lang="zh-CN" altLang="en-US" dirty="0"/>
              <a:t>），放弃该候选解本身及其扩展出来的子候选解，转而测试别的候选。</a:t>
            </a:r>
            <a:endParaRPr lang="en-US" altLang="zh-CN" dirty="0"/>
          </a:p>
          <a:p>
            <a:r>
              <a:rPr lang="zh-CN" altLang="en-US" dirty="0"/>
              <a:t>回溯法通常可以用递归来实现</a:t>
            </a: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1288184"/>
          </a:xfrm>
        </p:spPr>
        <p:txBody>
          <a:bodyPr/>
          <a:lstStyle/>
          <a:p>
            <a:r>
              <a:rPr lang="zh-CN" altLang="en-US" dirty="0"/>
              <a:t>回溯搜索过程</a:t>
            </a:r>
            <a:endParaRPr lang="en-US" dirty="0"/>
          </a:p>
        </p:txBody>
      </p:sp>
      <p:sp>
        <p:nvSpPr>
          <p:cNvPr id="5" name="Content Placeholder 4"/>
          <p:cNvSpPr>
            <a:spLocks noGrp="1"/>
          </p:cNvSpPr>
          <p:nvPr>
            <p:ph idx="1"/>
          </p:nvPr>
        </p:nvSpPr>
        <p:spPr>
          <a:xfrm>
            <a:off x="685800" y="1772816"/>
            <a:ext cx="7772400" cy="4399384"/>
          </a:xfrm>
        </p:spPr>
        <p:txBody>
          <a:bodyPr>
            <a:normAutofit fontScale="92500" lnSpcReduction="20000"/>
          </a:bodyPr>
          <a:lstStyle/>
          <a:p>
            <a:r>
              <a:rPr lang="zh-CN" altLang="en-US" dirty="0"/>
              <a:t>目标：给</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个人分书</a:t>
            </a:r>
            <a:endParaRPr lang="en-US" altLang="zh-CN" dirty="0"/>
          </a:p>
          <a:p>
            <a:r>
              <a:rPr lang="zh-CN" altLang="en-US" dirty="0"/>
              <a:t>策略：</a:t>
            </a:r>
            <a:endParaRPr lang="en-US" altLang="zh-CN" dirty="0"/>
          </a:p>
          <a:p>
            <a:pPr lvl="1"/>
            <a:r>
              <a:rPr lang="zh-CN" altLang="en-US" dirty="0"/>
              <a:t>先尝试给第</a:t>
            </a:r>
            <a:r>
              <a:rPr lang="en-US" altLang="zh-CN" dirty="0" err="1"/>
              <a:t>0</a:t>
            </a:r>
            <a:r>
              <a:rPr lang="zh-CN" altLang="en-US" dirty="0"/>
              <a:t>个人分书，第</a:t>
            </a:r>
            <a:r>
              <a:rPr lang="en-US" altLang="zh-CN" dirty="0"/>
              <a:t>0</a:t>
            </a:r>
            <a:r>
              <a:rPr lang="zh-CN" altLang="en-US" dirty="0"/>
              <a:t>人有书后，尝试给第</a:t>
            </a:r>
            <a:r>
              <a:rPr lang="en-US" altLang="zh-CN" dirty="0"/>
              <a:t>1</a:t>
            </a:r>
            <a:r>
              <a:rPr lang="zh-CN" altLang="en-US" dirty="0"/>
              <a:t>个人分书，</a:t>
            </a:r>
            <a:r>
              <a:rPr lang="en-US" altLang="zh-CN" dirty="0"/>
              <a:t>……</a:t>
            </a:r>
            <a:r>
              <a:rPr lang="zh-CN" altLang="en-US" dirty="0"/>
              <a:t>，依次类推，给第</a:t>
            </a:r>
            <a:r>
              <a:rPr lang="en-US" altLang="zh-CN" dirty="0"/>
              <a:t>4</a:t>
            </a:r>
            <a:r>
              <a:rPr lang="zh-CN" altLang="en-US" dirty="0"/>
              <a:t>个人分好书后，即得到一组可行的分配方案</a:t>
            </a:r>
            <a:endParaRPr lang="en-US" altLang="zh-CN" dirty="0"/>
          </a:p>
          <a:p>
            <a:pPr lvl="1"/>
            <a:r>
              <a:rPr lang="zh-CN" altLang="en-US" dirty="0"/>
              <a:t>回溯：尝试给某人分书的下一种可能方案</a:t>
            </a:r>
            <a:endParaRPr lang="en-US" altLang="zh-CN" dirty="0"/>
          </a:p>
          <a:p>
            <a:pPr lvl="2"/>
            <a:r>
              <a:rPr lang="zh-CN" altLang="en-US" dirty="0"/>
              <a:t>无法分书的时候</a:t>
            </a:r>
            <a:endParaRPr lang="en-US" altLang="zh-CN" dirty="0"/>
          </a:p>
          <a:p>
            <a:pPr lvl="2"/>
            <a:r>
              <a:rPr lang="zh-CN" altLang="en-US" dirty="0"/>
              <a:t>得到一组解的时候</a:t>
            </a:r>
            <a:endParaRPr lang="en-US" altLang="zh-CN" dirty="0"/>
          </a:p>
          <a:p>
            <a:r>
              <a:rPr lang="zh-CN" altLang="en-US" dirty="0"/>
              <a:t>给每个人分书的操作是类似的</a:t>
            </a:r>
            <a:endParaRPr lang="en-US" altLang="zh-CN" dirty="0"/>
          </a:p>
          <a:p>
            <a:pPr lvl="1"/>
            <a:r>
              <a:rPr lang="zh-CN" altLang="en-US" dirty="0"/>
              <a:t>给第</a:t>
            </a:r>
            <a:r>
              <a:rPr lang="en-US" altLang="zh-CN" dirty="0"/>
              <a:t>i+1</a:t>
            </a:r>
            <a:r>
              <a:rPr lang="zh-CN" altLang="en-US" dirty="0"/>
              <a:t>个人分书的问题可以看成是给第</a:t>
            </a:r>
            <a:r>
              <a:rPr lang="en-US" altLang="zh-CN" dirty="0" err="1"/>
              <a:t>i</a:t>
            </a:r>
            <a:r>
              <a:rPr lang="zh-CN" altLang="en-US" dirty="0"/>
              <a:t>个人分书的子问题，可以通过递归调用来实现</a:t>
            </a:r>
            <a:endParaRPr lang="en-US" altLang="zh-CN" dirty="0"/>
          </a:p>
          <a:p>
            <a:pPr lvl="1"/>
            <a:r>
              <a:rPr lang="zh-CN" altLang="en-US" dirty="0"/>
              <a:t>递归边界？</a:t>
            </a:r>
            <a:endParaRPr lang="en-US" altLang="zh-CN"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5536" y="917473"/>
            <a:ext cx="8546534" cy="535531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mj-ea"/>
                <a:ea typeface="+mj-ea"/>
              </a:rPr>
              <a:t>void </a:t>
            </a:r>
            <a:r>
              <a:rPr lang="en-US" dirty="0" err="1">
                <a:latin typeface="+mj-ea"/>
                <a:ea typeface="+mj-ea"/>
              </a:rPr>
              <a:t>assignBook</a:t>
            </a:r>
            <a:r>
              <a:rPr lang="en-US" dirty="0">
                <a:latin typeface="+mj-ea"/>
                <a:ea typeface="+mj-ea"/>
              </a:rPr>
              <a:t>(</a:t>
            </a:r>
            <a:r>
              <a:rPr lang="en-US" dirty="0" err="1">
                <a:latin typeface="+mj-ea"/>
                <a:ea typeface="+mj-ea"/>
              </a:rPr>
              <a:t>int</a:t>
            </a:r>
            <a:r>
              <a:rPr lang="en-US" dirty="0">
                <a:latin typeface="+mj-ea"/>
                <a:ea typeface="+mj-ea"/>
              </a:rPr>
              <a:t> k, </a:t>
            </a:r>
            <a:r>
              <a:rPr lang="en-US" dirty="0" err="1">
                <a:latin typeface="+mj-ea"/>
                <a:ea typeface="+mj-ea"/>
              </a:rPr>
              <a:t>int</a:t>
            </a:r>
            <a:r>
              <a:rPr lang="en-US" dirty="0">
                <a:latin typeface="+mj-ea"/>
                <a:ea typeface="+mj-ea"/>
              </a:rPr>
              <a:t> n, </a:t>
            </a:r>
            <a:r>
              <a:rPr lang="en-US" dirty="0" err="1">
                <a:latin typeface="+mj-ea"/>
                <a:ea typeface="+mj-ea"/>
              </a:rPr>
              <a:t>int</a:t>
            </a:r>
            <a:r>
              <a:rPr lang="en-US" dirty="0">
                <a:latin typeface="+mj-ea"/>
                <a:ea typeface="+mj-ea"/>
              </a:rPr>
              <a:t> m)</a:t>
            </a:r>
            <a:endParaRPr lang="en-US" dirty="0">
              <a:latin typeface="+mj-ea"/>
              <a:ea typeface="+mj-ea"/>
            </a:endParaRPr>
          </a:p>
          <a:p>
            <a:r>
              <a:rPr lang="en-US" dirty="0">
                <a:latin typeface="+mj-ea"/>
                <a:ea typeface="+mj-ea"/>
              </a:rPr>
              <a:t>{</a:t>
            </a:r>
            <a:endParaRPr lang="en-US" dirty="0">
              <a:latin typeface="+mj-ea"/>
              <a:ea typeface="+mj-ea"/>
            </a:endParaRPr>
          </a:p>
          <a:p>
            <a:r>
              <a:rPr lang="en-US" dirty="0">
                <a:latin typeface="+mj-ea"/>
                <a:ea typeface="+mj-ea"/>
              </a:rPr>
              <a:t>    </a:t>
            </a:r>
            <a:r>
              <a:rPr lang="en-US" dirty="0" err="1">
                <a:latin typeface="+mj-ea"/>
                <a:ea typeface="+mj-ea"/>
              </a:rPr>
              <a:t>int</a:t>
            </a:r>
            <a:r>
              <a:rPr lang="en-US" dirty="0">
                <a:latin typeface="+mj-ea"/>
                <a:ea typeface="+mj-ea"/>
              </a:rPr>
              <a:t> </a:t>
            </a:r>
            <a:r>
              <a:rPr lang="en-US" dirty="0" err="1">
                <a:latin typeface="+mj-ea"/>
                <a:ea typeface="+mj-ea"/>
              </a:rPr>
              <a:t>i</a:t>
            </a:r>
            <a:r>
              <a:rPr lang="en-US" dirty="0">
                <a:latin typeface="+mj-ea"/>
                <a:ea typeface="+mj-ea"/>
              </a:rPr>
              <a:t>;</a:t>
            </a:r>
            <a:endParaRPr lang="en-US" dirty="0">
              <a:latin typeface="+mj-ea"/>
              <a:ea typeface="+mj-ea"/>
            </a:endParaRPr>
          </a:p>
          <a:p>
            <a:r>
              <a:rPr lang="en-US" dirty="0">
                <a:latin typeface="+mj-ea"/>
                <a:ea typeface="+mj-ea"/>
              </a:rPr>
              <a:t>    if (k == n)</a:t>
            </a:r>
            <a:endParaRPr lang="en-US" dirty="0">
              <a:latin typeface="+mj-ea"/>
              <a:ea typeface="+mj-ea"/>
            </a:endParaRPr>
          </a:p>
          <a:p>
            <a:r>
              <a:rPr lang="en-US" dirty="0">
                <a:latin typeface="+mj-ea"/>
                <a:ea typeface="+mj-ea"/>
              </a:rPr>
              <a:t>    {</a:t>
            </a:r>
            <a:endParaRPr lang="en-US" dirty="0">
              <a:latin typeface="+mj-ea"/>
              <a:ea typeface="+mj-ea"/>
            </a:endParaRPr>
          </a:p>
          <a:p>
            <a:r>
              <a:rPr lang="en-US" dirty="0">
                <a:latin typeface="+mj-ea"/>
                <a:ea typeface="+mj-ea"/>
              </a:rPr>
              <a:t>        </a:t>
            </a:r>
            <a:r>
              <a:rPr lang="zh-CN" altLang="en-US" dirty="0">
                <a:latin typeface="+mj-ea"/>
                <a:ea typeface="+mj-ea"/>
              </a:rPr>
              <a:t>输出当前分书方案</a:t>
            </a:r>
            <a:r>
              <a:rPr lang="en-US" altLang="zh-CN" dirty="0">
                <a:latin typeface="+mj-ea"/>
                <a:ea typeface="+mj-ea"/>
              </a:rPr>
              <a:t>;</a:t>
            </a:r>
            <a:endParaRPr lang="en-US" altLang="zh-CN" dirty="0">
              <a:latin typeface="+mj-ea"/>
              <a:ea typeface="+mj-ea"/>
            </a:endParaRPr>
          </a:p>
          <a:p>
            <a:r>
              <a:rPr lang="en-US" altLang="zh-CN" dirty="0">
                <a:latin typeface="+mj-ea"/>
                <a:ea typeface="+mj-ea"/>
              </a:rPr>
              <a:t>        </a:t>
            </a:r>
            <a:r>
              <a:rPr lang="en-US" dirty="0">
                <a:latin typeface="+mj-ea"/>
                <a:ea typeface="+mj-ea"/>
              </a:rPr>
              <a:t>return;</a:t>
            </a:r>
            <a:endParaRPr lang="en-US" dirty="0">
              <a:latin typeface="+mj-ea"/>
              <a:ea typeface="+mj-ea"/>
            </a:endParaRPr>
          </a:p>
          <a:p>
            <a:r>
              <a:rPr lang="en-US" dirty="0">
                <a:latin typeface="+mj-ea"/>
                <a:ea typeface="+mj-ea"/>
              </a:rPr>
              <a:t>    }</a:t>
            </a:r>
            <a:endParaRPr lang="en-US" dirty="0">
              <a:latin typeface="+mj-ea"/>
              <a:ea typeface="+mj-ea"/>
            </a:endParaRPr>
          </a:p>
          <a:p>
            <a:r>
              <a:rPr lang="en-US" dirty="0">
                <a:latin typeface="+mj-ea"/>
                <a:ea typeface="+mj-ea"/>
              </a:rPr>
              <a:t>    for ( </a:t>
            </a:r>
            <a:r>
              <a:rPr lang="en-US" dirty="0" err="1">
                <a:latin typeface="+mj-ea"/>
                <a:ea typeface="+mj-ea"/>
              </a:rPr>
              <a:t>i</a:t>
            </a:r>
            <a:r>
              <a:rPr lang="en-US" dirty="0">
                <a:latin typeface="+mj-ea"/>
                <a:ea typeface="+mj-ea"/>
              </a:rPr>
              <a:t> = 0; </a:t>
            </a:r>
            <a:r>
              <a:rPr lang="en-US" dirty="0" err="1">
                <a:latin typeface="+mj-ea"/>
                <a:ea typeface="+mj-ea"/>
              </a:rPr>
              <a:t>i</a:t>
            </a:r>
            <a:r>
              <a:rPr lang="en-US" dirty="0">
                <a:latin typeface="+mj-ea"/>
                <a:ea typeface="+mj-ea"/>
              </a:rPr>
              <a:t> &lt; m; </a:t>
            </a:r>
            <a:r>
              <a:rPr lang="en-US" dirty="0" err="1">
                <a:latin typeface="+mj-ea"/>
                <a:ea typeface="+mj-ea"/>
              </a:rPr>
              <a:t>i</a:t>
            </a:r>
            <a:r>
              <a:rPr lang="en-US" dirty="0">
                <a:latin typeface="+mj-ea"/>
                <a:ea typeface="+mj-ea"/>
              </a:rPr>
              <a:t> ++ )</a:t>
            </a:r>
            <a:endParaRPr lang="en-US" dirty="0">
              <a:latin typeface="+mj-ea"/>
              <a:ea typeface="+mj-ea"/>
            </a:endParaRPr>
          </a:p>
          <a:p>
            <a:r>
              <a:rPr lang="en-US" dirty="0">
                <a:latin typeface="+mj-ea"/>
                <a:ea typeface="+mj-ea"/>
              </a:rPr>
              <a:t>    {</a:t>
            </a:r>
            <a:endParaRPr lang="en-US" dirty="0">
              <a:latin typeface="+mj-ea"/>
              <a:ea typeface="+mj-ea"/>
            </a:endParaRPr>
          </a:p>
          <a:p>
            <a:r>
              <a:rPr lang="en-US" dirty="0">
                <a:latin typeface="+mj-ea"/>
                <a:ea typeface="+mj-ea"/>
              </a:rPr>
              <a:t>        if (</a:t>
            </a:r>
            <a:r>
              <a:rPr lang="en-US" dirty="0" err="1">
                <a:latin typeface="+mj-ea"/>
                <a:ea typeface="+mj-ea"/>
              </a:rPr>
              <a:t>i</a:t>
            </a:r>
            <a:r>
              <a:rPr lang="zh-CN" altLang="en-US" dirty="0">
                <a:latin typeface="+mj-ea"/>
                <a:ea typeface="+mj-ea"/>
              </a:rPr>
              <a:t>号书可以分配给</a:t>
            </a:r>
            <a:r>
              <a:rPr lang="en-US" dirty="0">
                <a:latin typeface="+mj-ea"/>
                <a:ea typeface="+mj-ea"/>
              </a:rPr>
              <a:t>k</a:t>
            </a:r>
            <a:r>
              <a:rPr lang="zh-CN" altLang="en-US" dirty="0">
                <a:latin typeface="+mj-ea"/>
                <a:ea typeface="+mj-ea"/>
              </a:rPr>
              <a:t>个人</a:t>
            </a:r>
            <a:r>
              <a:rPr lang="en-US" altLang="zh-CN" dirty="0">
                <a:latin typeface="+mj-ea"/>
                <a:ea typeface="+mj-ea"/>
              </a:rPr>
              <a:t>)</a:t>
            </a:r>
            <a:endParaRPr lang="en-US" altLang="zh-CN" dirty="0">
              <a:latin typeface="+mj-ea"/>
              <a:ea typeface="+mj-ea"/>
            </a:endParaRPr>
          </a:p>
          <a:p>
            <a:r>
              <a:rPr lang="en-US" altLang="zh-CN" dirty="0">
                <a:latin typeface="+mj-ea"/>
                <a:ea typeface="+mj-ea"/>
              </a:rPr>
              <a:t>        {</a:t>
            </a:r>
            <a:endParaRPr lang="en-US" altLang="zh-CN" dirty="0">
              <a:latin typeface="+mj-ea"/>
              <a:ea typeface="+mj-ea"/>
            </a:endParaRPr>
          </a:p>
          <a:p>
            <a:r>
              <a:rPr lang="en-US" altLang="zh-CN" dirty="0">
                <a:latin typeface="+mj-ea"/>
                <a:ea typeface="+mj-ea"/>
              </a:rPr>
              <a:t>            </a:t>
            </a:r>
            <a:r>
              <a:rPr lang="zh-CN" altLang="en-US" dirty="0">
                <a:latin typeface="+mj-ea"/>
                <a:ea typeface="+mj-ea"/>
              </a:rPr>
              <a:t>（</a:t>
            </a:r>
            <a:r>
              <a:rPr lang="en-US" altLang="zh-CN" dirty="0">
                <a:latin typeface="+mj-ea"/>
                <a:ea typeface="+mj-ea"/>
              </a:rPr>
              <a:t>1</a:t>
            </a:r>
            <a:r>
              <a:rPr lang="zh-CN" altLang="en-US" dirty="0">
                <a:latin typeface="+mj-ea"/>
                <a:ea typeface="+mj-ea"/>
              </a:rPr>
              <a:t>）将</a:t>
            </a:r>
            <a:r>
              <a:rPr lang="en-US" dirty="0" err="1">
                <a:latin typeface="+mj-ea"/>
                <a:ea typeface="+mj-ea"/>
              </a:rPr>
              <a:t>i</a:t>
            </a:r>
            <a:r>
              <a:rPr lang="zh-CN" altLang="en-US" dirty="0">
                <a:latin typeface="+mj-ea"/>
                <a:ea typeface="+mj-ea"/>
              </a:rPr>
              <a:t>号书分为第</a:t>
            </a:r>
            <a:r>
              <a:rPr lang="en-US" dirty="0">
                <a:latin typeface="+mj-ea"/>
                <a:ea typeface="+mj-ea"/>
              </a:rPr>
              <a:t>k</a:t>
            </a:r>
            <a:r>
              <a:rPr lang="zh-CN" altLang="en-US" dirty="0">
                <a:latin typeface="+mj-ea"/>
                <a:ea typeface="+mj-ea"/>
              </a:rPr>
              <a:t>个人</a:t>
            </a:r>
            <a:r>
              <a:rPr lang="en-US" altLang="zh-CN" dirty="0">
                <a:latin typeface="+mj-ea"/>
                <a:ea typeface="+mj-ea"/>
              </a:rPr>
              <a:t>;</a:t>
            </a:r>
            <a:endParaRPr lang="zh-CN" altLang="en-US" dirty="0">
              <a:latin typeface="+mj-ea"/>
              <a:ea typeface="+mj-ea"/>
            </a:endParaRPr>
          </a:p>
          <a:p>
            <a:r>
              <a:rPr lang="zh-CN" altLang="en-US" dirty="0">
                <a:latin typeface="+mj-ea"/>
                <a:ea typeface="+mj-ea"/>
              </a:rPr>
              <a:t>            （</a:t>
            </a:r>
            <a:r>
              <a:rPr lang="en-US" altLang="zh-CN" dirty="0">
                <a:latin typeface="+mj-ea"/>
                <a:ea typeface="+mj-ea"/>
              </a:rPr>
              <a:t>2</a:t>
            </a:r>
            <a:r>
              <a:rPr lang="zh-CN" altLang="en-US" dirty="0">
                <a:latin typeface="+mj-ea"/>
                <a:ea typeface="+mj-ea"/>
              </a:rPr>
              <a:t>）给下一个人分书，即递归调用本函</a:t>
            </a:r>
            <a:r>
              <a:rPr lang="en-US" dirty="0" err="1">
                <a:latin typeface="+mj-ea"/>
                <a:ea typeface="+mj-ea"/>
              </a:rPr>
              <a:t>assign</a:t>
            </a:r>
            <a:r>
              <a:rPr lang="en-US" altLang="zh-CN" dirty="0" err="1">
                <a:latin typeface="+mj-ea"/>
                <a:ea typeface="+mj-ea"/>
              </a:rPr>
              <a:t>Book</a:t>
            </a:r>
            <a:r>
              <a:rPr lang="en-US" dirty="0">
                <a:latin typeface="+mj-ea"/>
                <a:ea typeface="+mj-ea"/>
              </a:rPr>
              <a:t>(k + 1, n, m);</a:t>
            </a:r>
            <a:endParaRPr lang="en-US" dirty="0">
              <a:latin typeface="+mj-ea"/>
              <a:ea typeface="+mj-ea"/>
            </a:endParaRPr>
          </a:p>
          <a:p>
            <a:r>
              <a:rPr lang="en-US" dirty="0">
                <a:latin typeface="+mj-ea"/>
                <a:ea typeface="+mj-ea"/>
              </a:rPr>
              <a:t>            </a:t>
            </a:r>
            <a:r>
              <a:rPr lang="zh-CN" altLang="en-US" dirty="0">
                <a:latin typeface="+mj-ea"/>
                <a:ea typeface="+mj-ea"/>
              </a:rPr>
              <a:t>（</a:t>
            </a:r>
            <a:r>
              <a:rPr lang="en-US" altLang="zh-CN" dirty="0">
                <a:latin typeface="+mj-ea"/>
                <a:ea typeface="+mj-ea"/>
              </a:rPr>
              <a:t>3</a:t>
            </a:r>
            <a:r>
              <a:rPr lang="zh-CN" altLang="en-US" dirty="0">
                <a:latin typeface="+mj-ea"/>
                <a:ea typeface="+mj-ea"/>
              </a:rPr>
              <a:t>）</a:t>
            </a:r>
            <a:r>
              <a:rPr lang="zh-CN" altLang="en-US" dirty="0">
                <a:solidFill>
                  <a:srgbClr val="FF0000"/>
                </a:solidFill>
                <a:latin typeface="+mj-ea"/>
                <a:ea typeface="+mj-ea"/>
              </a:rPr>
              <a:t>回溯</a:t>
            </a:r>
            <a:r>
              <a:rPr lang="zh-CN" altLang="en-US" dirty="0">
                <a:solidFill>
                  <a:schemeClr val="tx1"/>
                </a:solidFill>
                <a:latin typeface="+mj-ea"/>
                <a:ea typeface="+mj-ea"/>
              </a:rPr>
              <a:t>：把</a:t>
            </a:r>
            <a:r>
              <a:rPr lang="en-US" dirty="0" err="1">
                <a:solidFill>
                  <a:schemeClr val="tx1"/>
                </a:solidFill>
                <a:latin typeface="+mj-ea"/>
                <a:ea typeface="+mj-ea"/>
              </a:rPr>
              <a:t>i</a:t>
            </a:r>
            <a:r>
              <a:rPr lang="zh-CN" altLang="en-US" dirty="0">
                <a:solidFill>
                  <a:schemeClr val="tx1"/>
                </a:solidFill>
                <a:latin typeface="+mj-ea"/>
                <a:ea typeface="+mj-ea"/>
              </a:rPr>
              <a:t>号书从第</a:t>
            </a:r>
            <a:r>
              <a:rPr lang="en-US" dirty="0">
                <a:solidFill>
                  <a:schemeClr val="tx1"/>
                </a:solidFill>
                <a:latin typeface="+mj-ea"/>
                <a:ea typeface="+mj-ea"/>
              </a:rPr>
              <a:t>k</a:t>
            </a:r>
            <a:r>
              <a:rPr lang="zh-CN" altLang="en-US" dirty="0">
                <a:solidFill>
                  <a:schemeClr val="tx1"/>
                </a:solidFill>
                <a:latin typeface="+mj-ea"/>
                <a:ea typeface="+mj-ea"/>
              </a:rPr>
              <a:t>人处收回以便尝试给第</a:t>
            </a:r>
            <a:r>
              <a:rPr lang="en-US" dirty="0">
                <a:solidFill>
                  <a:schemeClr val="tx1"/>
                </a:solidFill>
                <a:latin typeface="+mj-ea"/>
                <a:ea typeface="+mj-ea"/>
              </a:rPr>
              <a:t>k</a:t>
            </a:r>
            <a:r>
              <a:rPr lang="zh-CN" altLang="en-US" dirty="0">
                <a:solidFill>
                  <a:schemeClr val="tx1"/>
                </a:solidFill>
                <a:latin typeface="+mj-ea"/>
                <a:ea typeface="+mj-ea"/>
              </a:rPr>
              <a:t>个人分其它的书</a:t>
            </a:r>
            <a:r>
              <a:rPr lang="en-US" altLang="zh-CN" dirty="0">
                <a:solidFill>
                  <a:schemeClr val="tx1"/>
                </a:solidFill>
                <a:latin typeface="+mj-ea"/>
                <a:ea typeface="+mj-ea"/>
              </a:rPr>
              <a:t>;</a:t>
            </a:r>
            <a:r>
              <a:rPr lang="zh-CN" altLang="en-US" dirty="0">
                <a:solidFill>
                  <a:schemeClr val="tx1"/>
                </a:solidFill>
                <a:latin typeface="+mj-ea"/>
                <a:ea typeface="+mj-ea"/>
              </a:rPr>
              <a:t> </a:t>
            </a:r>
            <a:r>
              <a:rPr lang="zh-CN" altLang="en-US" dirty="0">
                <a:solidFill>
                  <a:srgbClr val="FF0000"/>
                </a:solidFill>
                <a:latin typeface="+mj-ea"/>
                <a:ea typeface="+mj-ea"/>
              </a:rPr>
              <a:t>   </a:t>
            </a:r>
            <a:r>
              <a:rPr lang="zh-CN" altLang="en-US" dirty="0">
                <a:latin typeface="+mj-ea"/>
                <a:ea typeface="+mj-ea"/>
              </a:rPr>
              <a:t>        </a:t>
            </a:r>
            <a:endParaRPr lang="zh-CN" altLang="en-US" dirty="0">
              <a:latin typeface="+mj-ea"/>
              <a:ea typeface="+mj-ea"/>
            </a:endParaRPr>
          </a:p>
          <a:p>
            <a:r>
              <a:rPr lang="zh-CN" altLang="en-US" dirty="0">
                <a:latin typeface="+mj-ea"/>
                <a:ea typeface="+mj-ea"/>
              </a:rPr>
              <a:t>        </a:t>
            </a:r>
            <a:r>
              <a:rPr lang="en-US" altLang="zh-CN" dirty="0">
                <a:latin typeface="+mj-ea"/>
                <a:ea typeface="+mj-ea"/>
              </a:rPr>
              <a:t>}</a:t>
            </a:r>
            <a:endParaRPr lang="en-US" altLang="zh-CN" dirty="0">
              <a:latin typeface="+mj-ea"/>
              <a:ea typeface="+mj-ea"/>
            </a:endParaRPr>
          </a:p>
          <a:p>
            <a:r>
              <a:rPr lang="en-US" altLang="zh-CN" dirty="0">
                <a:latin typeface="+mj-ea"/>
                <a:ea typeface="+mj-ea"/>
              </a:rPr>
              <a:t>    }</a:t>
            </a:r>
            <a:endParaRPr lang="en-US" altLang="zh-CN" dirty="0">
              <a:latin typeface="+mj-ea"/>
              <a:ea typeface="+mj-ea"/>
            </a:endParaRPr>
          </a:p>
          <a:p>
            <a:r>
              <a:rPr lang="en-US" altLang="zh-CN" dirty="0">
                <a:latin typeface="+mj-ea"/>
                <a:ea typeface="+mj-ea"/>
              </a:rPr>
              <a:t>    </a:t>
            </a:r>
            <a:r>
              <a:rPr lang="en-US" dirty="0">
                <a:latin typeface="+mj-ea"/>
                <a:ea typeface="+mj-ea"/>
              </a:rPr>
              <a:t>return;</a:t>
            </a:r>
            <a:endParaRPr lang="en-US" dirty="0">
              <a:latin typeface="+mj-ea"/>
              <a:ea typeface="+mj-ea"/>
            </a:endParaRPr>
          </a:p>
          <a:p>
            <a:r>
              <a:rPr lang="en-US" dirty="0">
                <a:latin typeface="+mj-ea"/>
                <a:ea typeface="+mj-ea"/>
              </a:rPr>
              <a:t>}</a:t>
            </a:r>
            <a:endParaRPr lang="en-US" dirty="0">
              <a:latin typeface="+mj-ea"/>
              <a:ea typeface="+mj-ea"/>
            </a:endParaRPr>
          </a:p>
        </p:txBody>
      </p:sp>
      <p:sp>
        <p:nvSpPr>
          <p:cNvPr id="2" name="TextBox 1"/>
          <p:cNvSpPr txBox="1"/>
          <p:nvPr/>
        </p:nvSpPr>
        <p:spPr>
          <a:xfrm>
            <a:off x="395536" y="413956"/>
            <a:ext cx="7704856" cy="369332"/>
          </a:xfrm>
          <a:prstGeom prst="rect">
            <a:avLst/>
          </a:prstGeom>
          <a:noFill/>
        </p:spPr>
        <p:txBody>
          <a:bodyPr wrap="square" rtlCol="0">
            <a:spAutoFit/>
          </a:bodyPr>
          <a:lstStyle/>
          <a:p>
            <a:r>
              <a:rPr lang="en-US" altLang="zh-CN" b="1" dirty="0" err="1"/>
              <a:t>assignBook</a:t>
            </a:r>
            <a:r>
              <a:rPr lang="zh-CN" altLang="en-US" b="1" dirty="0"/>
              <a:t>表示给第</a:t>
            </a:r>
            <a:r>
              <a:rPr lang="en-US" altLang="zh-CN" b="1" dirty="0"/>
              <a:t>k</a:t>
            </a:r>
            <a:r>
              <a:rPr lang="zh-CN" altLang="en-US" b="1" dirty="0"/>
              <a:t>个人分书，总共</a:t>
            </a:r>
            <a:r>
              <a:rPr lang="en-US" altLang="zh-CN" b="1" dirty="0"/>
              <a:t>n</a:t>
            </a:r>
            <a:r>
              <a:rPr lang="zh-CN" altLang="en-US" b="1" dirty="0"/>
              <a:t>个人，</a:t>
            </a:r>
            <a:r>
              <a:rPr lang="en-US" altLang="zh-CN" b="1" dirty="0"/>
              <a:t>m</a:t>
            </a:r>
            <a:r>
              <a:rPr lang="zh-CN" altLang="en-US" b="1" dirty="0"/>
              <a:t>本书（</a:t>
            </a:r>
            <a:r>
              <a:rPr lang="en-US" altLang="zh-CN" b="1" dirty="0"/>
              <a:t>m ≥ n</a:t>
            </a:r>
            <a:r>
              <a:rPr lang="zh-CN" altLang="en-US" b="1" dirty="0"/>
              <a:t>）</a:t>
            </a:r>
            <a:endParaRPr lang="en-US" b="1" dirty="0"/>
          </a:p>
        </p:txBody>
      </p:sp>
      <p:grpSp>
        <p:nvGrpSpPr>
          <p:cNvPr id="10" name="Group 9"/>
          <p:cNvGrpSpPr/>
          <p:nvPr/>
        </p:nvGrpSpPr>
        <p:grpSpPr>
          <a:xfrm>
            <a:off x="539552" y="1813466"/>
            <a:ext cx="4968552" cy="1399510"/>
            <a:chOff x="539552" y="1813466"/>
            <a:chExt cx="4968552" cy="1399510"/>
          </a:xfrm>
        </p:grpSpPr>
        <p:sp>
          <p:nvSpPr>
            <p:cNvPr id="7" name="TextBox 6"/>
            <p:cNvSpPr txBox="1"/>
            <p:nvPr/>
          </p:nvSpPr>
          <p:spPr>
            <a:xfrm>
              <a:off x="539552" y="1813466"/>
              <a:ext cx="3069255" cy="1399510"/>
            </a:xfrm>
            <a:prstGeom prst="rect">
              <a:avLst/>
            </a:prstGeom>
            <a:solidFill>
              <a:schemeClr val="accent1">
                <a:alpha val="28000"/>
              </a:schemeClr>
            </a:solidFill>
          </p:spPr>
          <p:txBody>
            <a:bodyPr wrap="square" rtlCol="0">
              <a:spAutoFit/>
            </a:bodyPr>
            <a:lstStyle/>
            <a:p>
              <a:endParaRPr lang="en-US" dirty="0"/>
            </a:p>
          </p:txBody>
        </p:sp>
        <p:sp>
          <p:nvSpPr>
            <p:cNvPr id="8" name="TextBox 7"/>
            <p:cNvSpPr txBox="1"/>
            <p:nvPr/>
          </p:nvSpPr>
          <p:spPr>
            <a:xfrm>
              <a:off x="3995936" y="2212920"/>
              <a:ext cx="1512168" cy="461665"/>
            </a:xfrm>
            <a:prstGeom prst="rect">
              <a:avLst/>
            </a:prstGeom>
            <a:noFill/>
          </p:spPr>
          <p:txBody>
            <a:bodyPr wrap="square" rtlCol="0">
              <a:spAutoFit/>
            </a:bodyPr>
            <a:lstStyle/>
            <a:p>
              <a:r>
                <a:rPr lang="zh-CN" altLang="en-US" sz="2400" dirty="0"/>
                <a:t>递归边界</a:t>
              </a:r>
              <a:endParaRPr lang="en-US" sz="2400" dirty="0"/>
            </a:p>
          </p:txBody>
        </p:sp>
        <p:sp>
          <p:nvSpPr>
            <p:cNvPr id="9" name="Left Arrow 8"/>
            <p:cNvSpPr/>
            <p:nvPr/>
          </p:nvSpPr>
          <p:spPr>
            <a:xfrm>
              <a:off x="3608807" y="2354035"/>
              <a:ext cx="387129" cy="17943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5349014" y="4206863"/>
            <a:ext cx="3873019" cy="830997"/>
            <a:chOff x="539552" y="1134701"/>
            <a:chExt cx="4892898" cy="2509653"/>
          </a:xfrm>
        </p:grpSpPr>
        <p:sp>
          <p:nvSpPr>
            <p:cNvPr id="12" name="TextBox 11"/>
            <p:cNvSpPr txBox="1"/>
            <p:nvPr/>
          </p:nvSpPr>
          <p:spPr>
            <a:xfrm>
              <a:off x="539552" y="1689774"/>
              <a:ext cx="3191493" cy="1399510"/>
            </a:xfrm>
            <a:prstGeom prst="rect">
              <a:avLst/>
            </a:prstGeom>
            <a:solidFill>
              <a:schemeClr val="accent1">
                <a:alpha val="28000"/>
              </a:schemeClr>
            </a:solidFill>
          </p:spPr>
          <p:txBody>
            <a:bodyPr wrap="square" rtlCol="0">
              <a:spAutoFit/>
            </a:bodyPr>
            <a:lstStyle/>
            <a:p>
              <a:endParaRPr lang="en-US" dirty="0"/>
            </a:p>
          </p:txBody>
        </p:sp>
        <p:sp>
          <p:nvSpPr>
            <p:cNvPr id="13" name="TextBox 12"/>
            <p:cNvSpPr txBox="1"/>
            <p:nvPr/>
          </p:nvSpPr>
          <p:spPr>
            <a:xfrm>
              <a:off x="4130548" y="1134701"/>
              <a:ext cx="1301902" cy="2509653"/>
            </a:xfrm>
            <a:prstGeom prst="rect">
              <a:avLst/>
            </a:prstGeom>
            <a:noFill/>
          </p:spPr>
          <p:txBody>
            <a:bodyPr wrap="square" rtlCol="0">
              <a:spAutoFit/>
            </a:bodyPr>
            <a:lstStyle/>
            <a:p>
              <a:r>
                <a:rPr lang="zh-CN" altLang="en-US" sz="2400" dirty="0"/>
                <a:t>递归调用</a:t>
              </a:r>
              <a:endParaRPr lang="en-US" sz="2400" dirty="0"/>
            </a:p>
          </p:txBody>
        </p:sp>
        <p:sp>
          <p:nvSpPr>
            <p:cNvPr id="14" name="Left Arrow 13"/>
            <p:cNvSpPr/>
            <p:nvPr/>
          </p:nvSpPr>
          <p:spPr>
            <a:xfrm flipV="1">
              <a:off x="3731045" y="1992181"/>
              <a:ext cx="399503" cy="54189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文本框 2"/>
          <p:cNvSpPr txBox="1"/>
          <p:nvPr/>
        </p:nvSpPr>
        <p:spPr>
          <a:xfrm>
            <a:off x="3684527" y="3113240"/>
            <a:ext cx="3701336" cy="461665"/>
          </a:xfrm>
          <a:prstGeom prst="rect">
            <a:avLst/>
          </a:prstGeom>
          <a:noFill/>
        </p:spPr>
        <p:txBody>
          <a:bodyPr wrap="square" rtlCol="0">
            <a:spAutoFit/>
          </a:bodyPr>
          <a:lstStyle/>
          <a:p>
            <a:r>
              <a:rPr lang="en-US" altLang="zh-CN" sz="2400" dirty="0"/>
              <a:t>n</a:t>
            </a:r>
            <a:r>
              <a:rPr lang="zh-CN" altLang="en-US" sz="2400" dirty="0"/>
              <a:t>次递归调用</a:t>
            </a:r>
            <a:r>
              <a:rPr lang="en-US" altLang="zh-CN" sz="2400" dirty="0">
                <a:sym typeface="Wingdings" panose="05000000000000000000" pitchFamily="2" charset="2"/>
              </a:rPr>
              <a:t>n</a:t>
            </a:r>
            <a:r>
              <a:rPr lang="zh-CN" altLang="en-US" sz="2400" dirty="0">
                <a:sym typeface="Wingdings" panose="05000000000000000000" pitchFamily="2" charset="2"/>
              </a:rPr>
              <a:t>重嵌套</a:t>
            </a:r>
            <a:endParaRPr lang="en-US" altLang="zh-CN" sz="2400" dirty="0"/>
          </a:p>
        </p:txBody>
      </p:sp>
      <p:sp>
        <p:nvSpPr>
          <p:cNvPr id="15" name="Left Arrow 13"/>
          <p:cNvSpPr/>
          <p:nvPr/>
        </p:nvSpPr>
        <p:spPr>
          <a:xfrm flipV="1">
            <a:off x="3330267" y="3246080"/>
            <a:ext cx="316230" cy="17943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与或图：问题规约的图形化表示</a:t>
            </a:r>
            <a:endParaRPr lang="en-US" dirty="0"/>
          </a:p>
        </p:txBody>
      </p:sp>
      <p:sp>
        <p:nvSpPr>
          <p:cNvPr id="4" name="Content Placeholder 3"/>
          <p:cNvSpPr>
            <a:spLocks noGrp="1"/>
          </p:cNvSpPr>
          <p:nvPr>
            <p:ph idx="1"/>
          </p:nvPr>
        </p:nvSpPr>
        <p:spPr/>
        <p:txBody>
          <a:bodyPr/>
          <a:lstStyle/>
          <a:p>
            <a:r>
              <a:rPr lang="zh-CN" altLang="en-US" dirty="0"/>
              <a:t>问题规约</a:t>
            </a:r>
            <a:endParaRPr lang="en-US" altLang="zh-CN" dirty="0"/>
          </a:p>
          <a:p>
            <a:pPr lvl="1"/>
            <a:r>
              <a:rPr lang="zh-CN" altLang="en-US" dirty="0"/>
              <a:t>将问题分解为若干子问题</a:t>
            </a:r>
            <a:endParaRPr lang="en-US" altLang="zh-CN" dirty="0"/>
          </a:p>
          <a:p>
            <a:pPr lvl="1"/>
            <a:r>
              <a:rPr lang="zh-CN" altLang="en-US" dirty="0"/>
              <a:t>分别解决这些子问题</a:t>
            </a:r>
            <a:endParaRPr lang="en-US" dirty="0"/>
          </a:p>
          <a:p>
            <a:endParaRPr lang="en-US" dirty="0"/>
          </a:p>
          <a:p>
            <a:r>
              <a:rPr lang="zh-CN" altLang="en-US" dirty="0"/>
              <a:t>与节点 和 或节点</a:t>
            </a:r>
            <a:endParaRPr 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0034" name="Rectangle 2"/>
          <p:cNvSpPr>
            <a:spLocks noGrp="1" noRot="1" noChangeArrowheads="1"/>
          </p:cNvSpPr>
          <p:nvPr>
            <p:ph type="title"/>
          </p:nvPr>
        </p:nvSpPr>
        <p:spPr>
          <a:xfrm>
            <a:off x="457200" y="188640"/>
            <a:ext cx="7772400" cy="1609344"/>
          </a:xfrm>
        </p:spPr>
        <p:txBody>
          <a:bodyPr>
            <a:normAutofit/>
          </a:bodyPr>
          <a:lstStyle/>
          <a:p>
            <a:r>
              <a:rPr kumimoji="1" lang="zh-CN" altLang="en-US" sz="3600" dirty="0"/>
              <a:t>或结点</a:t>
            </a:r>
            <a:endParaRPr lang="zh-CN" altLang="en-US" sz="3600" dirty="0"/>
          </a:p>
        </p:txBody>
      </p:sp>
      <p:sp>
        <p:nvSpPr>
          <p:cNvPr id="300035" name="Rectangle 3"/>
          <p:cNvSpPr>
            <a:spLocks noGrp="1" noChangeArrowheads="1"/>
          </p:cNvSpPr>
          <p:nvPr>
            <p:ph type="body" idx="1"/>
          </p:nvPr>
        </p:nvSpPr>
        <p:spPr>
          <a:xfrm>
            <a:off x="457200" y="1600200"/>
            <a:ext cx="8229600" cy="4781550"/>
          </a:xfrm>
        </p:spPr>
        <p:txBody>
          <a:bodyPr>
            <a:normAutofit/>
          </a:bodyPr>
          <a:lstStyle/>
          <a:p>
            <a:pPr>
              <a:lnSpc>
                <a:spcPct val="90000"/>
              </a:lnSpc>
            </a:pPr>
            <a:endParaRPr lang="zh-CN" altLang="en-US" sz="2800" dirty="0">
              <a:solidFill>
                <a:schemeClr val="hlink"/>
              </a:solidFill>
            </a:endParaRPr>
          </a:p>
          <a:p>
            <a:pPr>
              <a:lnSpc>
                <a:spcPct val="90000"/>
              </a:lnSpc>
              <a:buFont typeface="Wingdings" panose="05000000000000000000" pitchFamily="2" charset="2"/>
              <a:buNone/>
            </a:pPr>
            <a:r>
              <a:rPr kumimoji="1" lang="zh-CN" altLang="en-US" sz="2800" dirty="0">
                <a:effectLst/>
              </a:rPr>
              <a:t> </a:t>
            </a:r>
            <a:endParaRPr kumimoji="1" lang="zh-CN" altLang="en-US" sz="2800" dirty="0">
              <a:effectLst/>
            </a:endParaRPr>
          </a:p>
          <a:p>
            <a:pPr>
              <a:lnSpc>
                <a:spcPct val="90000"/>
              </a:lnSpc>
            </a:pPr>
            <a:endParaRPr kumimoji="1" lang="zh-CN" altLang="en-US" sz="2800" dirty="0">
              <a:effectLst/>
            </a:endParaRPr>
          </a:p>
          <a:p>
            <a:pPr>
              <a:lnSpc>
                <a:spcPct val="90000"/>
              </a:lnSpc>
            </a:pPr>
            <a:endParaRPr kumimoji="1" lang="zh-CN" altLang="en-US" sz="2800" dirty="0">
              <a:effectLst/>
            </a:endParaRPr>
          </a:p>
          <a:p>
            <a:pPr>
              <a:lnSpc>
                <a:spcPct val="90000"/>
              </a:lnSpc>
            </a:pPr>
            <a:endParaRPr kumimoji="1" lang="zh-CN" altLang="en-US" sz="2800" dirty="0">
              <a:effectLst/>
            </a:endParaRPr>
          </a:p>
          <a:p>
            <a:pPr>
              <a:lnSpc>
                <a:spcPct val="90000"/>
              </a:lnSpc>
              <a:buFont typeface="Wingdings" panose="05000000000000000000" pitchFamily="2" charset="2"/>
              <a:buNone/>
            </a:pPr>
            <a:r>
              <a:rPr lang="zh-CN" altLang="en-US" sz="2800" dirty="0"/>
              <a:t>	</a:t>
            </a:r>
            <a:endParaRPr lang="zh-CN" altLang="en-US" sz="2800" dirty="0"/>
          </a:p>
          <a:p>
            <a:pPr>
              <a:lnSpc>
                <a:spcPct val="90000"/>
              </a:lnSpc>
              <a:buFont typeface="Wingdings" panose="05000000000000000000" pitchFamily="2" charset="2"/>
              <a:buNone/>
            </a:pPr>
            <a:r>
              <a:rPr lang="zh-CN" altLang="en-US" sz="2800" dirty="0"/>
              <a:t>	</a:t>
            </a:r>
            <a:endParaRPr lang="zh-CN" altLang="en-US" sz="2800" dirty="0"/>
          </a:p>
          <a:p>
            <a:pPr>
              <a:lnSpc>
                <a:spcPct val="90000"/>
              </a:lnSpc>
              <a:buFont typeface="Wingdings" panose="05000000000000000000" pitchFamily="2" charset="2"/>
              <a:buNone/>
            </a:pPr>
            <a:r>
              <a:rPr lang="zh-CN" altLang="en-US" sz="2800" dirty="0"/>
              <a:t>	</a:t>
            </a:r>
            <a:r>
              <a:rPr lang="en-US" altLang="zh-CN" sz="2800" dirty="0"/>
              <a:t>A</a:t>
            </a:r>
            <a:r>
              <a:rPr lang="zh-CN" altLang="en-US" sz="2800" dirty="0"/>
              <a:t>为</a:t>
            </a:r>
            <a:r>
              <a:rPr lang="zh-CN" altLang="en-US" sz="2800" dirty="0">
                <a:latin typeface="Arial" panose="020B0604020202020204" pitchFamily="34" charset="0"/>
              </a:rPr>
              <a:t>“</a:t>
            </a:r>
            <a:r>
              <a:rPr lang="zh-CN" altLang="en-US" sz="2800" dirty="0">
                <a:solidFill>
                  <a:schemeClr val="hlink"/>
                </a:solidFill>
              </a:rPr>
              <a:t>或结点</a:t>
            </a:r>
            <a:r>
              <a:rPr lang="zh-CN" altLang="en-US" sz="2800" dirty="0">
                <a:latin typeface="Arial" panose="020B0604020202020204" pitchFamily="34" charset="0"/>
              </a:rPr>
              <a:t>”</a:t>
            </a:r>
            <a:r>
              <a:rPr lang="zh-CN" altLang="en-US" sz="2800" dirty="0"/>
              <a:t>，</a:t>
            </a:r>
            <a:r>
              <a:rPr lang="en-US" altLang="zh-CN" sz="2800" dirty="0"/>
              <a:t>A</a:t>
            </a:r>
            <a:r>
              <a:rPr lang="zh-CN" altLang="en-US" sz="2800" dirty="0"/>
              <a:t>依不同条件会有两种不同的取值</a:t>
            </a:r>
            <a:r>
              <a:rPr lang="en-US" altLang="zh-CN" sz="2800" dirty="0"/>
              <a:t>, B </a:t>
            </a:r>
            <a:r>
              <a:rPr lang="zh-CN" altLang="en-US" sz="2800" dirty="0"/>
              <a:t>或</a:t>
            </a:r>
            <a:r>
              <a:rPr lang="en-US" altLang="zh-CN" sz="2800" dirty="0"/>
              <a:t>C</a:t>
            </a:r>
            <a:r>
              <a:rPr lang="zh-CN" altLang="en-US" sz="2800" dirty="0"/>
              <a:t>。结点用     表示。</a:t>
            </a:r>
            <a:endParaRPr lang="zh-CN" altLang="en-US" sz="2800" dirty="0"/>
          </a:p>
        </p:txBody>
      </p:sp>
      <p:graphicFrame>
        <p:nvGraphicFramePr>
          <p:cNvPr id="300036" name="Object 4"/>
          <p:cNvGraphicFramePr>
            <a:graphicFrameLocks noChangeAspect="1"/>
          </p:cNvGraphicFramePr>
          <p:nvPr/>
        </p:nvGraphicFramePr>
        <p:xfrm>
          <a:off x="4953001" y="2706737"/>
          <a:ext cx="3724274" cy="1173162"/>
        </p:xfrm>
        <a:graphic>
          <a:graphicData uri="http://schemas.openxmlformats.org/presentationml/2006/ole">
            <mc:AlternateContent xmlns:mc="http://schemas.openxmlformats.org/markup-compatibility/2006">
              <mc:Choice xmlns:v="urn:schemas-microsoft-com:vml" Requires="v">
                <p:oleObj spid="_x0000_s13046" name="Equation" r:id="rId1" imgW="1066165" imgH="304800" progId="Equation.DSMT4">
                  <p:embed/>
                </p:oleObj>
              </mc:Choice>
              <mc:Fallback>
                <p:oleObj name="Equation" r:id="rId1" imgW="1066165" imgH="3048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1" y="2706737"/>
                        <a:ext cx="3724274" cy="1173162"/>
                      </a:xfrm>
                      <a:prstGeom prst="rect">
                        <a:avLst/>
                      </a:prstGeom>
                      <a:solidFill>
                        <a:srgbClr val="002060"/>
                      </a:solidFill>
                      <a:ln>
                        <a:noFill/>
                      </a:ln>
                      <a:effectLst/>
                    </p:spPr>
                  </p:pic>
                </p:oleObj>
              </mc:Fallback>
            </mc:AlternateContent>
          </a:graphicData>
        </a:graphic>
      </p:graphicFrame>
      <p:graphicFrame>
        <p:nvGraphicFramePr>
          <p:cNvPr id="300037" name="Object 5"/>
          <p:cNvGraphicFramePr>
            <a:graphicFrameLocks noChangeAspect="1"/>
          </p:cNvGraphicFramePr>
          <p:nvPr/>
        </p:nvGraphicFramePr>
        <p:xfrm>
          <a:off x="827088" y="2217787"/>
          <a:ext cx="3756025" cy="2219325"/>
        </p:xfrm>
        <a:graphic>
          <a:graphicData uri="http://schemas.openxmlformats.org/presentationml/2006/ole">
            <mc:AlternateContent xmlns:mc="http://schemas.openxmlformats.org/markup-compatibility/2006">
              <mc:Choice xmlns:v="urn:schemas-microsoft-com:vml" Requires="v">
                <p:oleObj spid="_x0000_s13047" name="Picture" r:id="rId3" imgW="1647825" imgH="875030" progId="Word.Picture.8">
                  <p:embed/>
                </p:oleObj>
              </mc:Choice>
              <mc:Fallback>
                <p:oleObj name="Picture" r:id="rId3" imgW="1647825" imgH="875030" progId="Word.Picture.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217787"/>
                        <a:ext cx="3756025" cy="2219325"/>
                      </a:xfrm>
                      <a:prstGeom prst="rect">
                        <a:avLst/>
                      </a:prstGeom>
                      <a:solidFill>
                        <a:srgbClr val="002060"/>
                      </a:solidFill>
                      <a:ln>
                        <a:noFill/>
                      </a:ln>
                      <a:effectLst/>
                    </p:spPr>
                  </p:pic>
                </p:oleObj>
              </mc:Fallback>
            </mc:AlternateContent>
          </a:graphicData>
        </a:graphic>
      </p:graphicFrame>
      <p:sp>
        <p:nvSpPr>
          <p:cNvPr id="300042" name="Oval 10"/>
          <p:cNvSpPr>
            <a:spLocks noChangeArrowheads="1"/>
          </p:cNvSpPr>
          <p:nvPr/>
        </p:nvSpPr>
        <p:spPr bwMode="auto">
          <a:xfrm>
            <a:off x="3903808" y="5672749"/>
            <a:ext cx="287337" cy="288925"/>
          </a:xfrm>
          <a:prstGeom prst="ellipse">
            <a:avLst/>
          </a:prstGeom>
          <a:noFill/>
          <a:ln w="38100" algn="ctr">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 name="矩形 7"/>
          <p:cNvSpPr/>
          <p:nvPr/>
        </p:nvSpPr>
        <p:spPr>
          <a:xfrm>
            <a:off x="2176164" y="364563"/>
            <a:ext cx="5904656" cy="369332"/>
          </a:xfrm>
          <a:prstGeom prst="rect">
            <a:avLst/>
          </a:prstGeom>
        </p:spPr>
        <p:txBody>
          <a:bodyPr wrap="square">
            <a:spAutoFit/>
          </a:bodyPr>
          <a:lstStyle/>
          <a:p>
            <a:r>
              <a:rPr lang="zh-CN" altLang="en-US" dirty="0">
                <a:solidFill>
                  <a:srgbClr val="FF0000"/>
                </a:solidFill>
              </a:rPr>
              <a:t>只要解决某个子问题就可解决其父问题</a:t>
            </a:r>
            <a:endParaRPr lang="zh-CN" altLang="en-US" dirty="0">
              <a:solidFill>
                <a:srgbClr val="FF0000"/>
              </a:solidFill>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0882" name="Text Box 2"/>
          <p:cNvSpPr txBox="1">
            <a:spLocks noChangeArrowheads="1"/>
          </p:cNvSpPr>
          <p:nvPr/>
        </p:nvSpPr>
        <p:spPr bwMode="auto">
          <a:xfrm>
            <a:off x="250825" y="552450"/>
            <a:ext cx="8713788" cy="519113"/>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dirty="0">
                <a:latin typeface="Times New Roman" panose="02020603050405020304" pitchFamily="18" charset="0"/>
                <a:ea typeface="黑体" panose="02010609060101010101" pitchFamily="49" charset="-122"/>
              </a:rPr>
              <a:t>如果有多于 </a:t>
            </a:r>
            <a:r>
              <a:rPr kumimoji="1" lang="en-US" altLang="zh-CN" sz="2800" dirty="0">
                <a:latin typeface="Times New Roman" panose="02020603050405020304" pitchFamily="18" charset="0"/>
                <a:ea typeface="黑体" panose="02010609060101010101" pitchFamily="49" charset="-122"/>
              </a:rPr>
              <a:t>2 </a:t>
            </a:r>
            <a:r>
              <a:rPr kumimoji="1" lang="zh-CN" altLang="en-US" sz="2800" dirty="0">
                <a:latin typeface="Times New Roman" panose="02020603050405020304" pitchFamily="18" charset="0"/>
                <a:ea typeface="黑体" panose="02010609060101010101" pitchFamily="49" charset="-122"/>
              </a:rPr>
              <a:t>种取值，可用下图：</a:t>
            </a:r>
            <a:endParaRPr kumimoji="1" lang="zh-CN" altLang="en-US" sz="2800" dirty="0">
              <a:latin typeface="Times New Roman" panose="02020603050405020304" pitchFamily="18" charset="0"/>
              <a:ea typeface="黑体" panose="02010609060101010101" pitchFamily="49" charset="-122"/>
            </a:endParaRPr>
          </a:p>
        </p:txBody>
      </p:sp>
      <p:graphicFrame>
        <p:nvGraphicFramePr>
          <p:cNvPr id="250883" name="Object 3"/>
          <p:cNvGraphicFramePr>
            <a:graphicFrameLocks noChangeAspect="1"/>
          </p:cNvGraphicFramePr>
          <p:nvPr/>
        </p:nvGraphicFramePr>
        <p:xfrm>
          <a:off x="2268538" y="1484313"/>
          <a:ext cx="4535487" cy="3665537"/>
        </p:xfrm>
        <a:graphic>
          <a:graphicData uri="http://schemas.openxmlformats.org/presentationml/2006/ole">
            <mc:AlternateContent xmlns:mc="http://schemas.openxmlformats.org/markup-compatibility/2006">
              <mc:Choice xmlns:v="urn:schemas-microsoft-com:vml" Requires="v">
                <p:oleObj spid="_x0000_s13692" name="Picture" r:id="rId1" imgW="2298065" imgH="1979930" progId="Word.Picture.8">
                  <p:embed/>
                </p:oleObj>
              </mc:Choice>
              <mc:Fallback>
                <p:oleObj name="Picture" r:id="rId1" imgW="2298065" imgH="1979930"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1484313"/>
                        <a:ext cx="4535487" cy="3665537"/>
                      </a:xfrm>
                      <a:prstGeom prst="rect">
                        <a:avLst/>
                      </a:prstGeom>
                      <a:solidFill>
                        <a:srgbClr val="002060"/>
                      </a:solidFill>
                      <a:ln>
                        <a:noFill/>
                      </a:ln>
                      <a:effectLst/>
                    </p:spPr>
                  </p:pic>
                </p:oleObj>
              </mc:Fallback>
            </mc:AlternateContent>
          </a:graphicData>
        </a:graphic>
      </p:graphicFrame>
      <p:sp>
        <p:nvSpPr>
          <p:cNvPr id="250884" name="Text Box 4"/>
          <p:cNvSpPr txBox="1">
            <a:spLocks noChangeArrowheads="1"/>
          </p:cNvSpPr>
          <p:nvPr/>
        </p:nvSpPr>
        <p:spPr bwMode="auto">
          <a:xfrm>
            <a:off x="1258888" y="5300663"/>
            <a:ext cx="6913562" cy="94615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a:latin typeface="隶书" panose="02010509060101010101" pitchFamily="49" charset="-122"/>
                <a:ea typeface="隶书" panose="02010509060101010101" pitchFamily="49" charset="-122"/>
              </a:rPr>
              <a:t> </a:t>
            </a:r>
            <a:r>
              <a:rPr kumimoji="1" lang="zh-CN" altLang="en-US" sz="2800">
                <a:latin typeface="隶书" panose="02010509060101010101" pitchFamily="49" charset="-122"/>
                <a:ea typeface="隶书" panose="02010509060101010101" pitchFamily="49" charset="-122"/>
              </a:rPr>
              <a:t>条件为 </a:t>
            </a:r>
            <a:r>
              <a:rPr kumimoji="1" lang="en-US" altLang="zh-CN" sz="2800">
                <a:latin typeface="隶书" panose="02010509060101010101" pitchFamily="49" charset="-122"/>
                <a:ea typeface="隶书" panose="02010509060101010101" pitchFamily="49" charset="-122"/>
              </a:rPr>
              <a:t>Z1 , Z2 ,</a:t>
            </a:r>
            <a:r>
              <a:rPr kumimoji="1" lang="en-US" altLang="zh-CN" sz="2800">
                <a:latin typeface="Times New Roman" panose="02020603050405020304" pitchFamily="18" charset="0"/>
                <a:ea typeface="隶书" panose="02010509060101010101" pitchFamily="49" charset="-122"/>
              </a:rPr>
              <a:t>…</a:t>
            </a:r>
            <a:r>
              <a:rPr kumimoji="1" lang="en-US" altLang="zh-CN" sz="2800">
                <a:latin typeface="隶书" panose="02010509060101010101" pitchFamily="49" charset="-122"/>
                <a:ea typeface="隶书" panose="02010509060101010101" pitchFamily="49" charset="-122"/>
              </a:rPr>
              <a:t> ,Zn ,</a:t>
            </a:r>
            <a:endParaRPr kumimoji="1" lang="en-US" altLang="zh-CN" sz="2800">
              <a:latin typeface="隶书" panose="02010509060101010101" pitchFamily="49" charset="-122"/>
              <a:ea typeface="隶书" panose="02010509060101010101" pitchFamily="49" charset="-122"/>
            </a:endParaRPr>
          </a:p>
          <a:p>
            <a:r>
              <a:rPr kumimoji="1" lang="en-US" altLang="zh-CN" sz="2800">
                <a:latin typeface="隶书" panose="02010509060101010101" pitchFamily="49" charset="-122"/>
                <a:ea typeface="隶书" panose="02010509060101010101" pitchFamily="49" charset="-122"/>
              </a:rPr>
              <a:t> A </a:t>
            </a:r>
            <a:r>
              <a:rPr kumimoji="1" lang="zh-CN" altLang="en-US" sz="2800">
                <a:latin typeface="隶书" panose="02010509060101010101" pitchFamily="49" charset="-122"/>
                <a:ea typeface="隶书" panose="02010509060101010101" pitchFamily="49" charset="-122"/>
              </a:rPr>
              <a:t>取值为 </a:t>
            </a:r>
            <a:r>
              <a:rPr kumimoji="1" lang="en-US" altLang="zh-CN" sz="2800">
                <a:latin typeface="隶书" panose="02010509060101010101" pitchFamily="49" charset="-122"/>
                <a:ea typeface="隶书" panose="02010509060101010101" pitchFamily="49" charset="-122"/>
              </a:rPr>
              <a:t>B </a:t>
            </a:r>
            <a:r>
              <a:rPr kumimoji="1" lang="zh-CN" altLang="en-US" sz="2800">
                <a:latin typeface="隶书" panose="02010509060101010101" pitchFamily="49" charset="-122"/>
                <a:ea typeface="隶书" panose="02010509060101010101" pitchFamily="49" charset="-122"/>
              </a:rPr>
              <a:t>或 </a:t>
            </a:r>
            <a:r>
              <a:rPr kumimoji="1" lang="en-US" altLang="zh-CN" sz="2800">
                <a:latin typeface="隶书" panose="02010509060101010101" pitchFamily="49" charset="-122"/>
                <a:ea typeface="隶书" panose="02010509060101010101" pitchFamily="49" charset="-122"/>
              </a:rPr>
              <a:t>C,</a:t>
            </a:r>
            <a:r>
              <a:rPr kumimoji="1" lang="en-US" altLang="zh-CN" sz="2800">
                <a:latin typeface="Times New Roman" panose="02020603050405020304" pitchFamily="18" charset="0"/>
                <a:ea typeface="隶书" panose="02010509060101010101" pitchFamily="49" charset="-122"/>
              </a:rPr>
              <a:t>…</a:t>
            </a:r>
            <a:r>
              <a:rPr kumimoji="1" lang="en-US" altLang="zh-CN" sz="2800">
                <a:latin typeface="隶书" panose="02010509060101010101" pitchFamily="49" charset="-122"/>
                <a:ea typeface="隶书" panose="02010509060101010101" pitchFamily="49" charset="-122"/>
              </a:rPr>
              <a:t> </a:t>
            </a:r>
            <a:r>
              <a:rPr kumimoji="1" lang="zh-CN" altLang="en-US" sz="2800">
                <a:latin typeface="隶书" panose="02010509060101010101" pitchFamily="49" charset="-122"/>
                <a:ea typeface="隶书" panose="02010509060101010101" pitchFamily="49" charset="-122"/>
              </a:rPr>
              <a:t>或 </a:t>
            </a:r>
            <a:r>
              <a:rPr kumimoji="1" lang="en-US" altLang="zh-CN" sz="2800">
                <a:latin typeface="隶书" panose="02010509060101010101" pitchFamily="49" charset="-122"/>
                <a:ea typeface="隶书" panose="02010509060101010101" pitchFamily="49" charset="-122"/>
              </a:rPr>
              <a:t>G</a:t>
            </a:r>
            <a:endParaRPr kumimoji="1" lang="en-US" altLang="zh-CN" sz="2800">
              <a:latin typeface="隶书" panose="02010509060101010101" pitchFamily="49" charset="-122"/>
              <a:ea typeface="隶书" panose="02010509060101010101"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1906" name="Text Box 2"/>
          <p:cNvSpPr txBox="1">
            <a:spLocks noChangeArrowheads="1"/>
          </p:cNvSpPr>
          <p:nvPr/>
        </p:nvSpPr>
        <p:spPr bwMode="auto">
          <a:xfrm>
            <a:off x="250825" y="552450"/>
            <a:ext cx="8713788" cy="57943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3200" dirty="0">
                <a:latin typeface="Times New Roman" panose="02020603050405020304" pitchFamily="18" charset="0"/>
                <a:ea typeface="黑体" panose="02010609060101010101" pitchFamily="49" charset="-122"/>
              </a:rPr>
              <a:t>与结点</a:t>
            </a:r>
            <a:endParaRPr kumimoji="1" lang="zh-CN" altLang="en-US" sz="3200" dirty="0">
              <a:latin typeface="Times New Roman" panose="02020603050405020304" pitchFamily="18" charset="0"/>
              <a:ea typeface="黑体" panose="02010609060101010101" pitchFamily="49" charset="-122"/>
            </a:endParaRPr>
          </a:p>
        </p:txBody>
      </p:sp>
      <p:sp>
        <p:nvSpPr>
          <p:cNvPr id="251907" name="Text Box 3"/>
          <p:cNvSpPr txBox="1">
            <a:spLocks noChangeArrowheads="1"/>
          </p:cNvSpPr>
          <p:nvPr/>
        </p:nvSpPr>
        <p:spPr bwMode="auto">
          <a:xfrm>
            <a:off x="4787900" y="1412875"/>
            <a:ext cx="4032250" cy="13731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a:latin typeface="Times New Roman" panose="02020603050405020304" pitchFamily="18" charset="0"/>
                <a:ea typeface="黑体" panose="02010609060101010101" pitchFamily="49" charset="-122"/>
              </a:rPr>
              <a:t>	</a:t>
            </a:r>
            <a:r>
              <a:rPr kumimoji="1" lang="zh-CN" altLang="en-US" sz="2800">
                <a:solidFill>
                  <a:schemeClr val="hlink"/>
                </a:solidFill>
                <a:latin typeface="Times New Roman" panose="02020603050405020304" pitchFamily="18" charset="0"/>
                <a:ea typeface="黑体" panose="02010609060101010101" pitchFamily="49" charset="-122"/>
              </a:rPr>
              <a:t>与结点</a:t>
            </a:r>
            <a:r>
              <a:rPr kumimoji="1" lang="zh-CN" altLang="en-US" sz="2800">
                <a:latin typeface="Times New Roman" panose="02020603050405020304" pitchFamily="18" charset="0"/>
                <a:ea typeface="黑体" panose="02010609060101010101" pitchFamily="49" charset="-122"/>
              </a:rPr>
              <a:t>要涂黑，相关联的 </a:t>
            </a:r>
            <a:r>
              <a:rPr kumimoji="1" lang="en-US" altLang="zh-CN" sz="2800">
                <a:latin typeface="Times New Roman" panose="02020603050405020304" pitchFamily="18" charset="0"/>
                <a:ea typeface="黑体" panose="02010609060101010101" pitchFamily="49" charset="-122"/>
              </a:rPr>
              <a:t>B </a:t>
            </a:r>
            <a:r>
              <a:rPr kumimoji="1" lang="zh-CN" altLang="en-US" sz="2800">
                <a:latin typeface="Times New Roman" panose="02020603050405020304" pitchFamily="18" charset="0"/>
                <a:ea typeface="黑体" panose="02010609060101010101" pitchFamily="49" charset="-122"/>
              </a:rPr>
              <a:t>与 </a:t>
            </a:r>
            <a:r>
              <a:rPr kumimoji="1" lang="en-US" altLang="zh-CN" sz="2800">
                <a:latin typeface="Times New Roman" panose="02020603050405020304" pitchFamily="18" charset="0"/>
                <a:ea typeface="黑体" panose="02010609060101010101" pitchFamily="49" charset="-122"/>
              </a:rPr>
              <a:t>C </a:t>
            </a:r>
            <a:r>
              <a:rPr kumimoji="1" lang="zh-CN" altLang="en-US" sz="2800">
                <a:latin typeface="Times New Roman" panose="02020603050405020304" pitchFamily="18" charset="0"/>
                <a:ea typeface="黑体" panose="02010609060101010101" pitchFamily="49" charset="-122"/>
              </a:rPr>
              <a:t>之间要用弧线连起来。</a:t>
            </a:r>
            <a:endParaRPr kumimoji="1" lang="zh-CN" altLang="en-US" sz="2800">
              <a:latin typeface="Times New Roman" panose="02020603050405020304" pitchFamily="18" charset="0"/>
              <a:ea typeface="黑体" panose="02010609060101010101" pitchFamily="49" charset="-122"/>
            </a:endParaRPr>
          </a:p>
        </p:txBody>
      </p:sp>
      <p:sp>
        <p:nvSpPr>
          <p:cNvPr id="251908" name="Text Box 4"/>
          <p:cNvSpPr txBox="1">
            <a:spLocks noChangeArrowheads="1"/>
          </p:cNvSpPr>
          <p:nvPr/>
        </p:nvSpPr>
        <p:spPr bwMode="auto">
          <a:xfrm>
            <a:off x="827088" y="4292600"/>
            <a:ext cx="7777162" cy="13731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a:latin typeface="Times New Roman" panose="02020603050405020304" pitchFamily="18" charset="0"/>
                <a:ea typeface="黑体" panose="02010609060101010101" pitchFamily="49" charset="-122"/>
              </a:rPr>
              <a:t>   A </a:t>
            </a:r>
            <a:r>
              <a:rPr kumimoji="1" lang="zh-CN" altLang="en-US" sz="2800">
                <a:latin typeface="Times New Roman" panose="02020603050405020304" pitchFamily="18" charset="0"/>
                <a:ea typeface="黑体" panose="02010609060101010101" pitchFamily="49" charset="-122"/>
              </a:rPr>
              <a:t>为</a:t>
            </a:r>
            <a:r>
              <a:rPr kumimoji="1" lang="zh-CN" altLang="en-US" sz="2800">
                <a:solidFill>
                  <a:schemeClr val="hlink"/>
                </a:solidFill>
                <a:latin typeface="Times New Roman" panose="02020603050405020304" pitchFamily="18" charset="0"/>
                <a:ea typeface="黑体" panose="02010609060101010101" pitchFamily="49" charset="-122"/>
              </a:rPr>
              <a:t>与结点</a:t>
            </a:r>
            <a:r>
              <a:rPr kumimoji="1" lang="zh-CN" altLang="en-US" sz="2800">
                <a:latin typeface="Times New Roman" panose="02020603050405020304" pitchFamily="18" charset="0"/>
                <a:ea typeface="黑体" panose="02010609060101010101" pitchFamily="49" charset="-122"/>
              </a:rPr>
              <a:t>，</a:t>
            </a:r>
            <a:r>
              <a:rPr kumimoji="1" lang="en-US" altLang="zh-CN" sz="2800">
                <a:latin typeface="Times New Roman" panose="02020603050405020304" pitchFamily="18" charset="0"/>
                <a:ea typeface="黑体" panose="02010609060101010101" pitchFamily="49" charset="-122"/>
              </a:rPr>
              <a:t>A </a:t>
            </a:r>
            <a:r>
              <a:rPr kumimoji="1" lang="zh-CN" altLang="en-US" sz="2800">
                <a:latin typeface="Times New Roman" panose="02020603050405020304" pitchFamily="18" charset="0"/>
                <a:ea typeface="黑体" panose="02010609060101010101" pitchFamily="49" charset="-122"/>
              </a:rPr>
              <a:t>的最终取值为 </a:t>
            </a:r>
            <a:r>
              <a:rPr kumimoji="1" lang="en-US" altLang="zh-CN" sz="2800">
                <a:latin typeface="Times New Roman" panose="02020603050405020304" pitchFamily="18" charset="0"/>
                <a:ea typeface="黑体" panose="02010609060101010101" pitchFamily="49" charset="-122"/>
              </a:rPr>
              <a:t>C </a:t>
            </a:r>
            <a:r>
              <a:rPr kumimoji="1" lang="zh-CN" altLang="en-US" sz="2800">
                <a:latin typeface="Times New Roman" panose="02020603050405020304" pitchFamily="18" charset="0"/>
                <a:ea typeface="黑体" panose="02010609060101010101" pitchFamily="49" charset="-122"/>
              </a:rPr>
              <a:t>结点的值，但为了求得 </a:t>
            </a:r>
            <a:r>
              <a:rPr kumimoji="1" lang="en-US" altLang="zh-CN" sz="2800">
                <a:latin typeface="Times New Roman" panose="02020603050405020304" pitchFamily="18" charset="0"/>
                <a:ea typeface="黑体" panose="02010609060101010101" pitchFamily="49" charset="-122"/>
              </a:rPr>
              <a:t>C </a:t>
            </a:r>
            <a:r>
              <a:rPr kumimoji="1" lang="zh-CN" altLang="en-US" sz="2800">
                <a:latin typeface="Times New Roman" panose="02020603050405020304" pitchFamily="18" charset="0"/>
                <a:ea typeface="黑体" panose="02010609060101010101" pitchFamily="49" charset="-122"/>
              </a:rPr>
              <a:t>的值，得先求出 </a:t>
            </a:r>
            <a:r>
              <a:rPr kumimoji="1" lang="en-US" altLang="zh-CN" sz="2800">
                <a:latin typeface="Times New Roman" panose="02020603050405020304" pitchFamily="18" charset="0"/>
                <a:ea typeface="黑体" panose="02010609060101010101" pitchFamily="49" charset="-122"/>
              </a:rPr>
              <a:t>B </a:t>
            </a:r>
            <a:r>
              <a:rPr kumimoji="1" lang="zh-CN" altLang="en-US" sz="2800">
                <a:latin typeface="Times New Roman" panose="02020603050405020304" pitchFamily="18" charset="0"/>
                <a:ea typeface="黑体" panose="02010609060101010101" pitchFamily="49" charset="-122"/>
              </a:rPr>
              <a:t>结点的值</a:t>
            </a:r>
            <a:r>
              <a:rPr kumimoji="1" lang="en-US" altLang="zh-CN" sz="2800">
                <a:latin typeface="Times New Roman" panose="02020603050405020304" pitchFamily="18" charset="0"/>
                <a:ea typeface="黑体" panose="02010609060101010101" pitchFamily="49" charset="-122"/>
              </a:rPr>
              <a:t>,  C </a:t>
            </a:r>
            <a:r>
              <a:rPr kumimoji="1" lang="zh-CN" altLang="en-US" sz="2800">
                <a:latin typeface="Times New Roman" panose="02020603050405020304" pitchFamily="18" charset="0"/>
                <a:ea typeface="黑体" panose="02010609060101010101" pitchFamily="49" charset="-122"/>
              </a:rPr>
              <a:t>是</a:t>
            </a:r>
            <a:r>
              <a:rPr kumimoji="1" lang="en-US" altLang="zh-CN" sz="2800">
                <a:latin typeface="Times New Roman" panose="02020603050405020304" pitchFamily="18" charset="0"/>
                <a:ea typeface="黑体" panose="02010609060101010101" pitchFamily="49" charset="-122"/>
              </a:rPr>
              <a:t>B </a:t>
            </a:r>
            <a:r>
              <a:rPr kumimoji="1" lang="zh-CN" altLang="en-US" sz="2800">
                <a:latin typeface="Times New Roman" panose="02020603050405020304" pitchFamily="18" charset="0"/>
                <a:ea typeface="黑体" panose="02010609060101010101" pitchFamily="49" charset="-122"/>
              </a:rPr>
              <a:t>的函数。</a:t>
            </a:r>
            <a:endParaRPr kumimoji="1" lang="zh-CN" altLang="en-US" sz="2800">
              <a:latin typeface="Times New Roman" panose="02020603050405020304" pitchFamily="18" charset="0"/>
              <a:ea typeface="黑体" panose="02010609060101010101" pitchFamily="49" charset="-122"/>
            </a:endParaRPr>
          </a:p>
        </p:txBody>
      </p:sp>
      <p:graphicFrame>
        <p:nvGraphicFramePr>
          <p:cNvPr id="251909" name="Object 5"/>
          <p:cNvGraphicFramePr>
            <a:graphicFrameLocks noChangeAspect="1"/>
          </p:cNvGraphicFramePr>
          <p:nvPr/>
        </p:nvGraphicFramePr>
        <p:xfrm>
          <a:off x="466725" y="1538288"/>
          <a:ext cx="4537075" cy="2395537"/>
        </p:xfrm>
        <a:graphic>
          <a:graphicData uri="http://schemas.openxmlformats.org/presentationml/2006/ole">
            <mc:AlternateContent xmlns:mc="http://schemas.openxmlformats.org/markup-compatibility/2006">
              <mc:Choice xmlns:v="urn:schemas-microsoft-com:vml" Requires="v">
                <p:oleObj spid="_x0000_s14716" name="VISIO" r:id="rId1" imgW="6033770" imgH="3183890" progId="Visio.Drawing.6">
                  <p:embed/>
                </p:oleObj>
              </mc:Choice>
              <mc:Fallback>
                <p:oleObj name="VISIO" r:id="rId1" imgW="6033770" imgH="3183890" progId="Visio.Drawing.6">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5" y="1538288"/>
                        <a:ext cx="4537075" cy="2395537"/>
                      </a:xfrm>
                      <a:prstGeom prst="rect">
                        <a:avLst/>
                      </a:prstGeom>
                      <a:solidFill>
                        <a:srgbClr val="002060"/>
                      </a:solidFill>
                      <a:ln>
                        <a:noFill/>
                      </a:ln>
                      <a:effectLst/>
                    </p:spPr>
                  </p:pic>
                </p:oleObj>
              </mc:Fallback>
            </mc:AlternateContent>
          </a:graphicData>
        </a:graphic>
      </p:graphicFrame>
      <p:sp>
        <p:nvSpPr>
          <p:cNvPr id="6" name="矩形 5"/>
          <p:cNvSpPr/>
          <p:nvPr/>
        </p:nvSpPr>
        <p:spPr>
          <a:xfrm>
            <a:off x="1979712" y="657503"/>
            <a:ext cx="4572000" cy="369332"/>
          </a:xfrm>
          <a:prstGeom prst="rect">
            <a:avLst/>
          </a:prstGeom>
        </p:spPr>
        <p:txBody>
          <a:bodyPr>
            <a:spAutoFit/>
          </a:bodyPr>
          <a:lstStyle/>
          <a:p>
            <a:r>
              <a:rPr lang="zh-CN" altLang="en-US" dirty="0">
                <a:solidFill>
                  <a:srgbClr val="FF0000"/>
                </a:solidFill>
              </a:rPr>
              <a:t>只有解决所有子问题，才能解决其父问题</a:t>
            </a:r>
            <a:endParaRPr lang="zh-CN" altLang="en-US" dirty="0">
              <a:solidFill>
                <a:srgbClr val="FF0000"/>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5730" name="Text Box 2"/>
          <p:cNvSpPr txBox="1">
            <a:spLocks noChangeArrowheads="1"/>
          </p:cNvSpPr>
          <p:nvPr/>
        </p:nvSpPr>
        <p:spPr bwMode="auto">
          <a:xfrm>
            <a:off x="419100" y="333375"/>
            <a:ext cx="8428686" cy="2677656"/>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buFont typeface="Wingdings" panose="05000000000000000000" pitchFamily="2" charset="2"/>
              <a:buNone/>
            </a:pPr>
            <a:r>
              <a:rPr kumimoji="1" lang="zh-CN" altLang="en-US" sz="2800" dirty="0">
                <a:latin typeface="Times New Roman" panose="02020603050405020304" pitchFamily="18" charset="0"/>
                <a:ea typeface="黑体" panose="02010609060101010101" pitchFamily="49" charset="-122"/>
              </a:rPr>
              <a:t>画出分书问题的与或图</a:t>
            </a:r>
            <a:endParaRPr kumimoji="1" lang="zh-CN" altLang="en-US" sz="2800" dirty="0">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AutoNum type="circleNumDbPlain"/>
            </a:pPr>
            <a:r>
              <a:rPr kumimoji="1" lang="zh-CN" altLang="en-US" sz="2800" dirty="0">
                <a:latin typeface="Times New Roman" panose="02020603050405020304" pitchFamily="18" charset="0"/>
                <a:ea typeface="黑体" panose="02010609060101010101" pitchFamily="49" charset="-122"/>
              </a:rPr>
              <a:t>定义函数</a:t>
            </a:r>
            <a:r>
              <a:rPr lang="en-US" altLang="zh-CN" sz="2800" dirty="0" err="1"/>
              <a:t>assignBook</a:t>
            </a:r>
            <a:r>
              <a:rPr kumimoji="1" lang="en-US" altLang="zh-CN" sz="2800" dirty="0">
                <a:latin typeface="Times New Roman" panose="02020603050405020304" pitchFamily="18" charset="0"/>
                <a:ea typeface="黑体" panose="02010609060101010101" pitchFamily="49" charset="-122"/>
              </a:rPr>
              <a:t>(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试着给第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人分书 </a:t>
            </a:r>
            <a:r>
              <a:rPr kumimoji="1" lang="en-US" altLang="zh-CN" sz="2800" dirty="0">
                <a:latin typeface="Times New Roman" panose="02020603050405020304" pitchFamily="18" charset="0"/>
                <a:ea typeface="黑体" panose="02010609060101010101" pitchFamily="49" charset="-122"/>
              </a:rPr>
              <a:t>(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=0, 1,…, 4 )</a:t>
            </a:r>
            <a:endParaRPr kumimoji="1" lang="en-US" altLang="zh-CN" sz="2800" dirty="0">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AutoNum type="circleNumDbPlain"/>
            </a:pPr>
            <a:r>
              <a:rPr kumimoji="1" lang="zh-CN" altLang="en-US" sz="2800" dirty="0">
                <a:latin typeface="Times New Roman" panose="02020603050405020304" pitchFamily="18" charset="0"/>
                <a:ea typeface="黑体" panose="02010609060101010101" pitchFamily="49" charset="-122"/>
              </a:rPr>
              <a:t>试着给第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个人分书，先试分 </a:t>
            </a:r>
            <a:r>
              <a:rPr kumimoji="1" lang="en-US" altLang="zh-CN" sz="2800" dirty="0">
                <a:latin typeface="Times New Roman" panose="02020603050405020304" pitchFamily="18" charset="0"/>
                <a:ea typeface="黑体" panose="02010609060101010101" pitchFamily="49" charset="-122"/>
              </a:rPr>
              <a:t>0 </a:t>
            </a:r>
            <a:r>
              <a:rPr kumimoji="1" lang="zh-CN" altLang="en-US" sz="2800" dirty="0">
                <a:latin typeface="Times New Roman" panose="02020603050405020304" pitchFamily="18" charset="0"/>
                <a:ea typeface="黑体" panose="02010609060101010101" pitchFamily="49" charset="-122"/>
              </a:rPr>
              <a:t>号书，再分 </a:t>
            </a:r>
            <a:r>
              <a:rPr kumimoji="1" lang="en-US" altLang="zh-CN" sz="2800" dirty="0">
                <a:latin typeface="Times New Roman" panose="02020603050405020304" pitchFamily="18" charset="0"/>
                <a:ea typeface="黑体" panose="02010609060101010101" pitchFamily="49" charset="-122"/>
              </a:rPr>
              <a:t>1 </a:t>
            </a:r>
            <a:r>
              <a:rPr kumimoji="1" lang="zh-CN" altLang="en-US" sz="2800" dirty="0">
                <a:latin typeface="Times New Roman" panose="02020603050405020304" pitchFamily="18" charset="0"/>
                <a:ea typeface="黑体" panose="02010609060101010101" pitchFamily="49" charset="-122"/>
              </a:rPr>
              <a:t>号书，分 </a:t>
            </a:r>
            <a:r>
              <a:rPr kumimoji="1" lang="en-US" altLang="zh-CN" sz="2800" dirty="0">
                <a:latin typeface="Times New Roman" panose="02020603050405020304" pitchFamily="18" charset="0"/>
                <a:ea typeface="黑体" panose="02010609060101010101" pitchFamily="49" charset="-122"/>
              </a:rPr>
              <a:t>2 </a:t>
            </a:r>
            <a:r>
              <a:rPr kumimoji="1" lang="zh-CN" altLang="en-US" sz="2800" dirty="0">
                <a:latin typeface="Times New Roman" panose="02020603050405020304" pitchFamily="18" charset="0"/>
                <a:ea typeface="黑体" panose="02010609060101010101" pitchFamily="49" charset="-122"/>
              </a:rPr>
              <a:t>号书</a:t>
            </a:r>
            <a:r>
              <a:rPr kumimoji="1" lang="en-US" altLang="zh-CN" sz="2800" dirty="0">
                <a:latin typeface="Times New Roman" panose="02020603050405020304" pitchFamily="18" charset="0"/>
                <a:ea typeface="黑体" panose="02010609060101010101" pitchFamily="49" charset="-122"/>
              </a:rPr>
              <a:t>…</a:t>
            </a:r>
            <a:r>
              <a:rPr kumimoji="1" lang="zh-CN" altLang="en-US" sz="2800" dirty="0">
                <a:latin typeface="Times New Roman" panose="02020603050405020304" pitchFamily="18" charset="0"/>
                <a:ea typeface="黑体" panose="02010609060101010101" pitchFamily="49" charset="-122"/>
              </a:rPr>
              <a:t>，因此有一个与结点，让 </a:t>
            </a:r>
            <a:r>
              <a:rPr kumimoji="1" lang="en-US" altLang="zh-CN" sz="2800" dirty="0">
                <a:latin typeface="Times New Roman" panose="02020603050405020304" pitchFamily="18" charset="0"/>
                <a:ea typeface="黑体" panose="02010609060101010101" pitchFamily="49" charset="-122"/>
              </a:rPr>
              <a:t>j </a:t>
            </a:r>
            <a:r>
              <a:rPr kumimoji="1" lang="zh-CN" altLang="en-US" sz="2800" dirty="0">
                <a:latin typeface="Times New Roman" panose="02020603050405020304" pitchFamily="18" charset="0"/>
                <a:ea typeface="黑体" panose="02010609060101010101" pitchFamily="49" charset="-122"/>
              </a:rPr>
              <a:t>表示书，</a:t>
            </a:r>
            <a:r>
              <a:rPr kumimoji="1" lang="en-US" altLang="zh-CN" sz="2800" dirty="0">
                <a:latin typeface="Times New Roman" panose="02020603050405020304" pitchFamily="18" charset="0"/>
                <a:ea typeface="黑体" panose="02010609060101010101" pitchFamily="49" charset="-122"/>
              </a:rPr>
              <a:t>j = 0, 1, 2, 3 , 4 </a:t>
            </a:r>
            <a:r>
              <a:rPr kumimoji="1" lang="zh-CN" altLang="en-US" sz="2800" dirty="0">
                <a:latin typeface="Times New Roman" panose="02020603050405020304" pitchFamily="18" charset="0"/>
                <a:ea typeface="黑体" panose="02010609060101010101" pitchFamily="49" charset="-122"/>
              </a:rPr>
              <a:t>。</a:t>
            </a:r>
            <a:endParaRPr kumimoji="1" lang="zh-CN" altLang="en-US" sz="2800" dirty="0">
              <a:latin typeface="Times New Roman" panose="02020603050405020304" pitchFamily="18" charset="0"/>
              <a:ea typeface="黑体" panose="02010609060101010101" pitchFamily="49" charset="-122"/>
            </a:endParaRPr>
          </a:p>
        </p:txBody>
      </p:sp>
      <p:grpSp>
        <p:nvGrpSpPr>
          <p:cNvPr id="4" name="组合 3"/>
          <p:cNvGrpSpPr/>
          <p:nvPr/>
        </p:nvGrpSpPr>
        <p:grpSpPr>
          <a:xfrm>
            <a:off x="3927475" y="2882900"/>
            <a:ext cx="3673475" cy="3651250"/>
            <a:chOff x="3927475" y="2882900"/>
            <a:chExt cx="3673475" cy="3651250"/>
          </a:xfrm>
        </p:grpSpPr>
        <p:graphicFrame>
          <p:nvGraphicFramePr>
            <p:cNvPr id="585731" name="Object 3"/>
            <p:cNvGraphicFramePr>
              <a:graphicFrameLocks noChangeAspect="1"/>
            </p:cNvGraphicFramePr>
            <p:nvPr/>
          </p:nvGraphicFramePr>
          <p:xfrm>
            <a:off x="3927475" y="2882900"/>
            <a:ext cx="3673475" cy="3651250"/>
          </p:xfrm>
          <a:graphic>
            <a:graphicData uri="http://schemas.openxmlformats.org/presentationml/2006/ole">
              <mc:AlternateContent xmlns:mc="http://schemas.openxmlformats.org/markup-compatibility/2006">
                <mc:Choice xmlns:v="urn:schemas-microsoft-com:vml" Requires="v">
                  <p:oleObj spid="_x0000_s15740" name="Visio" r:id="rId1" imgW="4805045" imgH="4785360" progId="Visio.Drawing.11">
                    <p:embed/>
                  </p:oleObj>
                </mc:Choice>
                <mc:Fallback>
                  <p:oleObj name="Visio" r:id="rId1" imgW="4805045" imgH="478536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7475" y="2882900"/>
                          <a:ext cx="3673475" cy="3651250"/>
                        </a:xfrm>
                        <a:prstGeom prst="rect">
                          <a:avLst/>
                        </a:prstGeom>
                        <a:solidFill>
                          <a:srgbClr val="002060"/>
                        </a:solidFill>
                        <a:ln>
                          <a:noFill/>
                        </a:ln>
                        <a:effectLst/>
                      </p:spPr>
                    </p:pic>
                  </p:oleObj>
                </mc:Fallback>
              </mc:AlternateContent>
            </a:graphicData>
          </a:graphic>
        </p:graphicFrame>
        <p:cxnSp>
          <p:nvCxnSpPr>
            <p:cNvPr id="3" name="Straight Connector 2"/>
            <p:cNvCxnSpPr/>
            <p:nvPr/>
          </p:nvCxnSpPr>
          <p:spPr>
            <a:xfrm flipH="1">
              <a:off x="4435598" y="3453705"/>
              <a:ext cx="1152128" cy="648072"/>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4216144" y="4102798"/>
              <a:ext cx="438907" cy="440767"/>
            </a:xfrm>
            <a:prstGeom prst="ellipse">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373774" y="4265059"/>
              <a:ext cx="144016" cy="13863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216144" y="3453705"/>
              <a:ext cx="1083550" cy="369332"/>
            </a:xfrm>
            <a:prstGeom prst="rect">
              <a:avLst/>
            </a:prstGeom>
            <a:noFill/>
          </p:spPr>
          <p:txBody>
            <a:bodyPr wrap="square" rtlCol="0">
              <a:spAutoFit/>
            </a:bodyPr>
            <a:lstStyle/>
            <a:p>
              <a:r>
                <a:rPr lang="en-US" altLang="zh-CN" dirty="0" err="1">
                  <a:solidFill>
                    <a:schemeClr val="bg1"/>
                  </a:solidFill>
                </a:rPr>
                <a:t>i</a:t>
              </a:r>
              <a:r>
                <a:rPr lang="en-US" altLang="zh-CN" dirty="0">
                  <a:solidFill>
                    <a:schemeClr val="bg1"/>
                  </a:solidFill>
                </a:rPr>
                <a:t> =  =n</a:t>
              </a:r>
              <a:endParaRPr lang="en-US" dirty="0">
                <a:solidFill>
                  <a:schemeClr val="bg1"/>
                </a:solidFill>
              </a:endParaRPr>
            </a:p>
          </p:txBody>
        </p:sp>
        <p:sp>
          <p:nvSpPr>
            <p:cNvPr id="10" name="TextBox 9"/>
            <p:cNvSpPr txBox="1"/>
            <p:nvPr/>
          </p:nvSpPr>
          <p:spPr>
            <a:xfrm>
              <a:off x="3928112" y="4524533"/>
              <a:ext cx="1371582" cy="369332"/>
            </a:xfrm>
            <a:prstGeom prst="rect">
              <a:avLst/>
            </a:prstGeom>
            <a:noFill/>
          </p:spPr>
          <p:txBody>
            <a:bodyPr wrap="square" rtlCol="0">
              <a:spAutoFit/>
            </a:bodyPr>
            <a:lstStyle/>
            <a:p>
              <a:r>
                <a:rPr lang="zh-CN" altLang="en-US" dirty="0">
                  <a:solidFill>
                    <a:schemeClr val="bg1"/>
                  </a:solidFill>
                </a:rPr>
                <a:t>输出方案</a:t>
              </a:r>
              <a:endParaRPr lang="en-US" dirty="0">
                <a:solidFill>
                  <a:schemeClr val="bg1"/>
                </a:solidFill>
              </a:endParaRPr>
            </a:p>
          </p:txBody>
        </p:sp>
        <p:sp>
          <p:nvSpPr>
            <p:cNvPr id="2" name="矩形 1"/>
            <p:cNvSpPr/>
            <p:nvPr/>
          </p:nvSpPr>
          <p:spPr>
            <a:xfrm>
              <a:off x="5904992" y="3011031"/>
              <a:ext cx="1695958" cy="400110"/>
            </a:xfrm>
            <a:prstGeom prst="rect">
              <a:avLst/>
            </a:prstGeom>
          </p:spPr>
          <p:txBody>
            <a:bodyPr wrap="square">
              <a:spAutoFit/>
            </a:bodyPr>
            <a:lstStyle/>
            <a:p>
              <a:r>
                <a:rPr lang="en-US" altLang="zh-CN" sz="2000" b="1" dirty="0" err="1">
                  <a:solidFill>
                    <a:srgbClr val="FFFF00"/>
                  </a:solidFill>
                  <a:highlight>
                    <a:srgbClr val="000080"/>
                  </a:highlight>
                </a:rPr>
                <a:t>assignBook</a:t>
              </a:r>
              <a:r>
                <a:rPr lang="en-US" altLang="zh-CN" sz="2000" b="1" dirty="0">
                  <a:solidFill>
                    <a:srgbClr val="FFFF00"/>
                  </a:solidFill>
                  <a:highlight>
                    <a:srgbClr val="000080"/>
                  </a:highlight>
                </a:rPr>
                <a:t>(</a:t>
              </a:r>
              <a:r>
                <a:rPr lang="en-US" altLang="zh-CN" sz="2000" b="1" dirty="0" err="1">
                  <a:solidFill>
                    <a:srgbClr val="FFFF00"/>
                  </a:solidFill>
                  <a:highlight>
                    <a:srgbClr val="000080"/>
                  </a:highlight>
                </a:rPr>
                <a:t>i</a:t>
              </a:r>
              <a:r>
                <a:rPr lang="en-US" altLang="zh-CN" sz="2000" b="1" dirty="0">
                  <a:solidFill>
                    <a:srgbClr val="FFFF00"/>
                  </a:solidFill>
                  <a:highlight>
                    <a:srgbClr val="000080"/>
                  </a:highlight>
                </a:rPr>
                <a:t>)</a:t>
              </a:r>
              <a:endParaRPr lang="en-US" altLang="zh-CN" sz="2000" b="1" dirty="0">
                <a:solidFill>
                  <a:srgbClr val="FFFF00"/>
                </a:solidFill>
                <a:highlight>
                  <a:srgbClr val="000080"/>
                </a:highlight>
              </a:endParaRPr>
            </a:p>
          </p:txBody>
        </p:sp>
      </p:gr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6754" name="Rectangle 2"/>
          <p:cNvSpPr>
            <a:spLocks noGrp="1" noChangeArrowheads="1"/>
          </p:cNvSpPr>
          <p:nvPr>
            <p:ph type="body" idx="1"/>
          </p:nvPr>
        </p:nvSpPr>
        <p:spPr>
          <a:xfrm>
            <a:off x="374650" y="117475"/>
            <a:ext cx="8229600" cy="647700"/>
          </a:xfrm>
        </p:spPr>
        <p:txBody>
          <a:bodyPr/>
          <a:lstStyle/>
          <a:p>
            <a:pPr marL="609600" indent="-609600">
              <a:buFont typeface="Wingdings" panose="05000000000000000000" pitchFamily="2" charset="2"/>
              <a:buAutoNum type="circleNumDbPlain" startAt="3"/>
            </a:pPr>
            <a:r>
              <a:rPr lang="en-US" altLang="zh-CN"/>
              <a:t>Lp</a:t>
            </a:r>
            <a:r>
              <a:rPr lang="zh-CN" altLang="en-US"/>
              <a:t>为循环结构的循环体，如下图</a:t>
            </a:r>
            <a:endParaRPr lang="zh-CN" altLang="en-US"/>
          </a:p>
        </p:txBody>
      </p:sp>
      <p:graphicFrame>
        <p:nvGraphicFramePr>
          <p:cNvPr id="586755" name="Object 3"/>
          <p:cNvGraphicFramePr>
            <a:graphicFrameLocks noChangeAspect="1"/>
          </p:cNvGraphicFramePr>
          <p:nvPr/>
        </p:nvGraphicFramePr>
        <p:xfrm>
          <a:off x="1841500" y="857250"/>
          <a:ext cx="5467350" cy="5884863"/>
        </p:xfrm>
        <a:graphic>
          <a:graphicData uri="http://schemas.openxmlformats.org/presentationml/2006/ole">
            <mc:AlternateContent xmlns:mc="http://schemas.openxmlformats.org/markup-compatibility/2006">
              <mc:Choice xmlns:v="urn:schemas-microsoft-com:vml" Requires="v">
                <p:oleObj spid="_x0000_s16764" name="VISIO" r:id="rId1" imgW="7600315" imgH="8194675" progId="Visio.Drawing.6">
                  <p:embed/>
                </p:oleObj>
              </mc:Choice>
              <mc:Fallback>
                <p:oleObj name="VISIO" r:id="rId1" imgW="7600315" imgH="8194675" progId="Visio.Drawing.6">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1500" y="857250"/>
                        <a:ext cx="5467350" cy="5884863"/>
                      </a:xfrm>
                      <a:prstGeom prst="rect">
                        <a:avLst/>
                      </a:prstGeom>
                      <a:solidFill>
                        <a:srgbClr val="002060"/>
                      </a:solidFill>
                      <a:ln>
                        <a:noFill/>
                      </a:ln>
                      <a:effectLst/>
                    </p:spPr>
                  </p:pic>
                </p:oleObj>
              </mc:Fallback>
            </mc:AlternateContent>
          </a:graphicData>
        </a:graphic>
      </p:graphicFrame>
      <p:grpSp>
        <p:nvGrpSpPr>
          <p:cNvPr id="586756" name="Group 4"/>
          <p:cNvGrpSpPr/>
          <p:nvPr/>
        </p:nvGrpSpPr>
        <p:grpSpPr bwMode="auto">
          <a:xfrm>
            <a:off x="5724525" y="4425950"/>
            <a:ext cx="2376488" cy="371475"/>
            <a:chOff x="3651" y="2652"/>
            <a:chExt cx="1497" cy="234"/>
          </a:xfrm>
        </p:grpSpPr>
        <p:sp>
          <p:nvSpPr>
            <p:cNvPr id="586757" name="Oval 5"/>
            <p:cNvSpPr>
              <a:spLocks noChangeArrowheads="1"/>
            </p:cNvSpPr>
            <p:nvPr/>
          </p:nvSpPr>
          <p:spPr bwMode="auto">
            <a:xfrm>
              <a:off x="3651" y="2704"/>
              <a:ext cx="998" cy="182"/>
            </a:xfrm>
            <a:prstGeom prst="ellipse">
              <a:avLst/>
            </a:prstGeom>
            <a:solidFill>
              <a:srgbClr val="FFFFFF">
                <a:alpha val="70000"/>
              </a:srgbClr>
            </a:solidFill>
            <a:ln w="38100" cap="sq">
              <a:solidFill>
                <a:schemeClr va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86758" name="Freeform 6"/>
            <p:cNvSpPr/>
            <p:nvPr/>
          </p:nvSpPr>
          <p:spPr bwMode="auto">
            <a:xfrm>
              <a:off x="4649" y="2652"/>
              <a:ext cx="499" cy="150"/>
            </a:xfrm>
            <a:custGeom>
              <a:avLst/>
              <a:gdLst>
                <a:gd name="T0" fmla="*/ 0 w 499"/>
                <a:gd name="T1" fmla="*/ 143 h 150"/>
                <a:gd name="T2" fmla="*/ 181 w 499"/>
                <a:gd name="T3" fmla="*/ 98 h 150"/>
                <a:gd name="T4" fmla="*/ 136 w 499"/>
                <a:gd name="T5" fmla="*/ 7 h 150"/>
                <a:gd name="T6" fmla="*/ 136 w 499"/>
                <a:gd name="T7" fmla="*/ 143 h 150"/>
                <a:gd name="T8" fmla="*/ 499 w 499"/>
                <a:gd name="T9" fmla="*/ 52 h 150"/>
              </a:gdLst>
              <a:ahLst/>
              <a:cxnLst>
                <a:cxn ang="0">
                  <a:pos x="T0" y="T1"/>
                </a:cxn>
                <a:cxn ang="0">
                  <a:pos x="T2" y="T3"/>
                </a:cxn>
                <a:cxn ang="0">
                  <a:pos x="T4" y="T5"/>
                </a:cxn>
                <a:cxn ang="0">
                  <a:pos x="T6" y="T7"/>
                </a:cxn>
                <a:cxn ang="0">
                  <a:pos x="T8" y="T9"/>
                </a:cxn>
              </a:cxnLst>
              <a:rect l="0" t="0" r="r" b="b"/>
              <a:pathLst>
                <a:path w="499" h="150">
                  <a:moveTo>
                    <a:pt x="0" y="143"/>
                  </a:moveTo>
                  <a:cubicBezTo>
                    <a:pt x="79" y="132"/>
                    <a:pt x="158" y="121"/>
                    <a:pt x="181" y="98"/>
                  </a:cubicBezTo>
                  <a:cubicBezTo>
                    <a:pt x="204" y="75"/>
                    <a:pt x="143" y="0"/>
                    <a:pt x="136" y="7"/>
                  </a:cubicBezTo>
                  <a:cubicBezTo>
                    <a:pt x="129" y="14"/>
                    <a:pt x="75" y="136"/>
                    <a:pt x="136" y="143"/>
                  </a:cubicBezTo>
                  <a:cubicBezTo>
                    <a:pt x="197" y="150"/>
                    <a:pt x="439" y="67"/>
                    <a:pt x="499" y="52"/>
                  </a:cubicBezTo>
                </a:path>
              </a:pathLst>
            </a:custGeom>
            <a:noFill/>
            <a:ln w="28575" cap="sq" cmpd="sng">
              <a:solidFill>
                <a:schemeClr val="hlink"/>
              </a:solidFill>
              <a:prstDash val="solid"/>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sp>
        <p:nvSpPr>
          <p:cNvPr id="3" name="矩形 2"/>
          <p:cNvSpPr/>
          <p:nvPr/>
        </p:nvSpPr>
        <p:spPr>
          <a:xfrm>
            <a:off x="4867559" y="6245112"/>
            <a:ext cx="1773242" cy="369332"/>
          </a:xfrm>
          <a:prstGeom prst="rect">
            <a:avLst/>
          </a:prstGeom>
        </p:spPr>
        <p:txBody>
          <a:bodyPr wrap="none">
            <a:spAutoFit/>
          </a:bodyPr>
          <a:lstStyle/>
          <a:p>
            <a:r>
              <a:rPr lang="en-US" altLang="zh-CN" b="1" dirty="0" err="1">
                <a:solidFill>
                  <a:schemeClr val="bg1"/>
                </a:solidFill>
                <a:highlight>
                  <a:srgbClr val="000080"/>
                </a:highlight>
              </a:rPr>
              <a:t>assignBook</a:t>
            </a:r>
            <a:r>
              <a:rPr lang="en-US" altLang="zh-CN" b="1" dirty="0">
                <a:solidFill>
                  <a:schemeClr val="bg1"/>
                </a:solidFill>
                <a:highlight>
                  <a:srgbClr val="000080"/>
                </a:highlight>
              </a:rPr>
              <a:t>(</a:t>
            </a:r>
            <a:r>
              <a:rPr lang="en-US" altLang="zh-CN" b="1" dirty="0" err="1">
                <a:solidFill>
                  <a:schemeClr val="bg1"/>
                </a:solidFill>
                <a:highlight>
                  <a:srgbClr val="000080"/>
                </a:highlight>
              </a:rPr>
              <a:t>i</a:t>
            </a:r>
            <a:r>
              <a:rPr lang="en-US" altLang="zh-CN" b="1" dirty="0">
                <a:solidFill>
                  <a:schemeClr val="bg1"/>
                </a:solidFill>
                <a:highlight>
                  <a:srgbClr val="000080"/>
                </a:highlight>
              </a:rPr>
              <a:t> + 1);</a:t>
            </a:r>
            <a:endParaRPr lang="en-US" altLang="zh-CN" b="1" dirty="0">
              <a:solidFill>
                <a:schemeClr val="bg1"/>
              </a:solidFill>
              <a:highlight>
                <a:srgbClr val="000080"/>
              </a:highlight>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rrowheads="1"/>
          </p:cNvSpPr>
          <p:nvPr>
            <p:ph type="title"/>
          </p:nvPr>
        </p:nvSpPr>
        <p:spPr>
          <a:xfrm>
            <a:off x="539750" y="188640"/>
            <a:ext cx="7772400" cy="1152128"/>
          </a:xfrm>
        </p:spPr>
        <p:txBody>
          <a:bodyPr/>
          <a:lstStyle/>
          <a:p>
            <a:r>
              <a:rPr lang="zh-CN" altLang="en-US" dirty="0"/>
              <a:t>具体实现：</a:t>
            </a:r>
            <a:endParaRPr lang="zh-CN" altLang="en-US" dirty="0"/>
          </a:p>
        </p:txBody>
      </p:sp>
      <p:sp>
        <p:nvSpPr>
          <p:cNvPr id="584707" name="Text Box 3"/>
          <p:cNvSpPr txBox="1">
            <a:spLocks noChangeArrowheads="1"/>
          </p:cNvSpPr>
          <p:nvPr/>
        </p:nvSpPr>
        <p:spPr bwMode="auto">
          <a:xfrm>
            <a:off x="539750" y="1447800"/>
            <a:ext cx="8280400" cy="47894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buFont typeface="Wingdings" panose="05000000000000000000" pitchFamily="2" charset="2"/>
              <a:buNone/>
            </a:pPr>
            <a:r>
              <a:rPr kumimoji="1" lang="en-US" altLang="zh-CN" sz="2800" dirty="0">
                <a:latin typeface="Times New Roman" panose="02020603050405020304" pitchFamily="18" charset="0"/>
                <a:ea typeface="黑体" panose="02010609060101010101" pitchFamily="49" charset="-122"/>
              </a:rPr>
              <a:t>1</a:t>
            </a:r>
            <a:r>
              <a:rPr kumimoji="1" lang="zh-CN" altLang="en-US" sz="2800" dirty="0">
                <a:latin typeface="Times New Roman" panose="02020603050405020304" pitchFamily="18" charset="0"/>
                <a:ea typeface="黑体" panose="02010609060101010101" pitchFamily="49" charset="-122"/>
              </a:rPr>
              <a:t>、定义一个整型的二维数组，将表中的阅读喜好用初始化方法赋给这个二维数组。可定义</a:t>
            </a:r>
            <a:endParaRPr kumimoji="1" lang="zh-CN" altLang="en-US" sz="2800" dirty="0">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endParaRPr kumimoji="1" lang="zh-CN" altLang="en-US" sz="2800" dirty="0">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r>
              <a:rPr kumimoji="1" lang="zh-CN" altLang="en-US" sz="2800" dirty="0">
                <a:solidFill>
                  <a:schemeClr val="tx2"/>
                </a:solidFill>
                <a:latin typeface="Times New Roman" panose="02020603050405020304" pitchFamily="18" charset="0"/>
                <a:ea typeface="黑体" panose="02010609060101010101" pitchFamily="49" charset="-122"/>
              </a:rPr>
              <a:t>     </a:t>
            </a:r>
            <a:r>
              <a:rPr kumimoji="1" lang="en-US" altLang="zh-CN" sz="2800" dirty="0" err="1">
                <a:solidFill>
                  <a:schemeClr val="hlink"/>
                </a:solidFill>
                <a:latin typeface="Times New Roman" panose="02020603050405020304" pitchFamily="18" charset="0"/>
                <a:ea typeface="黑体" panose="02010609060101010101" pitchFamily="49" charset="-122"/>
              </a:rPr>
              <a:t>int</a:t>
            </a:r>
            <a:r>
              <a:rPr kumimoji="1" lang="en-US" altLang="zh-CN" sz="2800" dirty="0">
                <a:solidFill>
                  <a:schemeClr val="hlink"/>
                </a:solidFill>
                <a:latin typeface="Times New Roman" panose="02020603050405020304" pitchFamily="18" charset="0"/>
                <a:ea typeface="黑体" panose="02010609060101010101" pitchFamily="49" charset="-122"/>
              </a:rPr>
              <a:t> like[5][5] = { {0,0,1,1,0} , {1,1,0,0,1,} ,</a:t>
            </a:r>
            <a:endParaRPr kumimoji="1" lang="en-US" altLang="zh-CN" sz="2800" dirty="0">
              <a:solidFill>
                <a:schemeClr val="hlink"/>
              </a:solidFill>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r>
              <a:rPr kumimoji="1" lang="en-US" altLang="zh-CN" sz="2800" dirty="0">
                <a:solidFill>
                  <a:schemeClr val="hlink"/>
                </a:solidFill>
                <a:latin typeface="Times New Roman" panose="02020603050405020304" pitchFamily="18" charset="0"/>
                <a:ea typeface="黑体" panose="02010609060101010101" pitchFamily="49" charset="-122"/>
              </a:rPr>
              <a:t>		    {0,1,1,0,1} ,{0,0,0,1,0} ,{0,1,0,0,1} };</a:t>
            </a:r>
            <a:endParaRPr kumimoji="1" lang="en-US" altLang="zh-CN" sz="2800" dirty="0">
              <a:solidFill>
                <a:schemeClr val="hlink"/>
              </a:solidFill>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endParaRPr kumimoji="1" lang="en-US" altLang="zh-CN" sz="2800" dirty="0">
              <a:solidFill>
                <a:schemeClr val="hlink"/>
              </a:solidFill>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r>
              <a:rPr kumimoji="1" lang="en-US" altLang="zh-CN" sz="2800" dirty="0">
                <a:latin typeface="Times New Roman" panose="02020603050405020304" pitchFamily="18" charset="0"/>
                <a:ea typeface="黑体" panose="02010609060101010101" pitchFamily="49" charset="-122"/>
              </a:rPr>
              <a:t>2</a:t>
            </a:r>
            <a:r>
              <a:rPr kumimoji="1" lang="zh-CN" altLang="en-US" sz="2800" dirty="0">
                <a:latin typeface="Times New Roman" panose="02020603050405020304" pitchFamily="18" charset="0"/>
                <a:ea typeface="黑体" panose="02010609060101010101" pitchFamily="49" charset="-122"/>
              </a:rPr>
              <a:t>、定义一个整型一维数组</a:t>
            </a:r>
            <a:r>
              <a:rPr kumimoji="1" lang="en-US" altLang="zh-CN" sz="2800" dirty="0">
                <a:latin typeface="Times New Roman" panose="02020603050405020304" pitchFamily="18" charset="0"/>
                <a:ea typeface="黑体" panose="02010609060101010101" pitchFamily="49" charset="-122"/>
              </a:rPr>
              <a:t>book[5]</a:t>
            </a:r>
            <a:r>
              <a:rPr kumimoji="1" lang="zh-CN" altLang="en-US" sz="2800" dirty="0">
                <a:latin typeface="Times New Roman" panose="02020603050405020304" pitchFamily="18" charset="0"/>
                <a:ea typeface="黑体" panose="02010609060101010101" pitchFamily="49" charset="-122"/>
              </a:rPr>
              <a:t>用来记录书是否已被选用。用下标作为五本书的标号，被选过元素值为</a:t>
            </a:r>
            <a:r>
              <a:rPr kumimoji="1" lang="en-US" altLang="zh-CN" sz="2800" dirty="0">
                <a:latin typeface="Times New Roman" panose="02020603050405020304" pitchFamily="18" charset="0"/>
                <a:ea typeface="黑体" panose="02010609060101010101" pitchFamily="49" charset="-122"/>
              </a:rPr>
              <a:t>1</a:t>
            </a:r>
            <a:r>
              <a:rPr kumimoji="1" lang="zh-CN" altLang="en-US" sz="2800" dirty="0">
                <a:latin typeface="Times New Roman" panose="02020603050405020304" pitchFamily="18" charset="0"/>
                <a:ea typeface="黑体" panose="02010609060101010101" pitchFamily="49" charset="-122"/>
              </a:rPr>
              <a:t>，未被选过元素值为</a:t>
            </a:r>
            <a:r>
              <a:rPr kumimoji="1" lang="en-US" altLang="zh-CN" sz="2800" dirty="0">
                <a:latin typeface="Times New Roman" panose="02020603050405020304" pitchFamily="18" charset="0"/>
                <a:ea typeface="黑体" panose="02010609060101010101" pitchFamily="49" charset="-122"/>
              </a:rPr>
              <a:t>0</a:t>
            </a:r>
            <a:r>
              <a:rPr kumimoji="1" lang="zh-CN" altLang="en-US" sz="2800" dirty="0">
                <a:latin typeface="Times New Roman" panose="02020603050405020304" pitchFamily="18" charset="0"/>
                <a:ea typeface="黑体" panose="02010609060101010101" pitchFamily="49" charset="-122"/>
              </a:rPr>
              <a:t>，初始化皆置</a:t>
            </a:r>
            <a:r>
              <a:rPr kumimoji="1" lang="en-US" altLang="zh-CN" sz="2800" dirty="0">
                <a:latin typeface="Times New Roman" panose="02020603050405020304" pitchFamily="18" charset="0"/>
                <a:ea typeface="黑体" panose="02010609060101010101" pitchFamily="49" charset="-122"/>
              </a:rPr>
              <a:t>0</a:t>
            </a:r>
            <a:r>
              <a:rPr kumimoji="1" lang="zh-CN" altLang="en-US" sz="2800" dirty="0">
                <a:latin typeface="Times New Roman" panose="02020603050405020304" pitchFamily="18" charset="0"/>
                <a:ea typeface="黑体" panose="02010609060101010101" pitchFamily="49" charset="-122"/>
              </a:rPr>
              <a:t>。</a:t>
            </a:r>
            <a:endParaRPr kumimoji="1" lang="zh-CN" altLang="en-US" sz="2800" dirty="0">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endParaRPr kumimoji="1" lang="zh-CN" altLang="en-US" sz="2800" dirty="0">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r>
              <a:rPr kumimoji="1" lang="zh-CN" altLang="en-US" sz="2800" dirty="0">
                <a:solidFill>
                  <a:schemeClr val="tx2"/>
                </a:solidFill>
                <a:latin typeface="Times New Roman" panose="02020603050405020304" pitchFamily="18" charset="0"/>
                <a:ea typeface="黑体" panose="02010609060101010101" pitchFamily="49" charset="-122"/>
              </a:rPr>
              <a:t>      </a:t>
            </a:r>
            <a:r>
              <a:rPr kumimoji="1" lang="en-US" altLang="zh-CN" sz="2800" dirty="0" err="1">
                <a:solidFill>
                  <a:schemeClr val="hlink"/>
                </a:solidFill>
                <a:latin typeface="Times New Roman" panose="02020603050405020304" pitchFamily="18" charset="0"/>
                <a:ea typeface="黑体" panose="02010609060101010101" pitchFamily="49" charset="-122"/>
              </a:rPr>
              <a:t>int</a:t>
            </a:r>
            <a:r>
              <a:rPr kumimoji="1" lang="en-US" altLang="zh-CN" sz="2800" dirty="0">
                <a:solidFill>
                  <a:schemeClr val="hlink"/>
                </a:solidFill>
                <a:latin typeface="Times New Roman" panose="02020603050405020304" pitchFamily="18" charset="0"/>
                <a:ea typeface="黑体" panose="02010609060101010101" pitchFamily="49" charset="-122"/>
              </a:rPr>
              <a:t> book[5]={ 0,0,0,0,0 };</a:t>
            </a:r>
            <a:endParaRPr kumimoji="1" lang="en-US" altLang="zh-CN" sz="2800" dirty="0">
              <a:solidFill>
                <a:schemeClr val="hlink"/>
              </a:solidFill>
              <a:latin typeface="Times New Roman" panose="02020603050405020304" pitchFamily="18" charset="0"/>
              <a:ea typeface="黑体" panose="02010609060101010101"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ChangeArrowheads="1"/>
          </p:cNvSpPr>
          <p:nvPr>
            <p:ph type="body" idx="1"/>
          </p:nvPr>
        </p:nvSpPr>
        <p:spPr>
          <a:xfrm>
            <a:off x="457200" y="549275"/>
            <a:ext cx="8229600" cy="5576888"/>
          </a:xfrm>
        </p:spPr>
        <p:txBody>
          <a:bodyPr>
            <a:normAutofit/>
          </a:bodyPr>
          <a:lstStyle/>
          <a:p>
            <a:pPr marL="609600" indent="-609600">
              <a:buFont typeface="Wingdings" panose="05000000000000000000" pitchFamily="2" charset="2"/>
              <a:buAutoNum type="circleNumDbPlain" startAt="4"/>
            </a:pPr>
            <a:r>
              <a:rPr kumimoji="1" lang="zh-CN" altLang="en-US" dirty="0">
                <a:effectLst/>
              </a:rPr>
              <a:t>条件 </a:t>
            </a:r>
            <a:r>
              <a:rPr kumimoji="1" lang="en-US" altLang="zh-CN" dirty="0">
                <a:effectLst/>
              </a:rPr>
              <a:t>C </a:t>
            </a:r>
            <a:r>
              <a:rPr kumimoji="1" lang="zh-CN" altLang="en-US" dirty="0">
                <a:effectLst/>
              </a:rPr>
              <a:t>是由两部分</a:t>
            </a:r>
            <a:r>
              <a:rPr kumimoji="1" lang="zh-CN" altLang="en-US" dirty="0">
                <a:effectLst/>
                <a:latin typeface="Arial" panose="020B0604020202020204" pitchFamily="34" charset="0"/>
              </a:rPr>
              <a:t>“</a:t>
            </a:r>
            <a:r>
              <a:rPr kumimoji="1" lang="zh-CN" altLang="en-US" dirty="0">
                <a:effectLst/>
              </a:rPr>
              <a:t>与</a:t>
            </a:r>
            <a:r>
              <a:rPr kumimoji="1" lang="zh-CN" altLang="en-US" dirty="0">
                <a:effectLst/>
                <a:latin typeface="Arial" panose="020B0604020202020204" pitchFamily="34" charset="0"/>
              </a:rPr>
              <a:t>”</a:t>
            </a:r>
            <a:r>
              <a:rPr kumimoji="1" lang="zh-CN" altLang="en-US" dirty="0">
                <a:effectLst/>
              </a:rPr>
              <a:t>起来的。</a:t>
            </a:r>
            <a:r>
              <a:rPr kumimoji="1" lang="zh-CN" altLang="en-US" dirty="0">
                <a:effectLst/>
                <a:latin typeface="Arial" panose="020B0604020202020204" pitchFamily="34" charset="0"/>
              </a:rPr>
              <a:t>“</a:t>
            </a:r>
            <a:r>
              <a:rPr kumimoji="1" lang="zh-CN" altLang="en-US" dirty="0">
                <a:effectLst/>
              </a:rPr>
              <a:t>第 </a:t>
            </a:r>
            <a:r>
              <a:rPr kumimoji="1" lang="en-US" altLang="zh-CN" dirty="0" err="1">
                <a:effectLst/>
              </a:rPr>
              <a:t>i</a:t>
            </a:r>
            <a:r>
              <a:rPr kumimoji="1" lang="en-US" altLang="zh-CN" dirty="0">
                <a:effectLst/>
              </a:rPr>
              <a:t> </a:t>
            </a:r>
            <a:r>
              <a:rPr kumimoji="1" lang="zh-CN" altLang="en-US" dirty="0">
                <a:effectLst/>
              </a:rPr>
              <a:t>个人喜欢 </a:t>
            </a:r>
            <a:r>
              <a:rPr kumimoji="1" lang="en-US" altLang="zh-CN" dirty="0">
                <a:effectLst/>
              </a:rPr>
              <a:t>j </a:t>
            </a:r>
            <a:r>
              <a:rPr kumimoji="1" lang="zh-CN" altLang="en-US" dirty="0">
                <a:effectLst/>
              </a:rPr>
              <a:t>书，且 </a:t>
            </a:r>
            <a:r>
              <a:rPr kumimoji="1" lang="en-US" altLang="zh-CN" dirty="0">
                <a:effectLst/>
              </a:rPr>
              <a:t>j </a:t>
            </a:r>
            <a:r>
              <a:rPr kumimoji="1" lang="zh-CN" altLang="en-US" dirty="0">
                <a:effectLst/>
              </a:rPr>
              <a:t>书尚未被分走</a:t>
            </a:r>
            <a:r>
              <a:rPr kumimoji="1" lang="zh-CN" altLang="en-US" dirty="0">
                <a:effectLst/>
                <a:latin typeface="Arial" panose="020B0604020202020204" pitchFamily="34" charset="0"/>
              </a:rPr>
              <a:t>”</a:t>
            </a:r>
            <a:r>
              <a:rPr kumimoji="1" lang="zh-CN" altLang="en-US" dirty="0">
                <a:effectLst/>
              </a:rPr>
              <a:t>。满足这个条件是第 </a:t>
            </a:r>
            <a:r>
              <a:rPr kumimoji="1" lang="en-US" altLang="zh-CN" dirty="0" err="1">
                <a:effectLst/>
              </a:rPr>
              <a:t>i</a:t>
            </a:r>
            <a:r>
              <a:rPr kumimoji="1" lang="en-US" altLang="zh-CN" dirty="0">
                <a:effectLst/>
              </a:rPr>
              <a:t> </a:t>
            </a:r>
            <a:r>
              <a:rPr kumimoji="1" lang="zh-CN" altLang="en-US" dirty="0">
                <a:effectLst/>
              </a:rPr>
              <a:t>人能够得到 </a:t>
            </a:r>
            <a:r>
              <a:rPr kumimoji="1" lang="en-US" altLang="zh-CN" dirty="0">
                <a:effectLst/>
              </a:rPr>
              <a:t>j </a:t>
            </a:r>
            <a:r>
              <a:rPr kumimoji="1" lang="zh-CN" altLang="en-US" dirty="0">
                <a:effectLst/>
              </a:rPr>
              <a:t>书的条件。</a:t>
            </a:r>
            <a:endParaRPr kumimoji="1" lang="zh-CN" altLang="en-US" dirty="0">
              <a:effectLst/>
            </a:endParaRPr>
          </a:p>
          <a:p>
            <a:pPr marL="609600" indent="-609600">
              <a:buFont typeface="Wingdings" panose="05000000000000000000" pitchFamily="2" charset="2"/>
              <a:buAutoNum type="circleNumDbPlain" startAt="4"/>
            </a:pPr>
            <a:r>
              <a:rPr kumimoji="1" lang="zh-CN" altLang="en-US" dirty="0">
                <a:effectLst/>
              </a:rPr>
              <a:t>如果不满足 </a:t>
            </a:r>
            <a:r>
              <a:rPr kumimoji="1" lang="en-US" altLang="zh-CN" dirty="0">
                <a:effectLst/>
              </a:rPr>
              <a:t>C </a:t>
            </a:r>
            <a:r>
              <a:rPr kumimoji="1" lang="zh-CN" altLang="en-US" dirty="0">
                <a:effectLst/>
              </a:rPr>
              <a:t>条件，则什么也不做，这是直接可解结点。</a:t>
            </a:r>
            <a:endParaRPr kumimoji="1" lang="zh-CN" altLang="en-US" dirty="0">
              <a:effectLst/>
            </a:endParaRPr>
          </a:p>
          <a:p>
            <a:pPr marL="609600" indent="-609600">
              <a:buFont typeface="Wingdings" panose="05000000000000000000" pitchFamily="2" charset="2"/>
              <a:buAutoNum type="circleNumDbPlain" startAt="4"/>
            </a:pPr>
            <a:r>
              <a:rPr kumimoji="1" lang="zh-CN" altLang="en-US" dirty="0">
                <a:effectLst/>
              </a:rPr>
              <a:t>满足</a:t>
            </a:r>
            <a:r>
              <a:rPr kumimoji="1" lang="en-US" altLang="zh-CN" dirty="0">
                <a:effectLst/>
              </a:rPr>
              <a:t>C</a:t>
            </a:r>
            <a:r>
              <a:rPr kumimoji="1" lang="zh-CN" altLang="en-US" dirty="0">
                <a:effectLst/>
              </a:rPr>
              <a:t>条件，做三件事。</a:t>
            </a:r>
            <a:endParaRPr kumimoji="1" lang="zh-CN" altLang="en-US" dirty="0">
              <a:effectLst/>
            </a:endParaRPr>
          </a:p>
          <a:p>
            <a:pPr marL="609600" indent="-609600">
              <a:buFont typeface="Wingdings" panose="05000000000000000000" pitchFamily="2" charset="2"/>
              <a:buNone/>
            </a:pPr>
            <a:r>
              <a:rPr kumimoji="1" lang="zh-CN" altLang="en-US" dirty="0">
                <a:effectLst/>
              </a:rPr>
              <a:t>	</a:t>
            </a:r>
            <a:r>
              <a:rPr kumimoji="1" lang="zh-CN" altLang="en-US" sz="2800" dirty="0">
                <a:solidFill>
                  <a:schemeClr val="hlink"/>
                </a:solidFill>
                <a:effectLst/>
              </a:rPr>
              <a:t>第一件事：</a:t>
            </a:r>
            <a:endParaRPr kumimoji="1" lang="zh-CN" altLang="en-US" sz="2800" dirty="0">
              <a:solidFill>
                <a:schemeClr val="hlink"/>
              </a:solidFill>
              <a:effectLst/>
            </a:endParaRPr>
          </a:p>
          <a:p>
            <a:pPr marL="609600" indent="-609600">
              <a:buFont typeface="Wingdings" panose="05000000000000000000" pitchFamily="2" charset="2"/>
              <a:buNone/>
            </a:pPr>
            <a:r>
              <a:rPr kumimoji="1" lang="zh-CN" altLang="en-US" sz="2800" dirty="0">
                <a:solidFill>
                  <a:schemeClr val="hlink"/>
                </a:solidFill>
                <a:effectLst/>
              </a:rPr>
              <a:t>	    </a:t>
            </a:r>
            <a:r>
              <a:rPr kumimoji="1" lang="zh-CN" altLang="en-US" sz="2800" dirty="0">
                <a:effectLst/>
              </a:rPr>
              <a:t>将 </a:t>
            </a:r>
            <a:r>
              <a:rPr kumimoji="1" lang="en-US" altLang="zh-CN" sz="2800" dirty="0">
                <a:effectLst/>
              </a:rPr>
              <a:t>j</a:t>
            </a:r>
            <a:r>
              <a:rPr kumimoji="1" lang="zh-CN" altLang="en-US" sz="2800" dirty="0">
                <a:effectLst/>
              </a:rPr>
              <a:t>书分给 </a:t>
            </a:r>
            <a:r>
              <a:rPr kumimoji="1" lang="en-US" altLang="zh-CN" sz="2800" dirty="0" err="1">
                <a:effectLst/>
              </a:rPr>
              <a:t>i</a:t>
            </a:r>
            <a:r>
              <a:rPr kumimoji="1" lang="zh-CN" altLang="en-US" sz="2800" dirty="0">
                <a:effectLst/>
              </a:rPr>
              <a:t>，用一个数组 </a:t>
            </a:r>
            <a:r>
              <a:rPr kumimoji="1" lang="en-US" altLang="zh-CN" sz="2800" dirty="0">
                <a:effectLst/>
              </a:rPr>
              <a:t>take[ </a:t>
            </a:r>
            <a:r>
              <a:rPr kumimoji="1" lang="en-US" altLang="zh-CN" sz="2800" dirty="0" err="1">
                <a:effectLst/>
              </a:rPr>
              <a:t>i</a:t>
            </a:r>
            <a:r>
              <a:rPr kumimoji="1" lang="en-US" altLang="zh-CN" sz="2800" dirty="0">
                <a:effectLst/>
              </a:rPr>
              <a:t> ]=j</a:t>
            </a:r>
            <a:r>
              <a:rPr kumimoji="1" lang="zh-CN" altLang="en-US" sz="2800" dirty="0">
                <a:effectLst/>
              </a:rPr>
              <a:t>，</a:t>
            </a:r>
            <a:endParaRPr kumimoji="1" lang="zh-CN" altLang="en-US" sz="2800" dirty="0">
              <a:effectLst/>
            </a:endParaRPr>
          </a:p>
          <a:p>
            <a:pPr marL="609600" indent="-609600">
              <a:buFont typeface="Wingdings" panose="05000000000000000000" pitchFamily="2" charset="2"/>
              <a:buNone/>
            </a:pPr>
            <a:r>
              <a:rPr kumimoji="1" lang="zh-CN" altLang="en-US" sz="2800" dirty="0">
                <a:effectLst/>
              </a:rPr>
              <a:t>	    记住书 </a:t>
            </a:r>
            <a:r>
              <a:rPr kumimoji="1" lang="en-US" altLang="zh-CN" sz="2800" dirty="0">
                <a:effectLst/>
              </a:rPr>
              <a:t>j  </a:t>
            </a:r>
            <a:r>
              <a:rPr kumimoji="1" lang="zh-CN" altLang="en-US" sz="2800" dirty="0">
                <a:effectLst/>
              </a:rPr>
              <a:t>给了 </a:t>
            </a:r>
            <a:r>
              <a:rPr kumimoji="1" lang="en-US" altLang="zh-CN" sz="2800" dirty="0" err="1">
                <a:effectLst/>
              </a:rPr>
              <a:t>i</a:t>
            </a:r>
            <a:r>
              <a:rPr kumimoji="1" lang="en-US" altLang="zh-CN" sz="2800" dirty="0">
                <a:effectLst/>
              </a:rPr>
              <a:t> </a:t>
            </a:r>
            <a:r>
              <a:rPr kumimoji="1" lang="zh-CN" altLang="en-US" sz="2800" dirty="0">
                <a:effectLst/>
              </a:rPr>
              <a:t>，</a:t>
            </a:r>
            <a:endParaRPr kumimoji="1" lang="zh-CN" altLang="en-US" sz="2800" dirty="0">
              <a:effectLst/>
            </a:endParaRPr>
          </a:p>
          <a:p>
            <a:pPr marL="609600" indent="-609600">
              <a:buFont typeface="Wingdings" panose="05000000000000000000" pitchFamily="2" charset="2"/>
              <a:buNone/>
            </a:pPr>
            <a:r>
              <a:rPr kumimoji="1" lang="zh-CN" altLang="en-US" sz="2800" dirty="0">
                <a:effectLst/>
              </a:rPr>
              <a:t>	    同时记录  </a:t>
            </a:r>
            <a:r>
              <a:rPr kumimoji="1" lang="en-US" altLang="zh-CN" sz="2800" dirty="0">
                <a:effectLst/>
              </a:rPr>
              <a:t>j </a:t>
            </a:r>
            <a:r>
              <a:rPr kumimoji="1" lang="zh-CN" altLang="en-US" sz="2800" dirty="0">
                <a:effectLst/>
              </a:rPr>
              <a:t>书已被选用，</a:t>
            </a:r>
            <a:r>
              <a:rPr kumimoji="1" lang="en-US" altLang="zh-CN" sz="2800" dirty="0">
                <a:effectLst/>
              </a:rPr>
              <a:t>book[ j ] = 1</a:t>
            </a:r>
            <a:r>
              <a:rPr kumimoji="1" lang="zh-CN" altLang="en-US" sz="2800" dirty="0">
                <a:effectLst/>
              </a:rPr>
              <a:t>。</a:t>
            </a:r>
            <a:endParaRPr lang="zh-CN"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ChangeArrowheads="1"/>
          </p:cNvSpPr>
          <p:nvPr>
            <p:ph type="body" idx="1"/>
          </p:nvPr>
        </p:nvSpPr>
        <p:spPr>
          <a:xfrm>
            <a:off x="323850" y="476250"/>
            <a:ext cx="8229600" cy="5761038"/>
          </a:xfrm>
        </p:spPr>
        <p:txBody>
          <a:bodyPr/>
          <a:lstStyle/>
          <a:p>
            <a:pPr>
              <a:lnSpc>
                <a:spcPct val="90000"/>
              </a:lnSpc>
              <a:buFont typeface="Wingdings" panose="05000000000000000000" pitchFamily="2" charset="2"/>
              <a:buNone/>
            </a:pPr>
            <a:r>
              <a:rPr lang="zh-CN" altLang="en-US" sz="2800">
                <a:solidFill>
                  <a:schemeClr val="hlink"/>
                </a:solidFill>
              </a:rPr>
              <a:t>第二件事</a:t>
            </a:r>
            <a:r>
              <a:rPr lang="zh-CN" altLang="en-US" sz="2800"/>
              <a:t>：</a:t>
            </a:r>
            <a:endParaRPr lang="zh-CN" altLang="en-US" sz="2800"/>
          </a:p>
          <a:p>
            <a:pPr>
              <a:lnSpc>
                <a:spcPct val="90000"/>
              </a:lnSpc>
              <a:buFont typeface="Wingdings" panose="05000000000000000000" pitchFamily="2" charset="2"/>
              <a:buNone/>
            </a:pPr>
            <a:r>
              <a:rPr lang="zh-CN" altLang="en-US" sz="2800"/>
              <a:t>	查看 </a:t>
            </a:r>
            <a:r>
              <a:rPr lang="en-US" altLang="zh-CN" sz="2800"/>
              <a:t>i </a:t>
            </a:r>
            <a:r>
              <a:rPr lang="zh-CN" altLang="en-US" sz="2800"/>
              <a:t>是否为 </a:t>
            </a:r>
            <a:r>
              <a:rPr lang="en-US" altLang="zh-CN" sz="2800"/>
              <a:t>4</a:t>
            </a:r>
            <a:r>
              <a:rPr lang="zh-CN" altLang="en-US" sz="2800"/>
              <a:t>，如果不为 </a:t>
            </a:r>
            <a:r>
              <a:rPr lang="en-US" altLang="zh-CN" sz="2800"/>
              <a:t>4</a:t>
            </a:r>
            <a:r>
              <a:rPr lang="zh-CN" altLang="en-US" sz="2800"/>
              <a:t>，表示尚未将所有 </a:t>
            </a:r>
            <a:r>
              <a:rPr lang="en-US" altLang="zh-CN" sz="2800"/>
              <a:t>5 </a:t>
            </a:r>
            <a:r>
              <a:rPr lang="zh-CN" altLang="en-US" sz="2800"/>
              <a:t>个人所要的书分完，这时应递归再试下一人，即</a:t>
            </a:r>
            <a:r>
              <a:rPr lang="en-US" altLang="zh-CN" sz="2800"/>
              <a:t>Try( i+1 )</a:t>
            </a:r>
            <a:r>
              <a:rPr lang="zh-CN" altLang="en-US" sz="2800"/>
              <a:t>。</a:t>
            </a:r>
            <a:endParaRPr lang="zh-CN" altLang="en-US" sz="2800"/>
          </a:p>
          <a:p>
            <a:pPr>
              <a:lnSpc>
                <a:spcPct val="90000"/>
              </a:lnSpc>
              <a:buFont typeface="Wingdings" panose="05000000000000000000" pitchFamily="2" charset="2"/>
              <a:buNone/>
            </a:pPr>
            <a:r>
              <a:rPr lang="zh-CN" altLang="en-US" sz="2800"/>
              <a:t>	如果 </a:t>
            </a:r>
            <a:r>
              <a:rPr lang="en-US" altLang="zh-CN" sz="2800"/>
              <a:t>i == 4</a:t>
            </a:r>
            <a:r>
              <a:rPr lang="zh-CN" altLang="en-US" sz="2800"/>
              <a:t>，则应先使方案数</a:t>
            </a:r>
            <a:r>
              <a:rPr lang="en-US" altLang="zh-CN" sz="2800"/>
              <a:t>n = n+1</a:t>
            </a:r>
            <a:r>
              <a:rPr lang="zh-CN" altLang="en-US" sz="2800"/>
              <a:t>，然后输出第 </a:t>
            </a:r>
            <a:r>
              <a:rPr lang="en-US" altLang="zh-CN" sz="2800"/>
              <a:t>n </a:t>
            </a:r>
            <a:r>
              <a:rPr lang="zh-CN" altLang="en-US" sz="2800"/>
              <a:t>个方案下的每个人所得之书。</a:t>
            </a:r>
            <a:endParaRPr lang="zh-CN" altLang="en-US" sz="2800"/>
          </a:p>
          <a:p>
            <a:pPr>
              <a:lnSpc>
                <a:spcPct val="90000"/>
              </a:lnSpc>
              <a:buFont typeface="Wingdings" panose="05000000000000000000" pitchFamily="2" charset="2"/>
              <a:buNone/>
            </a:pPr>
            <a:endParaRPr lang="zh-CN" altLang="en-US" sz="2800">
              <a:solidFill>
                <a:schemeClr val="hlink"/>
              </a:solidFill>
            </a:endParaRPr>
          </a:p>
          <a:p>
            <a:pPr>
              <a:lnSpc>
                <a:spcPct val="90000"/>
              </a:lnSpc>
              <a:buFont typeface="Wingdings" panose="05000000000000000000" pitchFamily="2" charset="2"/>
              <a:buNone/>
            </a:pPr>
            <a:r>
              <a:rPr lang="zh-CN" altLang="en-US" sz="2800">
                <a:solidFill>
                  <a:schemeClr val="hlink"/>
                </a:solidFill>
              </a:rPr>
              <a:t>第三件事：回溯。</a:t>
            </a:r>
            <a:endParaRPr lang="zh-CN" altLang="en-US" sz="2800">
              <a:solidFill>
                <a:schemeClr val="hlink"/>
              </a:solidFill>
            </a:endParaRPr>
          </a:p>
          <a:p>
            <a:pPr>
              <a:lnSpc>
                <a:spcPct val="90000"/>
              </a:lnSpc>
              <a:buFont typeface="Wingdings" panose="05000000000000000000" pitchFamily="2" charset="2"/>
              <a:buNone/>
            </a:pPr>
            <a:r>
              <a:rPr lang="zh-CN" altLang="en-US" sz="2800"/>
              <a:t>	让第 </a:t>
            </a:r>
            <a:r>
              <a:rPr lang="en-US" altLang="zh-CN" sz="2800"/>
              <a:t>i </a:t>
            </a:r>
            <a:r>
              <a:rPr lang="zh-CN" altLang="en-US" sz="2800"/>
              <a:t>人退回 </a:t>
            </a:r>
            <a:r>
              <a:rPr lang="en-US" altLang="zh-CN" sz="2800"/>
              <a:t>j </a:t>
            </a:r>
            <a:r>
              <a:rPr lang="zh-CN" altLang="en-US" sz="2800"/>
              <a:t>书，恢复 </a:t>
            </a:r>
            <a:r>
              <a:rPr lang="en-US" altLang="zh-CN" sz="2800"/>
              <a:t>j </a:t>
            </a:r>
            <a:r>
              <a:rPr lang="zh-CN" altLang="en-US" sz="2800"/>
              <a:t>书尚未被选的标志，即 </a:t>
            </a:r>
            <a:r>
              <a:rPr lang="en-US" altLang="zh-CN" sz="2800"/>
              <a:t>book[ j ]= 0</a:t>
            </a:r>
            <a:r>
              <a:rPr lang="zh-CN" altLang="en-US" sz="2800"/>
              <a:t>。这是在已输出第 </a:t>
            </a:r>
            <a:r>
              <a:rPr lang="en-US" altLang="zh-CN" sz="2800"/>
              <a:t>n </a:t>
            </a:r>
            <a:r>
              <a:rPr lang="zh-CN" altLang="en-US" sz="2800"/>
              <a:t>个方案之后，去寻找下一个分书方案所必需的</a:t>
            </a:r>
            <a:endParaRPr lang="zh-CN" altLang="en-US" sz="2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ChangeArrowheads="1"/>
          </p:cNvSpPr>
          <p:nvPr>
            <p:ph type="body" idx="1"/>
          </p:nvPr>
        </p:nvSpPr>
        <p:spPr/>
        <p:txBody>
          <a:bodyPr/>
          <a:lstStyle/>
          <a:p>
            <a:r>
              <a:rPr lang="zh-CN" altLang="en-US" sz="3600" b="0" dirty="0">
                <a:effectLst/>
                <a:ea typeface="黑体" panose="02010609060101010101" pitchFamily="49" charset="-122"/>
              </a:rPr>
              <a:t>有了上述的与或图之后，我们很容易写出一个程序框图。先看被调用函数 </a:t>
            </a:r>
            <a:r>
              <a:rPr lang="en-US" altLang="zh-CN" sz="3600" dirty="0" err="1">
                <a:ea typeface="黑体" panose="02010609060101010101" pitchFamily="49" charset="-122"/>
              </a:rPr>
              <a:t>assignBook</a:t>
            </a:r>
            <a:r>
              <a:rPr lang="en-US" altLang="zh-CN" sz="3600" dirty="0">
                <a:ea typeface="黑体" panose="02010609060101010101" pitchFamily="49" charset="-122"/>
              </a:rPr>
              <a:t>(</a:t>
            </a:r>
            <a:r>
              <a:rPr lang="en-US" altLang="zh-CN" sz="3600" dirty="0" err="1">
                <a:ea typeface="黑体" panose="02010609060101010101" pitchFamily="49" charset="-122"/>
              </a:rPr>
              <a:t>i</a:t>
            </a:r>
            <a:r>
              <a:rPr lang="en-US" altLang="zh-CN" sz="3600" dirty="0">
                <a:ea typeface="黑体" panose="02010609060101010101" pitchFamily="49" charset="-122"/>
              </a:rPr>
              <a:t>) </a:t>
            </a:r>
            <a:r>
              <a:rPr lang="zh-CN" altLang="en-US" sz="3600" b="0" dirty="0">
                <a:effectLst/>
                <a:ea typeface="黑体" panose="02010609060101010101" pitchFamily="49" charset="-122"/>
              </a:rPr>
              <a:t>的框图。</a:t>
            </a:r>
            <a:endParaRPr lang="zh-CN" altLang="en-US" sz="3600" b="0" dirty="0">
              <a:effectLst/>
              <a:ea typeface="黑体"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0850" name="Object 2"/>
          <p:cNvGraphicFramePr>
            <a:graphicFrameLocks noChangeAspect="1"/>
          </p:cNvGraphicFramePr>
          <p:nvPr/>
        </p:nvGraphicFramePr>
        <p:xfrm>
          <a:off x="684213" y="0"/>
          <a:ext cx="7559675" cy="6569075"/>
        </p:xfrm>
        <a:graphic>
          <a:graphicData uri="http://schemas.openxmlformats.org/presentationml/2006/ole">
            <mc:AlternateContent xmlns:mc="http://schemas.openxmlformats.org/markup-compatibility/2006">
              <mc:Choice xmlns:v="urn:schemas-microsoft-com:vml" Requires="v">
                <p:oleObj spid="_x0000_s17787" name="Picture" r:id="rId1" imgW="18011775" imgH="15678150" progId="Word.Picture.8">
                  <p:embed/>
                </p:oleObj>
              </mc:Choice>
              <mc:Fallback>
                <p:oleObj name="Picture" r:id="rId1" imgW="18011775" imgH="15678150" progId="Word.Picture.8">
                  <p:embed/>
                  <p:pic>
                    <p:nvPicPr>
                      <p:cNvPr id="0" name="Object 2"/>
                      <p:cNvPicPr>
                        <a:picLocks noChangeAspect="1" noChangeArrowheads="1"/>
                      </p:cNvPicPr>
                      <p:nvPr/>
                    </p:nvPicPr>
                    <p:blipFill>
                      <a:blip r:embed="rId2"/>
                      <a:srcRect/>
                      <a:stretch>
                        <a:fillRect/>
                      </a:stretch>
                    </p:blipFill>
                    <p:spPr bwMode="auto">
                      <a:xfrm>
                        <a:off x="684213" y="0"/>
                        <a:ext cx="7559675" cy="656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0851" name="Oval 3"/>
          <p:cNvSpPr>
            <a:spLocks noChangeArrowheads="1"/>
          </p:cNvSpPr>
          <p:nvPr/>
        </p:nvSpPr>
        <p:spPr bwMode="auto">
          <a:xfrm>
            <a:off x="1908175" y="5300663"/>
            <a:ext cx="1368425" cy="433387"/>
          </a:xfrm>
          <a:prstGeom prst="ellipse">
            <a:avLst/>
          </a:prstGeom>
          <a:solidFill>
            <a:srgbClr val="FFFFFF">
              <a:alpha val="70000"/>
            </a:srgbClr>
          </a:solidFill>
          <a:ln w="28575" cap="sq">
            <a:solidFill>
              <a:schemeClr va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90852" name="Freeform 4"/>
          <p:cNvSpPr/>
          <p:nvPr/>
        </p:nvSpPr>
        <p:spPr bwMode="auto">
          <a:xfrm>
            <a:off x="3132138" y="5229225"/>
            <a:ext cx="719137" cy="228600"/>
          </a:xfrm>
          <a:custGeom>
            <a:avLst/>
            <a:gdLst>
              <a:gd name="T0" fmla="*/ 0 w 453"/>
              <a:gd name="T1" fmla="*/ 91 h 144"/>
              <a:gd name="T2" fmla="*/ 181 w 453"/>
              <a:gd name="T3" fmla="*/ 136 h 144"/>
              <a:gd name="T4" fmla="*/ 181 w 453"/>
              <a:gd name="T5" fmla="*/ 45 h 144"/>
              <a:gd name="T6" fmla="*/ 91 w 453"/>
              <a:gd name="T7" fmla="*/ 45 h 144"/>
              <a:gd name="T8" fmla="*/ 181 w 453"/>
              <a:gd name="T9" fmla="*/ 91 h 144"/>
              <a:gd name="T10" fmla="*/ 453 w 453"/>
              <a:gd name="T11" fmla="*/ 0 h 144"/>
            </a:gdLst>
            <a:ahLst/>
            <a:cxnLst>
              <a:cxn ang="0">
                <a:pos x="T0" y="T1"/>
              </a:cxn>
              <a:cxn ang="0">
                <a:pos x="T2" y="T3"/>
              </a:cxn>
              <a:cxn ang="0">
                <a:pos x="T4" y="T5"/>
              </a:cxn>
              <a:cxn ang="0">
                <a:pos x="T6" y="T7"/>
              </a:cxn>
              <a:cxn ang="0">
                <a:pos x="T8" y="T9"/>
              </a:cxn>
              <a:cxn ang="0">
                <a:pos x="T10" y="T11"/>
              </a:cxn>
            </a:cxnLst>
            <a:rect l="0" t="0" r="r" b="b"/>
            <a:pathLst>
              <a:path w="453" h="144">
                <a:moveTo>
                  <a:pt x="0" y="91"/>
                </a:moveTo>
                <a:cubicBezTo>
                  <a:pt x="75" y="117"/>
                  <a:pt x="151" y="144"/>
                  <a:pt x="181" y="136"/>
                </a:cubicBezTo>
                <a:cubicBezTo>
                  <a:pt x="211" y="128"/>
                  <a:pt x="196" y="60"/>
                  <a:pt x="181" y="45"/>
                </a:cubicBezTo>
                <a:cubicBezTo>
                  <a:pt x="166" y="30"/>
                  <a:pt x="91" y="37"/>
                  <a:pt x="91" y="45"/>
                </a:cubicBezTo>
                <a:cubicBezTo>
                  <a:pt x="91" y="53"/>
                  <a:pt x="121" y="98"/>
                  <a:pt x="181" y="91"/>
                </a:cubicBezTo>
                <a:cubicBezTo>
                  <a:pt x="241" y="84"/>
                  <a:pt x="408" y="15"/>
                  <a:pt x="453" y="0"/>
                </a:cubicBezTo>
              </a:path>
            </a:pathLst>
          </a:custGeom>
          <a:noFill/>
          <a:ln w="28575" cap="sq" cmpd="sng">
            <a:solidFill>
              <a:schemeClr val="hlink"/>
            </a:solidFill>
            <a:prstDash val="solid"/>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32000" y="385701"/>
            <a:ext cx="8280000" cy="505550"/>
          </a:xfrm>
        </p:spPr>
        <p:txBody>
          <a:bodyPr>
            <a:normAutofit/>
          </a:bodyPr>
          <a:lstStyle/>
          <a:p>
            <a:r>
              <a:rPr lang="zh-CN" altLang="en-US" sz="2800" dirty="0"/>
              <a:t>分书问题代码</a:t>
            </a:r>
            <a:endParaRPr lang="en-US" sz="2800" dirty="0"/>
          </a:p>
        </p:txBody>
      </p:sp>
      <p:pic>
        <p:nvPicPr>
          <p:cNvPr id="2" name="图片 1"/>
          <p:cNvPicPr>
            <a:picLocks noChangeAspect="1"/>
          </p:cNvPicPr>
          <p:nvPr/>
        </p:nvPicPr>
        <p:blipFill>
          <a:blip r:embed="rId1"/>
          <a:stretch>
            <a:fillRect/>
          </a:stretch>
        </p:blipFill>
        <p:spPr>
          <a:xfrm>
            <a:off x="697582" y="952018"/>
            <a:ext cx="6769089" cy="5732523"/>
          </a:xfrm>
          <a:prstGeom prst="rect">
            <a:avLst/>
          </a:prstGeom>
        </p:spPr>
      </p:pic>
      <p:pic>
        <p:nvPicPr>
          <p:cNvPr id="3" name="图片 2"/>
          <p:cNvPicPr>
            <a:picLocks noChangeAspect="1"/>
          </p:cNvPicPr>
          <p:nvPr/>
        </p:nvPicPr>
        <p:blipFill>
          <a:blip r:embed="rId2"/>
          <a:stretch>
            <a:fillRect/>
          </a:stretch>
        </p:blipFill>
        <p:spPr>
          <a:xfrm>
            <a:off x="4340506" y="261180"/>
            <a:ext cx="4525418" cy="126014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628650" y="1367998"/>
                <a:ext cx="7886700" cy="5013329"/>
              </a:xfrm>
            </p:spPr>
            <p:txBody>
              <a:bodyPr>
                <a:normAutofit/>
              </a:bodyPr>
              <a:lstStyle/>
              <a:p>
                <a:r>
                  <a:rPr lang="zh-CN" altLang="en-US" dirty="0"/>
                  <a:t>解空间</a:t>
                </a:r>
                <a:endParaRPr lang="en-US" altLang="zh-CN" dirty="0"/>
              </a:p>
              <a:p>
                <a:pPr lvl="1"/>
                <a:r>
                  <a:rPr lang="zh-CN" altLang="en-US" dirty="0"/>
                  <a:t>定义：所有可能的解组成的空间</a:t>
                </a:r>
                <a:endParaRPr lang="en-US" altLang="zh-CN" dirty="0"/>
              </a:p>
              <a:p>
                <a:pPr lvl="1"/>
                <a:r>
                  <a:rPr lang="zh-CN" altLang="en-US" dirty="0"/>
                  <a:t>规范化：将问题的解规范为一个</a:t>
                </a:r>
                <a:r>
                  <a:rPr lang="en-US" altLang="zh-CN" dirty="0"/>
                  <a:t>n</a:t>
                </a:r>
                <a:r>
                  <a:rPr lang="zh-CN" altLang="en-US" dirty="0"/>
                  <a:t>元组</a:t>
                </a:r>
                <a14:m>
                  <m:oMath xmlns:m="http://schemas.openxmlformats.org/officeDocument/2006/math">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a:rPr>
                              <m:t>𝑥</m:t>
                            </m:r>
                          </m:e>
                          <m:sub>
                            <m:r>
                              <a:rPr lang="en-US" altLang="zh-CN" i="1">
                                <a:latin typeface="Cambria Math" panose="02040503050406030204"/>
                              </a:rPr>
                              <m:t>1</m:t>
                            </m:r>
                          </m:sub>
                        </m:sSub>
                        <m:r>
                          <a:rPr lang="en-US" altLang="zh-CN" i="1">
                            <a:latin typeface="Cambria Math" panose="02040503050406030204"/>
                          </a:rPr>
                          <m:t>,</m:t>
                        </m:r>
                        <m:sSub>
                          <m:sSubPr>
                            <m:ctrlPr>
                              <a:rPr lang="en-US" altLang="zh-CN" i="1">
                                <a:latin typeface="Cambria Math" panose="02040503050406030204" pitchFamily="18" charset="0"/>
                              </a:rPr>
                            </m:ctrlPr>
                          </m:sSubPr>
                          <m:e>
                            <m:r>
                              <a:rPr lang="en-US" altLang="zh-CN" i="1">
                                <a:latin typeface="Cambria Math" panose="02040503050406030204"/>
                              </a:rPr>
                              <m:t>𝑥</m:t>
                            </m:r>
                          </m:e>
                          <m:sub>
                            <m:r>
                              <a:rPr lang="en-US" altLang="zh-CN" i="1">
                                <a:latin typeface="Cambria Math" panose="02040503050406030204"/>
                              </a:rPr>
                              <m:t>2</m:t>
                            </m:r>
                          </m:sub>
                        </m:sSub>
                        <m:r>
                          <a:rPr lang="en-US" altLang="zh-CN" i="1">
                            <a:latin typeface="Cambria Math" panose="02040503050406030204"/>
                          </a:rPr>
                          <m:t>,…</m:t>
                        </m:r>
                        <m:sSub>
                          <m:sSubPr>
                            <m:ctrlPr>
                              <a:rPr lang="en-US" altLang="zh-CN" i="1">
                                <a:latin typeface="Cambria Math" panose="02040503050406030204" pitchFamily="18" charset="0"/>
                              </a:rPr>
                            </m:ctrlPr>
                          </m:sSubPr>
                          <m:e>
                            <m:r>
                              <a:rPr lang="en-US" altLang="zh-CN" i="1">
                                <a:latin typeface="Cambria Math" panose="02040503050406030204"/>
                              </a:rPr>
                              <m:t>𝑥</m:t>
                            </m:r>
                          </m:e>
                          <m:sub>
                            <m:r>
                              <a:rPr lang="en-US" altLang="zh-CN" i="1">
                                <a:latin typeface="Cambria Math" panose="02040503050406030204"/>
                              </a:rPr>
                              <m:t>𝑛</m:t>
                            </m:r>
                          </m:sub>
                        </m:sSub>
                      </m:e>
                    </m:d>
                  </m:oMath>
                </a14:m>
                <a:endParaRPr lang="en-US" altLang="zh-CN" dirty="0"/>
              </a:p>
              <a:p>
                <a:pPr lvl="1"/>
                <a:r>
                  <a:rPr lang="zh-CN" altLang="en-US" dirty="0"/>
                  <a:t>解空间越小，搜索效率越高</a:t>
                </a:r>
                <a:endParaRPr lang="en-US" altLang="zh-CN" dirty="0"/>
              </a:p>
              <a:p>
                <a:r>
                  <a:rPr lang="zh-CN" altLang="en-US" dirty="0"/>
                  <a:t>问题的解</a:t>
                </a:r>
                <a:endParaRPr lang="en-US" altLang="zh-CN" dirty="0"/>
              </a:p>
              <a:p>
                <a:pPr lvl="1"/>
                <a:r>
                  <a:rPr lang="zh-CN" altLang="en-US" dirty="0">
                    <a:solidFill>
                      <a:srgbClr val="0070C0"/>
                    </a:solidFill>
                  </a:rPr>
                  <a:t>可行解</a:t>
                </a:r>
                <a:r>
                  <a:rPr lang="zh-CN" altLang="en-US" dirty="0"/>
                  <a:t>：满足约束条件的</a:t>
                </a:r>
                <a:r>
                  <a:rPr lang="en-US" altLang="zh-CN" dirty="0"/>
                  <a:t>n</a:t>
                </a:r>
                <a:r>
                  <a:rPr lang="zh-CN" altLang="en-US" dirty="0"/>
                  <a:t>元组</a:t>
                </a:r>
                <a:endParaRPr lang="en-US" altLang="zh-CN" dirty="0"/>
              </a:p>
              <a:p>
                <a:pPr lvl="1"/>
                <a:r>
                  <a:rPr lang="zh-CN" altLang="en-US" dirty="0">
                    <a:solidFill>
                      <a:srgbClr val="0070C0"/>
                    </a:solidFill>
                  </a:rPr>
                  <a:t>最优解</a:t>
                </a:r>
                <a:r>
                  <a:rPr lang="zh-CN" altLang="en-US" dirty="0"/>
                  <a:t>：在所有可行解中，找到一个使得评估函数值最优的解</a:t>
                </a:r>
                <a:endParaRPr lang="en-US" altLang="zh-CN" dirty="0"/>
              </a:p>
              <a:p>
                <a:r>
                  <a:rPr lang="zh-CN" altLang="en-US" dirty="0"/>
                  <a:t>约束条件</a:t>
                </a:r>
                <a:endParaRPr lang="en-US" altLang="zh-CN" dirty="0"/>
              </a:p>
              <a:p>
                <a:pPr lvl="1"/>
                <a:r>
                  <a:rPr lang="zh-CN" altLang="en-US" dirty="0">
                    <a:solidFill>
                      <a:srgbClr val="0070C0"/>
                    </a:solidFill>
                  </a:rPr>
                  <a:t>显约束</a:t>
                </a:r>
                <a:r>
                  <a:rPr lang="zh-CN" altLang="en-US" dirty="0"/>
                  <a:t>：对解分量的取值范围的限定</a:t>
                </a:r>
                <a:endParaRPr lang="en-US" altLang="zh-CN" dirty="0"/>
              </a:p>
              <a:p>
                <a:pPr lvl="1"/>
                <a:r>
                  <a:rPr lang="zh-CN" altLang="en-US" dirty="0">
                    <a:solidFill>
                      <a:srgbClr val="0070C0"/>
                    </a:solidFill>
                  </a:rPr>
                  <a:t>隐约束</a:t>
                </a:r>
                <a:r>
                  <a:rPr lang="zh-CN" altLang="en-US" dirty="0"/>
                  <a:t>：对能否得到问题的可行解或最优解做出的约束</a:t>
                </a:r>
                <a:endParaRPr lang="en-US" altLang="zh-CN" dirty="0"/>
              </a:p>
              <a:p>
                <a:pPr marL="334645" lvl="1" indent="0">
                  <a:buNone/>
                </a:pPr>
                <a:r>
                  <a:rPr lang="en-US" altLang="zh-CN" dirty="0"/>
                  <a:t>                (</a:t>
                </a:r>
                <a:r>
                  <a:rPr lang="zh-CN" altLang="en-US" dirty="0"/>
                  <a:t>分别称为</a:t>
                </a:r>
                <a:r>
                  <a:rPr lang="zh-CN" altLang="en-US" dirty="0">
                    <a:solidFill>
                      <a:srgbClr val="0070C0"/>
                    </a:solidFill>
                  </a:rPr>
                  <a:t>可行性隐约束</a:t>
                </a:r>
                <a:r>
                  <a:rPr lang="zh-CN" altLang="en-US" dirty="0"/>
                  <a:t>和</a:t>
                </a:r>
                <a:r>
                  <a:rPr lang="zh-CN" altLang="en-US" dirty="0">
                    <a:solidFill>
                      <a:srgbClr val="0070C0"/>
                    </a:solidFill>
                  </a:rPr>
                  <a:t>最优化隐约束</a:t>
                </a:r>
                <a:r>
                  <a:rPr lang="zh-CN" altLang="en-US" dirty="0"/>
                  <a:t>）</a:t>
                </a:r>
                <a:endParaRPr lang="en-US" altLang="zh-CN" dirty="0"/>
              </a:p>
              <a:p>
                <a:pPr lvl="2"/>
                <a:endParaRPr lang="en-US" altLang="zh-CN"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628650" y="1367998"/>
                <a:ext cx="7886700" cy="5013329"/>
              </a:xfrm>
              <a:blipFill rotWithShape="1">
                <a:blip r:embed="rId1"/>
                <a:stretch>
                  <a:fillRect t="-4" b="-3200"/>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搜索问题概述</a:t>
            </a:r>
            <a:endParaRPr lang="zh-CN" altLang="en-US" dirty="0"/>
          </a:p>
        </p:txBody>
      </p:sp>
      <p:pic>
        <p:nvPicPr>
          <p:cNvPr id="18434" name="Picture 2" descr="毕业设计-基于MATLAB的最短路径算法分析_matlab最短路径-CSDN博客"/>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6937" y="1605834"/>
            <a:ext cx="7848600" cy="3343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搜索问题概述</a:t>
            </a:r>
            <a:endParaRPr lang="zh-CN" altLang="en-US" dirty="0"/>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l="24374" t="17999" r="42500" b="40001"/>
          <a:stretch>
            <a:fillRect/>
          </a:stretch>
        </p:blipFill>
        <p:spPr bwMode="auto">
          <a:xfrm>
            <a:off x="1279170" y="4188968"/>
            <a:ext cx="3362525"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2" name="组合 1"/>
          <p:cNvGrpSpPr/>
          <p:nvPr/>
        </p:nvGrpSpPr>
        <p:grpSpPr>
          <a:xfrm>
            <a:off x="5530155" y="4188968"/>
            <a:ext cx="3362325" cy="2667000"/>
            <a:chOff x="5313933" y="4334979"/>
            <a:chExt cx="3362325" cy="2667000"/>
          </a:xfrm>
        </p:grpSpPr>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3933" y="4334979"/>
              <a:ext cx="3362325"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025227" y="5154488"/>
              <a:ext cx="314510" cy="369332"/>
            </a:xfrm>
            <a:prstGeom prst="rect">
              <a:avLst/>
            </a:prstGeom>
            <a:noFill/>
          </p:spPr>
          <p:txBody>
            <a:bodyPr wrap="none" rtlCol="0">
              <a:spAutoFit/>
            </a:bodyPr>
            <a:lstStyle/>
            <a:p>
              <a:r>
                <a:rPr lang="en-US" altLang="zh-CN" b="1" dirty="0">
                  <a:solidFill>
                    <a:srgbClr val="FF0000"/>
                  </a:solidFill>
                </a:rPr>
                <a:t>A</a:t>
              </a:r>
              <a:endParaRPr lang="zh-CN" altLang="en-US" b="1" dirty="0">
                <a:solidFill>
                  <a:srgbClr val="FF0000"/>
                </a:solidFill>
              </a:endParaRPr>
            </a:p>
          </p:txBody>
        </p:sp>
        <p:sp>
          <p:nvSpPr>
            <p:cNvPr id="8" name="TextBox 7"/>
            <p:cNvSpPr txBox="1"/>
            <p:nvPr/>
          </p:nvSpPr>
          <p:spPr>
            <a:xfrm>
              <a:off x="7654933" y="5154488"/>
              <a:ext cx="314510" cy="369332"/>
            </a:xfrm>
            <a:prstGeom prst="rect">
              <a:avLst/>
            </a:prstGeom>
            <a:noFill/>
          </p:spPr>
          <p:txBody>
            <a:bodyPr wrap="none" rtlCol="0">
              <a:spAutoFit/>
            </a:bodyPr>
            <a:lstStyle/>
            <a:p>
              <a:r>
                <a:rPr lang="en-US" altLang="zh-CN" b="1" dirty="0">
                  <a:solidFill>
                    <a:srgbClr val="FF0000"/>
                  </a:solidFill>
                </a:rPr>
                <a:t>C</a:t>
              </a:r>
              <a:endParaRPr lang="zh-CN" altLang="en-US" b="1" dirty="0">
                <a:solidFill>
                  <a:srgbClr val="FF0000"/>
                </a:solidFill>
              </a:endParaRPr>
            </a:p>
          </p:txBody>
        </p:sp>
        <p:sp>
          <p:nvSpPr>
            <p:cNvPr id="9" name="TextBox 8"/>
            <p:cNvSpPr txBox="1"/>
            <p:nvPr/>
          </p:nvSpPr>
          <p:spPr>
            <a:xfrm>
              <a:off x="6817315" y="5154488"/>
              <a:ext cx="314510" cy="369332"/>
            </a:xfrm>
            <a:prstGeom prst="rect">
              <a:avLst/>
            </a:prstGeom>
            <a:noFill/>
          </p:spPr>
          <p:txBody>
            <a:bodyPr wrap="none" rtlCol="0">
              <a:spAutoFit/>
            </a:bodyPr>
            <a:lstStyle/>
            <a:p>
              <a:r>
                <a:rPr lang="en-US" altLang="zh-CN" b="1" dirty="0">
                  <a:solidFill>
                    <a:srgbClr val="FF0000"/>
                  </a:solidFill>
                </a:rPr>
                <a:t>B</a:t>
              </a:r>
              <a:endParaRPr lang="zh-CN" altLang="en-US" b="1" dirty="0">
                <a:solidFill>
                  <a:srgbClr val="FF0000"/>
                </a:solidFill>
              </a:endParaRPr>
            </a:p>
          </p:txBody>
        </p:sp>
      </p:grpSp>
      <p:sp>
        <p:nvSpPr>
          <p:cNvPr id="7" name="TextBox 6"/>
          <p:cNvSpPr txBox="1"/>
          <p:nvPr/>
        </p:nvSpPr>
        <p:spPr>
          <a:xfrm>
            <a:off x="251520" y="4713148"/>
            <a:ext cx="954107" cy="323165"/>
          </a:xfrm>
          <a:prstGeom prst="rect">
            <a:avLst/>
          </a:prstGeom>
          <a:noFill/>
        </p:spPr>
        <p:txBody>
          <a:bodyPr wrap="none" rtlCol="0">
            <a:spAutoFit/>
          </a:bodyPr>
          <a:lstStyle/>
          <a:p>
            <a:r>
              <a:rPr lang="zh-CN" altLang="en-US" sz="1500" dirty="0"/>
              <a:t>解空间树</a:t>
            </a:r>
            <a:endParaRPr lang="zh-CN" altLang="en-US" sz="1500" dirty="0"/>
          </a:p>
        </p:txBody>
      </p:sp>
      <p:sp>
        <p:nvSpPr>
          <p:cNvPr id="11" name="TextBox 10"/>
          <p:cNvSpPr txBox="1"/>
          <p:nvPr/>
        </p:nvSpPr>
        <p:spPr>
          <a:xfrm>
            <a:off x="5322421" y="4690011"/>
            <a:ext cx="761747" cy="323165"/>
          </a:xfrm>
          <a:prstGeom prst="rect">
            <a:avLst/>
          </a:prstGeom>
          <a:noFill/>
        </p:spPr>
        <p:txBody>
          <a:bodyPr wrap="none" rtlCol="0">
            <a:spAutoFit/>
          </a:bodyPr>
          <a:lstStyle/>
          <a:p>
            <a:r>
              <a:rPr lang="zh-CN" altLang="en-US" sz="1500" dirty="0"/>
              <a:t>搜索树</a:t>
            </a:r>
            <a:endParaRPr lang="zh-CN" altLang="en-US" sz="1500" dirty="0"/>
          </a:p>
        </p:txBody>
      </p:sp>
      <p:sp>
        <p:nvSpPr>
          <p:cNvPr id="13" name="内容占位符 1"/>
          <p:cNvSpPr>
            <a:spLocks noGrp="1"/>
          </p:cNvSpPr>
          <p:nvPr>
            <p:ph idx="1"/>
          </p:nvPr>
        </p:nvSpPr>
        <p:spPr>
          <a:xfrm>
            <a:off x="432000" y="1331650"/>
            <a:ext cx="8280000" cy="4764163"/>
          </a:xfrm>
        </p:spPr>
        <p:txBody>
          <a:bodyPr/>
          <a:lstStyle/>
          <a:p>
            <a:r>
              <a:rPr lang="zh-CN" altLang="en-US" sz="1700" dirty="0"/>
              <a:t>解空间树与搜索树</a:t>
            </a:r>
            <a:endParaRPr lang="en-US" altLang="zh-CN" sz="1700" dirty="0"/>
          </a:p>
          <a:p>
            <a:pPr lvl="1"/>
            <a:r>
              <a:rPr lang="zh-CN" altLang="en-US" sz="1400" dirty="0"/>
              <a:t>解空间树：依据待解决问题的特性，用树结构表示问题的解空间结构</a:t>
            </a:r>
            <a:endParaRPr lang="en-US" altLang="zh-CN" sz="1400" dirty="0"/>
          </a:p>
          <a:p>
            <a:pPr lvl="1"/>
            <a:r>
              <a:rPr lang="zh-CN" altLang="en-US" sz="1400" dirty="0"/>
              <a:t>搜索树：遍历解空间树过程中产生的子树</a:t>
            </a:r>
            <a:endParaRPr lang="en-US" altLang="zh-CN" sz="1400" dirty="0"/>
          </a:p>
          <a:p>
            <a:r>
              <a:rPr lang="zh-CN" altLang="en-US" sz="1700" dirty="0"/>
              <a:t>结点</a:t>
            </a:r>
            <a:endParaRPr lang="en-US" altLang="zh-CN" sz="1700" dirty="0"/>
          </a:p>
          <a:p>
            <a:pPr lvl="1"/>
            <a:r>
              <a:rPr lang="zh-CN" altLang="en-US" sz="1400" dirty="0"/>
              <a:t>扩展结点：正在生成孩子的结点（如</a:t>
            </a:r>
            <a:r>
              <a:rPr lang="en-US" altLang="zh-CN" sz="1400" dirty="0"/>
              <a:t>B</a:t>
            </a:r>
            <a:r>
              <a:rPr lang="zh-CN" altLang="en-US" sz="1400" dirty="0"/>
              <a:t>结点）</a:t>
            </a:r>
            <a:endParaRPr lang="en-US" altLang="zh-CN" sz="1400" dirty="0"/>
          </a:p>
          <a:p>
            <a:pPr lvl="1"/>
            <a:r>
              <a:rPr lang="zh-CN" altLang="en-US" sz="1400" dirty="0"/>
              <a:t>活结点：自身已生成，但孩子还没有全部生成的结点（如</a:t>
            </a:r>
            <a:r>
              <a:rPr lang="en-US" altLang="zh-CN" sz="1400" dirty="0"/>
              <a:t>C</a:t>
            </a:r>
            <a:r>
              <a:rPr lang="zh-CN" altLang="en-US" sz="1400" dirty="0"/>
              <a:t>结点）</a:t>
            </a:r>
            <a:endParaRPr lang="en-US" altLang="zh-CN" sz="1400" dirty="0"/>
          </a:p>
          <a:p>
            <a:pPr lvl="1"/>
            <a:r>
              <a:rPr lang="zh-CN" altLang="en-US" sz="1400" dirty="0"/>
              <a:t>死结点：所有孩子都已经生成的结点（如</a:t>
            </a:r>
            <a:r>
              <a:rPr lang="en-US" altLang="zh-CN" sz="1400" dirty="0"/>
              <a:t>A</a:t>
            </a:r>
            <a:r>
              <a:rPr lang="zh-CN" altLang="en-US" sz="1400" dirty="0"/>
              <a:t>结点）</a:t>
            </a:r>
            <a:endParaRPr lang="en-US" altLang="zh-CN" sz="1400" dirty="0"/>
          </a:p>
          <a:p>
            <a:pPr lvl="1"/>
            <a:r>
              <a:rPr lang="zh-CN" altLang="en-US" sz="1400" dirty="0"/>
              <a:t>子孙结点：结点</a:t>
            </a:r>
            <a:r>
              <a:rPr lang="en-US" altLang="zh-CN" sz="1400" dirty="0"/>
              <a:t>B</a:t>
            </a:r>
            <a:r>
              <a:rPr lang="zh-CN" altLang="en-US" sz="1400" dirty="0"/>
              <a:t>的子树上所有结点都是</a:t>
            </a:r>
            <a:r>
              <a:rPr lang="en-US" altLang="zh-CN" sz="1400" dirty="0"/>
              <a:t>B</a:t>
            </a:r>
            <a:r>
              <a:rPr lang="zh-CN" altLang="en-US" sz="1400" dirty="0"/>
              <a:t>的子孙</a:t>
            </a:r>
            <a:endParaRPr lang="en-US" altLang="zh-CN" sz="1400" dirty="0"/>
          </a:p>
          <a:p>
            <a:pPr lvl="1"/>
            <a:r>
              <a:rPr lang="zh-CN" altLang="en-US" sz="1400" dirty="0"/>
              <a:t>祖先结点：从结点</a:t>
            </a:r>
            <a:r>
              <a:rPr lang="en-US" altLang="zh-CN" sz="1400" dirty="0"/>
              <a:t>B</a:t>
            </a:r>
            <a:r>
              <a:rPr lang="zh-CN" altLang="en-US" sz="1400" dirty="0"/>
              <a:t>到树根路径上的所有结点都是</a:t>
            </a:r>
            <a:r>
              <a:rPr lang="en-US" altLang="zh-CN" sz="1400" dirty="0"/>
              <a:t>B</a:t>
            </a:r>
            <a:r>
              <a:rPr lang="zh-CN" altLang="en-US" sz="1400" dirty="0"/>
              <a:t>的祖先</a:t>
            </a:r>
            <a:endParaRPr lang="zh-CN" alt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搜索策略：产生新状态的系统化方式</a:t>
            </a:r>
            <a:endParaRPr lang="en-US" altLang="zh-CN" dirty="0"/>
          </a:p>
          <a:p>
            <a:endParaRPr lang="en-US" altLang="zh-CN" dirty="0"/>
          </a:p>
          <a:p>
            <a:endParaRPr lang="en-US" altLang="zh-CN" dirty="0"/>
          </a:p>
        </p:txBody>
      </p:sp>
      <p:sp>
        <p:nvSpPr>
          <p:cNvPr id="3" name="标题 2"/>
          <p:cNvSpPr>
            <a:spLocks noGrp="1"/>
          </p:cNvSpPr>
          <p:nvPr>
            <p:ph type="title"/>
          </p:nvPr>
        </p:nvSpPr>
        <p:spPr/>
        <p:txBody>
          <a:bodyPr/>
          <a:lstStyle/>
          <a:p>
            <a:r>
              <a:rPr lang="zh-CN" altLang="en-US" dirty="0"/>
              <a:t>搜索策略</a:t>
            </a:r>
            <a:endParaRPr lang="zh-CN" altLang="en-US" dirty="0"/>
          </a:p>
        </p:txBody>
      </p:sp>
      <p:sp>
        <p:nvSpPr>
          <p:cNvPr id="67" name="椭圆 66"/>
          <p:cNvSpPr/>
          <p:nvPr/>
        </p:nvSpPr>
        <p:spPr>
          <a:xfrm>
            <a:off x="1828783" y="2202324"/>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cxnSp>
        <p:nvCxnSpPr>
          <p:cNvPr id="68" name="直接连接符 67"/>
          <p:cNvCxnSpPr>
            <a:stCxn id="67" idx="3"/>
          </p:cNvCxnSpPr>
          <p:nvPr/>
        </p:nvCxnSpPr>
        <p:spPr>
          <a:xfrm flipH="1">
            <a:off x="1115616" y="2571100"/>
            <a:ext cx="776439" cy="672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2044807" y="2645450"/>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7" idx="5"/>
            <a:endCxn id="73" idx="0"/>
          </p:cNvCxnSpPr>
          <p:nvPr/>
        </p:nvCxnSpPr>
        <p:spPr>
          <a:xfrm>
            <a:off x="2197559" y="2571100"/>
            <a:ext cx="1021005" cy="674508"/>
          </a:xfrm>
          <a:prstGeom prst="line">
            <a:avLst/>
          </a:prstGeom>
        </p:spPr>
        <p:style>
          <a:lnRef idx="1">
            <a:schemeClr val="accent1"/>
          </a:lnRef>
          <a:fillRef idx="0">
            <a:schemeClr val="accent1"/>
          </a:fillRef>
          <a:effectRef idx="0">
            <a:schemeClr val="accent1"/>
          </a:effectRef>
          <a:fontRef idx="minor">
            <a:schemeClr val="tx1"/>
          </a:fontRef>
        </p:style>
      </p:cxnSp>
      <p:sp>
        <p:nvSpPr>
          <p:cNvPr id="71" name="椭圆 70"/>
          <p:cNvSpPr/>
          <p:nvPr/>
        </p:nvSpPr>
        <p:spPr>
          <a:xfrm>
            <a:off x="844118" y="3243872"/>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72" name="椭圆 71"/>
          <p:cNvSpPr/>
          <p:nvPr/>
        </p:nvSpPr>
        <p:spPr>
          <a:xfrm>
            <a:off x="1831350"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7</a:t>
            </a:r>
            <a:endParaRPr lang="zh-CN" altLang="en-US" dirty="0"/>
          </a:p>
        </p:txBody>
      </p:sp>
      <p:sp>
        <p:nvSpPr>
          <p:cNvPr id="73" name="椭圆 72"/>
          <p:cNvSpPr/>
          <p:nvPr/>
        </p:nvSpPr>
        <p:spPr>
          <a:xfrm>
            <a:off x="3002540"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12</a:t>
            </a:r>
            <a:endParaRPr lang="zh-CN" altLang="en-US" dirty="0"/>
          </a:p>
        </p:txBody>
      </p:sp>
      <p:cxnSp>
        <p:nvCxnSpPr>
          <p:cNvPr id="74" name="直接连接符 73"/>
          <p:cNvCxnSpPr>
            <a:stCxn id="71" idx="3"/>
          </p:cNvCxnSpPr>
          <p:nvPr/>
        </p:nvCxnSpPr>
        <p:spPr>
          <a:xfrm flipH="1">
            <a:off x="755577" y="3612648"/>
            <a:ext cx="151813" cy="736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71" idx="5"/>
          </p:cNvCxnSpPr>
          <p:nvPr/>
        </p:nvCxnSpPr>
        <p:spPr>
          <a:xfrm>
            <a:off x="1212894" y="3612648"/>
            <a:ext cx="23065" cy="736044"/>
          </a:xfrm>
          <a:prstGeom prst="line">
            <a:avLst/>
          </a:prstGeom>
        </p:spPr>
        <p:style>
          <a:lnRef idx="1">
            <a:schemeClr val="accent1"/>
          </a:lnRef>
          <a:fillRef idx="0">
            <a:schemeClr val="accent1"/>
          </a:fillRef>
          <a:effectRef idx="0">
            <a:schemeClr val="accent1"/>
          </a:effectRef>
          <a:fontRef idx="minor">
            <a:schemeClr val="tx1"/>
          </a:fontRef>
        </p:style>
      </p:cxnSp>
      <p:sp>
        <p:nvSpPr>
          <p:cNvPr id="76" name="椭圆 75"/>
          <p:cNvSpPr/>
          <p:nvPr/>
        </p:nvSpPr>
        <p:spPr>
          <a:xfrm>
            <a:off x="517701" y="4296761"/>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77" name="椭圆 76"/>
          <p:cNvSpPr/>
          <p:nvPr/>
        </p:nvSpPr>
        <p:spPr>
          <a:xfrm>
            <a:off x="1058650"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cxnSp>
        <p:nvCxnSpPr>
          <p:cNvPr id="78" name="直接连接符 77"/>
          <p:cNvCxnSpPr>
            <a:stCxn id="76" idx="4"/>
            <a:endCxn id="80" idx="0"/>
          </p:cNvCxnSpPr>
          <p:nvPr/>
        </p:nvCxnSpPr>
        <p:spPr>
          <a:xfrm>
            <a:off x="733725" y="4728809"/>
            <a:ext cx="699" cy="57082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77" idx="4"/>
            <a:endCxn id="81" idx="0"/>
          </p:cNvCxnSpPr>
          <p:nvPr/>
        </p:nvCxnSpPr>
        <p:spPr>
          <a:xfrm flipH="1">
            <a:off x="1274424" y="4728856"/>
            <a:ext cx="250"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80" name="椭圆 79"/>
          <p:cNvSpPr/>
          <p:nvPr/>
        </p:nvSpPr>
        <p:spPr>
          <a:xfrm>
            <a:off x="518400" y="5299634"/>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81" name="椭圆 80"/>
          <p:cNvSpPr/>
          <p:nvPr/>
        </p:nvSpPr>
        <p:spPr>
          <a:xfrm>
            <a:off x="10584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cxnSp>
        <p:nvCxnSpPr>
          <p:cNvPr id="82" name="直接连接符 81"/>
          <p:cNvCxnSpPr>
            <a:stCxn id="72" idx="3"/>
          </p:cNvCxnSpPr>
          <p:nvPr/>
        </p:nvCxnSpPr>
        <p:spPr>
          <a:xfrm flipH="1">
            <a:off x="1809417" y="3614384"/>
            <a:ext cx="85205" cy="778087"/>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接连接符 82"/>
          <p:cNvCxnSpPr>
            <a:stCxn id="72" idx="5"/>
          </p:cNvCxnSpPr>
          <p:nvPr/>
        </p:nvCxnSpPr>
        <p:spPr>
          <a:xfrm>
            <a:off x="2200126" y="3614384"/>
            <a:ext cx="89673" cy="778087"/>
          </a:xfrm>
          <a:prstGeom prst="line">
            <a:avLst/>
          </a:prstGeom>
        </p:spPr>
        <p:style>
          <a:lnRef idx="1">
            <a:schemeClr val="accent1"/>
          </a:lnRef>
          <a:fillRef idx="0">
            <a:schemeClr val="accent1"/>
          </a:fillRef>
          <a:effectRef idx="0">
            <a:schemeClr val="accent1"/>
          </a:effectRef>
          <a:fontRef idx="minor">
            <a:schemeClr val="tx1"/>
          </a:fontRef>
        </p:style>
      </p:cxnSp>
      <p:sp>
        <p:nvSpPr>
          <p:cNvPr id="84" name="椭圆 83"/>
          <p:cNvSpPr/>
          <p:nvPr/>
        </p:nvSpPr>
        <p:spPr>
          <a:xfrm>
            <a:off x="1571541"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sp>
        <p:nvSpPr>
          <p:cNvPr id="85" name="椭圆 84"/>
          <p:cNvSpPr/>
          <p:nvPr/>
        </p:nvSpPr>
        <p:spPr>
          <a:xfrm>
            <a:off x="2112490"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10</a:t>
            </a:r>
            <a:endParaRPr lang="zh-CN" altLang="en-US" dirty="0"/>
          </a:p>
        </p:txBody>
      </p:sp>
      <p:cxnSp>
        <p:nvCxnSpPr>
          <p:cNvPr id="86" name="直接连接符 85"/>
          <p:cNvCxnSpPr>
            <a:stCxn id="84" idx="4"/>
          </p:cNvCxnSpPr>
          <p:nvPr/>
        </p:nvCxnSpPr>
        <p:spPr>
          <a:xfrm flipH="1">
            <a:off x="1785517" y="4728856"/>
            <a:ext cx="2048" cy="57077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85" idx="4"/>
            <a:endCxn id="89" idx="0"/>
          </p:cNvCxnSpPr>
          <p:nvPr/>
        </p:nvCxnSpPr>
        <p:spPr>
          <a:xfrm>
            <a:off x="2328514" y="4728856"/>
            <a:ext cx="710"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88" name="椭圆 87"/>
          <p:cNvSpPr/>
          <p:nvPr/>
        </p:nvSpPr>
        <p:spPr>
          <a:xfrm>
            <a:off x="15732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9</a:t>
            </a:r>
            <a:endParaRPr lang="zh-CN" altLang="en-US" dirty="0"/>
          </a:p>
        </p:txBody>
      </p:sp>
      <p:sp>
        <p:nvSpPr>
          <p:cNvPr id="89" name="椭圆 88"/>
          <p:cNvSpPr/>
          <p:nvPr/>
        </p:nvSpPr>
        <p:spPr>
          <a:xfrm>
            <a:off x="21132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11</a:t>
            </a:r>
            <a:endParaRPr lang="zh-CN" altLang="en-US" dirty="0"/>
          </a:p>
        </p:txBody>
      </p:sp>
      <p:cxnSp>
        <p:nvCxnSpPr>
          <p:cNvPr id="90" name="直接连接符 89"/>
          <p:cNvCxnSpPr/>
          <p:nvPr/>
        </p:nvCxnSpPr>
        <p:spPr>
          <a:xfrm flipH="1">
            <a:off x="2976139" y="3674214"/>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直接连接符 90"/>
          <p:cNvCxnSpPr>
            <a:stCxn id="73" idx="5"/>
            <a:endCxn id="93" idx="0"/>
          </p:cNvCxnSpPr>
          <p:nvPr/>
        </p:nvCxnSpPr>
        <p:spPr>
          <a:xfrm>
            <a:off x="3371316" y="3614384"/>
            <a:ext cx="123921" cy="682424"/>
          </a:xfrm>
          <a:prstGeom prst="line">
            <a:avLst/>
          </a:prstGeom>
        </p:spPr>
        <p:style>
          <a:lnRef idx="1">
            <a:schemeClr val="accent1"/>
          </a:lnRef>
          <a:fillRef idx="0">
            <a:schemeClr val="accent1"/>
          </a:fillRef>
          <a:effectRef idx="0">
            <a:schemeClr val="accent1"/>
          </a:effectRef>
          <a:fontRef idx="minor">
            <a:schemeClr val="tx1"/>
          </a:fontRef>
        </p:style>
      </p:cxnSp>
      <p:sp>
        <p:nvSpPr>
          <p:cNvPr id="92" name="椭圆 91"/>
          <p:cNvSpPr/>
          <p:nvPr/>
        </p:nvSpPr>
        <p:spPr>
          <a:xfrm>
            <a:off x="2738264"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13</a:t>
            </a:r>
            <a:endParaRPr lang="zh-CN" altLang="en-US" dirty="0"/>
          </a:p>
        </p:txBody>
      </p:sp>
      <p:sp>
        <p:nvSpPr>
          <p:cNvPr id="93" name="椭圆 92"/>
          <p:cNvSpPr/>
          <p:nvPr/>
        </p:nvSpPr>
        <p:spPr>
          <a:xfrm>
            <a:off x="3279213"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15</a:t>
            </a:r>
            <a:endParaRPr lang="zh-CN" altLang="en-US" dirty="0"/>
          </a:p>
        </p:txBody>
      </p:sp>
      <p:cxnSp>
        <p:nvCxnSpPr>
          <p:cNvPr id="94" name="直接连接符 93"/>
          <p:cNvCxnSpPr>
            <a:stCxn id="92" idx="4"/>
            <a:endCxn id="96" idx="0"/>
          </p:cNvCxnSpPr>
          <p:nvPr/>
        </p:nvCxnSpPr>
        <p:spPr>
          <a:xfrm>
            <a:off x="2954288" y="4728856"/>
            <a:ext cx="1336" cy="57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直接连接符 94"/>
          <p:cNvCxnSpPr>
            <a:stCxn id="93" idx="4"/>
            <a:endCxn id="97" idx="0"/>
          </p:cNvCxnSpPr>
          <p:nvPr/>
        </p:nvCxnSpPr>
        <p:spPr>
          <a:xfrm>
            <a:off x="3495237" y="4728856"/>
            <a:ext cx="387"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96" name="椭圆 95"/>
          <p:cNvSpPr/>
          <p:nvPr/>
        </p:nvSpPr>
        <p:spPr>
          <a:xfrm>
            <a:off x="2739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14</a:t>
            </a:r>
            <a:endParaRPr lang="zh-CN" altLang="en-US" dirty="0"/>
          </a:p>
        </p:txBody>
      </p:sp>
      <p:sp>
        <p:nvSpPr>
          <p:cNvPr id="97" name="椭圆 96"/>
          <p:cNvSpPr/>
          <p:nvPr/>
        </p:nvSpPr>
        <p:spPr>
          <a:xfrm>
            <a:off x="3279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16</a:t>
            </a:r>
            <a:endParaRPr lang="zh-CN" altLang="en-US" dirty="0"/>
          </a:p>
        </p:txBody>
      </p:sp>
      <p:sp>
        <p:nvSpPr>
          <p:cNvPr id="98" name="椭圆 97"/>
          <p:cNvSpPr/>
          <p:nvPr/>
        </p:nvSpPr>
        <p:spPr>
          <a:xfrm>
            <a:off x="6228184" y="2201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cxnSp>
        <p:nvCxnSpPr>
          <p:cNvPr id="99" name="直接连接符 98"/>
          <p:cNvCxnSpPr>
            <a:stCxn id="98" idx="3"/>
            <a:endCxn id="102" idx="0"/>
          </p:cNvCxnSpPr>
          <p:nvPr/>
        </p:nvCxnSpPr>
        <p:spPr>
          <a:xfrm flipH="1">
            <a:off x="5459543" y="2570384"/>
            <a:ext cx="831913" cy="6752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6444208" y="2633995"/>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直接连接符 100"/>
          <p:cNvCxnSpPr>
            <a:stCxn id="98" idx="5"/>
            <a:endCxn id="104" idx="1"/>
          </p:cNvCxnSpPr>
          <p:nvPr/>
        </p:nvCxnSpPr>
        <p:spPr>
          <a:xfrm>
            <a:off x="6596960" y="2570384"/>
            <a:ext cx="868253" cy="738496"/>
          </a:xfrm>
          <a:prstGeom prst="line">
            <a:avLst/>
          </a:prstGeom>
        </p:spPr>
        <p:style>
          <a:lnRef idx="1">
            <a:schemeClr val="accent1"/>
          </a:lnRef>
          <a:fillRef idx="0">
            <a:schemeClr val="accent1"/>
          </a:fillRef>
          <a:effectRef idx="0">
            <a:schemeClr val="accent1"/>
          </a:effectRef>
          <a:fontRef idx="minor">
            <a:schemeClr val="tx1"/>
          </a:fontRef>
        </p:style>
      </p:cxnSp>
      <p:sp>
        <p:nvSpPr>
          <p:cNvPr id="102" name="椭圆 101"/>
          <p:cNvSpPr/>
          <p:nvPr/>
        </p:nvSpPr>
        <p:spPr>
          <a:xfrm>
            <a:off x="5243519"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03" name="椭圆 102"/>
          <p:cNvSpPr/>
          <p:nvPr/>
        </p:nvSpPr>
        <p:spPr>
          <a:xfrm>
            <a:off x="6230751"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04" name="椭圆 103"/>
          <p:cNvSpPr/>
          <p:nvPr/>
        </p:nvSpPr>
        <p:spPr>
          <a:xfrm>
            <a:off x="7401941"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cxnSp>
        <p:nvCxnSpPr>
          <p:cNvPr id="105" name="直接连接符 104"/>
          <p:cNvCxnSpPr/>
          <p:nvPr/>
        </p:nvCxnSpPr>
        <p:spPr>
          <a:xfrm flipH="1">
            <a:off x="5154977" y="3554260"/>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5539228" y="3646372"/>
            <a:ext cx="96132" cy="690865"/>
          </a:xfrm>
          <a:prstGeom prst="line">
            <a:avLst/>
          </a:prstGeom>
        </p:spPr>
        <p:style>
          <a:lnRef idx="1">
            <a:schemeClr val="accent1"/>
          </a:lnRef>
          <a:fillRef idx="0">
            <a:schemeClr val="accent1"/>
          </a:fillRef>
          <a:effectRef idx="0">
            <a:schemeClr val="accent1"/>
          </a:effectRef>
          <a:fontRef idx="minor">
            <a:schemeClr val="tx1"/>
          </a:fontRef>
        </p:style>
      </p:cxnSp>
      <p:sp>
        <p:nvSpPr>
          <p:cNvPr id="107" name="椭圆 106"/>
          <p:cNvSpPr/>
          <p:nvPr/>
        </p:nvSpPr>
        <p:spPr>
          <a:xfrm>
            <a:off x="4917102"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108" name="椭圆 107"/>
          <p:cNvSpPr/>
          <p:nvPr/>
        </p:nvSpPr>
        <p:spPr>
          <a:xfrm>
            <a:off x="5458051"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cxnSp>
        <p:nvCxnSpPr>
          <p:cNvPr id="109" name="直接连接符 108"/>
          <p:cNvCxnSpPr/>
          <p:nvPr/>
        </p:nvCxnSpPr>
        <p:spPr>
          <a:xfrm flipH="1">
            <a:off x="5133125" y="4655166"/>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5674076" y="4745760"/>
            <a:ext cx="1" cy="574701"/>
          </a:xfrm>
          <a:prstGeom prst="line">
            <a:avLst/>
          </a:prstGeom>
        </p:spPr>
        <p:style>
          <a:lnRef idx="1">
            <a:schemeClr val="accent1"/>
          </a:lnRef>
          <a:fillRef idx="0">
            <a:schemeClr val="accent1"/>
          </a:fillRef>
          <a:effectRef idx="0">
            <a:schemeClr val="accent1"/>
          </a:effectRef>
          <a:fontRef idx="minor">
            <a:schemeClr val="tx1"/>
          </a:fontRef>
        </p:style>
      </p:cxnSp>
      <p:sp>
        <p:nvSpPr>
          <p:cNvPr id="111" name="椭圆 110"/>
          <p:cNvSpPr/>
          <p:nvPr/>
        </p:nvSpPr>
        <p:spPr>
          <a:xfrm>
            <a:off x="4917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11</a:t>
            </a:r>
            <a:endParaRPr lang="zh-CN" altLang="en-US" dirty="0"/>
          </a:p>
        </p:txBody>
      </p:sp>
      <p:sp>
        <p:nvSpPr>
          <p:cNvPr id="112" name="椭圆 111"/>
          <p:cNvSpPr/>
          <p:nvPr/>
        </p:nvSpPr>
        <p:spPr>
          <a:xfrm>
            <a:off x="5457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12</a:t>
            </a:r>
            <a:endParaRPr lang="zh-CN" altLang="en-US" dirty="0"/>
          </a:p>
        </p:txBody>
      </p:sp>
      <p:cxnSp>
        <p:nvCxnSpPr>
          <p:cNvPr id="113" name="直接连接符 112"/>
          <p:cNvCxnSpPr/>
          <p:nvPr/>
        </p:nvCxnSpPr>
        <p:spPr>
          <a:xfrm flipH="1">
            <a:off x="6208817" y="3598039"/>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03" idx="5"/>
            <a:endCxn id="116" idx="0"/>
          </p:cNvCxnSpPr>
          <p:nvPr/>
        </p:nvCxnSpPr>
        <p:spPr>
          <a:xfrm>
            <a:off x="6599527" y="3614384"/>
            <a:ext cx="128388" cy="682424"/>
          </a:xfrm>
          <a:prstGeom prst="line">
            <a:avLst/>
          </a:prstGeom>
        </p:spPr>
        <p:style>
          <a:lnRef idx="1">
            <a:schemeClr val="accent1"/>
          </a:lnRef>
          <a:fillRef idx="0">
            <a:schemeClr val="accent1"/>
          </a:fillRef>
          <a:effectRef idx="0">
            <a:schemeClr val="accent1"/>
          </a:effectRef>
          <a:fontRef idx="minor">
            <a:schemeClr val="tx1"/>
          </a:fontRef>
        </p:style>
      </p:cxnSp>
      <p:sp>
        <p:nvSpPr>
          <p:cNvPr id="115" name="椭圆 114"/>
          <p:cNvSpPr/>
          <p:nvPr/>
        </p:nvSpPr>
        <p:spPr>
          <a:xfrm>
            <a:off x="5970942"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7</a:t>
            </a:r>
            <a:endParaRPr lang="zh-CN" altLang="en-US" dirty="0"/>
          </a:p>
        </p:txBody>
      </p:sp>
      <p:sp>
        <p:nvSpPr>
          <p:cNvPr id="116" name="椭圆 115"/>
          <p:cNvSpPr/>
          <p:nvPr/>
        </p:nvSpPr>
        <p:spPr>
          <a:xfrm>
            <a:off x="6511891"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cxnSp>
        <p:nvCxnSpPr>
          <p:cNvPr id="117" name="直接连接符 116"/>
          <p:cNvCxnSpPr/>
          <p:nvPr/>
        </p:nvCxnSpPr>
        <p:spPr>
          <a:xfrm flipH="1">
            <a:off x="6186965" y="4698945"/>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直接连接符 117"/>
          <p:cNvCxnSpPr>
            <a:stCxn id="116" idx="4"/>
            <a:endCxn id="120" idx="0"/>
          </p:cNvCxnSpPr>
          <p:nvPr/>
        </p:nvCxnSpPr>
        <p:spPr>
          <a:xfrm>
            <a:off x="6727915" y="4728856"/>
            <a:ext cx="509"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119" name="椭圆 118"/>
          <p:cNvSpPr/>
          <p:nvPr/>
        </p:nvSpPr>
        <p:spPr>
          <a:xfrm>
            <a:off x="59724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13</a:t>
            </a:r>
            <a:endParaRPr lang="zh-CN" altLang="en-US" dirty="0"/>
          </a:p>
        </p:txBody>
      </p:sp>
      <p:sp>
        <p:nvSpPr>
          <p:cNvPr id="120" name="椭圆 119"/>
          <p:cNvSpPr/>
          <p:nvPr/>
        </p:nvSpPr>
        <p:spPr>
          <a:xfrm>
            <a:off x="65124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14</a:t>
            </a:r>
            <a:endParaRPr lang="zh-CN" altLang="en-US" dirty="0"/>
          </a:p>
        </p:txBody>
      </p:sp>
      <p:cxnSp>
        <p:nvCxnSpPr>
          <p:cNvPr id="121" name="直接连接符 120"/>
          <p:cNvCxnSpPr/>
          <p:nvPr/>
        </p:nvCxnSpPr>
        <p:spPr>
          <a:xfrm flipH="1">
            <a:off x="7375540" y="3662759"/>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接连接符 121"/>
          <p:cNvCxnSpPr>
            <a:stCxn id="104" idx="5"/>
            <a:endCxn id="124" idx="0"/>
          </p:cNvCxnSpPr>
          <p:nvPr/>
        </p:nvCxnSpPr>
        <p:spPr>
          <a:xfrm>
            <a:off x="7770717" y="3614384"/>
            <a:ext cx="123921" cy="682424"/>
          </a:xfrm>
          <a:prstGeom prst="line">
            <a:avLst/>
          </a:prstGeom>
        </p:spPr>
        <p:style>
          <a:lnRef idx="1">
            <a:schemeClr val="accent1"/>
          </a:lnRef>
          <a:fillRef idx="0">
            <a:schemeClr val="accent1"/>
          </a:fillRef>
          <a:effectRef idx="0">
            <a:schemeClr val="accent1"/>
          </a:effectRef>
          <a:fontRef idx="minor">
            <a:schemeClr val="tx1"/>
          </a:fontRef>
        </p:style>
      </p:cxnSp>
      <p:sp>
        <p:nvSpPr>
          <p:cNvPr id="123" name="椭圆 122"/>
          <p:cNvSpPr/>
          <p:nvPr/>
        </p:nvSpPr>
        <p:spPr>
          <a:xfrm>
            <a:off x="7137665"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9</a:t>
            </a:r>
            <a:endParaRPr lang="zh-CN" altLang="en-US" dirty="0"/>
          </a:p>
        </p:txBody>
      </p:sp>
      <p:sp>
        <p:nvSpPr>
          <p:cNvPr id="124" name="椭圆 123"/>
          <p:cNvSpPr/>
          <p:nvPr/>
        </p:nvSpPr>
        <p:spPr>
          <a:xfrm>
            <a:off x="7678614"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10</a:t>
            </a:r>
            <a:endParaRPr lang="zh-CN" altLang="en-US" dirty="0"/>
          </a:p>
        </p:txBody>
      </p:sp>
      <p:cxnSp>
        <p:nvCxnSpPr>
          <p:cNvPr id="125" name="直接连接符 124"/>
          <p:cNvCxnSpPr>
            <a:stCxn id="123" idx="4"/>
            <a:endCxn id="127" idx="0"/>
          </p:cNvCxnSpPr>
          <p:nvPr/>
        </p:nvCxnSpPr>
        <p:spPr>
          <a:xfrm>
            <a:off x="7353689" y="4728856"/>
            <a:ext cx="1135" cy="57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接连接符 125"/>
          <p:cNvCxnSpPr>
            <a:stCxn id="124" idx="4"/>
            <a:endCxn id="128" idx="0"/>
          </p:cNvCxnSpPr>
          <p:nvPr/>
        </p:nvCxnSpPr>
        <p:spPr>
          <a:xfrm>
            <a:off x="7894638" y="4728856"/>
            <a:ext cx="186"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127" name="椭圆 126"/>
          <p:cNvSpPr/>
          <p:nvPr/>
        </p:nvSpPr>
        <p:spPr>
          <a:xfrm>
            <a:off x="71388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15</a:t>
            </a:r>
            <a:endParaRPr lang="zh-CN" altLang="en-US" dirty="0"/>
          </a:p>
        </p:txBody>
      </p:sp>
      <p:sp>
        <p:nvSpPr>
          <p:cNvPr id="128" name="椭圆 127"/>
          <p:cNvSpPr/>
          <p:nvPr/>
        </p:nvSpPr>
        <p:spPr>
          <a:xfrm>
            <a:off x="76788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16</a:t>
            </a:r>
            <a:endParaRPr lang="zh-CN" altLang="en-US" dirty="0"/>
          </a:p>
        </p:txBody>
      </p:sp>
      <p:sp>
        <p:nvSpPr>
          <p:cNvPr id="4" name="TextBox 3"/>
          <p:cNvSpPr txBox="1"/>
          <p:nvPr/>
        </p:nvSpPr>
        <p:spPr>
          <a:xfrm>
            <a:off x="1276166" y="6062400"/>
            <a:ext cx="1569660" cy="369332"/>
          </a:xfrm>
          <a:prstGeom prst="rect">
            <a:avLst/>
          </a:prstGeom>
          <a:noFill/>
        </p:spPr>
        <p:txBody>
          <a:bodyPr wrap="none" rtlCol="0">
            <a:spAutoFit/>
          </a:bodyPr>
          <a:lstStyle/>
          <a:p>
            <a:r>
              <a:rPr lang="zh-CN" altLang="en-US" dirty="0"/>
              <a:t>深度优先搜索</a:t>
            </a:r>
            <a:endParaRPr lang="zh-CN" altLang="en-US" dirty="0"/>
          </a:p>
        </p:txBody>
      </p:sp>
      <p:sp>
        <p:nvSpPr>
          <p:cNvPr id="129" name="TextBox 128"/>
          <p:cNvSpPr txBox="1"/>
          <p:nvPr/>
        </p:nvSpPr>
        <p:spPr>
          <a:xfrm>
            <a:off x="5810652" y="6062400"/>
            <a:ext cx="1569660" cy="369332"/>
          </a:xfrm>
          <a:prstGeom prst="rect">
            <a:avLst/>
          </a:prstGeom>
          <a:noFill/>
        </p:spPr>
        <p:txBody>
          <a:bodyPr wrap="none" rtlCol="0">
            <a:spAutoFit/>
          </a:bodyPr>
          <a:lstStyle/>
          <a:p>
            <a:r>
              <a:rPr lang="zh-CN" altLang="en-US" dirty="0"/>
              <a:t>广度优先搜索</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8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9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9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9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9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9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99"/>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0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0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0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05"/>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07"/>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10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0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13"/>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5"/>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114"/>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1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21"/>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2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122"/>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24"/>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0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1"/>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110"/>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12"/>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17"/>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19"/>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118"/>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2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25"/>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27"/>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0"/>
                                          </p:stCondLst>
                                        </p:cTn>
                                        <p:tgtEl>
                                          <p:spTgt spid="126"/>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71" grpId="0" animBg="1"/>
      <p:bldP spid="72" grpId="0" animBg="1"/>
      <p:bldP spid="73" grpId="0" animBg="1"/>
      <p:bldP spid="76" grpId="0" animBg="1"/>
      <p:bldP spid="77" grpId="0" animBg="1"/>
      <p:bldP spid="80" grpId="0" animBg="1"/>
      <p:bldP spid="81" grpId="0" animBg="1"/>
      <p:bldP spid="84" grpId="0" animBg="1"/>
      <p:bldP spid="85" grpId="0" animBg="1"/>
      <p:bldP spid="88" grpId="0" animBg="1"/>
      <p:bldP spid="89" grpId="0" animBg="1"/>
      <p:bldP spid="92" grpId="0" animBg="1"/>
      <p:bldP spid="93" grpId="0" animBg="1"/>
      <p:bldP spid="96" grpId="0" animBg="1"/>
      <p:bldP spid="97" grpId="0" animBg="1"/>
      <p:bldP spid="98" grpId="0" animBg="1"/>
      <p:bldP spid="102" grpId="0" animBg="1"/>
      <p:bldP spid="103" grpId="0" animBg="1"/>
      <p:bldP spid="104" grpId="0" animBg="1"/>
      <p:bldP spid="107" grpId="0" animBg="1"/>
      <p:bldP spid="108" grpId="0" animBg="1"/>
      <p:bldP spid="111" grpId="0" animBg="1"/>
      <p:bldP spid="112" grpId="0" animBg="1"/>
      <p:bldP spid="115" grpId="0" animBg="1"/>
      <p:bldP spid="116" grpId="0" animBg="1"/>
      <p:bldP spid="119" grpId="0" animBg="1"/>
      <p:bldP spid="120" grpId="0" animBg="1"/>
      <p:bldP spid="123" grpId="0" animBg="1"/>
      <p:bldP spid="124" grpId="0" animBg="1"/>
      <p:bldP spid="127" grpId="0" animBg="1"/>
      <p:bldP spid="12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49" y="1367998"/>
            <a:ext cx="8230387" cy="5229353"/>
          </a:xfrm>
        </p:spPr>
        <p:txBody>
          <a:bodyPr>
            <a:normAutofit/>
          </a:bodyPr>
          <a:lstStyle/>
          <a:p>
            <a:r>
              <a:rPr lang="zh-CN" altLang="en-US" dirty="0"/>
              <a:t>状态：用于描述问题求解过程中关键变量的取值</a:t>
            </a:r>
            <a:endParaRPr lang="en-US" altLang="zh-CN" dirty="0"/>
          </a:p>
          <a:p>
            <a:pPr lvl="1"/>
            <a:r>
              <a:rPr lang="zh-CN" altLang="en-US" dirty="0"/>
              <a:t>初始状态：初始时的状态</a:t>
            </a:r>
            <a:endParaRPr lang="en-US" altLang="zh-CN" dirty="0"/>
          </a:p>
          <a:p>
            <a:pPr lvl="1"/>
            <a:r>
              <a:rPr lang="zh-CN" altLang="en-US" dirty="0"/>
              <a:t>目标状态：求得问题解的状态</a:t>
            </a:r>
            <a:endParaRPr lang="en-US" altLang="zh-CN" dirty="0"/>
          </a:p>
          <a:p>
            <a:pPr lvl="1"/>
            <a:r>
              <a:rPr lang="zh-CN" altLang="en-US" dirty="0"/>
              <a:t>搜索：将问题求解过程表现为从</a:t>
            </a:r>
            <a:r>
              <a:rPr lang="zh-CN" altLang="en-US" b="1" dirty="0">
                <a:solidFill>
                  <a:schemeClr val="accent5"/>
                </a:solidFill>
              </a:rPr>
              <a:t>初始状态</a:t>
            </a:r>
            <a:r>
              <a:rPr lang="zh-CN" altLang="en-US" dirty="0"/>
              <a:t>到</a:t>
            </a:r>
            <a:r>
              <a:rPr lang="zh-CN" altLang="en-US" b="1" dirty="0">
                <a:solidFill>
                  <a:schemeClr val="accent5"/>
                </a:solidFill>
              </a:rPr>
              <a:t>目标状态</a:t>
            </a:r>
            <a:r>
              <a:rPr lang="zh-CN" altLang="en-US" dirty="0"/>
              <a:t>的寻找过程</a:t>
            </a:r>
            <a:endParaRPr lang="en-US" altLang="zh-CN" dirty="0"/>
          </a:p>
          <a:p>
            <a:r>
              <a:rPr lang="zh-CN" altLang="en-US" dirty="0"/>
              <a:t>状态转移：在显约束范围内尝试产生新的状态</a:t>
            </a:r>
            <a:endParaRPr lang="en-US" altLang="zh-CN" dirty="0"/>
          </a:p>
          <a:p>
            <a:pPr lvl="1"/>
            <a:r>
              <a:rPr lang="zh-CN" altLang="en-US" dirty="0"/>
              <a:t>确保可行性：确保新产生的状态符合可行性隐约束</a:t>
            </a:r>
            <a:endParaRPr lang="en-US" altLang="zh-CN" dirty="0"/>
          </a:p>
          <a:p>
            <a:pPr lvl="1"/>
            <a:r>
              <a:rPr lang="zh-CN" altLang="en-US" dirty="0"/>
              <a:t>确保最优化：确保新产生的状态符合最优化隐约束</a:t>
            </a:r>
            <a:endParaRPr lang="en-US" altLang="zh-CN" dirty="0"/>
          </a:p>
          <a:p>
            <a:pPr lvl="1"/>
            <a:r>
              <a:rPr lang="zh-CN" altLang="en-US" dirty="0"/>
              <a:t>避免重复搜索：去重</a:t>
            </a:r>
            <a:r>
              <a:rPr lang="en-US" altLang="zh-CN" dirty="0"/>
              <a:t>/</a:t>
            </a:r>
            <a:r>
              <a:rPr lang="zh-CN" altLang="en-US" dirty="0"/>
              <a:t>记忆化搜索</a:t>
            </a:r>
            <a:endParaRPr lang="en-US" altLang="zh-CN" dirty="0"/>
          </a:p>
          <a:p>
            <a:pPr marL="0" lvl="1" indent="-252095">
              <a:lnSpc>
                <a:spcPct val="150000"/>
              </a:lnSpc>
              <a:spcBef>
                <a:spcPts val="750"/>
              </a:spcBef>
            </a:pPr>
            <a:r>
              <a:rPr lang="zh-CN" altLang="en-US" sz="2100" dirty="0">
                <a:gradFill>
                  <a:gsLst>
                    <a:gs pos="0">
                      <a:srgbClr val="CC33CC"/>
                    </a:gs>
                    <a:gs pos="75000">
                      <a:srgbClr val="101C9E"/>
                    </a:gs>
                  </a:gsLst>
                  <a:lin ang="8100000" scaled="1"/>
                </a:gradFill>
                <a:latin typeface="微软雅黑" panose="020B0503020204020204" charset="-122"/>
                <a:ea typeface="微软雅黑" panose="020B0503020204020204" charset="-122"/>
              </a:rPr>
              <a:t>状态共享：在不同结点间共享状态信息</a:t>
            </a:r>
            <a:endParaRPr lang="en-US" altLang="zh-CN" dirty="0">
              <a:gradFill>
                <a:gsLst>
                  <a:gs pos="0">
                    <a:srgbClr val="CC33CC"/>
                  </a:gs>
                  <a:gs pos="75000">
                    <a:srgbClr val="101C9E"/>
                  </a:gs>
                </a:gsLst>
                <a:lin ang="8100000" scaled="1"/>
              </a:gradFill>
              <a:latin typeface="微软雅黑" panose="020B0503020204020204" charset="-122"/>
              <a:ea typeface="微软雅黑" panose="020B0503020204020204" charset="-122"/>
            </a:endParaRPr>
          </a:p>
          <a:p>
            <a:pPr lvl="1"/>
            <a:r>
              <a:rPr lang="zh-CN" altLang="en-US" dirty="0"/>
              <a:t>通常是</a:t>
            </a:r>
            <a:r>
              <a:rPr lang="zh-CN" altLang="en-US" b="1" dirty="0">
                <a:solidFill>
                  <a:schemeClr val="accent5"/>
                </a:solidFill>
              </a:rPr>
              <a:t>父子结点之间</a:t>
            </a:r>
            <a:r>
              <a:rPr lang="zh-CN" altLang="en-US" dirty="0"/>
              <a:t>共享</a:t>
            </a:r>
            <a:r>
              <a:rPr lang="zh-CN" altLang="en-US" b="1" dirty="0">
                <a:solidFill>
                  <a:schemeClr val="accent5"/>
                </a:solidFill>
              </a:rPr>
              <a:t>部分状态信息</a:t>
            </a:r>
            <a:endParaRPr lang="en-US" altLang="zh-CN" b="1" dirty="0">
              <a:solidFill>
                <a:schemeClr val="accent5"/>
              </a:solidFill>
            </a:endParaRPr>
          </a:p>
          <a:p>
            <a:pPr lvl="1"/>
            <a:r>
              <a:rPr lang="zh-CN" altLang="en-US" dirty="0"/>
              <a:t>父结点</a:t>
            </a:r>
            <a:r>
              <a:rPr lang="en-US" altLang="zh-CN" dirty="0"/>
              <a:t>-&gt;</a:t>
            </a:r>
            <a:r>
              <a:rPr lang="zh-CN" altLang="en-US" dirty="0"/>
              <a:t>子结点：</a:t>
            </a:r>
            <a:r>
              <a:rPr lang="zh-CN" altLang="en-US" b="1" dirty="0">
                <a:solidFill>
                  <a:srgbClr val="FF0000"/>
                </a:solidFill>
              </a:rPr>
              <a:t>设置</a:t>
            </a:r>
            <a:r>
              <a:rPr lang="zh-CN" altLang="en-US" b="1" dirty="0">
                <a:solidFill>
                  <a:schemeClr val="accent5"/>
                </a:solidFill>
              </a:rPr>
              <a:t>增量状态信息</a:t>
            </a:r>
            <a:endParaRPr lang="en-US" altLang="zh-CN" b="1" dirty="0">
              <a:solidFill>
                <a:schemeClr val="accent5"/>
              </a:solidFill>
            </a:endParaRPr>
          </a:p>
          <a:p>
            <a:pPr lvl="1"/>
            <a:r>
              <a:rPr lang="zh-CN" altLang="en-US" dirty="0"/>
              <a:t>子结点</a:t>
            </a:r>
            <a:r>
              <a:rPr lang="en-US" altLang="zh-CN" dirty="0"/>
              <a:t>-&gt;</a:t>
            </a:r>
            <a:r>
              <a:rPr lang="zh-CN" altLang="en-US" dirty="0"/>
              <a:t>父结点：</a:t>
            </a:r>
            <a:r>
              <a:rPr lang="zh-CN" altLang="en-US" b="1" dirty="0">
                <a:solidFill>
                  <a:srgbClr val="FF0000"/>
                </a:solidFill>
              </a:rPr>
              <a:t>撤销</a:t>
            </a:r>
            <a:r>
              <a:rPr lang="zh-CN" altLang="en-US" b="1" dirty="0">
                <a:solidFill>
                  <a:schemeClr val="accent5"/>
                </a:solidFill>
              </a:rPr>
              <a:t>增量状态信息</a:t>
            </a:r>
            <a:endParaRPr lang="en-US" altLang="zh-CN" b="1" dirty="0">
              <a:solidFill>
                <a:schemeClr val="accent5"/>
              </a:solidFill>
            </a:endParaRPr>
          </a:p>
        </p:txBody>
      </p:sp>
      <p:sp>
        <p:nvSpPr>
          <p:cNvPr id="3" name="标题 2"/>
          <p:cNvSpPr>
            <a:spLocks noGrp="1"/>
          </p:cNvSpPr>
          <p:nvPr>
            <p:ph type="title"/>
          </p:nvPr>
        </p:nvSpPr>
        <p:spPr/>
        <p:txBody>
          <a:bodyPr/>
          <a:lstStyle/>
          <a:p>
            <a:r>
              <a:rPr lang="zh-CN" altLang="en-US" dirty="0"/>
              <a:t>搜索问题概述</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基本思想</a:t>
            </a:r>
            <a:endParaRPr lang="en-US" altLang="zh-CN" dirty="0"/>
          </a:p>
          <a:p>
            <a:pPr lvl="1"/>
            <a:r>
              <a:rPr lang="zh-CN" altLang="en-US" dirty="0"/>
              <a:t>根据</a:t>
            </a:r>
            <a:r>
              <a:rPr lang="zh-CN" altLang="en-US" dirty="0">
                <a:solidFill>
                  <a:srgbClr val="0070C0"/>
                </a:solidFill>
              </a:rPr>
              <a:t>显约束</a:t>
            </a:r>
            <a:r>
              <a:rPr lang="zh-CN" altLang="en-US" dirty="0"/>
              <a:t>遍历解空间，</a:t>
            </a:r>
            <a:r>
              <a:rPr lang="zh-CN" altLang="en-US" dirty="0">
                <a:solidFill>
                  <a:srgbClr val="FF0000"/>
                </a:solidFill>
              </a:rPr>
              <a:t>每次探索一个</a:t>
            </a:r>
            <a:r>
              <a:rPr lang="zh-CN" altLang="en-US" dirty="0"/>
              <a:t>孩子结点</a:t>
            </a:r>
            <a:endParaRPr lang="en-US" altLang="zh-CN" dirty="0"/>
          </a:p>
          <a:p>
            <a:pPr lvl="1"/>
            <a:r>
              <a:rPr lang="zh-CN" altLang="en-US" dirty="0"/>
              <a:t>根据</a:t>
            </a:r>
            <a:r>
              <a:rPr lang="zh-CN" altLang="en-US" dirty="0">
                <a:solidFill>
                  <a:srgbClr val="0070C0"/>
                </a:solidFill>
              </a:rPr>
              <a:t>隐约束</a:t>
            </a:r>
            <a:r>
              <a:rPr lang="zh-CN" altLang="en-US" dirty="0"/>
              <a:t>确定是否深入</a:t>
            </a:r>
            <a:r>
              <a:rPr lang="zh-CN" altLang="en-US" dirty="0">
                <a:solidFill>
                  <a:srgbClr val="FF0000"/>
                </a:solidFill>
              </a:rPr>
              <a:t>递归</a:t>
            </a:r>
            <a:endParaRPr lang="en-US" altLang="zh-CN" dirty="0">
              <a:solidFill>
                <a:srgbClr val="FF0000"/>
              </a:solidFill>
            </a:endParaRPr>
          </a:p>
          <a:p>
            <a:pPr lvl="1"/>
            <a:r>
              <a:rPr lang="zh-CN" altLang="en-US" dirty="0"/>
              <a:t>当发现当前状态不满足求解条件时，就</a:t>
            </a:r>
            <a:r>
              <a:rPr lang="zh-CN" altLang="en-US" dirty="0">
                <a:solidFill>
                  <a:srgbClr val="FF0000"/>
                </a:solidFill>
              </a:rPr>
              <a:t>回溯</a:t>
            </a:r>
            <a:r>
              <a:rPr lang="zh-CN" altLang="en-US" dirty="0"/>
              <a:t>尝试其他的路径</a:t>
            </a:r>
            <a:endParaRPr lang="en-US" altLang="zh-CN" dirty="0"/>
          </a:p>
          <a:p>
            <a:pPr lvl="1"/>
            <a:r>
              <a:rPr lang="zh-CN" altLang="en-US" dirty="0"/>
              <a:t>回溯时需要恢复原先的状态</a:t>
            </a:r>
            <a:endParaRPr lang="zh-CN" altLang="en-US" dirty="0"/>
          </a:p>
          <a:p>
            <a:r>
              <a:rPr lang="zh-CN" altLang="en-US" dirty="0"/>
              <a:t>深度优先搜索</a:t>
            </a:r>
            <a:endParaRPr lang="zh-CN" altLang="en-US" dirty="0"/>
          </a:p>
        </p:txBody>
      </p:sp>
      <p:sp>
        <p:nvSpPr>
          <p:cNvPr id="3" name="标题 2"/>
          <p:cNvSpPr>
            <a:spLocks noGrp="1"/>
          </p:cNvSpPr>
          <p:nvPr>
            <p:ph type="title"/>
          </p:nvPr>
        </p:nvSpPr>
        <p:spPr/>
        <p:txBody>
          <a:bodyPr/>
          <a:lstStyle/>
          <a:p>
            <a:r>
              <a:rPr lang="zh-CN" altLang="en-US" dirty="0"/>
              <a:t>递归回溯法解决搜索问题</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Rot="1" noChangeArrowheads="1"/>
          </p:cNvSpPr>
          <p:nvPr>
            <p:ph type="title"/>
          </p:nvPr>
        </p:nvSpPr>
        <p:spPr/>
        <p:txBody>
          <a:bodyPr/>
          <a:lstStyle/>
          <a:p>
            <a:r>
              <a:rPr lang="zh-CN" altLang="en-US" dirty="0"/>
              <a:t>问题</a:t>
            </a:r>
            <a:r>
              <a:rPr lang="en-US" altLang="zh-CN" dirty="0"/>
              <a:t>2</a:t>
            </a:r>
            <a:r>
              <a:rPr lang="zh-CN" altLang="en-US" dirty="0"/>
              <a:t>：八皇后问题</a:t>
            </a:r>
            <a:endParaRPr lang="zh-CN" altLang="en-US" dirty="0"/>
          </a:p>
        </p:txBody>
      </p:sp>
      <p:sp>
        <p:nvSpPr>
          <p:cNvPr id="610307" name="Rectangle 3"/>
          <p:cNvSpPr>
            <a:spLocks noGrp="1" noChangeArrowheads="1"/>
          </p:cNvSpPr>
          <p:nvPr>
            <p:ph idx="1"/>
          </p:nvPr>
        </p:nvSpPr>
        <p:spPr/>
        <p:txBody>
          <a:bodyPr/>
          <a:lstStyle/>
          <a:p>
            <a:r>
              <a:rPr lang="zh-CN" altLang="en-US" dirty="0"/>
              <a:t>在</a:t>
            </a:r>
            <a:r>
              <a:rPr lang="en-US" altLang="zh-CN" dirty="0"/>
              <a:t>8×8</a:t>
            </a:r>
            <a:r>
              <a:rPr lang="zh-CN" altLang="en-US" dirty="0"/>
              <a:t>格的国际象棋上摆放八个皇后，使其不能互相攻击，即任意两个皇后都不能处于同一行、同一列或同一斜线上，问一共有多少种摆法。</a:t>
            </a:r>
            <a:endParaRPr lang="en-US" dirty="0"/>
          </a:p>
          <a:p>
            <a:endParaRPr lang="zh-CN" altLang="en-US" sz="2800" dirty="0"/>
          </a:p>
        </p:txBody>
      </p:sp>
      <p:pic>
        <p:nvPicPr>
          <p:cNvPr id="4" name="Picture 8" descr="https://assets.leetcode-cn.com/aliyun-lc-upload/uploads/2018/10/12/8-queens.png"/>
          <p:cNvPicPr>
            <a:picLocks noChangeAspect="1" noChangeArrowheads="1"/>
          </p:cNvPicPr>
          <p:nvPr/>
        </p:nvPicPr>
        <p:blipFill rotWithShape="1">
          <a:blip r:embed="rId1">
            <a:extLst>
              <a:ext uri="{28A0092B-C50C-407E-A947-70E740481C1C}">
                <a14:useLocalDpi xmlns:a14="http://schemas.microsoft.com/office/drawing/2010/main" val="0"/>
              </a:ext>
            </a:extLst>
          </a:blip>
          <a:srcRect l="8111" t="8382" r="8173" b="14009"/>
          <a:stretch>
            <a:fillRect/>
          </a:stretch>
        </p:blipFill>
        <p:spPr bwMode="auto">
          <a:xfrm>
            <a:off x="4779684" y="2917089"/>
            <a:ext cx="3263846" cy="323678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s://ss2.baidu.com/-vo3dSag_xI4khGko9WTAnF6hhy/zhidao/pic/item/ae51f3deb48f8c548943866e3a292df5e1fe7fd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87" y="2917089"/>
            <a:ext cx="3067448" cy="319901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2511715" y="2867675"/>
            <a:ext cx="432048" cy="6480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八皇后解题思路</a:t>
            </a:r>
            <a:endParaRPr lang="zh-CN" altLang="en-US" dirty="0"/>
          </a:p>
        </p:txBody>
      </p:sp>
      <p:sp>
        <p:nvSpPr>
          <p:cNvPr id="5" name="TextBox 4"/>
          <p:cNvSpPr txBox="1"/>
          <p:nvPr/>
        </p:nvSpPr>
        <p:spPr>
          <a:xfrm>
            <a:off x="4375350" y="253983"/>
            <a:ext cx="4897366" cy="412036"/>
          </a:xfrm>
          <a:prstGeom prst="rect">
            <a:avLst/>
          </a:prstGeom>
          <a:noFill/>
        </p:spPr>
        <p:txBody>
          <a:bodyPr wrap="none" rtlCol="0">
            <a:spAutoFit/>
          </a:bodyPr>
          <a:lstStyle/>
          <a:p>
            <a:pPr>
              <a:lnSpc>
                <a:spcPct val="125000"/>
              </a:lnSpc>
            </a:pPr>
            <a:r>
              <a:rPr lang="zh-CN" altLang="en-US" b="1" dirty="0">
                <a:solidFill>
                  <a:srgbClr val="FE2034"/>
                </a:solidFill>
              </a:rPr>
              <a:t>思考：能否使用</a:t>
            </a:r>
            <a:r>
              <a:rPr lang="en-US" altLang="zh-CN" b="1" dirty="0">
                <a:solidFill>
                  <a:srgbClr val="FE2034"/>
                </a:solidFill>
              </a:rPr>
              <a:t>true/false</a:t>
            </a:r>
            <a:r>
              <a:rPr lang="zh-CN" altLang="en-US" b="1" dirty="0">
                <a:solidFill>
                  <a:srgbClr val="FE2034"/>
                </a:solidFill>
              </a:rPr>
              <a:t>的二值作为</a:t>
            </a:r>
            <a:r>
              <a:rPr lang="en-US" altLang="zh-CN" b="1" dirty="0">
                <a:solidFill>
                  <a:srgbClr val="FE2034"/>
                </a:solidFill>
              </a:rPr>
              <a:t>safe</a:t>
            </a:r>
            <a:r>
              <a:rPr lang="zh-CN" altLang="en-US" b="1" dirty="0">
                <a:solidFill>
                  <a:srgbClr val="FE2034"/>
                </a:solidFill>
              </a:rPr>
              <a:t>标志？</a:t>
            </a:r>
            <a:endParaRPr lang="en-US" altLang="zh-CN" b="1" dirty="0">
              <a:solidFill>
                <a:srgbClr val="FF0000"/>
              </a:solidFill>
            </a:endParaRPr>
          </a:p>
        </p:txBody>
      </p:sp>
      <p:pic>
        <p:nvPicPr>
          <p:cNvPr id="22533"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990004" y="844036"/>
            <a:ext cx="2721996" cy="23050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内容占位符 1"/>
          <p:cNvSpPr>
            <a:spLocks noGrp="1"/>
          </p:cNvSpPr>
          <p:nvPr>
            <p:ph idx="1"/>
          </p:nvPr>
        </p:nvSpPr>
        <p:spPr>
          <a:xfrm>
            <a:off x="328970" y="1574710"/>
            <a:ext cx="7886700" cy="4680000"/>
          </a:xfrm>
        </p:spPr>
        <p:txBody>
          <a:bodyPr>
            <a:normAutofit fontScale="92500" lnSpcReduction="10000"/>
          </a:bodyPr>
          <a:lstStyle/>
          <a:p>
            <a:r>
              <a:rPr lang="zh-CN" altLang="en-US" sz="2000" dirty="0"/>
              <a:t>用试探的方法</a:t>
            </a:r>
            <a:r>
              <a:rPr lang="zh-CN" altLang="en-US" sz="2000" dirty="0">
                <a:latin typeface="Arial" panose="020B0604020202020204" pitchFamily="34" charset="0"/>
              </a:rPr>
              <a:t>“</a:t>
            </a:r>
            <a:r>
              <a:rPr lang="zh-CN" altLang="en-US" sz="2000" dirty="0">
                <a:solidFill>
                  <a:srgbClr val="FF0000"/>
                </a:solidFill>
              </a:rPr>
              <a:t>向前走，碰壁回头</a:t>
            </a:r>
            <a:r>
              <a:rPr lang="zh-CN" altLang="en-US" sz="2000" dirty="0">
                <a:latin typeface="Arial" panose="020B0604020202020204" pitchFamily="34" charset="0"/>
              </a:rPr>
              <a:t>”</a:t>
            </a:r>
            <a:r>
              <a:rPr lang="zh-CN" altLang="en-US" sz="2000" dirty="0"/>
              <a:t> （</a:t>
            </a:r>
            <a:r>
              <a:rPr lang="zh-CN" altLang="en-US" dirty="0"/>
              <a:t>回溯法）</a:t>
            </a:r>
            <a:endParaRPr lang="en-US" altLang="zh-CN" dirty="0"/>
          </a:p>
          <a:p>
            <a:pPr lvl="1"/>
            <a:r>
              <a:rPr lang="zh-CN" altLang="en-US" dirty="0"/>
              <a:t>状态的描述：</a:t>
            </a:r>
            <a:endParaRPr lang="en-US" altLang="zh-CN" dirty="0"/>
          </a:p>
          <a:p>
            <a:pPr lvl="2"/>
            <a:r>
              <a:rPr lang="en-US" altLang="zh-CN" dirty="0" err="1"/>
              <a:t>i</a:t>
            </a:r>
            <a:r>
              <a:rPr lang="zh-CN" altLang="en-US" dirty="0"/>
              <a:t>：当前正在放置第 </a:t>
            </a:r>
            <a:r>
              <a:rPr lang="en-US" altLang="zh-CN" dirty="0" err="1"/>
              <a:t>i</a:t>
            </a:r>
            <a:r>
              <a:rPr lang="en-US" altLang="zh-CN" dirty="0"/>
              <a:t> </a:t>
            </a:r>
            <a:r>
              <a:rPr lang="zh-CN" altLang="en-US" dirty="0"/>
              <a:t>行的皇后</a:t>
            </a:r>
            <a:endParaRPr lang="en-US" altLang="zh-CN" dirty="0"/>
          </a:p>
          <a:p>
            <a:pPr lvl="2"/>
            <a:r>
              <a:rPr lang="zh-CN" altLang="en-US" dirty="0"/>
              <a:t>一维数组</a:t>
            </a:r>
            <a:r>
              <a:rPr lang="en-US" altLang="zh-CN" dirty="0"/>
              <a:t>queen</a:t>
            </a:r>
            <a:r>
              <a:rPr lang="zh-CN" altLang="en-US" dirty="0"/>
              <a:t>用于记录皇后摆放的位置</a:t>
            </a:r>
            <a:endParaRPr lang="en-US" altLang="zh-CN" dirty="0"/>
          </a:p>
          <a:p>
            <a:pPr marL="685800" lvl="2" indent="0">
              <a:buNone/>
            </a:pPr>
            <a:r>
              <a:rPr lang="en-US" altLang="zh-CN" dirty="0"/>
              <a:t>    queen[</a:t>
            </a:r>
            <a:r>
              <a:rPr lang="en-US" altLang="zh-CN" dirty="0" err="1"/>
              <a:t>i</a:t>
            </a:r>
            <a:r>
              <a:rPr lang="en-US" altLang="zh-CN" dirty="0"/>
              <a:t>]</a:t>
            </a:r>
            <a:r>
              <a:rPr lang="zh-CN" altLang="en-US" dirty="0"/>
              <a:t>的值代表第 </a:t>
            </a:r>
            <a:r>
              <a:rPr lang="en-US" altLang="zh-CN" dirty="0" err="1"/>
              <a:t>i</a:t>
            </a:r>
            <a:r>
              <a:rPr lang="en-US" altLang="zh-CN" dirty="0"/>
              <a:t> </a:t>
            </a:r>
            <a:r>
              <a:rPr lang="zh-CN" altLang="en-US" dirty="0"/>
              <a:t>行皇后放在哪一列</a:t>
            </a:r>
            <a:endParaRPr lang="en-US" altLang="zh-CN" dirty="0"/>
          </a:p>
          <a:p>
            <a:pPr lvl="2"/>
            <a:r>
              <a:rPr lang="zh-CN" altLang="en-US" dirty="0"/>
              <a:t>二维数组</a:t>
            </a:r>
            <a:r>
              <a:rPr lang="en-US" altLang="zh-CN" dirty="0"/>
              <a:t>safe</a:t>
            </a:r>
            <a:r>
              <a:rPr lang="zh-CN" altLang="en-US" dirty="0"/>
              <a:t>记录棋盘上放置皇后的冲突情况</a:t>
            </a:r>
            <a:endParaRPr lang="en-US" altLang="zh-CN" dirty="0"/>
          </a:p>
          <a:p>
            <a:pPr marL="685800" lvl="2" indent="0">
              <a:buNone/>
            </a:pPr>
            <a:r>
              <a:rPr lang="en-US" altLang="zh-CN" dirty="0"/>
              <a:t>    safe[</a:t>
            </a:r>
            <a:r>
              <a:rPr lang="en-US" altLang="zh-CN" dirty="0" err="1"/>
              <a:t>i</a:t>
            </a:r>
            <a:r>
              <a:rPr lang="en-US" altLang="zh-CN" dirty="0"/>
              <a:t>][j]</a:t>
            </a:r>
            <a:r>
              <a:rPr lang="zh-CN" altLang="en-US" dirty="0"/>
              <a:t>的值代表第 </a:t>
            </a:r>
            <a:r>
              <a:rPr lang="en-US" altLang="zh-CN" dirty="0" err="1"/>
              <a:t>i</a:t>
            </a:r>
            <a:r>
              <a:rPr lang="en-US" altLang="zh-CN" dirty="0"/>
              <a:t> </a:t>
            </a:r>
            <a:r>
              <a:rPr lang="zh-CN" altLang="en-US" dirty="0"/>
              <a:t>行第</a:t>
            </a:r>
            <a:r>
              <a:rPr lang="en-US" altLang="zh-CN" dirty="0"/>
              <a:t> j </a:t>
            </a:r>
            <a:r>
              <a:rPr lang="zh-CN" altLang="en-US" dirty="0"/>
              <a:t>列和前面已放置的皇后产生多次个冲突</a:t>
            </a:r>
            <a:endParaRPr lang="en-US" altLang="zh-CN" dirty="0"/>
          </a:p>
          <a:p>
            <a:pPr marL="685800" lvl="2" indent="0">
              <a:buNone/>
            </a:pPr>
            <a:r>
              <a:rPr lang="en-US" altLang="zh-CN" dirty="0"/>
              <a:t>    safe[</a:t>
            </a:r>
            <a:r>
              <a:rPr lang="en-US" altLang="zh-CN" dirty="0" err="1"/>
              <a:t>i</a:t>
            </a:r>
            <a:r>
              <a:rPr lang="en-US" altLang="zh-CN" dirty="0"/>
              <a:t>][j] == 0</a:t>
            </a:r>
            <a:r>
              <a:rPr lang="zh-CN" altLang="en-US" dirty="0"/>
              <a:t>代表第 </a:t>
            </a:r>
            <a:r>
              <a:rPr lang="en-US" altLang="zh-CN" dirty="0" err="1"/>
              <a:t>i</a:t>
            </a:r>
            <a:r>
              <a:rPr lang="en-US" altLang="zh-CN" dirty="0"/>
              <a:t> </a:t>
            </a:r>
            <a:r>
              <a:rPr lang="zh-CN" altLang="en-US" dirty="0"/>
              <a:t>行第</a:t>
            </a:r>
            <a:r>
              <a:rPr lang="en-US" altLang="zh-CN" dirty="0"/>
              <a:t> j </a:t>
            </a:r>
            <a:r>
              <a:rPr lang="zh-CN" altLang="en-US" dirty="0"/>
              <a:t>列可以放置皇后（和前面的皇后不冲突）</a:t>
            </a:r>
            <a:endParaRPr lang="en-US" altLang="zh-CN" dirty="0"/>
          </a:p>
          <a:p>
            <a:pPr lvl="2"/>
            <a:endParaRPr lang="en-US" altLang="zh-CN" dirty="0"/>
          </a:p>
          <a:p>
            <a:pPr lvl="1"/>
            <a:r>
              <a:rPr lang="zh-CN" altLang="en-US" dirty="0"/>
              <a:t>定义递归函数</a:t>
            </a:r>
            <a:r>
              <a:rPr lang="en-US" altLang="zh-CN" dirty="0" err="1"/>
              <a:t>dfs</a:t>
            </a:r>
            <a:r>
              <a:rPr lang="en-US" altLang="zh-CN" dirty="0"/>
              <a:t> (</a:t>
            </a:r>
            <a:r>
              <a:rPr lang="en-US" altLang="zh-CN" dirty="0" err="1"/>
              <a:t>int</a:t>
            </a:r>
            <a:r>
              <a:rPr lang="en-US" altLang="zh-CN" dirty="0"/>
              <a:t> </a:t>
            </a:r>
            <a:r>
              <a:rPr lang="en-US" altLang="zh-CN" dirty="0" err="1"/>
              <a:t>i</a:t>
            </a:r>
            <a:r>
              <a:rPr lang="en-US" altLang="zh-CN" dirty="0"/>
              <a:t>) </a:t>
            </a:r>
            <a:endParaRPr lang="en-US" altLang="zh-CN" dirty="0"/>
          </a:p>
          <a:p>
            <a:pPr lvl="2"/>
            <a:r>
              <a:rPr lang="zh-CN" altLang="en-US" dirty="0"/>
              <a:t>递归边界：</a:t>
            </a:r>
            <a:r>
              <a:rPr lang="en-US" altLang="zh-CN" dirty="0" err="1"/>
              <a:t>i</a:t>
            </a:r>
            <a:r>
              <a:rPr lang="en-US" altLang="zh-CN" dirty="0"/>
              <a:t> &gt; 8</a:t>
            </a:r>
            <a:endParaRPr lang="en-US" altLang="zh-CN" dirty="0"/>
          </a:p>
          <a:p>
            <a:pPr lvl="2"/>
            <a:r>
              <a:rPr lang="zh-CN" altLang="en-US" dirty="0"/>
              <a:t>尝试在第 </a:t>
            </a:r>
            <a:r>
              <a:rPr lang="en-US" altLang="zh-CN" dirty="0" err="1"/>
              <a:t>i</a:t>
            </a:r>
            <a:r>
              <a:rPr lang="en-US" altLang="zh-CN" dirty="0"/>
              <a:t> </a:t>
            </a:r>
            <a:r>
              <a:rPr lang="zh-CN" altLang="en-US" dirty="0"/>
              <a:t>行第 </a:t>
            </a:r>
            <a:r>
              <a:rPr lang="en-US" altLang="zh-CN" dirty="0"/>
              <a:t>j </a:t>
            </a:r>
            <a:r>
              <a:rPr lang="zh-CN" altLang="en-US" dirty="0"/>
              <a:t>列放置皇后</a:t>
            </a:r>
            <a:endParaRPr lang="en-US" altLang="zh-CN" dirty="0"/>
          </a:p>
          <a:p>
            <a:pPr lvl="3"/>
            <a:r>
              <a:rPr lang="zh-CN" altLang="en-US" dirty="0"/>
              <a:t>如果</a:t>
            </a:r>
            <a:r>
              <a:rPr lang="en-US" altLang="zh-CN" dirty="0"/>
              <a:t>safe[</a:t>
            </a:r>
            <a:r>
              <a:rPr lang="en-US" altLang="zh-CN" dirty="0" err="1"/>
              <a:t>i</a:t>
            </a:r>
            <a:r>
              <a:rPr lang="en-US" altLang="zh-CN" dirty="0"/>
              <a:t>][j] == 0</a:t>
            </a:r>
            <a:r>
              <a:rPr lang="zh-CN" altLang="en-US" dirty="0"/>
              <a:t>，则可以放置</a:t>
            </a:r>
            <a:endParaRPr lang="en-US" altLang="zh-CN" dirty="0"/>
          </a:p>
          <a:p>
            <a:pPr lvl="3"/>
            <a:r>
              <a:rPr lang="zh-CN" altLang="en-US" dirty="0"/>
              <a:t>放置皇后之后，把所在列</a:t>
            </a:r>
            <a:r>
              <a:rPr lang="en-US" altLang="zh-CN" dirty="0"/>
              <a:t>/</a:t>
            </a:r>
            <a:r>
              <a:rPr lang="zh-CN" altLang="en-US" dirty="0"/>
              <a:t>左对角线</a:t>
            </a:r>
            <a:r>
              <a:rPr lang="en-US" altLang="zh-CN" dirty="0"/>
              <a:t>/</a:t>
            </a:r>
            <a:r>
              <a:rPr lang="zh-CN" altLang="en-US" dirty="0"/>
              <a:t>右对角线的冲突数加</a:t>
            </a:r>
            <a:r>
              <a:rPr lang="en-US" altLang="zh-CN" dirty="0"/>
              <a:t>1</a:t>
            </a:r>
            <a:endParaRPr lang="en-US" altLang="zh-CN" dirty="0"/>
          </a:p>
          <a:p>
            <a:pPr lvl="3"/>
            <a:r>
              <a:rPr lang="zh-CN" altLang="en-US" dirty="0"/>
              <a:t>回溯时，相应列</a:t>
            </a:r>
            <a:r>
              <a:rPr lang="en-US" altLang="zh-CN" dirty="0"/>
              <a:t>/ /</a:t>
            </a:r>
            <a:r>
              <a:rPr lang="zh-CN" altLang="en-US" dirty="0"/>
              <a:t>左对角线</a:t>
            </a:r>
            <a:r>
              <a:rPr lang="en-US" altLang="zh-CN" dirty="0"/>
              <a:t>/</a:t>
            </a:r>
            <a:r>
              <a:rPr lang="zh-CN" altLang="en-US" dirty="0"/>
              <a:t>右对角线的冲突数减</a:t>
            </a:r>
            <a:r>
              <a:rPr lang="en-US" altLang="zh-CN" dirty="0"/>
              <a:t>1</a:t>
            </a:r>
            <a:endParaRPr lang="en-US" altLang="zh-CN" dirty="0"/>
          </a:p>
          <a:p>
            <a:pPr lvl="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 name="组合 3"/>
          <p:cNvGrpSpPr/>
          <p:nvPr/>
        </p:nvGrpSpPr>
        <p:grpSpPr>
          <a:xfrm>
            <a:off x="1838882" y="162580"/>
            <a:ext cx="6645360" cy="5984872"/>
            <a:chOff x="1838882" y="162580"/>
            <a:chExt cx="6645360" cy="5984872"/>
          </a:xfrm>
        </p:grpSpPr>
        <p:sp>
          <p:nvSpPr>
            <p:cNvPr id="537604" name="Oval 4"/>
            <p:cNvSpPr>
              <a:spLocks noChangeArrowheads="1"/>
            </p:cNvSpPr>
            <p:nvPr/>
          </p:nvSpPr>
          <p:spPr bwMode="auto">
            <a:xfrm flipH="1">
              <a:off x="4495800" y="685800"/>
              <a:ext cx="304800" cy="228600"/>
            </a:xfrm>
            <a:prstGeom prst="ellipse">
              <a:avLst/>
            </a:prstGeom>
            <a:solidFill>
              <a:schemeClr val="tx1">
                <a:lumMod val="50000"/>
                <a:lumOff val="50000"/>
              </a:schemeClr>
            </a:solidFill>
            <a:ln w="38100" cap="sq">
              <a:solidFill>
                <a:schemeClr val="tx1"/>
              </a:solidFill>
              <a:round/>
            </a:ln>
            <a:effec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5" name="Oval 5"/>
            <p:cNvSpPr>
              <a:spLocks noChangeArrowheads="1"/>
            </p:cNvSpPr>
            <p:nvPr/>
          </p:nvSpPr>
          <p:spPr bwMode="auto">
            <a:xfrm>
              <a:off x="5588642" y="1912236"/>
              <a:ext cx="381000" cy="228600"/>
            </a:xfrm>
            <a:prstGeom prst="ellipse">
              <a:avLst/>
            </a:prstGeom>
            <a:solidFill>
              <a:srgbClr val="FFFFFF">
                <a:alpha val="70000"/>
              </a:srgbClr>
            </a:solidFill>
            <a:ln w="76200"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6" name="Line 6"/>
            <p:cNvSpPr>
              <a:spLocks noChangeShapeType="1"/>
            </p:cNvSpPr>
            <p:nvPr/>
          </p:nvSpPr>
          <p:spPr bwMode="auto">
            <a:xfrm>
              <a:off x="4648200" y="914400"/>
              <a:ext cx="1169042" cy="1052840"/>
            </a:xfrm>
            <a:prstGeom prst="line">
              <a:avLst/>
            </a:prstGeom>
            <a:noFill/>
            <a:ln w="762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7" name="Oval 7"/>
            <p:cNvSpPr>
              <a:spLocks noChangeArrowheads="1"/>
            </p:cNvSpPr>
            <p:nvPr/>
          </p:nvSpPr>
          <p:spPr bwMode="auto">
            <a:xfrm>
              <a:off x="4140842" y="3321936"/>
              <a:ext cx="228600" cy="228600"/>
            </a:xfrm>
            <a:prstGeom prst="ellipse">
              <a:avLst/>
            </a:prstGeom>
            <a:noFill/>
            <a:ln w="38100" cap="sq">
              <a:solidFill>
                <a:schemeClr val="tx1"/>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8" name="Oval 8"/>
            <p:cNvSpPr>
              <a:spLocks noChangeArrowheads="1"/>
            </p:cNvSpPr>
            <p:nvPr/>
          </p:nvSpPr>
          <p:spPr bwMode="auto">
            <a:xfrm>
              <a:off x="5131442" y="3321936"/>
              <a:ext cx="228600" cy="228600"/>
            </a:xfrm>
            <a:prstGeom prst="ellipse">
              <a:avLst/>
            </a:prstGeom>
            <a:noFill/>
            <a:ln w="38100" cap="sq">
              <a:solidFill>
                <a:schemeClr val="tx1"/>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9" name="Oval 9"/>
            <p:cNvSpPr>
              <a:spLocks noChangeArrowheads="1"/>
            </p:cNvSpPr>
            <p:nvPr/>
          </p:nvSpPr>
          <p:spPr bwMode="auto">
            <a:xfrm>
              <a:off x="7188842" y="3321936"/>
              <a:ext cx="228600" cy="228600"/>
            </a:xfrm>
            <a:prstGeom prst="ellipse">
              <a:avLst/>
            </a:prstGeom>
            <a:noFill/>
            <a:ln w="38100" cap="sq">
              <a:solidFill>
                <a:schemeClr val="tx1"/>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0" name="Line 10"/>
            <p:cNvSpPr>
              <a:spLocks noChangeShapeType="1"/>
            </p:cNvSpPr>
            <p:nvPr/>
          </p:nvSpPr>
          <p:spPr bwMode="auto">
            <a:xfrm>
              <a:off x="5817242" y="3550536"/>
              <a:ext cx="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1" name="Line 11"/>
            <p:cNvSpPr>
              <a:spLocks noChangeShapeType="1"/>
            </p:cNvSpPr>
            <p:nvPr/>
          </p:nvSpPr>
          <p:spPr bwMode="auto">
            <a:xfrm>
              <a:off x="5817242" y="3550536"/>
              <a:ext cx="1524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2" name="Line 12"/>
            <p:cNvSpPr>
              <a:spLocks noChangeShapeType="1"/>
            </p:cNvSpPr>
            <p:nvPr/>
          </p:nvSpPr>
          <p:spPr bwMode="auto">
            <a:xfrm>
              <a:off x="5817242" y="3550536"/>
              <a:ext cx="1524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3" name="Line 13"/>
            <p:cNvSpPr>
              <a:spLocks noChangeShapeType="1"/>
            </p:cNvSpPr>
            <p:nvPr/>
          </p:nvSpPr>
          <p:spPr bwMode="auto">
            <a:xfrm flipH="1">
              <a:off x="4369442" y="2140836"/>
              <a:ext cx="1219200" cy="11811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4" name="Line 14"/>
            <p:cNvSpPr>
              <a:spLocks noChangeShapeType="1"/>
            </p:cNvSpPr>
            <p:nvPr/>
          </p:nvSpPr>
          <p:spPr bwMode="auto">
            <a:xfrm flipH="1">
              <a:off x="4369442" y="2140836"/>
              <a:ext cx="1219200" cy="1181100"/>
            </a:xfrm>
            <a:prstGeom prst="line">
              <a:avLst/>
            </a:prstGeom>
            <a:noFill/>
            <a:ln w="571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5" name="Line 15"/>
            <p:cNvSpPr>
              <a:spLocks noChangeShapeType="1"/>
            </p:cNvSpPr>
            <p:nvPr/>
          </p:nvSpPr>
          <p:spPr bwMode="auto">
            <a:xfrm flipH="1">
              <a:off x="5360042" y="2140836"/>
              <a:ext cx="457200" cy="1181100"/>
            </a:xfrm>
            <a:prstGeom prst="line">
              <a:avLst/>
            </a:prstGeom>
            <a:noFill/>
            <a:ln w="571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6" name="Line 16"/>
            <p:cNvSpPr>
              <a:spLocks noChangeShapeType="1"/>
            </p:cNvSpPr>
            <p:nvPr/>
          </p:nvSpPr>
          <p:spPr bwMode="auto">
            <a:xfrm>
              <a:off x="5969642" y="2140836"/>
              <a:ext cx="1219200" cy="1181100"/>
            </a:xfrm>
            <a:prstGeom prst="line">
              <a:avLst/>
            </a:prstGeom>
            <a:noFill/>
            <a:ln w="571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7" name="Oval 17"/>
            <p:cNvSpPr>
              <a:spLocks noChangeArrowheads="1"/>
            </p:cNvSpPr>
            <p:nvPr/>
          </p:nvSpPr>
          <p:spPr bwMode="auto">
            <a:xfrm>
              <a:off x="3226442" y="3093336"/>
              <a:ext cx="1524000" cy="2971800"/>
            </a:xfrm>
            <a:prstGeom prst="ellipse">
              <a:avLst/>
            </a:prstGeom>
            <a:solidFill>
              <a:schemeClr val="tx2">
                <a:alpha val="70000"/>
              </a:schemeClr>
            </a:solidFill>
            <a:ln w="38100"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8" name="Oval 18"/>
            <p:cNvSpPr>
              <a:spLocks noChangeArrowheads="1"/>
            </p:cNvSpPr>
            <p:nvPr/>
          </p:nvSpPr>
          <p:spPr bwMode="auto">
            <a:xfrm>
              <a:off x="4750442" y="3093336"/>
              <a:ext cx="1600200" cy="2971800"/>
            </a:xfrm>
            <a:prstGeom prst="ellipse">
              <a:avLst/>
            </a:prstGeom>
            <a:solidFill>
              <a:schemeClr val="tx2">
                <a:alpha val="70000"/>
              </a:schemeClr>
            </a:solidFill>
            <a:ln w="38100"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9" name="Oval 19"/>
            <p:cNvSpPr>
              <a:spLocks noChangeArrowheads="1"/>
            </p:cNvSpPr>
            <p:nvPr/>
          </p:nvSpPr>
          <p:spPr bwMode="auto">
            <a:xfrm>
              <a:off x="6884042" y="3093336"/>
              <a:ext cx="1600200" cy="2971800"/>
            </a:xfrm>
            <a:prstGeom prst="ellipse">
              <a:avLst/>
            </a:prstGeom>
            <a:solidFill>
              <a:schemeClr val="tx2">
                <a:alpha val="70000"/>
              </a:schemeClr>
            </a:solidFill>
            <a:ln w="38100"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0" name="Freeform 20"/>
            <p:cNvSpPr/>
            <p:nvPr/>
          </p:nvSpPr>
          <p:spPr bwMode="auto">
            <a:xfrm>
              <a:off x="5436242" y="2255136"/>
              <a:ext cx="762000" cy="165100"/>
            </a:xfrm>
            <a:custGeom>
              <a:avLst/>
              <a:gdLst>
                <a:gd name="T0" fmla="*/ 0 w 480"/>
                <a:gd name="T1" fmla="*/ 0 h 104"/>
                <a:gd name="T2" fmla="*/ 192 w 480"/>
                <a:gd name="T3" fmla="*/ 96 h 104"/>
                <a:gd name="T4" fmla="*/ 480 w 480"/>
                <a:gd name="T5" fmla="*/ 48 h 104"/>
              </a:gdLst>
              <a:ahLst/>
              <a:cxnLst>
                <a:cxn ang="0">
                  <a:pos x="T0" y="T1"/>
                </a:cxn>
                <a:cxn ang="0">
                  <a:pos x="T2" y="T3"/>
                </a:cxn>
                <a:cxn ang="0">
                  <a:pos x="T4" y="T5"/>
                </a:cxn>
              </a:cxnLst>
              <a:rect l="0" t="0" r="r" b="b"/>
              <a:pathLst>
                <a:path w="480" h="104">
                  <a:moveTo>
                    <a:pt x="0" y="0"/>
                  </a:moveTo>
                  <a:cubicBezTo>
                    <a:pt x="56" y="44"/>
                    <a:pt x="112" y="88"/>
                    <a:pt x="192" y="96"/>
                  </a:cubicBezTo>
                  <a:cubicBezTo>
                    <a:pt x="272" y="104"/>
                    <a:pt x="432" y="56"/>
                    <a:pt x="480" y="48"/>
                  </a:cubicBezTo>
                </a:path>
              </a:pathLst>
            </a:custGeom>
            <a:noFill/>
            <a:ln w="57150" cap="sq" cmpd="sng">
              <a:solidFill>
                <a:schemeClr val="tx1"/>
              </a:solidFill>
              <a:prstDash val="solid"/>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1" name="Line 21"/>
            <p:cNvSpPr>
              <a:spLocks noChangeShapeType="1"/>
            </p:cNvSpPr>
            <p:nvPr/>
          </p:nvSpPr>
          <p:spPr bwMode="auto">
            <a:xfrm>
              <a:off x="2464442" y="5760336"/>
              <a:ext cx="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rou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2" name="Line 22"/>
            <p:cNvSpPr>
              <a:spLocks noChangeShapeType="1"/>
            </p:cNvSpPr>
            <p:nvPr/>
          </p:nvSpPr>
          <p:spPr bwMode="auto">
            <a:xfrm flipV="1">
              <a:off x="2997842" y="4769736"/>
              <a:ext cx="838200" cy="838200"/>
            </a:xfrm>
            <a:prstGeom prst="line">
              <a:avLst/>
            </a:prstGeom>
            <a:noFill/>
            <a:ln w="57150"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3" name="Line 23"/>
            <p:cNvSpPr>
              <a:spLocks noChangeShapeType="1"/>
            </p:cNvSpPr>
            <p:nvPr/>
          </p:nvSpPr>
          <p:spPr bwMode="auto">
            <a:xfrm flipV="1">
              <a:off x="3226442" y="4769736"/>
              <a:ext cx="2133600" cy="990600"/>
            </a:xfrm>
            <a:prstGeom prst="line">
              <a:avLst/>
            </a:prstGeom>
            <a:noFill/>
            <a:ln w="57150"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4" name="Line 24"/>
            <p:cNvSpPr>
              <a:spLocks noChangeShapeType="1"/>
            </p:cNvSpPr>
            <p:nvPr/>
          </p:nvSpPr>
          <p:spPr bwMode="auto">
            <a:xfrm flipV="1">
              <a:off x="3378842" y="4769736"/>
              <a:ext cx="4267200" cy="1295400"/>
            </a:xfrm>
            <a:prstGeom prst="line">
              <a:avLst/>
            </a:prstGeom>
            <a:noFill/>
            <a:ln w="57150"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 name="TextBox 2"/>
            <p:cNvSpPr txBox="1"/>
            <p:nvPr/>
          </p:nvSpPr>
          <p:spPr>
            <a:xfrm>
              <a:off x="4267200" y="162580"/>
              <a:ext cx="1447800" cy="523220"/>
            </a:xfrm>
            <a:prstGeom prst="rect">
              <a:avLst/>
            </a:prstGeom>
            <a:noFill/>
          </p:spPr>
          <p:txBody>
            <a:bodyPr wrap="square" rtlCol="0">
              <a:spAutoFit/>
            </a:bodyPr>
            <a:lstStyle/>
            <a:p>
              <a:pPr defTabSz="457200"/>
              <a:r>
                <a:rPr lang="en-US" altLang="zh-CN" sz="2800" b="1" dirty="0" err="1">
                  <a:solidFill>
                    <a:prstClr val="black"/>
                  </a:solidFill>
                </a:rPr>
                <a:t>dfs</a:t>
              </a:r>
              <a:r>
                <a:rPr lang="en-US" sz="2800" b="1" dirty="0">
                  <a:solidFill>
                    <a:prstClr val="black"/>
                  </a:solidFill>
                </a:rPr>
                <a:t>(</a:t>
              </a:r>
              <a:r>
                <a:rPr lang="en-US" sz="2800" b="1" dirty="0" err="1">
                  <a:solidFill>
                    <a:prstClr val="black"/>
                  </a:solidFill>
                </a:rPr>
                <a:t>i</a:t>
              </a:r>
              <a:r>
                <a:rPr lang="en-US" sz="2800" b="1" dirty="0">
                  <a:solidFill>
                    <a:prstClr val="black"/>
                  </a:solidFill>
                </a:rPr>
                <a:t>)</a:t>
              </a:r>
              <a:endParaRPr lang="en-US" b="1" dirty="0">
                <a:solidFill>
                  <a:prstClr val="black"/>
                </a:solidFill>
              </a:endParaRPr>
            </a:p>
          </p:txBody>
        </p:sp>
        <p:sp>
          <p:nvSpPr>
            <p:cNvPr id="26" name="TextBox 25"/>
            <p:cNvSpPr txBox="1"/>
            <p:nvPr/>
          </p:nvSpPr>
          <p:spPr>
            <a:xfrm>
              <a:off x="3879313" y="652790"/>
              <a:ext cx="571500" cy="523220"/>
            </a:xfrm>
            <a:prstGeom prst="rect">
              <a:avLst/>
            </a:prstGeom>
            <a:noFill/>
          </p:spPr>
          <p:txBody>
            <a:bodyPr wrap="square" rtlCol="0">
              <a:spAutoFit/>
            </a:bodyPr>
            <a:lstStyle/>
            <a:p>
              <a:pPr defTabSz="457200"/>
              <a:r>
                <a:rPr lang="en-US" sz="2800" b="1" dirty="0">
                  <a:solidFill>
                    <a:prstClr val="black"/>
                  </a:solidFill>
                </a:rPr>
                <a:t>A</a:t>
              </a:r>
              <a:endParaRPr lang="en-US" b="1" dirty="0">
                <a:solidFill>
                  <a:prstClr val="black"/>
                </a:solidFill>
              </a:endParaRPr>
            </a:p>
          </p:txBody>
        </p:sp>
        <p:sp>
          <p:nvSpPr>
            <p:cNvPr id="27" name="TextBox 26"/>
            <p:cNvSpPr txBox="1"/>
            <p:nvPr/>
          </p:nvSpPr>
          <p:spPr>
            <a:xfrm>
              <a:off x="2396086" y="5624232"/>
              <a:ext cx="723900" cy="523220"/>
            </a:xfrm>
            <a:prstGeom prst="rect">
              <a:avLst/>
            </a:prstGeom>
            <a:noFill/>
          </p:spPr>
          <p:txBody>
            <a:bodyPr wrap="square" rtlCol="0">
              <a:spAutoFit/>
            </a:bodyPr>
            <a:lstStyle/>
            <a:p>
              <a:pPr defTabSz="457200"/>
              <a:r>
                <a:rPr lang="en-US" sz="2800" b="1" dirty="0" err="1">
                  <a:solidFill>
                    <a:prstClr val="black"/>
                  </a:solidFill>
                </a:rPr>
                <a:t>Lp</a:t>
              </a:r>
              <a:endParaRPr lang="en-US" b="1" dirty="0">
                <a:solidFill>
                  <a:prstClr val="black"/>
                </a:solidFill>
              </a:endParaRPr>
            </a:p>
          </p:txBody>
        </p:sp>
        <p:sp>
          <p:nvSpPr>
            <p:cNvPr id="28" name="TextBox 27"/>
            <p:cNvSpPr txBox="1"/>
            <p:nvPr/>
          </p:nvSpPr>
          <p:spPr>
            <a:xfrm>
              <a:off x="3449439" y="2570116"/>
              <a:ext cx="1078006" cy="523220"/>
            </a:xfrm>
            <a:prstGeom prst="rect">
              <a:avLst/>
            </a:prstGeom>
            <a:noFill/>
          </p:spPr>
          <p:txBody>
            <a:bodyPr wrap="square" rtlCol="0">
              <a:spAutoFit/>
            </a:bodyPr>
            <a:lstStyle/>
            <a:p>
              <a:pPr defTabSz="457200"/>
              <a:r>
                <a:rPr lang="en-US" sz="2800" b="1" dirty="0">
                  <a:solidFill>
                    <a:prstClr val="black"/>
                  </a:solidFill>
                </a:rPr>
                <a:t>j = 1</a:t>
              </a:r>
              <a:endParaRPr lang="en-US" b="1" dirty="0">
                <a:solidFill>
                  <a:prstClr val="black"/>
                </a:solidFill>
              </a:endParaRPr>
            </a:p>
          </p:txBody>
        </p:sp>
        <p:sp>
          <p:nvSpPr>
            <p:cNvPr id="29" name="TextBox 28"/>
            <p:cNvSpPr txBox="1"/>
            <p:nvPr/>
          </p:nvSpPr>
          <p:spPr>
            <a:xfrm>
              <a:off x="4997135" y="2567576"/>
              <a:ext cx="455916" cy="523220"/>
            </a:xfrm>
            <a:prstGeom prst="rect">
              <a:avLst/>
            </a:prstGeom>
            <a:noFill/>
          </p:spPr>
          <p:txBody>
            <a:bodyPr wrap="square" rtlCol="0">
              <a:spAutoFit/>
            </a:bodyPr>
            <a:lstStyle/>
            <a:p>
              <a:pPr defTabSz="457200"/>
              <a:r>
                <a:rPr lang="en-US" sz="2800" b="1" dirty="0">
                  <a:solidFill>
                    <a:prstClr val="black"/>
                  </a:solidFill>
                </a:rPr>
                <a:t>2</a:t>
              </a:r>
              <a:endParaRPr lang="en-US" b="1" dirty="0">
                <a:solidFill>
                  <a:prstClr val="black"/>
                </a:solidFill>
              </a:endParaRPr>
            </a:p>
          </p:txBody>
        </p:sp>
        <p:sp>
          <p:nvSpPr>
            <p:cNvPr id="30" name="TextBox 29"/>
            <p:cNvSpPr txBox="1"/>
            <p:nvPr/>
          </p:nvSpPr>
          <p:spPr>
            <a:xfrm>
              <a:off x="7188842" y="2570116"/>
              <a:ext cx="455916" cy="523220"/>
            </a:xfrm>
            <a:prstGeom prst="rect">
              <a:avLst/>
            </a:prstGeom>
            <a:noFill/>
          </p:spPr>
          <p:txBody>
            <a:bodyPr wrap="square" rtlCol="0">
              <a:spAutoFit/>
            </a:bodyPr>
            <a:lstStyle/>
            <a:p>
              <a:pPr defTabSz="457200"/>
              <a:r>
                <a:rPr lang="en-US" sz="2800" b="1" dirty="0">
                  <a:solidFill>
                    <a:prstClr val="black"/>
                  </a:solidFill>
                </a:rPr>
                <a:t>8</a:t>
              </a:r>
              <a:endParaRPr lang="en-US" b="1" dirty="0">
                <a:solidFill>
                  <a:prstClr val="black"/>
                </a:solidFill>
              </a:endParaRPr>
            </a:p>
          </p:txBody>
        </p:sp>
        <p:sp>
          <p:nvSpPr>
            <p:cNvPr id="31" name="TextBox 30"/>
            <p:cNvSpPr txBox="1"/>
            <p:nvPr/>
          </p:nvSpPr>
          <p:spPr>
            <a:xfrm>
              <a:off x="5894726" y="2469776"/>
              <a:ext cx="684516" cy="523220"/>
            </a:xfrm>
            <a:prstGeom prst="rect">
              <a:avLst/>
            </a:prstGeom>
            <a:noFill/>
          </p:spPr>
          <p:txBody>
            <a:bodyPr wrap="square" rtlCol="0">
              <a:spAutoFit/>
            </a:bodyPr>
            <a:lstStyle/>
            <a:p>
              <a:pPr defTabSz="457200"/>
              <a:r>
                <a:rPr lang="en-US" sz="2800" b="1" dirty="0">
                  <a:solidFill>
                    <a:prstClr val="black"/>
                  </a:solidFill>
                </a:rPr>
                <a:t>…</a:t>
              </a:r>
              <a:endParaRPr lang="en-US" b="1" dirty="0">
                <a:solidFill>
                  <a:prstClr val="black"/>
                </a:solidFill>
              </a:endParaRPr>
            </a:p>
          </p:txBody>
        </p:sp>
        <p:sp>
          <p:nvSpPr>
            <p:cNvPr id="32" name="Line 14"/>
            <p:cNvSpPr>
              <a:spLocks noChangeShapeType="1"/>
            </p:cNvSpPr>
            <p:nvPr/>
          </p:nvSpPr>
          <p:spPr bwMode="auto">
            <a:xfrm flipH="1">
              <a:off x="3314700" y="912766"/>
              <a:ext cx="1219200" cy="1181100"/>
            </a:xfrm>
            <a:prstGeom prst="line">
              <a:avLst/>
            </a:prstGeom>
            <a:noFill/>
            <a:ln w="5715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3" name="Oval 5"/>
            <p:cNvSpPr>
              <a:spLocks noChangeArrowheads="1"/>
            </p:cNvSpPr>
            <p:nvPr/>
          </p:nvSpPr>
          <p:spPr bwMode="auto">
            <a:xfrm>
              <a:off x="2997842" y="2017375"/>
              <a:ext cx="381000" cy="381000"/>
            </a:xfrm>
            <a:prstGeom prst="ellipse">
              <a:avLst/>
            </a:prstGeom>
            <a:noFill/>
            <a:ln w="38100" cap="sq">
              <a:solidFill>
                <a:schemeClr val="tx1"/>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4" name="Oval 6"/>
            <p:cNvSpPr>
              <a:spLocks noChangeArrowheads="1"/>
            </p:cNvSpPr>
            <p:nvPr/>
          </p:nvSpPr>
          <p:spPr bwMode="auto">
            <a:xfrm>
              <a:off x="3150242" y="2169775"/>
              <a:ext cx="76200" cy="76200"/>
            </a:xfrm>
            <a:prstGeom prst="ellipse">
              <a:avLst/>
            </a:prstGeom>
            <a:solidFill>
              <a:srgbClr val="FFFFFF">
                <a:alpha val="70000"/>
              </a:srgbClr>
            </a:solidFill>
            <a:ln w="38100"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6" name="TextBox 27"/>
            <p:cNvSpPr txBox="1"/>
            <p:nvPr/>
          </p:nvSpPr>
          <p:spPr>
            <a:xfrm>
              <a:off x="2885116" y="1053165"/>
              <a:ext cx="1078006" cy="523220"/>
            </a:xfrm>
            <a:prstGeom prst="rect">
              <a:avLst/>
            </a:prstGeom>
            <a:noFill/>
          </p:spPr>
          <p:txBody>
            <a:bodyPr wrap="square" rtlCol="0">
              <a:spAutoFit/>
            </a:bodyPr>
            <a:lstStyle/>
            <a:p>
              <a:pPr defTabSz="457200"/>
              <a:r>
                <a:rPr lang="en-US" sz="2800" b="1" dirty="0" err="1">
                  <a:solidFill>
                    <a:prstClr val="black"/>
                  </a:solidFill>
                </a:rPr>
                <a:t>i</a:t>
              </a:r>
              <a:r>
                <a:rPr lang="en-US" sz="2800" b="1" dirty="0">
                  <a:solidFill>
                    <a:prstClr val="black"/>
                  </a:solidFill>
                </a:rPr>
                <a:t> &gt; 8</a:t>
              </a:r>
              <a:endParaRPr lang="en-US" b="1" dirty="0">
                <a:solidFill>
                  <a:prstClr val="black"/>
                </a:solidFill>
              </a:endParaRPr>
            </a:p>
          </p:txBody>
        </p:sp>
        <p:sp>
          <p:nvSpPr>
            <p:cNvPr id="2" name="矩形 1"/>
            <p:cNvSpPr/>
            <p:nvPr/>
          </p:nvSpPr>
          <p:spPr>
            <a:xfrm>
              <a:off x="1838882" y="2109243"/>
              <a:ext cx="1114408" cy="784830"/>
            </a:xfrm>
            <a:prstGeom prst="rect">
              <a:avLst/>
            </a:prstGeom>
          </p:spPr>
          <p:txBody>
            <a:bodyPr wrap="square">
              <a:spAutoFit/>
            </a:bodyPr>
            <a:lstStyle/>
            <a:p>
              <a:pPr algn="ctr" fontAlgn="base">
                <a:spcBef>
                  <a:spcPct val="50000"/>
                </a:spcBef>
                <a:spcAft>
                  <a:spcPct val="0"/>
                </a:spcAft>
                <a:defRPr/>
              </a:pPr>
              <a:r>
                <a:rPr lang="en-US" altLang="zh-CN" b="1" dirty="0">
                  <a:solidFill>
                    <a:prstClr val="black"/>
                  </a:solidFill>
                  <a:latin typeface="Garamond" panose="02020404030301010803" pitchFamily="18" charset="0"/>
                  <a:ea typeface="宋体" panose="02010600030101010101" pitchFamily="2" charset="-122"/>
                </a:rPr>
                <a:t>num++</a:t>
              </a:r>
              <a:endParaRPr lang="en-US" altLang="zh-CN" b="1" dirty="0">
                <a:solidFill>
                  <a:prstClr val="black"/>
                </a:solidFill>
                <a:latin typeface="Garamond" panose="02020404030301010803" pitchFamily="18" charset="0"/>
                <a:ea typeface="宋体" panose="02010600030101010101" pitchFamily="2" charset="-122"/>
              </a:endParaRPr>
            </a:p>
            <a:p>
              <a:pPr algn="ctr" fontAlgn="base">
                <a:spcBef>
                  <a:spcPct val="50000"/>
                </a:spcBef>
                <a:spcAft>
                  <a:spcPct val="0"/>
                </a:spcAft>
                <a:defRPr/>
              </a:pPr>
              <a:r>
                <a:rPr lang="zh-CN" altLang="en-US" b="1" dirty="0">
                  <a:solidFill>
                    <a:prstClr val="black"/>
                  </a:solidFill>
                  <a:latin typeface="Garamond" panose="02020404030301010803" pitchFamily="18" charset="0"/>
                  <a:ea typeface="宋体" panose="02010600030101010101" pitchFamily="2" charset="-122"/>
                </a:rPr>
                <a:t>输出方案</a:t>
              </a:r>
              <a:endParaRPr lang="en-US" b="1" dirty="0">
                <a:solidFill>
                  <a:prstClr val="black"/>
                </a:solidFill>
                <a:latin typeface="Garamond" panose="02020404030301010803" pitchFamily="18" charset="0"/>
                <a:ea typeface="宋体" panose="02010600030101010101" pitchFamily="2" charset="-122"/>
              </a:endParaRPr>
            </a:p>
          </p:txBody>
        </p: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8628" name="Oval 4"/>
          <p:cNvSpPr>
            <a:spLocks noChangeArrowheads="1"/>
          </p:cNvSpPr>
          <p:nvPr/>
        </p:nvSpPr>
        <p:spPr bwMode="auto">
          <a:xfrm>
            <a:off x="3962400" y="457200"/>
            <a:ext cx="304800" cy="228600"/>
          </a:xfrm>
          <a:prstGeom prst="ellipse">
            <a:avLst/>
          </a:prstGeom>
          <a:noFill/>
          <a:ln w="57150" cap="sq">
            <a:solidFill>
              <a:schemeClr val="tx1"/>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29" name="Oval 5"/>
          <p:cNvSpPr>
            <a:spLocks noChangeArrowheads="1"/>
          </p:cNvSpPr>
          <p:nvPr/>
        </p:nvSpPr>
        <p:spPr bwMode="auto">
          <a:xfrm>
            <a:off x="2590800" y="1981200"/>
            <a:ext cx="381000" cy="381000"/>
          </a:xfrm>
          <a:prstGeom prst="ellipse">
            <a:avLst/>
          </a:prstGeom>
          <a:noFill/>
          <a:ln w="38100" cap="sq">
            <a:solidFill>
              <a:schemeClr val="tx1"/>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0" name="Oval 6"/>
          <p:cNvSpPr>
            <a:spLocks noChangeArrowheads="1"/>
          </p:cNvSpPr>
          <p:nvPr/>
        </p:nvSpPr>
        <p:spPr bwMode="auto">
          <a:xfrm>
            <a:off x="2743200" y="2133600"/>
            <a:ext cx="76200" cy="76200"/>
          </a:xfrm>
          <a:prstGeom prst="ellipse">
            <a:avLst/>
          </a:prstGeom>
          <a:solidFill>
            <a:srgbClr val="FFFFFF">
              <a:alpha val="70000"/>
            </a:srgbClr>
          </a:solidFill>
          <a:ln w="38100"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1" name="Line 7"/>
          <p:cNvSpPr>
            <a:spLocks noChangeShapeType="1"/>
          </p:cNvSpPr>
          <p:nvPr/>
        </p:nvSpPr>
        <p:spPr bwMode="auto">
          <a:xfrm flipH="1">
            <a:off x="2971800" y="685800"/>
            <a:ext cx="990600" cy="14478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2" name="Line 8"/>
          <p:cNvSpPr>
            <a:spLocks noChangeShapeType="1"/>
          </p:cNvSpPr>
          <p:nvPr/>
        </p:nvSpPr>
        <p:spPr bwMode="auto">
          <a:xfrm flipH="1">
            <a:off x="2971800" y="685800"/>
            <a:ext cx="990600" cy="14478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3" name="Oval 9"/>
          <p:cNvSpPr>
            <a:spLocks noChangeArrowheads="1"/>
          </p:cNvSpPr>
          <p:nvPr/>
        </p:nvSpPr>
        <p:spPr bwMode="auto">
          <a:xfrm>
            <a:off x="4572000" y="1828800"/>
            <a:ext cx="381000" cy="381000"/>
          </a:xfrm>
          <a:prstGeom prst="ellipse">
            <a:avLst/>
          </a:prstGeom>
          <a:solidFill>
            <a:schemeClr val="tx1">
              <a:alpha val="70000"/>
            </a:schemeClr>
          </a:solidFill>
          <a:ln w="76200" cap="sq">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4" name="Line 10"/>
          <p:cNvSpPr>
            <a:spLocks noChangeShapeType="1"/>
          </p:cNvSpPr>
          <p:nvPr/>
        </p:nvSpPr>
        <p:spPr bwMode="auto">
          <a:xfrm>
            <a:off x="4267200" y="685800"/>
            <a:ext cx="533400" cy="11430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5" name="Oval 11"/>
          <p:cNvSpPr>
            <a:spLocks noChangeArrowheads="1"/>
          </p:cNvSpPr>
          <p:nvPr/>
        </p:nvSpPr>
        <p:spPr bwMode="auto">
          <a:xfrm>
            <a:off x="2819400" y="3276600"/>
            <a:ext cx="381000" cy="381000"/>
          </a:xfrm>
          <a:prstGeom prst="ellipse">
            <a:avLst/>
          </a:prstGeom>
          <a:noFill/>
          <a:ln w="38100" cap="sq">
            <a:solidFill>
              <a:schemeClr val="tx1"/>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6" name="Oval 12"/>
          <p:cNvSpPr>
            <a:spLocks noChangeArrowheads="1"/>
          </p:cNvSpPr>
          <p:nvPr/>
        </p:nvSpPr>
        <p:spPr bwMode="auto">
          <a:xfrm>
            <a:off x="4572000" y="3276600"/>
            <a:ext cx="381000" cy="381000"/>
          </a:xfrm>
          <a:prstGeom prst="ellipse">
            <a:avLst/>
          </a:prstGeom>
          <a:noFill/>
          <a:ln w="38100" cap="sq">
            <a:solidFill>
              <a:schemeClr val="tx1"/>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7" name="Oval 13"/>
          <p:cNvSpPr>
            <a:spLocks noChangeArrowheads="1"/>
          </p:cNvSpPr>
          <p:nvPr/>
        </p:nvSpPr>
        <p:spPr bwMode="auto">
          <a:xfrm>
            <a:off x="6400800" y="3276600"/>
            <a:ext cx="381000" cy="381000"/>
          </a:xfrm>
          <a:prstGeom prst="ellipse">
            <a:avLst/>
          </a:prstGeom>
          <a:noFill/>
          <a:ln w="38100" cap="sq">
            <a:solidFill>
              <a:schemeClr val="tx1"/>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8" name="Line 14"/>
          <p:cNvSpPr>
            <a:spLocks noChangeShapeType="1"/>
          </p:cNvSpPr>
          <p:nvPr/>
        </p:nvSpPr>
        <p:spPr bwMode="auto">
          <a:xfrm flipH="1">
            <a:off x="3200400" y="2209800"/>
            <a:ext cx="1371600" cy="10668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9" name="Line 15"/>
          <p:cNvSpPr>
            <a:spLocks noChangeShapeType="1"/>
          </p:cNvSpPr>
          <p:nvPr/>
        </p:nvSpPr>
        <p:spPr bwMode="auto">
          <a:xfrm>
            <a:off x="4800600" y="2209800"/>
            <a:ext cx="0" cy="10668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0" name="Line 16"/>
          <p:cNvSpPr>
            <a:spLocks noChangeShapeType="1"/>
          </p:cNvSpPr>
          <p:nvPr/>
        </p:nvSpPr>
        <p:spPr bwMode="auto">
          <a:xfrm>
            <a:off x="4953000" y="2133600"/>
            <a:ext cx="1447800" cy="11430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4" name="Line 20"/>
          <p:cNvSpPr>
            <a:spLocks noChangeShapeType="1"/>
          </p:cNvSpPr>
          <p:nvPr/>
        </p:nvSpPr>
        <p:spPr bwMode="auto">
          <a:xfrm>
            <a:off x="4419600" y="2590800"/>
            <a:ext cx="152400" cy="1524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7" name="Line 23"/>
          <p:cNvSpPr>
            <a:spLocks noChangeShapeType="1"/>
          </p:cNvSpPr>
          <p:nvPr/>
        </p:nvSpPr>
        <p:spPr bwMode="auto">
          <a:xfrm flipV="1">
            <a:off x="5105400" y="2590800"/>
            <a:ext cx="381000" cy="1524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9" name="Oval 25"/>
          <p:cNvSpPr>
            <a:spLocks noChangeArrowheads="1"/>
          </p:cNvSpPr>
          <p:nvPr/>
        </p:nvSpPr>
        <p:spPr bwMode="auto">
          <a:xfrm>
            <a:off x="685800" y="3345980"/>
            <a:ext cx="2781300" cy="2077403"/>
          </a:xfrm>
          <a:prstGeom prst="ellipse">
            <a:avLst/>
          </a:prstGeom>
          <a:noFill/>
          <a:ln w="28575" cap="sq">
            <a:solidFill>
              <a:schemeClr val="hlink"/>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dirty="0" err="1"/>
              <a:t>i</a:t>
            </a:r>
            <a:r>
              <a:rPr lang="zh-CN" altLang="en-US" dirty="0"/>
              <a:t>行皇后放</a:t>
            </a:r>
            <a:r>
              <a:rPr lang="en-US" altLang="zh-CN" dirty="0"/>
              <a:t>j</a:t>
            </a:r>
            <a:r>
              <a:rPr lang="zh-CN" altLang="en-US" dirty="0"/>
              <a:t>列，即 </a:t>
            </a:r>
            <a:r>
              <a:rPr lang="en-US" dirty="0"/>
              <a:t>queen[</a:t>
            </a:r>
            <a:r>
              <a:rPr lang="en-US" dirty="0" err="1"/>
              <a:t>i</a:t>
            </a:r>
            <a:r>
              <a:rPr lang="en-US" dirty="0"/>
              <a:t>] = j</a:t>
            </a:r>
            <a:endParaRPr lang="en-US" dirty="0"/>
          </a:p>
          <a:p>
            <a:r>
              <a:rPr lang="zh-CN" altLang="en-US" dirty="0"/>
              <a:t>设置冲突</a:t>
            </a:r>
            <a:r>
              <a:rPr lang="en-US" dirty="0" err="1"/>
              <a:t>set_conflict</a:t>
            </a:r>
            <a:r>
              <a:rPr lang="en-US" dirty="0"/>
              <a:t>(</a:t>
            </a:r>
            <a:r>
              <a:rPr lang="en-US" dirty="0" err="1"/>
              <a:t>i</a:t>
            </a:r>
            <a:r>
              <a:rPr lang="en-US" dirty="0"/>
              <a:t>, j);</a:t>
            </a:r>
            <a:endParaRPr lang="en-US" dirty="0"/>
          </a:p>
          <a:p>
            <a:endParaRPr lang="en-US" dirty="0"/>
          </a:p>
        </p:txBody>
      </p:sp>
      <p:sp>
        <p:nvSpPr>
          <p:cNvPr id="538650" name="Oval 26"/>
          <p:cNvSpPr>
            <a:spLocks noChangeArrowheads="1"/>
          </p:cNvSpPr>
          <p:nvPr/>
        </p:nvSpPr>
        <p:spPr bwMode="auto">
          <a:xfrm>
            <a:off x="6057900" y="3581400"/>
            <a:ext cx="2895600" cy="2077403"/>
          </a:xfrm>
          <a:prstGeom prst="ellipse">
            <a:avLst/>
          </a:prstGeom>
          <a:noFill/>
          <a:ln w="28575" cap="sq">
            <a:solidFill>
              <a:schemeClr val="hlink"/>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defTabSz="457200">
              <a:buFont typeface="Wingdings" panose="05000000000000000000" pitchFamily="2" charset="2"/>
              <a:buNone/>
            </a:pPr>
            <a:r>
              <a:rPr lang="en-US" altLang="zh-CN" dirty="0" err="1">
                <a:solidFill>
                  <a:prstClr val="black"/>
                </a:solidFill>
              </a:rPr>
              <a:t>i</a:t>
            </a:r>
            <a:r>
              <a:rPr lang="zh-CN" altLang="en-US" dirty="0">
                <a:solidFill>
                  <a:prstClr val="black"/>
                </a:solidFill>
              </a:rPr>
              <a:t>行</a:t>
            </a:r>
            <a:r>
              <a:rPr lang="en-US" altLang="zh-CN" dirty="0">
                <a:solidFill>
                  <a:prstClr val="black"/>
                </a:solidFill>
              </a:rPr>
              <a:t>j</a:t>
            </a:r>
            <a:r>
              <a:rPr lang="zh-CN" altLang="en-US" dirty="0">
                <a:solidFill>
                  <a:prstClr val="black"/>
                </a:solidFill>
              </a:rPr>
              <a:t>列的皇后拿起</a:t>
            </a:r>
            <a:endParaRPr lang="en-US" altLang="zh-CN" dirty="0">
              <a:solidFill>
                <a:prstClr val="black"/>
              </a:solidFill>
            </a:endParaRPr>
          </a:p>
          <a:p>
            <a:pPr defTabSz="457200"/>
            <a:r>
              <a:rPr lang="en-US" dirty="0"/>
              <a:t>queen[</a:t>
            </a:r>
            <a:r>
              <a:rPr lang="en-US" dirty="0" err="1"/>
              <a:t>i</a:t>
            </a:r>
            <a:r>
              <a:rPr lang="en-US" dirty="0"/>
              <a:t>] = 0;</a:t>
            </a:r>
            <a:endParaRPr lang="en-US" dirty="0"/>
          </a:p>
          <a:p>
            <a:pPr defTabSz="457200"/>
            <a:r>
              <a:rPr lang="zh-CN" altLang="en-US" dirty="0"/>
              <a:t>取消冲突</a:t>
            </a:r>
            <a:r>
              <a:rPr lang="en-US" dirty="0" err="1"/>
              <a:t>unset_conflict</a:t>
            </a:r>
            <a:r>
              <a:rPr lang="en-US" dirty="0"/>
              <a:t>(</a:t>
            </a:r>
            <a:r>
              <a:rPr lang="en-US" dirty="0" err="1"/>
              <a:t>i</a:t>
            </a:r>
            <a:r>
              <a:rPr lang="en-US" dirty="0"/>
              <a:t>, j);</a:t>
            </a:r>
            <a:endParaRPr lang="en-US" dirty="0"/>
          </a:p>
          <a:p>
            <a:pPr defTabSz="457200">
              <a:buFont typeface="Wingdings" panose="05000000000000000000" pitchFamily="2" charset="2"/>
              <a:buNone/>
            </a:pPr>
            <a:endParaRPr lang="en-US" altLang="zh-CN" dirty="0">
              <a:solidFill>
                <a:prstClr val="black"/>
              </a:solidFill>
            </a:endParaRPr>
          </a:p>
        </p:txBody>
      </p:sp>
      <p:sp>
        <p:nvSpPr>
          <p:cNvPr id="538651" name="Rectangle 27"/>
          <p:cNvSpPr>
            <a:spLocks noChangeArrowheads="1"/>
          </p:cNvSpPr>
          <p:nvPr/>
        </p:nvSpPr>
        <p:spPr bwMode="auto">
          <a:xfrm>
            <a:off x="533400" y="6096000"/>
            <a:ext cx="152400" cy="152400"/>
          </a:xfrm>
          <a:prstGeom prst="rect">
            <a:avLst/>
          </a:prstGeom>
          <a:solidFill>
            <a:srgbClr val="FFFFFF">
              <a:alpha val="70000"/>
            </a:srgbClr>
          </a:solidFill>
          <a:ln w="12700" cap="sq">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52" name="Oval 28"/>
          <p:cNvSpPr>
            <a:spLocks noChangeArrowheads="1"/>
          </p:cNvSpPr>
          <p:nvPr/>
        </p:nvSpPr>
        <p:spPr bwMode="auto">
          <a:xfrm>
            <a:off x="3962400" y="3887955"/>
            <a:ext cx="1524000" cy="562630"/>
          </a:xfrm>
          <a:prstGeom prst="ellipse">
            <a:avLst/>
          </a:prstGeom>
          <a:noFill/>
          <a:ln w="28575" cap="sq">
            <a:solidFill>
              <a:schemeClr val="hlink"/>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fontAlgn="base">
              <a:spcBef>
                <a:spcPct val="50000"/>
              </a:spcBef>
              <a:spcAft>
                <a:spcPct val="0"/>
              </a:spcAft>
              <a:defRPr/>
            </a:pPr>
            <a:r>
              <a:rPr lang="en-US" altLang="zh-CN" sz="2000" dirty="0" err="1">
                <a:solidFill>
                  <a:prstClr val="black"/>
                </a:solidFill>
              </a:rPr>
              <a:t>dfs</a:t>
            </a:r>
            <a:r>
              <a:rPr lang="en-US" altLang="zh-CN" sz="2000" dirty="0">
                <a:solidFill>
                  <a:prstClr val="black"/>
                </a:solidFill>
              </a:rPr>
              <a:t>(i+1)</a:t>
            </a:r>
            <a:endParaRPr lang="en-US" dirty="0">
              <a:solidFill>
                <a:srgbClr val="FFFFFF"/>
              </a:solidFill>
              <a:latin typeface="Garamond" panose="02020404030301010803" pitchFamily="18" charset="0"/>
              <a:ea typeface="宋体" panose="02010600030101010101" pitchFamily="2" charset="-122"/>
            </a:endParaRPr>
          </a:p>
        </p:txBody>
      </p:sp>
      <p:sp>
        <p:nvSpPr>
          <p:cNvPr id="538656" name="Oval 32"/>
          <p:cNvSpPr>
            <a:spLocks noChangeArrowheads="1"/>
          </p:cNvSpPr>
          <p:nvPr/>
        </p:nvSpPr>
        <p:spPr bwMode="auto">
          <a:xfrm>
            <a:off x="419100" y="1928485"/>
            <a:ext cx="2971800" cy="562630"/>
          </a:xfrm>
          <a:prstGeom prst="ellipse">
            <a:avLst/>
          </a:prstGeom>
          <a:noFill/>
          <a:ln w="28575" cap="sq">
            <a:solidFill>
              <a:schemeClr val="hlink"/>
            </a:solidFill>
            <a:rou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r>
              <a:rPr lang="zh-CN" altLang="en-US" sz="2000" b="1" dirty="0">
                <a:solidFill>
                  <a:prstClr val="black"/>
                </a:solidFill>
                <a:latin typeface="Garamond" panose="02020404030301010803" pitchFamily="18" charset="0"/>
                <a:ea typeface="宋体" panose="02010600030101010101" pitchFamily="2" charset="-122"/>
              </a:rPr>
              <a:t>什么也不做</a:t>
            </a:r>
            <a:endParaRPr lang="en-US" b="1" dirty="0">
              <a:solidFill>
                <a:prstClr val="black"/>
              </a:solidFill>
              <a:latin typeface="Garamond" panose="02020404030301010803" pitchFamily="18" charset="0"/>
              <a:ea typeface="宋体" panose="02010600030101010101" pitchFamily="2" charset="-122"/>
            </a:endParaRPr>
          </a:p>
        </p:txBody>
      </p:sp>
      <p:sp>
        <p:nvSpPr>
          <p:cNvPr id="538657" name="Freeform 33"/>
          <p:cNvSpPr/>
          <p:nvPr/>
        </p:nvSpPr>
        <p:spPr bwMode="auto">
          <a:xfrm>
            <a:off x="4284663" y="2276475"/>
            <a:ext cx="893762" cy="285750"/>
          </a:xfrm>
          <a:custGeom>
            <a:avLst/>
            <a:gdLst>
              <a:gd name="T0" fmla="*/ 0 w 544"/>
              <a:gd name="T1" fmla="*/ 45 h 143"/>
              <a:gd name="T2" fmla="*/ 226 w 544"/>
              <a:gd name="T3" fmla="*/ 136 h 143"/>
              <a:gd name="T4" fmla="*/ 453 w 544"/>
              <a:gd name="T5" fmla="*/ 90 h 143"/>
              <a:gd name="T6" fmla="*/ 544 w 544"/>
              <a:gd name="T7" fmla="*/ 0 h 143"/>
            </a:gdLst>
            <a:ahLst/>
            <a:cxnLst>
              <a:cxn ang="0">
                <a:pos x="T0" y="T1"/>
              </a:cxn>
              <a:cxn ang="0">
                <a:pos x="T2" y="T3"/>
              </a:cxn>
              <a:cxn ang="0">
                <a:pos x="T4" y="T5"/>
              </a:cxn>
              <a:cxn ang="0">
                <a:pos x="T6" y="T7"/>
              </a:cxn>
            </a:cxnLst>
            <a:rect l="0" t="0" r="r" b="b"/>
            <a:pathLst>
              <a:path w="544" h="143">
                <a:moveTo>
                  <a:pt x="0" y="45"/>
                </a:moveTo>
                <a:cubicBezTo>
                  <a:pt x="75" y="87"/>
                  <a:pt x="151" y="129"/>
                  <a:pt x="226" y="136"/>
                </a:cubicBezTo>
                <a:cubicBezTo>
                  <a:pt x="301" y="143"/>
                  <a:pt x="400" y="113"/>
                  <a:pt x="453" y="90"/>
                </a:cubicBezTo>
                <a:cubicBezTo>
                  <a:pt x="506" y="67"/>
                  <a:pt x="525" y="33"/>
                  <a:pt x="544" y="0"/>
                </a:cubicBezTo>
              </a:path>
            </a:pathLst>
          </a:custGeom>
          <a:noFill/>
          <a:ln w="38100" cap="flat"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0" name="TextBox 29"/>
          <p:cNvSpPr txBox="1"/>
          <p:nvPr/>
        </p:nvSpPr>
        <p:spPr>
          <a:xfrm>
            <a:off x="4267200" y="162580"/>
            <a:ext cx="1447800" cy="523220"/>
          </a:xfrm>
          <a:prstGeom prst="rect">
            <a:avLst/>
          </a:prstGeom>
          <a:noFill/>
        </p:spPr>
        <p:txBody>
          <a:bodyPr wrap="square" rtlCol="0">
            <a:spAutoFit/>
          </a:bodyPr>
          <a:lstStyle/>
          <a:p>
            <a:pPr defTabSz="457200"/>
            <a:r>
              <a:rPr lang="en-US" sz="2800" b="1" dirty="0" err="1">
                <a:solidFill>
                  <a:prstClr val="black"/>
                </a:solidFill>
              </a:rPr>
              <a:t>Lp</a:t>
            </a:r>
            <a:endParaRPr lang="en-US" b="1" dirty="0">
              <a:solidFill>
                <a:prstClr val="black"/>
              </a:solidFill>
            </a:endParaRPr>
          </a:p>
        </p:txBody>
      </p:sp>
      <p:sp>
        <p:nvSpPr>
          <p:cNvPr id="31" name="TextBox 30"/>
          <p:cNvSpPr txBox="1"/>
          <p:nvPr/>
        </p:nvSpPr>
        <p:spPr>
          <a:xfrm>
            <a:off x="1963271" y="923554"/>
            <a:ext cx="1447800" cy="523220"/>
          </a:xfrm>
          <a:prstGeom prst="rect">
            <a:avLst/>
          </a:prstGeom>
          <a:noFill/>
        </p:spPr>
        <p:txBody>
          <a:bodyPr wrap="square" rtlCol="0">
            <a:spAutoFit/>
          </a:bodyPr>
          <a:lstStyle/>
          <a:p>
            <a:pPr defTabSz="457200"/>
            <a:r>
              <a:rPr lang="zh-CN" altLang="en-US" sz="2800" b="1" dirty="0">
                <a:solidFill>
                  <a:prstClr val="black"/>
                </a:solidFill>
              </a:rPr>
              <a:t>不安全</a:t>
            </a:r>
            <a:endParaRPr lang="en-US" b="1" dirty="0">
              <a:solidFill>
                <a:prstClr val="black"/>
              </a:solidFill>
            </a:endParaRPr>
          </a:p>
        </p:txBody>
      </p:sp>
      <p:sp>
        <p:nvSpPr>
          <p:cNvPr id="32" name="TextBox 31"/>
          <p:cNvSpPr txBox="1"/>
          <p:nvPr/>
        </p:nvSpPr>
        <p:spPr>
          <a:xfrm>
            <a:off x="4469160" y="877705"/>
            <a:ext cx="1447800" cy="523220"/>
          </a:xfrm>
          <a:prstGeom prst="rect">
            <a:avLst/>
          </a:prstGeom>
          <a:noFill/>
        </p:spPr>
        <p:txBody>
          <a:bodyPr wrap="square" rtlCol="0">
            <a:spAutoFit/>
          </a:bodyPr>
          <a:lstStyle/>
          <a:p>
            <a:pPr defTabSz="457200"/>
            <a:r>
              <a:rPr lang="zh-CN" altLang="en-US" sz="2800" b="1" dirty="0">
                <a:solidFill>
                  <a:prstClr val="black"/>
                </a:solidFill>
              </a:rPr>
              <a:t>安全</a:t>
            </a:r>
            <a:endParaRPr lang="en-US" b="1" dirty="0">
              <a:solidFill>
                <a:prstClr val="black"/>
              </a:solidFill>
            </a:endParaRPr>
          </a:p>
        </p:txBody>
      </p:sp>
      <p:sp>
        <p:nvSpPr>
          <p:cNvPr id="33" name="TextBox 32"/>
          <p:cNvSpPr txBox="1"/>
          <p:nvPr/>
        </p:nvSpPr>
        <p:spPr>
          <a:xfrm>
            <a:off x="2933700" y="2443490"/>
            <a:ext cx="1447800" cy="523220"/>
          </a:xfrm>
          <a:prstGeom prst="rect">
            <a:avLst/>
          </a:prstGeom>
          <a:noFill/>
        </p:spPr>
        <p:txBody>
          <a:bodyPr wrap="square" rtlCol="0">
            <a:spAutoFit/>
          </a:bodyPr>
          <a:lstStyle/>
          <a:p>
            <a:pPr defTabSz="457200"/>
            <a:r>
              <a:rPr lang="en-US" altLang="zh-CN" sz="2800" b="1" dirty="0" err="1">
                <a:solidFill>
                  <a:prstClr val="black"/>
                </a:solidFill>
              </a:rPr>
              <a:t>i</a:t>
            </a:r>
            <a:r>
              <a:rPr lang="en-US" altLang="zh-CN" sz="2800" b="1" dirty="0">
                <a:solidFill>
                  <a:prstClr val="black"/>
                </a:solidFill>
              </a:rPr>
              <a:t>&lt;=8</a:t>
            </a:r>
            <a:endParaRPr lang="en-US" b="1" dirty="0">
              <a:solidFill>
                <a:prstClr val="black"/>
              </a:solidFill>
            </a:endParaRPr>
          </a:p>
        </p:txBody>
      </p:sp>
      <p:pic>
        <p:nvPicPr>
          <p:cNvPr id="2" name="图片 1"/>
          <p:cNvPicPr>
            <a:picLocks noChangeAspect="1"/>
          </p:cNvPicPr>
          <p:nvPr/>
        </p:nvPicPr>
        <p:blipFill>
          <a:blip r:embed="rId1"/>
          <a:stretch>
            <a:fillRect/>
          </a:stretch>
        </p:blipFill>
        <p:spPr>
          <a:xfrm>
            <a:off x="5846461" y="157520"/>
            <a:ext cx="3127712" cy="2686275"/>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参考代码</a:t>
            </a:r>
            <a:endParaRPr lang="en-US" dirty="0"/>
          </a:p>
        </p:txBody>
      </p:sp>
      <p:sp>
        <p:nvSpPr>
          <p:cNvPr id="4" name="文本框 3"/>
          <p:cNvSpPr txBox="1"/>
          <p:nvPr/>
        </p:nvSpPr>
        <p:spPr>
          <a:xfrm>
            <a:off x="432000" y="1423686"/>
            <a:ext cx="3619139" cy="369332"/>
          </a:xfrm>
          <a:prstGeom prst="rect">
            <a:avLst/>
          </a:prstGeom>
          <a:noFill/>
        </p:spPr>
        <p:txBody>
          <a:bodyPr wrap="square" rtlCol="0">
            <a:spAutoFit/>
          </a:bodyPr>
          <a:lstStyle/>
          <a:p>
            <a:r>
              <a:rPr lang="zh-CN" altLang="en-US" dirty="0"/>
              <a:t>核心递归代码：</a:t>
            </a:r>
            <a:endParaRPr lang="en-US" dirty="0"/>
          </a:p>
        </p:txBody>
      </p:sp>
      <p:pic>
        <p:nvPicPr>
          <p:cNvPr id="5" name="图片 4"/>
          <p:cNvPicPr>
            <a:picLocks noChangeAspect="1"/>
          </p:cNvPicPr>
          <p:nvPr/>
        </p:nvPicPr>
        <p:blipFill>
          <a:blip r:embed="rId1"/>
          <a:stretch>
            <a:fillRect/>
          </a:stretch>
        </p:blipFill>
        <p:spPr>
          <a:xfrm>
            <a:off x="432000" y="1885054"/>
            <a:ext cx="5496692" cy="4258269"/>
          </a:xfrm>
          <a:prstGeom prst="rect">
            <a:avLst/>
          </a:prstGeom>
        </p:spPr>
      </p:pic>
      <p:sp>
        <p:nvSpPr>
          <p:cNvPr id="7" name="矩形 6"/>
          <p:cNvSpPr/>
          <p:nvPr/>
        </p:nvSpPr>
        <p:spPr>
          <a:xfrm>
            <a:off x="4140000" y="289679"/>
            <a:ext cx="4572000" cy="3139321"/>
          </a:xfrm>
          <a:prstGeom prst="rect">
            <a:avLst/>
          </a:prstGeom>
        </p:spPr>
        <p:txBody>
          <a:bodyPr>
            <a:spAutoFit/>
          </a:bodyPr>
          <a:lstStyle/>
          <a:p>
            <a:r>
              <a:rPr lang="en-US" dirty="0">
                <a:solidFill>
                  <a:srgbClr val="0000FF"/>
                </a:solidFill>
                <a:latin typeface="Consolas" panose="020B0609020204030204" pitchFamily="49" charset="0"/>
              </a:rPr>
              <a:t>#include </a:t>
            </a:r>
            <a:r>
              <a:rPr lang="en-US" dirty="0">
                <a:solidFill>
                  <a:srgbClr val="A31515"/>
                </a:solidFill>
                <a:latin typeface="Consolas" panose="020B0609020204030204" pitchFamily="49" charset="0"/>
              </a:rPr>
              <a:t>&lt;</a:t>
            </a:r>
            <a:r>
              <a:rPr lang="en-US" dirty="0" err="1">
                <a:solidFill>
                  <a:srgbClr val="A31515"/>
                </a:solidFill>
                <a:latin typeface="Consolas" panose="020B0609020204030204" pitchFamily="49" charset="0"/>
              </a:rPr>
              <a:t>stdio.h</a:t>
            </a:r>
            <a:r>
              <a:rPr lang="en-US" dirty="0">
                <a:solidFill>
                  <a:srgbClr val="A31515"/>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#define N </a:t>
            </a:r>
            <a:r>
              <a:rPr lang="en-US" dirty="0">
                <a:solidFill>
                  <a:srgbClr val="098658"/>
                </a:solidFill>
                <a:latin typeface="Consolas" panose="020B0609020204030204" pitchFamily="49" charset="0"/>
              </a:rPr>
              <a:t>9</a:t>
            </a:r>
            <a:endParaRPr lang="en-US" dirty="0">
              <a:solidFill>
                <a:srgbClr val="000000"/>
              </a:solidFill>
              <a:latin typeface="Consolas" panose="020B0609020204030204" pitchFamily="49" charset="0"/>
            </a:endParaRPr>
          </a:p>
          <a:p>
            <a:br>
              <a:rPr lang="en-US" dirty="0">
                <a:solidFill>
                  <a:srgbClr val="000000"/>
                </a:solidFill>
                <a:latin typeface="Consolas" panose="020B0609020204030204" pitchFamily="49" charset="0"/>
              </a:rPr>
            </a:b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queen[</a:t>
            </a:r>
            <a:r>
              <a:rPr lang="en-US" dirty="0">
                <a:solidFill>
                  <a:srgbClr val="0000FF"/>
                </a:solidFill>
                <a:latin typeface="Consolas" panose="020B0609020204030204" pitchFamily="49" charset="0"/>
              </a:rPr>
              <a:t>N</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safe[</a:t>
            </a:r>
            <a:r>
              <a:rPr lang="en-US" dirty="0">
                <a:solidFill>
                  <a:srgbClr val="0000FF"/>
                </a:solidFill>
                <a:latin typeface="Consolas" panose="020B0609020204030204" pitchFamily="49" charset="0"/>
              </a:rPr>
              <a:t>N</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N</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nTotal</a:t>
            </a:r>
            <a:r>
              <a:rPr lang="en-US" dirty="0">
                <a:solidFill>
                  <a:srgbClr val="000000"/>
                </a:solidFill>
                <a:latin typeface="Consolas" panose="020B0609020204030204" pitchFamily="49" charset="0"/>
              </a:rPr>
              <a:t>, n = </a:t>
            </a:r>
            <a:r>
              <a:rPr lang="en-US" dirty="0">
                <a:solidFill>
                  <a:srgbClr val="098658"/>
                </a:solidFill>
                <a:latin typeface="Consolas" panose="020B0609020204030204" pitchFamily="49" charset="0"/>
              </a:rPr>
              <a:t>8</a:t>
            </a:r>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br>
              <a:rPr lang="en-US" dirty="0">
                <a:solidFill>
                  <a:srgbClr val="000000"/>
                </a:solidFill>
                <a:latin typeface="Consolas" panose="020B0609020204030204" pitchFamily="49" charset="0"/>
              </a:rPr>
            </a:b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check_safe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j);</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set_conflict</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j);</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unset_conflict</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j);</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output();</a:t>
            </a:r>
            <a:endParaRPr lang="en-US" b="0" dirty="0">
              <a:solidFill>
                <a:srgbClr val="000000"/>
              </a:solidFill>
              <a:effectLst/>
              <a:latin typeface="Consolas" panose="020B0609020204030204" pitchFamily="49" charset="0"/>
            </a:endParaRPr>
          </a:p>
        </p:txBody>
      </p:sp>
      <p:sp>
        <p:nvSpPr>
          <p:cNvPr id="8" name="矩形 7"/>
          <p:cNvSpPr/>
          <p:nvPr/>
        </p:nvSpPr>
        <p:spPr>
          <a:xfrm>
            <a:off x="5453334" y="5064983"/>
            <a:ext cx="3690666" cy="1600438"/>
          </a:xfrm>
          <a:prstGeom prst="rect">
            <a:avLst/>
          </a:prstGeom>
        </p:spPr>
        <p:txBody>
          <a:bodyPr wrap="square">
            <a:spAutoFit/>
          </a:bodyPr>
          <a:lstStyle/>
          <a:p>
            <a:br>
              <a:rPr lang="en-US" sz="1400" dirty="0">
                <a:solidFill>
                  <a:srgbClr val="000000"/>
                </a:solidFill>
                <a:latin typeface="Consolas" panose="020B0609020204030204" pitchFamily="49" charset="0"/>
              </a:rPr>
            </a:b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main()</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dfs</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1</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nTotal</a:t>
            </a:r>
            <a:r>
              <a:rPr lang="en-US" sz="1400" dirty="0">
                <a:solidFill>
                  <a:srgbClr val="A31515"/>
                </a:solidFill>
                <a:latin typeface="Consolas" panose="020B0609020204030204" pitchFamily="49" charset="0"/>
              </a:rPr>
              <a:t>:%d\n"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nTotal</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9" name="TextBox 3"/>
          <p:cNvSpPr txBox="1"/>
          <p:nvPr/>
        </p:nvSpPr>
        <p:spPr>
          <a:xfrm>
            <a:off x="1428700" y="5767442"/>
            <a:ext cx="4499992" cy="935834"/>
          </a:xfrm>
          <a:prstGeom prst="rect">
            <a:avLst/>
          </a:prstGeom>
          <a:noFill/>
        </p:spPr>
        <p:txBody>
          <a:bodyPr wrap="square" rtlCol="0">
            <a:spAutoFit/>
          </a:bodyPr>
          <a:lstStyle/>
          <a:p>
            <a:pPr>
              <a:lnSpc>
                <a:spcPct val="125000"/>
              </a:lnSpc>
            </a:pPr>
            <a:r>
              <a:rPr lang="zh-CN" altLang="en-US" sz="1500" b="1" dirty="0">
                <a:solidFill>
                  <a:srgbClr val="FE2034"/>
                </a:solidFill>
              </a:rPr>
              <a:t>思考：</a:t>
            </a:r>
            <a:br>
              <a:rPr lang="en-US" altLang="zh-CN" sz="1500" b="1" dirty="0">
                <a:solidFill>
                  <a:srgbClr val="FE2034"/>
                </a:solidFill>
              </a:rPr>
            </a:br>
            <a:r>
              <a:rPr lang="en-US" altLang="zh-CN" sz="1500" b="1" dirty="0">
                <a:solidFill>
                  <a:srgbClr val="FE2034"/>
                </a:solidFill>
              </a:rPr>
              <a:t>1. </a:t>
            </a:r>
            <a:r>
              <a:rPr lang="zh-CN" altLang="en-US" sz="1500" b="1" dirty="0">
                <a:solidFill>
                  <a:srgbClr val="FE2034"/>
                </a:solidFill>
              </a:rPr>
              <a:t>数组</a:t>
            </a:r>
            <a:r>
              <a:rPr lang="en-US" altLang="zh-CN" sz="1500" b="1" dirty="0">
                <a:solidFill>
                  <a:srgbClr val="FE2034"/>
                </a:solidFill>
              </a:rPr>
              <a:t>queen</a:t>
            </a:r>
            <a:r>
              <a:rPr lang="zh-CN" altLang="en-US" sz="1500" b="1" dirty="0">
                <a:solidFill>
                  <a:srgbClr val="FE2034"/>
                </a:solidFill>
              </a:rPr>
              <a:t>和</a:t>
            </a:r>
            <a:r>
              <a:rPr lang="en-US" altLang="zh-CN" sz="1500" b="1" dirty="0">
                <a:solidFill>
                  <a:srgbClr val="FE2034"/>
                </a:solidFill>
              </a:rPr>
              <a:t>safe</a:t>
            </a:r>
            <a:r>
              <a:rPr lang="zh-CN" altLang="en-US" sz="1500" b="1" dirty="0">
                <a:solidFill>
                  <a:srgbClr val="FE2034"/>
                </a:solidFill>
              </a:rPr>
              <a:t>是否可以设置成局部变量？</a:t>
            </a:r>
            <a:br>
              <a:rPr lang="en-US" altLang="zh-CN" sz="1500" b="1" dirty="0">
                <a:solidFill>
                  <a:srgbClr val="FE2034"/>
                </a:solidFill>
              </a:rPr>
            </a:br>
            <a:r>
              <a:rPr lang="en-US" altLang="zh-CN" sz="1500" b="1" dirty="0">
                <a:solidFill>
                  <a:srgbClr val="FE2034"/>
                </a:solidFill>
              </a:rPr>
              <a:t>2. </a:t>
            </a:r>
            <a:r>
              <a:rPr lang="zh-CN" altLang="en-US" sz="1500" b="1" dirty="0">
                <a:solidFill>
                  <a:srgbClr val="FE2034"/>
                </a:solidFill>
              </a:rPr>
              <a:t>整型变量</a:t>
            </a:r>
            <a:r>
              <a:rPr lang="en-US" altLang="zh-CN" sz="1500" b="1" dirty="0" err="1">
                <a:solidFill>
                  <a:srgbClr val="FE2034"/>
                </a:solidFill>
              </a:rPr>
              <a:t>nTotal</a:t>
            </a:r>
            <a:r>
              <a:rPr lang="zh-CN" altLang="en-US" sz="1500" b="1" dirty="0">
                <a:solidFill>
                  <a:srgbClr val="FE2034"/>
                </a:solidFill>
              </a:rPr>
              <a:t>是否可以设置成局部变量？</a:t>
            </a:r>
            <a:endParaRPr lang="en-US" altLang="zh-CN" sz="15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其他函数</a:t>
            </a:r>
            <a:endParaRPr lang="en-US" dirty="0"/>
          </a:p>
        </p:txBody>
      </p:sp>
      <p:pic>
        <p:nvPicPr>
          <p:cNvPr id="4" name="图片 3"/>
          <p:cNvPicPr>
            <a:picLocks noChangeAspect="1"/>
          </p:cNvPicPr>
          <p:nvPr/>
        </p:nvPicPr>
        <p:blipFill rotWithShape="1">
          <a:blip r:embed="rId1"/>
          <a:srcRect t="18960"/>
          <a:stretch>
            <a:fillRect/>
          </a:stretch>
        </p:blipFill>
        <p:spPr>
          <a:xfrm>
            <a:off x="432000" y="1384164"/>
            <a:ext cx="6189915" cy="5473836"/>
          </a:xfrm>
          <a:prstGeom prst="rect">
            <a:avLst/>
          </a:prstGeom>
        </p:spPr>
      </p:pic>
      <p:pic>
        <p:nvPicPr>
          <p:cNvPr id="5" name="图片 4"/>
          <p:cNvPicPr>
            <a:picLocks noChangeAspect="1"/>
          </p:cNvPicPr>
          <p:nvPr/>
        </p:nvPicPr>
        <p:blipFill>
          <a:blip r:embed="rId2"/>
          <a:stretch>
            <a:fillRect/>
          </a:stretch>
        </p:blipFill>
        <p:spPr>
          <a:xfrm>
            <a:off x="4798403" y="3640138"/>
            <a:ext cx="4293345" cy="1648219"/>
          </a:xfrm>
          <a:prstGeom prst="rect">
            <a:avLst/>
          </a:prstGeom>
          <a:ln>
            <a:solidFill>
              <a:schemeClr val="tx1"/>
            </a:solidFill>
          </a:ln>
        </p:spPr>
      </p:pic>
      <p:pic>
        <p:nvPicPr>
          <p:cNvPr id="6" name="图片 5"/>
          <p:cNvPicPr>
            <a:picLocks noChangeAspect="1"/>
          </p:cNvPicPr>
          <p:nvPr/>
        </p:nvPicPr>
        <p:blipFill>
          <a:blip r:embed="rId3"/>
          <a:stretch>
            <a:fillRect/>
          </a:stretch>
        </p:blipFill>
        <p:spPr>
          <a:xfrm>
            <a:off x="4798404" y="96078"/>
            <a:ext cx="4290424" cy="1831999"/>
          </a:xfrm>
          <a:prstGeom prst="rect">
            <a:avLst/>
          </a:prstGeom>
          <a:ln>
            <a:solidFill>
              <a:schemeClr val="tx1"/>
            </a:solid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代码优化</a:t>
            </a:r>
            <a:r>
              <a:rPr lang="en-US" altLang="zh-CN" dirty="0"/>
              <a:t>——</a:t>
            </a:r>
            <a:r>
              <a:rPr lang="zh-CN" altLang="en-US" dirty="0"/>
              <a:t>空间压缩</a:t>
            </a:r>
            <a:endParaRPr lang="en-US" dirty="0"/>
          </a:p>
        </p:txBody>
      </p:sp>
      <p:sp>
        <p:nvSpPr>
          <p:cNvPr id="3" name="内容占位符 2"/>
          <p:cNvSpPr>
            <a:spLocks noGrp="1"/>
          </p:cNvSpPr>
          <p:nvPr>
            <p:ph idx="1"/>
          </p:nvPr>
        </p:nvSpPr>
        <p:spPr/>
        <p:txBody>
          <a:bodyPr/>
          <a:lstStyle/>
          <a:p>
            <a:r>
              <a:rPr lang="zh-CN" altLang="en-US" dirty="0"/>
              <a:t>将二维标志数组</a:t>
            </a:r>
            <a:r>
              <a:rPr lang="en-US" altLang="zh-CN" dirty="0"/>
              <a:t>safe</a:t>
            </a:r>
            <a:r>
              <a:rPr lang="zh-CN" altLang="en-US" dirty="0"/>
              <a:t>压缩为一维数组</a:t>
            </a:r>
            <a:r>
              <a:rPr lang="en-US" altLang="zh-CN" dirty="0"/>
              <a:t>——</a:t>
            </a:r>
            <a:r>
              <a:rPr lang="zh-CN" altLang="en-US" dirty="0"/>
              <a:t>列安全</a:t>
            </a:r>
            <a:endParaRPr lang="en-US" altLang="zh-CN" dirty="0"/>
          </a:p>
          <a:p>
            <a:pPr lvl="1"/>
            <a:r>
              <a:rPr lang="zh-CN" altLang="en-US" dirty="0"/>
              <a:t>当第 </a:t>
            </a:r>
            <a:r>
              <a:rPr lang="en-US" altLang="zh-CN" dirty="0" err="1"/>
              <a:t>i</a:t>
            </a:r>
            <a:r>
              <a:rPr lang="en-US" altLang="zh-CN" dirty="0"/>
              <a:t> </a:t>
            </a:r>
            <a:r>
              <a:rPr lang="zh-CN" altLang="en-US" dirty="0"/>
              <a:t>行的皇后放置在第 </a:t>
            </a:r>
            <a:r>
              <a:rPr lang="en-US" altLang="zh-CN" dirty="0"/>
              <a:t>j </a:t>
            </a:r>
            <a:r>
              <a:rPr lang="zh-CN" altLang="en-US" dirty="0"/>
              <a:t>列时，棋盘上每一行的第</a:t>
            </a:r>
            <a:r>
              <a:rPr lang="en-US" altLang="zh-CN" dirty="0"/>
              <a:t> j </a:t>
            </a:r>
            <a:r>
              <a:rPr lang="zh-CN" altLang="en-US" dirty="0"/>
              <a:t>列都变得不安全</a:t>
            </a:r>
            <a:endParaRPr lang="en-US" altLang="zh-CN" dirty="0">
              <a:solidFill>
                <a:srgbClr val="FF0000"/>
              </a:solidFill>
            </a:endParaRPr>
          </a:p>
          <a:p>
            <a:pPr lvl="1"/>
            <a:r>
              <a:rPr lang="zh-CN" altLang="en-US" dirty="0"/>
              <a:t>定义一维数组</a:t>
            </a:r>
            <a:r>
              <a:rPr lang="en-US" altLang="zh-CN" dirty="0"/>
              <a:t>C</a:t>
            </a:r>
            <a:r>
              <a:rPr lang="zh-CN" altLang="en-US" dirty="0"/>
              <a:t>，记录列是否安全</a:t>
            </a:r>
            <a:endParaRPr lang="en-US" altLang="zh-CN" dirty="0"/>
          </a:p>
          <a:p>
            <a:pPr marL="334645" lvl="1" indent="0">
              <a:buNone/>
            </a:pPr>
            <a:r>
              <a:rPr lang="en-US" altLang="zh-CN" dirty="0"/>
              <a:t>   C[j] == 1</a:t>
            </a:r>
            <a:r>
              <a:rPr lang="zh-CN" altLang="en-US" dirty="0"/>
              <a:t>：安全，</a:t>
            </a:r>
            <a:r>
              <a:rPr lang="en-US" altLang="zh-CN" dirty="0"/>
              <a:t>C[j] == 0</a:t>
            </a:r>
            <a:r>
              <a:rPr lang="zh-CN" altLang="en-US" dirty="0"/>
              <a:t>：不安全</a:t>
            </a:r>
            <a:endParaRPr lang="en-US" altLang="zh-CN" dirty="0"/>
          </a:p>
          <a:p>
            <a:pPr marL="334645" lvl="1" indent="0">
              <a:buNone/>
            </a:pPr>
            <a:r>
              <a:rPr lang="en-US" altLang="zh-CN" dirty="0"/>
              <a:t>    j = 1, 2, …, 8</a:t>
            </a:r>
            <a:endParaRPr lang="en-US" altLang="zh-CN" dirty="0"/>
          </a:p>
          <a:p>
            <a:pPr lvl="1"/>
            <a:endParaRPr lang="en-US" altLang="zh-CN" dirty="0"/>
          </a:p>
          <a:p>
            <a:endParaRPr 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0132" y="3760155"/>
            <a:ext cx="3316040" cy="2818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1364" y="3118711"/>
            <a:ext cx="3051076" cy="37392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43575"/>
            <a:ext cx="8230387" cy="899650"/>
          </a:xfrm>
        </p:spPr>
        <p:txBody>
          <a:bodyPr/>
          <a:lstStyle/>
          <a:p>
            <a:r>
              <a:rPr lang="zh-CN" altLang="en-US" dirty="0"/>
              <a:t>右对角线安全</a:t>
            </a:r>
            <a:endParaRPr lang="en-US" dirty="0"/>
          </a:p>
        </p:txBody>
      </p:sp>
      <p:sp>
        <p:nvSpPr>
          <p:cNvPr id="3" name="内容占位符 2"/>
          <p:cNvSpPr>
            <a:spLocks noGrp="1"/>
          </p:cNvSpPr>
          <p:nvPr>
            <p:ph idx="1"/>
          </p:nvPr>
        </p:nvSpPr>
        <p:spPr/>
        <p:txBody>
          <a:bodyPr/>
          <a:lstStyle/>
          <a:p>
            <a:r>
              <a:rPr lang="zh-CN" altLang="en-US" dirty="0"/>
              <a:t>观察到右对角线每个位置都有 </a:t>
            </a:r>
            <a:r>
              <a:rPr lang="en-US" altLang="zh-CN" dirty="0" err="1">
                <a:solidFill>
                  <a:srgbClr val="FF0000"/>
                </a:solidFill>
              </a:rPr>
              <a:t>i+j</a:t>
            </a:r>
            <a:r>
              <a:rPr lang="en-US" altLang="zh-CN" dirty="0">
                <a:solidFill>
                  <a:srgbClr val="FF0000"/>
                </a:solidFill>
              </a:rPr>
              <a:t> = </a:t>
            </a:r>
            <a:r>
              <a:rPr lang="zh-CN" altLang="en-US" dirty="0">
                <a:solidFill>
                  <a:srgbClr val="FF0000"/>
                </a:solidFill>
              </a:rPr>
              <a:t>常数</a:t>
            </a:r>
            <a:endParaRPr lang="en-US" altLang="zh-CN" dirty="0">
              <a:solidFill>
                <a:srgbClr val="FF0000"/>
              </a:solidFill>
            </a:endParaRPr>
          </a:p>
          <a:p>
            <a:r>
              <a:rPr lang="zh-CN" altLang="en-US" dirty="0"/>
              <a:t>定义一维数组</a:t>
            </a:r>
            <a:r>
              <a:rPr lang="en-US" altLang="zh-CN" dirty="0"/>
              <a:t>R</a:t>
            </a:r>
            <a:r>
              <a:rPr lang="zh-CN" altLang="en-US" dirty="0"/>
              <a:t>，记录右对角线是否安全</a:t>
            </a:r>
            <a:endParaRPr lang="en-US" altLang="zh-CN" dirty="0"/>
          </a:p>
          <a:p>
            <a:pPr marL="334645" lvl="1" indent="0">
              <a:buNone/>
            </a:pPr>
            <a:r>
              <a:rPr lang="en-US" altLang="zh-CN" dirty="0"/>
              <a:t>   R[x] == 1</a:t>
            </a:r>
            <a:r>
              <a:rPr lang="zh-CN" altLang="en-US" dirty="0"/>
              <a:t>：安全，</a:t>
            </a:r>
            <a:r>
              <a:rPr lang="en-US" altLang="zh-CN" dirty="0"/>
              <a:t>R[x] == 0</a:t>
            </a:r>
            <a:r>
              <a:rPr lang="zh-CN" altLang="en-US" dirty="0"/>
              <a:t>：不安全</a:t>
            </a:r>
            <a:endParaRPr lang="en-US" altLang="zh-CN" dirty="0"/>
          </a:p>
          <a:p>
            <a:pPr marL="334645" lvl="1" indent="0">
              <a:buNone/>
            </a:pPr>
            <a:r>
              <a:rPr lang="en-US" altLang="zh-CN" dirty="0"/>
              <a:t>   x = </a:t>
            </a:r>
            <a:r>
              <a:rPr lang="en-US" altLang="zh-CN" dirty="0" err="1">
                <a:solidFill>
                  <a:srgbClr val="FF0000"/>
                </a:solidFill>
              </a:rPr>
              <a:t>i</a:t>
            </a:r>
            <a:r>
              <a:rPr lang="en-US" altLang="zh-CN" dirty="0">
                <a:solidFill>
                  <a:srgbClr val="FF0000"/>
                </a:solidFill>
              </a:rPr>
              <a:t> + j</a:t>
            </a:r>
            <a:r>
              <a:rPr lang="zh-CN" altLang="en-US" dirty="0"/>
              <a:t>，</a:t>
            </a:r>
            <a:r>
              <a:rPr lang="en-US" altLang="zh-CN" dirty="0" err="1"/>
              <a:t>i</a:t>
            </a:r>
            <a:r>
              <a:rPr lang="en-US" altLang="zh-CN" dirty="0"/>
              <a:t> = 1, 2, …, 8, j = 1, 2, …, 8, x = 2, 3, …, 16</a:t>
            </a:r>
            <a:endParaRPr 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1560" y="3784924"/>
            <a:ext cx="3316040" cy="2818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3501008"/>
            <a:ext cx="4032448" cy="3151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左对角线安全</a:t>
            </a:r>
            <a:endParaRPr lang="en-US" dirty="0"/>
          </a:p>
        </p:txBody>
      </p:sp>
      <p:sp>
        <p:nvSpPr>
          <p:cNvPr id="3" name="内容占位符 2"/>
          <p:cNvSpPr>
            <a:spLocks noGrp="1"/>
          </p:cNvSpPr>
          <p:nvPr>
            <p:ph idx="1"/>
          </p:nvPr>
        </p:nvSpPr>
        <p:spPr/>
        <p:txBody>
          <a:bodyPr/>
          <a:lstStyle/>
          <a:p>
            <a:r>
              <a:rPr lang="zh-CN" altLang="en-US" sz="2000" dirty="0"/>
              <a:t>观察到右对角线每个位置都有 </a:t>
            </a:r>
            <a:r>
              <a:rPr lang="en-US" sz="2000" dirty="0" err="1"/>
              <a:t>i</a:t>
            </a:r>
            <a:r>
              <a:rPr lang="en-US" sz="2000" dirty="0"/>
              <a:t>-j = </a:t>
            </a:r>
            <a:r>
              <a:rPr lang="zh-CN" altLang="en-US" sz="2000" dirty="0"/>
              <a:t>常数</a:t>
            </a:r>
            <a:endParaRPr lang="zh-CN" altLang="en-US" sz="2000" dirty="0"/>
          </a:p>
          <a:p>
            <a:r>
              <a:rPr lang="zh-CN" altLang="en-US" sz="2000" dirty="0"/>
              <a:t>定义一维数组</a:t>
            </a:r>
            <a:r>
              <a:rPr lang="en-US" sz="2000" dirty="0"/>
              <a:t>L，</a:t>
            </a:r>
            <a:r>
              <a:rPr lang="zh-CN" altLang="en-US" sz="2000" dirty="0"/>
              <a:t>记录左对角线是否安全</a:t>
            </a:r>
            <a:endParaRPr lang="zh-CN" altLang="en-US" sz="2000" dirty="0"/>
          </a:p>
          <a:p>
            <a:pPr marL="0" indent="0">
              <a:buNone/>
            </a:pPr>
            <a:r>
              <a:rPr lang="zh-CN" altLang="en-US" sz="2000" dirty="0"/>
              <a:t>   </a:t>
            </a:r>
            <a:r>
              <a:rPr lang="en-US" sz="2000" dirty="0"/>
              <a:t>L[y] == 1：</a:t>
            </a:r>
            <a:r>
              <a:rPr lang="zh-CN" altLang="en-US" sz="2000" dirty="0"/>
              <a:t>安全，</a:t>
            </a:r>
            <a:r>
              <a:rPr lang="en-US" sz="2000" dirty="0"/>
              <a:t>L[y] == 0：</a:t>
            </a:r>
            <a:r>
              <a:rPr lang="zh-CN" altLang="en-US" sz="2000" dirty="0"/>
              <a:t>不安全</a:t>
            </a:r>
            <a:endParaRPr lang="zh-CN" altLang="en-US" sz="2000" dirty="0"/>
          </a:p>
          <a:p>
            <a:pPr marL="0" indent="0">
              <a:buNone/>
            </a:pPr>
            <a:r>
              <a:rPr lang="zh-CN" altLang="en-US" sz="2000" dirty="0"/>
              <a:t>   </a:t>
            </a:r>
            <a:r>
              <a:rPr lang="en-US" sz="2000" dirty="0"/>
              <a:t>y = </a:t>
            </a:r>
            <a:r>
              <a:rPr lang="en-US" sz="2000" dirty="0" err="1">
                <a:solidFill>
                  <a:srgbClr val="FF0000"/>
                </a:solidFill>
              </a:rPr>
              <a:t>i</a:t>
            </a:r>
            <a:r>
              <a:rPr lang="en-US" sz="2000" dirty="0">
                <a:solidFill>
                  <a:srgbClr val="FF0000"/>
                </a:solidFill>
              </a:rPr>
              <a:t> - j + 9</a:t>
            </a:r>
            <a:r>
              <a:rPr lang="en-US" sz="2000" dirty="0"/>
              <a:t>，i = 1, 2, …, 8, j = 1, 2, …, 8, y = 2, 3, …, 16</a:t>
            </a:r>
            <a:endParaRPr lang="en-US" sz="2000" dirty="0"/>
          </a:p>
          <a:p>
            <a:endParaRPr lang="en-US" dirty="0"/>
          </a:p>
        </p:txBody>
      </p:sp>
      <p:sp>
        <p:nvSpPr>
          <p:cNvPr id="4" name="TextBox 17"/>
          <p:cNvSpPr txBox="1"/>
          <p:nvPr/>
        </p:nvSpPr>
        <p:spPr>
          <a:xfrm>
            <a:off x="5426340" y="2056386"/>
            <a:ext cx="3538148" cy="784830"/>
          </a:xfrm>
          <a:prstGeom prst="rect">
            <a:avLst/>
          </a:prstGeom>
          <a:noFill/>
        </p:spPr>
        <p:txBody>
          <a:bodyPr wrap="none" rtlCol="0">
            <a:spAutoFit/>
          </a:bodyPr>
          <a:lstStyle/>
          <a:p>
            <a:pPr>
              <a:lnSpc>
                <a:spcPct val="125000"/>
              </a:lnSpc>
            </a:pPr>
            <a:r>
              <a:rPr lang="zh-CN" altLang="en-US" b="1" dirty="0">
                <a:solidFill>
                  <a:srgbClr val="FE2034"/>
                </a:solidFill>
              </a:rPr>
              <a:t>注：数组的下标不能为负值，</a:t>
            </a:r>
            <a:endParaRPr lang="en-US" altLang="zh-CN" b="1" dirty="0">
              <a:solidFill>
                <a:srgbClr val="FE2034"/>
              </a:solidFill>
            </a:endParaRPr>
          </a:p>
          <a:p>
            <a:pPr>
              <a:lnSpc>
                <a:spcPct val="125000"/>
              </a:lnSpc>
            </a:pPr>
            <a:r>
              <a:rPr lang="zh-CN" altLang="en-US" b="1" dirty="0">
                <a:solidFill>
                  <a:srgbClr val="FE2034"/>
                </a:solidFill>
              </a:rPr>
              <a:t>因此要让</a:t>
            </a:r>
            <a:r>
              <a:rPr lang="en-US" altLang="zh-CN" b="1" dirty="0">
                <a:solidFill>
                  <a:srgbClr val="FE2034"/>
                </a:solidFill>
              </a:rPr>
              <a:t>y = i - j + 9</a:t>
            </a:r>
            <a:r>
              <a:rPr lang="zh-CN" altLang="en-US" b="1" dirty="0">
                <a:solidFill>
                  <a:srgbClr val="FE2034"/>
                </a:solidFill>
              </a:rPr>
              <a:t>，而不是</a:t>
            </a:r>
            <a:r>
              <a:rPr lang="en-US" altLang="zh-CN" b="1" dirty="0">
                <a:solidFill>
                  <a:srgbClr val="FE2034"/>
                </a:solidFill>
              </a:rPr>
              <a:t>y = i - j</a:t>
            </a:r>
            <a:endParaRPr lang="en-US" altLang="zh-CN" b="1" dirty="0">
              <a:solidFill>
                <a:srgbClr val="FF0000"/>
              </a:solidFill>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1560" y="3784924"/>
            <a:ext cx="3316040" cy="2818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2848" y="3361765"/>
            <a:ext cx="4681640" cy="3451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优化：空间压缩</a:t>
            </a:r>
            <a:endParaRPr lang="en-US" dirty="0"/>
          </a:p>
        </p:txBody>
      </p:sp>
      <p:sp>
        <p:nvSpPr>
          <p:cNvPr id="3" name="内容占位符 2"/>
          <p:cNvSpPr>
            <a:spLocks noGrp="1"/>
          </p:cNvSpPr>
          <p:nvPr>
            <p:ph idx="1"/>
          </p:nvPr>
        </p:nvSpPr>
        <p:spPr/>
        <p:txBody>
          <a:bodyPr/>
          <a:lstStyle/>
          <a:p>
            <a:r>
              <a:rPr lang="zh-CN" altLang="en-US" sz="2000" dirty="0"/>
              <a:t>初始时，设置</a:t>
            </a:r>
            <a:r>
              <a:rPr lang="en-US" sz="2000" dirty="0"/>
              <a:t>C, R, L</a:t>
            </a:r>
            <a:r>
              <a:rPr lang="zh-CN" altLang="en-US" sz="2000" dirty="0"/>
              <a:t>数组元素值为</a:t>
            </a:r>
            <a:r>
              <a:rPr lang="en-US" altLang="zh-CN" sz="2000" dirty="0"/>
              <a:t>1</a:t>
            </a:r>
            <a:r>
              <a:rPr lang="zh-CN" altLang="en-US" sz="2000" dirty="0"/>
              <a:t>，代表全部都是安全的</a:t>
            </a:r>
            <a:endParaRPr lang="zh-CN" altLang="en-US" sz="2000" dirty="0"/>
          </a:p>
          <a:p>
            <a:r>
              <a:rPr lang="zh-CN" altLang="en-US" sz="2000" dirty="0"/>
              <a:t>将第 </a:t>
            </a:r>
            <a:r>
              <a:rPr lang="en-US" sz="2000" dirty="0" err="1"/>
              <a:t>i</a:t>
            </a:r>
            <a:r>
              <a:rPr lang="en-US" sz="2000" dirty="0"/>
              <a:t> </a:t>
            </a:r>
            <a:r>
              <a:rPr lang="zh-CN" altLang="en-US" sz="2000" dirty="0"/>
              <a:t>行皇后放置在第 </a:t>
            </a:r>
            <a:r>
              <a:rPr lang="en-US" sz="2000" dirty="0"/>
              <a:t>j </a:t>
            </a:r>
            <a:r>
              <a:rPr lang="zh-CN" altLang="en-US" sz="2000" dirty="0"/>
              <a:t>列之前，检测：</a:t>
            </a:r>
            <a:br>
              <a:rPr lang="zh-CN" altLang="en-US" sz="2000" dirty="0"/>
            </a:br>
            <a:r>
              <a:rPr lang="en-US" sz="2000" dirty="0"/>
              <a:t>C[j] &amp;&amp; R[</a:t>
            </a:r>
            <a:r>
              <a:rPr lang="en-US" sz="2000" dirty="0" err="1"/>
              <a:t>i+j</a:t>
            </a:r>
            <a:r>
              <a:rPr lang="en-US" sz="2000" dirty="0"/>
              <a:t>] &amp;&amp; L[i-j+9] == 1</a:t>
            </a:r>
            <a:endParaRPr lang="en-US" sz="2000" dirty="0"/>
          </a:p>
          <a:p>
            <a:r>
              <a:rPr lang="zh-CN" altLang="en-US" sz="2000" dirty="0"/>
              <a:t>将第 </a:t>
            </a:r>
            <a:r>
              <a:rPr lang="en-US" sz="2000" dirty="0" err="1"/>
              <a:t>i</a:t>
            </a:r>
            <a:r>
              <a:rPr lang="en-US" sz="2000" dirty="0"/>
              <a:t> </a:t>
            </a:r>
            <a:r>
              <a:rPr lang="zh-CN" altLang="en-US" sz="2000" dirty="0"/>
              <a:t>行皇后放置在第 </a:t>
            </a:r>
            <a:r>
              <a:rPr lang="en-US" sz="2000" dirty="0"/>
              <a:t>j </a:t>
            </a:r>
            <a:r>
              <a:rPr lang="zh-CN" altLang="en-US" sz="2000" dirty="0"/>
              <a:t>列之后，设置：</a:t>
            </a:r>
            <a:br>
              <a:rPr lang="zh-CN" altLang="en-US" sz="2000" dirty="0"/>
            </a:br>
            <a:r>
              <a:rPr lang="en-US" sz="2000" dirty="0"/>
              <a:t>C[j] = 0, R[</a:t>
            </a:r>
            <a:r>
              <a:rPr lang="en-US" sz="2000" dirty="0" err="1"/>
              <a:t>i+j</a:t>
            </a:r>
            <a:r>
              <a:rPr lang="en-US" sz="2000" dirty="0"/>
              <a:t>] = 0, L[i-j+9] = 0</a:t>
            </a:r>
            <a:endParaRPr lang="en-US" sz="2000" dirty="0"/>
          </a:p>
          <a:p>
            <a:r>
              <a:rPr lang="zh-CN" altLang="en-US" sz="2000" dirty="0"/>
              <a:t>将第 </a:t>
            </a:r>
            <a:r>
              <a:rPr lang="en-US" sz="2000" dirty="0" err="1"/>
              <a:t>i</a:t>
            </a:r>
            <a:r>
              <a:rPr lang="en-US" sz="2000" dirty="0"/>
              <a:t> </a:t>
            </a:r>
            <a:r>
              <a:rPr lang="zh-CN" altLang="en-US" sz="2000" dirty="0"/>
              <a:t>行皇后放置在第 </a:t>
            </a:r>
            <a:r>
              <a:rPr lang="en-US" sz="2000" dirty="0"/>
              <a:t>j </a:t>
            </a:r>
            <a:r>
              <a:rPr lang="zh-CN" altLang="en-US" sz="2000" dirty="0"/>
              <a:t>列回溯时，设置：</a:t>
            </a:r>
            <a:br>
              <a:rPr lang="zh-CN" altLang="en-US" sz="2000" dirty="0"/>
            </a:br>
            <a:r>
              <a:rPr lang="en-US" sz="2000" dirty="0"/>
              <a:t>C[j] = 1, R[</a:t>
            </a:r>
            <a:r>
              <a:rPr lang="en-US" sz="2000" dirty="0" err="1"/>
              <a:t>i+j</a:t>
            </a:r>
            <a:r>
              <a:rPr lang="en-US" sz="2000" dirty="0"/>
              <a:t>] = 1, L[i-j+9] = 1</a:t>
            </a:r>
            <a:endParaRPr lang="en-US" sz="2000" dirty="0"/>
          </a:p>
          <a:p>
            <a:endParaRPr lang="en-US" dirty="0"/>
          </a:p>
        </p:txBody>
      </p:sp>
      <p:sp>
        <p:nvSpPr>
          <p:cNvPr id="4" name="圆角矩形 4"/>
          <p:cNvSpPr/>
          <p:nvPr/>
        </p:nvSpPr>
        <p:spPr>
          <a:xfrm>
            <a:off x="143000" y="4428121"/>
            <a:ext cx="9001000" cy="2160240"/>
          </a:xfrm>
          <a:prstGeom prst="roundRect">
            <a:avLst>
              <a:gd name="adj" fmla="val 1849"/>
            </a:avLst>
          </a:prstGeom>
          <a:solidFill>
            <a:sysClr val="window" lastClr="FFFFFF"/>
          </a:solidFill>
          <a:ln w="12700" cap="flat" cmpd="sng" algn="ctr">
            <a:solidFill>
              <a:srgbClr val="E84C22"/>
            </a:solidFill>
            <a:prstDash val="solid"/>
            <a:miter lim="800000"/>
          </a:ln>
          <a:effectLst/>
        </p:spPr>
        <p:txBody>
          <a:bodyPr numCol="2" spcCol="360000" rtlCol="0" anchor="t"/>
          <a:lstStyle/>
          <a:p>
            <a:pPr marL="228600" lvl="0" indent="-228600" defTabSz="363855">
              <a:lnSpc>
                <a:spcPct val="120000"/>
              </a:lnSpc>
              <a:buFont typeface="+mj-lt"/>
              <a:buAutoNum type="arabicPeriod"/>
              <a:defRPr/>
            </a:pP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C[N], R[2*N], L[2*N];</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void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set_conflict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i,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j) {</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x =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i+j</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y = i–j+9;</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C[j] = 0, R[x] = 0, L[y] = 0;</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void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unset_conflict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j) {</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x =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i+j</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y = i-j+9;</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C[j] = 1, R[x] = 1, L[y] = 1;</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check_safe</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i,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j) { </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x =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i+j</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y = i-j+9;</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return (C[j] &amp;&amp; R[x] &amp;&amp; L[y]);</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indent="-228600" defTabSz="363855">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void initialize(){</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a:t>
            </a:r>
            <a:r>
              <a:rPr lang="en-US" altLang="zh-CN" sz="1000" kern="0" dirty="0" err="1">
                <a:solidFill>
                  <a:prstClr val="black"/>
                </a:solidFill>
                <a:latin typeface="Courier New" panose="02070309020205020404" pitchFamily="49" charset="0"/>
                <a:ea typeface="等线" panose="02010600030101010101" charset="-122"/>
                <a:cs typeface="Courier New" panose="02070309020205020404" pitchFamily="49" charset="0"/>
              </a:rPr>
              <a:t>int</a:t>
            </a: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i;</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for (i = 1; i &lt;= n; i++) C[i] = 1;</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for (i = 1; i &lt;= 2*n; i++) R[i] = 1;</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  for (i = 1; i &lt;= 2*n; i++) L[i] = 1;</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indent="-228600" defTabSz="363855">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rPr>
              <a:t>}</a:t>
            </a: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kumimoji="0" lang="en-US" altLang="zh-CN" sz="1000" b="0" i="0" u="none" strike="noStrike" kern="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228600" lvl="0" indent="-228600" defTabSz="363855">
              <a:lnSpc>
                <a:spcPct val="120000"/>
              </a:lnSpc>
              <a:buFont typeface="+mj-lt"/>
              <a:buAutoNum type="arabicPeriod"/>
              <a:defRPr/>
            </a:pPr>
            <a:endParaRPr kumimoji="0" lang="en-US" altLang="zh-CN" sz="1000" b="0" i="0" u="none" strike="noStrike" kern="0" cap="none" spc="0" normalizeH="0" baseline="0" noProof="0" dirty="0">
              <a:ln>
                <a:noFill/>
              </a:ln>
              <a:solidFill>
                <a:prstClr val="black"/>
              </a:solidFill>
              <a:effectLst/>
              <a:uLnTx/>
              <a:uFillTx/>
              <a:latin typeface="Courier New" panose="02070309020205020404" pitchFamily="49" charset="0"/>
              <a:ea typeface="等线" panose="02010600030101010101" charset="-122"/>
              <a:cs typeface="Courier New" panose="02070309020205020404" pitchFamily="49" charset="0"/>
            </a:endParaRPr>
          </a:p>
          <a:p>
            <a:pPr marL="228600" marR="0" lvl="0" indent="-228600" defTabSz="363855" eaLnBrk="1" fontAlgn="auto" latinLnBrk="0" hangingPunct="1">
              <a:lnSpc>
                <a:spcPct val="120000"/>
              </a:lnSpc>
              <a:spcBef>
                <a:spcPts val="0"/>
              </a:spcBef>
              <a:spcAft>
                <a:spcPts val="0"/>
              </a:spcAft>
              <a:buClrTx/>
              <a:buSzTx/>
              <a:buFont typeface="+mj-lt"/>
              <a:buAutoNum type="arabicPeriod"/>
              <a:defRPr/>
            </a:pPr>
            <a:endParaRPr lang="en-US" altLang="zh-CN" sz="1000" kern="0" dirty="0">
              <a:solidFill>
                <a:prstClr val="black"/>
              </a:solidFill>
              <a:latin typeface="Courier New" panose="02070309020205020404" pitchFamily="49" charset="0"/>
              <a:ea typeface="等线" panose="02010600030101010101" charset="-122"/>
              <a:cs typeface="Courier New" panose="02070309020205020404"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优化前后的对比</a:t>
                </a:r>
                <a:endParaRPr lang="en-US" altLang="zh-CN" dirty="0"/>
              </a:p>
              <a:p>
                <a:pPr lvl="1"/>
                <a:r>
                  <a:rPr lang="zh-CN" altLang="en-US" dirty="0"/>
                  <a:t>空间上</a:t>
                </a:r>
                <a:endParaRPr lang="en-US" altLang="zh-CN" dirty="0"/>
              </a:p>
              <a:p>
                <a:pPr lvl="2"/>
                <a:r>
                  <a:rPr lang="zh-CN" altLang="en-US" dirty="0"/>
                  <a:t>优化前：需要</a:t>
                </a:r>
                <a14:m>
                  <m:oMath xmlns:m="http://schemas.openxmlformats.org/officeDocument/2006/math">
                    <m:r>
                      <a:rPr lang="en-US" altLang="zh-CN" b="0" i="1" smtClean="0">
                        <a:latin typeface="Cambria Math" panose="02040503050406030204"/>
                      </a:rPr>
                      <m:t>𝑂</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a:rPr>
                              <m:t>𝑛</m:t>
                            </m:r>
                          </m:e>
                          <m:sup>
                            <m:r>
                              <a:rPr lang="en-US" altLang="zh-CN" b="0" i="1" smtClean="0">
                                <a:latin typeface="Cambria Math" panose="02040503050406030204"/>
                              </a:rPr>
                              <m:t>2</m:t>
                            </m:r>
                          </m:sup>
                        </m:sSup>
                      </m:e>
                    </m:d>
                  </m:oMath>
                </a14:m>
                <a:r>
                  <a:rPr lang="zh-CN" altLang="en-US" dirty="0"/>
                  <a:t>的空间用于存储安全标志</a:t>
                </a:r>
                <a:endParaRPr lang="en-US" altLang="zh-CN" dirty="0"/>
              </a:p>
              <a:p>
                <a:pPr lvl="2"/>
                <a:r>
                  <a:rPr lang="zh-CN" altLang="en-US" dirty="0"/>
                  <a:t>优化后：需要</a:t>
                </a:r>
                <a14:m>
                  <m:oMath xmlns:m="http://schemas.openxmlformats.org/officeDocument/2006/math">
                    <m:r>
                      <a:rPr lang="en-US" altLang="zh-CN" i="1">
                        <a:latin typeface="Cambria Math" panose="02040503050406030204"/>
                      </a:rPr>
                      <m:t>𝑂</m:t>
                    </m:r>
                    <m:d>
                      <m:dPr>
                        <m:ctrlPr>
                          <a:rPr lang="en-US" altLang="zh-CN" i="1">
                            <a:latin typeface="Cambria Math" panose="02040503050406030204" pitchFamily="18" charset="0"/>
                          </a:rPr>
                        </m:ctrlPr>
                      </m:dPr>
                      <m:e>
                        <m:r>
                          <a:rPr lang="en-US" altLang="zh-CN" b="0" i="1" smtClean="0">
                            <a:latin typeface="Cambria Math" panose="02040503050406030204"/>
                          </a:rPr>
                          <m:t>𝑛</m:t>
                        </m:r>
                      </m:e>
                    </m:d>
                  </m:oMath>
                </a14:m>
                <a:r>
                  <a:rPr lang="zh-CN" altLang="en-US" dirty="0"/>
                  <a:t>的空间用于存储安全标志（</a:t>
                </a:r>
                <a:r>
                  <a:rPr lang="en-US" altLang="zh-CN" dirty="0"/>
                  <a:t>C</a:t>
                </a:r>
                <a:r>
                  <a:rPr lang="zh-CN" altLang="en-US" dirty="0"/>
                  <a:t>数组长度为</a:t>
                </a:r>
                <a14:m>
                  <m:oMath xmlns:m="http://schemas.openxmlformats.org/officeDocument/2006/math">
                    <m:r>
                      <a:rPr lang="en-US" altLang="zh-CN" i="1">
                        <a:latin typeface="Cambria Math" panose="02040503050406030204"/>
                      </a:rPr>
                      <m:t>𝑛</m:t>
                    </m:r>
                  </m:oMath>
                </a14:m>
                <a:r>
                  <a:rPr lang="zh-CN" altLang="en-US" dirty="0"/>
                  <a:t>，</a:t>
                </a:r>
                <a:r>
                  <a:rPr lang="en-US" altLang="zh-CN" dirty="0"/>
                  <a:t>R</a:t>
                </a:r>
                <a:r>
                  <a:rPr lang="zh-CN" altLang="en-US" dirty="0"/>
                  <a:t>和</a:t>
                </a:r>
                <a:r>
                  <a:rPr lang="en-US" altLang="zh-CN" dirty="0"/>
                  <a:t>L</a:t>
                </a:r>
                <a:r>
                  <a:rPr lang="zh-CN" altLang="en-US" dirty="0"/>
                  <a:t>数组长度为</a:t>
                </a:r>
                <a14:m>
                  <m:oMath xmlns:m="http://schemas.openxmlformats.org/officeDocument/2006/math">
                    <m:r>
                      <a:rPr lang="en-US" altLang="zh-CN" b="0" i="0" smtClean="0">
                        <a:latin typeface="Cambria Math" panose="02040503050406030204"/>
                      </a:rPr>
                      <m:t>2</m:t>
                    </m:r>
                    <m:r>
                      <a:rPr lang="en-US" altLang="zh-CN" i="1">
                        <a:latin typeface="Cambria Math" panose="02040503050406030204"/>
                      </a:rPr>
                      <m:t>𝑛</m:t>
                    </m:r>
                  </m:oMath>
                </a14:m>
                <a:r>
                  <a:rPr lang="zh-CN" altLang="en-US" dirty="0"/>
                  <a:t>）</a:t>
                </a:r>
                <a:endParaRPr lang="en-US" altLang="zh-CN" dirty="0"/>
              </a:p>
              <a:p>
                <a:pPr lvl="1"/>
                <a:r>
                  <a:rPr lang="zh-CN" altLang="en-US" dirty="0"/>
                  <a:t>时间上</a:t>
                </a:r>
                <a:endParaRPr lang="en-US" altLang="zh-CN" dirty="0"/>
              </a:p>
              <a:p>
                <a:pPr lvl="2"/>
                <a:r>
                  <a:rPr lang="zh-CN" altLang="en-US" dirty="0"/>
                  <a:t>优化前：需要</a:t>
                </a:r>
                <a14:m>
                  <m:oMath xmlns:m="http://schemas.openxmlformats.org/officeDocument/2006/math">
                    <m:r>
                      <a:rPr lang="en-US" altLang="zh-CN" i="1">
                        <a:latin typeface="Cambria Math" panose="02040503050406030204"/>
                      </a:rPr>
                      <m:t>𝑂</m:t>
                    </m:r>
                    <m:d>
                      <m:dPr>
                        <m:ctrlPr>
                          <a:rPr lang="en-US" altLang="zh-CN" i="1">
                            <a:latin typeface="Cambria Math" panose="02040503050406030204" pitchFamily="18" charset="0"/>
                          </a:rPr>
                        </m:ctrlPr>
                      </m:dPr>
                      <m:e>
                        <m:r>
                          <a:rPr lang="en-US" altLang="zh-CN" b="0" i="1" smtClean="0">
                            <a:latin typeface="Cambria Math" panose="02040503050406030204"/>
                          </a:rPr>
                          <m:t>1</m:t>
                        </m:r>
                      </m:e>
                    </m:d>
                  </m:oMath>
                </a14:m>
                <a:r>
                  <a:rPr lang="zh-CN" altLang="en-US" dirty="0"/>
                  <a:t>的检查标志，需要</a:t>
                </a:r>
                <a14:m>
                  <m:oMath xmlns:m="http://schemas.openxmlformats.org/officeDocument/2006/math">
                    <m:r>
                      <a:rPr lang="en-US" altLang="zh-CN" i="1">
                        <a:latin typeface="Cambria Math" panose="02040503050406030204"/>
                      </a:rPr>
                      <m:t>𝑂</m:t>
                    </m:r>
                    <m:d>
                      <m:dPr>
                        <m:ctrlPr>
                          <a:rPr lang="en-US" altLang="zh-CN" i="1">
                            <a:latin typeface="Cambria Math" panose="02040503050406030204" pitchFamily="18" charset="0"/>
                          </a:rPr>
                        </m:ctrlPr>
                      </m:dPr>
                      <m:e>
                        <m:r>
                          <a:rPr lang="en-US" altLang="zh-CN" i="1">
                            <a:latin typeface="Cambria Math" panose="02040503050406030204"/>
                          </a:rPr>
                          <m:t>𝑛</m:t>
                        </m:r>
                      </m:e>
                    </m:d>
                  </m:oMath>
                </a14:m>
                <a:r>
                  <a:rPr lang="zh-CN" altLang="en-US" dirty="0"/>
                  <a:t>的时间设置</a:t>
                </a:r>
                <a:r>
                  <a:rPr lang="en-US" altLang="zh-CN" dirty="0"/>
                  <a:t>/</a:t>
                </a:r>
                <a:r>
                  <a:rPr lang="zh-CN" altLang="en-US" dirty="0"/>
                  <a:t>取消标志</a:t>
                </a:r>
                <a:endParaRPr lang="en-US" altLang="zh-CN" dirty="0"/>
              </a:p>
              <a:p>
                <a:pPr lvl="2"/>
                <a:r>
                  <a:rPr lang="zh-CN" altLang="en-US" dirty="0"/>
                  <a:t>优化后：需要</a:t>
                </a:r>
                <a14:m>
                  <m:oMath xmlns:m="http://schemas.openxmlformats.org/officeDocument/2006/math">
                    <m:r>
                      <a:rPr lang="en-US" altLang="zh-CN" i="1">
                        <a:latin typeface="Cambria Math" panose="02040503050406030204"/>
                      </a:rPr>
                      <m:t>𝑂</m:t>
                    </m:r>
                    <m:d>
                      <m:dPr>
                        <m:ctrlPr>
                          <a:rPr lang="en-US" altLang="zh-CN" i="1">
                            <a:latin typeface="Cambria Math" panose="02040503050406030204" pitchFamily="18" charset="0"/>
                          </a:rPr>
                        </m:ctrlPr>
                      </m:dPr>
                      <m:e>
                        <m:r>
                          <a:rPr lang="en-US" altLang="zh-CN" i="1">
                            <a:latin typeface="Cambria Math" panose="02040503050406030204"/>
                          </a:rPr>
                          <m:t>1</m:t>
                        </m:r>
                      </m:e>
                    </m:d>
                  </m:oMath>
                </a14:m>
                <a:r>
                  <a:rPr lang="zh-CN" altLang="en-US" dirty="0"/>
                  <a:t>的检查标志，需要</a:t>
                </a:r>
                <a14:m>
                  <m:oMath xmlns:m="http://schemas.openxmlformats.org/officeDocument/2006/math">
                    <m:r>
                      <a:rPr lang="en-US" altLang="zh-CN" i="1">
                        <a:latin typeface="Cambria Math" panose="02040503050406030204"/>
                      </a:rPr>
                      <m:t>𝑂</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e>
                    </m:d>
                  </m:oMath>
                </a14:m>
                <a:r>
                  <a:rPr lang="zh-CN" altLang="en-US" dirty="0"/>
                  <a:t>的时间设置</a:t>
                </a:r>
                <a:r>
                  <a:rPr lang="en-US" altLang="zh-CN" dirty="0"/>
                  <a:t>/</a:t>
                </a:r>
                <a:r>
                  <a:rPr lang="zh-CN" altLang="en-US" dirty="0"/>
                  <a:t>取消标志</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2" t="-9" r="5" b="3"/>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a:t>八皇后优化</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Text Box 2"/>
          <p:cNvSpPr txBox="1">
            <a:spLocks noChangeArrowheads="1"/>
          </p:cNvSpPr>
          <p:nvPr/>
        </p:nvSpPr>
        <p:spPr bwMode="auto">
          <a:xfrm>
            <a:off x="1079500" y="404813"/>
            <a:ext cx="7164388" cy="6075362"/>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30000"/>
              </a:spcBef>
              <a:spcAft>
                <a:spcPct val="0"/>
              </a:spcAft>
              <a:defRPr/>
            </a:pPr>
            <a:r>
              <a:rPr kumimoji="1" lang="zh-CN" altLang="en-US" sz="2800" b="1" dirty="0">
                <a:solidFill>
                  <a:prstClr val="black"/>
                </a:solidFill>
                <a:latin typeface="Times New Roman" panose="02020603050405020304" pitchFamily="18" charset="0"/>
                <a:ea typeface="黑体" panose="02010609060101010101" pitchFamily="49" charset="-122"/>
              </a:rPr>
              <a:t>共</a:t>
            </a:r>
            <a:r>
              <a:rPr kumimoji="1" lang="en-US" altLang="zh-CN" sz="2800" b="1" dirty="0">
                <a:solidFill>
                  <a:prstClr val="black"/>
                </a:solidFill>
                <a:latin typeface="Times New Roman" panose="02020603050405020304" pitchFamily="18" charset="0"/>
                <a:ea typeface="黑体" panose="02010609060101010101" pitchFamily="49" charset="-122"/>
              </a:rPr>
              <a:t>92</a:t>
            </a:r>
            <a:r>
              <a:rPr kumimoji="1" lang="zh-CN" altLang="en-US" sz="2800" b="1" dirty="0">
                <a:solidFill>
                  <a:prstClr val="black"/>
                </a:solidFill>
                <a:latin typeface="Times New Roman" panose="02020603050405020304" pitchFamily="18" charset="0"/>
                <a:ea typeface="黑体" panose="02010609060101010101" pitchFamily="49" charset="-122"/>
              </a:rPr>
              <a:t>组解，部分答案如下：</a:t>
            </a:r>
            <a:endParaRPr kumimoji="1" lang="zh-CN" altLang="en-US" sz="2800" b="1" dirty="0">
              <a:solidFill>
                <a:prstClr val="black"/>
              </a:solidFill>
              <a:latin typeface="Times New Roman" panose="02020603050405020304" pitchFamily="18" charset="0"/>
              <a:ea typeface="黑体" panose="02010609060101010101" pitchFamily="49" charset="-122"/>
            </a:endParaRP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方案1：1 5 8 6 3 7 2 4</a:t>
            </a:r>
            <a:endParaRPr kumimoji="1" lang="en-US" altLang="en-US" sz="2800" b="1" dirty="0">
              <a:solidFill>
                <a:prstClr val="black"/>
              </a:solidFill>
              <a:latin typeface="Times New Roman" panose="02020603050405020304" pitchFamily="18" charset="0"/>
              <a:ea typeface="黑体" panose="02010609060101010101" pitchFamily="49" charset="-122"/>
            </a:endParaRP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方案2：1 6 8 3 7 4 2 5</a:t>
            </a:r>
            <a:endParaRPr kumimoji="1" lang="en-US" altLang="en-US" sz="2800" b="1" dirty="0">
              <a:solidFill>
                <a:prstClr val="black"/>
              </a:solidFill>
              <a:latin typeface="Times New Roman" panose="02020603050405020304" pitchFamily="18" charset="0"/>
              <a:ea typeface="黑体" panose="02010609060101010101" pitchFamily="49" charset="-122"/>
            </a:endParaRP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方案3：1 7 4 6 8 2 5 3</a:t>
            </a:r>
            <a:endParaRPr kumimoji="1" lang="en-US" altLang="en-US" sz="2800" b="1" dirty="0">
              <a:solidFill>
                <a:prstClr val="black"/>
              </a:solidFill>
              <a:latin typeface="Times New Roman" panose="02020603050405020304" pitchFamily="18" charset="0"/>
              <a:ea typeface="黑体" panose="02010609060101010101" pitchFamily="49" charset="-122"/>
            </a:endParaRP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方案4：1 7 5 8 2 4 6 3</a:t>
            </a:r>
            <a:endParaRPr kumimoji="1" lang="en-US" altLang="en-US" sz="2800" b="1" dirty="0">
              <a:solidFill>
                <a:prstClr val="black"/>
              </a:solidFill>
              <a:latin typeface="Times New Roman" panose="02020603050405020304" pitchFamily="18" charset="0"/>
              <a:ea typeface="黑体" panose="02010609060101010101" pitchFamily="49" charset="-122"/>
            </a:endParaRP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方案5：2 4 6 8 3 1 7 5</a:t>
            </a:r>
            <a:endParaRPr kumimoji="1" lang="en-US" altLang="en-US" sz="2800" b="1" dirty="0">
              <a:solidFill>
                <a:prstClr val="black"/>
              </a:solidFill>
              <a:latin typeface="Times New Roman" panose="02020603050405020304" pitchFamily="18" charset="0"/>
              <a:ea typeface="黑体" panose="02010609060101010101" pitchFamily="49" charset="-122"/>
            </a:endParaRP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方案6：2 5 7 1 3 8 6 4</a:t>
            </a:r>
            <a:endParaRPr kumimoji="1" lang="en-US" altLang="en-US" sz="2800" b="1" dirty="0">
              <a:solidFill>
                <a:prstClr val="black"/>
              </a:solidFill>
              <a:latin typeface="Times New Roman" panose="02020603050405020304" pitchFamily="18" charset="0"/>
              <a:ea typeface="黑体" panose="02010609060101010101" pitchFamily="49" charset="-122"/>
            </a:endParaRP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方案7：2 5 7 4 1 8 6 3</a:t>
            </a:r>
            <a:endParaRPr kumimoji="1" lang="en-US" altLang="en-US" sz="2800" b="1" dirty="0">
              <a:solidFill>
                <a:prstClr val="black"/>
              </a:solidFill>
              <a:latin typeface="Times New Roman" panose="02020603050405020304" pitchFamily="18" charset="0"/>
              <a:ea typeface="黑体" panose="02010609060101010101" pitchFamily="49" charset="-122"/>
            </a:endParaRP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方案8：2 6 1 7 4 8 3 5</a:t>
            </a:r>
            <a:endParaRPr kumimoji="1" lang="en-US" altLang="en-US" sz="2800" b="1" dirty="0">
              <a:solidFill>
                <a:prstClr val="black"/>
              </a:solidFill>
              <a:latin typeface="Times New Roman" panose="02020603050405020304" pitchFamily="18" charset="0"/>
              <a:ea typeface="黑体" panose="02010609060101010101" pitchFamily="49" charset="-122"/>
            </a:endParaRP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方案9：2 6 8 3 1 4 7 5</a:t>
            </a:r>
            <a:endParaRPr kumimoji="1" lang="en-US" altLang="en-US" sz="2800" b="1" dirty="0">
              <a:solidFill>
                <a:prstClr val="black"/>
              </a:solidFill>
              <a:latin typeface="Times New Roman" panose="02020603050405020304" pitchFamily="18" charset="0"/>
              <a:ea typeface="黑体" panose="02010609060101010101" pitchFamily="49" charset="-122"/>
            </a:endParaRP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方案10：2 7 3 6 8 5 1 4</a:t>
            </a:r>
            <a:endParaRPr kumimoji="1" lang="en-US" altLang="en-US" sz="2800" b="1" dirty="0">
              <a:solidFill>
                <a:prstClr val="black"/>
              </a:solidFill>
              <a:latin typeface="Times New Roman" panose="02020603050405020304" pitchFamily="18" charset="0"/>
              <a:ea typeface="黑体" panose="02010609060101010101" pitchFamily="49" charset="-122"/>
            </a:endParaRPr>
          </a:p>
        </p:txBody>
      </p:sp>
      <p:sp>
        <p:nvSpPr>
          <p:cNvPr id="548867" name="AutoShape 3">
            <a:hlinkClick r:id="rId1" action="ppaction://hlinksldjump"/>
          </p:cNvPr>
          <p:cNvSpPr>
            <a:spLocks noChangeArrowheads="1"/>
          </p:cNvSpPr>
          <p:nvPr/>
        </p:nvSpPr>
        <p:spPr bwMode="auto">
          <a:xfrm rot="1749084">
            <a:off x="7091363" y="5548313"/>
            <a:ext cx="720725" cy="792162"/>
          </a:xfrm>
          <a:custGeom>
            <a:avLst/>
            <a:gdLst>
              <a:gd name="G0" fmla="+- -517883 0 0"/>
              <a:gd name="G1" fmla="+- -9277252 0 0"/>
              <a:gd name="G2" fmla="+- -517883 0 -9277252"/>
              <a:gd name="G3" fmla="+- 10800 0 0"/>
              <a:gd name="G4" fmla="+- 0 0 -517883"/>
              <a:gd name="T0" fmla="*/ 360 256 1"/>
              <a:gd name="T1" fmla="*/ 0 256 1"/>
              <a:gd name="G5" fmla="+- G2 T0 T1"/>
              <a:gd name="G6" fmla="?: G2 G2 G5"/>
              <a:gd name="G7" fmla="+- 0 0 G6"/>
              <a:gd name="G8" fmla="+- 7397 0 0"/>
              <a:gd name="G9" fmla="+- 0 0 -9277252"/>
              <a:gd name="G10" fmla="+- 7397 0 2700"/>
              <a:gd name="G11" fmla="cos G10 -517883"/>
              <a:gd name="G12" fmla="sin G10 -517883"/>
              <a:gd name="G13" fmla="cos 13500 -517883"/>
              <a:gd name="G14" fmla="sin 13500 -517883"/>
              <a:gd name="G15" fmla="+- G11 10800 0"/>
              <a:gd name="G16" fmla="+- G12 10800 0"/>
              <a:gd name="G17" fmla="+- G13 10800 0"/>
              <a:gd name="G18" fmla="+- G14 10800 0"/>
              <a:gd name="G19" fmla="*/ 7397 1 2"/>
              <a:gd name="G20" fmla="+- G19 5400 0"/>
              <a:gd name="G21" fmla="cos G20 -517883"/>
              <a:gd name="G22" fmla="sin G20 -517883"/>
              <a:gd name="G23" fmla="+- G21 10800 0"/>
              <a:gd name="G24" fmla="+- G12 G23 G22"/>
              <a:gd name="G25" fmla="+- G22 G23 G11"/>
              <a:gd name="G26" fmla="cos 10800 -517883"/>
              <a:gd name="G27" fmla="sin 10800 -517883"/>
              <a:gd name="G28" fmla="cos 7397 -517883"/>
              <a:gd name="G29" fmla="sin 7397 -517883"/>
              <a:gd name="G30" fmla="+- G26 10800 0"/>
              <a:gd name="G31" fmla="+- G27 10800 0"/>
              <a:gd name="G32" fmla="+- G28 10800 0"/>
              <a:gd name="G33" fmla="+- G29 10800 0"/>
              <a:gd name="G34" fmla="+- G19 5400 0"/>
              <a:gd name="G35" fmla="cos G34 -9277252"/>
              <a:gd name="G36" fmla="sin G34 -9277252"/>
              <a:gd name="G37" fmla="+/ -9277252 -517883 2"/>
              <a:gd name="T2" fmla="*/ 180 256 1"/>
              <a:gd name="T3" fmla="*/ 0 256 1"/>
              <a:gd name="G38" fmla="+- G37 T2 T3"/>
              <a:gd name="G39" fmla="?: G2 G37 G38"/>
              <a:gd name="G40" fmla="cos 10800 G39"/>
              <a:gd name="G41" fmla="sin 10800 G39"/>
              <a:gd name="G42" fmla="cos 7397 G39"/>
              <a:gd name="G43" fmla="sin 7397 G39"/>
              <a:gd name="G44" fmla="+- G40 10800 0"/>
              <a:gd name="G45" fmla="+- G41 10800 0"/>
              <a:gd name="G46" fmla="+- G42 10800 0"/>
              <a:gd name="G47" fmla="+- G43 10800 0"/>
              <a:gd name="G48" fmla="+- G35 10800 0"/>
              <a:gd name="G49" fmla="+- G36 10800 0"/>
              <a:gd name="T4" fmla="*/ 13644 w 21600"/>
              <a:gd name="T5" fmla="*/ 381 h 21600"/>
              <a:gd name="T6" fmla="*/ 3673 w 21600"/>
              <a:gd name="T7" fmla="*/ 5143 h 21600"/>
              <a:gd name="T8" fmla="*/ 12748 w 21600"/>
              <a:gd name="T9" fmla="*/ 3664 h 21600"/>
              <a:gd name="T10" fmla="*/ 24171 w 21600"/>
              <a:gd name="T11" fmla="*/ 8943 h 21600"/>
              <a:gd name="T12" fmla="*/ 20417 w 21600"/>
              <a:gd name="T13" fmla="*/ 13909 h 21600"/>
              <a:gd name="T14" fmla="*/ 15452 w 21600"/>
              <a:gd name="T15" fmla="*/ 10154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126" y="9783"/>
                </a:moveTo>
                <a:cubicBezTo>
                  <a:pt x="17619" y="6125"/>
                  <a:pt x="14492" y="3403"/>
                  <a:pt x="10800" y="3403"/>
                </a:cubicBezTo>
                <a:cubicBezTo>
                  <a:pt x="8542" y="3403"/>
                  <a:pt x="6409" y="4433"/>
                  <a:pt x="5006" y="6201"/>
                </a:cubicBezTo>
                <a:lnTo>
                  <a:pt x="2340" y="4085"/>
                </a:lnTo>
                <a:cubicBezTo>
                  <a:pt x="4389" y="1504"/>
                  <a:pt x="7504" y="0"/>
                  <a:pt x="10800" y="0"/>
                </a:cubicBezTo>
                <a:cubicBezTo>
                  <a:pt x="16190" y="0"/>
                  <a:pt x="20756" y="3975"/>
                  <a:pt x="21497" y="9315"/>
                </a:cubicBezTo>
                <a:lnTo>
                  <a:pt x="24171" y="8943"/>
                </a:lnTo>
                <a:lnTo>
                  <a:pt x="20417" y="13909"/>
                </a:lnTo>
                <a:lnTo>
                  <a:pt x="15452" y="10154"/>
                </a:lnTo>
                <a:lnTo>
                  <a:pt x="18126" y="9783"/>
                </a:lnTo>
                <a:close/>
              </a:path>
            </a:pathLst>
          </a:custGeom>
          <a:solidFill>
            <a:srgbClr val="FFFFFF">
              <a:alpha val="7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4</a:t>
            </a:r>
            <a:r>
              <a:rPr lang="zh-CN" altLang="en-US" dirty="0"/>
              <a:t>皇后求解过程示意图</a:t>
            </a:r>
            <a:endParaRPr lang="en-US" dirty="0"/>
          </a:p>
        </p:txBody>
      </p:sp>
      <p:pic>
        <p:nvPicPr>
          <p:cNvPr id="2050" name="Picture 2" descr="https://justlxb-pic.oss-cn-shanghai.aliyuncs.com/1598117469-RXhjxi-image.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3557" y="1417638"/>
            <a:ext cx="5655342" cy="53730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8" name="Rectangle 4"/>
          <p:cNvSpPr>
            <a:spLocks noGrp="1" noChangeArrowheads="1"/>
          </p:cNvSpPr>
          <p:nvPr>
            <p:ph type="ctrTitle"/>
          </p:nvPr>
        </p:nvSpPr>
        <p:spPr/>
        <p:txBody>
          <a:bodyPr/>
          <a:lstStyle/>
          <a:p>
            <a:r>
              <a:rPr lang="zh-CN" altLang="en-US"/>
              <a:t>递归算法举例</a:t>
            </a:r>
            <a:endParaRPr lang="zh-CN" altLang="en-US"/>
          </a:p>
        </p:txBody>
      </p:sp>
      <p:sp>
        <p:nvSpPr>
          <p:cNvPr id="579589" name="Rectangle 5"/>
          <p:cNvSpPr>
            <a:spLocks noGrp="1" noChangeArrowheads="1"/>
          </p:cNvSpPr>
          <p:nvPr>
            <p:ph type="subTitle" idx="1"/>
          </p:nvPr>
        </p:nvSpPr>
        <p:spPr/>
        <p:txBody>
          <a:bodyPr/>
          <a:lstStyle/>
          <a:p>
            <a:pPr algn="r"/>
            <a:r>
              <a:rPr lang="en-US" altLang="zh-CN" sz="4000" dirty="0">
                <a:latin typeface="Arial" panose="020B0604020202020204" pitchFamily="34" charset="0"/>
              </a:rPr>
              <a:t>——</a:t>
            </a:r>
            <a:r>
              <a:rPr lang="zh-CN" altLang="en-US" sz="4000" dirty="0"/>
              <a:t>全排列问题</a:t>
            </a:r>
            <a:endParaRPr lang="zh-CN" altLang="en-US" sz="4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全排列问题</a:t>
            </a:r>
            <a:endParaRPr lang="en-US" dirty="0"/>
          </a:p>
        </p:txBody>
      </p:sp>
      <p:sp>
        <p:nvSpPr>
          <p:cNvPr id="3" name="Content Placeholder 2"/>
          <p:cNvSpPr>
            <a:spLocks noGrp="1"/>
          </p:cNvSpPr>
          <p:nvPr>
            <p:ph idx="1"/>
          </p:nvPr>
        </p:nvSpPr>
        <p:spPr/>
        <p:txBody>
          <a:bodyPr>
            <a:normAutofit/>
          </a:bodyPr>
          <a:lstStyle/>
          <a:p>
            <a:r>
              <a:rPr lang="zh-CN" altLang="en-US" dirty="0"/>
              <a:t>从</a:t>
            </a:r>
            <a:r>
              <a:rPr lang="en-US" altLang="zh-CN" dirty="0"/>
              <a:t>n</a:t>
            </a:r>
            <a:r>
              <a:rPr lang="zh-CN" altLang="en-US" dirty="0"/>
              <a:t>个不同元素中任取</a:t>
            </a:r>
            <a:r>
              <a:rPr lang="en-US" altLang="zh-CN" dirty="0"/>
              <a:t>m</a:t>
            </a:r>
            <a:r>
              <a:rPr lang="zh-CN" altLang="en-US" dirty="0"/>
              <a:t>（</a:t>
            </a:r>
            <a:r>
              <a:rPr lang="en-US" altLang="zh-CN" dirty="0" err="1"/>
              <a:t>m≤n</a:t>
            </a:r>
            <a:r>
              <a:rPr lang="zh-CN" altLang="en-US" dirty="0"/>
              <a:t>）个元素，按照一定的顺序排列起来，叫做从</a:t>
            </a:r>
            <a:r>
              <a:rPr lang="en-US" altLang="zh-CN" dirty="0"/>
              <a:t>n</a:t>
            </a:r>
            <a:r>
              <a:rPr lang="zh-CN" altLang="en-US" dirty="0"/>
              <a:t>个不同元素中取出</a:t>
            </a:r>
            <a:r>
              <a:rPr lang="en-US" altLang="zh-CN" dirty="0"/>
              <a:t>m</a:t>
            </a:r>
            <a:r>
              <a:rPr lang="zh-CN" altLang="en-US" dirty="0"/>
              <a:t>个元素的一个排列。</a:t>
            </a:r>
            <a:endParaRPr lang="zh-CN" altLang="en-US" dirty="0"/>
          </a:p>
          <a:p>
            <a:r>
              <a:rPr lang="zh-CN" altLang="en-US" dirty="0"/>
              <a:t>当 </a:t>
            </a:r>
            <a:r>
              <a:rPr lang="en-US" altLang="zh-CN" dirty="0">
                <a:solidFill>
                  <a:schemeClr val="hlink"/>
                </a:solidFill>
              </a:rPr>
              <a:t>m</a:t>
            </a:r>
            <a:r>
              <a:rPr lang="zh-CN" altLang="en-US" dirty="0">
                <a:solidFill>
                  <a:schemeClr val="hlink"/>
                </a:solidFill>
              </a:rPr>
              <a:t>＝</a:t>
            </a:r>
            <a:r>
              <a:rPr lang="en-US" altLang="zh-CN" dirty="0">
                <a:solidFill>
                  <a:schemeClr val="hlink"/>
                </a:solidFill>
              </a:rPr>
              <a:t>n </a:t>
            </a:r>
            <a:r>
              <a:rPr lang="zh-CN" altLang="en-US" dirty="0"/>
              <a:t>时所有的排列情况叫</a:t>
            </a:r>
            <a:r>
              <a:rPr lang="zh-CN" altLang="en-US" dirty="0">
                <a:solidFill>
                  <a:schemeClr val="hlink"/>
                </a:solidFill>
              </a:rPr>
              <a:t>全排列</a:t>
            </a:r>
            <a:endParaRPr lang="zh-CN" altLang="en-US" dirty="0"/>
          </a:p>
          <a:p>
            <a:r>
              <a:rPr lang="zh-CN" altLang="en-US" dirty="0"/>
              <a:t>例如</a:t>
            </a:r>
            <a:r>
              <a:rPr lang="en-US" altLang="zh-CN" dirty="0"/>
              <a:t>{1,2,3}</a:t>
            </a:r>
            <a:r>
              <a:rPr lang="zh-CN" altLang="en-US" dirty="0"/>
              <a:t>的全排列：</a:t>
            </a:r>
            <a:endParaRPr lang="zh-CN" altLang="en-US" dirty="0"/>
          </a:p>
          <a:p>
            <a:pPr>
              <a:buNone/>
            </a:pPr>
            <a:r>
              <a:rPr lang="zh-CN" altLang="en-US" dirty="0"/>
              <a:t>	</a:t>
            </a:r>
            <a:r>
              <a:rPr lang="en-US" altLang="zh-CN" dirty="0"/>
              <a:t>1 2 3			2 3 1</a:t>
            </a:r>
            <a:endParaRPr lang="en-US" altLang="zh-CN" dirty="0"/>
          </a:p>
          <a:p>
            <a:pPr>
              <a:buNone/>
            </a:pPr>
            <a:r>
              <a:rPr lang="en-US" altLang="zh-CN" dirty="0"/>
              <a:t>	1 3 2			3 1 2</a:t>
            </a:r>
            <a:endParaRPr lang="en-US" altLang="zh-CN" dirty="0"/>
          </a:p>
          <a:p>
            <a:pPr>
              <a:buNone/>
            </a:pPr>
            <a:r>
              <a:rPr lang="en-US" altLang="zh-CN" dirty="0"/>
              <a:t>	2 1 3			3 2 1</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3"/>
          <p:cNvSpPr>
            <a:spLocks noGrp="1" noChangeArrowheads="1"/>
          </p:cNvSpPr>
          <p:nvPr>
            <p:ph type="body" idx="1"/>
          </p:nvPr>
        </p:nvSpPr>
        <p:spPr>
          <a:xfrm>
            <a:off x="457200" y="914400"/>
            <a:ext cx="8229600" cy="5211763"/>
          </a:xfrm>
        </p:spPr>
        <p:txBody>
          <a:bodyPr/>
          <a:lstStyle/>
          <a:p>
            <a:pPr eaLnBrk="1" hangingPunct="1"/>
            <a:r>
              <a:rPr kumimoji="0" lang="zh-CN" altLang="en-US"/>
              <a:t>利用递归生成</a:t>
            </a:r>
            <a:r>
              <a:rPr kumimoji="0" lang="en-US" altLang="zh-CN"/>
              <a:t>{1,2,3}</a:t>
            </a:r>
            <a:r>
              <a:rPr kumimoji="0" lang="zh-CN" altLang="en-US"/>
              <a:t>的全排列的示意图</a:t>
            </a:r>
            <a:endParaRPr kumimoji="0" lang="zh-CN" altLang="en-US"/>
          </a:p>
        </p:txBody>
      </p:sp>
      <p:pic>
        <p:nvPicPr>
          <p:cNvPr id="19459" name="Picture 4"/>
          <p:cNvPicPr>
            <a:picLocks noChangeAspect="1" noChangeArrowheads="1"/>
          </p:cNvPicPr>
          <p:nvPr/>
        </p:nvPicPr>
        <p:blipFill>
          <a:blip r:embed="rId1">
            <a:extLst>
              <a:ext uri="{28A0092B-C50C-407E-A947-70E740481C1C}">
                <a14:useLocalDpi xmlns:a14="http://schemas.microsoft.com/office/drawing/2010/main" val="0"/>
              </a:ext>
            </a:extLst>
          </a:blip>
          <a:srcRect l="24374" t="17999" r="42500" b="40001"/>
          <a:stretch>
            <a:fillRect/>
          </a:stretch>
        </p:blipFill>
        <p:spPr bwMode="auto">
          <a:xfrm>
            <a:off x="2286000" y="1981200"/>
            <a:ext cx="4648200" cy="368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2" name="Rectangle 4"/>
          <p:cNvSpPr>
            <a:spLocks noGrp="1" noRot="1" noChangeArrowheads="1"/>
          </p:cNvSpPr>
          <p:nvPr>
            <p:ph type="title"/>
          </p:nvPr>
        </p:nvSpPr>
        <p:spPr/>
        <p:txBody>
          <a:bodyPr/>
          <a:lstStyle/>
          <a:p>
            <a:pPr eaLnBrk="1" hangingPunct="1"/>
            <a:r>
              <a:rPr lang="zh-CN" altLang="en-US" dirty="0"/>
              <a:t>解题思路</a:t>
            </a:r>
            <a:r>
              <a:rPr lang="en-US" altLang="zh-CN" dirty="0"/>
              <a:t>1</a:t>
            </a:r>
            <a:endParaRPr lang="en-US" altLang="zh-CN" dirty="0"/>
          </a:p>
        </p:txBody>
      </p:sp>
      <p:sp>
        <p:nvSpPr>
          <p:cNvPr id="171013" name="Rectangle 5"/>
          <p:cNvSpPr>
            <a:spLocks noGrp="1" noChangeArrowheads="1"/>
          </p:cNvSpPr>
          <p:nvPr>
            <p:ph type="body" idx="1"/>
          </p:nvPr>
        </p:nvSpPr>
        <p:spPr>
          <a:xfrm>
            <a:off x="457200" y="1219200"/>
            <a:ext cx="8229600" cy="1066800"/>
          </a:xfrm>
        </p:spPr>
        <p:txBody>
          <a:bodyPr/>
          <a:lstStyle/>
          <a:p>
            <a:pPr eaLnBrk="1" hangingPunct="1">
              <a:lnSpc>
                <a:spcPct val="90000"/>
              </a:lnSpc>
            </a:pPr>
            <a:r>
              <a:rPr kumimoji="0" lang="zh-CN" altLang="en-US"/>
              <a:t>求全排列即枚举</a:t>
            </a:r>
            <a:r>
              <a:rPr kumimoji="0" lang="en-US" altLang="zh-CN"/>
              <a:t>n</a:t>
            </a:r>
            <a:r>
              <a:rPr kumimoji="0" lang="zh-CN" altLang="en-US"/>
              <a:t>个变量所有的取值可能</a:t>
            </a:r>
            <a:endParaRPr kumimoji="0" lang="zh-CN" altLang="en-US"/>
          </a:p>
          <a:p>
            <a:pPr eaLnBrk="1" hangingPunct="1">
              <a:lnSpc>
                <a:spcPct val="90000"/>
              </a:lnSpc>
              <a:buFont typeface="Wingdings" panose="05000000000000000000" pitchFamily="2" charset="2"/>
              <a:buNone/>
            </a:pPr>
            <a:r>
              <a:rPr kumimoji="0" lang="zh-CN" altLang="en-US"/>
              <a:t>	（条件：互不相等）</a:t>
            </a:r>
            <a:endParaRPr kumimoji="0" lang="zh-CN" altLang="en-US"/>
          </a:p>
        </p:txBody>
      </p:sp>
      <p:grpSp>
        <p:nvGrpSpPr>
          <p:cNvPr id="45059" name="Group 30"/>
          <p:cNvGrpSpPr/>
          <p:nvPr/>
        </p:nvGrpSpPr>
        <p:grpSpPr bwMode="auto">
          <a:xfrm>
            <a:off x="3886200" y="2133600"/>
            <a:ext cx="5105400" cy="4283075"/>
            <a:chOff x="2352" y="1440"/>
            <a:chExt cx="3216" cy="2698"/>
          </a:xfrm>
        </p:grpSpPr>
        <p:sp>
          <p:nvSpPr>
            <p:cNvPr id="33798" name="Line 6"/>
            <p:cNvSpPr>
              <a:spLocks noChangeShapeType="1"/>
            </p:cNvSpPr>
            <p:nvPr/>
          </p:nvSpPr>
          <p:spPr bwMode="auto">
            <a:xfrm flipH="1">
              <a:off x="3383" y="3193"/>
              <a:ext cx="384" cy="480"/>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panose="020B0604020202020204" pitchFamily="34" charset="0"/>
              </a:endParaRPr>
            </a:p>
          </p:txBody>
        </p:sp>
        <p:sp>
          <p:nvSpPr>
            <p:cNvPr id="33799" name="Oval 7"/>
            <p:cNvSpPr>
              <a:spLocks noChangeArrowheads="1"/>
            </p:cNvSpPr>
            <p:nvPr/>
          </p:nvSpPr>
          <p:spPr bwMode="auto">
            <a:xfrm>
              <a:off x="3191" y="3673"/>
              <a:ext cx="240" cy="24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panose="02010600030101010101" pitchFamily="2" charset="-122"/>
              </a:endParaRPr>
            </a:p>
          </p:txBody>
        </p:sp>
        <p:sp>
          <p:nvSpPr>
            <p:cNvPr id="33800" name="Oval 8"/>
            <p:cNvSpPr>
              <a:spLocks noChangeArrowheads="1"/>
            </p:cNvSpPr>
            <p:nvPr/>
          </p:nvSpPr>
          <p:spPr bwMode="auto">
            <a:xfrm>
              <a:off x="4128" y="1440"/>
              <a:ext cx="240" cy="24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panose="02010600030101010101" pitchFamily="2" charset="-122"/>
              </a:endParaRPr>
            </a:p>
          </p:txBody>
        </p:sp>
        <p:sp>
          <p:nvSpPr>
            <p:cNvPr id="171017" name="Rectangle 9"/>
            <p:cNvSpPr>
              <a:spLocks noChangeArrowheads="1"/>
            </p:cNvSpPr>
            <p:nvPr/>
          </p:nvSpPr>
          <p:spPr bwMode="auto">
            <a:xfrm>
              <a:off x="2974" y="3274"/>
              <a:ext cx="5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k==n</a:t>
              </a:r>
              <a:endParaRPr kumimoji="0" lang="en-US" altLang="zh-CN" sz="2000" b="1" dirty="0">
                <a:solidFill>
                  <a:schemeClr val="accent1">
                    <a:lumMod val="75000"/>
                  </a:schemeClr>
                </a:solidFill>
              </a:endParaRPr>
            </a:p>
          </p:txBody>
        </p:sp>
        <p:sp>
          <p:nvSpPr>
            <p:cNvPr id="33802" name="Oval 10"/>
            <p:cNvSpPr>
              <a:spLocks noChangeArrowheads="1"/>
            </p:cNvSpPr>
            <p:nvPr/>
          </p:nvSpPr>
          <p:spPr bwMode="auto">
            <a:xfrm>
              <a:off x="4176" y="2208"/>
              <a:ext cx="240" cy="240"/>
            </a:xfrm>
            <a:prstGeom prst="ellipse">
              <a:avLst/>
            </a:prstGeom>
            <a:solidFill>
              <a:schemeClr val="accent1"/>
            </a:solidFill>
            <a:ln w="38100">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panose="02010600030101010101" pitchFamily="2" charset="-122"/>
              </a:endParaRPr>
            </a:p>
          </p:txBody>
        </p:sp>
        <p:sp>
          <p:nvSpPr>
            <p:cNvPr id="171019" name="Rectangle 11"/>
            <p:cNvSpPr>
              <a:spLocks noChangeArrowheads="1"/>
            </p:cNvSpPr>
            <p:nvPr/>
          </p:nvSpPr>
          <p:spPr bwMode="auto">
            <a:xfrm>
              <a:off x="3348" y="2503"/>
              <a:ext cx="8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[k]=1</a:t>
              </a:r>
              <a:endParaRPr kumimoji="0" lang="en-US" altLang="zh-CN" sz="2000" b="1" dirty="0">
                <a:solidFill>
                  <a:schemeClr val="accent1">
                    <a:lumMod val="75000"/>
                  </a:schemeClr>
                </a:solidFill>
              </a:endParaRPr>
            </a:p>
          </p:txBody>
        </p:sp>
        <p:sp>
          <p:nvSpPr>
            <p:cNvPr id="33804" name="Line 12"/>
            <p:cNvSpPr>
              <a:spLocks noChangeShapeType="1"/>
            </p:cNvSpPr>
            <p:nvPr/>
          </p:nvSpPr>
          <p:spPr bwMode="auto">
            <a:xfrm>
              <a:off x="4272" y="1662"/>
              <a:ext cx="0" cy="546"/>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panose="020B0604020202020204" pitchFamily="34" charset="0"/>
              </a:endParaRPr>
            </a:p>
          </p:txBody>
        </p:sp>
        <p:sp>
          <p:nvSpPr>
            <p:cNvPr id="33805" name="Oval 13"/>
            <p:cNvSpPr>
              <a:spLocks noChangeArrowheads="1"/>
            </p:cNvSpPr>
            <p:nvPr/>
          </p:nvSpPr>
          <p:spPr bwMode="auto">
            <a:xfrm>
              <a:off x="3744" y="2976"/>
              <a:ext cx="240" cy="24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panose="02010600030101010101" pitchFamily="2" charset="-122"/>
              </a:endParaRPr>
            </a:p>
          </p:txBody>
        </p:sp>
        <p:sp>
          <p:nvSpPr>
            <p:cNvPr id="33806" name="Line 14"/>
            <p:cNvSpPr>
              <a:spLocks noChangeShapeType="1"/>
            </p:cNvSpPr>
            <p:nvPr/>
          </p:nvSpPr>
          <p:spPr bwMode="auto">
            <a:xfrm flipH="1">
              <a:off x="3888" y="2400"/>
              <a:ext cx="288" cy="576"/>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panose="020B0604020202020204" pitchFamily="34" charset="0"/>
              </a:endParaRPr>
            </a:p>
          </p:txBody>
        </p:sp>
        <p:sp>
          <p:nvSpPr>
            <p:cNvPr id="33807" name="Oval 15"/>
            <p:cNvSpPr>
              <a:spLocks noChangeArrowheads="1"/>
            </p:cNvSpPr>
            <p:nvPr/>
          </p:nvSpPr>
          <p:spPr bwMode="auto">
            <a:xfrm>
              <a:off x="4752" y="2928"/>
              <a:ext cx="240" cy="24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panose="02010600030101010101" pitchFamily="2" charset="-122"/>
              </a:endParaRPr>
            </a:p>
          </p:txBody>
        </p:sp>
        <p:sp>
          <p:nvSpPr>
            <p:cNvPr id="33808" name="Line 16"/>
            <p:cNvSpPr>
              <a:spLocks noChangeShapeType="1"/>
            </p:cNvSpPr>
            <p:nvPr/>
          </p:nvSpPr>
          <p:spPr bwMode="auto">
            <a:xfrm>
              <a:off x="4416" y="2352"/>
              <a:ext cx="401" cy="595"/>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panose="020B0604020202020204" pitchFamily="34" charset="0"/>
              </a:endParaRPr>
            </a:p>
          </p:txBody>
        </p:sp>
        <p:sp>
          <p:nvSpPr>
            <p:cNvPr id="33809" name="Line 17"/>
            <p:cNvSpPr>
              <a:spLocks noChangeShapeType="1"/>
            </p:cNvSpPr>
            <p:nvPr/>
          </p:nvSpPr>
          <p:spPr bwMode="auto">
            <a:xfrm flipH="1">
              <a:off x="4224" y="2448"/>
              <a:ext cx="48" cy="528"/>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panose="020B0604020202020204" pitchFamily="34" charset="0"/>
              </a:endParaRPr>
            </a:p>
          </p:txBody>
        </p:sp>
        <p:sp>
          <p:nvSpPr>
            <p:cNvPr id="33810" name="Oval 18"/>
            <p:cNvSpPr>
              <a:spLocks noChangeArrowheads="1"/>
            </p:cNvSpPr>
            <p:nvPr/>
          </p:nvSpPr>
          <p:spPr bwMode="auto">
            <a:xfrm>
              <a:off x="4128" y="2976"/>
              <a:ext cx="240" cy="24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panose="02010600030101010101" pitchFamily="2" charset="-122"/>
              </a:endParaRPr>
            </a:p>
          </p:txBody>
        </p:sp>
        <p:sp>
          <p:nvSpPr>
            <p:cNvPr id="33811" name="Oval 19"/>
            <p:cNvSpPr>
              <a:spLocks noChangeArrowheads="1"/>
            </p:cNvSpPr>
            <p:nvPr/>
          </p:nvSpPr>
          <p:spPr bwMode="auto">
            <a:xfrm>
              <a:off x="3264" y="3744"/>
              <a:ext cx="96" cy="96"/>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panose="02010600030101010101" pitchFamily="2" charset="-122"/>
              </a:endParaRPr>
            </a:p>
          </p:txBody>
        </p:sp>
        <p:sp>
          <p:nvSpPr>
            <p:cNvPr id="33812" name="Rectangle 20"/>
            <p:cNvSpPr>
              <a:spLocks noChangeArrowheads="1"/>
            </p:cNvSpPr>
            <p:nvPr/>
          </p:nvSpPr>
          <p:spPr bwMode="auto">
            <a:xfrm>
              <a:off x="4224" y="2622"/>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latin typeface="Arial" panose="020B0604020202020204" pitchFamily="34" charset="0"/>
                </a:rPr>
                <a:t>……</a:t>
              </a:r>
              <a:endParaRPr kumimoji="0" lang="en-US" altLang="zh-CN" sz="2000" b="1" dirty="0">
                <a:solidFill>
                  <a:schemeClr val="accent1">
                    <a:lumMod val="75000"/>
                  </a:schemeClr>
                </a:solidFill>
              </a:endParaRPr>
            </a:p>
          </p:txBody>
        </p:sp>
        <p:sp>
          <p:nvSpPr>
            <p:cNvPr id="171029" name="Rectangle 21"/>
            <p:cNvSpPr>
              <a:spLocks noChangeArrowheads="1"/>
            </p:cNvSpPr>
            <p:nvPr/>
          </p:nvSpPr>
          <p:spPr bwMode="auto">
            <a:xfrm>
              <a:off x="4080" y="254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2</a:t>
              </a:r>
              <a:endParaRPr kumimoji="0" lang="en-US" altLang="zh-CN" sz="2000" b="1" dirty="0">
                <a:solidFill>
                  <a:schemeClr val="accent1">
                    <a:lumMod val="75000"/>
                  </a:schemeClr>
                </a:solidFill>
              </a:endParaRPr>
            </a:p>
          </p:txBody>
        </p:sp>
        <p:sp>
          <p:nvSpPr>
            <p:cNvPr id="171030" name="Rectangle 22"/>
            <p:cNvSpPr>
              <a:spLocks noChangeArrowheads="1"/>
            </p:cNvSpPr>
            <p:nvPr/>
          </p:nvSpPr>
          <p:spPr bwMode="auto">
            <a:xfrm>
              <a:off x="4608" y="249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n</a:t>
              </a:r>
              <a:endParaRPr kumimoji="0" lang="en-US" altLang="zh-CN" sz="2000" b="1" dirty="0">
                <a:solidFill>
                  <a:schemeClr val="accent1">
                    <a:lumMod val="75000"/>
                  </a:schemeClr>
                </a:solidFill>
              </a:endParaRPr>
            </a:p>
          </p:txBody>
        </p:sp>
        <p:sp>
          <p:nvSpPr>
            <p:cNvPr id="171031" name="Rectangle 23"/>
            <p:cNvSpPr>
              <a:spLocks noChangeArrowheads="1"/>
            </p:cNvSpPr>
            <p:nvPr/>
          </p:nvSpPr>
          <p:spPr bwMode="auto">
            <a:xfrm>
              <a:off x="4368" y="1728"/>
              <a:ext cx="3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k&gt;1</a:t>
              </a:r>
              <a:endParaRPr kumimoji="0" lang="en-US" altLang="zh-CN" sz="2000" b="1" dirty="0">
                <a:solidFill>
                  <a:schemeClr val="accent1">
                    <a:lumMod val="75000"/>
                  </a:schemeClr>
                </a:solidFill>
              </a:endParaRPr>
            </a:p>
          </p:txBody>
        </p:sp>
        <p:sp>
          <p:nvSpPr>
            <p:cNvPr id="171032" name="Rectangle 24"/>
            <p:cNvSpPr>
              <a:spLocks noChangeArrowheads="1"/>
            </p:cNvSpPr>
            <p:nvPr/>
          </p:nvSpPr>
          <p:spPr bwMode="auto">
            <a:xfrm>
              <a:off x="2352" y="3888"/>
              <a:ext cx="16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2000" b="1" dirty="0">
                  <a:solidFill>
                    <a:schemeClr val="accent1">
                      <a:lumMod val="75000"/>
                    </a:schemeClr>
                  </a:solidFill>
                </a:rPr>
                <a:t>输出一组结果</a:t>
              </a:r>
              <a:endParaRPr kumimoji="0" lang="zh-CN" altLang="en-US" sz="2000" b="1" dirty="0">
                <a:solidFill>
                  <a:schemeClr val="accent1">
                    <a:lumMod val="75000"/>
                  </a:schemeClr>
                </a:solidFill>
              </a:endParaRPr>
            </a:p>
          </p:txBody>
        </p:sp>
        <p:sp>
          <p:nvSpPr>
            <p:cNvPr id="33817" name="Line 25"/>
            <p:cNvSpPr>
              <a:spLocks noChangeShapeType="1"/>
            </p:cNvSpPr>
            <p:nvPr/>
          </p:nvSpPr>
          <p:spPr bwMode="auto">
            <a:xfrm>
              <a:off x="3936" y="3216"/>
              <a:ext cx="96" cy="432"/>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panose="020B0604020202020204" pitchFamily="34" charset="0"/>
              </a:endParaRPr>
            </a:p>
          </p:txBody>
        </p:sp>
        <p:sp>
          <p:nvSpPr>
            <p:cNvPr id="33818" name="Oval 26"/>
            <p:cNvSpPr>
              <a:spLocks noChangeArrowheads="1"/>
            </p:cNvSpPr>
            <p:nvPr/>
          </p:nvSpPr>
          <p:spPr bwMode="auto">
            <a:xfrm>
              <a:off x="3936" y="3648"/>
              <a:ext cx="240" cy="24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panose="02010600030101010101" pitchFamily="2" charset="-122"/>
              </a:endParaRPr>
            </a:p>
          </p:txBody>
        </p:sp>
        <p:sp>
          <p:nvSpPr>
            <p:cNvPr id="171035" name="Rectangle 27"/>
            <p:cNvSpPr>
              <a:spLocks noChangeArrowheads="1"/>
            </p:cNvSpPr>
            <p:nvPr/>
          </p:nvSpPr>
          <p:spPr bwMode="auto">
            <a:xfrm>
              <a:off x="4464" y="1440"/>
              <a:ext cx="11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 (</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k, n)</a:t>
              </a:r>
              <a:endParaRPr kumimoji="0" lang="en-US" altLang="zh-CN" sz="2000" b="1" dirty="0">
                <a:solidFill>
                  <a:schemeClr val="accent1">
                    <a:lumMod val="75000"/>
                  </a:schemeClr>
                </a:solidFill>
              </a:endParaRPr>
            </a:p>
          </p:txBody>
        </p:sp>
        <p:sp>
          <p:nvSpPr>
            <p:cNvPr id="171036" name="Rectangle 28"/>
            <p:cNvSpPr>
              <a:spLocks noChangeArrowheads="1"/>
            </p:cNvSpPr>
            <p:nvPr/>
          </p:nvSpPr>
          <p:spPr bwMode="auto">
            <a:xfrm>
              <a:off x="3504" y="3888"/>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 (</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k+1, n)</a:t>
              </a:r>
              <a:endParaRPr kumimoji="0" lang="en-US" altLang="zh-CN" sz="2000" b="1" dirty="0">
                <a:solidFill>
                  <a:schemeClr val="accent1">
                    <a:lumMod val="75000"/>
                  </a:schemeClr>
                </a:solidFill>
              </a:endParaRPr>
            </a:p>
          </p:txBody>
        </p:sp>
      </p:grpSp>
      <p:sp>
        <p:nvSpPr>
          <p:cNvPr id="171037" name="Rectangle 29"/>
          <p:cNvSpPr>
            <a:spLocks noChangeArrowheads="1"/>
          </p:cNvSpPr>
          <p:nvPr/>
        </p:nvSpPr>
        <p:spPr bwMode="auto">
          <a:xfrm>
            <a:off x="315912" y="2518993"/>
            <a:ext cx="550227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dirty="0"/>
              <a:t>先不考虑条件，即枚举</a:t>
            </a:r>
            <a:r>
              <a:rPr kumimoji="0" lang="en-US" altLang="zh-CN" dirty="0"/>
              <a:t>n</a:t>
            </a:r>
            <a:r>
              <a:rPr kumimoji="0" lang="zh-CN" altLang="en-US" dirty="0"/>
              <a:t>的变量所有的取值可能，每个变量的取值范围</a:t>
            </a:r>
            <a:r>
              <a:rPr kumimoji="0" lang="en-US" altLang="zh-CN" dirty="0"/>
              <a:t>1~n</a:t>
            </a:r>
            <a:endParaRPr kumimoji="0" lang="en-US" altLang="zh-CN" dirty="0"/>
          </a:p>
          <a:p>
            <a:pPr fontAlgn="base">
              <a:spcBef>
                <a:spcPct val="0"/>
              </a:spcBef>
              <a:spcAft>
                <a:spcPct val="0"/>
              </a:spcAft>
              <a:defRPr/>
            </a:pPr>
            <a:r>
              <a:rPr kumimoji="0" lang="zh-CN" altLang="en-US" dirty="0"/>
              <a:t>定义函数：</a:t>
            </a:r>
            <a:endParaRPr kumimoji="0" lang="zh-CN" altLang="en-US" dirty="0"/>
          </a:p>
          <a:p>
            <a:pPr fontAlgn="base">
              <a:spcBef>
                <a:spcPct val="0"/>
              </a:spcBef>
              <a:spcAft>
                <a:spcPct val="0"/>
              </a:spcAft>
              <a:defRPr/>
            </a:pPr>
            <a:r>
              <a:rPr kumimoji="0" lang="en-US" altLang="zh-CN" dirty="0"/>
              <a:t>per (</a:t>
            </a:r>
            <a:r>
              <a:rPr kumimoji="0" lang="en-US" altLang="zh-CN" dirty="0" err="1"/>
              <a:t>int</a:t>
            </a:r>
            <a:r>
              <a:rPr kumimoji="0" lang="en-US" altLang="zh-CN" dirty="0"/>
              <a:t> </a:t>
            </a:r>
            <a:r>
              <a:rPr kumimoji="0" lang="en-US" altLang="zh-CN" dirty="0" err="1"/>
              <a:t>ary</a:t>
            </a:r>
            <a:r>
              <a:rPr kumimoji="0" lang="en-US" altLang="zh-CN" dirty="0"/>
              <a:t>[ ], </a:t>
            </a:r>
            <a:r>
              <a:rPr kumimoji="0" lang="en-US" altLang="zh-CN" dirty="0" err="1"/>
              <a:t>int</a:t>
            </a:r>
            <a:r>
              <a:rPr kumimoji="0" lang="en-US" altLang="zh-CN" dirty="0"/>
              <a:t> k, </a:t>
            </a:r>
            <a:r>
              <a:rPr kumimoji="0" lang="en-US" altLang="zh-CN" dirty="0" err="1"/>
              <a:t>int</a:t>
            </a:r>
            <a:r>
              <a:rPr kumimoji="0" lang="en-US" altLang="zh-CN" dirty="0"/>
              <a:t> n)</a:t>
            </a:r>
            <a:endParaRPr kumimoji="0" lang="en-US" altLang="zh-CN" dirty="0"/>
          </a:p>
          <a:p>
            <a:pPr fontAlgn="base">
              <a:spcBef>
                <a:spcPct val="0"/>
              </a:spcBef>
              <a:spcAft>
                <a:spcPct val="0"/>
              </a:spcAft>
              <a:defRPr/>
            </a:pPr>
            <a:r>
              <a:rPr kumimoji="0" lang="en-US" altLang="zh-CN" dirty="0"/>
              <a:t>k</a:t>
            </a:r>
            <a:r>
              <a:rPr kumimoji="0" lang="zh-CN" altLang="en-US" dirty="0"/>
              <a:t>：表示当前枚举的变量</a:t>
            </a:r>
            <a:endParaRPr kumimoji="0" lang="zh-CN" altLang="en-US" dirty="0"/>
          </a:p>
          <a:p>
            <a:pPr fontAlgn="base">
              <a:spcBef>
                <a:spcPct val="0"/>
              </a:spcBef>
              <a:spcAft>
                <a:spcPct val="0"/>
              </a:spcAft>
              <a:defRPr/>
            </a:pPr>
            <a:r>
              <a:rPr kumimoji="0" lang="zh-CN" altLang="en-US" dirty="0"/>
              <a:t>存放在</a:t>
            </a:r>
            <a:r>
              <a:rPr kumimoji="0" lang="en-US" altLang="zh-CN" dirty="0" err="1"/>
              <a:t>ary</a:t>
            </a:r>
            <a:r>
              <a:rPr kumimoji="0" lang="en-US" altLang="zh-CN" dirty="0"/>
              <a:t>[k]</a:t>
            </a:r>
            <a:r>
              <a:rPr kumimoji="0" lang="zh-CN" altLang="en-US" dirty="0"/>
              <a:t>中</a:t>
            </a:r>
            <a:endParaRPr kumimoji="0" lang="zh-CN" altLang="en-US" dirty="0"/>
          </a:p>
          <a:p>
            <a:pPr fontAlgn="base">
              <a:spcBef>
                <a:spcPct val="0"/>
              </a:spcBef>
              <a:spcAft>
                <a:spcPct val="0"/>
              </a:spcAft>
              <a:defRPr/>
            </a:pPr>
            <a:r>
              <a:rPr kumimoji="0" lang="zh-CN" altLang="en-US" sz="3200" dirty="0"/>
              <a:t>	</a:t>
            </a:r>
            <a:endParaRPr kumimoji="0"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nodeType="clickEffect">
                                  <p:stCondLst>
                                    <p:cond delay="0"/>
                                  </p:stCondLst>
                                  <p:iterate type="lt">
                                    <p:tmPct val="10000"/>
                                  </p:iterate>
                                  <p:childTnLst>
                                    <p:animEffect transition="out" filter="fade">
                                      <p:cBhvr>
                                        <p:cTn id="6" dur="2000"/>
                                        <p:tgtEl>
                                          <p:spTgt spid="171013">
                                            <p:txEl>
                                              <p:pRg st="1" end="1"/>
                                            </p:txEl>
                                          </p:spTgt>
                                        </p:tgtEl>
                                      </p:cBhvr>
                                    </p:animEffect>
                                    <p:anim calcmode="lin" valueType="num">
                                      <p:cBhvr>
                                        <p:cTn id="7" dur="2000"/>
                                        <p:tgtEl>
                                          <p:spTgt spid="171013">
                                            <p:txEl>
                                              <p:pRg st="1" end="1"/>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171013">
                                            <p:txEl>
                                              <p:pRg st="1" end="1"/>
                                            </p:txEl>
                                          </p:spTgt>
                                        </p:tgtEl>
                                        <p:attrNameLst>
                                          <p:attrName>ppt_h</p:attrName>
                                        </p:attrNameLst>
                                      </p:cBhvr>
                                      <p:tavLst>
                                        <p:tav tm="0">
                                          <p:val>
                                            <p:strVal val="ppt_h"/>
                                          </p:val>
                                        </p:tav>
                                        <p:tav tm="100000">
                                          <p:val>
                                            <p:strVal val="ppt_h"/>
                                          </p:val>
                                        </p:tav>
                                      </p:tavLst>
                                    </p:anim>
                                    <p:set>
                                      <p:cBhvr>
                                        <p:cTn id="9" dur="1" fill="hold">
                                          <p:stCondLst>
                                            <p:cond delay="1999"/>
                                          </p:stCondLst>
                                        </p:cTn>
                                        <p:tgtEl>
                                          <p:spTgt spid="171013">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304800" y="457200"/>
            <a:ext cx="8659813" cy="4278094"/>
          </a:xfrm>
          <a:prstGeom prst="rect">
            <a:avLst/>
          </a:prstGeom>
          <a:noFill/>
          <a:ln w="12700" cap="sq">
            <a:solidFill>
              <a:srgbClr val="00FFFF"/>
            </a:solidFill>
            <a:miter lim="800000"/>
          </a:ln>
          <a:effectLst/>
          <a:extLst>
            <a:ext uri="{909E8E84-426E-40DD-AFC4-6F175D3DCCD1}">
              <a14:hiddenFill xmlns:a14="http://schemas.microsoft.com/office/drawing/2010/main">
                <a:solidFill>
                  <a:srgbClr val="FFFFFF">
                    <a:alpha val="70195"/>
                  </a:srgbClr>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kumimoji="1" sz="2400">
                <a:solidFill>
                  <a:schemeClr val="tx1"/>
                </a:solidFill>
                <a:latin typeface="Garamond" panose="02020404030301010803" pitchFamily="18" charset="0"/>
                <a:cs typeface="Arial" panose="020B0604020202020204" pitchFamily="34" charset="0"/>
              </a:defRPr>
            </a:lvl1pPr>
            <a:lvl2pPr>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void perm(</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k,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n) </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for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=1;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&lt;=n;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//n</a:t>
            </a:r>
            <a:r>
              <a:rPr lang="zh-CN" altLang="en-US" sz="2000" b="1" dirty="0">
                <a:latin typeface="Times New Roman" panose="02020603050405020304" pitchFamily="18" charset="0"/>
                <a:ea typeface="黑体" panose="02010609060101010101" pitchFamily="49" charset="-122"/>
              </a:rPr>
              <a:t>个可能的取值</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[k] =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变量</a:t>
            </a:r>
            <a:r>
              <a:rPr lang="en-US" altLang="zh-CN" sz="2000" b="1" dirty="0">
                <a:latin typeface="Times New Roman" panose="02020603050405020304" pitchFamily="18" charset="0"/>
                <a:ea typeface="黑体" panose="02010609060101010101" pitchFamily="49" charset="-122"/>
              </a:rPr>
              <a:t>k</a:t>
            </a:r>
            <a:r>
              <a:rPr lang="zh-CN" altLang="en-US" sz="2000" b="1" dirty="0">
                <a:latin typeface="Times New Roman" panose="02020603050405020304" pitchFamily="18" charset="0"/>
                <a:ea typeface="黑体" panose="02010609060101010101" pitchFamily="49" charset="-122"/>
              </a:rPr>
              <a:t>取值</a:t>
            </a:r>
            <a:r>
              <a:rPr lang="en-US" altLang="zh-CN" sz="2000" b="1" dirty="0" err="1">
                <a:latin typeface="Times New Roman" panose="02020603050405020304" pitchFamily="18" charset="0"/>
                <a:ea typeface="黑体" panose="02010609060101010101" pitchFamily="49" charset="-122"/>
              </a:rPr>
              <a:t>i</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if (k==n)		//</a:t>
            </a:r>
            <a:r>
              <a:rPr lang="zh-CN" altLang="en-US" sz="2000" b="1" dirty="0">
                <a:latin typeface="Times New Roman" panose="02020603050405020304" pitchFamily="18" charset="0"/>
                <a:ea typeface="黑体" panose="02010609060101010101" pitchFamily="49" charset="-122"/>
              </a:rPr>
              <a:t>边界条件：</a:t>
            </a:r>
            <a:r>
              <a:rPr lang="en-US" altLang="zh-CN" sz="2000" b="1" dirty="0" err="1">
                <a:latin typeface="Times New Roman" panose="02020603050405020304" pitchFamily="18" charset="0"/>
                <a:ea typeface="黑体" panose="02010609060101010101" pitchFamily="49" charset="-122"/>
              </a:rPr>
              <a:t>nSize</a:t>
            </a:r>
            <a:r>
              <a:rPr lang="zh-CN" altLang="en-US" sz="2000" b="1" dirty="0">
                <a:latin typeface="Times New Roman" panose="02020603050405020304" pitchFamily="18" charset="0"/>
                <a:ea typeface="黑体" panose="02010609060101010101" pitchFamily="49" charset="-122"/>
              </a:rPr>
              <a:t>个变量都枚举完了</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myOutput</a:t>
            </a:r>
            <a:r>
              <a:rPr lang="en-US" altLang="zh-CN" sz="2000" b="1" dirty="0">
                <a:latin typeface="Times New Roman" panose="02020603050405020304" pitchFamily="18" charset="0"/>
                <a:ea typeface="黑体" panose="02010609060101010101" pitchFamily="49" charset="-122"/>
              </a:rPr>
              <a:t>(</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n);	//</a:t>
            </a:r>
            <a:r>
              <a:rPr lang="zh-CN" altLang="en-US" sz="2000" b="1" dirty="0">
                <a:latin typeface="Times New Roman" panose="02020603050405020304" pitchFamily="18" charset="0"/>
                <a:ea typeface="黑体" panose="02010609060101010101" pitchFamily="49" charset="-122"/>
              </a:rPr>
              <a:t>输出一组解</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nTotal</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解的个数加</a:t>
            </a:r>
            <a:r>
              <a:rPr lang="en-US" altLang="zh-CN" sz="2000" b="1" dirty="0">
                <a:latin typeface="Times New Roman" panose="02020603050405020304" pitchFamily="18" charset="0"/>
                <a:ea typeface="黑体" panose="02010609060101010101" pitchFamily="49" charset="-122"/>
              </a:rPr>
              <a:t>1</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}else</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perm(</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k+1, n);	//</a:t>
            </a:r>
            <a:r>
              <a:rPr lang="zh-CN" altLang="en-US" sz="2000" b="1" dirty="0">
                <a:latin typeface="Times New Roman" panose="02020603050405020304" pitchFamily="18" charset="0"/>
                <a:ea typeface="黑体" panose="02010609060101010101" pitchFamily="49" charset="-122"/>
              </a:rPr>
              <a:t>枚举</a:t>
            </a:r>
            <a:r>
              <a:rPr lang="en-US" altLang="zh-CN" sz="2000" b="1" dirty="0">
                <a:latin typeface="Times New Roman" panose="02020603050405020304" pitchFamily="18" charset="0"/>
                <a:ea typeface="黑体" panose="02010609060101010101" pitchFamily="49" charset="-122"/>
              </a:rPr>
              <a:t>k+1</a:t>
            </a:r>
            <a:r>
              <a:rPr lang="zh-CN" altLang="en-US" sz="2000" b="1" dirty="0">
                <a:latin typeface="Times New Roman" panose="02020603050405020304" pitchFamily="18" charset="0"/>
                <a:ea typeface="黑体" panose="02010609060101010101" pitchFamily="49" charset="-122"/>
              </a:rPr>
              <a:t>个变量</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return;</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endParaRPr lang="en-US" altLang="zh-CN" sz="2000" b="1" dirty="0">
              <a:latin typeface="Times New Roman" panose="02020603050405020304" pitchFamily="18" charset="0"/>
              <a:ea typeface="黑体" panose="02010609060101010101" pitchFamily="49" charset="-122"/>
            </a:endParaRPr>
          </a:p>
        </p:txBody>
      </p:sp>
      <p:sp>
        <p:nvSpPr>
          <p:cNvPr id="34819" name="Rectangle 3"/>
          <p:cNvSpPr>
            <a:spLocks noChangeArrowheads="1"/>
          </p:cNvSpPr>
          <p:nvPr/>
        </p:nvSpPr>
        <p:spPr bwMode="auto">
          <a:xfrm>
            <a:off x="1143000" y="5638800"/>
            <a:ext cx="306507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dirty="0"/>
              <a:t>调用：</a:t>
            </a:r>
            <a:r>
              <a:rPr kumimoji="0" lang="en-US" altLang="zh-CN" dirty="0"/>
              <a:t>perm(</a:t>
            </a:r>
            <a:r>
              <a:rPr kumimoji="0" lang="en-US" altLang="zh-CN" dirty="0" err="1"/>
              <a:t>ary</a:t>
            </a:r>
            <a:r>
              <a:rPr kumimoji="0" lang="en-US" altLang="zh-CN" dirty="0"/>
              <a:t>, 1, n); </a:t>
            </a:r>
            <a:endParaRPr kumimoji="0"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Line 4"/>
          <p:cNvSpPr>
            <a:spLocks noChangeShapeType="1"/>
          </p:cNvSpPr>
          <p:nvPr/>
        </p:nvSpPr>
        <p:spPr bwMode="auto">
          <a:xfrm flipH="1">
            <a:off x="4886172" y="2935288"/>
            <a:ext cx="609600" cy="762000"/>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panose="020B0604020202020204" pitchFamily="34" charset="0"/>
            </a:endParaRPr>
          </a:p>
        </p:txBody>
      </p:sp>
      <p:sp>
        <p:nvSpPr>
          <p:cNvPr id="35843" name="Oval 5"/>
          <p:cNvSpPr>
            <a:spLocks noChangeArrowheads="1"/>
          </p:cNvSpPr>
          <p:nvPr/>
        </p:nvSpPr>
        <p:spPr bwMode="auto">
          <a:xfrm>
            <a:off x="5383059" y="152400"/>
            <a:ext cx="381000" cy="3810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175110" name="Rectangle 6"/>
          <p:cNvSpPr>
            <a:spLocks noChangeArrowheads="1"/>
          </p:cNvSpPr>
          <p:nvPr/>
        </p:nvSpPr>
        <p:spPr bwMode="auto">
          <a:xfrm>
            <a:off x="3291310" y="2773721"/>
            <a:ext cx="152157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defRPr/>
            </a:pPr>
            <a:r>
              <a:rPr lang="zh-CN" altLang="en-US" sz="2000" b="1" dirty="0">
                <a:solidFill>
                  <a:schemeClr val="accent1">
                    <a:lumMod val="75000"/>
                  </a:schemeClr>
                </a:solidFill>
                <a:cs typeface="Arial" panose="020B0604020202020204" pitchFamily="34" charset="0"/>
              </a:rPr>
              <a:t>条件不符合</a:t>
            </a:r>
            <a:endParaRPr lang="en-US" altLang="zh-CN" sz="2000" b="1" dirty="0">
              <a:solidFill>
                <a:schemeClr val="accent1">
                  <a:lumMod val="75000"/>
                </a:schemeClr>
              </a:solidFill>
              <a:cs typeface="Arial" panose="020B0604020202020204" pitchFamily="34" charset="0"/>
            </a:endParaRPr>
          </a:p>
          <a:p>
            <a:pPr fontAlgn="base">
              <a:spcBef>
                <a:spcPct val="0"/>
              </a:spcBef>
              <a:spcAft>
                <a:spcPct val="0"/>
              </a:spcAft>
              <a:defRPr/>
            </a:pPr>
            <a:r>
              <a:rPr lang="en-US" altLang="zh-CN" sz="2000" b="1" dirty="0">
                <a:solidFill>
                  <a:schemeClr val="accent1">
                    <a:lumMod val="75000"/>
                  </a:schemeClr>
                </a:solidFill>
                <a:cs typeface="Arial" panose="020B0604020202020204" pitchFamily="34" charset="0"/>
              </a:rPr>
              <a:t>(used[</a:t>
            </a:r>
            <a:r>
              <a:rPr lang="en-US" altLang="zh-CN" sz="2000" b="1" dirty="0" err="1">
                <a:solidFill>
                  <a:schemeClr val="accent1">
                    <a:lumMod val="75000"/>
                  </a:schemeClr>
                </a:solidFill>
                <a:cs typeface="Arial" panose="020B0604020202020204" pitchFamily="34" charset="0"/>
              </a:rPr>
              <a:t>i</a:t>
            </a:r>
            <a:r>
              <a:rPr lang="en-US" altLang="zh-CN" sz="2000" b="1" dirty="0">
                <a:solidFill>
                  <a:schemeClr val="accent1">
                    <a:lumMod val="75000"/>
                  </a:schemeClr>
                </a:solidFill>
                <a:cs typeface="Arial" panose="020B0604020202020204" pitchFamily="34" charset="0"/>
              </a:rPr>
              <a:t>] == 1)</a:t>
            </a:r>
            <a:endParaRPr lang="zh-CN" altLang="en-US" sz="2000" b="1" dirty="0">
              <a:solidFill>
                <a:schemeClr val="accent1">
                  <a:lumMod val="75000"/>
                </a:schemeClr>
              </a:solidFill>
              <a:cs typeface="Arial" panose="020B0604020202020204" pitchFamily="34" charset="0"/>
            </a:endParaRPr>
          </a:p>
          <a:p>
            <a:pPr fontAlgn="base">
              <a:spcBef>
                <a:spcPct val="0"/>
              </a:spcBef>
              <a:spcAft>
                <a:spcPct val="0"/>
              </a:spcAft>
              <a:defRPr/>
            </a:pPr>
            <a:endParaRPr lang="zh-CN" altLang="en-US" sz="2000" b="1" dirty="0">
              <a:solidFill>
                <a:schemeClr val="accent1">
                  <a:lumMod val="75000"/>
                </a:schemeClr>
              </a:solidFill>
              <a:cs typeface="Arial" panose="020B0604020202020204" pitchFamily="34" charset="0"/>
            </a:endParaRPr>
          </a:p>
        </p:txBody>
      </p:sp>
      <p:sp>
        <p:nvSpPr>
          <p:cNvPr id="35845" name="Oval 7"/>
          <p:cNvSpPr>
            <a:spLocks noChangeArrowheads="1"/>
          </p:cNvSpPr>
          <p:nvPr/>
        </p:nvSpPr>
        <p:spPr bwMode="auto">
          <a:xfrm>
            <a:off x="5459259" y="1371600"/>
            <a:ext cx="381000" cy="381000"/>
          </a:xfrm>
          <a:prstGeom prst="ellipse">
            <a:avLst/>
          </a:prstGeom>
          <a:solidFill>
            <a:schemeClr val="accent1"/>
          </a:solidFill>
          <a:ln w="38100">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175112" name="Rectangle 8"/>
          <p:cNvSpPr>
            <a:spLocks noChangeArrowheads="1"/>
          </p:cNvSpPr>
          <p:nvPr/>
        </p:nvSpPr>
        <p:spPr bwMode="auto">
          <a:xfrm>
            <a:off x="4513110" y="1919991"/>
            <a:ext cx="1809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 = 1</a:t>
            </a:r>
            <a:endParaRPr kumimoji="0" lang="en-US" altLang="zh-CN" sz="2000" b="1" dirty="0">
              <a:solidFill>
                <a:schemeClr val="accent1">
                  <a:lumMod val="75000"/>
                </a:schemeClr>
              </a:solidFill>
            </a:endParaRPr>
          </a:p>
        </p:txBody>
      </p:sp>
      <p:sp>
        <p:nvSpPr>
          <p:cNvPr id="35847" name="Line 9"/>
          <p:cNvSpPr>
            <a:spLocks noChangeShapeType="1"/>
          </p:cNvSpPr>
          <p:nvPr/>
        </p:nvSpPr>
        <p:spPr bwMode="auto">
          <a:xfrm>
            <a:off x="5535459" y="533400"/>
            <a:ext cx="76200" cy="838200"/>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panose="020B0604020202020204" pitchFamily="34" charset="0"/>
            </a:endParaRPr>
          </a:p>
        </p:txBody>
      </p:sp>
      <p:sp>
        <p:nvSpPr>
          <p:cNvPr id="35848" name="Oval 10"/>
          <p:cNvSpPr>
            <a:spLocks noChangeArrowheads="1"/>
          </p:cNvSpPr>
          <p:nvPr/>
        </p:nvSpPr>
        <p:spPr bwMode="auto">
          <a:xfrm>
            <a:off x="4773459" y="2590800"/>
            <a:ext cx="381000" cy="3810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35849" name="Line 11"/>
          <p:cNvSpPr>
            <a:spLocks noChangeShapeType="1"/>
          </p:cNvSpPr>
          <p:nvPr/>
        </p:nvSpPr>
        <p:spPr bwMode="auto">
          <a:xfrm flipH="1">
            <a:off x="5002059" y="1676400"/>
            <a:ext cx="457200" cy="914400"/>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panose="020B0604020202020204" pitchFamily="34" charset="0"/>
            </a:endParaRPr>
          </a:p>
        </p:txBody>
      </p:sp>
      <p:sp>
        <p:nvSpPr>
          <p:cNvPr id="35850" name="Oval 12"/>
          <p:cNvSpPr>
            <a:spLocks noChangeArrowheads="1"/>
          </p:cNvSpPr>
          <p:nvPr/>
        </p:nvSpPr>
        <p:spPr bwMode="auto">
          <a:xfrm>
            <a:off x="6373659" y="2514600"/>
            <a:ext cx="381000" cy="3810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35851" name="Line 13"/>
          <p:cNvSpPr>
            <a:spLocks noChangeShapeType="1"/>
          </p:cNvSpPr>
          <p:nvPr/>
        </p:nvSpPr>
        <p:spPr bwMode="auto">
          <a:xfrm>
            <a:off x="5840259" y="1600200"/>
            <a:ext cx="636588" cy="944563"/>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panose="020B0604020202020204" pitchFamily="34" charset="0"/>
            </a:endParaRPr>
          </a:p>
        </p:txBody>
      </p:sp>
      <p:sp>
        <p:nvSpPr>
          <p:cNvPr id="35852" name="Line 14"/>
          <p:cNvSpPr>
            <a:spLocks noChangeShapeType="1"/>
          </p:cNvSpPr>
          <p:nvPr/>
        </p:nvSpPr>
        <p:spPr bwMode="auto">
          <a:xfrm flipH="1">
            <a:off x="5535459" y="1752600"/>
            <a:ext cx="76200" cy="838200"/>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panose="020B0604020202020204" pitchFamily="34" charset="0"/>
            </a:endParaRPr>
          </a:p>
        </p:txBody>
      </p:sp>
      <p:sp>
        <p:nvSpPr>
          <p:cNvPr id="35853" name="Oval 15"/>
          <p:cNvSpPr>
            <a:spLocks noChangeArrowheads="1"/>
          </p:cNvSpPr>
          <p:nvPr/>
        </p:nvSpPr>
        <p:spPr bwMode="auto">
          <a:xfrm>
            <a:off x="5383059" y="2590800"/>
            <a:ext cx="381000" cy="3810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35854" name="Oval 16"/>
          <p:cNvSpPr>
            <a:spLocks noChangeArrowheads="1"/>
          </p:cNvSpPr>
          <p:nvPr/>
        </p:nvSpPr>
        <p:spPr bwMode="auto">
          <a:xfrm>
            <a:off x="4697259" y="3810000"/>
            <a:ext cx="152400" cy="1524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35855" name="Rectangle 17"/>
          <p:cNvSpPr>
            <a:spLocks noChangeArrowheads="1"/>
          </p:cNvSpPr>
          <p:nvPr/>
        </p:nvSpPr>
        <p:spPr bwMode="auto">
          <a:xfrm>
            <a:off x="5535459" y="2028825"/>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a:solidFill>
                  <a:schemeClr val="accent1">
                    <a:lumMod val="75000"/>
                  </a:schemeClr>
                </a:solidFill>
                <a:latin typeface="Arial" panose="020B0604020202020204" pitchFamily="34" charset="0"/>
              </a:rPr>
              <a:t>……</a:t>
            </a:r>
            <a:endParaRPr kumimoji="0" lang="en-US" altLang="zh-CN" sz="2000" b="1">
              <a:solidFill>
                <a:schemeClr val="accent1">
                  <a:lumMod val="75000"/>
                </a:schemeClr>
              </a:solidFill>
            </a:endParaRPr>
          </a:p>
        </p:txBody>
      </p:sp>
      <p:sp>
        <p:nvSpPr>
          <p:cNvPr id="175122" name="Rectangle 18"/>
          <p:cNvSpPr>
            <a:spLocks noChangeArrowheads="1"/>
          </p:cNvSpPr>
          <p:nvPr/>
        </p:nvSpPr>
        <p:spPr bwMode="auto">
          <a:xfrm>
            <a:off x="5306859" y="190500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2</a:t>
            </a:r>
            <a:endParaRPr kumimoji="0" lang="en-US" altLang="zh-CN" sz="2000" b="1" dirty="0">
              <a:solidFill>
                <a:schemeClr val="accent1">
                  <a:lumMod val="75000"/>
                </a:schemeClr>
              </a:solidFill>
            </a:endParaRPr>
          </a:p>
        </p:txBody>
      </p:sp>
      <p:sp>
        <p:nvSpPr>
          <p:cNvPr id="175123" name="Rectangle 19"/>
          <p:cNvSpPr>
            <a:spLocks noChangeArrowheads="1"/>
          </p:cNvSpPr>
          <p:nvPr/>
        </p:nvSpPr>
        <p:spPr bwMode="auto">
          <a:xfrm>
            <a:off x="6145059" y="182880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a:solidFill>
                  <a:schemeClr val="accent1">
                    <a:lumMod val="75000"/>
                  </a:schemeClr>
                </a:solidFill>
              </a:rPr>
              <a:t>n</a:t>
            </a:r>
            <a:endParaRPr kumimoji="0" lang="en-US" altLang="zh-CN" sz="2000" b="1">
              <a:solidFill>
                <a:schemeClr val="accent1">
                  <a:lumMod val="75000"/>
                </a:schemeClr>
              </a:solidFill>
            </a:endParaRPr>
          </a:p>
        </p:txBody>
      </p:sp>
      <p:sp>
        <p:nvSpPr>
          <p:cNvPr id="175125" name="Rectangle 21"/>
          <p:cNvSpPr>
            <a:spLocks noChangeArrowheads="1"/>
          </p:cNvSpPr>
          <p:nvPr/>
        </p:nvSpPr>
        <p:spPr bwMode="auto">
          <a:xfrm>
            <a:off x="3249459" y="3962400"/>
            <a:ext cx="259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2000" b="1">
                <a:solidFill>
                  <a:schemeClr val="accent1">
                    <a:lumMod val="75000"/>
                  </a:schemeClr>
                </a:solidFill>
              </a:rPr>
              <a:t>什么也不做</a:t>
            </a:r>
            <a:endParaRPr kumimoji="0" lang="zh-CN" altLang="en-US" sz="2000" b="1">
              <a:solidFill>
                <a:schemeClr val="accent1">
                  <a:lumMod val="75000"/>
                </a:schemeClr>
              </a:solidFill>
            </a:endParaRPr>
          </a:p>
        </p:txBody>
      </p:sp>
      <p:sp>
        <p:nvSpPr>
          <p:cNvPr id="35859" name="Line 22"/>
          <p:cNvSpPr>
            <a:spLocks noChangeShapeType="1"/>
          </p:cNvSpPr>
          <p:nvPr/>
        </p:nvSpPr>
        <p:spPr bwMode="auto">
          <a:xfrm>
            <a:off x="5687859" y="2971800"/>
            <a:ext cx="152400" cy="685800"/>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panose="020B0604020202020204" pitchFamily="34" charset="0"/>
            </a:endParaRPr>
          </a:p>
        </p:txBody>
      </p:sp>
      <p:sp>
        <p:nvSpPr>
          <p:cNvPr id="35860" name="Oval 23"/>
          <p:cNvSpPr>
            <a:spLocks noChangeArrowheads="1"/>
          </p:cNvSpPr>
          <p:nvPr/>
        </p:nvSpPr>
        <p:spPr bwMode="auto">
          <a:xfrm>
            <a:off x="5687859" y="3657600"/>
            <a:ext cx="381000" cy="3810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175128" name="Rectangle 24"/>
          <p:cNvSpPr>
            <a:spLocks noChangeArrowheads="1"/>
          </p:cNvSpPr>
          <p:nvPr/>
        </p:nvSpPr>
        <p:spPr bwMode="auto">
          <a:xfrm>
            <a:off x="5916459" y="152400"/>
            <a:ext cx="25273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perm(</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used, k, n)</a:t>
            </a:r>
            <a:endParaRPr kumimoji="0" lang="en-US" altLang="zh-CN" sz="2000" b="1" dirty="0">
              <a:solidFill>
                <a:schemeClr val="accent1">
                  <a:lumMod val="75000"/>
                </a:schemeClr>
              </a:solidFill>
            </a:endParaRPr>
          </a:p>
        </p:txBody>
      </p:sp>
      <p:sp>
        <p:nvSpPr>
          <p:cNvPr id="175129" name="Rectangle 25"/>
          <p:cNvSpPr>
            <a:spLocks noChangeArrowheads="1"/>
          </p:cNvSpPr>
          <p:nvPr/>
        </p:nvSpPr>
        <p:spPr bwMode="auto">
          <a:xfrm>
            <a:off x="6300635" y="6102349"/>
            <a:ext cx="27146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perm(</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used, k+1, n)</a:t>
            </a:r>
            <a:endParaRPr kumimoji="0" lang="en-US" altLang="zh-CN" sz="2000" b="1" dirty="0">
              <a:solidFill>
                <a:schemeClr val="accent1">
                  <a:lumMod val="75000"/>
                </a:schemeClr>
              </a:solidFill>
            </a:endParaRPr>
          </a:p>
        </p:txBody>
      </p:sp>
      <p:sp>
        <p:nvSpPr>
          <p:cNvPr id="35863" name="Oval 26"/>
          <p:cNvSpPr>
            <a:spLocks noChangeArrowheads="1"/>
          </p:cNvSpPr>
          <p:nvPr/>
        </p:nvSpPr>
        <p:spPr bwMode="auto">
          <a:xfrm>
            <a:off x="4584547" y="3709988"/>
            <a:ext cx="381000" cy="3810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a:solidFill>
                <a:schemeClr val="accent1">
                  <a:lumMod val="75000"/>
                </a:schemeClr>
              </a:solidFill>
              <a:cs typeface="宋体" panose="02010600030101010101" pitchFamily="2" charset="-122"/>
            </a:endParaRPr>
          </a:p>
        </p:txBody>
      </p:sp>
      <p:sp>
        <p:nvSpPr>
          <p:cNvPr id="35864" name="Line 27"/>
          <p:cNvSpPr>
            <a:spLocks noChangeShapeType="1"/>
          </p:cNvSpPr>
          <p:nvPr/>
        </p:nvSpPr>
        <p:spPr bwMode="auto">
          <a:xfrm flipH="1">
            <a:off x="5114772" y="4002088"/>
            <a:ext cx="609600" cy="762000"/>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panose="020B0604020202020204" pitchFamily="34" charset="0"/>
            </a:endParaRPr>
          </a:p>
        </p:txBody>
      </p:sp>
      <p:sp>
        <p:nvSpPr>
          <p:cNvPr id="175135" name="Rectangle 31"/>
          <p:cNvSpPr>
            <a:spLocks noChangeArrowheads="1"/>
          </p:cNvSpPr>
          <p:nvPr/>
        </p:nvSpPr>
        <p:spPr bwMode="auto">
          <a:xfrm>
            <a:off x="3140370" y="5130802"/>
            <a:ext cx="22649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[k]=</a:t>
            </a: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 used[</a:t>
            </a: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]=1</a:t>
            </a:r>
            <a:endParaRPr kumimoji="0" lang="en-US" altLang="zh-CN" sz="2000" b="1" dirty="0">
              <a:solidFill>
                <a:schemeClr val="accent1">
                  <a:lumMod val="75000"/>
                </a:schemeClr>
              </a:solidFill>
            </a:endParaRPr>
          </a:p>
        </p:txBody>
      </p:sp>
      <p:sp>
        <p:nvSpPr>
          <p:cNvPr id="35869" name="Line 32"/>
          <p:cNvSpPr>
            <a:spLocks noChangeShapeType="1"/>
          </p:cNvSpPr>
          <p:nvPr/>
        </p:nvSpPr>
        <p:spPr bwMode="auto">
          <a:xfrm>
            <a:off x="6564159" y="5199062"/>
            <a:ext cx="342900" cy="530225"/>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panose="020B0604020202020204" pitchFamily="34" charset="0"/>
            </a:endParaRPr>
          </a:p>
        </p:txBody>
      </p:sp>
      <p:sp>
        <p:nvSpPr>
          <p:cNvPr id="35870" name="Oval 33"/>
          <p:cNvSpPr>
            <a:spLocks noChangeArrowheads="1"/>
          </p:cNvSpPr>
          <p:nvPr/>
        </p:nvSpPr>
        <p:spPr bwMode="auto">
          <a:xfrm>
            <a:off x="6754659" y="5729287"/>
            <a:ext cx="381000" cy="3810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35871" name="Line 34"/>
          <p:cNvSpPr>
            <a:spLocks noChangeShapeType="1"/>
          </p:cNvSpPr>
          <p:nvPr/>
        </p:nvSpPr>
        <p:spPr bwMode="auto">
          <a:xfrm>
            <a:off x="6094259" y="3900488"/>
            <a:ext cx="1612900" cy="982662"/>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panose="020B0604020202020204" pitchFamily="34" charset="0"/>
            </a:endParaRPr>
          </a:p>
        </p:txBody>
      </p:sp>
      <p:sp>
        <p:nvSpPr>
          <p:cNvPr id="35872" name="Oval 35"/>
          <p:cNvSpPr>
            <a:spLocks noChangeArrowheads="1"/>
          </p:cNvSpPr>
          <p:nvPr/>
        </p:nvSpPr>
        <p:spPr bwMode="auto">
          <a:xfrm>
            <a:off x="7640485" y="4813299"/>
            <a:ext cx="381000" cy="3810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175140" name="Rectangle 36"/>
          <p:cNvSpPr>
            <a:spLocks noChangeArrowheads="1"/>
          </p:cNvSpPr>
          <p:nvPr/>
        </p:nvSpPr>
        <p:spPr bwMode="auto">
          <a:xfrm>
            <a:off x="7232497" y="5194299"/>
            <a:ext cx="1233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used[</a:t>
            </a: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]=0</a:t>
            </a:r>
            <a:endParaRPr kumimoji="0" lang="en-US" altLang="zh-CN" sz="2000" b="1" dirty="0">
              <a:solidFill>
                <a:schemeClr val="accent1">
                  <a:lumMod val="75000"/>
                </a:schemeClr>
              </a:solidFill>
            </a:endParaRPr>
          </a:p>
        </p:txBody>
      </p:sp>
      <p:sp>
        <p:nvSpPr>
          <p:cNvPr id="175141" name="Rectangle 37"/>
          <p:cNvSpPr>
            <a:spLocks noChangeArrowheads="1"/>
          </p:cNvSpPr>
          <p:nvPr/>
        </p:nvSpPr>
        <p:spPr bwMode="auto">
          <a:xfrm>
            <a:off x="6622208" y="2837847"/>
            <a:ext cx="22034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defRPr/>
            </a:pPr>
            <a:r>
              <a:rPr lang="zh-CN" altLang="en-US" sz="2000" b="1" dirty="0">
                <a:solidFill>
                  <a:schemeClr val="accent1">
                    <a:lumMod val="75000"/>
                  </a:schemeClr>
                </a:solidFill>
                <a:cs typeface="Arial" panose="020B0604020202020204" pitchFamily="34" charset="0"/>
              </a:rPr>
              <a:t>条件符合</a:t>
            </a:r>
            <a:endParaRPr lang="en-US" altLang="zh-CN" sz="2000" b="1" dirty="0">
              <a:solidFill>
                <a:schemeClr val="accent1">
                  <a:lumMod val="75000"/>
                </a:schemeClr>
              </a:solidFill>
              <a:cs typeface="Arial" panose="020B0604020202020204" pitchFamily="34" charset="0"/>
            </a:endParaRPr>
          </a:p>
          <a:p>
            <a:pPr fontAlgn="base">
              <a:spcBef>
                <a:spcPct val="0"/>
              </a:spcBef>
              <a:spcAft>
                <a:spcPct val="0"/>
              </a:spcAft>
              <a:defRPr/>
            </a:pPr>
            <a:r>
              <a:rPr lang="en-US" altLang="zh-CN" sz="2000" b="1" dirty="0">
                <a:solidFill>
                  <a:schemeClr val="accent1">
                    <a:lumMod val="75000"/>
                  </a:schemeClr>
                </a:solidFill>
                <a:cs typeface="Arial" panose="020B0604020202020204" pitchFamily="34" charset="0"/>
              </a:rPr>
              <a:t>(used[</a:t>
            </a:r>
            <a:r>
              <a:rPr lang="en-US" altLang="zh-CN" sz="2000" b="1" dirty="0" err="1">
                <a:solidFill>
                  <a:schemeClr val="accent1">
                    <a:lumMod val="75000"/>
                  </a:schemeClr>
                </a:solidFill>
                <a:cs typeface="Arial" panose="020B0604020202020204" pitchFamily="34" charset="0"/>
              </a:rPr>
              <a:t>i</a:t>
            </a:r>
            <a:r>
              <a:rPr lang="en-US" altLang="zh-CN" sz="2000" b="1" dirty="0">
                <a:solidFill>
                  <a:schemeClr val="accent1">
                    <a:lumMod val="75000"/>
                  </a:schemeClr>
                </a:solidFill>
                <a:cs typeface="Arial" panose="020B0604020202020204" pitchFamily="34" charset="0"/>
              </a:rPr>
              <a:t>] == 0)</a:t>
            </a:r>
            <a:endParaRPr lang="zh-CN" altLang="en-US" sz="2000" b="1" dirty="0">
              <a:solidFill>
                <a:schemeClr val="accent1">
                  <a:lumMod val="75000"/>
                </a:schemeClr>
              </a:solidFill>
              <a:cs typeface="Arial" panose="020B0604020202020204" pitchFamily="34" charset="0"/>
            </a:endParaRPr>
          </a:p>
        </p:txBody>
      </p:sp>
      <p:sp>
        <p:nvSpPr>
          <p:cNvPr id="175142" name="Rectangle 38"/>
          <p:cNvSpPr>
            <a:spLocks noChangeArrowheads="1"/>
          </p:cNvSpPr>
          <p:nvPr/>
        </p:nvSpPr>
        <p:spPr bwMode="auto">
          <a:xfrm>
            <a:off x="304800" y="228600"/>
            <a:ext cx="3657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3200" dirty="0">
                <a:effectLst>
                  <a:outerShdw blurRad="38100" dist="38100" dir="2700000" algn="tl">
                    <a:srgbClr val="000000"/>
                  </a:outerShdw>
                </a:effectLst>
              </a:rPr>
              <a:t>与或图：求</a:t>
            </a:r>
            <a:r>
              <a:rPr kumimoji="0" lang="en-US" altLang="zh-CN" sz="3200" dirty="0">
                <a:effectLst>
                  <a:outerShdw blurRad="38100" dist="38100" dir="2700000" algn="tl">
                    <a:srgbClr val="000000"/>
                  </a:outerShdw>
                </a:effectLst>
              </a:rPr>
              <a:t>n</a:t>
            </a:r>
            <a:r>
              <a:rPr kumimoji="0" lang="zh-CN" altLang="en-US" sz="3200" dirty="0">
                <a:effectLst>
                  <a:outerShdw blurRad="38100" dist="38100" dir="2700000" algn="tl">
                    <a:srgbClr val="000000"/>
                  </a:outerShdw>
                </a:effectLst>
              </a:rPr>
              <a:t>个元素的全排列</a:t>
            </a:r>
            <a:endParaRPr kumimoji="0" lang="zh-CN" altLang="en-US" sz="3200" dirty="0">
              <a:effectLst>
                <a:outerShdw blurRad="38100" dist="38100" dir="2700000" algn="tl">
                  <a:srgbClr val="000000"/>
                </a:outerShdw>
              </a:effectLst>
            </a:endParaRPr>
          </a:p>
        </p:txBody>
      </p:sp>
      <p:sp>
        <p:nvSpPr>
          <p:cNvPr id="2" name="矩形 1"/>
          <p:cNvSpPr/>
          <p:nvPr/>
        </p:nvSpPr>
        <p:spPr>
          <a:xfrm>
            <a:off x="187456" y="1560512"/>
            <a:ext cx="3647152" cy="1508105"/>
          </a:xfrm>
          <a:prstGeom prst="rect">
            <a:avLst/>
          </a:prstGeom>
        </p:spPr>
        <p:txBody>
          <a:bodyPr wrap="none">
            <a:spAutoFit/>
          </a:bodyPr>
          <a:lstStyle/>
          <a:p>
            <a:r>
              <a:rPr lang="zh-CN" altLang="en-US" sz="2000" dirty="0">
                <a:solidFill>
                  <a:srgbClr val="FF0000"/>
                </a:solidFill>
                <a:effectLst>
                  <a:outerShdw blurRad="38100" dist="38100" dir="2700000" algn="tl">
                    <a:srgbClr val="000000"/>
                  </a:outerShdw>
                </a:effectLst>
              </a:rPr>
              <a:t>考虑条件（互不相等）时，</a:t>
            </a:r>
            <a:endParaRPr lang="en-US" altLang="zh-CN" sz="2000" dirty="0">
              <a:solidFill>
                <a:srgbClr val="FF0000"/>
              </a:solidFill>
              <a:effectLst>
                <a:outerShdw blurRad="38100" dist="38100" dir="2700000" algn="tl">
                  <a:srgbClr val="000000"/>
                </a:outerShdw>
              </a:effectLst>
            </a:endParaRPr>
          </a:p>
          <a:p>
            <a:r>
              <a:rPr lang="zh-CN" altLang="en-US" dirty="0"/>
              <a:t>需要记录每个取值是否被使用过，</a:t>
            </a:r>
            <a:endParaRPr lang="en-US" altLang="zh-CN" dirty="0"/>
          </a:p>
          <a:p>
            <a:r>
              <a:rPr lang="zh-CN" altLang="en-US" dirty="0"/>
              <a:t>增设一维数组</a:t>
            </a:r>
            <a:r>
              <a:rPr lang="en-US" altLang="zh-CN" dirty="0">
                <a:solidFill>
                  <a:srgbClr val="FF0000"/>
                </a:solidFill>
              </a:rPr>
              <a:t>used</a:t>
            </a:r>
            <a:r>
              <a:rPr lang="zh-CN" altLang="en-US" dirty="0"/>
              <a:t>，</a:t>
            </a:r>
            <a:endParaRPr lang="en-US" altLang="zh-CN" dirty="0"/>
          </a:p>
          <a:p>
            <a:r>
              <a:rPr lang="en-US" altLang="zh-CN" dirty="0"/>
              <a:t>used[</a:t>
            </a:r>
            <a:r>
              <a:rPr lang="en-US" altLang="zh-CN" dirty="0" err="1"/>
              <a:t>i</a:t>
            </a:r>
            <a:r>
              <a:rPr lang="en-US" altLang="zh-CN" dirty="0"/>
              <a:t>] == 1</a:t>
            </a:r>
            <a:r>
              <a:rPr lang="zh-CN" altLang="en-US" dirty="0"/>
              <a:t>表示取值</a:t>
            </a:r>
            <a:r>
              <a:rPr lang="en-US" altLang="zh-CN" dirty="0" err="1"/>
              <a:t>i</a:t>
            </a:r>
            <a:r>
              <a:rPr lang="zh-CN" altLang="en-US" dirty="0"/>
              <a:t>被用过</a:t>
            </a:r>
            <a:endParaRPr lang="en-US" altLang="zh-CN" dirty="0"/>
          </a:p>
          <a:p>
            <a:r>
              <a:rPr lang="en-US" altLang="zh-CN" dirty="0"/>
              <a:t>used[</a:t>
            </a:r>
            <a:r>
              <a:rPr lang="en-US" altLang="zh-CN" dirty="0" err="1"/>
              <a:t>i</a:t>
            </a:r>
            <a:r>
              <a:rPr lang="en-US" altLang="zh-CN" dirty="0"/>
              <a:t>] == 0</a:t>
            </a:r>
            <a:r>
              <a:rPr lang="zh-CN" altLang="en-US" dirty="0"/>
              <a:t>表示取值</a:t>
            </a:r>
            <a:r>
              <a:rPr lang="en-US" altLang="zh-CN" dirty="0" err="1"/>
              <a:t>i</a:t>
            </a:r>
            <a:r>
              <a:rPr lang="zh-CN" altLang="en-US" dirty="0"/>
              <a:t>未用过</a:t>
            </a:r>
            <a:endParaRPr lang="zh-CN" altLang="en-US" dirty="0"/>
          </a:p>
        </p:txBody>
      </p:sp>
      <p:sp>
        <p:nvSpPr>
          <p:cNvPr id="37" name="Oval 33"/>
          <p:cNvSpPr>
            <a:spLocks noChangeArrowheads="1"/>
          </p:cNvSpPr>
          <p:nvPr/>
        </p:nvSpPr>
        <p:spPr bwMode="auto">
          <a:xfrm>
            <a:off x="4867121" y="4764088"/>
            <a:ext cx="381000" cy="3810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38" name="Oval 7"/>
          <p:cNvSpPr>
            <a:spLocks noChangeArrowheads="1"/>
          </p:cNvSpPr>
          <p:nvPr/>
        </p:nvSpPr>
        <p:spPr bwMode="auto">
          <a:xfrm>
            <a:off x="6286347" y="4818062"/>
            <a:ext cx="381000" cy="381000"/>
          </a:xfrm>
          <a:prstGeom prst="ellipse">
            <a:avLst/>
          </a:prstGeom>
          <a:solidFill>
            <a:schemeClr val="accent1"/>
          </a:solidFill>
          <a:ln w="38100">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39" name="Line 9"/>
          <p:cNvSpPr>
            <a:spLocks noChangeShapeType="1"/>
          </p:cNvSpPr>
          <p:nvPr/>
        </p:nvSpPr>
        <p:spPr bwMode="auto">
          <a:xfrm>
            <a:off x="6024409" y="4021217"/>
            <a:ext cx="452438" cy="803195"/>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panose="020B0604020202020204" pitchFamily="34" charset="0"/>
            </a:endParaRPr>
          </a:p>
        </p:txBody>
      </p:sp>
      <p:sp>
        <p:nvSpPr>
          <p:cNvPr id="40" name="Line 6"/>
          <p:cNvSpPr>
            <a:spLocks noChangeShapeType="1"/>
          </p:cNvSpPr>
          <p:nvPr/>
        </p:nvSpPr>
        <p:spPr bwMode="auto">
          <a:xfrm flipH="1">
            <a:off x="6024409" y="5205412"/>
            <a:ext cx="493712" cy="538163"/>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panose="020B0604020202020204" pitchFamily="34" charset="0"/>
            </a:endParaRPr>
          </a:p>
        </p:txBody>
      </p:sp>
      <p:sp>
        <p:nvSpPr>
          <p:cNvPr id="41" name="Rectangle 9"/>
          <p:cNvSpPr>
            <a:spLocks noChangeArrowheads="1"/>
          </p:cNvSpPr>
          <p:nvPr/>
        </p:nvSpPr>
        <p:spPr bwMode="auto">
          <a:xfrm>
            <a:off x="5605309" y="5121276"/>
            <a:ext cx="7985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k==n</a:t>
            </a:r>
            <a:endParaRPr kumimoji="0" lang="en-US" altLang="zh-CN" sz="2000" b="1" dirty="0">
              <a:solidFill>
                <a:schemeClr val="accent1">
                  <a:lumMod val="75000"/>
                </a:schemeClr>
              </a:solidFill>
            </a:endParaRPr>
          </a:p>
        </p:txBody>
      </p:sp>
      <p:sp>
        <p:nvSpPr>
          <p:cNvPr id="42" name="Rectangle 24"/>
          <p:cNvSpPr>
            <a:spLocks noChangeArrowheads="1"/>
          </p:cNvSpPr>
          <p:nvPr/>
        </p:nvSpPr>
        <p:spPr bwMode="auto">
          <a:xfrm>
            <a:off x="4316259" y="6102350"/>
            <a:ext cx="259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2000" b="1" dirty="0">
                <a:solidFill>
                  <a:schemeClr val="accent1">
                    <a:lumMod val="75000"/>
                  </a:schemeClr>
                </a:solidFill>
              </a:rPr>
              <a:t>输出一组结果</a:t>
            </a:r>
            <a:endParaRPr kumimoji="0" lang="zh-CN" altLang="en-US" sz="2000" b="1" dirty="0">
              <a:solidFill>
                <a:schemeClr val="accent1">
                  <a:lumMod val="75000"/>
                </a:schemeClr>
              </a:solidFill>
            </a:endParaRPr>
          </a:p>
        </p:txBody>
      </p:sp>
      <p:sp>
        <p:nvSpPr>
          <p:cNvPr id="43" name="Oval 29"/>
          <p:cNvSpPr>
            <a:spLocks noChangeArrowheads="1"/>
          </p:cNvSpPr>
          <p:nvPr/>
        </p:nvSpPr>
        <p:spPr bwMode="auto">
          <a:xfrm>
            <a:off x="5876771" y="5843587"/>
            <a:ext cx="152400" cy="1524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panose="02010600030101010101" pitchFamily="2" charset="-122"/>
            </a:endParaRPr>
          </a:p>
        </p:txBody>
      </p:sp>
      <p:sp>
        <p:nvSpPr>
          <p:cNvPr id="44" name="Oval 30"/>
          <p:cNvSpPr>
            <a:spLocks noChangeArrowheads="1"/>
          </p:cNvSpPr>
          <p:nvPr/>
        </p:nvSpPr>
        <p:spPr bwMode="auto">
          <a:xfrm>
            <a:off x="5764059" y="5743575"/>
            <a:ext cx="381000" cy="3810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a:solidFill>
                <a:schemeClr val="accent1">
                  <a:lumMod val="75000"/>
                </a:schemeClr>
              </a:solidFill>
              <a:cs typeface="宋体" panose="0201060003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304800" y="457200"/>
            <a:ext cx="8659813" cy="5016758"/>
          </a:xfrm>
          <a:prstGeom prst="rect">
            <a:avLst/>
          </a:prstGeom>
          <a:noFill/>
          <a:ln w="12700" cap="sq">
            <a:solidFill>
              <a:srgbClr val="00FFFF"/>
            </a:solidFill>
            <a:miter lim="800000"/>
          </a:ln>
          <a:effectLst/>
          <a:extLst>
            <a:ext uri="{909E8E84-426E-40DD-AFC4-6F175D3DCCD1}">
              <a14:hiddenFill xmlns:a14="http://schemas.microsoft.com/office/drawing/2010/main">
                <a:solidFill>
                  <a:srgbClr val="FFFFFF">
                    <a:alpha val="70195"/>
                  </a:srgbClr>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kumimoji="1" sz="2400">
                <a:solidFill>
                  <a:schemeClr val="tx1"/>
                </a:solidFill>
                <a:latin typeface="Garamond" panose="02020404030301010803" pitchFamily="18" charset="0"/>
                <a:cs typeface="Arial" panose="020B0604020202020204" pitchFamily="34" charset="0"/>
              </a:defRPr>
            </a:lvl1pPr>
            <a:lvl2pPr>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void perm(</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used[ ],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k,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n) </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for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=1;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&lt;=n;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//n</a:t>
            </a:r>
            <a:r>
              <a:rPr lang="zh-CN" altLang="en-US" sz="2000" b="1" dirty="0">
                <a:latin typeface="Times New Roman" panose="02020603050405020304" pitchFamily="18" charset="0"/>
                <a:ea typeface="黑体" panose="02010609060101010101" pitchFamily="49" charset="-122"/>
              </a:rPr>
              <a:t>个可能的取值</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if ( used[</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 continue;                     //</a:t>
            </a:r>
            <a:r>
              <a:rPr lang="zh-CN" altLang="en-US" sz="2000" b="1" dirty="0">
                <a:latin typeface="Times New Roman" panose="02020603050405020304" pitchFamily="18" charset="0"/>
                <a:ea typeface="黑体" panose="02010609060101010101" pitchFamily="49" charset="-122"/>
              </a:rPr>
              <a:t>判断</a:t>
            </a:r>
            <a:r>
              <a:rPr lang="en-US" altLang="zh-CN" sz="2000" b="1" dirty="0" err="1">
                <a:latin typeface="Times New Roman" panose="02020603050405020304" pitchFamily="18" charset="0"/>
                <a:ea typeface="黑体" panose="02010609060101010101" pitchFamily="49" charset="-122"/>
              </a:rPr>
              <a:t>i</a:t>
            </a:r>
            <a:r>
              <a:rPr lang="zh-CN" altLang="en-US" sz="2000" b="1" dirty="0">
                <a:latin typeface="Times New Roman" panose="02020603050405020304" pitchFamily="18" charset="0"/>
                <a:ea typeface="黑体" panose="02010609060101010101" pitchFamily="49" charset="-122"/>
              </a:rPr>
              <a:t>是否用过</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[k] =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变量</a:t>
            </a:r>
            <a:r>
              <a:rPr lang="en-US" altLang="zh-CN" sz="2000" b="1" dirty="0">
                <a:latin typeface="Times New Roman" panose="02020603050405020304" pitchFamily="18" charset="0"/>
                <a:ea typeface="黑体" panose="02010609060101010101" pitchFamily="49" charset="-122"/>
              </a:rPr>
              <a:t>k</a:t>
            </a:r>
            <a:r>
              <a:rPr lang="zh-CN" altLang="en-US" sz="2000" b="1" dirty="0">
                <a:latin typeface="Times New Roman" panose="02020603050405020304" pitchFamily="18" charset="0"/>
                <a:ea typeface="黑体" panose="02010609060101010101" pitchFamily="49" charset="-122"/>
              </a:rPr>
              <a:t>取值</a:t>
            </a:r>
            <a:r>
              <a:rPr lang="en-US" altLang="zh-CN" sz="2000" b="1" dirty="0">
                <a:latin typeface="Times New Roman" panose="02020603050405020304" pitchFamily="18" charset="0"/>
                <a:ea typeface="黑体" panose="02010609060101010101" pitchFamily="49" charset="-122"/>
              </a:rPr>
              <a:t>i</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used[</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 1;                                      //</a:t>
            </a:r>
            <a:r>
              <a:rPr lang="zh-CN" altLang="en-US" sz="2000" b="1" dirty="0">
                <a:latin typeface="Times New Roman" panose="02020603050405020304" pitchFamily="18" charset="0"/>
                <a:ea typeface="黑体" panose="02010609060101010101" pitchFamily="49" charset="-122"/>
              </a:rPr>
              <a:t>标志</a:t>
            </a:r>
            <a:r>
              <a:rPr lang="en-US" altLang="zh-CN" sz="2000" b="1" dirty="0" err="1">
                <a:latin typeface="Times New Roman" panose="02020603050405020304" pitchFamily="18" charset="0"/>
                <a:ea typeface="黑体" panose="02010609060101010101" pitchFamily="49" charset="-122"/>
              </a:rPr>
              <a:t>i</a:t>
            </a:r>
            <a:r>
              <a:rPr lang="zh-CN" altLang="en-US" sz="2000" b="1" dirty="0">
                <a:latin typeface="Times New Roman" panose="02020603050405020304" pitchFamily="18" charset="0"/>
                <a:ea typeface="黑体" panose="02010609060101010101" pitchFamily="49" charset="-122"/>
              </a:rPr>
              <a:t>用过了</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if (k==n)		//</a:t>
            </a:r>
            <a:r>
              <a:rPr lang="zh-CN" altLang="en-US" sz="2000" b="1" dirty="0">
                <a:latin typeface="Times New Roman" panose="02020603050405020304" pitchFamily="18" charset="0"/>
                <a:ea typeface="黑体" panose="02010609060101010101" pitchFamily="49" charset="-122"/>
              </a:rPr>
              <a:t>边界条件：</a:t>
            </a:r>
            <a:r>
              <a:rPr lang="en-US" altLang="zh-CN" sz="2000" b="1" dirty="0" err="1">
                <a:latin typeface="Times New Roman" panose="02020603050405020304" pitchFamily="18" charset="0"/>
                <a:ea typeface="黑体" panose="02010609060101010101" pitchFamily="49" charset="-122"/>
              </a:rPr>
              <a:t>nSize</a:t>
            </a:r>
            <a:r>
              <a:rPr lang="zh-CN" altLang="en-US" sz="2000" b="1" dirty="0">
                <a:latin typeface="Times New Roman" panose="02020603050405020304" pitchFamily="18" charset="0"/>
                <a:ea typeface="黑体" panose="02010609060101010101" pitchFamily="49" charset="-122"/>
              </a:rPr>
              <a:t>个变量都枚举完了</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myOutput</a:t>
            </a:r>
            <a:r>
              <a:rPr lang="en-US" altLang="zh-CN" sz="2000" b="1" dirty="0">
                <a:latin typeface="Times New Roman" panose="02020603050405020304" pitchFamily="18" charset="0"/>
                <a:ea typeface="黑体" panose="02010609060101010101" pitchFamily="49" charset="-122"/>
              </a:rPr>
              <a:t>(</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n);	//</a:t>
            </a:r>
            <a:r>
              <a:rPr lang="zh-CN" altLang="en-US" sz="2000" b="1" dirty="0">
                <a:latin typeface="Times New Roman" panose="02020603050405020304" pitchFamily="18" charset="0"/>
                <a:ea typeface="黑体" panose="02010609060101010101" pitchFamily="49" charset="-122"/>
              </a:rPr>
              <a:t>输出一组解</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nTotal</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解的个数加</a:t>
            </a:r>
            <a:r>
              <a:rPr lang="en-US" altLang="zh-CN" sz="2000" b="1" dirty="0">
                <a:latin typeface="Times New Roman" panose="02020603050405020304" pitchFamily="18" charset="0"/>
                <a:ea typeface="黑体" panose="02010609060101010101" pitchFamily="49" charset="-122"/>
              </a:rPr>
              <a:t>1</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}else</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perm(</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used, k+1, n);	//</a:t>
            </a:r>
            <a:r>
              <a:rPr lang="zh-CN" altLang="en-US" sz="2000" b="1" dirty="0">
                <a:latin typeface="Times New Roman" panose="02020603050405020304" pitchFamily="18" charset="0"/>
                <a:ea typeface="黑体" panose="02010609060101010101" pitchFamily="49" charset="-122"/>
              </a:rPr>
              <a:t>枚举</a:t>
            </a:r>
            <a:r>
              <a:rPr lang="en-US" altLang="zh-CN" sz="2000" b="1" dirty="0">
                <a:latin typeface="Times New Roman" panose="02020603050405020304" pitchFamily="18" charset="0"/>
                <a:ea typeface="黑体" panose="02010609060101010101" pitchFamily="49" charset="-122"/>
              </a:rPr>
              <a:t>k+1</a:t>
            </a:r>
            <a:r>
              <a:rPr lang="zh-CN" altLang="en-US" sz="2000" b="1" dirty="0">
                <a:latin typeface="Times New Roman" panose="02020603050405020304" pitchFamily="18" charset="0"/>
                <a:ea typeface="黑体" panose="02010609060101010101" pitchFamily="49" charset="-122"/>
              </a:rPr>
              <a:t>个变量</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used[</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 0;                                      //</a:t>
            </a:r>
            <a:r>
              <a:rPr lang="zh-CN" altLang="en-US" sz="2000" b="1" dirty="0">
                <a:latin typeface="Times New Roman" panose="02020603050405020304" pitchFamily="18" charset="0"/>
                <a:ea typeface="黑体" panose="02010609060101010101" pitchFamily="49" charset="-122"/>
              </a:rPr>
              <a:t>标志</a:t>
            </a:r>
            <a:r>
              <a:rPr lang="en-US" altLang="zh-CN" sz="2000" b="1" dirty="0" err="1">
                <a:latin typeface="Times New Roman" panose="02020603050405020304" pitchFamily="18" charset="0"/>
                <a:ea typeface="黑体" panose="02010609060101010101" pitchFamily="49" charset="-122"/>
              </a:rPr>
              <a:t>i</a:t>
            </a:r>
            <a:r>
              <a:rPr lang="zh-CN" altLang="en-US" sz="2000" b="1" dirty="0">
                <a:latin typeface="Times New Roman" panose="02020603050405020304" pitchFamily="18" charset="0"/>
                <a:ea typeface="黑体" panose="02010609060101010101" pitchFamily="49" charset="-122"/>
              </a:rPr>
              <a:t>未用过</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return;</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endParaRPr lang="en-US" altLang="zh-CN" sz="2000" b="1" dirty="0">
              <a:latin typeface="Times New Roman" panose="02020603050405020304" pitchFamily="18" charset="0"/>
              <a:ea typeface="黑体" panose="02010609060101010101" pitchFamily="49" charset="-122"/>
            </a:endParaRPr>
          </a:p>
        </p:txBody>
      </p:sp>
      <p:sp>
        <p:nvSpPr>
          <p:cNvPr id="34819" name="Rectangle 3"/>
          <p:cNvSpPr>
            <a:spLocks noChangeArrowheads="1"/>
          </p:cNvSpPr>
          <p:nvPr/>
        </p:nvSpPr>
        <p:spPr bwMode="auto">
          <a:xfrm>
            <a:off x="1143000" y="5638800"/>
            <a:ext cx="36870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dirty="0"/>
              <a:t>调用：</a:t>
            </a:r>
            <a:r>
              <a:rPr kumimoji="0" lang="en-US" altLang="zh-CN" dirty="0"/>
              <a:t>perm(</a:t>
            </a:r>
            <a:r>
              <a:rPr kumimoji="0" lang="en-US" altLang="zh-CN" dirty="0" err="1"/>
              <a:t>ary</a:t>
            </a:r>
            <a:r>
              <a:rPr kumimoji="0" lang="en-US" altLang="zh-CN" dirty="0"/>
              <a:t>, used, 1, n); </a:t>
            </a:r>
            <a:endParaRPr kumimoji="0" lang="en-US"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32656"/>
            <a:ext cx="7772400" cy="1162970"/>
          </a:xfrm>
        </p:spPr>
        <p:txBody>
          <a:bodyPr/>
          <a:lstStyle/>
          <a:p>
            <a:r>
              <a:rPr lang="zh-CN" altLang="en-US" dirty="0"/>
              <a:t>解题思路</a:t>
            </a:r>
            <a:r>
              <a:rPr lang="en-US" altLang="zh-CN" dirty="0"/>
              <a:t>2</a:t>
            </a:r>
            <a:r>
              <a:rPr lang="zh-CN" altLang="en-US" dirty="0"/>
              <a:t>：</a:t>
            </a:r>
            <a:endParaRPr lang="en-US" dirty="0"/>
          </a:p>
        </p:txBody>
      </p:sp>
      <p:sp>
        <p:nvSpPr>
          <p:cNvPr id="3" name="Content Placeholder 2"/>
          <p:cNvSpPr>
            <a:spLocks noGrp="1"/>
          </p:cNvSpPr>
          <p:nvPr>
            <p:ph idx="1"/>
          </p:nvPr>
        </p:nvSpPr>
        <p:spPr>
          <a:xfrm>
            <a:off x="685800" y="1700808"/>
            <a:ext cx="7772400" cy="4471392"/>
          </a:xfrm>
        </p:spPr>
        <p:txBody>
          <a:bodyPr>
            <a:normAutofit/>
          </a:bodyPr>
          <a:lstStyle/>
          <a:p>
            <a:r>
              <a:rPr lang="en-US" altLang="zh-CN" dirty="0"/>
              <a:t>1</a:t>
            </a:r>
            <a:r>
              <a:rPr lang="zh-CN" altLang="en-US" dirty="0"/>
              <a:t>个数的全排列为这个数本身；</a:t>
            </a:r>
            <a:endParaRPr lang="zh-CN" altLang="en-US" dirty="0"/>
          </a:p>
          <a:p>
            <a:r>
              <a:rPr lang="en-US" altLang="zh-CN" dirty="0"/>
              <a:t>n</a:t>
            </a:r>
            <a:r>
              <a:rPr lang="zh-CN" altLang="en-US" dirty="0"/>
              <a:t>个数的全排列可以由</a:t>
            </a:r>
            <a:r>
              <a:rPr lang="en-US" altLang="zh-CN" dirty="0"/>
              <a:t>n-1</a:t>
            </a:r>
            <a:r>
              <a:rPr lang="zh-CN" altLang="en-US" dirty="0"/>
              <a:t>个数的全排列得到</a:t>
            </a:r>
            <a:endParaRPr lang="zh-CN" altLang="en-US" dirty="0"/>
          </a:p>
          <a:p>
            <a:pPr lvl="1"/>
            <a:r>
              <a:rPr lang="zh-CN" altLang="en-US" dirty="0"/>
              <a:t>一组数</a:t>
            </a:r>
            <a:r>
              <a:rPr lang="en-US" altLang="zh-CN" dirty="0"/>
              <a:t>p={r</a:t>
            </a:r>
            <a:r>
              <a:rPr lang="en-US" altLang="zh-CN" baseline="-25000" dirty="0"/>
              <a:t>1</a:t>
            </a:r>
            <a:r>
              <a:rPr lang="en-US" altLang="zh-CN" dirty="0"/>
              <a:t>, r</a:t>
            </a:r>
            <a:r>
              <a:rPr lang="en-US" altLang="zh-CN" baseline="-25000" dirty="0"/>
              <a:t>2</a:t>
            </a:r>
            <a:r>
              <a:rPr lang="en-US" altLang="zh-CN" dirty="0"/>
              <a:t>, </a:t>
            </a:r>
            <a:r>
              <a:rPr lang="en-US" altLang="zh-CN" dirty="0">
                <a:latin typeface="Arial" panose="020B0604020202020204" pitchFamily="34" charset="0"/>
              </a:rPr>
              <a:t>……</a:t>
            </a:r>
            <a:r>
              <a:rPr lang="en-US" altLang="zh-CN" dirty="0"/>
              <a:t>,</a:t>
            </a:r>
            <a:r>
              <a:rPr lang="en-US" altLang="zh-CN" dirty="0" err="1"/>
              <a:t>r</a:t>
            </a:r>
            <a:r>
              <a:rPr lang="en-US" altLang="zh-CN" baseline="-25000" dirty="0" err="1"/>
              <a:t>n</a:t>
            </a:r>
            <a:r>
              <a:rPr lang="en-US" altLang="zh-CN" dirty="0"/>
              <a:t>}</a:t>
            </a:r>
            <a:r>
              <a:rPr lang="zh-CN" altLang="en-US" dirty="0"/>
              <a:t>，设</a:t>
            </a:r>
            <a:r>
              <a:rPr lang="en-US" altLang="zh-CN" dirty="0"/>
              <a:t>p</a:t>
            </a:r>
            <a:r>
              <a:rPr lang="zh-CN" altLang="en-US" dirty="0"/>
              <a:t>的全排列为</a:t>
            </a:r>
            <a:r>
              <a:rPr lang="en-US" altLang="zh-CN" dirty="0"/>
              <a:t>perm(p) </a:t>
            </a:r>
            <a:endParaRPr lang="en-US" altLang="zh-CN" dirty="0"/>
          </a:p>
          <a:p>
            <a:pPr lvl="1"/>
            <a:r>
              <a:rPr lang="en-US" altLang="zh-CN" dirty="0" err="1"/>
              <a:t>p</a:t>
            </a:r>
            <a:r>
              <a:rPr lang="en-US" altLang="zh-CN" baseline="-25000" dirty="0" err="1"/>
              <a:t>n</a:t>
            </a:r>
            <a:r>
              <a:rPr lang="zh-CN" altLang="en-US" dirty="0"/>
              <a:t>是一组数</a:t>
            </a:r>
            <a:r>
              <a:rPr lang="en-US" altLang="zh-CN" dirty="0"/>
              <a:t>p</a:t>
            </a:r>
            <a:r>
              <a:rPr lang="zh-CN" altLang="en-US" dirty="0"/>
              <a:t>中除去</a:t>
            </a:r>
            <a:r>
              <a:rPr lang="en-US" altLang="zh-CN" dirty="0" err="1"/>
              <a:t>r</a:t>
            </a:r>
            <a:r>
              <a:rPr lang="en-US" altLang="zh-CN" baseline="-25000" dirty="0" err="1"/>
              <a:t>n</a:t>
            </a:r>
            <a:r>
              <a:rPr lang="zh-CN" altLang="en-US" dirty="0"/>
              <a:t>之外的所有元素，即</a:t>
            </a:r>
            <a:r>
              <a:rPr lang="en-US" altLang="zh-CN" dirty="0" err="1"/>
              <a:t>p</a:t>
            </a:r>
            <a:r>
              <a:rPr lang="en-US" altLang="zh-CN" baseline="-25000" dirty="0" err="1"/>
              <a:t>n</a:t>
            </a:r>
            <a:r>
              <a:rPr lang="en-US" altLang="zh-CN" dirty="0"/>
              <a:t> =p-{</a:t>
            </a:r>
            <a:r>
              <a:rPr lang="en-US" altLang="zh-CN" dirty="0" err="1"/>
              <a:t>r</a:t>
            </a:r>
            <a:r>
              <a:rPr lang="en-US" altLang="zh-CN" baseline="-25000" dirty="0" err="1"/>
              <a:t>n</a:t>
            </a:r>
            <a:r>
              <a:rPr lang="en-US" altLang="zh-CN" dirty="0"/>
              <a:t>}</a:t>
            </a:r>
            <a:endParaRPr lang="en-US" altLang="zh-CN" dirty="0"/>
          </a:p>
          <a:p>
            <a:pPr lvl="1"/>
            <a:r>
              <a:rPr lang="zh-CN" altLang="en-US" dirty="0"/>
              <a:t>那么：</a:t>
            </a:r>
            <a:endParaRPr lang="en-US" altLang="zh-CN" dirty="0"/>
          </a:p>
          <a:p>
            <a:pPr lvl="1">
              <a:buNone/>
            </a:pPr>
            <a:r>
              <a:rPr lang="en-US" altLang="zh-CN" dirty="0" err="1"/>
              <a:t>perm</a:t>
            </a:r>
            <a:r>
              <a:rPr lang="en-US" altLang="zh-CN" baseline="-25000" dirty="0" err="1"/>
              <a:t>n</a:t>
            </a:r>
            <a:r>
              <a:rPr lang="en-US" altLang="zh-CN" dirty="0"/>
              <a:t>(p)=r</a:t>
            </a:r>
            <a:r>
              <a:rPr lang="en-US" altLang="zh-CN" baseline="-25000" dirty="0"/>
              <a:t>1</a:t>
            </a:r>
            <a:r>
              <a:rPr lang="en-US" altLang="zh-CN" dirty="0"/>
              <a:t>perm</a:t>
            </a:r>
            <a:r>
              <a:rPr lang="en-US" altLang="zh-CN" baseline="-25000" dirty="0"/>
              <a:t>n-1</a:t>
            </a:r>
            <a:r>
              <a:rPr lang="en-US" altLang="zh-CN" dirty="0"/>
              <a:t>(p</a:t>
            </a:r>
            <a:r>
              <a:rPr lang="en-US" altLang="zh-CN" baseline="-25000" dirty="0"/>
              <a:t>1</a:t>
            </a:r>
            <a:r>
              <a:rPr lang="en-US" altLang="zh-CN" dirty="0"/>
              <a:t>), r</a:t>
            </a:r>
            <a:r>
              <a:rPr lang="en-US" altLang="zh-CN" baseline="-25000" dirty="0"/>
              <a:t>2</a:t>
            </a:r>
            <a:r>
              <a:rPr lang="en-US" altLang="zh-CN" dirty="0"/>
              <a:t>perm</a:t>
            </a:r>
            <a:r>
              <a:rPr lang="en-US" altLang="zh-CN" baseline="-25000" dirty="0"/>
              <a:t>n-1 </a:t>
            </a:r>
            <a:r>
              <a:rPr lang="en-US" altLang="zh-CN" dirty="0"/>
              <a:t>(p</a:t>
            </a:r>
            <a:r>
              <a:rPr lang="en-US" altLang="zh-CN" baseline="-25000" dirty="0"/>
              <a:t>2</a:t>
            </a:r>
            <a:r>
              <a:rPr lang="en-US" altLang="zh-CN" dirty="0"/>
              <a:t>), </a:t>
            </a:r>
            <a:r>
              <a:rPr lang="en-US" altLang="zh-CN" dirty="0">
                <a:latin typeface="Arial" panose="020B0604020202020204" pitchFamily="34" charset="0"/>
              </a:rPr>
              <a:t>……, </a:t>
            </a:r>
            <a:r>
              <a:rPr lang="en-US" altLang="zh-CN" dirty="0"/>
              <a:t>r</a:t>
            </a:r>
            <a:r>
              <a:rPr lang="en-US" altLang="zh-CN" baseline="-25000" dirty="0"/>
              <a:t>n</a:t>
            </a:r>
            <a:r>
              <a:rPr lang="en-US" altLang="zh-CN" dirty="0"/>
              <a:t>perm</a:t>
            </a:r>
            <a:r>
              <a:rPr lang="en-US" altLang="zh-CN" baseline="-25000" dirty="0"/>
              <a:t>n-1 </a:t>
            </a:r>
            <a:r>
              <a:rPr lang="en-US" altLang="zh-CN" dirty="0"/>
              <a:t>(</a:t>
            </a:r>
            <a:r>
              <a:rPr lang="en-US" altLang="zh-CN" dirty="0" err="1"/>
              <a:t>p</a:t>
            </a:r>
            <a:r>
              <a:rPr lang="en-US" altLang="zh-CN" baseline="-25000" dirty="0" err="1"/>
              <a:t>n</a:t>
            </a:r>
            <a:r>
              <a:rPr lang="en-US" altLang="zh-CN" dirty="0"/>
              <a:t>)</a:t>
            </a:r>
            <a:endParaRPr lang="en-US" altLang="zh-CN" dirty="0"/>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r>
              <a:rPr kumimoji="0" lang="zh-CN" altLang="en-US" dirty="0"/>
              <a:t>解题思路</a:t>
            </a:r>
            <a:r>
              <a:rPr kumimoji="0" lang="en-US" altLang="zh-CN" dirty="0"/>
              <a:t>2</a:t>
            </a:r>
            <a:r>
              <a:rPr kumimoji="0" lang="zh-CN" altLang="en-US" dirty="0"/>
              <a:t>（续）</a:t>
            </a:r>
            <a:endParaRPr kumimoji="0" lang="zh-CN" altLang="en-US" dirty="0"/>
          </a:p>
        </p:txBody>
      </p:sp>
      <p:sp>
        <p:nvSpPr>
          <p:cNvPr id="32770" name="Content Placeholder 2"/>
          <p:cNvSpPr>
            <a:spLocks noGrp="1"/>
          </p:cNvSpPr>
          <p:nvPr>
            <p:ph idx="1"/>
          </p:nvPr>
        </p:nvSpPr>
        <p:spPr>
          <a:xfrm>
            <a:off x="457200" y="1600200"/>
            <a:ext cx="8435280" cy="1828800"/>
          </a:xfrm>
        </p:spPr>
        <p:txBody>
          <a:bodyPr>
            <a:normAutofit fontScale="92500" lnSpcReduction="10000"/>
          </a:bodyPr>
          <a:lstStyle/>
          <a:p>
            <a:r>
              <a:rPr kumimoji="0" lang="en-US" altLang="zh-CN" dirty="0">
                <a:latin typeface="Calibri" panose="020F0502020204030204" pitchFamily="34" charset="0"/>
                <a:cs typeface="Arial" panose="020B0604020202020204" pitchFamily="34" charset="0"/>
              </a:rPr>
              <a:t>perm(</a:t>
            </a:r>
            <a:r>
              <a:rPr kumimoji="0" lang="en-US" altLang="zh-CN" dirty="0" err="1">
                <a:latin typeface="Calibri" panose="020F0502020204030204" pitchFamily="34" charset="0"/>
                <a:cs typeface="Arial" panose="020B0604020202020204" pitchFamily="34" charset="0"/>
              </a:rPr>
              <a:t>k,n</a:t>
            </a:r>
            <a:r>
              <a:rPr kumimoji="0" lang="en-US" altLang="zh-CN" dirty="0">
                <a:latin typeface="Calibri" panose="020F0502020204030204" pitchFamily="34" charset="0"/>
                <a:cs typeface="Arial" panose="020B0604020202020204" pitchFamily="34" charset="0"/>
              </a:rPr>
              <a:t>)</a:t>
            </a:r>
            <a:r>
              <a:rPr kumimoji="0" lang="zh-CN" altLang="en-US" dirty="0">
                <a:latin typeface="Calibri" panose="020F0502020204030204" pitchFamily="34" charset="0"/>
                <a:cs typeface="Arial" panose="020B0604020202020204" pitchFamily="34" charset="0"/>
              </a:rPr>
              <a:t>表示输出</a:t>
            </a:r>
            <a:r>
              <a:rPr kumimoji="0" lang="en-US" altLang="zh-CN" dirty="0">
                <a:latin typeface="Calibri" panose="020F0502020204030204" pitchFamily="34" charset="0"/>
                <a:cs typeface="Arial" panose="020B0604020202020204" pitchFamily="34" charset="0"/>
              </a:rPr>
              <a:t>n</a:t>
            </a:r>
            <a:r>
              <a:rPr kumimoji="0" lang="zh-CN" altLang="en-US" dirty="0">
                <a:latin typeface="Calibri" panose="020F0502020204030204" pitchFamily="34" charset="0"/>
                <a:cs typeface="Arial" panose="020B0604020202020204" pitchFamily="34" charset="0"/>
              </a:rPr>
              <a:t>个数中后</a:t>
            </a:r>
            <a:r>
              <a:rPr kumimoji="0" lang="en-US" altLang="zh-CN" dirty="0">
                <a:latin typeface="Calibri" panose="020F0502020204030204" pitchFamily="34" charset="0"/>
                <a:cs typeface="Arial" panose="020B0604020202020204" pitchFamily="34" charset="0"/>
              </a:rPr>
              <a:t>k</a:t>
            </a:r>
            <a:r>
              <a:rPr kumimoji="0" lang="zh-CN" altLang="en-US" dirty="0">
                <a:latin typeface="Calibri" panose="020F0502020204030204" pitchFamily="34" charset="0"/>
                <a:cs typeface="Arial" panose="020B0604020202020204" pitchFamily="34" charset="0"/>
              </a:rPr>
              <a:t>个数的全排列</a:t>
            </a:r>
            <a:endParaRPr kumimoji="0" lang="en-US" altLang="zh-CN" dirty="0"/>
          </a:p>
          <a:p>
            <a:r>
              <a:rPr kumimoji="0" lang="zh-CN" altLang="en-US" dirty="0"/>
              <a:t>从简单的分析起，假如只需要写出一个数的全排列，那么只需要直接输出此数即可</a:t>
            </a:r>
            <a:endParaRPr kumimoji="0" lang="en-US" altLang="zh-CN" dirty="0"/>
          </a:p>
          <a:p>
            <a:r>
              <a:rPr kumimoji="0" lang="zh-CN" altLang="en-US" dirty="0"/>
              <a:t>调用函数即是：</a:t>
            </a:r>
            <a:r>
              <a:rPr kumimoji="0" lang="en-US" altLang="zh-CN" dirty="0"/>
              <a:t>perm(1,1)</a:t>
            </a:r>
            <a:endParaRPr kumimoji="0" lang="zh-CN" altLang="en-US" dirty="0"/>
          </a:p>
        </p:txBody>
      </p:sp>
      <p:sp>
        <p:nvSpPr>
          <p:cNvPr id="4" name="Rectangle 3"/>
          <p:cNvSpPr/>
          <p:nvPr/>
        </p:nvSpPr>
        <p:spPr>
          <a:xfrm>
            <a:off x="2590800" y="4595267"/>
            <a:ext cx="1235075" cy="369887"/>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dirty="0">
                <a:solidFill>
                  <a:schemeClr val="accent1">
                    <a:lumMod val="75000"/>
                  </a:schemeClr>
                </a:solidFill>
                <a:cs typeface="宋体" panose="02010600030101010101" pitchFamily="2" charset="-122"/>
              </a:rPr>
              <a:t>perm(1,1); </a:t>
            </a:r>
            <a:endParaRPr lang="zh-CN" altLang="en-US" dirty="0">
              <a:solidFill>
                <a:schemeClr val="accent1">
                  <a:lumMod val="75000"/>
                </a:schemeClr>
              </a:solidFill>
              <a:cs typeface="宋体" panose="02010600030101010101" pitchFamily="2" charset="-122"/>
            </a:endParaRPr>
          </a:p>
        </p:txBody>
      </p:sp>
      <p:graphicFrame>
        <p:nvGraphicFramePr>
          <p:cNvPr id="5" name="Table 4"/>
          <p:cNvGraphicFramePr>
            <a:graphicFrameLocks noGrp="1"/>
          </p:cNvGraphicFramePr>
          <p:nvPr/>
        </p:nvGraphicFramePr>
        <p:xfrm>
          <a:off x="2895600" y="5463629"/>
          <a:ext cx="762000" cy="701675"/>
        </p:xfrm>
        <a:graphic>
          <a:graphicData uri="http://schemas.openxmlformats.org/drawingml/2006/table">
            <a:tbl>
              <a:tblPr/>
              <a:tblGrid>
                <a:gridCol w="762000"/>
              </a:tblGrid>
              <a:tr h="7016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40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宋体" panose="02010600030101010101" pitchFamily="2" charset="-122"/>
                        </a:rPr>
                        <a:t>0</a:t>
                      </a:r>
                      <a:endParaRPr kumimoji="0" lang="zh-CN" altLang="en-US" sz="40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宋体" panose="02010600030101010101" pitchFamily="2" charset="-122"/>
                      </a:endParaRP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BACC6"/>
                    </a:solidFill>
                  </a:tcPr>
                </a:tc>
              </a:tr>
            </a:tbl>
          </a:graphicData>
        </a:graphic>
      </p:graphicFrame>
      <p:sp>
        <p:nvSpPr>
          <p:cNvPr id="6" name="TextBox 5"/>
          <p:cNvSpPr txBox="1">
            <a:spLocks noChangeArrowheads="1"/>
          </p:cNvSpPr>
          <p:nvPr/>
        </p:nvSpPr>
        <p:spPr bwMode="auto">
          <a:xfrm>
            <a:off x="5715000" y="4595267"/>
            <a:ext cx="868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Print:</a:t>
            </a:r>
            <a:endParaRPr kumimoji="0" lang="zh-CN" altLang="en-US">
              <a:solidFill>
                <a:schemeClr val="accent1">
                  <a:lumMod val="75000"/>
                </a:schemeClr>
              </a:solidFill>
              <a:latin typeface="Calibri" panose="020F0502020204030204" pitchFamily="34" charset="0"/>
            </a:endParaRPr>
          </a:p>
        </p:txBody>
      </p:sp>
      <p:sp>
        <p:nvSpPr>
          <p:cNvPr id="7" name="TextBox 6"/>
          <p:cNvSpPr txBox="1">
            <a:spLocks noChangeArrowheads="1"/>
          </p:cNvSpPr>
          <p:nvPr/>
        </p:nvSpPr>
        <p:spPr bwMode="auto">
          <a:xfrm>
            <a:off x="5938838" y="5387429"/>
            <a:ext cx="419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0</a:t>
            </a:r>
            <a:endParaRPr kumimoji="0" lang="zh-CN" altLang="en-US" sz="3600">
              <a:solidFill>
                <a:schemeClr val="accent1">
                  <a:lumMod val="75000"/>
                </a:schemeClr>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3505200"/>
          </a:xfrm>
        </p:spPr>
        <p:txBody>
          <a:bodyPr>
            <a:normAutofit lnSpcReduction="10000"/>
          </a:bodyPr>
          <a:lstStyle/>
          <a:p>
            <a:r>
              <a:rPr kumimoji="0" lang="zh-CN" altLang="en-US" sz="2400" dirty="0"/>
              <a:t>要写出两个数（</a:t>
            </a:r>
            <a:r>
              <a:rPr kumimoji="0" lang="en-US" altLang="zh-CN" sz="2400" dirty="0"/>
              <a:t>A1</a:t>
            </a:r>
            <a:r>
              <a:rPr kumimoji="0" lang="zh-CN" altLang="en-US" sz="2400" dirty="0"/>
              <a:t>，</a:t>
            </a:r>
            <a:r>
              <a:rPr kumimoji="0" lang="en-US" altLang="zh-CN" sz="2400" dirty="0"/>
              <a:t>A2</a:t>
            </a:r>
            <a:r>
              <a:rPr kumimoji="0" lang="zh-CN" altLang="en-US" sz="2400" dirty="0"/>
              <a:t>）的全排列，那么此时可以分为两种情况：</a:t>
            </a:r>
            <a:endParaRPr kumimoji="0" lang="en-US" altLang="zh-CN" sz="2400" dirty="0"/>
          </a:p>
          <a:p>
            <a:r>
              <a:rPr kumimoji="0" lang="zh-CN" altLang="en-US" sz="2400" dirty="0"/>
              <a:t>第一种情况：</a:t>
            </a:r>
            <a:endParaRPr kumimoji="0" lang="en-US" altLang="zh-CN" sz="2400" dirty="0"/>
          </a:p>
          <a:p>
            <a:pPr>
              <a:buFont typeface="Arial" panose="020B0604020202020204" pitchFamily="34" charset="0"/>
              <a:buNone/>
            </a:pPr>
            <a:r>
              <a:rPr kumimoji="0" lang="en-US" altLang="zh-CN" sz="2400" dirty="0"/>
              <a:t>      A1</a:t>
            </a:r>
            <a:r>
              <a:rPr kumimoji="0" lang="zh-CN" altLang="en-US" sz="2400" dirty="0"/>
              <a:t>第一个输出</a:t>
            </a:r>
            <a:endParaRPr kumimoji="0" lang="en-US" altLang="zh-CN" sz="2400" dirty="0"/>
          </a:p>
          <a:p>
            <a:pPr>
              <a:buFont typeface="Arial" panose="020B0604020202020204" pitchFamily="34" charset="0"/>
              <a:buNone/>
            </a:pPr>
            <a:r>
              <a:rPr kumimoji="0" lang="zh-CN" altLang="en-US" sz="2400" dirty="0"/>
              <a:t>      此时接着输出</a:t>
            </a:r>
            <a:r>
              <a:rPr kumimoji="0" lang="en-US" altLang="zh-CN" sz="2400" dirty="0"/>
              <a:t>A2</a:t>
            </a:r>
            <a:r>
              <a:rPr kumimoji="0" lang="zh-CN" altLang="en-US" sz="2400" dirty="0"/>
              <a:t>的全排列即可</a:t>
            </a:r>
            <a:endParaRPr kumimoji="0" lang="en-US" altLang="zh-CN" sz="2400" dirty="0"/>
          </a:p>
          <a:p>
            <a:r>
              <a:rPr kumimoji="0" lang="zh-CN" altLang="en-US" sz="2400" dirty="0"/>
              <a:t>第二种情况：</a:t>
            </a:r>
            <a:endParaRPr kumimoji="0" lang="en-US" altLang="zh-CN" sz="2400" dirty="0"/>
          </a:p>
          <a:p>
            <a:pPr>
              <a:buFont typeface="Arial" panose="020B0604020202020204" pitchFamily="34" charset="0"/>
              <a:buNone/>
            </a:pPr>
            <a:r>
              <a:rPr kumimoji="0" lang="en-US" altLang="zh-CN" sz="2400" dirty="0"/>
              <a:t>      A2</a:t>
            </a:r>
            <a:r>
              <a:rPr kumimoji="0" lang="zh-CN" altLang="en-US" sz="2400" dirty="0"/>
              <a:t>第一个输出</a:t>
            </a:r>
            <a:endParaRPr kumimoji="0" lang="en-US" altLang="zh-CN" sz="2400" dirty="0"/>
          </a:p>
          <a:p>
            <a:pPr>
              <a:buFont typeface="Arial" panose="020B0604020202020204" pitchFamily="34" charset="0"/>
              <a:buNone/>
            </a:pPr>
            <a:r>
              <a:rPr kumimoji="0" lang="zh-CN" altLang="en-US" sz="2400" dirty="0"/>
              <a:t>      接着输出</a:t>
            </a:r>
            <a:r>
              <a:rPr kumimoji="0" lang="en-US" altLang="zh-CN" sz="2400" dirty="0"/>
              <a:t>A1</a:t>
            </a:r>
            <a:r>
              <a:rPr kumimoji="0" lang="zh-CN" altLang="en-US" sz="2400" dirty="0"/>
              <a:t>的全排列</a:t>
            </a:r>
            <a:endParaRPr kumimoji="0" lang="zh-CN" altLang="en-US" sz="2400" dirty="0"/>
          </a:p>
        </p:txBody>
      </p:sp>
      <p:sp>
        <p:nvSpPr>
          <p:cNvPr id="4" name="Rectangle 3"/>
          <p:cNvSpPr/>
          <p:nvPr/>
        </p:nvSpPr>
        <p:spPr>
          <a:xfrm>
            <a:off x="762000" y="4953000"/>
            <a:ext cx="1235075"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dirty="0">
                <a:solidFill>
                  <a:schemeClr val="accent1">
                    <a:lumMod val="75000"/>
                  </a:schemeClr>
                </a:solidFill>
                <a:cs typeface="宋体" panose="02010600030101010101" pitchFamily="2" charset="-122"/>
              </a:rPr>
              <a:t>perm(2,2); </a:t>
            </a:r>
            <a:endParaRPr lang="zh-CN" altLang="en-US" dirty="0">
              <a:solidFill>
                <a:schemeClr val="accent1">
                  <a:lumMod val="75000"/>
                </a:schemeClr>
              </a:solidFill>
              <a:cs typeface="宋体" panose="02010600030101010101" pitchFamily="2" charset="-122"/>
            </a:endParaRPr>
          </a:p>
        </p:txBody>
      </p:sp>
      <p:cxnSp>
        <p:nvCxnSpPr>
          <p:cNvPr id="6" name="Straight Arrow Connector 5"/>
          <p:cNvCxnSpPr>
            <a:cxnSpLocks noChangeShapeType="1"/>
            <a:stCxn id="4" idx="3"/>
            <a:endCxn id="13" idx="1"/>
          </p:cNvCxnSpPr>
          <p:nvPr/>
        </p:nvCxnSpPr>
        <p:spPr bwMode="auto">
          <a:xfrm flipV="1">
            <a:off x="1997075" y="4343400"/>
            <a:ext cx="1719263" cy="793750"/>
          </a:xfrm>
          <a:prstGeom prst="straightConnector1">
            <a:avLst/>
          </a:prstGeom>
          <a:noFill/>
          <a:ln w="38100">
            <a:solidFill>
              <a:srgbClr val="F7964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8" name="TextBox 7"/>
          <p:cNvSpPr txBox="1">
            <a:spLocks noChangeArrowheads="1"/>
          </p:cNvSpPr>
          <p:nvPr/>
        </p:nvSpPr>
        <p:spPr bwMode="auto">
          <a:xfrm>
            <a:off x="2209800" y="4332288"/>
            <a:ext cx="8969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A1</a:t>
            </a:r>
            <a:r>
              <a:rPr kumimoji="0" lang="zh-CN" altLang="en-US" sz="1800">
                <a:solidFill>
                  <a:schemeClr val="accent1">
                    <a:lumMod val="75000"/>
                  </a:schemeClr>
                </a:solidFill>
                <a:latin typeface="Calibri" panose="020F0502020204030204" pitchFamily="34" charset="0"/>
              </a:rPr>
              <a:t>在前</a:t>
            </a:r>
            <a:endParaRPr kumimoji="0" lang="zh-CN" altLang="en-US" sz="1800">
              <a:solidFill>
                <a:schemeClr val="accent1">
                  <a:lumMod val="75000"/>
                </a:schemeClr>
              </a:solidFill>
              <a:latin typeface="Calibri" panose="020F0502020204030204" pitchFamily="34" charset="0"/>
            </a:endParaRPr>
          </a:p>
        </p:txBody>
      </p:sp>
      <p:cxnSp>
        <p:nvCxnSpPr>
          <p:cNvPr id="11" name="Straight Arrow Connector 10"/>
          <p:cNvCxnSpPr>
            <a:cxnSpLocks noChangeShapeType="1"/>
            <a:stCxn id="4" idx="3"/>
            <a:endCxn id="16" idx="1"/>
          </p:cNvCxnSpPr>
          <p:nvPr/>
        </p:nvCxnSpPr>
        <p:spPr bwMode="auto">
          <a:xfrm>
            <a:off x="1997075" y="5137150"/>
            <a:ext cx="1736725" cy="838200"/>
          </a:xfrm>
          <a:prstGeom prst="straightConnector1">
            <a:avLst/>
          </a:prstGeom>
          <a:noFill/>
          <a:ln w="38100">
            <a:solidFill>
              <a:srgbClr val="F7964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12" name="TextBox 11"/>
          <p:cNvSpPr txBox="1">
            <a:spLocks noChangeArrowheads="1"/>
          </p:cNvSpPr>
          <p:nvPr/>
        </p:nvSpPr>
        <p:spPr bwMode="auto">
          <a:xfrm>
            <a:off x="2209800" y="5607050"/>
            <a:ext cx="8969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A2</a:t>
            </a:r>
            <a:r>
              <a:rPr kumimoji="0" lang="zh-CN" altLang="en-US" sz="1800">
                <a:solidFill>
                  <a:schemeClr val="accent1">
                    <a:lumMod val="75000"/>
                  </a:schemeClr>
                </a:solidFill>
                <a:latin typeface="Calibri" panose="020F0502020204030204" pitchFamily="34" charset="0"/>
              </a:rPr>
              <a:t>在前</a:t>
            </a:r>
            <a:endParaRPr kumimoji="0" lang="zh-CN" altLang="en-US" sz="1800">
              <a:solidFill>
                <a:schemeClr val="accent1">
                  <a:lumMod val="75000"/>
                </a:schemeClr>
              </a:solidFill>
              <a:latin typeface="Calibri" panose="020F0502020204030204" pitchFamily="34" charset="0"/>
            </a:endParaRPr>
          </a:p>
        </p:txBody>
      </p:sp>
      <p:sp>
        <p:nvSpPr>
          <p:cNvPr id="13" name="Rectangle 12"/>
          <p:cNvSpPr/>
          <p:nvPr/>
        </p:nvSpPr>
        <p:spPr>
          <a:xfrm>
            <a:off x="3716338" y="4159250"/>
            <a:ext cx="3100387" cy="368300"/>
          </a:xfrm>
          <a:prstGeom prst="rect">
            <a:avLst/>
          </a:prstGeom>
          <a:solidFill>
            <a:schemeClr val="accent3">
              <a:lumMod val="20000"/>
              <a:lumOff val="80000"/>
              <a:alpha val="25000"/>
            </a:schemeClr>
          </a:solidFill>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1800">
                <a:solidFill>
                  <a:schemeClr val="accent1">
                    <a:lumMod val="75000"/>
                  </a:schemeClr>
                </a:solidFill>
                <a:latin typeface="Calibri" panose="020F0502020204030204" pitchFamily="34" charset="0"/>
              </a:rPr>
              <a:t>余下一个数为</a:t>
            </a:r>
            <a:r>
              <a:rPr kumimoji="0" lang="en-US" altLang="zh-CN" sz="1800">
                <a:solidFill>
                  <a:schemeClr val="accent1">
                    <a:lumMod val="75000"/>
                  </a:schemeClr>
                </a:solidFill>
                <a:latin typeface="Calibri" panose="020F0502020204030204" pitchFamily="34" charset="0"/>
              </a:rPr>
              <a:t>A2</a:t>
            </a:r>
            <a:r>
              <a:rPr kumimoji="0" lang="zh-CN" altLang="en-US" sz="1800">
                <a:solidFill>
                  <a:schemeClr val="accent1">
                    <a:lumMod val="75000"/>
                  </a:schemeClr>
                </a:solidFill>
                <a:latin typeface="Calibri" panose="020F0502020204030204" pitchFamily="34" charset="0"/>
              </a:rPr>
              <a:t>，</a:t>
            </a:r>
            <a:r>
              <a:rPr kumimoji="0" lang="en-US" altLang="zh-CN" sz="1800">
                <a:solidFill>
                  <a:schemeClr val="accent1">
                    <a:lumMod val="75000"/>
                  </a:schemeClr>
                </a:solidFill>
                <a:latin typeface="Calibri" panose="020F0502020204030204" pitchFamily="34" charset="0"/>
              </a:rPr>
              <a:t>perm(1,2); </a:t>
            </a:r>
            <a:endParaRPr kumimoji="0" lang="zh-CN" altLang="en-US" sz="1800">
              <a:solidFill>
                <a:schemeClr val="accent1">
                  <a:lumMod val="75000"/>
                </a:schemeClr>
              </a:solidFill>
              <a:latin typeface="Calibri" panose="020F0502020204030204" pitchFamily="34" charset="0"/>
            </a:endParaRPr>
          </a:p>
        </p:txBody>
      </p:sp>
      <p:sp>
        <p:nvSpPr>
          <p:cNvPr id="16" name="Rectangle 15"/>
          <p:cNvSpPr/>
          <p:nvPr/>
        </p:nvSpPr>
        <p:spPr>
          <a:xfrm>
            <a:off x="3733800" y="5791200"/>
            <a:ext cx="3100388" cy="369888"/>
          </a:xfrm>
          <a:prstGeom prst="rect">
            <a:avLst/>
          </a:prstGeom>
          <a:solidFill>
            <a:schemeClr val="accent3">
              <a:lumMod val="20000"/>
              <a:lumOff val="80000"/>
              <a:alpha val="25000"/>
            </a:schemeClr>
          </a:solidFill>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1800">
                <a:solidFill>
                  <a:schemeClr val="accent1">
                    <a:lumMod val="75000"/>
                  </a:schemeClr>
                </a:solidFill>
                <a:latin typeface="Calibri" panose="020F0502020204030204" pitchFamily="34" charset="0"/>
              </a:rPr>
              <a:t>余下一个数为</a:t>
            </a:r>
            <a:r>
              <a:rPr kumimoji="0" lang="en-US" altLang="zh-CN" sz="1800">
                <a:solidFill>
                  <a:schemeClr val="accent1">
                    <a:lumMod val="75000"/>
                  </a:schemeClr>
                </a:solidFill>
                <a:latin typeface="Calibri" panose="020F0502020204030204" pitchFamily="34" charset="0"/>
              </a:rPr>
              <a:t>A1</a:t>
            </a:r>
            <a:r>
              <a:rPr kumimoji="0" lang="zh-CN" altLang="en-US" sz="1800">
                <a:solidFill>
                  <a:schemeClr val="accent1">
                    <a:lumMod val="75000"/>
                  </a:schemeClr>
                </a:solidFill>
                <a:latin typeface="Calibri" panose="020F0502020204030204" pitchFamily="34" charset="0"/>
              </a:rPr>
              <a:t>，</a:t>
            </a:r>
            <a:r>
              <a:rPr kumimoji="0" lang="en-US" altLang="zh-CN" sz="1800">
                <a:solidFill>
                  <a:schemeClr val="accent1">
                    <a:lumMod val="75000"/>
                  </a:schemeClr>
                </a:solidFill>
                <a:latin typeface="Calibri" panose="020F0502020204030204" pitchFamily="34" charset="0"/>
              </a:rPr>
              <a:t>perm(1,2); </a:t>
            </a:r>
            <a:endParaRPr kumimoji="0" lang="zh-CN" altLang="en-US" sz="1800">
              <a:solidFill>
                <a:schemeClr val="accent1">
                  <a:lumMod val="75000"/>
                </a:schemeClr>
              </a:solidFill>
              <a:latin typeface="Calibri" panose="020F0502020204030204" pitchFamily="34" charset="0"/>
            </a:endParaRPr>
          </a:p>
        </p:txBody>
      </p:sp>
      <p:sp>
        <p:nvSpPr>
          <p:cNvPr id="20" name="TextBox 19"/>
          <p:cNvSpPr txBox="1">
            <a:spLocks noChangeArrowheads="1"/>
          </p:cNvSpPr>
          <p:nvPr/>
        </p:nvSpPr>
        <p:spPr bwMode="auto">
          <a:xfrm>
            <a:off x="7467600" y="3549650"/>
            <a:ext cx="8683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rgbClr val="FFFFFF"/>
                </a:solidFill>
                <a:latin typeface="Calibri" panose="020F0502020204030204" pitchFamily="34" charset="0"/>
              </a:rPr>
              <a:t>Print:</a:t>
            </a:r>
            <a:endParaRPr kumimoji="0" lang="zh-CN" altLang="en-US">
              <a:solidFill>
                <a:srgbClr val="FFFFFF"/>
              </a:solidFill>
              <a:latin typeface="Calibri" panose="020F0502020204030204" pitchFamily="34" charset="0"/>
            </a:endParaRPr>
          </a:p>
        </p:txBody>
      </p:sp>
      <p:sp>
        <p:nvSpPr>
          <p:cNvPr id="21" name="TextBox 20"/>
          <p:cNvSpPr txBox="1">
            <a:spLocks noChangeArrowheads="1"/>
          </p:cNvSpPr>
          <p:nvPr/>
        </p:nvSpPr>
        <p:spPr bwMode="auto">
          <a:xfrm>
            <a:off x="7215188" y="4095750"/>
            <a:ext cx="685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A1</a:t>
            </a:r>
            <a:endParaRPr kumimoji="0" lang="zh-CN" altLang="en-US" sz="3600">
              <a:solidFill>
                <a:schemeClr val="accent1">
                  <a:lumMod val="75000"/>
                </a:schemeClr>
              </a:solidFill>
              <a:latin typeface="Calibri" panose="020F0502020204030204" pitchFamily="34" charset="0"/>
            </a:endParaRPr>
          </a:p>
        </p:txBody>
      </p:sp>
      <p:sp>
        <p:nvSpPr>
          <p:cNvPr id="22" name="TextBox 21"/>
          <p:cNvSpPr txBox="1">
            <a:spLocks noChangeArrowheads="1"/>
          </p:cNvSpPr>
          <p:nvPr/>
        </p:nvSpPr>
        <p:spPr bwMode="auto">
          <a:xfrm>
            <a:off x="7215188" y="56530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A2</a:t>
            </a:r>
            <a:endParaRPr kumimoji="0" lang="zh-CN" altLang="en-US" sz="3600">
              <a:solidFill>
                <a:schemeClr val="accent1">
                  <a:lumMod val="75000"/>
                </a:schemeClr>
              </a:solidFill>
              <a:latin typeface="Calibri" panose="020F0502020204030204" pitchFamily="34" charset="0"/>
            </a:endParaRPr>
          </a:p>
        </p:txBody>
      </p:sp>
      <p:sp>
        <p:nvSpPr>
          <p:cNvPr id="23" name="TextBox 22"/>
          <p:cNvSpPr txBox="1">
            <a:spLocks noChangeArrowheads="1"/>
          </p:cNvSpPr>
          <p:nvPr/>
        </p:nvSpPr>
        <p:spPr bwMode="auto">
          <a:xfrm>
            <a:off x="8001000" y="40782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A2</a:t>
            </a:r>
            <a:endParaRPr kumimoji="0" lang="zh-CN" altLang="en-US" sz="3600">
              <a:solidFill>
                <a:schemeClr val="accent1">
                  <a:lumMod val="75000"/>
                </a:schemeClr>
              </a:solidFill>
              <a:latin typeface="Calibri" panose="020F0502020204030204" pitchFamily="34" charset="0"/>
            </a:endParaRPr>
          </a:p>
        </p:txBody>
      </p:sp>
      <p:sp>
        <p:nvSpPr>
          <p:cNvPr id="24" name="TextBox 23"/>
          <p:cNvSpPr txBox="1">
            <a:spLocks noChangeArrowheads="1"/>
          </p:cNvSpPr>
          <p:nvPr/>
        </p:nvSpPr>
        <p:spPr bwMode="auto">
          <a:xfrm>
            <a:off x="8001000" y="56530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A1</a:t>
            </a:r>
            <a:endParaRPr kumimoji="0" lang="zh-CN" altLang="en-US" sz="3600">
              <a:solidFill>
                <a:schemeClr val="accent1">
                  <a:lumMod val="75000"/>
                </a:schemeClr>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500"/>
                                        <p:tgtEl>
                                          <p:spTgt spid="1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500"/>
                                        <p:tgtEl>
                                          <p:spTgt spid="1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500"/>
                                        <p:tgtEl>
                                          <p:spTgt spid="22"/>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500"/>
                                        <p:tgtEl>
                                          <p:spTgt spid="16"/>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8" grpId="0"/>
      <p:bldP spid="12" grpId="0"/>
      <p:bldP spid="13" grpId="0" animBg="1"/>
      <p:bldP spid="16" grpId="0" animBg="1"/>
      <p:bldP spid="20" grpId="0"/>
      <p:bldP spid="21" grpId="0"/>
      <p:bldP spid="22" grpId="0"/>
      <p:bldP spid="23" grpId="0"/>
      <p:bldP spid="2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Content Placeholder 2"/>
          <p:cNvSpPr>
            <a:spLocks noGrp="1"/>
          </p:cNvSpPr>
          <p:nvPr>
            <p:ph idx="1"/>
          </p:nvPr>
        </p:nvSpPr>
        <p:spPr>
          <a:xfrm>
            <a:off x="457200" y="228600"/>
            <a:ext cx="8216900" cy="3429000"/>
          </a:xfrm>
        </p:spPr>
        <p:txBody>
          <a:bodyPr/>
          <a:lstStyle/>
          <a:p>
            <a:pPr>
              <a:lnSpc>
                <a:spcPct val="90000"/>
              </a:lnSpc>
            </a:pPr>
            <a:r>
              <a:rPr kumimoji="0" lang="zh-CN" altLang="en-US" dirty="0"/>
              <a:t>可以猜想，每次对</a:t>
            </a:r>
            <a:r>
              <a:rPr kumimoji="0" lang="en-US" altLang="zh-CN" dirty="0"/>
              <a:t>n</a:t>
            </a:r>
            <a:r>
              <a:rPr kumimoji="0" lang="zh-CN" altLang="en-US" dirty="0"/>
              <a:t>个数（</a:t>
            </a:r>
            <a:r>
              <a:rPr kumimoji="0" lang="en-US" altLang="zh-CN" dirty="0"/>
              <a:t>A</a:t>
            </a:r>
            <a:r>
              <a:rPr kumimoji="0" lang="en-US" altLang="zh-CN" baseline="-25000" dirty="0"/>
              <a:t>1</a:t>
            </a:r>
            <a:r>
              <a:rPr kumimoji="0" lang="en-US" altLang="zh-CN" dirty="0"/>
              <a:t>,A</a:t>
            </a:r>
            <a:r>
              <a:rPr kumimoji="0" lang="en-US" altLang="zh-CN" baseline="-25000" dirty="0"/>
              <a:t>2</a:t>
            </a:r>
            <a:r>
              <a:rPr kumimoji="0" lang="en-US" altLang="zh-CN" dirty="0"/>
              <a:t>,…,A</a:t>
            </a:r>
            <a:r>
              <a:rPr kumimoji="0" lang="en-US" altLang="zh-CN" baseline="-25000" dirty="0"/>
              <a:t>n</a:t>
            </a:r>
            <a:r>
              <a:rPr kumimoji="0" lang="zh-CN" altLang="en-US" dirty="0"/>
              <a:t>）的全排列，可以分为</a:t>
            </a:r>
            <a:r>
              <a:rPr kumimoji="0" lang="en-US" altLang="zh-CN" dirty="0"/>
              <a:t>n</a:t>
            </a:r>
            <a:r>
              <a:rPr kumimoji="0" lang="zh-CN" altLang="en-US" dirty="0"/>
              <a:t>步</a:t>
            </a:r>
            <a:endParaRPr kumimoji="0" lang="en-US" altLang="zh-CN" dirty="0"/>
          </a:p>
          <a:p>
            <a:pPr>
              <a:lnSpc>
                <a:spcPct val="90000"/>
              </a:lnSpc>
            </a:pPr>
            <a:r>
              <a:rPr kumimoji="0" lang="zh-CN" altLang="en-US" sz="2800" dirty="0"/>
              <a:t>第</a:t>
            </a:r>
            <a:r>
              <a:rPr kumimoji="0" lang="en-US" altLang="zh-CN" sz="2800" dirty="0"/>
              <a:t>1</a:t>
            </a:r>
            <a:r>
              <a:rPr kumimoji="0" lang="zh-CN" altLang="en-US" sz="2800" dirty="0"/>
              <a:t>步为：以</a:t>
            </a:r>
            <a:r>
              <a:rPr kumimoji="0" lang="en-US" altLang="zh-CN" sz="2800" dirty="0"/>
              <a:t>A</a:t>
            </a:r>
            <a:r>
              <a:rPr kumimoji="0" lang="en-US" altLang="zh-CN" sz="2800" baseline="-25000" dirty="0"/>
              <a:t>1</a:t>
            </a:r>
            <a:r>
              <a:rPr kumimoji="0" lang="zh-CN" altLang="en-US" sz="2800" dirty="0"/>
              <a:t>为第一个数，对余下的</a:t>
            </a:r>
            <a:r>
              <a:rPr kumimoji="0" lang="en-US" altLang="zh-CN" sz="2800" dirty="0"/>
              <a:t>A</a:t>
            </a:r>
            <a:r>
              <a:rPr kumimoji="0" lang="en-US" altLang="zh-CN" sz="2800" baseline="-25000" dirty="0"/>
              <a:t>2</a:t>
            </a:r>
            <a:r>
              <a:rPr kumimoji="0" lang="en-US" altLang="zh-CN" sz="2800" dirty="0"/>
              <a:t>…A</a:t>
            </a:r>
            <a:r>
              <a:rPr kumimoji="0" lang="en-US" altLang="zh-CN" sz="2800" baseline="-25000" dirty="0"/>
              <a:t>n</a:t>
            </a:r>
            <a:r>
              <a:rPr kumimoji="0" lang="zh-CN" altLang="en-US" sz="2800" dirty="0"/>
              <a:t>进行全排列</a:t>
            </a:r>
            <a:endParaRPr kumimoji="0" lang="en-US" altLang="zh-CN" sz="2800" dirty="0"/>
          </a:p>
          <a:p>
            <a:pPr>
              <a:lnSpc>
                <a:spcPct val="90000"/>
              </a:lnSpc>
            </a:pPr>
            <a:r>
              <a:rPr kumimoji="0" lang="zh-CN" altLang="en-US" sz="2800" dirty="0"/>
              <a:t>。。。。。。</a:t>
            </a:r>
            <a:endParaRPr kumimoji="0" lang="en-US" altLang="zh-CN" sz="2800" dirty="0"/>
          </a:p>
          <a:p>
            <a:pPr>
              <a:lnSpc>
                <a:spcPct val="90000"/>
              </a:lnSpc>
            </a:pPr>
            <a:r>
              <a:rPr kumimoji="0" lang="zh-CN" altLang="en-US" sz="2800" dirty="0"/>
              <a:t>第</a:t>
            </a:r>
            <a:r>
              <a:rPr kumimoji="0" lang="en-US" altLang="zh-CN" sz="2800" dirty="0" err="1"/>
              <a:t>i</a:t>
            </a:r>
            <a:r>
              <a:rPr kumimoji="0" lang="zh-CN" altLang="en-US" sz="2800" dirty="0"/>
              <a:t>步为：以</a:t>
            </a:r>
            <a:r>
              <a:rPr kumimoji="0" lang="en-US" altLang="zh-CN" sz="2800" dirty="0"/>
              <a:t>A</a:t>
            </a:r>
            <a:r>
              <a:rPr kumimoji="0" lang="en-US" altLang="zh-CN" sz="2800" baseline="-25000" dirty="0"/>
              <a:t>i</a:t>
            </a:r>
            <a:r>
              <a:rPr kumimoji="0" lang="zh-CN" altLang="en-US" sz="2800" dirty="0"/>
              <a:t>为第一个数，对余下的</a:t>
            </a:r>
            <a:r>
              <a:rPr kumimoji="0" lang="en-US" altLang="zh-CN" sz="2800" dirty="0"/>
              <a:t>A</a:t>
            </a:r>
            <a:r>
              <a:rPr kumimoji="0" lang="en-US" altLang="zh-CN" sz="2800" baseline="-25000" dirty="0"/>
              <a:t>1</a:t>
            </a:r>
            <a:r>
              <a:rPr kumimoji="0" lang="en-US" altLang="zh-CN" sz="2800" dirty="0"/>
              <a:t>,A</a:t>
            </a:r>
            <a:r>
              <a:rPr kumimoji="0" lang="en-US" altLang="zh-CN" sz="2800" baseline="-25000" dirty="0"/>
              <a:t>2</a:t>
            </a:r>
            <a:r>
              <a:rPr kumimoji="0" lang="en-US" altLang="zh-CN" sz="2800" dirty="0"/>
              <a:t>…A</a:t>
            </a:r>
            <a:r>
              <a:rPr kumimoji="0" lang="en-US" altLang="zh-CN" sz="2800" baseline="-25000" dirty="0"/>
              <a:t>i-1</a:t>
            </a:r>
            <a:r>
              <a:rPr kumimoji="0" lang="en-US" altLang="zh-CN" sz="2800" dirty="0"/>
              <a:t>, A</a:t>
            </a:r>
            <a:r>
              <a:rPr kumimoji="0" lang="en-US" altLang="zh-CN" sz="2800" baseline="-25000" dirty="0"/>
              <a:t>i+1</a:t>
            </a:r>
            <a:r>
              <a:rPr kumimoji="0" lang="en-US" altLang="zh-CN" sz="2800" dirty="0"/>
              <a:t>…A</a:t>
            </a:r>
            <a:r>
              <a:rPr kumimoji="0" lang="en-US" altLang="zh-CN" sz="2800" baseline="-25000" dirty="0"/>
              <a:t>n</a:t>
            </a:r>
            <a:r>
              <a:rPr kumimoji="0" lang="zh-CN" altLang="en-US" sz="2800" dirty="0"/>
              <a:t>进行全排列</a:t>
            </a:r>
            <a:endParaRPr kumimoji="0" lang="zh-CN" altLang="en-US" sz="2800" dirty="0"/>
          </a:p>
        </p:txBody>
      </p:sp>
      <p:sp>
        <p:nvSpPr>
          <p:cNvPr id="4" name="Rectangle 3"/>
          <p:cNvSpPr/>
          <p:nvPr/>
        </p:nvSpPr>
        <p:spPr>
          <a:xfrm>
            <a:off x="3560763" y="3556000"/>
            <a:ext cx="1244600"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panose="02010600030101010101" pitchFamily="2" charset="-122"/>
              </a:rPr>
              <a:t>perm(n,n); </a:t>
            </a:r>
            <a:endParaRPr lang="zh-CN" altLang="en-US">
              <a:solidFill>
                <a:schemeClr val="accent1">
                  <a:lumMod val="75000"/>
                </a:schemeClr>
              </a:solidFill>
              <a:cs typeface="宋体" panose="02010600030101010101" pitchFamily="2" charset="-122"/>
            </a:endParaRPr>
          </a:p>
        </p:txBody>
      </p:sp>
      <p:sp>
        <p:nvSpPr>
          <p:cNvPr id="5" name="Rectangle 4"/>
          <p:cNvSpPr/>
          <p:nvPr/>
        </p:nvSpPr>
        <p:spPr>
          <a:xfrm>
            <a:off x="7407275" y="5715000"/>
            <a:ext cx="1431925"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rgbClr val="FFFFFF"/>
                </a:solidFill>
                <a:cs typeface="宋体" panose="02010600030101010101" pitchFamily="2" charset="-122"/>
              </a:rPr>
              <a:t>perm(n-1,n); </a:t>
            </a:r>
            <a:endParaRPr lang="zh-CN" altLang="en-US">
              <a:solidFill>
                <a:srgbClr val="000000"/>
              </a:solidFill>
              <a:cs typeface="宋体" panose="02010600030101010101" pitchFamily="2" charset="-122"/>
            </a:endParaRPr>
          </a:p>
        </p:txBody>
      </p:sp>
      <p:sp>
        <p:nvSpPr>
          <p:cNvPr id="6" name="Rectangle 5"/>
          <p:cNvSpPr/>
          <p:nvPr/>
        </p:nvSpPr>
        <p:spPr>
          <a:xfrm>
            <a:off x="3560763" y="5975350"/>
            <a:ext cx="1592103" cy="369332"/>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panose="02010600030101010101" pitchFamily="2" charset="-122"/>
              </a:rPr>
              <a:t>perm(n-1</a:t>
            </a:r>
            <a:r>
              <a:rPr lang="zh-CN" altLang="en-US">
                <a:solidFill>
                  <a:schemeClr val="accent1">
                    <a:lumMod val="75000"/>
                  </a:schemeClr>
                </a:solidFill>
                <a:cs typeface="宋体" panose="02010600030101010101" pitchFamily="2" charset="-122"/>
              </a:rPr>
              <a:t>，</a:t>
            </a:r>
            <a:r>
              <a:rPr lang="en-US" altLang="zh-CN">
                <a:solidFill>
                  <a:schemeClr val="accent1">
                    <a:lumMod val="75000"/>
                  </a:schemeClr>
                </a:solidFill>
                <a:cs typeface="宋体" panose="02010600030101010101" pitchFamily="2" charset="-122"/>
              </a:rPr>
              <a:t>n); </a:t>
            </a:r>
            <a:endParaRPr lang="zh-CN" altLang="en-US">
              <a:solidFill>
                <a:schemeClr val="accent1">
                  <a:lumMod val="75000"/>
                </a:schemeClr>
              </a:solidFill>
              <a:cs typeface="宋体" panose="02010600030101010101" pitchFamily="2" charset="-122"/>
            </a:endParaRPr>
          </a:p>
        </p:txBody>
      </p:sp>
      <p:sp>
        <p:nvSpPr>
          <p:cNvPr id="7" name="Rectangle 6"/>
          <p:cNvSpPr/>
          <p:nvPr/>
        </p:nvSpPr>
        <p:spPr>
          <a:xfrm>
            <a:off x="304800" y="5638800"/>
            <a:ext cx="1417376" cy="369332"/>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panose="02010600030101010101" pitchFamily="2" charset="-122"/>
              </a:rPr>
              <a:t>perm(n-1,n); </a:t>
            </a:r>
            <a:endParaRPr lang="zh-CN" altLang="en-US">
              <a:solidFill>
                <a:schemeClr val="accent1">
                  <a:lumMod val="75000"/>
                </a:schemeClr>
              </a:solidFill>
              <a:cs typeface="宋体" panose="02010600030101010101" pitchFamily="2" charset="-122"/>
            </a:endParaRPr>
          </a:p>
        </p:txBody>
      </p:sp>
      <p:cxnSp>
        <p:nvCxnSpPr>
          <p:cNvPr id="8" name="Straight Arrow Connector 7"/>
          <p:cNvCxnSpPr>
            <a:cxnSpLocks noChangeShapeType="1"/>
            <a:stCxn id="4" idx="2"/>
            <a:endCxn id="6" idx="0"/>
          </p:cNvCxnSpPr>
          <p:nvPr/>
        </p:nvCxnSpPr>
        <p:spPr bwMode="auto">
          <a:xfrm>
            <a:off x="4183063" y="3925888"/>
            <a:ext cx="173752" cy="2049462"/>
          </a:xfrm>
          <a:prstGeom prst="straightConnector1">
            <a:avLst/>
          </a:prstGeom>
          <a:noFill/>
          <a:ln w="38100">
            <a:solidFill>
              <a:srgbClr val="F7964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10" name="Straight Arrow Connector 9"/>
          <p:cNvCxnSpPr>
            <a:cxnSpLocks noChangeShapeType="1"/>
            <a:stCxn id="4" idx="2"/>
            <a:endCxn id="7" idx="0"/>
          </p:cNvCxnSpPr>
          <p:nvPr/>
        </p:nvCxnSpPr>
        <p:spPr bwMode="auto">
          <a:xfrm flipH="1">
            <a:off x="1013488" y="3925888"/>
            <a:ext cx="3169575" cy="1712912"/>
          </a:xfrm>
          <a:prstGeom prst="straightConnector1">
            <a:avLst/>
          </a:prstGeom>
          <a:noFill/>
          <a:ln w="38100">
            <a:solidFill>
              <a:srgbClr val="F7964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12" name="Straight Arrow Connector 11"/>
          <p:cNvCxnSpPr>
            <a:cxnSpLocks noChangeShapeType="1"/>
            <a:stCxn id="4" idx="2"/>
            <a:endCxn id="5" idx="0"/>
          </p:cNvCxnSpPr>
          <p:nvPr/>
        </p:nvCxnSpPr>
        <p:spPr bwMode="auto">
          <a:xfrm>
            <a:off x="4183063" y="3925888"/>
            <a:ext cx="3940175" cy="1789112"/>
          </a:xfrm>
          <a:prstGeom prst="straightConnector1">
            <a:avLst/>
          </a:prstGeom>
          <a:noFill/>
          <a:ln w="38100">
            <a:solidFill>
              <a:srgbClr val="F7964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25" name="Straight Arrow Connector 24"/>
          <p:cNvCxnSpPr>
            <a:cxnSpLocks noChangeShapeType="1"/>
          </p:cNvCxnSpPr>
          <p:nvPr/>
        </p:nvCxnSpPr>
        <p:spPr bwMode="auto">
          <a:xfrm flipV="1">
            <a:off x="3429000" y="4324350"/>
            <a:ext cx="1600200" cy="57150"/>
          </a:xfrm>
          <a:prstGeom prst="straightConnector1">
            <a:avLst/>
          </a:prstGeom>
          <a:noFill/>
          <a:ln w="38100">
            <a:solidFill>
              <a:srgbClr val="4BACC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31" name="Straight Arrow Connector 30"/>
          <p:cNvCxnSpPr>
            <a:cxnSpLocks noChangeShapeType="1"/>
          </p:cNvCxnSpPr>
          <p:nvPr/>
        </p:nvCxnSpPr>
        <p:spPr bwMode="auto">
          <a:xfrm>
            <a:off x="1736725" y="5975350"/>
            <a:ext cx="701675" cy="273050"/>
          </a:xfrm>
          <a:prstGeom prst="straightConnector1">
            <a:avLst/>
          </a:prstGeom>
          <a:noFill/>
          <a:ln w="25400">
            <a:solidFill>
              <a:srgbClr val="F79646"/>
            </a:solidFill>
            <a:rou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34" name="Straight Arrow Connector 33"/>
          <p:cNvCxnSpPr>
            <a:cxnSpLocks noChangeShapeType="1"/>
          </p:cNvCxnSpPr>
          <p:nvPr/>
        </p:nvCxnSpPr>
        <p:spPr bwMode="auto">
          <a:xfrm flipV="1">
            <a:off x="2601913" y="6248400"/>
            <a:ext cx="827087" cy="47625"/>
          </a:xfrm>
          <a:prstGeom prst="straightConnector1">
            <a:avLst/>
          </a:prstGeom>
          <a:noFill/>
          <a:ln w="38100">
            <a:solidFill>
              <a:srgbClr val="F7964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37" name="Straight Arrow Connector 36"/>
          <p:cNvCxnSpPr>
            <a:cxnSpLocks noChangeShapeType="1"/>
          </p:cNvCxnSpPr>
          <p:nvPr/>
        </p:nvCxnSpPr>
        <p:spPr bwMode="auto">
          <a:xfrm>
            <a:off x="5105400" y="6248400"/>
            <a:ext cx="1371600" cy="47625"/>
          </a:xfrm>
          <a:prstGeom prst="straightConnector1">
            <a:avLst/>
          </a:prstGeom>
          <a:noFill/>
          <a:ln w="38100">
            <a:solidFill>
              <a:srgbClr val="F7964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39" name="Straight Arrow Connector 38"/>
          <p:cNvCxnSpPr>
            <a:cxnSpLocks noChangeShapeType="1"/>
          </p:cNvCxnSpPr>
          <p:nvPr/>
        </p:nvCxnSpPr>
        <p:spPr bwMode="auto">
          <a:xfrm flipV="1">
            <a:off x="6629400" y="6045200"/>
            <a:ext cx="685800" cy="250825"/>
          </a:xfrm>
          <a:prstGeom prst="straightConnector1">
            <a:avLst/>
          </a:prstGeom>
          <a:noFill/>
          <a:ln w="38100">
            <a:solidFill>
              <a:srgbClr val="F7964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41" name="Straight Connector 40"/>
          <p:cNvCxnSpPr>
            <a:cxnSpLocks noChangeShapeType="1"/>
            <a:stCxn id="4" idx="2"/>
          </p:cNvCxnSpPr>
          <p:nvPr/>
        </p:nvCxnSpPr>
        <p:spPr bwMode="auto">
          <a:xfrm>
            <a:off x="4183063" y="3925888"/>
            <a:ext cx="2674937" cy="1916112"/>
          </a:xfrm>
          <a:prstGeom prst="line">
            <a:avLst/>
          </a:prstGeom>
          <a:noFill/>
          <a:ln w="38100">
            <a:solidFill>
              <a:srgbClr val="F79646"/>
            </a:solidFill>
            <a:rou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45" name="Straight Connector 44"/>
          <p:cNvCxnSpPr>
            <a:cxnSpLocks noChangeShapeType="1"/>
            <a:stCxn id="4" idx="2"/>
          </p:cNvCxnSpPr>
          <p:nvPr/>
        </p:nvCxnSpPr>
        <p:spPr bwMode="auto">
          <a:xfrm flipH="1">
            <a:off x="2209800" y="3925888"/>
            <a:ext cx="1973263" cy="1973262"/>
          </a:xfrm>
          <a:prstGeom prst="line">
            <a:avLst/>
          </a:prstGeom>
          <a:noFill/>
          <a:ln w="38100">
            <a:solidFill>
              <a:srgbClr val="F79646"/>
            </a:solidFill>
            <a:rou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47" name="Straight Connector 46"/>
          <p:cNvCxnSpPr>
            <a:cxnSpLocks noChangeShapeType="1"/>
            <a:stCxn id="4" idx="2"/>
          </p:cNvCxnSpPr>
          <p:nvPr/>
        </p:nvCxnSpPr>
        <p:spPr bwMode="auto">
          <a:xfrm flipH="1">
            <a:off x="3016250" y="3925888"/>
            <a:ext cx="1166813" cy="2119312"/>
          </a:xfrm>
          <a:prstGeom prst="line">
            <a:avLst/>
          </a:prstGeom>
          <a:noFill/>
          <a:ln w="38100">
            <a:solidFill>
              <a:srgbClr val="F79646"/>
            </a:solidFill>
            <a:rou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51" name="Straight Connector 50"/>
          <p:cNvCxnSpPr>
            <a:cxnSpLocks noChangeShapeType="1"/>
            <a:stCxn id="4" idx="2"/>
          </p:cNvCxnSpPr>
          <p:nvPr/>
        </p:nvCxnSpPr>
        <p:spPr bwMode="auto">
          <a:xfrm>
            <a:off x="4183063" y="3925888"/>
            <a:ext cx="1455737" cy="2049462"/>
          </a:xfrm>
          <a:prstGeom prst="line">
            <a:avLst/>
          </a:prstGeom>
          <a:noFill/>
          <a:ln w="38100">
            <a:solidFill>
              <a:srgbClr val="F79646"/>
            </a:solidFill>
            <a:rou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34834" name="TextBox 51"/>
          <p:cNvSpPr txBox="1">
            <a:spLocks noChangeArrowheads="1"/>
          </p:cNvSpPr>
          <p:nvPr/>
        </p:nvSpPr>
        <p:spPr bwMode="auto">
          <a:xfrm>
            <a:off x="2209800" y="4452938"/>
            <a:ext cx="434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A1</a:t>
            </a:r>
            <a:endParaRPr kumimoji="0" lang="zh-CN" altLang="en-US" sz="1800">
              <a:solidFill>
                <a:schemeClr val="accent1">
                  <a:lumMod val="75000"/>
                </a:schemeClr>
              </a:solidFill>
              <a:latin typeface="Calibri" panose="020F0502020204030204" pitchFamily="34" charset="0"/>
            </a:endParaRPr>
          </a:p>
        </p:txBody>
      </p:sp>
      <p:sp>
        <p:nvSpPr>
          <p:cNvPr id="34835" name="TextBox 52"/>
          <p:cNvSpPr txBox="1">
            <a:spLocks noChangeArrowheads="1"/>
          </p:cNvSpPr>
          <p:nvPr/>
        </p:nvSpPr>
        <p:spPr bwMode="auto">
          <a:xfrm>
            <a:off x="3997325" y="5181600"/>
            <a:ext cx="371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Ai</a:t>
            </a:r>
            <a:endParaRPr kumimoji="0" lang="zh-CN" altLang="en-US" sz="1800">
              <a:solidFill>
                <a:schemeClr val="accent1">
                  <a:lumMod val="75000"/>
                </a:schemeClr>
              </a:solidFill>
              <a:latin typeface="Calibri" panose="020F0502020204030204" pitchFamily="34" charset="0"/>
            </a:endParaRPr>
          </a:p>
        </p:txBody>
      </p:sp>
      <p:sp>
        <p:nvSpPr>
          <p:cNvPr id="34836" name="TextBox 53"/>
          <p:cNvSpPr txBox="1">
            <a:spLocks noChangeArrowheads="1"/>
          </p:cNvSpPr>
          <p:nvPr/>
        </p:nvSpPr>
        <p:spPr bwMode="auto">
          <a:xfrm>
            <a:off x="6257925" y="4564063"/>
            <a:ext cx="438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An</a:t>
            </a:r>
            <a:endParaRPr kumimoji="0" lang="zh-CN" altLang="en-US" sz="1800">
              <a:solidFill>
                <a:schemeClr val="accent1">
                  <a:lumMod val="75000"/>
                </a:schemeClr>
              </a:solidFill>
              <a:latin typeface="Calibri" panose="020F050202020403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1676400"/>
          </a:xfrm>
        </p:spPr>
        <p:txBody>
          <a:bodyPr/>
          <a:lstStyle/>
          <a:p>
            <a:r>
              <a:rPr kumimoji="0" lang="zh-CN" altLang="en-US" dirty="0"/>
              <a:t>根据这个思路，以</a:t>
            </a:r>
            <a:r>
              <a:rPr kumimoji="0" lang="en-US" altLang="zh-CN" dirty="0"/>
              <a:t>3</a:t>
            </a:r>
            <a:r>
              <a:rPr kumimoji="0" lang="zh-CN" altLang="en-US" dirty="0"/>
              <a:t>个数的全排列为例：</a:t>
            </a:r>
            <a:endParaRPr kumimoji="0" lang="en-US" altLang="zh-CN" dirty="0"/>
          </a:p>
          <a:p>
            <a:r>
              <a:rPr kumimoji="0" lang="zh-CN" altLang="en-US" dirty="0"/>
              <a:t>分别对</a:t>
            </a:r>
            <a:r>
              <a:rPr kumimoji="0" lang="en-US" altLang="zh-CN" dirty="0"/>
              <a:t>A1</a:t>
            </a:r>
            <a:r>
              <a:rPr kumimoji="0" lang="zh-CN" altLang="en-US" dirty="0"/>
              <a:t>，</a:t>
            </a:r>
            <a:r>
              <a:rPr kumimoji="0" lang="en-US" altLang="zh-CN" dirty="0"/>
              <a:t>A2</a:t>
            </a:r>
            <a:r>
              <a:rPr kumimoji="0" lang="zh-CN" altLang="en-US" dirty="0"/>
              <a:t>，</a:t>
            </a:r>
            <a:r>
              <a:rPr kumimoji="0" lang="en-US" altLang="zh-CN" dirty="0"/>
              <a:t>A3</a:t>
            </a:r>
            <a:r>
              <a:rPr kumimoji="0" lang="zh-CN" altLang="en-US" dirty="0"/>
              <a:t>这三种情况剩余的数列进行全排列的递推：</a:t>
            </a:r>
            <a:endParaRPr kumimoji="0" lang="zh-CN" altLang="en-US" dirty="0"/>
          </a:p>
        </p:txBody>
      </p:sp>
      <p:sp>
        <p:nvSpPr>
          <p:cNvPr id="4" name="Rectangle 3"/>
          <p:cNvSpPr/>
          <p:nvPr/>
        </p:nvSpPr>
        <p:spPr>
          <a:xfrm>
            <a:off x="3489325" y="2133600"/>
            <a:ext cx="1182688"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panose="02010600030101010101" pitchFamily="2" charset="-122"/>
              </a:rPr>
              <a:t>perm(3,3);</a:t>
            </a:r>
            <a:endParaRPr lang="zh-CN" altLang="en-US">
              <a:solidFill>
                <a:schemeClr val="accent1">
                  <a:lumMod val="75000"/>
                </a:schemeClr>
              </a:solidFill>
              <a:cs typeface="宋体" panose="02010600030101010101" pitchFamily="2" charset="-122"/>
            </a:endParaRPr>
          </a:p>
        </p:txBody>
      </p:sp>
      <p:cxnSp>
        <p:nvCxnSpPr>
          <p:cNvPr id="6" name="Straight Arrow Connector 5"/>
          <p:cNvCxnSpPr>
            <a:cxnSpLocks noChangeShapeType="1"/>
            <a:stCxn id="4" idx="2"/>
            <a:endCxn id="20" idx="0"/>
          </p:cNvCxnSpPr>
          <p:nvPr/>
        </p:nvCxnSpPr>
        <p:spPr bwMode="auto">
          <a:xfrm flipH="1">
            <a:off x="1346200" y="2503488"/>
            <a:ext cx="2733675" cy="906462"/>
          </a:xfrm>
          <a:prstGeom prst="straightConnector1">
            <a:avLst/>
          </a:prstGeom>
          <a:noFill/>
          <a:ln w="38100">
            <a:solidFill>
              <a:srgbClr val="F7964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8" name="Straight Arrow Connector 7"/>
          <p:cNvCxnSpPr>
            <a:cxnSpLocks noChangeShapeType="1"/>
            <a:stCxn id="4" idx="2"/>
            <a:endCxn id="19" idx="0"/>
          </p:cNvCxnSpPr>
          <p:nvPr/>
        </p:nvCxnSpPr>
        <p:spPr bwMode="auto">
          <a:xfrm flipH="1">
            <a:off x="4044950" y="2503488"/>
            <a:ext cx="34925" cy="906462"/>
          </a:xfrm>
          <a:prstGeom prst="straightConnector1">
            <a:avLst/>
          </a:prstGeom>
          <a:noFill/>
          <a:ln w="38100">
            <a:solidFill>
              <a:srgbClr val="F7964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10" name="Straight Arrow Connector 9"/>
          <p:cNvCxnSpPr>
            <a:cxnSpLocks noChangeShapeType="1"/>
            <a:stCxn id="4" idx="2"/>
            <a:endCxn id="18" idx="0"/>
          </p:cNvCxnSpPr>
          <p:nvPr/>
        </p:nvCxnSpPr>
        <p:spPr bwMode="auto">
          <a:xfrm>
            <a:off x="4079875" y="2503488"/>
            <a:ext cx="2759075" cy="906462"/>
          </a:xfrm>
          <a:prstGeom prst="straightConnector1">
            <a:avLst/>
          </a:prstGeom>
          <a:noFill/>
          <a:ln w="38100">
            <a:solidFill>
              <a:srgbClr val="F79646"/>
            </a:solidFill>
            <a:rou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18" name="Rectangle 17"/>
          <p:cNvSpPr/>
          <p:nvPr/>
        </p:nvSpPr>
        <p:spPr>
          <a:xfrm>
            <a:off x="6121400" y="3409950"/>
            <a:ext cx="1436688" cy="646113"/>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panose="02010600030101010101" pitchFamily="2" charset="-122"/>
              </a:rPr>
              <a:t>perm(2,3);</a:t>
            </a:r>
            <a:endParaRPr lang="en-US" altLang="zh-CN">
              <a:solidFill>
                <a:schemeClr val="accent1">
                  <a:lumMod val="75000"/>
                </a:schemeClr>
              </a:solidFill>
              <a:cs typeface="宋体" panose="02010600030101010101" pitchFamily="2" charset="-122"/>
            </a:endParaRPr>
          </a:p>
          <a:p>
            <a:pPr fontAlgn="base">
              <a:spcBef>
                <a:spcPct val="0"/>
              </a:spcBef>
              <a:spcAft>
                <a:spcPct val="0"/>
              </a:spcAft>
              <a:defRPr/>
            </a:pPr>
            <a:r>
              <a:rPr lang="zh-CN" altLang="en-US">
                <a:solidFill>
                  <a:schemeClr val="accent1">
                    <a:lumMod val="75000"/>
                  </a:schemeClr>
                </a:solidFill>
                <a:cs typeface="宋体" panose="02010600030101010101" pitchFamily="2" charset="-122"/>
              </a:rPr>
              <a:t>剩余：</a:t>
            </a:r>
            <a:r>
              <a:rPr lang="en-US" altLang="zh-CN">
                <a:solidFill>
                  <a:schemeClr val="accent1">
                    <a:lumMod val="75000"/>
                  </a:schemeClr>
                </a:solidFill>
                <a:cs typeface="宋体" panose="02010600030101010101" pitchFamily="2" charset="-122"/>
              </a:rPr>
              <a:t>A1,A2</a:t>
            </a:r>
            <a:endParaRPr lang="zh-CN" altLang="en-US">
              <a:solidFill>
                <a:schemeClr val="accent1">
                  <a:lumMod val="75000"/>
                </a:schemeClr>
              </a:solidFill>
              <a:cs typeface="宋体" panose="02010600030101010101" pitchFamily="2" charset="-122"/>
            </a:endParaRPr>
          </a:p>
        </p:txBody>
      </p:sp>
      <p:sp>
        <p:nvSpPr>
          <p:cNvPr id="19" name="Rectangle 18"/>
          <p:cNvSpPr/>
          <p:nvPr/>
        </p:nvSpPr>
        <p:spPr>
          <a:xfrm>
            <a:off x="3327400" y="3409950"/>
            <a:ext cx="1436688" cy="646113"/>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panose="02010600030101010101" pitchFamily="2" charset="-122"/>
              </a:rPr>
              <a:t>perm(2,3);</a:t>
            </a:r>
            <a:endParaRPr lang="en-US" altLang="zh-CN">
              <a:solidFill>
                <a:schemeClr val="accent1">
                  <a:lumMod val="75000"/>
                </a:schemeClr>
              </a:solidFill>
              <a:cs typeface="宋体" panose="02010600030101010101" pitchFamily="2" charset="-122"/>
            </a:endParaRPr>
          </a:p>
          <a:p>
            <a:pPr fontAlgn="base">
              <a:spcBef>
                <a:spcPct val="0"/>
              </a:spcBef>
              <a:spcAft>
                <a:spcPct val="0"/>
              </a:spcAft>
              <a:defRPr/>
            </a:pPr>
            <a:r>
              <a:rPr lang="zh-CN" altLang="en-US">
                <a:solidFill>
                  <a:schemeClr val="accent1">
                    <a:lumMod val="75000"/>
                  </a:schemeClr>
                </a:solidFill>
                <a:cs typeface="宋体" panose="02010600030101010101" pitchFamily="2" charset="-122"/>
              </a:rPr>
              <a:t>剩余：</a:t>
            </a:r>
            <a:r>
              <a:rPr lang="en-US" altLang="zh-CN">
                <a:solidFill>
                  <a:schemeClr val="accent1">
                    <a:lumMod val="75000"/>
                  </a:schemeClr>
                </a:solidFill>
                <a:cs typeface="宋体" panose="02010600030101010101" pitchFamily="2" charset="-122"/>
              </a:rPr>
              <a:t>A1,A3</a:t>
            </a:r>
            <a:endParaRPr lang="zh-CN" altLang="en-US">
              <a:solidFill>
                <a:schemeClr val="accent1">
                  <a:lumMod val="75000"/>
                </a:schemeClr>
              </a:solidFill>
              <a:cs typeface="宋体" panose="02010600030101010101" pitchFamily="2" charset="-122"/>
            </a:endParaRPr>
          </a:p>
        </p:txBody>
      </p:sp>
      <p:sp>
        <p:nvSpPr>
          <p:cNvPr id="20" name="Rectangle 19"/>
          <p:cNvSpPr/>
          <p:nvPr/>
        </p:nvSpPr>
        <p:spPr>
          <a:xfrm>
            <a:off x="628650" y="3409950"/>
            <a:ext cx="1436688" cy="646113"/>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panose="02010600030101010101" pitchFamily="2" charset="-122"/>
              </a:rPr>
              <a:t>perm(2,3);</a:t>
            </a:r>
            <a:endParaRPr lang="en-US" altLang="zh-CN">
              <a:solidFill>
                <a:schemeClr val="accent1">
                  <a:lumMod val="75000"/>
                </a:schemeClr>
              </a:solidFill>
              <a:cs typeface="宋体" panose="02010600030101010101" pitchFamily="2" charset="-122"/>
            </a:endParaRPr>
          </a:p>
          <a:p>
            <a:pPr fontAlgn="base">
              <a:spcBef>
                <a:spcPct val="0"/>
              </a:spcBef>
              <a:spcAft>
                <a:spcPct val="0"/>
              </a:spcAft>
              <a:defRPr/>
            </a:pPr>
            <a:r>
              <a:rPr lang="zh-CN" altLang="en-US">
                <a:solidFill>
                  <a:schemeClr val="accent1">
                    <a:lumMod val="75000"/>
                  </a:schemeClr>
                </a:solidFill>
                <a:cs typeface="宋体" panose="02010600030101010101" pitchFamily="2" charset="-122"/>
              </a:rPr>
              <a:t>剩余：</a:t>
            </a:r>
            <a:r>
              <a:rPr lang="en-US" altLang="zh-CN">
                <a:solidFill>
                  <a:schemeClr val="accent1">
                    <a:lumMod val="75000"/>
                  </a:schemeClr>
                </a:solidFill>
                <a:cs typeface="宋体" panose="02010600030101010101" pitchFamily="2" charset="-122"/>
              </a:rPr>
              <a:t>A2,A3</a:t>
            </a:r>
            <a:endParaRPr lang="zh-CN" altLang="en-US">
              <a:solidFill>
                <a:schemeClr val="accent1">
                  <a:lumMod val="75000"/>
                </a:schemeClr>
              </a:solidFill>
              <a:cs typeface="宋体" panose="02010600030101010101" pitchFamily="2" charset="-122"/>
            </a:endParaRPr>
          </a:p>
        </p:txBody>
      </p:sp>
      <p:sp>
        <p:nvSpPr>
          <p:cNvPr id="24" name="TextBox 23"/>
          <p:cNvSpPr txBox="1">
            <a:spLocks noChangeArrowheads="1"/>
          </p:cNvSpPr>
          <p:nvPr/>
        </p:nvSpPr>
        <p:spPr bwMode="auto">
          <a:xfrm>
            <a:off x="2309813" y="2617788"/>
            <a:ext cx="434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A1</a:t>
            </a:r>
            <a:endParaRPr kumimoji="0" lang="zh-CN" altLang="en-US" sz="1800">
              <a:solidFill>
                <a:schemeClr val="accent1">
                  <a:lumMod val="75000"/>
                </a:schemeClr>
              </a:solidFill>
              <a:latin typeface="Calibri" panose="020F0502020204030204" pitchFamily="34" charset="0"/>
            </a:endParaRPr>
          </a:p>
        </p:txBody>
      </p:sp>
      <p:sp>
        <p:nvSpPr>
          <p:cNvPr id="25" name="TextBox 24"/>
          <p:cNvSpPr txBox="1">
            <a:spLocks noChangeArrowheads="1"/>
          </p:cNvSpPr>
          <p:nvPr/>
        </p:nvSpPr>
        <p:spPr bwMode="auto">
          <a:xfrm>
            <a:off x="5410200" y="2627313"/>
            <a:ext cx="434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A3</a:t>
            </a:r>
            <a:endParaRPr kumimoji="0" lang="zh-CN" altLang="en-US" sz="1800">
              <a:solidFill>
                <a:schemeClr val="accent1">
                  <a:lumMod val="75000"/>
                </a:schemeClr>
              </a:solidFill>
              <a:latin typeface="Calibri" panose="020F0502020204030204" pitchFamily="34" charset="0"/>
            </a:endParaRPr>
          </a:p>
        </p:txBody>
      </p:sp>
      <p:sp>
        <p:nvSpPr>
          <p:cNvPr id="26" name="TextBox 25"/>
          <p:cNvSpPr txBox="1">
            <a:spLocks noChangeArrowheads="1"/>
          </p:cNvSpPr>
          <p:nvPr/>
        </p:nvSpPr>
        <p:spPr bwMode="auto">
          <a:xfrm>
            <a:off x="4010025" y="2801938"/>
            <a:ext cx="434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A2</a:t>
            </a:r>
            <a:endParaRPr kumimoji="0" lang="zh-CN" altLang="en-US" sz="1800">
              <a:solidFill>
                <a:schemeClr val="accent1">
                  <a:lumMod val="75000"/>
                </a:schemeClr>
              </a:solidFill>
              <a:latin typeface="Calibri" panose="020F0502020204030204" pitchFamily="34" charset="0"/>
            </a:endParaRPr>
          </a:p>
        </p:txBody>
      </p:sp>
      <p:sp>
        <p:nvSpPr>
          <p:cNvPr id="27" name="TextBox 26"/>
          <p:cNvSpPr txBox="1">
            <a:spLocks noChangeArrowheads="1"/>
          </p:cNvSpPr>
          <p:nvPr/>
        </p:nvSpPr>
        <p:spPr bwMode="auto">
          <a:xfrm>
            <a:off x="674688" y="4724400"/>
            <a:ext cx="13446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A1,A2,A3</a:t>
            </a:r>
            <a:endParaRPr kumimoji="0" lang="en-US" altLang="zh-CN">
              <a:solidFill>
                <a:schemeClr val="accent1">
                  <a:lumMod val="75000"/>
                </a:schemeClr>
              </a:solidFill>
              <a:latin typeface="Calibri" panose="020F0502020204030204" pitchFamily="34" charset="0"/>
            </a:endParaRPr>
          </a:p>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A1,A3,A2</a:t>
            </a:r>
            <a:endParaRPr kumimoji="0" lang="zh-CN" altLang="en-US">
              <a:solidFill>
                <a:schemeClr val="accent1">
                  <a:lumMod val="75000"/>
                </a:schemeClr>
              </a:solidFill>
              <a:latin typeface="Calibri" panose="020F0502020204030204" pitchFamily="34" charset="0"/>
            </a:endParaRPr>
          </a:p>
        </p:txBody>
      </p:sp>
      <p:sp>
        <p:nvSpPr>
          <p:cNvPr id="28" name="TextBox 27"/>
          <p:cNvSpPr txBox="1">
            <a:spLocks noChangeArrowheads="1"/>
          </p:cNvSpPr>
          <p:nvPr/>
        </p:nvSpPr>
        <p:spPr bwMode="auto">
          <a:xfrm>
            <a:off x="3390900" y="4724400"/>
            <a:ext cx="13446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A2,A1,A3</a:t>
            </a:r>
            <a:endParaRPr kumimoji="0" lang="en-US" altLang="zh-CN">
              <a:solidFill>
                <a:schemeClr val="accent1">
                  <a:lumMod val="75000"/>
                </a:schemeClr>
              </a:solidFill>
              <a:latin typeface="Calibri" panose="020F0502020204030204" pitchFamily="34" charset="0"/>
            </a:endParaRPr>
          </a:p>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A2,A3,A1</a:t>
            </a:r>
            <a:endParaRPr kumimoji="0" lang="zh-CN" altLang="en-US">
              <a:solidFill>
                <a:schemeClr val="accent1">
                  <a:lumMod val="75000"/>
                </a:schemeClr>
              </a:solidFill>
              <a:latin typeface="Calibri" panose="020F0502020204030204" pitchFamily="34" charset="0"/>
            </a:endParaRPr>
          </a:p>
        </p:txBody>
      </p:sp>
      <p:sp>
        <p:nvSpPr>
          <p:cNvPr id="29" name="TextBox 28"/>
          <p:cNvSpPr txBox="1">
            <a:spLocks noChangeArrowheads="1"/>
          </p:cNvSpPr>
          <p:nvPr/>
        </p:nvSpPr>
        <p:spPr bwMode="auto">
          <a:xfrm>
            <a:off x="6167438" y="4724400"/>
            <a:ext cx="13430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A3,A1,A2</a:t>
            </a:r>
            <a:endParaRPr kumimoji="0" lang="en-US" altLang="zh-CN">
              <a:solidFill>
                <a:schemeClr val="accent1">
                  <a:lumMod val="75000"/>
                </a:schemeClr>
              </a:solidFill>
              <a:latin typeface="Calibri" panose="020F0502020204030204" pitchFamily="34" charset="0"/>
            </a:endParaRPr>
          </a:p>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A3,A2,A1</a:t>
            </a:r>
            <a:endParaRPr kumimoji="0" lang="zh-CN" altLang="en-US">
              <a:solidFill>
                <a:schemeClr val="accent1">
                  <a:lumMod val="75000"/>
                </a:schemeClr>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500"/>
                                        <p:tgtEl>
                                          <p:spTgt spid="1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18" grpId="0" animBg="1"/>
      <p:bldP spid="19" grpId="0" animBg="1"/>
      <p:bldP spid="20" grpId="0" animBg="1"/>
      <p:bldP spid="24" grpId="0"/>
      <p:bldP spid="25" grpId="0"/>
      <p:bldP spid="26" grpId="0"/>
      <p:bldP spid="27" grpId="0"/>
      <p:bldP spid="28" grpId="0"/>
      <p:bldP spid="2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229600" cy="6172200"/>
          </a:xfrm>
        </p:spPr>
        <p:txBody>
          <a:bodyPr>
            <a:normAutofit/>
          </a:bodyPr>
          <a:lstStyle/>
          <a:p>
            <a:pPr>
              <a:lnSpc>
                <a:spcPct val="80000"/>
              </a:lnSpc>
            </a:pPr>
            <a:r>
              <a:rPr kumimoji="0" lang="zh-CN" altLang="en-US" sz="2500" dirty="0"/>
              <a:t>根据这个基本思路，在实际操作中还需要考虑如何将剩余的那一部分数列提供给接下来的一步操作</a:t>
            </a:r>
            <a:r>
              <a:rPr kumimoji="0" lang="en-US" altLang="zh-CN" sz="2500" dirty="0"/>
              <a:t>/</a:t>
            </a:r>
            <a:r>
              <a:rPr kumimoji="0" lang="zh-CN" altLang="en-US" sz="2500" dirty="0"/>
              <a:t>函数来调用的问题</a:t>
            </a:r>
            <a:endParaRPr kumimoji="0" lang="en-US" altLang="zh-CN" sz="2500" dirty="0"/>
          </a:p>
          <a:p>
            <a:pPr>
              <a:lnSpc>
                <a:spcPct val="80000"/>
              </a:lnSpc>
            </a:pPr>
            <a:r>
              <a:rPr kumimoji="0" lang="zh-CN" altLang="en-US" sz="2500" dirty="0"/>
              <a:t>这里采取交换的方法：</a:t>
            </a:r>
            <a:endParaRPr kumimoji="0" lang="en-US" altLang="zh-CN" sz="2500" dirty="0"/>
          </a:p>
          <a:p>
            <a:pPr>
              <a:lnSpc>
                <a:spcPct val="80000"/>
              </a:lnSpc>
            </a:pPr>
            <a:r>
              <a:rPr kumimoji="0" lang="zh-CN" altLang="en-US" sz="2500" dirty="0"/>
              <a:t>对于第</a:t>
            </a:r>
            <a:r>
              <a:rPr kumimoji="0" lang="en-US" altLang="zh-CN" sz="2500" dirty="0" err="1"/>
              <a:t>i</a:t>
            </a:r>
            <a:r>
              <a:rPr kumimoji="0" lang="zh-CN" altLang="en-US" sz="2500" dirty="0"/>
              <a:t>种情况，将</a:t>
            </a:r>
            <a:r>
              <a:rPr kumimoji="0" lang="en-US" altLang="zh-CN" sz="2500" dirty="0"/>
              <a:t>A1</a:t>
            </a:r>
            <a:r>
              <a:rPr kumimoji="0" lang="zh-CN" altLang="en-US" sz="2500" dirty="0"/>
              <a:t>与</a:t>
            </a:r>
            <a:r>
              <a:rPr kumimoji="0" lang="en-US" altLang="zh-CN" sz="2500" dirty="0"/>
              <a:t>Ai</a:t>
            </a:r>
            <a:r>
              <a:rPr kumimoji="0" lang="zh-CN" altLang="en-US" sz="2500" dirty="0"/>
              <a:t>交换位置，然后让接下来的全排列在后面</a:t>
            </a:r>
            <a:r>
              <a:rPr kumimoji="0" lang="en-US" altLang="zh-CN" sz="2500" dirty="0"/>
              <a:t>n-1</a:t>
            </a:r>
            <a:r>
              <a:rPr kumimoji="0" lang="zh-CN" altLang="en-US" sz="2500" dirty="0"/>
              <a:t>个数中进行</a:t>
            </a:r>
            <a:endParaRPr kumimoji="0" lang="en-US" altLang="zh-CN" sz="2500" dirty="0">
              <a:solidFill>
                <a:schemeClr val="bg2"/>
              </a:solidFill>
            </a:endParaRPr>
          </a:p>
          <a:p>
            <a:pPr>
              <a:lnSpc>
                <a:spcPct val="80000"/>
              </a:lnSpc>
            </a:pPr>
            <a:r>
              <a:rPr kumimoji="0" lang="zh-CN" altLang="en-US" sz="2500" dirty="0"/>
              <a:t>第</a:t>
            </a:r>
            <a:r>
              <a:rPr kumimoji="0" lang="en-US" altLang="zh-CN" sz="2500" dirty="0" err="1"/>
              <a:t>i</a:t>
            </a:r>
            <a:r>
              <a:rPr kumimoji="0" lang="zh-CN" altLang="en-US" sz="2500" dirty="0"/>
              <a:t>步：</a:t>
            </a:r>
            <a:endParaRPr kumimoji="0" lang="en-US" altLang="zh-CN" sz="2500" dirty="0"/>
          </a:p>
          <a:p>
            <a:pPr>
              <a:lnSpc>
                <a:spcPct val="80000"/>
              </a:lnSpc>
            </a:pPr>
            <a:r>
              <a:rPr kumimoji="0" lang="en-US" altLang="zh-CN" sz="2500" dirty="0"/>
              <a:t>Swap</a:t>
            </a:r>
            <a:r>
              <a:rPr kumimoji="0" lang="zh-CN" altLang="en-US" sz="2500" dirty="0"/>
              <a:t>（</a:t>
            </a:r>
            <a:r>
              <a:rPr kumimoji="0" lang="en-US" altLang="zh-CN" sz="2500" dirty="0"/>
              <a:t>A1</a:t>
            </a:r>
            <a:r>
              <a:rPr kumimoji="0" lang="zh-CN" altLang="en-US" sz="2500" dirty="0"/>
              <a:t>，</a:t>
            </a:r>
            <a:r>
              <a:rPr kumimoji="0" lang="en-US" altLang="zh-CN" sz="2500" dirty="0"/>
              <a:t>Ai</a:t>
            </a:r>
            <a:r>
              <a:rPr kumimoji="0" lang="zh-CN" altLang="en-US" sz="2500" dirty="0"/>
              <a:t>）</a:t>
            </a:r>
            <a:r>
              <a:rPr kumimoji="0" lang="en-US" altLang="zh-CN" sz="2500" dirty="0"/>
              <a:t>//</a:t>
            </a:r>
            <a:r>
              <a:rPr kumimoji="0" lang="zh-CN" altLang="en-US" sz="2500" dirty="0"/>
              <a:t>交换</a:t>
            </a:r>
            <a:r>
              <a:rPr kumimoji="0" lang="en-US" altLang="zh-CN" sz="2500" dirty="0"/>
              <a:t>A1</a:t>
            </a:r>
            <a:r>
              <a:rPr kumimoji="0" lang="zh-CN" altLang="en-US" sz="2500" dirty="0"/>
              <a:t>与</a:t>
            </a:r>
            <a:r>
              <a:rPr kumimoji="0" lang="en-US" altLang="zh-CN" sz="2500" dirty="0"/>
              <a:t>Ai</a:t>
            </a:r>
            <a:endParaRPr kumimoji="0" lang="en-US" altLang="zh-CN" sz="2500" dirty="0"/>
          </a:p>
          <a:p>
            <a:pPr>
              <a:lnSpc>
                <a:spcPct val="80000"/>
              </a:lnSpc>
            </a:pPr>
            <a:r>
              <a:rPr kumimoji="0" lang="zh-CN" altLang="en-US" sz="2500" dirty="0"/>
              <a:t>交换前：</a:t>
            </a:r>
            <a:r>
              <a:rPr kumimoji="0" lang="en-US" altLang="zh-CN" sz="2500" dirty="0">
                <a:solidFill>
                  <a:srgbClr val="92D050"/>
                </a:solidFill>
              </a:rPr>
              <a:t>A1</a:t>
            </a:r>
            <a:r>
              <a:rPr kumimoji="0" lang="en-US" altLang="zh-CN" sz="2500" dirty="0"/>
              <a:t>,A2,…,Ai-1,</a:t>
            </a:r>
            <a:r>
              <a:rPr kumimoji="0" lang="en-US" altLang="zh-CN" sz="2500" dirty="0">
                <a:solidFill>
                  <a:srgbClr val="558ED5"/>
                </a:solidFill>
              </a:rPr>
              <a:t>Ai</a:t>
            </a:r>
            <a:r>
              <a:rPr kumimoji="0" lang="en-US" altLang="zh-CN" sz="2500" dirty="0"/>
              <a:t>,Ai+1,…,An-1,An</a:t>
            </a:r>
            <a:endParaRPr kumimoji="0" lang="en-US" altLang="zh-CN" sz="2500" dirty="0"/>
          </a:p>
          <a:p>
            <a:pPr>
              <a:lnSpc>
                <a:spcPct val="80000"/>
              </a:lnSpc>
            </a:pPr>
            <a:r>
              <a:rPr kumimoji="0" lang="zh-CN" altLang="en-US" sz="2500" dirty="0"/>
              <a:t>交换后：</a:t>
            </a:r>
            <a:r>
              <a:rPr kumimoji="0" lang="en-US" altLang="zh-CN" sz="2500" dirty="0">
                <a:solidFill>
                  <a:srgbClr val="558ED5"/>
                </a:solidFill>
              </a:rPr>
              <a:t>Ai</a:t>
            </a:r>
            <a:r>
              <a:rPr kumimoji="0" lang="en-US" altLang="zh-CN" sz="2500" dirty="0"/>
              <a:t>,A2,…,Ai-1,</a:t>
            </a:r>
            <a:r>
              <a:rPr kumimoji="0" lang="en-US" altLang="zh-CN" sz="2500" dirty="0">
                <a:solidFill>
                  <a:srgbClr val="92D050"/>
                </a:solidFill>
              </a:rPr>
              <a:t>A1</a:t>
            </a:r>
            <a:r>
              <a:rPr kumimoji="0" lang="en-US" altLang="zh-CN" sz="2500" dirty="0"/>
              <a:t>,Ai+1,…,An-1,An</a:t>
            </a:r>
            <a:endParaRPr kumimoji="0" lang="en-US" altLang="zh-CN" sz="2500" dirty="0"/>
          </a:p>
          <a:p>
            <a:pPr>
              <a:lnSpc>
                <a:spcPct val="80000"/>
              </a:lnSpc>
            </a:pPr>
            <a:r>
              <a:rPr kumimoji="0" lang="en-US" altLang="zh-CN" sz="2500" dirty="0"/>
              <a:t>Perm</a:t>
            </a:r>
            <a:r>
              <a:rPr kumimoji="0" lang="zh-CN" altLang="en-US" sz="2500" dirty="0"/>
              <a:t>（</a:t>
            </a:r>
            <a:r>
              <a:rPr kumimoji="0" lang="en-US" altLang="zh-CN" sz="2500" dirty="0"/>
              <a:t>n-1</a:t>
            </a:r>
            <a:r>
              <a:rPr kumimoji="0" lang="zh-CN" altLang="en-US" sz="2500" dirty="0"/>
              <a:t>，</a:t>
            </a:r>
            <a:r>
              <a:rPr kumimoji="0" lang="en-US" altLang="zh-CN" sz="2500" dirty="0"/>
              <a:t>total</a:t>
            </a:r>
            <a:r>
              <a:rPr kumimoji="0" lang="zh-CN" altLang="en-US" sz="2500" dirty="0"/>
              <a:t>）</a:t>
            </a:r>
            <a:endParaRPr kumimoji="0" lang="en-US" altLang="zh-CN" sz="2500" dirty="0"/>
          </a:p>
          <a:p>
            <a:pPr>
              <a:lnSpc>
                <a:spcPct val="80000"/>
              </a:lnSpc>
            </a:pPr>
            <a:r>
              <a:rPr kumimoji="0" lang="zh-CN" altLang="en-US" sz="2500" dirty="0"/>
              <a:t>输出后</a:t>
            </a:r>
            <a:r>
              <a:rPr kumimoji="0" lang="en-US" altLang="zh-CN" sz="2500" dirty="0"/>
              <a:t>n-1</a:t>
            </a:r>
            <a:r>
              <a:rPr kumimoji="0" lang="zh-CN" altLang="en-US" sz="2500" dirty="0"/>
              <a:t>个数的全排列</a:t>
            </a:r>
            <a:endParaRPr kumimoji="0" lang="en-US" altLang="zh-CN" sz="2500" dirty="0"/>
          </a:p>
          <a:p>
            <a:pPr>
              <a:lnSpc>
                <a:spcPct val="80000"/>
              </a:lnSpc>
            </a:pPr>
            <a:r>
              <a:rPr kumimoji="0" lang="en-US" altLang="zh-CN" sz="2500" dirty="0"/>
              <a:t>Swap</a:t>
            </a:r>
            <a:r>
              <a:rPr kumimoji="0" lang="zh-CN" altLang="en-US" sz="2500" dirty="0"/>
              <a:t>（</a:t>
            </a:r>
            <a:r>
              <a:rPr kumimoji="0" lang="en-US" altLang="zh-CN" sz="2500" dirty="0"/>
              <a:t>A1</a:t>
            </a:r>
            <a:r>
              <a:rPr kumimoji="0" lang="zh-CN" altLang="en-US" sz="2500" dirty="0"/>
              <a:t>，</a:t>
            </a:r>
            <a:r>
              <a:rPr kumimoji="0" lang="en-US" altLang="zh-CN" sz="2500" dirty="0"/>
              <a:t>Ai</a:t>
            </a:r>
            <a:r>
              <a:rPr kumimoji="0" lang="zh-CN" altLang="en-US" sz="2500" dirty="0"/>
              <a:t>）  </a:t>
            </a:r>
            <a:r>
              <a:rPr kumimoji="0" lang="en-US" altLang="zh-CN" sz="2500" dirty="0"/>
              <a:t>//</a:t>
            </a:r>
            <a:r>
              <a:rPr kumimoji="0" lang="zh-CN" altLang="en-US" sz="2500" dirty="0"/>
              <a:t>将</a:t>
            </a:r>
            <a:r>
              <a:rPr kumimoji="0" lang="en-US" altLang="zh-CN" sz="2500" dirty="0"/>
              <a:t>A1</a:t>
            </a:r>
            <a:r>
              <a:rPr kumimoji="0" lang="zh-CN" altLang="en-US" sz="2500" dirty="0"/>
              <a:t>与</a:t>
            </a:r>
            <a:r>
              <a:rPr kumimoji="0" lang="en-US" altLang="zh-CN" sz="2500" dirty="0"/>
              <a:t>Ai</a:t>
            </a:r>
            <a:r>
              <a:rPr kumimoji="0" lang="zh-CN" altLang="en-US" sz="2500" dirty="0"/>
              <a:t>交换回来</a:t>
            </a:r>
            <a:endParaRPr kumimoji="0" lang="en-US" altLang="zh-CN" sz="2500" dirty="0"/>
          </a:p>
          <a:p>
            <a:pPr>
              <a:lnSpc>
                <a:spcPct val="80000"/>
              </a:lnSpc>
            </a:pPr>
            <a:endParaRPr kumimoji="0" lang="en-US" altLang="zh-CN" sz="2500" dirty="0"/>
          </a:p>
          <a:p>
            <a:pPr>
              <a:lnSpc>
                <a:spcPct val="80000"/>
              </a:lnSpc>
            </a:pPr>
            <a:r>
              <a:rPr kumimoji="0" lang="zh-CN" altLang="en-US" sz="2500" dirty="0"/>
              <a:t>进行第</a:t>
            </a:r>
            <a:r>
              <a:rPr kumimoji="0" lang="en-US" altLang="zh-CN" sz="2500" dirty="0"/>
              <a:t>i+1</a:t>
            </a:r>
            <a:r>
              <a:rPr kumimoji="0" lang="zh-CN" altLang="en-US" sz="2500" dirty="0"/>
              <a:t>步</a:t>
            </a:r>
            <a:r>
              <a:rPr kumimoji="0" lang="en-US" altLang="zh-CN" sz="2500" dirty="0"/>
              <a:t>……</a:t>
            </a:r>
            <a:endParaRPr kumimoji="0" lang="zh-CN" altLang="en-US" sz="2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参考代码</a:t>
            </a:r>
            <a:endParaRPr lang="en-US" dirty="0"/>
          </a:p>
        </p:txBody>
      </p:sp>
      <p:pic>
        <p:nvPicPr>
          <p:cNvPr id="4" name="图片 3"/>
          <p:cNvPicPr>
            <a:picLocks noChangeAspect="1"/>
          </p:cNvPicPr>
          <p:nvPr/>
        </p:nvPicPr>
        <p:blipFill>
          <a:blip r:embed="rId1"/>
          <a:stretch>
            <a:fillRect/>
          </a:stretch>
        </p:blipFill>
        <p:spPr>
          <a:xfrm>
            <a:off x="431999" y="1889732"/>
            <a:ext cx="5601977" cy="3866396"/>
          </a:xfrm>
          <a:prstGeom prst="rect">
            <a:avLst/>
          </a:prstGeom>
        </p:spPr>
      </p:pic>
      <p:sp>
        <p:nvSpPr>
          <p:cNvPr id="5" name="文本框 4"/>
          <p:cNvSpPr txBox="1"/>
          <p:nvPr/>
        </p:nvSpPr>
        <p:spPr>
          <a:xfrm>
            <a:off x="517914" y="1058735"/>
            <a:ext cx="6250271" cy="830997"/>
          </a:xfrm>
          <a:prstGeom prst="rect">
            <a:avLst/>
          </a:prstGeom>
          <a:noFill/>
        </p:spPr>
        <p:txBody>
          <a:bodyPr wrap="square" rtlCol="0">
            <a:spAutoFit/>
          </a:bodyPr>
          <a:lstStyle/>
          <a:p>
            <a:endParaRPr lang="en-US" sz="2400" dirty="0"/>
          </a:p>
          <a:p>
            <a:r>
              <a:rPr lang="en-US" sz="2400" dirty="0"/>
              <a:t>// </a:t>
            </a:r>
            <a:r>
              <a:rPr lang="zh-CN" altLang="en-US" sz="2400" dirty="0"/>
              <a:t>得到数组</a:t>
            </a:r>
            <a:r>
              <a:rPr lang="en-US" altLang="zh-CN" sz="2400" dirty="0"/>
              <a:t>A</a:t>
            </a:r>
            <a:r>
              <a:rPr lang="zh-CN" altLang="en-US" sz="2400" dirty="0"/>
              <a:t>中下标</a:t>
            </a:r>
            <a:r>
              <a:rPr lang="en-US" altLang="zh-CN" sz="2400" dirty="0"/>
              <a:t>[p, q)</a:t>
            </a:r>
            <a:r>
              <a:rPr lang="zh-CN" altLang="en-US" sz="2400" dirty="0"/>
              <a:t>之间数据的全排列</a:t>
            </a:r>
            <a:endParaRPr lang="en-US" sz="2400" dirty="0"/>
          </a:p>
        </p:txBody>
      </p:sp>
      <p:sp>
        <p:nvSpPr>
          <p:cNvPr id="6" name="矩形 5"/>
          <p:cNvSpPr/>
          <p:nvPr/>
        </p:nvSpPr>
        <p:spPr>
          <a:xfrm>
            <a:off x="3084700" y="5855218"/>
            <a:ext cx="1577676" cy="369332"/>
          </a:xfrm>
          <a:prstGeom prst="rect">
            <a:avLst/>
          </a:prstGeom>
        </p:spPr>
        <p:txBody>
          <a:bodyPr wrap="none">
            <a:spAutoFit/>
          </a:bodyPr>
          <a:lstStyle/>
          <a:p>
            <a:r>
              <a:rPr lang="en-US" dirty="0">
                <a:solidFill>
                  <a:srgbClr val="000000"/>
                </a:solidFill>
                <a:latin typeface="Consolas" panose="020B0609020204030204" pitchFamily="49" charset="0"/>
              </a:rPr>
              <a:t>perm(A,</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r>
              <a:rPr lang="en-US" altLang="zh-CN" dirty="0">
                <a:solidFill>
                  <a:srgbClr val="098658"/>
                </a:solidFill>
                <a:latin typeface="Consolas" panose="020B0609020204030204" pitchFamily="49" charset="0"/>
              </a:rPr>
              <a:t>n</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7" name="矩形 6"/>
          <p:cNvSpPr/>
          <p:nvPr/>
        </p:nvSpPr>
        <p:spPr>
          <a:xfrm>
            <a:off x="884320" y="5855218"/>
            <a:ext cx="3225950" cy="400110"/>
          </a:xfrm>
          <a:prstGeom prst="rect">
            <a:avLst/>
          </a:prstGeom>
        </p:spPr>
        <p:txBody>
          <a:bodyPr wrap="square">
            <a:spAutoFit/>
          </a:bodyPr>
          <a:lstStyle/>
          <a:p>
            <a:r>
              <a:rPr lang="zh-CN" altLang="en-US" sz="2000" dirty="0"/>
              <a:t>主函数如何调用：</a:t>
            </a:r>
            <a:endParaRPr lang="en-US" sz="2000" dirty="0"/>
          </a:p>
        </p:txBody>
      </p:sp>
      <p:sp>
        <p:nvSpPr>
          <p:cNvPr id="8" name="矩形 7"/>
          <p:cNvSpPr/>
          <p:nvPr/>
        </p:nvSpPr>
        <p:spPr>
          <a:xfrm>
            <a:off x="9817659" y="-107353"/>
            <a:ext cx="1029649" cy="7072705"/>
          </a:xfrm>
          <a:prstGeom prst="rect">
            <a:avLst/>
          </a:prstGeom>
        </p:spPr>
        <p:txBody>
          <a:bodyPr wrap="square">
            <a:spAutoFit/>
          </a:bodyPr>
          <a:lstStyle/>
          <a:p>
            <a:pPr>
              <a:lnSpc>
                <a:spcPct val="90000"/>
              </a:lnSpc>
            </a:pPr>
            <a:r>
              <a:rPr lang="en-US" sz="2100" dirty="0"/>
              <a:t>1 2 3 4 </a:t>
            </a:r>
            <a:endParaRPr lang="en-US" sz="2100" dirty="0"/>
          </a:p>
          <a:p>
            <a:pPr>
              <a:lnSpc>
                <a:spcPct val="90000"/>
              </a:lnSpc>
            </a:pPr>
            <a:r>
              <a:rPr lang="en-US" sz="2100" dirty="0"/>
              <a:t>1 2 4 3</a:t>
            </a:r>
            <a:endParaRPr lang="en-US" sz="2100" dirty="0"/>
          </a:p>
          <a:p>
            <a:pPr>
              <a:lnSpc>
                <a:spcPct val="90000"/>
              </a:lnSpc>
            </a:pPr>
            <a:r>
              <a:rPr lang="en-US" sz="2100" dirty="0"/>
              <a:t>1 3 2 4</a:t>
            </a:r>
            <a:endParaRPr lang="en-US" sz="2100" dirty="0"/>
          </a:p>
          <a:p>
            <a:pPr>
              <a:lnSpc>
                <a:spcPct val="90000"/>
              </a:lnSpc>
            </a:pPr>
            <a:r>
              <a:rPr lang="en-US" sz="2100" dirty="0"/>
              <a:t>1 3 4 2</a:t>
            </a:r>
            <a:endParaRPr lang="en-US" sz="2100" dirty="0"/>
          </a:p>
          <a:p>
            <a:pPr>
              <a:lnSpc>
                <a:spcPct val="90000"/>
              </a:lnSpc>
            </a:pPr>
            <a:r>
              <a:rPr lang="en-US" sz="2100" dirty="0"/>
              <a:t>1 4 3 2</a:t>
            </a:r>
            <a:endParaRPr lang="en-US" sz="2100" dirty="0"/>
          </a:p>
          <a:p>
            <a:pPr>
              <a:lnSpc>
                <a:spcPct val="90000"/>
              </a:lnSpc>
            </a:pPr>
            <a:r>
              <a:rPr lang="en-US" sz="2100" dirty="0"/>
              <a:t>1 4 2 3</a:t>
            </a:r>
            <a:endParaRPr lang="en-US" sz="2100" dirty="0"/>
          </a:p>
          <a:p>
            <a:pPr>
              <a:lnSpc>
                <a:spcPct val="90000"/>
              </a:lnSpc>
            </a:pPr>
            <a:r>
              <a:rPr lang="en-US" sz="2100" dirty="0"/>
              <a:t>2 1 3 4</a:t>
            </a:r>
            <a:endParaRPr lang="en-US" sz="2100" dirty="0"/>
          </a:p>
          <a:p>
            <a:pPr>
              <a:lnSpc>
                <a:spcPct val="90000"/>
              </a:lnSpc>
            </a:pPr>
            <a:r>
              <a:rPr lang="en-US" sz="2100" dirty="0"/>
              <a:t>2 1 4 3</a:t>
            </a:r>
            <a:endParaRPr lang="en-US" sz="2100" dirty="0"/>
          </a:p>
          <a:p>
            <a:pPr>
              <a:lnSpc>
                <a:spcPct val="90000"/>
              </a:lnSpc>
            </a:pPr>
            <a:r>
              <a:rPr lang="en-US" sz="2100" dirty="0"/>
              <a:t>2 3 1 4</a:t>
            </a:r>
            <a:endParaRPr lang="en-US" sz="2100" dirty="0"/>
          </a:p>
          <a:p>
            <a:pPr>
              <a:lnSpc>
                <a:spcPct val="90000"/>
              </a:lnSpc>
            </a:pPr>
            <a:r>
              <a:rPr lang="en-US" sz="2100" dirty="0"/>
              <a:t>2 3 4 1</a:t>
            </a:r>
            <a:endParaRPr lang="en-US" sz="2100" dirty="0"/>
          </a:p>
          <a:p>
            <a:pPr>
              <a:lnSpc>
                <a:spcPct val="90000"/>
              </a:lnSpc>
            </a:pPr>
            <a:r>
              <a:rPr lang="en-US" sz="2100" dirty="0"/>
              <a:t>2 4 3 1</a:t>
            </a:r>
            <a:endParaRPr lang="en-US" sz="2100" dirty="0"/>
          </a:p>
          <a:p>
            <a:pPr>
              <a:lnSpc>
                <a:spcPct val="90000"/>
              </a:lnSpc>
            </a:pPr>
            <a:r>
              <a:rPr lang="en-US" sz="2100" dirty="0"/>
              <a:t>2 4 1 3</a:t>
            </a:r>
            <a:endParaRPr lang="en-US" sz="2100" dirty="0"/>
          </a:p>
          <a:p>
            <a:pPr>
              <a:lnSpc>
                <a:spcPct val="90000"/>
              </a:lnSpc>
            </a:pPr>
            <a:r>
              <a:rPr lang="en-US" sz="2100" dirty="0"/>
              <a:t>3 2 1 4</a:t>
            </a:r>
            <a:endParaRPr lang="en-US" sz="2100" dirty="0"/>
          </a:p>
          <a:p>
            <a:pPr>
              <a:lnSpc>
                <a:spcPct val="90000"/>
              </a:lnSpc>
            </a:pPr>
            <a:r>
              <a:rPr lang="en-US" sz="2100" dirty="0"/>
              <a:t>3 2 4 1</a:t>
            </a:r>
            <a:endParaRPr lang="en-US" sz="2100" dirty="0"/>
          </a:p>
          <a:p>
            <a:pPr>
              <a:lnSpc>
                <a:spcPct val="90000"/>
              </a:lnSpc>
            </a:pPr>
            <a:r>
              <a:rPr lang="en-US" sz="2100" dirty="0"/>
              <a:t>3 1 2 4</a:t>
            </a:r>
            <a:endParaRPr lang="en-US" sz="2100" dirty="0"/>
          </a:p>
          <a:p>
            <a:pPr>
              <a:lnSpc>
                <a:spcPct val="90000"/>
              </a:lnSpc>
            </a:pPr>
            <a:r>
              <a:rPr lang="en-US" sz="2100" dirty="0"/>
              <a:t>3 1 4 2</a:t>
            </a:r>
            <a:endParaRPr lang="en-US" sz="2100" dirty="0"/>
          </a:p>
          <a:p>
            <a:pPr>
              <a:lnSpc>
                <a:spcPct val="90000"/>
              </a:lnSpc>
            </a:pPr>
            <a:r>
              <a:rPr lang="en-US" sz="2100" dirty="0"/>
              <a:t>3 4 1 2</a:t>
            </a:r>
            <a:endParaRPr lang="en-US" sz="2100" dirty="0"/>
          </a:p>
          <a:p>
            <a:pPr>
              <a:lnSpc>
                <a:spcPct val="90000"/>
              </a:lnSpc>
            </a:pPr>
            <a:r>
              <a:rPr lang="en-US" sz="2100" dirty="0"/>
              <a:t>3 4 2 1</a:t>
            </a:r>
            <a:endParaRPr lang="en-US" sz="2100" dirty="0"/>
          </a:p>
          <a:p>
            <a:pPr>
              <a:lnSpc>
                <a:spcPct val="90000"/>
              </a:lnSpc>
            </a:pPr>
            <a:r>
              <a:rPr lang="en-US" sz="2100" dirty="0"/>
              <a:t>4 2 3 1</a:t>
            </a:r>
            <a:endParaRPr lang="en-US" sz="2100" dirty="0"/>
          </a:p>
          <a:p>
            <a:pPr>
              <a:lnSpc>
                <a:spcPct val="90000"/>
              </a:lnSpc>
            </a:pPr>
            <a:r>
              <a:rPr lang="en-US" sz="2100" dirty="0"/>
              <a:t>4 2 1 3</a:t>
            </a:r>
            <a:endParaRPr lang="en-US" sz="2100" dirty="0"/>
          </a:p>
          <a:p>
            <a:pPr>
              <a:lnSpc>
                <a:spcPct val="90000"/>
              </a:lnSpc>
            </a:pPr>
            <a:r>
              <a:rPr lang="en-US" sz="2100" dirty="0"/>
              <a:t>4 3 2 1</a:t>
            </a:r>
            <a:endParaRPr lang="en-US" sz="2100" dirty="0"/>
          </a:p>
          <a:p>
            <a:pPr>
              <a:lnSpc>
                <a:spcPct val="90000"/>
              </a:lnSpc>
            </a:pPr>
            <a:r>
              <a:rPr lang="en-US" sz="2100" dirty="0"/>
              <a:t>4 3 1 2</a:t>
            </a:r>
            <a:endParaRPr lang="en-US" sz="2100" dirty="0"/>
          </a:p>
          <a:p>
            <a:pPr>
              <a:lnSpc>
                <a:spcPct val="90000"/>
              </a:lnSpc>
            </a:pPr>
            <a:r>
              <a:rPr lang="en-US" sz="2100" dirty="0"/>
              <a:t>4 1 3 2</a:t>
            </a:r>
            <a:endParaRPr lang="en-US" sz="2100" dirty="0"/>
          </a:p>
          <a:p>
            <a:pPr>
              <a:lnSpc>
                <a:spcPct val="90000"/>
              </a:lnSpc>
            </a:pPr>
            <a:r>
              <a:rPr lang="en-US" sz="2100" dirty="0"/>
              <a:t>4 1 2 3</a:t>
            </a:r>
            <a:endParaRPr lang="en-US" sz="2100" dirty="0"/>
          </a:p>
        </p:txBody>
      </p:sp>
      <p:sp>
        <p:nvSpPr>
          <p:cNvPr id="9" name="矩形 8"/>
          <p:cNvSpPr/>
          <p:nvPr/>
        </p:nvSpPr>
        <p:spPr>
          <a:xfrm>
            <a:off x="4844479" y="2687170"/>
            <a:ext cx="2131953" cy="461665"/>
          </a:xfrm>
          <a:prstGeom prst="rect">
            <a:avLst/>
          </a:prstGeom>
        </p:spPr>
        <p:txBody>
          <a:bodyPr wrap="square">
            <a:spAutoFit/>
          </a:bodyPr>
          <a:lstStyle/>
          <a:p>
            <a:r>
              <a:rPr lang="zh-CN" altLang="en-US" sz="2400" dirty="0"/>
              <a:t>运行结果：</a:t>
            </a:r>
            <a:endParaRPr lang="en-US" sz="2400" dirty="0"/>
          </a:p>
        </p:txBody>
      </p:sp>
      <p:sp>
        <p:nvSpPr>
          <p:cNvPr id="11" name="文本框 10"/>
          <p:cNvSpPr txBox="1"/>
          <p:nvPr/>
        </p:nvSpPr>
        <p:spPr>
          <a:xfrm>
            <a:off x="5275105" y="3280210"/>
            <a:ext cx="1404257" cy="3046988"/>
          </a:xfrm>
          <a:prstGeom prst="rect">
            <a:avLst/>
          </a:prstGeom>
          <a:noFill/>
        </p:spPr>
        <p:txBody>
          <a:bodyPr wrap="square">
            <a:spAutoFit/>
          </a:bodyPr>
          <a:lstStyle/>
          <a:p>
            <a:r>
              <a:rPr lang="en-US" altLang="zh-CN" sz="3200" dirty="0"/>
              <a:t>1 2 3</a:t>
            </a:r>
            <a:endParaRPr lang="en-US" altLang="zh-CN" sz="3200" dirty="0"/>
          </a:p>
          <a:p>
            <a:r>
              <a:rPr lang="en-US" altLang="zh-CN" sz="3200" dirty="0"/>
              <a:t>1 3 2 </a:t>
            </a:r>
            <a:endParaRPr lang="en-US" altLang="zh-CN" sz="3200" dirty="0"/>
          </a:p>
          <a:p>
            <a:r>
              <a:rPr lang="en-US" altLang="zh-CN" sz="3200" dirty="0"/>
              <a:t>2 1 3</a:t>
            </a:r>
            <a:endParaRPr lang="en-US" altLang="zh-CN" sz="3200" dirty="0"/>
          </a:p>
          <a:p>
            <a:r>
              <a:rPr lang="en-US" altLang="zh-CN" sz="3200" dirty="0"/>
              <a:t>2 3 1</a:t>
            </a:r>
            <a:endParaRPr lang="en-US" altLang="zh-CN" sz="3200" dirty="0"/>
          </a:p>
          <a:p>
            <a:r>
              <a:rPr lang="en-US" altLang="zh-CN" sz="3200" dirty="0"/>
              <a:t>3 2 1 </a:t>
            </a:r>
            <a:endParaRPr lang="en-US" altLang="zh-CN" sz="3200" dirty="0"/>
          </a:p>
          <a:p>
            <a:r>
              <a:rPr lang="en-US" altLang="zh-CN" sz="3200" dirty="0"/>
              <a:t>3 1 2</a:t>
            </a:r>
            <a:endParaRPr lang="zh-CN" altLang="en-US" sz="3200" dirty="0"/>
          </a:p>
        </p:txBody>
      </p:sp>
      <p:sp>
        <p:nvSpPr>
          <p:cNvPr id="12" name="文本框 11"/>
          <p:cNvSpPr txBox="1"/>
          <p:nvPr/>
        </p:nvSpPr>
        <p:spPr>
          <a:xfrm>
            <a:off x="6740711" y="0"/>
            <a:ext cx="2206971" cy="3046988"/>
          </a:xfrm>
          <a:prstGeom prst="rect">
            <a:avLst/>
          </a:prstGeom>
          <a:noFill/>
        </p:spPr>
        <p:txBody>
          <a:bodyPr wrap="square" rtlCol="0">
            <a:spAutoFit/>
          </a:bodyPr>
          <a:lstStyle/>
          <a:p>
            <a:r>
              <a:rPr lang="zh-CN" altLang="en-US" sz="2400" dirty="0"/>
              <a:t>思考：</a:t>
            </a:r>
            <a:endParaRPr lang="en-US" altLang="zh-CN" sz="2400" dirty="0"/>
          </a:p>
          <a:p>
            <a:pPr marL="514350" indent="-514350">
              <a:buAutoNum type="arabicPeriod"/>
            </a:pPr>
            <a:r>
              <a:rPr lang="zh-CN" altLang="en-US" sz="2400" dirty="0"/>
              <a:t>输出的排列是否为字典序？</a:t>
            </a:r>
            <a:endParaRPr lang="en-US" altLang="zh-CN" sz="2400" dirty="0"/>
          </a:p>
          <a:p>
            <a:pPr marL="514350" indent="-514350">
              <a:buAutoNum type="arabicPeriod"/>
            </a:pPr>
            <a:r>
              <a:rPr lang="zh-CN" altLang="en-US" sz="2400" dirty="0"/>
              <a:t>为什么是</a:t>
            </a:r>
            <a:r>
              <a:rPr lang="en-US" altLang="zh-CN" sz="2400" dirty="0"/>
              <a:t>/</a:t>
            </a:r>
            <a:r>
              <a:rPr lang="zh-CN" altLang="en-US" sz="2400" dirty="0"/>
              <a:t>不是字典序？</a:t>
            </a:r>
            <a:endParaRPr lang="en-US" altLang="zh-CN" sz="2400" dirty="0"/>
          </a:p>
          <a:p>
            <a:pPr marL="514350" indent="-514350">
              <a:buAutoNum type="arabicPeriod"/>
            </a:pPr>
            <a:r>
              <a:rPr lang="zh-CN" altLang="en-US" sz="2400" dirty="0"/>
              <a:t>如何解决？</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例题：</a:t>
            </a:r>
            <a:r>
              <a:rPr lang="en-US" altLang="zh-CN" dirty="0"/>
              <a:t>YOJ-143. </a:t>
            </a:r>
            <a:r>
              <a:rPr lang="zh-CN" altLang="en-US" dirty="0"/>
              <a:t>数列合并</a:t>
            </a:r>
            <a:endParaRPr lang="zh-CN" altLang="en-US" dirty="0"/>
          </a:p>
        </p:txBody>
      </p:sp>
      <p:sp>
        <p:nvSpPr>
          <p:cNvPr id="3" name="内容占位符 2"/>
          <p:cNvSpPr>
            <a:spLocks noGrp="1"/>
          </p:cNvSpPr>
          <p:nvPr>
            <p:ph idx="1"/>
          </p:nvPr>
        </p:nvSpPr>
        <p:spPr>
          <a:xfrm>
            <a:off x="432000" y="1447062"/>
            <a:ext cx="8280000" cy="5410938"/>
          </a:xfrm>
        </p:spPr>
        <p:txBody>
          <a:bodyPr>
            <a:normAutofit fontScale="77500" lnSpcReduction="20000"/>
          </a:bodyPr>
          <a:lstStyle/>
          <a:p>
            <a:r>
              <a:rPr lang="zh-CN" altLang="en-US" dirty="0"/>
              <a:t>给定一个</a:t>
            </a:r>
            <a:r>
              <a:rPr lang="en-US" altLang="zh-CN" dirty="0"/>
              <a:t>1</a:t>
            </a:r>
            <a:r>
              <a:rPr lang="zh-CN" altLang="en-US" dirty="0"/>
              <a:t>～</a:t>
            </a:r>
            <a:r>
              <a:rPr lang="en-US" altLang="zh-CN" dirty="0"/>
              <a:t>N</a:t>
            </a:r>
            <a:r>
              <a:rPr lang="zh-CN" altLang="en-US" dirty="0"/>
              <a:t>的排列，每次将相邻两个数相加，得到新序列，再对新序列重复这样的操作，显然每次得到的序列都比上一次的序列长度少</a:t>
            </a:r>
            <a:r>
              <a:rPr lang="en-US" altLang="zh-CN" dirty="0"/>
              <a:t>1</a:t>
            </a:r>
            <a:r>
              <a:rPr lang="zh-CN" altLang="en-US" dirty="0"/>
              <a:t>，最终只剩一个数字。</a:t>
            </a:r>
            <a:endParaRPr lang="zh-CN" altLang="en-US" dirty="0"/>
          </a:p>
          <a:p>
            <a:r>
              <a:rPr lang="zh-CN" altLang="en-US" dirty="0"/>
              <a:t>　　例如：</a:t>
            </a:r>
            <a:endParaRPr lang="zh-CN" altLang="en-US" dirty="0"/>
          </a:p>
          <a:p>
            <a:pPr marL="0" indent="0">
              <a:buNone/>
            </a:pPr>
            <a:r>
              <a:rPr lang="zh-CN" altLang="en-US" dirty="0"/>
              <a:t>　　</a:t>
            </a:r>
            <a:r>
              <a:rPr lang="en-US" altLang="zh-CN" dirty="0"/>
              <a:t>3 1 2 4</a:t>
            </a:r>
            <a:endParaRPr lang="en-US" altLang="zh-CN" dirty="0"/>
          </a:p>
          <a:p>
            <a:pPr marL="0" indent="0">
              <a:buNone/>
            </a:pPr>
            <a:r>
              <a:rPr lang="zh-CN" altLang="en-US" dirty="0"/>
              <a:t>　　</a:t>
            </a:r>
            <a:r>
              <a:rPr lang="en-US" altLang="zh-CN" dirty="0"/>
              <a:t>4 3 6</a:t>
            </a:r>
            <a:endParaRPr lang="en-US" altLang="zh-CN" dirty="0"/>
          </a:p>
          <a:p>
            <a:pPr marL="0" indent="0">
              <a:buNone/>
            </a:pPr>
            <a:r>
              <a:rPr lang="zh-CN" altLang="en-US" dirty="0"/>
              <a:t>　　</a:t>
            </a:r>
            <a:r>
              <a:rPr lang="en-US" altLang="zh-CN" dirty="0"/>
              <a:t>7 9</a:t>
            </a:r>
            <a:endParaRPr lang="en-US" altLang="zh-CN" dirty="0"/>
          </a:p>
          <a:p>
            <a:pPr marL="0" indent="0">
              <a:buNone/>
            </a:pPr>
            <a:r>
              <a:rPr lang="zh-CN" altLang="en-US" dirty="0"/>
              <a:t>　　</a:t>
            </a:r>
            <a:r>
              <a:rPr lang="en-US" altLang="zh-CN" dirty="0"/>
              <a:t>16</a:t>
            </a:r>
            <a:endParaRPr lang="en-US" altLang="zh-CN" dirty="0"/>
          </a:p>
          <a:p>
            <a:r>
              <a:rPr lang="zh-CN" altLang="en-US" dirty="0"/>
              <a:t>现在如果知道</a:t>
            </a:r>
            <a:r>
              <a:rPr lang="en-US" altLang="zh-CN" dirty="0"/>
              <a:t>N</a:t>
            </a:r>
            <a:r>
              <a:rPr lang="zh-CN" altLang="en-US" dirty="0"/>
              <a:t>和最后得到的数字</a:t>
            </a:r>
            <a:r>
              <a:rPr lang="en-US" altLang="zh-CN" dirty="0"/>
              <a:t>sum</a:t>
            </a:r>
            <a:r>
              <a:rPr lang="zh-CN" altLang="en-US" dirty="0"/>
              <a:t>，请求出最初的序列。 若有多种答案，则输出字典序最小的那一个。数据保证有解。</a:t>
            </a:r>
            <a:endParaRPr lang="en-US" altLang="zh-CN" dirty="0"/>
          </a:p>
          <a:p>
            <a:r>
              <a:rPr lang="zh-CN" altLang="en-US" dirty="0"/>
              <a:t>输入格式： 第</a:t>
            </a:r>
            <a:r>
              <a:rPr lang="en-US" altLang="zh-CN" dirty="0"/>
              <a:t>1</a:t>
            </a:r>
            <a:r>
              <a:rPr lang="zh-CN" altLang="en-US" dirty="0"/>
              <a:t>行为两个正整数，分别表示</a:t>
            </a:r>
            <a:r>
              <a:rPr lang="en-US" altLang="zh-CN" dirty="0"/>
              <a:t>N</a:t>
            </a:r>
            <a:r>
              <a:rPr lang="zh-CN" altLang="en-US" dirty="0"/>
              <a:t>（</a:t>
            </a:r>
            <a:r>
              <a:rPr lang="en-US" altLang="zh-CN" dirty="0"/>
              <a:t>0 &lt; N ≤ 10</a:t>
            </a:r>
            <a:r>
              <a:rPr lang="zh-CN" altLang="en-US" dirty="0"/>
              <a:t>）和</a:t>
            </a:r>
            <a:r>
              <a:rPr lang="en-US" altLang="zh-CN" dirty="0"/>
              <a:t>sum</a:t>
            </a:r>
            <a:r>
              <a:rPr lang="zh-CN" altLang="en-US" dirty="0"/>
              <a:t>。</a:t>
            </a:r>
            <a:endParaRPr lang="zh-CN" altLang="en-US" dirty="0"/>
          </a:p>
          <a:p>
            <a:r>
              <a:rPr lang="zh-CN" altLang="en-US" dirty="0"/>
              <a:t>输出格式：一行，即所求的符合条件的</a:t>
            </a:r>
            <a:r>
              <a:rPr lang="en-US" altLang="zh-CN" dirty="0"/>
              <a:t>1</a:t>
            </a:r>
            <a:r>
              <a:rPr lang="zh-CN" altLang="en-US" dirty="0"/>
              <a:t>～</a:t>
            </a:r>
            <a:r>
              <a:rPr lang="en-US" altLang="zh-CN" dirty="0"/>
              <a:t>N</a:t>
            </a:r>
            <a:r>
              <a:rPr lang="zh-CN" altLang="en-US" dirty="0"/>
              <a:t>的一个排列，每</a:t>
            </a:r>
            <a:r>
              <a:rPr lang="en-US" altLang="zh-CN" dirty="0"/>
              <a:t>2</a:t>
            </a:r>
            <a:r>
              <a:rPr lang="zh-CN" altLang="en-US" dirty="0"/>
              <a:t>个整数之间用一个空格隔开。</a:t>
            </a:r>
            <a:endParaRPr lang="zh-CN" altLang="en-US" dirty="0"/>
          </a:p>
          <a:p>
            <a:endParaRPr lang="zh-CN" altLang="en-US" dirty="0"/>
          </a:p>
          <a:p>
            <a:endParaRPr lang="zh-CN" altLang="en-US" dirty="0"/>
          </a:p>
          <a:p>
            <a:endParaRPr lang="zh-CN" altLang="en-US" dirty="0"/>
          </a:p>
        </p:txBody>
      </p:sp>
      <p:pic>
        <p:nvPicPr>
          <p:cNvPr id="327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398035" y="2153559"/>
            <a:ext cx="9234377" cy="48326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文本框 5"/>
          <p:cNvSpPr txBox="1"/>
          <p:nvPr/>
        </p:nvSpPr>
        <p:spPr>
          <a:xfrm>
            <a:off x="11760654" y="711076"/>
            <a:ext cx="9816192" cy="5909310"/>
          </a:xfrm>
          <a:prstGeom prst="rect">
            <a:avLst/>
          </a:prstGeom>
          <a:noFill/>
        </p:spPr>
        <p:txBody>
          <a:bodyPr wrap="square">
            <a:spAutoFit/>
          </a:bodyPr>
          <a:lstStyle/>
          <a:p>
            <a:r>
              <a:rPr lang="zh-CN" altLang="en-US" dirty="0"/>
              <a:t>输入格式</a:t>
            </a:r>
            <a:endParaRPr lang="zh-CN" altLang="en-US" dirty="0"/>
          </a:p>
          <a:p>
            <a:endParaRPr lang="zh-CN" altLang="en-US" dirty="0"/>
          </a:p>
          <a:p>
            <a:r>
              <a:rPr lang="zh-CN" altLang="en-US" dirty="0"/>
              <a:t>　　第</a:t>
            </a:r>
            <a:r>
              <a:rPr lang="en-US" altLang="zh-CN" dirty="0"/>
              <a:t>1</a:t>
            </a:r>
            <a:r>
              <a:rPr lang="zh-CN" altLang="en-US" dirty="0"/>
              <a:t>行为两个正整数，分别表示</a:t>
            </a:r>
            <a:r>
              <a:rPr lang="en-US" altLang="zh-CN" dirty="0"/>
              <a:t>N</a:t>
            </a:r>
            <a:r>
              <a:rPr lang="zh-CN" altLang="en-US" dirty="0"/>
              <a:t>（</a:t>
            </a:r>
            <a:r>
              <a:rPr lang="en-US" altLang="zh-CN" dirty="0"/>
              <a:t>0 &lt; N ≤ 10</a:t>
            </a:r>
            <a:r>
              <a:rPr lang="zh-CN" altLang="en-US" dirty="0"/>
              <a:t>）和</a:t>
            </a:r>
            <a:r>
              <a:rPr lang="en-US" altLang="zh-CN" dirty="0"/>
              <a:t>sum</a:t>
            </a:r>
            <a:r>
              <a:rPr lang="zh-CN" altLang="en-US" dirty="0"/>
              <a:t>。</a:t>
            </a:r>
            <a:endParaRPr lang="zh-CN" altLang="en-US" dirty="0"/>
          </a:p>
          <a:p>
            <a:endParaRPr lang="zh-CN" altLang="en-US" dirty="0"/>
          </a:p>
          <a:p>
            <a:r>
              <a:rPr lang="zh-CN" altLang="en-US" dirty="0"/>
              <a:t>输出格式</a:t>
            </a:r>
            <a:endParaRPr lang="zh-CN" altLang="en-US" dirty="0"/>
          </a:p>
          <a:p>
            <a:endParaRPr lang="zh-CN" altLang="en-US" dirty="0"/>
          </a:p>
          <a:p>
            <a:r>
              <a:rPr lang="zh-CN" altLang="en-US" dirty="0"/>
              <a:t>　　一行，即所求的符合条件的</a:t>
            </a:r>
            <a:r>
              <a:rPr lang="en-US" altLang="zh-CN" dirty="0"/>
              <a:t>1</a:t>
            </a:r>
            <a:r>
              <a:rPr lang="zh-CN" altLang="en-US" dirty="0"/>
              <a:t>～</a:t>
            </a:r>
            <a:r>
              <a:rPr lang="en-US" altLang="zh-CN" dirty="0"/>
              <a:t>N</a:t>
            </a:r>
            <a:r>
              <a:rPr lang="zh-CN" altLang="en-US" dirty="0"/>
              <a:t>的一个排列，每</a:t>
            </a:r>
            <a:r>
              <a:rPr lang="en-US" altLang="zh-CN" dirty="0"/>
              <a:t>2</a:t>
            </a:r>
            <a:r>
              <a:rPr lang="zh-CN" altLang="en-US" dirty="0"/>
              <a:t>个整数之间用一个空格隔开。</a:t>
            </a:r>
            <a:endParaRPr lang="zh-CN" altLang="en-US" dirty="0"/>
          </a:p>
          <a:p>
            <a:endParaRPr lang="zh-CN" altLang="en-US" dirty="0"/>
          </a:p>
          <a:p>
            <a:r>
              <a:rPr lang="zh-CN" altLang="en-US" dirty="0"/>
              <a:t>输入样例</a:t>
            </a:r>
            <a:endParaRPr lang="zh-CN" altLang="en-US" dirty="0"/>
          </a:p>
          <a:p>
            <a:endParaRPr lang="zh-CN" altLang="en-US" dirty="0"/>
          </a:p>
          <a:p>
            <a:r>
              <a:rPr lang="en-US" altLang="zh-CN" dirty="0"/>
              <a:t>4 16</a:t>
            </a:r>
            <a:endParaRPr lang="en-US" altLang="zh-CN" dirty="0"/>
          </a:p>
          <a:p>
            <a:endParaRPr lang="en-US" altLang="zh-CN" dirty="0"/>
          </a:p>
          <a:p>
            <a:r>
              <a:rPr lang="zh-CN" altLang="en-US" dirty="0"/>
              <a:t>输出样例</a:t>
            </a:r>
            <a:endParaRPr lang="zh-CN" altLang="en-US" dirty="0"/>
          </a:p>
          <a:p>
            <a:endParaRPr lang="zh-CN" altLang="en-US" dirty="0"/>
          </a:p>
          <a:p>
            <a:r>
              <a:rPr lang="en-US" altLang="zh-CN" dirty="0"/>
              <a:t>3 1 2 4</a:t>
            </a:r>
            <a:endParaRPr lang="en-US" altLang="zh-CN" dirty="0"/>
          </a:p>
          <a:p>
            <a:endParaRPr lang="en-US" altLang="zh-CN" dirty="0"/>
          </a:p>
          <a:p>
            <a:r>
              <a:rPr lang="zh-CN" altLang="en-US" dirty="0"/>
              <a:t>特殊提示</a:t>
            </a:r>
            <a:endParaRPr lang="zh-CN" altLang="en-US" dirty="0"/>
          </a:p>
          <a:p>
            <a:endParaRPr lang="zh-CN" altLang="en-US" dirty="0"/>
          </a:p>
          <a:p>
            <a:r>
              <a:rPr lang="zh-CN" altLang="en-US" dirty="0"/>
              <a:t>　　</a:t>
            </a:r>
            <a:r>
              <a:rPr lang="en-US" altLang="zh-CN" dirty="0"/>
              <a:t>【</a:t>
            </a:r>
            <a:r>
              <a:rPr lang="zh-CN" altLang="en-US" dirty="0"/>
              <a:t>说明</a:t>
            </a:r>
            <a:r>
              <a:rPr lang="en-US" altLang="zh-CN" dirty="0"/>
              <a:t>】</a:t>
            </a:r>
            <a:endParaRPr lang="en-US" altLang="zh-CN" dirty="0"/>
          </a:p>
          <a:p>
            <a:r>
              <a:rPr lang="zh-CN" altLang="en-US" dirty="0"/>
              <a:t>　　</a:t>
            </a:r>
            <a:r>
              <a:rPr lang="en-US" altLang="zh-CN" dirty="0"/>
              <a:t>0 &lt; n &lt;=10</a:t>
            </a:r>
            <a:endParaRPr lang="en-US" altLang="zh-CN" dirty="0"/>
          </a:p>
          <a:p>
            <a:endParaRPr lang="en-US" altLang="zh-CN" dirty="0"/>
          </a:p>
        </p:txBody>
      </p:sp>
      <p:sp>
        <p:nvSpPr>
          <p:cNvPr id="7" name="文本框 6"/>
          <p:cNvSpPr txBox="1"/>
          <p:nvPr/>
        </p:nvSpPr>
        <p:spPr>
          <a:xfrm>
            <a:off x="5823859" y="2213539"/>
            <a:ext cx="1453242" cy="1938992"/>
          </a:xfrm>
          <a:prstGeom prst="rect">
            <a:avLst/>
          </a:prstGeom>
          <a:noFill/>
          <a:ln>
            <a:solidFill>
              <a:schemeClr val="tx1"/>
            </a:solidFill>
          </a:ln>
        </p:spPr>
        <p:txBody>
          <a:bodyPr wrap="square">
            <a:spAutoFit/>
          </a:bodyPr>
          <a:lstStyle/>
          <a:p>
            <a:r>
              <a:rPr lang="zh-CN" altLang="en-US" sz="2400" dirty="0"/>
              <a:t>输入样例</a:t>
            </a:r>
            <a:endParaRPr lang="zh-CN" altLang="en-US" sz="2400" dirty="0"/>
          </a:p>
          <a:p>
            <a:r>
              <a:rPr lang="en-US" altLang="zh-CN" sz="2400" dirty="0"/>
              <a:t>4 16</a:t>
            </a:r>
            <a:endParaRPr lang="en-US" altLang="zh-CN" sz="2400" dirty="0"/>
          </a:p>
          <a:p>
            <a:endParaRPr lang="en-US" altLang="zh-CN" sz="2400" dirty="0"/>
          </a:p>
          <a:p>
            <a:r>
              <a:rPr lang="zh-CN" altLang="en-US" sz="2400" dirty="0"/>
              <a:t>输出样例</a:t>
            </a:r>
            <a:endParaRPr lang="zh-CN" altLang="en-US" sz="2400" dirty="0"/>
          </a:p>
          <a:p>
            <a:r>
              <a:rPr lang="en-US" altLang="zh-CN" sz="2400" dirty="0"/>
              <a:t>3 1 2 4</a:t>
            </a:r>
            <a:endParaRPr lang="en-US" altLang="zh-CN" sz="2400" dirty="0"/>
          </a:p>
        </p:txBody>
      </p:sp>
      <p:sp>
        <p:nvSpPr>
          <p:cNvPr id="8" name="文本框 7"/>
          <p:cNvSpPr txBox="1"/>
          <p:nvPr/>
        </p:nvSpPr>
        <p:spPr>
          <a:xfrm>
            <a:off x="9659711" y="1984705"/>
            <a:ext cx="9816192" cy="3970318"/>
          </a:xfrm>
          <a:prstGeom prst="rect">
            <a:avLst/>
          </a:prstGeom>
          <a:noFill/>
        </p:spPr>
        <p:txBody>
          <a:bodyPr wrap="square">
            <a:spAutoFit/>
          </a:bodyPr>
          <a:lstStyle/>
          <a:p>
            <a:endParaRPr lang="zh-CN" altLang="en-US" dirty="0"/>
          </a:p>
          <a:p>
            <a:r>
              <a:rPr lang="zh-CN" altLang="en-US" dirty="0"/>
              <a:t>输入样例</a:t>
            </a:r>
            <a:endParaRPr lang="zh-CN" altLang="en-US" dirty="0"/>
          </a:p>
          <a:p>
            <a:endParaRPr lang="zh-CN" altLang="en-US" dirty="0"/>
          </a:p>
          <a:p>
            <a:r>
              <a:rPr lang="en-US" altLang="zh-CN" dirty="0"/>
              <a:t>4 16</a:t>
            </a:r>
            <a:endParaRPr lang="en-US" altLang="zh-CN" dirty="0"/>
          </a:p>
          <a:p>
            <a:endParaRPr lang="en-US" altLang="zh-CN" dirty="0"/>
          </a:p>
          <a:p>
            <a:r>
              <a:rPr lang="zh-CN" altLang="en-US" dirty="0"/>
              <a:t>输出样例</a:t>
            </a:r>
            <a:endParaRPr lang="zh-CN" altLang="en-US" dirty="0"/>
          </a:p>
          <a:p>
            <a:endParaRPr lang="zh-CN" altLang="en-US" dirty="0"/>
          </a:p>
          <a:p>
            <a:r>
              <a:rPr lang="en-US" altLang="zh-CN" dirty="0"/>
              <a:t>3 1 2 4</a:t>
            </a:r>
            <a:endParaRPr lang="en-US" altLang="zh-CN" dirty="0"/>
          </a:p>
          <a:p>
            <a:endParaRPr lang="en-US" altLang="zh-CN" dirty="0"/>
          </a:p>
          <a:p>
            <a:r>
              <a:rPr lang="zh-CN" altLang="en-US" dirty="0"/>
              <a:t>特殊提示</a:t>
            </a:r>
            <a:endParaRPr lang="zh-CN" altLang="en-US" dirty="0"/>
          </a:p>
          <a:p>
            <a:endParaRPr lang="zh-CN" altLang="en-US" dirty="0"/>
          </a:p>
          <a:p>
            <a:r>
              <a:rPr lang="zh-CN" altLang="en-US" dirty="0"/>
              <a:t>　　</a:t>
            </a:r>
            <a:r>
              <a:rPr lang="en-US" altLang="zh-CN" dirty="0"/>
              <a:t>【</a:t>
            </a:r>
            <a:r>
              <a:rPr lang="zh-CN" altLang="en-US" dirty="0"/>
              <a:t>说明</a:t>
            </a:r>
            <a:r>
              <a:rPr lang="en-US" altLang="zh-CN" dirty="0"/>
              <a:t>】</a:t>
            </a:r>
            <a:endParaRPr lang="en-US" altLang="zh-CN" dirty="0"/>
          </a:p>
          <a:p>
            <a:r>
              <a:rPr lang="zh-CN" altLang="en-US" dirty="0"/>
              <a:t>　　</a:t>
            </a:r>
            <a:r>
              <a:rPr lang="en-US" altLang="zh-CN" dirty="0"/>
              <a:t>0 &lt; n &lt;=10</a:t>
            </a:r>
            <a:endParaRPr lang="en-US" altLang="zh-CN" dirty="0"/>
          </a:p>
          <a:p>
            <a:endParaRPr lang="en-US" altLang="zh-C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思路</a:t>
            </a:r>
            <a:endParaRPr lang="zh-CN" altLang="en-US" dirty="0"/>
          </a:p>
        </p:txBody>
      </p:sp>
      <p:sp>
        <p:nvSpPr>
          <p:cNvPr id="3" name="内容占位符 2"/>
          <p:cNvSpPr>
            <a:spLocks noGrp="1"/>
          </p:cNvSpPr>
          <p:nvPr>
            <p:ph idx="1"/>
          </p:nvPr>
        </p:nvSpPr>
        <p:spPr/>
        <p:txBody>
          <a:bodyPr/>
          <a:lstStyle/>
          <a:p>
            <a:r>
              <a:rPr lang="zh-CN" altLang="en-US" dirty="0"/>
              <a:t>求</a:t>
            </a:r>
            <a:r>
              <a:rPr lang="en-US" altLang="zh-CN" dirty="0"/>
              <a:t>n</a:t>
            </a:r>
            <a:r>
              <a:rPr lang="zh-CN" altLang="en-US" dirty="0"/>
              <a:t>个数的全排列</a:t>
            </a:r>
            <a:endParaRPr lang="en-US" altLang="zh-CN" dirty="0"/>
          </a:p>
          <a:p>
            <a:r>
              <a:rPr lang="zh-CN" altLang="en-US" dirty="0"/>
              <a:t>当每个排列生成完成之后，调用函数对该排列进行合并求和</a:t>
            </a:r>
            <a:endParaRPr lang="en-US" altLang="zh-CN" dirty="0"/>
          </a:p>
          <a:p>
            <a:r>
              <a:rPr lang="zh-CN" altLang="en-US" dirty="0"/>
              <a:t>需要注意合并求过程和会破坏数组</a:t>
            </a:r>
            <a:endParaRPr lang="en-US" altLang="zh-CN" dirty="0"/>
          </a:p>
          <a:p>
            <a:r>
              <a:rPr lang="zh-CN" altLang="en-US" dirty="0"/>
              <a:t>为了后续的“回溯</a:t>
            </a:r>
            <a:r>
              <a:rPr lang="en-US" altLang="zh-CN" dirty="0"/>
              <a:t>”</a:t>
            </a:r>
            <a:r>
              <a:rPr lang="zh-CN" altLang="en-US" dirty="0"/>
              <a:t>能够顺利进行，在进行合并求和前需要复制原数组，对复制出来的数组进行操作</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参考代码</a:t>
            </a:r>
            <a:endParaRPr lang="zh-CN" altLang="en-US" dirty="0"/>
          </a:p>
        </p:txBody>
      </p:sp>
      <p:pic>
        <p:nvPicPr>
          <p:cNvPr id="337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8763" y="996950"/>
            <a:ext cx="6224587" cy="5472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79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07768" y="996950"/>
            <a:ext cx="3958644" cy="2330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7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3760788"/>
            <a:ext cx="2362200" cy="1343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6629400" y="3454400"/>
            <a:ext cx="978153" cy="369332"/>
          </a:xfrm>
          <a:prstGeom prst="rect">
            <a:avLst/>
          </a:prstGeom>
          <a:noFill/>
        </p:spPr>
        <p:txBody>
          <a:bodyPr wrap="none" rtlCol="0">
            <a:spAutoFit/>
          </a:bodyPr>
          <a:lstStyle/>
          <a:p>
            <a:r>
              <a:rPr lang="en-US" altLang="zh-CN" dirty="0"/>
              <a:t>Output:</a:t>
            </a:r>
            <a:endParaRPr lang="zh-CN" altLang="en-US" dirty="0"/>
          </a:p>
        </p:txBody>
      </p:sp>
      <p:sp>
        <p:nvSpPr>
          <p:cNvPr id="6" name="TextBox 5"/>
          <p:cNvSpPr txBox="1"/>
          <p:nvPr/>
        </p:nvSpPr>
        <p:spPr>
          <a:xfrm>
            <a:off x="6483350" y="5308600"/>
            <a:ext cx="2781531" cy="923330"/>
          </a:xfrm>
          <a:prstGeom prst="rect">
            <a:avLst/>
          </a:prstGeom>
          <a:noFill/>
        </p:spPr>
        <p:txBody>
          <a:bodyPr wrap="none" rtlCol="0">
            <a:spAutoFit/>
          </a:bodyPr>
          <a:lstStyle/>
          <a:p>
            <a:r>
              <a:rPr lang="zh-CN" altLang="en-US" dirty="0"/>
              <a:t>思考：</a:t>
            </a:r>
            <a:endParaRPr lang="en-US" altLang="zh-CN" dirty="0"/>
          </a:p>
          <a:p>
            <a:pPr marL="285750" indent="-285750">
              <a:buFont typeface="Arial" panose="020B0604020202020204" pitchFamily="34" charset="0"/>
              <a:buChar char="•"/>
            </a:pPr>
            <a:r>
              <a:rPr lang="zh-CN" altLang="en-US" dirty="0"/>
              <a:t>为何输出结果非字典序</a:t>
            </a:r>
            <a:endParaRPr lang="en-US" altLang="zh-CN" dirty="0"/>
          </a:p>
          <a:p>
            <a:pPr marL="285750" indent="-285750">
              <a:buFont typeface="Arial" panose="020B0604020202020204" pitchFamily="34" charset="0"/>
              <a:buChar char="•"/>
            </a:pPr>
            <a:r>
              <a:rPr lang="zh-CN" altLang="en-US" dirty="0"/>
              <a:t>如何保证字典序？</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000" y="432000"/>
            <a:ext cx="8230387" cy="715482"/>
          </a:xfrm>
        </p:spPr>
        <p:txBody>
          <a:bodyPr>
            <a:normAutofit/>
          </a:bodyPr>
          <a:lstStyle/>
          <a:p>
            <a:r>
              <a:rPr lang="zh-CN" altLang="en-US" sz="3600"/>
              <a:t>例题：滑雪</a:t>
            </a:r>
            <a:endParaRPr lang="en-US" sz="3600" dirty="0"/>
          </a:p>
        </p:txBody>
      </p:sp>
      <p:sp>
        <p:nvSpPr>
          <p:cNvPr id="3" name="Content Placeholder 2"/>
          <p:cNvSpPr>
            <a:spLocks noGrp="1"/>
          </p:cNvSpPr>
          <p:nvPr>
            <p:ph idx="1"/>
          </p:nvPr>
        </p:nvSpPr>
        <p:spPr>
          <a:xfrm>
            <a:off x="432000" y="1331651"/>
            <a:ext cx="8280000" cy="5436702"/>
          </a:xfrm>
        </p:spPr>
        <p:txBody>
          <a:bodyPr>
            <a:normAutofit fontScale="92500" lnSpcReduction="20000"/>
          </a:bodyPr>
          <a:lstStyle/>
          <a:p>
            <a:r>
              <a:rPr lang="zh-CN" altLang="en-US" dirty="0"/>
              <a:t>小袁非常喜欢滑雪。为了获得速度，滑的区域必须向下倾斜。小袁想知道在某个区域中最长的一个滑坡。</a:t>
            </a:r>
            <a:endParaRPr lang="en-US" altLang="zh-CN" dirty="0"/>
          </a:p>
          <a:p>
            <a:r>
              <a:rPr lang="zh-CN" altLang="en-US" dirty="0"/>
              <a:t>区域由一个二维数组给出。数组的每个数字代表点的高度。如下： </a:t>
            </a: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a:p>
            <a:r>
              <a:rPr lang="zh-CN" altLang="en-US" dirty="0"/>
              <a:t>一个人可以从某个点滑向上下左右相邻四个点之一，当且仅当高度减小。在上面的例子中，一条可滑行的滑坡为</a:t>
            </a:r>
            <a:r>
              <a:rPr lang="en-US" altLang="zh-CN" dirty="0"/>
              <a:t>24-17-16-1</a:t>
            </a:r>
            <a:r>
              <a:rPr lang="zh-CN" altLang="en-US" dirty="0"/>
              <a:t>。当然</a:t>
            </a:r>
            <a:r>
              <a:rPr lang="en-US" altLang="zh-CN" dirty="0"/>
              <a:t>25-24-23-...-3-2-1</a:t>
            </a:r>
            <a:r>
              <a:rPr lang="zh-CN" altLang="en-US" dirty="0"/>
              <a:t>更长。</a:t>
            </a:r>
            <a:endParaRPr lang="zh-CN" altLang="en-US" dirty="0"/>
          </a:p>
          <a:p>
            <a:r>
              <a:rPr lang="zh-CN" altLang="en-US" dirty="0"/>
              <a:t>求最长的一条滑坡，并且将滑坡的长度输出。 </a:t>
            </a:r>
            <a:endParaRPr lang="en-US" dirty="0"/>
          </a:p>
        </p:txBody>
      </p:sp>
      <p:pic>
        <p:nvPicPr>
          <p:cNvPr id="1028" name="Picture 4" descr="http://202.112.113.8/phpDownload/138543414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30843" y="2491279"/>
            <a:ext cx="3047613" cy="2360182"/>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rotWithShape="1">
          <a:blip r:embed="rId2"/>
          <a:srcRect t="8296" b="3683"/>
          <a:stretch>
            <a:fillRect/>
          </a:stretch>
        </p:blipFill>
        <p:spPr>
          <a:xfrm>
            <a:off x="1762315" y="2491279"/>
            <a:ext cx="1756473" cy="2360182"/>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解题思路</a:t>
            </a:r>
            <a:endParaRPr lang="en-US" dirty="0"/>
          </a:p>
        </p:txBody>
      </p:sp>
      <p:sp>
        <p:nvSpPr>
          <p:cNvPr id="8" name="内容占位符 7"/>
          <p:cNvSpPr>
            <a:spLocks noGrp="1"/>
          </p:cNvSpPr>
          <p:nvPr>
            <p:ph idx="1"/>
          </p:nvPr>
        </p:nvSpPr>
        <p:spPr/>
        <p:txBody>
          <a:bodyPr/>
          <a:lstStyle/>
          <a:p>
            <a:pPr>
              <a:lnSpc>
                <a:spcPct val="90000"/>
              </a:lnSpc>
            </a:pPr>
            <a:r>
              <a:rPr lang="zh-CN" altLang="en-US" dirty="0">
                <a:ea typeface="宋体" panose="02010600030101010101" pitchFamily="2" charset="-122"/>
              </a:rPr>
              <a:t>由于这个题目中间起点有多种可能</a:t>
            </a:r>
            <a:r>
              <a:rPr lang="zh-CN" altLang="en-US" dirty="0">
                <a:ea typeface="宋体" panose="02010600030101010101" pitchFamily="2" charset="-122"/>
                <a:sym typeface="Wingdings" panose="05000000000000000000" pitchFamily="2" charset="2"/>
              </a:rPr>
              <a:t>：</a:t>
            </a:r>
            <a:r>
              <a:rPr lang="en-US" altLang="zh-CN" dirty="0">
                <a:ea typeface="宋体" panose="02010600030101010101" pitchFamily="2" charset="-122"/>
                <a:sym typeface="Wingdings" panose="05000000000000000000" pitchFamily="2" charset="2"/>
              </a:rPr>
              <a:t>(1,1)</a:t>
            </a:r>
            <a:r>
              <a:rPr lang="zh-CN" altLang="en-US" dirty="0">
                <a:ea typeface="宋体" panose="02010600030101010101" pitchFamily="2" charset="-122"/>
                <a:sym typeface="Wingdings" panose="05000000000000000000" pitchFamily="2" charset="2"/>
              </a:rPr>
              <a:t>到</a:t>
            </a:r>
            <a:r>
              <a:rPr lang="en-US" altLang="zh-CN" dirty="0">
                <a:ea typeface="宋体" panose="02010600030101010101" pitchFamily="2" charset="-122"/>
                <a:sym typeface="Wingdings" panose="05000000000000000000" pitchFamily="2" charset="2"/>
              </a:rPr>
              <a:t>(</a:t>
            </a:r>
            <a:r>
              <a:rPr lang="en-US" altLang="zh-CN" dirty="0" err="1">
                <a:ea typeface="宋体" panose="02010600030101010101" pitchFamily="2" charset="-122"/>
                <a:sym typeface="Wingdings" panose="05000000000000000000" pitchFamily="2" charset="2"/>
              </a:rPr>
              <a:t>n,m</a:t>
            </a:r>
            <a:r>
              <a:rPr lang="en-US" altLang="zh-CN" dirty="0">
                <a:ea typeface="宋体" panose="02010600030101010101" pitchFamily="2" charset="-122"/>
                <a:sym typeface="Wingdings" panose="05000000000000000000" pitchFamily="2" charset="2"/>
              </a:rPr>
              <a:t>)</a:t>
            </a:r>
            <a:r>
              <a:rPr lang="zh-CN" altLang="en-US" dirty="0">
                <a:ea typeface="宋体" panose="02010600030101010101" pitchFamily="2" charset="-122"/>
                <a:sym typeface="Wingdings" panose="05000000000000000000" pitchFamily="2" charset="2"/>
              </a:rPr>
              <a:t>都有可能，故要考虑从多个起点开始进行搜索</a:t>
            </a:r>
            <a:endParaRPr lang="zh-CN" altLang="en-US" dirty="0">
              <a:ea typeface="宋体" panose="02010600030101010101" pitchFamily="2" charset="-122"/>
              <a:sym typeface="Wingdings" panose="05000000000000000000" pitchFamily="2" charset="2"/>
            </a:endParaRPr>
          </a:p>
          <a:p>
            <a:pPr>
              <a:lnSpc>
                <a:spcPct val="90000"/>
              </a:lnSpc>
            </a:pPr>
            <a:r>
              <a:rPr lang="zh-CN" altLang="en-US" dirty="0">
                <a:ea typeface="宋体" panose="02010600030101010101" pitchFamily="2" charset="-122"/>
              </a:rPr>
              <a:t>对每个点枚举可能的情况：上下左右四个方向</a:t>
            </a:r>
            <a:endParaRPr lang="zh-CN" altLang="en-US" dirty="0">
              <a:ea typeface="宋体" panose="02010600030101010101" pitchFamily="2" charset="-122"/>
            </a:endParaRPr>
          </a:p>
          <a:p>
            <a:pPr>
              <a:lnSpc>
                <a:spcPct val="90000"/>
              </a:lnSpc>
            </a:pPr>
            <a:r>
              <a:rPr lang="zh-CN" altLang="en-US" dirty="0">
                <a:ea typeface="宋体" panose="02010600030101010101" pitchFamily="2" charset="-122"/>
              </a:rPr>
              <a:t>如果从某个起点</a:t>
            </a:r>
            <a:r>
              <a:rPr lang="en-US" altLang="zh-CN" dirty="0">
                <a:ea typeface="宋体" panose="02010600030101010101" pitchFamily="2" charset="-122"/>
              </a:rPr>
              <a:t>(x0,y0)</a:t>
            </a:r>
            <a:r>
              <a:rPr lang="zh-CN" altLang="en-US" dirty="0">
                <a:ea typeface="宋体" panose="02010600030101010101" pitchFamily="2" charset="-122"/>
              </a:rPr>
              <a:t>走到某个点</a:t>
            </a:r>
            <a:r>
              <a:rPr lang="en-US" altLang="zh-CN" dirty="0">
                <a:ea typeface="宋体" panose="02010600030101010101" pitchFamily="2" charset="-122"/>
              </a:rPr>
              <a:t>(</a:t>
            </a:r>
            <a:r>
              <a:rPr lang="en-US" altLang="zh-CN" dirty="0" err="1">
                <a:ea typeface="宋体" panose="02010600030101010101" pitchFamily="2" charset="-122"/>
              </a:rPr>
              <a:t>x,y</a:t>
            </a:r>
            <a:r>
              <a:rPr lang="en-US" altLang="zh-CN" dirty="0">
                <a:ea typeface="宋体" panose="02010600030101010101" pitchFamily="2" charset="-122"/>
              </a:rPr>
              <a:t>)</a:t>
            </a:r>
            <a:r>
              <a:rPr lang="zh-CN" altLang="en-US" dirty="0">
                <a:ea typeface="宋体" panose="02010600030101010101" pitchFamily="2" charset="-122"/>
              </a:rPr>
              <a:t>时，发现经过的路径长度</a:t>
            </a:r>
            <a:r>
              <a:rPr lang="en-US" altLang="zh-CN" dirty="0">
                <a:ea typeface="宋体" panose="02010600030101010101" pitchFamily="2" charset="-122"/>
              </a:rPr>
              <a:t>length &gt; max</a:t>
            </a:r>
            <a:r>
              <a:rPr lang="zh-CN" altLang="en-US" dirty="0">
                <a:ea typeface="宋体" panose="02010600030101010101" pitchFamily="2" charset="-122"/>
              </a:rPr>
              <a:t>，则更新</a:t>
            </a:r>
            <a:r>
              <a:rPr lang="en-US" altLang="zh-CN" dirty="0">
                <a:ea typeface="宋体" panose="02010600030101010101" pitchFamily="2" charset="-122"/>
              </a:rPr>
              <a:t>max</a:t>
            </a:r>
            <a:endParaRPr lang="en-US" altLang="zh-CN" dirty="0">
              <a:ea typeface="宋体" panose="02010600030101010101" pitchFamily="2" charset="-122"/>
            </a:endParaRPr>
          </a:p>
          <a:p>
            <a:pPr>
              <a:lnSpc>
                <a:spcPct val="90000"/>
              </a:lnSpc>
            </a:pPr>
            <a:r>
              <a:rPr lang="zh-CN" altLang="en-US" dirty="0">
                <a:ea typeface="宋体" panose="02010600030101010101" pitchFamily="2" charset="-122"/>
              </a:rPr>
              <a:t>最后输出</a:t>
            </a:r>
            <a:r>
              <a:rPr lang="en-US" altLang="zh-CN" dirty="0">
                <a:ea typeface="宋体" panose="02010600030101010101" pitchFamily="2" charset="-122"/>
              </a:rPr>
              <a:t>max</a:t>
            </a:r>
            <a:r>
              <a:rPr lang="zh-CN" altLang="en-US" dirty="0">
                <a:ea typeface="宋体" panose="02010600030101010101" pitchFamily="2" charset="-122"/>
              </a:rPr>
              <a:t>的值</a:t>
            </a:r>
            <a:endParaRPr lang="en-US" altLang="zh-CN" dirty="0">
              <a:ea typeface="宋体" panose="02010600030101010101" pitchFamily="2" charset="-122"/>
            </a:endParaRP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打印代码运行时间</a:t>
            </a:r>
            <a:endParaRPr lang="zh-CN" altLang="en-US"/>
          </a:p>
        </p:txBody>
      </p:sp>
      <p:sp>
        <p:nvSpPr>
          <p:cNvPr id="3" name="内容占位符 2"/>
          <p:cNvSpPr>
            <a:spLocks noGrp="1"/>
          </p:cNvSpPr>
          <p:nvPr>
            <p:ph idx="1"/>
          </p:nvPr>
        </p:nvSpPr>
        <p:spPr/>
        <p:txBody>
          <a:bodyPr/>
          <a:lstStyle/>
          <a:p>
            <a:r>
              <a:rPr lang="en-US" altLang="zh-CN" dirty="0"/>
              <a:t>#include &lt;</a:t>
            </a:r>
            <a:r>
              <a:rPr lang="en-US" altLang="zh-CN" dirty="0" err="1"/>
              <a:t>time.h</a:t>
            </a:r>
            <a:r>
              <a:rPr lang="en-US" altLang="zh-CN" dirty="0"/>
              <a:t>&gt;  // #include &lt;</a:t>
            </a:r>
            <a:r>
              <a:rPr lang="en-US" altLang="zh-CN" dirty="0" err="1"/>
              <a:t>ctime</a:t>
            </a:r>
            <a:r>
              <a:rPr lang="en-US" altLang="zh-CN" dirty="0"/>
              <a:t>&gt;</a:t>
            </a:r>
            <a:endParaRPr lang="en-US" altLang="zh-CN" dirty="0"/>
          </a:p>
          <a:p>
            <a:r>
              <a:rPr lang="en-US" altLang="zh-CN" dirty="0"/>
              <a:t>    ...</a:t>
            </a:r>
            <a:endParaRPr lang="en-US" altLang="zh-CN" dirty="0"/>
          </a:p>
          <a:p>
            <a:r>
              <a:rPr lang="en-US" altLang="zh-CN" dirty="0"/>
              <a:t>    </a:t>
            </a:r>
            <a:r>
              <a:rPr lang="en-US" altLang="zh-CN" dirty="0" err="1"/>
              <a:t>clock_t</a:t>
            </a:r>
            <a:r>
              <a:rPr lang="en-US" altLang="zh-CN" dirty="0"/>
              <a:t> begin, end;</a:t>
            </a:r>
            <a:endParaRPr lang="en-US" altLang="zh-CN" dirty="0"/>
          </a:p>
          <a:p>
            <a:r>
              <a:rPr lang="en-US" altLang="zh-CN" dirty="0"/>
              <a:t>    begin = clock();</a:t>
            </a:r>
            <a:endParaRPr lang="en-US" altLang="zh-CN" dirty="0"/>
          </a:p>
          <a:p>
            <a:r>
              <a:rPr lang="en-US" altLang="zh-CN" dirty="0"/>
              <a:t>    // </a:t>
            </a:r>
            <a:r>
              <a:rPr lang="zh-CN" altLang="en-US" dirty="0"/>
              <a:t>需要计时的内容  </a:t>
            </a:r>
            <a:endParaRPr lang="zh-CN" altLang="en-US" dirty="0"/>
          </a:p>
          <a:p>
            <a:r>
              <a:rPr lang="zh-CN" altLang="en-US" dirty="0"/>
              <a:t>    </a:t>
            </a:r>
            <a:r>
              <a:rPr lang="en-US" altLang="zh-CN" dirty="0"/>
              <a:t>end = clock();</a:t>
            </a:r>
            <a:endParaRPr lang="en-US" altLang="zh-CN" dirty="0"/>
          </a:p>
          <a:p>
            <a:r>
              <a:rPr lang="en-US" altLang="zh-CN" dirty="0"/>
              <a:t>    double</a:t>
            </a:r>
            <a:r>
              <a:rPr lang="en-US" altLang="zh-CN" b="0" dirty="0">
                <a:solidFill>
                  <a:srgbClr val="CCCCCC"/>
                </a:solidFill>
                <a:effectLst/>
                <a:latin typeface="Consolas" panose="020B0609020204030204" pitchFamily="49" charset="0"/>
              </a:rPr>
              <a:t> </a:t>
            </a:r>
            <a:r>
              <a:rPr lang="en-US" altLang="zh-CN" dirty="0" err="1"/>
              <a:t>spendtime</a:t>
            </a:r>
            <a:r>
              <a:rPr lang="en-US" altLang="zh-CN" dirty="0"/>
              <a:t> = (double)(end - begin) /  CLOCKS_PER_SEC * 1000; //</a:t>
            </a:r>
            <a:r>
              <a:rPr lang="zh-CN" altLang="en-US" dirty="0"/>
              <a:t>需要计时的内容运行时间（毫秒）</a:t>
            </a:r>
            <a:endParaRPr lang="zh-CN" altLang="en-US" dirty="0"/>
          </a:p>
        </p:txBody>
      </p:sp>
    </p:spTree>
  </p:cSld>
  <p:clrMapOvr>
    <a:masterClrMapping/>
  </p:clrMapOvr>
</p:sld>
</file>

<file path=ppt/tags/tag1.xml><?xml version="1.0" encoding="utf-8"?>
<p:tagLst xmlns:p="http://schemas.openxmlformats.org/presentationml/2006/main">
  <p:tag name="OPFI" val=""/>
</p:tagLst>
</file>

<file path=ppt/theme/theme1.xml><?xml version="1.0" encoding="utf-8"?>
<a:theme xmlns:a="http://schemas.openxmlformats.org/drawingml/2006/main" name="课程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雅黑-Calibri">
      <a:majorFont>
        <a:latin typeface="Calibri"/>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10268</Words>
  <Application>WPS 演示</Application>
  <PresentationFormat>On-screen Show (4:3)</PresentationFormat>
  <Paragraphs>1075</Paragraphs>
  <Slides>63</Slides>
  <Notes>13</Notes>
  <HiddenSlides>9</HiddenSlides>
  <MMClips>0</MMClips>
  <ScaleCrop>false</ScaleCrop>
  <HeadingPairs>
    <vt:vector size="8" baseType="variant">
      <vt:variant>
        <vt:lpstr>已用的字体</vt:lpstr>
      </vt:variant>
      <vt:variant>
        <vt:i4>27</vt:i4>
      </vt:variant>
      <vt:variant>
        <vt:lpstr>主题</vt:lpstr>
      </vt:variant>
      <vt:variant>
        <vt:i4>1</vt:i4>
      </vt:variant>
      <vt:variant>
        <vt:lpstr>嵌入 OLE 服务器</vt:lpstr>
      </vt:variant>
      <vt:variant>
        <vt:i4>8</vt:i4>
      </vt:variant>
      <vt:variant>
        <vt:lpstr>幻灯片标题</vt:lpstr>
      </vt:variant>
      <vt:variant>
        <vt:i4>63</vt:i4>
      </vt:variant>
    </vt:vector>
  </HeadingPairs>
  <TitlesOfParts>
    <vt:vector size="99" baseType="lpstr">
      <vt:lpstr>Arial</vt:lpstr>
      <vt:lpstr>宋体</vt:lpstr>
      <vt:lpstr>Wingdings</vt:lpstr>
      <vt:lpstr>Calibri</vt:lpstr>
      <vt:lpstr>Lato</vt:lpstr>
      <vt:lpstr>Helvetica Neue</vt:lpstr>
      <vt:lpstr>华文中宋</vt:lpstr>
      <vt:lpstr>Wingdings 2</vt:lpstr>
      <vt:lpstr>Gill Sans MT</vt:lpstr>
      <vt:lpstr>Consolas</vt:lpstr>
      <vt:lpstr>Open Sans</vt:lpstr>
      <vt:lpstr>Times New Roman</vt:lpstr>
      <vt:lpstr>黑体</vt:lpstr>
      <vt:lpstr>Garamond</vt:lpstr>
      <vt:lpstr>Calibri Light</vt:lpstr>
      <vt:lpstr>微软雅黑</vt:lpstr>
      <vt:lpstr>微软雅黑 Light</vt:lpstr>
      <vt:lpstr>Arial Unicode MS</vt:lpstr>
      <vt:lpstr>等线</vt:lpstr>
      <vt:lpstr>隶书</vt:lpstr>
      <vt:lpstr>Cambria Math</vt:lpstr>
      <vt:lpstr>Cambria Math</vt:lpstr>
      <vt:lpstr>Courier New</vt:lpstr>
      <vt:lpstr>Segoe Print</vt:lpstr>
      <vt:lpstr>Magneto</vt:lpstr>
      <vt:lpstr>Sweetie</vt:lpstr>
      <vt:lpstr>Saturday Sans Regular</vt:lpstr>
      <vt:lpstr>课程PPT模板</vt:lpstr>
      <vt:lpstr>Equation.DSMT4</vt:lpstr>
      <vt:lpstr>Equation.DSMT4</vt:lpstr>
      <vt:lpstr>Word.Picture.8</vt:lpstr>
      <vt:lpstr>Word.Picture.8</vt:lpstr>
      <vt:lpstr>Visio.Drawing.6</vt:lpstr>
      <vt:lpstr>Visio.Drawing.11</vt:lpstr>
      <vt:lpstr>Visio.Drawing.6</vt:lpstr>
      <vt:lpstr>Word.Picture.8</vt:lpstr>
      <vt:lpstr>18. 递归	 			—— 搜索	</vt:lpstr>
      <vt:lpstr>递归算法举例</vt:lpstr>
      <vt:lpstr>枚举法局限举例1：找出作案人</vt:lpstr>
      <vt:lpstr>代码实现</vt:lpstr>
      <vt:lpstr>搜索路径</vt:lpstr>
      <vt:lpstr>用递归实现</vt:lpstr>
      <vt:lpstr>用递归实现2</vt:lpstr>
      <vt:lpstr>枚举法局限举例2： yoj147教室排课</vt:lpstr>
      <vt:lpstr>问题1：分书问题</vt:lpstr>
      <vt:lpstr>枚举法可解！</vt:lpstr>
      <vt:lpstr>解题思路：回溯法（backtracking）</vt:lpstr>
      <vt:lpstr>回溯搜索过程</vt:lpstr>
      <vt:lpstr>PowerPoint 演示文稿</vt:lpstr>
      <vt:lpstr>与或图：问题规约的图形化表示</vt:lpstr>
      <vt:lpstr>或结点</vt:lpstr>
      <vt:lpstr>PowerPoint 演示文稿</vt:lpstr>
      <vt:lpstr>PowerPoint 演示文稿</vt:lpstr>
      <vt:lpstr>PowerPoint 演示文稿</vt:lpstr>
      <vt:lpstr>PowerPoint 演示文稿</vt:lpstr>
      <vt:lpstr>具体实现：</vt:lpstr>
      <vt:lpstr>PowerPoint 演示文稿</vt:lpstr>
      <vt:lpstr>PowerPoint 演示文稿</vt:lpstr>
      <vt:lpstr>PowerPoint 演示文稿</vt:lpstr>
      <vt:lpstr>PowerPoint 演示文稿</vt:lpstr>
      <vt:lpstr>分书问题代码</vt:lpstr>
      <vt:lpstr>搜索问题概述</vt:lpstr>
      <vt:lpstr>搜索问题概述</vt:lpstr>
      <vt:lpstr>搜索策略</vt:lpstr>
      <vt:lpstr>搜索问题概述</vt:lpstr>
      <vt:lpstr>递归回溯法解决搜索问题</vt:lpstr>
      <vt:lpstr>问题2：八皇后问题</vt:lpstr>
      <vt:lpstr>八皇后解题思路</vt:lpstr>
      <vt:lpstr>PowerPoint 演示文稿</vt:lpstr>
      <vt:lpstr>PowerPoint 演示文稿</vt:lpstr>
      <vt:lpstr>参考代码</vt:lpstr>
      <vt:lpstr>其他函数</vt:lpstr>
      <vt:lpstr>代码优化——空间压缩</vt:lpstr>
      <vt:lpstr>右对角线安全</vt:lpstr>
      <vt:lpstr>左对角线安全</vt:lpstr>
      <vt:lpstr>优化：空间压缩</vt:lpstr>
      <vt:lpstr>八皇后优化</vt:lpstr>
      <vt:lpstr>PowerPoint 演示文稿</vt:lpstr>
      <vt:lpstr>4皇后求解过程示意图</vt:lpstr>
      <vt:lpstr>递归算法举例</vt:lpstr>
      <vt:lpstr>全排列问题</vt:lpstr>
      <vt:lpstr>PowerPoint 演示文稿</vt:lpstr>
      <vt:lpstr>解题思路1</vt:lpstr>
      <vt:lpstr>PowerPoint 演示文稿</vt:lpstr>
      <vt:lpstr>PowerPoint 演示文稿</vt:lpstr>
      <vt:lpstr>PowerPoint 演示文稿</vt:lpstr>
      <vt:lpstr>解题思路2：</vt:lpstr>
      <vt:lpstr>解题思路2（续）</vt:lpstr>
      <vt:lpstr>PowerPoint 演示文稿</vt:lpstr>
      <vt:lpstr>PowerPoint 演示文稿</vt:lpstr>
      <vt:lpstr>PowerPoint 演示文稿</vt:lpstr>
      <vt:lpstr>PowerPoint 演示文稿</vt:lpstr>
      <vt:lpstr>参考代码</vt:lpstr>
      <vt:lpstr>例题：YOJ-143. 数列合并</vt:lpstr>
      <vt:lpstr>思路</vt:lpstr>
      <vt:lpstr>参考代码</vt:lpstr>
      <vt:lpstr>例题：滑雪</vt:lpstr>
      <vt:lpstr>解题思路</vt:lpstr>
      <vt:lpstr>打印代码运行时间</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 I</dc:title>
  <dc:creator>sun hui</dc:creator>
  <cp:lastModifiedBy>Yi.</cp:lastModifiedBy>
  <cp:revision>1501</cp:revision>
  <dcterms:created xsi:type="dcterms:W3CDTF">2020-10-14T02:47:00Z</dcterms:created>
  <dcterms:modified xsi:type="dcterms:W3CDTF">2025-11-20T02:01:27Z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F44D446F683D4D0B9767EB95762D721E_13</vt:lpwstr>
  </property>
  <property fmtid="{D5CDD505-2E9C-101B-9397-08002B2CF9AE}" pid="3" name="KSOProductBuildVer">
    <vt:lpwstr>2052-12.1.0.23542</vt:lpwstr>
  </property>
</Properties>
</file>