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354" r:id="rId3"/>
    <p:sldId id="1098" r:id="rId5"/>
    <p:sldId id="1179" r:id="rId6"/>
    <p:sldId id="1262" r:id="rId7"/>
    <p:sldId id="575" r:id="rId8"/>
    <p:sldId id="576" r:id="rId9"/>
    <p:sldId id="577" r:id="rId10"/>
    <p:sldId id="578" r:id="rId11"/>
    <p:sldId id="579" r:id="rId12"/>
    <p:sldId id="1356" r:id="rId13"/>
    <p:sldId id="1357" r:id="rId14"/>
    <p:sldId id="1363" r:id="rId15"/>
    <p:sldId id="1362" r:id="rId16"/>
    <p:sldId id="1364" r:id="rId17"/>
    <p:sldId id="1267" r:id="rId18"/>
    <p:sldId id="1265" r:id="rId19"/>
    <p:sldId id="1355" r:id="rId20"/>
    <p:sldId id="609" r:id="rId21"/>
    <p:sldId id="584" r:id="rId22"/>
    <p:sldId id="585" r:id="rId23"/>
    <p:sldId id="1361" r:id="rId24"/>
    <p:sldId id="1145" r:id="rId25"/>
    <p:sldId id="1339" r:id="rId26"/>
    <p:sldId id="1340" r:id="rId27"/>
    <p:sldId id="1341" r:id="rId28"/>
    <p:sldId id="1365" r:id="rId29"/>
    <p:sldId id="1359" r:id="rId30"/>
    <p:sldId id="1366" r:id="rId31"/>
    <p:sldId id="1172" r:id="rId32"/>
    <p:sldId id="1350" r:id="rId33"/>
    <p:sldId id="1353" r:id="rId34"/>
    <p:sldId id="1351" r:id="rId35"/>
    <p:sldId id="1360" r:id="rId36"/>
    <p:sldId id="639" r:id="rId37"/>
    <p:sldId id="1343" r:id="rId38"/>
    <p:sldId id="643" r:id="rId39"/>
    <p:sldId id="644" r:id="rId40"/>
    <p:sldId id="645" r:id="rId41"/>
    <p:sldId id="646" r:id="rId42"/>
    <p:sldId id="647" r:id="rId43"/>
    <p:sldId id="1369" r:id="rId44"/>
    <p:sldId id="1344" r:id="rId45"/>
    <p:sldId id="1346" r:id="rId46"/>
    <p:sldId id="1368" r:id="rId47"/>
    <p:sldId id="1367" r:id="rId48"/>
    <p:sldId id="1345" r:id="rId49"/>
    <p:sldId id="1347" r:id="rId50"/>
    <p:sldId id="1348" r:id="rId51"/>
    <p:sldId id="1349" r:id="rId52"/>
    <p:sldId id="656" r:id="rId53"/>
    <p:sldId id="659" r:id="rId54"/>
    <p:sldId id="660" r:id="rId55"/>
    <p:sldId id="661" r:id="rId56"/>
    <p:sldId id="662" r:id="rId57"/>
    <p:sldId id="1358" r:id="rId58"/>
    <p:sldId id="1160" r:id="rId59"/>
    <p:sldId id="1161" r:id="rId60"/>
    <p:sldId id="1163" r:id="rId61"/>
    <p:sldId id="1164" r:id="rId62"/>
    <p:sldId id="1167" r:id="rId63"/>
    <p:sldId id="1165" r:id="rId64"/>
    <p:sldId id="1166" r:id="rId65"/>
    <p:sldId id="1168" r:id="rId66"/>
    <p:sldId id="1158" r:id="rId67"/>
    <p:sldId id="1169" r:id="rId68"/>
    <p:sldId id="1173" r:id="rId69"/>
    <p:sldId id="1174" r:id="rId70"/>
  </p:sldIdLst>
  <p:sldSz cx="9144000" cy="6858000" type="screen4x3"/>
  <p:notesSz cx="6858000" cy="9144000"/>
  <p:custDataLst>
    <p:tags r:id="rId7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FB1"/>
    <a:srgbClr val="0066FF"/>
    <a:srgbClr val="0000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6" autoAdjust="0"/>
    <p:restoredTop sz="90767" autoAdjust="0"/>
  </p:normalViewPr>
  <p:slideViewPr>
    <p:cSldViewPr snapToGrid="0" showGuides="1">
      <p:cViewPr>
        <p:scale>
          <a:sx n="75" d="100"/>
          <a:sy n="75" d="100"/>
        </p:scale>
        <p:origin x="926" y="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4" Type="http://schemas.openxmlformats.org/officeDocument/2006/relationships/tags" Target="tags/tag1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yoj.ruc.edu.cn/index.php/teacher/problem/detail/pno/286.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课上练习：</a:t>
            </a:r>
            <a:r>
              <a:rPr lang="en-US" altLang="zh-CN" b="0" i="0" u="none" strike="noStrike" dirty="0">
                <a:solidFill>
                  <a:srgbClr val="4183C4"/>
                </a:solidFill>
                <a:effectLst/>
                <a:latin typeface="Lato" panose="020F0502020204030203" pitchFamily="34" charset="0"/>
                <a:hlinkClick r:id="rId3"/>
              </a:rPr>
              <a:t>#286 </a:t>
            </a:r>
            <a:r>
              <a:rPr lang="zh-CN" altLang="en-US" b="0" i="0" u="none" strike="noStrike" dirty="0">
                <a:solidFill>
                  <a:srgbClr val="4183C4"/>
                </a:solidFill>
                <a:effectLst/>
                <a:latin typeface="Lato" panose="020F0502020204030203" pitchFamily="34" charset="0"/>
                <a:hlinkClick r:id="rId3"/>
              </a:rPr>
              <a:t>链表操作（删除节点）</a:t>
            </a:r>
            <a:endParaRPr lang="en-US" altLang="zh-CN" b="0" i="0" u="none" strike="noStrike" dirty="0">
              <a:solidFill>
                <a:srgbClr val="4183C4"/>
              </a:solidFill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作业：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#676.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笨小猴，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#132 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指针练习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n-lt"/>
              </a:rPr>
              <a:t>，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#596. string(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函数提交版）</a:t>
            </a:r>
            <a:endParaRPr lang="zh-CN" altLang="en-US" b="1" i="0" dirty="0"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1" i="0" dirty="0">
              <a:effectLst/>
              <a:latin typeface="Lato" panose="020F0502020204030203" pitchFamily="34" charset="0"/>
            </a:endParaRP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写法比较：</a:t>
            </a:r>
            <a:r>
              <a:rPr lang="en-US" altLang="zh-CN" dirty="0"/>
              <a:t>point-&gt;name </a:t>
            </a:r>
            <a:r>
              <a:rPr lang="zh-CN" altLang="en-US" dirty="0"/>
              <a:t>简洁易懂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/>
              <a:t>因此，即使不修改输入函数的结构体也可以传指针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对返回结果的修改不能体现在数组中的相应元素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以前学过的内容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以前学过的内容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以前学过的内容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以前学过的内容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不同数据类型统一处理，不在乎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不同数据类型统一处理，不在乎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memcpy</a:t>
            </a:r>
            <a:r>
              <a:rPr lang="en-US" altLang="zh-CN" dirty="0"/>
              <a:t> </a:t>
            </a:r>
            <a:r>
              <a:rPr lang="en-US" altLang="zh-CN" dirty="0" err="1"/>
              <a:t>memmove</a:t>
            </a:r>
            <a:r>
              <a:rPr lang="zh-CN" altLang="en-US" dirty="0"/>
              <a:t>区别和实现</a:t>
            </a:r>
            <a:endParaRPr lang="zh-CN" altLang="en-US" dirty="0"/>
          </a:p>
          <a:p>
            <a:r>
              <a:rPr lang="en-US" altLang="zh-CN" dirty="0" err="1"/>
              <a:t>memcpy</a:t>
            </a:r>
            <a:r>
              <a:rPr lang="zh-CN" altLang="en-US" dirty="0"/>
              <a:t>与</a:t>
            </a:r>
            <a:r>
              <a:rPr lang="en-US" altLang="zh-CN" dirty="0" err="1"/>
              <a:t>memmove</a:t>
            </a:r>
            <a:r>
              <a:rPr lang="zh-CN" altLang="en-US" dirty="0"/>
              <a:t>的目的都是将</a:t>
            </a:r>
            <a:r>
              <a:rPr lang="en-US" altLang="zh-CN" dirty="0"/>
              <a:t>N</a:t>
            </a:r>
            <a:r>
              <a:rPr lang="zh-CN" altLang="en-US" dirty="0"/>
              <a:t>个字节的源内存地址的内容拷贝到目标内存地址中。</a:t>
            </a:r>
            <a:endParaRPr lang="zh-CN" altLang="en-US" dirty="0"/>
          </a:p>
          <a:p>
            <a:r>
              <a:rPr lang="zh-CN" altLang="en-US" dirty="0"/>
              <a:t>但当源内存和目标内存存在重叠时，</a:t>
            </a:r>
            <a:r>
              <a:rPr lang="en-US" altLang="zh-CN" dirty="0" err="1"/>
              <a:t>memcpy</a:t>
            </a:r>
            <a:r>
              <a:rPr lang="zh-CN" altLang="en-US" dirty="0"/>
              <a:t>会出现错误，而</a:t>
            </a:r>
            <a:r>
              <a:rPr lang="en-US" altLang="zh-CN" dirty="0" err="1"/>
              <a:t>memmove</a:t>
            </a:r>
            <a:r>
              <a:rPr lang="zh-CN" altLang="en-US" dirty="0"/>
              <a:t>能正确地实施拷贝，但这也增加了一点点开销。</a:t>
            </a:r>
            <a:endParaRPr lang="zh-CN" altLang="en-US" dirty="0"/>
          </a:p>
          <a:p>
            <a:r>
              <a:rPr lang="en-US" altLang="zh-CN" dirty="0" err="1"/>
              <a:t>memmove</a:t>
            </a:r>
            <a:r>
              <a:rPr lang="zh-CN" altLang="en-US" dirty="0"/>
              <a:t>的处理措施：</a:t>
            </a:r>
            <a:endParaRPr lang="zh-CN" altLang="en-US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）当源内存的首地址等于目标内存的首地址时，不进行任何拷贝</a:t>
            </a:r>
            <a:endParaRPr lang="zh-CN" altLang="en-US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）当源内存的首地址大于目标内存的首地址时，实行正向拷贝</a:t>
            </a:r>
            <a:endParaRPr lang="zh-CN" altLang="en-US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）当源内存的首地址小于目标内存的首地址时，实行反向拷贝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优化方法一：</a:t>
            </a:r>
            <a:r>
              <a:rPr lang="en-US" altLang="zh-CN" dirty="0"/>
              <a:t>p[choice-1] //</a:t>
            </a:r>
            <a:r>
              <a:rPr lang="zh-CN" altLang="en-US" dirty="0"/>
              <a:t>比较简单</a:t>
            </a:r>
            <a:endParaRPr lang="en-US" altLang="zh-CN" dirty="0"/>
          </a:p>
          <a:p>
            <a:r>
              <a:rPr lang="zh-CN" altLang="en-US" dirty="0"/>
              <a:t>优化方法二：</a:t>
            </a:r>
            <a:r>
              <a:rPr lang="en-US" altLang="zh-CN" dirty="0"/>
              <a:t>p</a:t>
            </a:r>
            <a:r>
              <a:rPr lang="zh-CN" altLang="en-US" dirty="0"/>
              <a:t>在初始化的时候在</a:t>
            </a:r>
            <a:r>
              <a:rPr lang="en-US" altLang="zh-CN" dirty="0"/>
              <a:t>0</a:t>
            </a:r>
            <a:r>
              <a:rPr lang="zh-CN" altLang="en-US" dirty="0"/>
              <a:t>的位置填一个</a:t>
            </a:r>
            <a:r>
              <a:rPr lang="en-US" altLang="zh-CN" dirty="0"/>
              <a:t>empty</a:t>
            </a:r>
            <a:r>
              <a:rPr lang="zh-CN" altLang="en-US" dirty="0"/>
              <a:t>（啥也不干的）函数。</a:t>
            </a:r>
            <a:r>
              <a:rPr lang="en-US" altLang="zh-CN" dirty="0"/>
              <a:t>p[choice]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有兴趣自己去学习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从这里开始是上节课内容的回顾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4A6FD76-517E-4096-9FF3-78D2787DD3D6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4583935-AFFF-4DBB-857D-69A814B97576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2AC0056-8695-44B8-B45B-56660DA26BCE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9E9E9E-3086-4A12-80B0-894D774C01F8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326B4BC-83EC-435B-8EB2-ADDF054D8FBB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en-US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pt-BR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printf("</a:t>
            </a:r>
            <a:r>
              <a:rPr lang="pt-BR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*(q+1) = %d</a:t>
            </a:r>
            <a:r>
              <a:rPr lang="pt-BR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\n", *(q+1));</a:t>
            </a:r>
            <a:endParaRPr lang="en-US" altLang="en-US" dirty="0">
              <a:ea typeface="宋体" panose="02010600030101010101" pitchFamily="2" charset="-122"/>
            </a:endParaRPr>
          </a:p>
        </p:txBody>
      </p:sp>
      <p:sp>
        <p:nvSpPr>
          <p:cNvPr id="276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46F6975-5481-4BC0-B08E-F6E0DF3922FC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B0A9C4A-259A-413C-9442-0172CD448828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3584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E622682-5970-4611-8013-020A68064E12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3789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D554BBA-C9F1-4F69-AEBD-2EA0402F2843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399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883E67E-4F7F-41C2-B408-3D03CBC2059A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7414926" y="813763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圆: 空心 6"/>
          <p:cNvSpPr/>
          <p:nvPr/>
        </p:nvSpPr>
        <p:spPr>
          <a:xfrm>
            <a:off x="-1447253" y="-1783037"/>
            <a:ext cx="3960000" cy="3960000"/>
          </a:xfrm>
          <a:prstGeom prst="donut">
            <a:avLst>
              <a:gd name="adj" fmla="val 1484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4" y="2063683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4" y="2155123"/>
            <a:ext cx="6606253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409455" y="215530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389185"/>
            <a:ext cx="8280000" cy="4936895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295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69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260000"/>
            <a:ext cx="8280000" cy="5040000"/>
          </a:xfrm>
        </p:spPr>
        <p:txBody>
          <a:bodyPr/>
          <a:lstStyle>
            <a:lvl2pPr indent="-288290">
              <a:defRPr/>
            </a:lvl2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45">
              <a:defRPr/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45">
              <a:defRPr/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000" y="2037714"/>
            <a:ext cx="4066182" cy="438828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037714"/>
            <a:ext cx="4082850" cy="438828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4" y="2155123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BF01F0-5869-42E2-A8FD-A9376291A2A2}" type="slidenum">
              <a:rPr lang="en-US" altLang="zh-CN"/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00" dir="10800000" algn="tl" rotWithShape="0">
              <a:srgbClr val="73726C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" name="Oval 1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7" name="Oval 16"/>
          <p:cNvSpPr/>
          <p:nvPr/>
        </p:nvSpPr>
        <p:spPr>
          <a:xfrm>
            <a:off x="2408239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3375"/>
              </a:lnSpc>
              <a:buNone/>
              <a:defRPr sz="3000" b="1" cap="all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3970" indent="0">
              <a:lnSpc>
                <a:spcPts val="1725"/>
              </a:lnSpc>
              <a:spcBef>
                <a:spcPts val="0"/>
              </a:spcBef>
              <a:buNone/>
              <a:defRPr sz="15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65537A-573F-4928-9A76-1F19383F4DC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CF29FA-0C56-410B-9D24-8B2794A9700F}" type="datetime5">
              <a:rPr lang="en-US" altLang="zh-CN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651CC-8B39-45DF-A333-2A7D248E5017}" type="slidenum">
              <a:rPr lang="en-US" altLang="zh-CN"/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/>
          <p:nvPr/>
        </p:nvSpPr>
        <p:spPr>
          <a:xfrm>
            <a:off x="1014414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invGray">
          <a:xfrm>
            <a:off x="1014414" y="0"/>
            <a:ext cx="7302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00" dir="10800000" algn="tl" rotWithShape="0">
              <a:srgbClr val="73726C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30D4E2-FF31-4937-A321-2C46F1F7AD9F}" type="datetime5">
              <a:rPr lang="en-US" altLang="zh-CN" smtClean="0"/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2C4C4-4215-4352-B597-B2750E65EFF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emf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828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6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29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50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e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1268873" y="3811522"/>
            <a:ext cx="7557287" cy="1655762"/>
          </a:xfrm>
        </p:spPr>
        <p:txBody>
          <a:bodyPr>
            <a:normAutofit/>
          </a:bodyPr>
          <a:lstStyle/>
          <a:p>
            <a:pPr algn="r"/>
            <a:r>
              <a:rPr lang="en-US" altLang="zh-CN" sz="3600" dirty="0"/>
              <a:t>——</a:t>
            </a:r>
            <a:r>
              <a:rPr lang="zh-CN" altLang="en-US" sz="3600" dirty="0"/>
              <a:t>结构体</a:t>
            </a:r>
            <a:r>
              <a:rPr lang="en-US" altLang="zh-CN" sz="3600" dirty="0"/>
              <a:t>/void/</a:t>
            </a:r>
            <a:r>
              <a:rPr lang="zh-CN" altLang="en-US" sz="3600" dirty="0"/>
              <a:t>函数指针</a:t>
            </a:r>
            <a:endParaRPr lang="en-US" sz="3600" dirty="0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603856" y="1941437"/>
            <a:ext cx="6606253" cy="1655763"/>
          </a:xfrm>
        </p:spPr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21</a:t>
            </a:r>
            <a:r>
              <a:rPr lang="zh-CN" altLang="en-US" dirty="0"/>
              <a:t>讲 指针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93103" y="1527012"/>
            <a:ext cx="82800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指针的概念</a:t>
            </a:r>
            <a:endParaRPr lang="en-US" altLang="zh-CN" dirty="0"/>
          </a:p>
          <a:p>
            <a:pPr lvl="1"/>
            <a:r>
              <a:rPr lang="zh-CN" altLang="en-US" dirty="0"/>
              <a:t>指针与地址</a:t>
            </a:r>
            <a:endParaRPr lang="en-US" altLang="zh-CN" dirty="0"/>
          </a:p>
          <a:p>
            <a:pPr lvl="1"/>
            <a:r>
              <a:rPr lang="zh-CN" altLang="en-US" dirty="0"/>
              <a:t>指针变量：定义、赋值、操作符*、运算</a:t>
            </a:r>
            <a:endParaRPr lang="en-US" altLang="zh-CN" dirty="0"/>
          </a:p>
          <a:p>
            <a:r>
              <a:rPr lang="zh-CN" altLang="en-US" dirty="0"/>
              <a:t>指针作为函数参数</a:t>
            </a:r>
            <a:endParaRPr lang="en-US" altLang="zh-CN" dirty="0"/>
          </a:p>
          <a:p>
            <a:r>
              <a:rPr lang="zh-CN" altLang="en-US" dirty="0"/>
              <a:t>指针与数组</a:t>
            </a:r>
            <a:endParaRPr lang="en-US" altLang="zh-CN" dirty="0"/>
          </a:p>
          <a:p>
            <a:pPr lvl="1"/>
            <a:r>
              <a:rPr lang="zh-CN" altLang="en-US" dirty="0"/>
              <a:t>指向数组元素的指针</a:t>
            </a:r>
            <a:endParaRPr lang="en-US" altLang="zh-CN" dirty="0"/>
          </a:p>
          <a:p>
            <a:pPr lvl="1"/>
            <a:r>
              <a:rPr lang="zh-CN" altLang="en-US" dirty="0"/>
              <a:t>数组名：指针常量</a:t>
            </a:r>
            <a:endParaRPr lang="en-US" altLang="zh-CN" dirty="0"/>
          </a:p>
          <a:p>
            <a:pPr lvl="1"/>
            <a:r>
              <a:rPr lang="zh-CN" altLang="en-US" dirty="0"/>
              <a:t>数组作为函数参数</a:t>
            </a:r>
            <a:endParaRPr lang="en-US" dirty="0"/>
          </a:p>
          <a:p>
            <a:r>
              <a:rPr lang="zh-CN" altLang="en-US" dirty="0"/>
              <a:t>指针与字符串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上讲内容回顾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  <p:grpSp>
        <p:nvGrpSpPr>
          <p:cNvPr id="62" name="Group 61"/>
          <p:cNvGrpSpPr/>
          <p:nvPr/>
        </p:nvGrpSpPr>
        <p:grpSpPr>
          <a:xfrm>
            <a:off x="4061366" y="2818003"/>
            <a:ext cx="4899376" cy="3310303"/>
            <a:chOff x="1519238" y="1759729"/>
            <a:chExt cx="6643404" cy="4488670"/>
          </a:xfrm>
        </p:grpSpPr>
        <p:pic>
          <p:nvPicPr>
            <p:cNvPr id="34" name="Picture 30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23" b="13013"/>
            <a:stretch>
              <a:fillRect/>
            </a:stretch>
          </p:blipFill>
          <p:spPr bwMode="auto">
            <a:xfrm>
              <a:off x="1519238" y="3719513"/>
              <a:ext cx="2767012" cy="2157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Right Arrow 31"/>
            <p:cNvSpPr/>
            <p:nvPr/>
          </p:nvSpPr>
          <p:spPr>
            <a:xfrm>
              <a:off x="4500563" y="4149725"/>
              <a:ext cx="460375" cy="8985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36" name="Group 35"/>
            <p:cNvGrpSpPr/>
            <p:nvPr/>
          </p:nvGrpSpPr>
          <p:grpSpPr bwMode="auto">
            <a:xfrm>
              <a:off x="3348038" y="1759729"/>
              <a:ext cx="4814604" cy="4488670"/>
              <a:chOff x="3347864" y="1759316"/>
              <a:chExt cx="4815040" cy="4489084"/>
            </a:xfrm>
          </p:grpSpPr>
          <p:grpSp>
            <p:nvGrpSpPr>
              <p:cNvPr id="37" name="Group 28"/>
              <p:cNvGrpSpPr/>
              <p:nvPr/>
            </p:nvGrpSpPr>
            <p:grpSpPr bwMode="auto">
              <a:xfrm>
                <a:off x="5718939" y="2731764"/>
                <a:ext cx="2160240" cy="3516636"/>
                <a:chOff x="6084168" y="2731765"/>
                <a:chExt cx="2160240" cy="3516635"/>
              </a:xfrm>
            </p:grpSpPr>
            <p:grpSp>
              <p:nvGrpSpPr>
                <p:cNvPr id="47" name="Group 17"/>
                <p:cNvGrpSpPr/>
                <p:nvPr/>
              </p:nvGrpSpPr>
              <p:grpSpPr bwMode="auto">
                <a:xfrm>
                  <a:off x="6154688" y="2852936"/>
                  <a:ext cx="2016224" cy="3237140"/>
                  <a:chOff x="6012160" y="3068960"/>
                  <a:chExt cx="2016224" cy="3237140"/>
                </a:xfrm>
              </p:grpSpPr>
              <p:sp>
                <p:nvSpPr>
                  <p:cNvPr id="52" name="Rectangle 51"/>
                  <p:cNvSpPr/>
                  <p:nvPr/>
                </p:nvSpPr>
                <p:spPr>
                  <a:xfrm>
                    <a:off x="6010773" y="3068450"/>
                    <a:ext cx="2017896" cy="360395"/>
                  </a:xfrm>
                  <a:prstGeom prst="rect">
                    <a:avLst/>
                  </a:prstGeom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3" name="Rectangle 52"/>
                  <p:cNvSpPr/>
                  <p:nvPr/>
                </p:nvSpPr>
                <p:spPr>
                  <a:xfrm>
                    <a:off x="6010773" y="3428845"/>
                    <a:ext cx="2017896" cy="360396"/>
                  </a:xfrm>
                  <a:prstGeom prst="rect">
                    <a:avLst/>
                  </a:prstGeom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4" name="Rectangle 53"/>
                  <p:cNvSpPr/>
                  <p:nvPr/>
                </p:nvSpPr>
                <p:spPr>
                  <a:xfrm>
                    <a:off x="6010773" y="3789241"/>
                    <a:ext cx="2017896" cy="358808"/>
                  </a:xfrm>
                  <a:prstGeom prst="rect">
                    <a:avLst/>
                  </a:prstGeom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5" name="Rectangle 54"/>
                  <p:cNvSpPr/>
                  <p:nvPr/>
                </p:nvSpPr>
                <p:spPr>
                  <a:xfrm>
                    <a:off x="6010773" y="4148049"/>
                    <a:ext cx="2017896" cy="360395"/>
                  </a:xfrm>
                  <a:prstGeom prst="rect">
                    <a:avLst/>
                  </a:prstGeom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6" name="Rectangle 55"/>
                  <p:cNvSpPr/>
                  <p:nvPr/>
                </p:nvSpPr>
                <p:spPr>
                  <a:xfrm>
                    <a:off x="6010773" y="4511619"/>
                    <a:ext cx="2017896" cy="358808"/>
                  </a:xfrm>
                  <a:prstGeom prst="rect">
                    <a:avLst/>
                  </a:prstGeom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7" name="Rectangle 56"/>
                  <p:cNvSpPr/>
                  <p:nvPr/>
                </p:nvSpPr>
                <p:spPr>
                  <a:xfrm>
                    <a:off x="6010773" y="4870427"/>
                    <a:ext cx="2017896" cy="358808"/>
                  </a:xfrm>
                  <a:prstGeom prst="rect">
                    <a:avLst/>
                  </a:prstGeom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8" name="Rectangle 57"/>
                  <p:cNvSpPr/>
                  <p:nvPr/>
                </p:nvSpPr>
                <p:spPr>
                  <a:xfrm>
                    <a:off x="6010773" y="5227648"/>
                    <a:ext cx="2017896" cy="360395"/>
                  </a:xfrm>
                  <a:prstGeom prst="rect">
                    <a:avLst/>
                  </a:prstGeom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9" name="Rectangle 58"/>
                  <p:cNvSpPr/>
                  <p:nvPr/>
                </p:nvSpPr>
                <p:spPr>
                  <a:xfrm>
                    <a:off x="6010773" y="5586456"/>
                    <a:ext cx="2017896" cy="360395"/>
                  </a:xfrm>
                  <a:prstGeom prst="rect">
                    <a:avLst/>
                  </a:prstGeom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0" name="Rectangle 59"/>
                  <p:cNvSpPr/>
                  <p:nvPr/>
                </p:nvSpPr>
                <p:spPr>
                  <a:xfrm>
                    <a:off x="6010773" y="5945264"/>
                    <a:ext cx="2017896" cy="360395"/>
                  </a:xfrm>
                  <a:prstGeom prst="rect">
                    <a:avLst/>
                  </a:prstGeom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8" name="Straight Connector 47"/>
                <p:cNvCxnSpPr/>
                <p:nvPr/>
              </p:nvCxnSpPr>
              <p:spPr>
                <a:xfrm>
                  <a:off x="6083445" y="2852426"/>
                  <a:ext cx="2160784" cy="0"/>
                </a:xfrm>
                <a:prstGeom prst="line">
                  <a:avLst/>
                </a:prstGeom>
                <a:ln w="254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>
                  <a:off x="6083445" y="6089635"/>
                  <a:ext cx="2160784" cy="0"/>
                </a:xfrm>
                <a:prstGeom prst="line">
                  <a:avLst/>
                </a:prstGeom>
                <a:ln w="254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Up Arrow 18"/>
                <p:cNvSpPr/>
                <p:nvPr/>
              </p:nvSpPr>
              <p:spPr>
                <a:xfrm>
                  <a:off x="6910772" y="2731765"/>
                  <a:ext cx="504056" cy="322888"/>
                </a:xfrm>
                <a:prstGeom prst="upArrow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" name="Up Arrow 27"/>
                <p:cNvSpPr/>
                <p:nvPr/>
              </p:nvSpPr>
              <p:spPr>
                <a:xfrm rot="10800000">
                  <a:off x="6910772" y="5925512"/>
                  <a:ext cx="504056" cy="322888"/>
                </a:xfrm>
                <a:prstGeom prst="upArrow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38" name="TextBox 32"/>
              <p:cNvSpPr txBox="1">
                <a:spLocks noChangeArrowheads="1"/>
              </p:cNvSpPr>
              <p:nvPr/>
            </p:nvSpPr>
            <p:spPr bwMode="auto">
              <a:xfrm>
                <a:off x="5102349" y="5363505"/>
                <a:ext cx="56938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dirty="0"/>
                  <a:t>200</a:t>
                </a:r>
                <a:endParaRPr lang="en-US" altLang="en-US" dirty="0"/>
              </a:p>
            </p:txBody>
          </p:sp>
          <p:sp>
            <p:nvSpPr>
              <p:cNvPr id="39" name="TextBox 33"/>
              <p:cNvSpPr txBox="1">
                <a:spLocks noChangeArrowheads="1"/>
              </p:cNvSpPr>
              <p:nvPr/>
            </p:nvSpPr>
            <p:spPr bwMode="auto">
              <a:xfrm>
                <a:off x="5102349" y="5013654"/>
                <a:ext cx="56938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/>
                  <a:t>201</a:t>
                </a:r>
                <a:endParaRPr lang="en-US" altLang="en-US"/>
              </a:p>
            </p:txBody>
          </p:sp>
          <p:sp>
            <p:nvSpPr>
              <p:cNvPr id="40" name="TextBox 34"/>
              <p:cNvSpPr txBox="1">
                <a:spLocks noChangeArrowheads="1"/>
              </p:cNvSpPr>
              <p:nvPr/>
            </p:nvSpPr>
            <p:spPr bwMode="auto">
              <a:xfrm>
                <a:off x="5106961" y="4649663"/>
                <a:ext cx="56938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/>
                  <a:t>202</a:t>
                </a:r>
                <a:endParaRPr lang="en-US" altLang="en-US"/>
              </a:p>
            </p:txBody>
          </p:sp>
          <p:sp>
            <p:nvSpPr>
              <p:cNvPr id="41" name="TextBox 35"/>
              <p:cNvSpPr txBox="1">
                <a:spLocks noChangeArrowheads="1"/>
              </p:cNvSpPr>
              <p:nvPr/>
            </p:nvSpPr>
            <p:spPr bwMode="auto">
              <a:xfrm>
                <a:off x="5104028" y="4291912"/>
                <a:ext cx="56938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/>
                  <a:t>203</a:t>
                </a:r>
                <a:endParaRPr lang="en-US" altLang="en-US"/>
              </a:p>
            </p:txBody>
          </p:sp>
          <p:sp>
            <p:nvSpPr>
              <p:cNvPr id="42" name="TextBox 36"/>
              <p:cNvSpPr txBox="1">
                <a:spLocks noChangeArrowheads="1"/>
              </p:cNvSpPr>
              <p:nvPr/>
            </p:nvSpPr>
            <p:spPr bwMode="auto">
              <a:xfrm>
                <a:off x="5106961" y="3941802"/>
                <a:ext cx="56938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/>
                  <a:t>204</a:t>
                </a:r>
                <a:endParaRPr lang="en-US" altLang="en-US"/>
              </a:p>
            </p:txBody>
          </p:sp>
          <p:sp>
            <p:nvSpPr>
              <p:cNvPr id="43" name="TextBox 37"/>
              <p:cNvSpPr txBox="1">
                <a:spLocks noChangeArrowheads="1"/>
              </p:cNvSpPr>
              <p:nvPr/>
            </p:nvSpPr>
            <p:spPr bwMode="auto">
              <a:xfrm>
                <a:off x="5110316" y="3578514"/>
                <a:ext cx="56938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/>
                  <a:t>205</a:t>
                </a:r>
                <a:endParaRPr lang="en-US" altLang="en-US"/>
              </a:p>
            </p:txBody>
          </p:sp>
          <p:sp>
            <p:nvSpPr>
              <p:cNvPr id="44" name="TextBox 38"/>
              <p:cNvSpPr txBox="1">
                <a:spLocks noChangeArrowheads="1"/>
              </p:cNvSpPr>
              <p:nvPr/>
            </p:nvSpPr>
            <p:spPr bwMode="auto">
              <a:xfrm>
                <a:off x="5110316" y="3184209"/>
                <a:ext cx="56938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dirty="0"/>
                  <a:t>206</a:t>
                </a:r>
                <a:endParaRPr lang="en-US" altLang="en-US" dirty="0"/>
              </a:p>
            </p:txBody>
          </p:sp>
          <p:sp>
            <p:nvSpPr>
              <p:cNvPr id="45" name="Line Callout 1 39"/>
              <p:cNvSpPr/>
              <p:nvPr/>
            </p:nvSpPr>
            <p:spPr>
              <a:xfrm>
                <a:off x="7221432" y="1759316"/>
                <a:ext cx="941472" cy="719203"/>
              </a:xfrm>
              <a:prstGeom prst="borderCallout1">
                <a:avLst>
                  <a:gd name="adj1" fmla="val 100808"/>
                  <a:gd name="adj2" fmla="val 50831"/>
                  <a:gd name="adj3" fmla="val 229580"/>
                  <a:gd name="adj4" fmla="val 41084"/>
                </a:avLst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rgbClr val="FFFFFF"/>
                    </a:solidFill>
                    <a:latin typeface="Gill Sans MT" panose="020B0502020104020203" pitchFamily="34" charset="0"/>
                    <a:ea typeface="华文中宋" panose="02010600040101010101" pitchFamily="2" charset="-122"/>
                  </a:rPr>
                  <a:t>字节</a:t>
                </a:r>
                <a:endParaRPr lang="en-US" altLang="zh-CN" dirty="0">
                  <a:solidFill>
                    <a:srgbClr val="FFFFFF"/>
                  </a:solidFill>
                  <a:latin typeface="Gill Sans MT" panose="020B0502020104020203" pitchFamily="34" charset="0"/>
                  <a:ea typeface="华文中宋" panose="02010600040101010101" pitchFamily="2" charset="-122"/>
                </a:endParaRPr>
              </a:p>
              <a:p>
                <a:pPr algn="ctr"/>
                <a:r>
                  <a:rPr lang="en-US" altLang="zh-CN" dirty="0">
                    <a:solidFill>
                      <a:srgbClr val="FFFFFF"/>
                    </a:solidFill>
                    <a:latin typeface="Gill Sans MT" panose="020B0502020104020203" pitchFamily="34" charset="0"/>
                    <a:ea typeface="华文中宋" panose="02010600040101010101" pitchFamily="2" charset="-122"/>
                  </a:rPr>
                  <a:t>Byte</a:t>
                </a:r>
                <a:endParaRPr lang="en-US" altLang="en-US" dirty="0">
                  <a:solidFill>
                    <a:srgbClr val="FFFFFF"/>
                  </a:solidFill>
                  <a:latin typeface="Gill Sans MT" panose="020B0502020104020203" pitchFamily="34" charset="0"/>
                </a:endParaRPr>
              </a:p>
            </p:txBody>
          </p:sp>
          <p:sp>
            <p:nvSpPr>
              <p:cNvPr id="46" name="Line Callout 1 40"/>
              <p:cNvSpPr/>
              <p:nvPr/>
            </p:nvSpPr>
            <p:spPr>
              <a:xfrm>
                <a:off x="3347864" y="5734003"/>
                <a:ext cx="1501911" cy="457242"/>
              </a:xfrm>
              <a:prstGeom prst="borderCallout1">
                <a:avLst>
                  <a:gd name="adj1" fmla="val -13504"/>
                  <a:gd name="adj2" fmla="val 93770"/>
                  <a:gd name="adj3" fmla="val -116501"/>
                  <a:gd name="adj4" fmla="val 120713"/>
                </a:avLst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zh-CN" altLang="en-US"/>
                  <a:t>地址</a:t>
                </a:r>
                <a:endParaRPr lang="en-US" dirty="0"/>
              </a:p>
            </p:txBody>
          </p:sp>
        </p:grpSp>
        <p:sp>
          <p:nvSpPr>
            <p:cNvPr id="61" name="Rectangle 41"/>
            <p:cNvSpPr>
              <a:spLocks noChangeArrowheads="1"/>
            </p:cNvSpPr>
            <p:nvPr/>
          </p:nvSpPr>
          <p:spPr bwMode="auto">
            <a:xfrm>
              <a:off x="1641899" y="2408474"/>
              <a:ext cx="3503613" cy="12520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dirty="0"/>
                <a:t>例子：</a:t>
              </a:r>
              <a:r>
                <a:rPr lang="en-US" altLang="en-US" dirty="0" err="1"/>
                <a:t>金士顿</a:t>
              </a:r>
              <a:r>
                <a:rPr lang="en-US" altLang="en-US" dirty="0"/>
                <a:t>(Kingston)</a:t>
              </a:r>
              <a:r>
                <a:rPr lang="zh-CN" altLang="en-US" dirty="0"/>
                <a:t> </a:t>
              </a:r>
              <a:r>
                <a:rPr lang="en-US" altLang="en-US" dirty="0"/>
                <a:t>DDR3 1600 8GB </a:t>
              </a:r>
              <a:r>
                <a:rPr lang="en-US" altLang="en-US" dirty="0" err="1"/>
                <a:t>台式机内存</a:t>
              </a:r>
              <a:endParaRPr lang="en-US" alt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指针与结构体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/>
              <a:t>void</a:t>
            </a:r>
            <a:r>
              <a:rPr lang="zh-CN" altLang="en-US" dirty="0"/>
              <a:t>指针</a:t>
            </a:r>
            <a:endParaRPr lang="en-US" altLang="zh-CN" dirty="0"/>
          </a:p>
          <a:p>
            <a:r>
              <a:rPr lang="zh-CN" altLang="en-US" dirty="0"/>
              <a:t>指针与函数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本讲内容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指针与结构体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指针与结构体</a:t>
            </a:r>
            <a:endParaRPr lang="zh-CN" altLang="en-US" dirty="0"/>
          </a:p>
        </p:txBody>
      </p:sp>
      <p:sp>
        <p:nvSpPr>
          <p:cNvPr id="589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800" dirty="0"/>
              <a:t>结构</a:t>
            </a:r>
            <a:r>
              <a:rPr lang="zh-CN" altLang="en-US" dirty="0"/>
              <a:t>体</a:t>
            </a:r>
            <a:r>
              <a:rPr lang="zh-CN" altLang="en-US" sz="2800" dirty="0"/>
              <a:t>这种数据也是要存储到内存单元中的，它也有地址</a:t>
            </a:r>
            <a:endParaRPr lang="zh-CN" altLang="en-US" sz="2800" dirty="0"/>
          </a:p>
          <a:p>
            <a:pPr>
              <a:defRPr/>
            </a:pPr>
            <a:r>
              <a:rPr lang="zh-CN" altLang="en-US" sz="2800" dirty="0"/>
              <a:t>可以用取地址操作符</a:t>
            </a:r>
            <a:r>
              <a:rPr lang="en-US" altLang="zh-CN" sz="2800" dirty="0"/>
              <a:t>&amp;</a:t>
            </a:r>
            <a:r>
              <a:rPr lang="zh-CN" altLang="en-US" sz="2800" dirty="0"/>
              <a:t>得到结构体变量的地址</a:t>
            </a:r>
            <a:endParaRPr lang="zh-CN" altLang="en-US" sz="2800" dirty="0"/>
          </a:p>
          <a:p>
            <a:pPr lvl="1">
              <a:defRPr/>
            </a:pPr>
            <a:r>
              <a:rPr lang="zh-CN" altLang="en-US" dirty="0"/>
              <a:t>结构体变量的地址是其第一个成员的地址</a:t>
            </a:r>
            <a:endParaRPr lang="zh-CN" altLang="en-US" dirty="0"/>
          </a:p>
          <a:p>
            <a:pPr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1123621" y="1351508"/>
            <a:ext cx="6896757" cy="4154984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#include &lt;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stdio.h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&gt;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预编译命令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#include &lt;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string.h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&gt;	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预编译命令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struct student		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定义结构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student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{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char name[20];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char sex;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unsigned long birthday;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float height;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float weight;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};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1070632" y="163512"/>
            <a:ext cx="7880863" cy="6530975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int main()	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主函数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{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student my;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my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student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结构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student *point;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为指向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student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结构的指针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 = &amp;my;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将指针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指向结构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my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这是一个赋值函数，它可以将字符串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复制到指针所指向的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name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成员中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strcpy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 point-&gt;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name,"Wang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Xiaorong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");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point-&gt;sex = 'F';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输入学生数据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point-&gt;birthday = 19840923;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point-&gt;height = 1.62f;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point-&gt;weight = 51.5f;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(“%s\n”, my.name);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输出该学生数据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(“%c\n”,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my.sex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(“%d\n”,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my.birthday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(“%f\n”,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my.height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(“%f\n”,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my.weight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return 0;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}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34531" name="Oval 3"/>
          <p:cNvSpPr>
            <a:spLocks noChangeArrowheads="1"/>
          </p:cNvSpPr>
          <p:nvPr/>
        </p:nvSpPr>
        <p:spPr bwMode="auto">
          <a:xfrm>
            <a:off x="2138029" y="2924259"/>
            <a:ext cx="576262" cy="1511300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3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1130969" y="260350"/>
            <a:ext cx="7724274" cy="2496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说明：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、语句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student *point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是定义一个指向结构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student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的指针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、语句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 = &amp;my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是说将名为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my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的结构（这个结构也是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student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结构）的地址赋给指针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。这个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my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结构第一个成员（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name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成员）的地址。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535555" name="Group 3"/>
          <p:cNvGraphicFramePr>
            <a:graphicFrameLocks noGrp="1"/>
          </p:cNvGraphicFramePr>
          <p:nvPr/>
        </p:nvGraphicFramePr>
        <p:xfrm>
          <a:off x="5151352" y="3612891"/>
          <a:ext cx="2519363" cy="2590800"/>
        </p:xfrm>
        <a:graphic>
          <a:graphicData uri="http://schemas.openxmlformats.org/drawingml/2006/table">
            <a:tbl>
              <a:tblPr/>
              <a:tblGrid>
                <a:gridCol w="2519363"/>
              </a:tblGrid>
              <a:tr h="3286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name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成员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sex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成员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birthday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成员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height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成员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weight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成员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785" name="Text Box 17"/>
          <p:cNvSpPr txBox="1">
            <a:spLocks noChangeArrowheads="1"/>
          </p:cNvSpPr>
          <p:nvPr/>
        </p:nvSpPr>
        <p:spPr bwMode="auto">
          <a:xfrm>
            <a:off x="4359190" y="3136641"/>
            <a:ext cx="3960812" cy="3208337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结构体变量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my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1911265" y="4146291"/>
            <a:ext cx="151130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&amp;my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2787" name="Text Box 19"/>
          <p:cNvSpPr txBox="1">
            <a:spLocks noChangeArrowheads="1"/>
          </p:cNvSpPr>
          <p:nvPr/>
        </p:nvSpPr>
        <p:spPr bwMode="auto">
          <a:xfrm>
            <a:off x="2055727" y="3673216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pointer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2788" name="Line 20"/>
          <p:cNvSpPr>
            <a:spLocks noChangeShapeType="1"/>
          </p:cNvSpPr>
          <p:nvPr/>
        </p:nvSpPr>
        <p:spPr bwMode="auto">
          <a:xfrm flipV="1">
            <a:off x="3208252" y="3897053"/>
            <a:ext cx="1943100" cy="503238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435101" y="1367423"/>
            <a:ext cx="7499350" cy="480060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指向结构的指针就可以通过箭头操作符</a:t>
            </a:r>
            <a:r>
              <a:rPr kumimoji="1"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kumimoji="1" lang="en-US" altLang="zh-CN" dirty="0">
                <a:solidFill>
                  <a:schemeClr val="hlink"/>
                </a:solidFill>
                <a:latin typeface="+mj-lt"/>
                <a:ea typeface="黑体" panose="02010609060101010101" pitchFamily="49" charset="-122"/>
              </a:rPr>
              <a:t>-&gt;</a:t>
            </a:r>
            <a:r>
              <a:rPr kumimoji="1"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” </a:t>
            </a:r>
            <a:r>
              <a:rPr lang="zh-CN" altLang="en-US" dirty="0"/>
              <a:t>来访问结构的成员。例如：</a:t>
            </a:r>
            <a:endParaRPr lang="en-US" altLang="zh-CN" dirty="0"/>
          </a:p>
          <a:p>
            <a:pPr lvl="1"/>
            <a:r>
              <a:rPr lang="en-US" dirty="0"/>
              <a:t>point-&gt;birthday = 19840923;</a:t>
            </a:r>
            <a:endParaRPr lang="en-US" dirty="0"/>
          </a:p>
          <a:p>
            <a:pPr lvl="1"/>
            <a:r>
              <a:rPr lang="en-US" dirty="0"/>
              <a:t>point-&gt;sex=‘F’;</a:t>
            </a:r>
            <a:endParaRPr lang="en-US" dirty="0"/>
          </a:p>
          <a:p>
            <a:pPr lvl="1"/>
            <a:r>
              <a:rPr lang="en-US" dirty="0"/>
              <a:t>point-&gt;height=1.62f;</a:t>
            </a:r>
            <a:endParaRPr lang="en-US" dirty="0"/>
          </a:p>
          <a:p>
            <a:pPr lvl="1"/>
            <a:r>
              <a:rPr lang="en-US" dirty="0"/>
              <a:t>point-&gt;weight=51.5f;</a:t>
            </a:r>
            <a:endParaRPr lang="en-US" dirty="0"/>
          </a:p>
          <a:p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点操作符和箭头操作符可以互换使用。以下三种访问结构成员的写法是等价的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/>
              <a:t>point-&gt;name </a:t>
            </a:r>
            <a:endParaRPr lang="en-US" altLang="zh-CN" dirty="0"/>
          </a:p>
          <a:p>
            <a:pPr lvl="1"/>
            <a:r>
              <a:rPr lang="en-US" altLang="zh-CN" dirty="0"/>
              <a:t>(*point).name</a:t>
            </a:r>
            <a:endParaRPr lang="en-US" altLang="zh-CN" dirty="0"/>
          </a:p>
          <a:p>
            <a:pPr lvl="1"/>
            <a:r>
              <a:rPr lang="en-US" altLang="zh-CN" dirty="0"/>
              <a:t>my.name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-&gt; </a:t>
            </a:r>
            <a:r>
              <a:rPr lang="zh-CN" altLang="en-US" dirty="0"/>
              <a:t>操作符</a:t>
            </a:r>
            <a:endParaRPr lang="en-US" dirty="0"/>
          </a:p>
        </p:txBody>
      </p:sp>
      <p:sp>
        <p:nvSpPr>
          <p:cNvPr id="7" name="Right Brace 6"/>
          <p:cNvSpPr/>
          <p:nvPr/>
        </p:nvSpPr>
        <p:spPr>
          <a:xfrm>
            <a:off x="4171033" y="4762704"/>
            <a:ext cx="132026" cy="60145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454644" y="486337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写法比较</a:t>
            </a:r>
            <a:endParaRPr lang="zh-CN" altLang="en-US" sz="2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结构体指针作为函数输入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void </a:t>
            </a:r>
            <a:r>
              <a:rPr lang="en-US" altLang="zh-CN" dirty="0" err="1">
                <a:solidFill>
                  <a:schemeClr val="tx1"/>
                </a:solidFill>
              </a:rPr>
              <a:t>moveByValue</a:t>
            </a:r>
            <a:r>
              <a:rPr lang="en-US" altLang="zh-CN" dirty="0">
                <a:solidFill>
                  <a:schemeClr val="tx1"/>
                </a:solidFill>
              </a:rPr>
              <a:t>(Point p)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err="1">
                <a:solidFill>
                  <a:schemeClr val="tx1"/>
                </a:solidFill>
              </a:rPr>
              <a:t>p.x</a:t>
            </a:r>
            <a:r>
              <a:rPr lang="en-US" altLang="zh-CN" dirty="0">
                <a:solidFill>
                  <a:schemeClr val="tx1"/>
                </a:solidFill>
              </a:rPr>
              <a:t> += 10;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err="1">
                <a:solidFill>
                  <a:schemeClr val="tx1"/>
                </a:solidFill>
              </a:rPr>
              <a:t>p.y</a:t>
            </a:r>
            <a:r>
              <a:rPr lang="en-US" altLang="zh-CN" dirty="0">
                <a:solidFill>
                  <a:schemeClr val="tx1"/>
                </a:solidFill>
              </a:rPr>
              <a:t> += 10;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void </a:t>
            </a:r>
            <a:r>
              <a:rPr lang="en-US" altLang="zh-CN" dirty="0" err="1">
                <a:solidFill>
                  <a:schemeClr val="tx1"/>
                </a:solidFill>
              </a:rPr>
              <a:t>moveByPointer</a:t>
            </a:r>
            <a:r>
              <a:rPr lang="en-US" altLang="zh-CN" dirty="0">
                <a:solidFill>
                  <a:schemeClr val="tx1"/>
                </a:solidFill>
              </a:rPr>
              <a:t>(Point *p)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p-&gt;x += 10;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p-&gt;y += 10;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5604" y="49483"/>
            <a:ext cx="2824223" cy="206210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</a:rPr>
              <a:t>typedef struct {</a:t>
            </a:r>
            <a:endParaRPr lang="en-US" altLang="zh-CN" sz="3200" dirty="0">
              <a:solidFill>
                <a:schemeClr val="tx1"/>
              </a:solidFill>
            </a:endParaRPr>
          </a:p>
          <a:p>
            <a:r>
              <a:rPr lang="en-US" altLang="zh-CN" sz="3200" dirty="0">
                <a:solidFill>
                  <a:schemeClr val="tx1"/>
                </a:solidFill>
              </a:rPr>
              <a:t>    int x;</a:t>
            </a:r>
            <a:endParaRPr lang="en-US" altLang="zh-CN" sz="3200" dirty="0">
              <a:solidFill>
                <a:schemeClr val="tx1"/>
              </a:solidFill>
            </a:endParaRPr>
          </a:p>
          <a:p>
            <a:r>
              <a:rPr lang="en-US" altLang="zh-CN" sz="3200" dirty="0">
                <a:solidFill>
                  <a:schemeClr val="tx1"/>
                </a:solidFill>
              </a:rPr>
              <a:t>    int y;</a:t>
            </a:r>
            <a:endParaRPr lang="en-US" altLang="zh-CN" sz="3200" dirty="0">
              <a:solidFill>
                <a:schemeClr val="tx1"/>
              </a:solidFill>
            </a:endParaRPr>
          </a:p>
          <a:p>
            <a:r>
              <a:rPr lang="en-US" altLang="zh-CN" sz="3200" dirty="0">
                <a:solidFill>
                  <a:schemeClr val="tx1"/>
                </a:solidFill>
              </a:rPr>
              <a:t>} Point;</a:t>
            </a:r>
            <a:endParaRPr lang="en-US" altLang="zh-CN" sz="320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7235" y="4896090"/>
            <a:ext cx="3495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不用和其他指针变量一样用（</a:t>
            </a:r>
            <a:r>
              <a:rPr lang="en-US" altLang="zh-CN" sz="2400" dirty="0"/>
              <a:t>*p)</a:t>
            </a:r>
            <a:r>
              <a:rPr lang="zh-CN" altLang="en-US" sz="2400" dirty="0"/>
              <a:t>的方式访问</a:t>
            </a:r>
            <a:endParaRPr lang="zh-CN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3628074" y="3026635"/>
            <a:ext cx="5247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函数输入传指针也更节省空间</a:t>
            </a:r>
            <a:endParaRPr lang="en-US" altLang="zh-CN" sz="2400" dirty="0"/>
          </a:p>
          <a:p>
            <a:pPr algn="ctr"/>
            <a:r>
              <a:rPr lang="zh-CN" altLang="en-US" sz="2400" dirty="0"/>
              <a:t>（不需要额外开一个结构体复制数据）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结构体指针作为函数输出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3496" y="1498033"/>
            <a:ext cx="8137003" cy="409342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freq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altLang="zh-CN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findMatch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[],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altLang="zh-CN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zh-CN" alt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返回指向结构体的指针</a:t>
            </a:r>
            <a:endParaRPr lang="zh-CN" alt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0920" y="5787342"/>
            <a:ext cx="6942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如果</a:t>
            </a:r>
            <a:r>
              <a:rPr lang="en-US" altLang="zh-CN" sz="2400" dirty="0"/>
              <a:t>return</a:t>
            </a:r>
            <a:r>
              <a:rPr lang="zh-CN" altLang="en-US" sz="2400" dirty="0"/>
              <a:t>的是不是</a:t>
            </a:r>
            <a:r>
              <a:rPr lang="en-US" altLang="zh-CN" sz="2400" dirty="0"/>
              <a:t>Item *</a:t>
            </a:r>
            <a:r>
              <a:rPr lang="zh-CN" altLang="en-US" sz="2400" dirty="0"/>
              <a:t>而是</a:t>
            </a:r>
            <a:r>
              <a:rPr lang="en-US" altLang="zh-CN" sz="2400" dirty="0"/>
              <a:t>Item</a:t>
            </a:r>
            <a:r>
              <a:rPr lang="zh-CN" altLang="en-US" sz="2400" dirty="0"/>
              <a:t>，有什么问题？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2560" y="64132"/>
            <a:ext cx="6720640" cy="6636388"/>
          </a:xfrm>
          <a:solidFill>
            <a:schemeClr val="tx1">
              <a:lumMod val="95000"/>
              <a:lumOff val="5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findMatch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    // 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找到了，安全地 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++ 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，真正修改结构体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freq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    // 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没找到，新增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freq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输出统计结果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"key=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freq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freq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zh-CN" altLang="en-US" sz="1600" dirty="0"/>
          </a:p>
        </p:txBody>
      </p:sp>
      <p:sp>
        <p:nvSpPr>
          <p:cNvPr id="6" name="Rectangle: Rounded Corners 5"/>
          <p:cNvSpPr/>
          <p:nvPr/>
        </p:nvSpPr>
        <p:spPr>
          <a:xfrm>
            <a:off x="2951480" y="2453640"/>
            <a:ext cx="4028440" cy="69088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11682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以下代码是否能正确将数组中最大元素的</a:t>
            </a:r>
            <a:r>
              <a:rPr lang="en-US" altLang="zh-CN" dirty="0"/>
              <a:t>frequency</a:t>
            </a:r>
            <a:r>
              <a:rPr lang="zh-CN" altLang="en-US" dirty="0"/>
              <a:t>更新？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098040"/>
            <a:ext cx="8280000" cy="4228040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Item </a:t>
            </a:r>
            <a:r>
              <a:rPr lang="en-US" altLang="zh-CN" dirty="0" err="1">
                <a:solidFill>
                  <a:schemeClr val="tx1"/>
                </a:solidFill>
              </a:rPr>
              <a:t>maxItem</a:t>
            </a:r>
            <a:r>
              <a:rPr lang="en-US" altLang="zh-CN" dirty="0">
                <a:solidFill>
                  <a:schemeClr val="tx1"/>
                </a:solidFill>
              </a:rPr>
              <a:t> = items[0];  // </a:t>
            </a:r>
            <a:r>
              <a:rPr lang="zh-CN" altLang="en-US" dirty="0">
                <a:solidFill>
                  <a:schemeClr val="tx1"/>
                </a:solidFill>
              </a:rPr>
              <a:t>拷贝！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for (int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= 1;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&lt; count;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++)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if (items[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].</a:t>
            </a:r>
            <a:r>
              <a:rPr lang="en-US" altLang="zh-CN" dirty="0" err="1">
                <a:solidFill>
                  <a:schemeClr val="tx1"/>
                </a:solidFill>
              </a:rPr>
              <a:t>freq</a:t>
            </a:r>
            <a:r>
              <a:rPr lang="en-US" altLang="zh-CN" dirty="0">
                <a:solidFill>
                  <a:schemeClr val="tx1"/>
                </a:solidFill>
              </a:rPr>
              <a:t> &gt; </a:t>
            </a:r>
            <a:r>
              <a:rPr lang="en-US" altLang="zh-CN" dirty="0" err="1">
                <a:solidFill>
                  <a:schemeClr val="tx1"/>
                </a:solidFill>
              </a:rPr>
              <a:t>maxItem.freq</a:t>
            </a:r>
            <a:r>
              <a:rPr lang="en-US" altLang="zh-CN" dirty="0">
                <a:solidFill>
                  <a:schemeClr val="tx1"/>
                </a:solidFill>
              </a:rPr>
              <a:t>)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    </a:t>
            </a:r>
            <a:r>
              <a:rPr lang="en-US" altLang="zh-CN" dirty="0" err="1">
                <a:solidFill>
                  <a:schemeClr val="tx1"/>
                </a:solidFill>
              </a:rPr>
              <a:t>maxItem</a:t>
            </a:r>
            <a:r>
              <a:rPr lang="en-US" altLang="zh-CN" dirty="0">
                <a:solidFill>
                  <a:schemeClr val="tx1"/>
                </a:solidFill>
              </a:rPr>
              <a:t> = items[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];   // </a:t>
            </a:r>
            <a:r>
              <a:rPr lang="zh-CN" altLang="en-US" dirty="0">
                <a:solidFill>
                  <a:schemeClr val="tx1"/>
                </a:solidFill>
              </a:rPr>
              <a:t>又是拷贝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    </a:t>
            </a:r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 err="1">
                <a:solidFill>
                  <a:schemeClr val="tx1"/>
                </a:solidFill>
              </a:rPr>
              <a:t>maxItem.freq</a:t>
            </a:r>
            <a:r>
              <a:rPr lang="en-US" altLang="zh-CN" dirty="0">
                <a:solidFill>
                  <a:schemeClr val="tx1"/>
                </a:solidFill>
              </a:rPr>
              <a:t>++;  // </a:t>
            </a:r>
            <a:r>
              <a:rPr lang="zh-CN" altLang="en-US" dirty="0">
                <a:solidFill>
                  <a:schemeClr val="tx1"/>
                </a:solidFill>
              </a:rPr>
              <a:t>改的是副本，不是数组里的结构体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11682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以下代码是否能正确将数组中最大元素的</a:t>
            </a:r>
            <a:r>
              <a:rPr lang="en-US" altLang="zh-CN" dirty="0"/>
              <a:t>frequency</a:t>
            </a:r>
            <a:r>
              <a:rPr lang="zh-CN" altLang="en-US" dirty="0"/>
              <a:t>更新？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098040"/>
            <a:ext cx="8280000" cy="4228040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Item </a:t>
            </a:r>
            <a:r>
              <a:rPr lang="en-US" altLang="zh-CN" dirty="0">
                <a:solidFill>
                  <a:srgbClr val="FF0000"/>
                </a:solidFill>
              </a:rPr>
              <a:t>*</a:t>
            </a:r>
            <a:r>
              <a:rPr lang="en-US" altLang="zh-CN" dirty="0" err="1">
                <a:solidFill>
                  <a:srgbClr val="FF0000"/>
                </a:solidFill>
              </a:rPr>
              <a:t>maxItem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= </a:t>
            </a:r>
            <a:r>
              <a:rPr lang="en-US" altLang="zh-CN" dirty="0">
                <a:solidFill>
                  <a:srgbClr val="FF0000"/>
                </a:solidFill>
              </a:rPr>
              <a:t>&amp;</a:t>
            </a:r>
            <a:r>
              <a:rPr lang="en-US" altLang="zh-CN" dirty="0">
                <a:solidFill>
                  <a:schemeClr val="tx1"/>
                </a:solidFill>
              </a:rPr>
              <a:t>items[0];  // </a:t>
            </a:r>
            <a:r>
              <a:rPr lang="zh-CN" altLang="en-US" dirty="0">
                <a:solidFill>
                  <a:schemeClr val="tx1"/>
                </a:solidFill>
              </a:rPr>
              <a:t>指针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for (int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= 1;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&lt; count;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++)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if (items[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].</a:t>
            </a:r>
            <a:r>
              <a:rPr lang="en-US" altLang="zh-CN" dirty="0" err="1">
                <a:solidFill>
                  <a:schemeClr val="tx1"/>
                </a:solidFill>
              </a:rPr>
              <a:t>freq</a:t>
            </a:r>
            <a:r>
              <a:rPr lang="en-US" altLang="zh-CN" dirty="0">
                <a:solidFill>
                  <a:schemeClr val="tx1"/>
                </a:solidFill>
              </a:rPr>
              <a:t> &gt; </a:t>
            </a:r>
            <a:r>
              <a:rPr lang="en-US" altLang="zh-CN" dirty="0" err="1">
                <a:solidFill>
                  <a:schemeClr val="tx1"/>
                </a:solidFill>
              </a:rPr>
              <a:t>maxItem</a:t>
            </a:r>
            <a:r>
              <a:rPr lang="en-US" altLang="zh-CN" dirty="0">
                <a:solidFill>
                  <a:srgbClr val="FF0000"/>
                </a:solidFill>
              </a:rPr>
              <a:t>-&gt;</a:t>
            </a:r>
            <a:r>
              <a:rPr lang="en-US" altLang="zh-CN" dirty="0" err="1">
                <a:solidFill>
                  <a:schemeClr val="tx1"/>
                </a:solidFill>
              </a:rPr>
              <a:t>freq</a:t>
            </a:r>
            <a:r>
              <a:rPr lang="en-US" altLang="zh-CN" dirty="0">
                <a:solidFill>
                  <a:schemeClr val="tx1"/>
                </a:solidFill>
              </a:rPr>
              <a:t>)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    </a:t>
            </a:r>
            <a:r>
              <a:rPr lang="en-US" altLang="zh-CN" dirty="0" err="1">
                <a:solidFill>
                  <a:schemeClr val="tx1"/>
                </a:solidFill>
              </a:rPr>
              <a:t>maxItem</a:t>
            </a:r>
            <a:r>
              <a:rPr lang="en-US" altLang="zh-CN" dirty="0">
                <a:solidFill>
                  <a:schemeClr val="tx1"/>
                </a:solidFill>
              </a:rPr>
              <a:t> = </a:t>
            </a:r>
            <a:r>
              <a:rPr lang="en-US" altLang="zh-CN" dirty="0">
                <a:solidFill>
                  <a:srgbClr val="FF0000"/>
                </a:solidFill>
              </a:rPr>
              <a:t>&amp;</a:t>
            </a:r>
            <a:r>
              <a:rPr lang="en-US" altLang="zh-CN" dirty="0">
                <a:solidFill>
                  <a:schemeClr val="tx1"/>
                </a:solidFill>
              </a:rPr>
              <a:t>items[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];   // </a:t>
            </a:r>
            <a:r>
              <a:rPr lang="zh-CN" altLang="en-US" dirty="0">
                <a:solidFill>
                  <a:schemeClr val="tx1"/>
                </a:solidFill>
              </a:rPr>
              <a:t>又是指针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    </a:t>
            </a:r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 err="1">
                <a:solidFill>
                  <a:schemeClr val="tx1"/>
                </a:solidFill>
              </a:rPr>
              <a:t>maxItem</a:t>
            </a:r>
            <a:r>
              <a:rPr lang="en-US" altLang="zh-CN" dirty="0">
                <a:solidFill>
                  <a:srgbClr val="FF0000"/>
                </a:solidFill>
              </a:rPr>
              <a:t>-&gt;</a:t>
            </a:r>
            <a:r>
              <a:rPr lang="en-US" altLang="zh-CN" dirty="0" err="1">
                <a:solidFill>
                  <a:schemeClr val="tx1"/>
                </a:solidFill>
              </a:rPr>
              <a:t>freq</a:t>
            </a:r>
            <a:r>
              <a:rPr lang="en-US" altLang="zh-CN" dirty="0">
                <a:solidFill>
                  <a:schemeClr val="tx1"/>
                </a:solidFill>
              </a:rPr>
              <a:t>++;  // </a:t>
            </a:r>
            <a:r>
              <a:rPr lang="zh-CN" altLang="en-US" dirty="0">
                <a:solidFill>
                  <a:schemeClr val="tx1"/>
                </a:solidFill>
              </a:rPr>
              <a:t>改的是数组里的结构体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用指针可以实现链表</a:t>
            </a:r>
            <a:endParaRPr lang="zh-CN" altLang="en-US" dirty="0"/>
          </a:p>
        </p:txBody>
      </p:sp>
      <p:pic>
        <p:nvPicPr>
          <p:cNvPr id="3074" name="Picture 2" descr="36张图带你深刻理解链表_链表图示-CSDN博客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06" r="2888" b="24854"/>
          <a:stretch>
            <a:fillRect/>
          </a:stretch>
        </p:blipFill>
        <p:spPr bwMode="auto">
          <a:xfrm>
            <a:off x="0" y="1324695"/>
            <a:ext cx="9144000" cy="2668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0569" y="4263977"/>
            <a:ext cx="326641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struct node {</a:t>
            </a:r>
            <a:br>
              <a:rPr lang="en-US" altLang="zh-CN" sz="3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sz="3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   int m;</a:t>
            </a:r>
            <a:br>
              <a:rPr lang="en-US" altLang="zh-CN" sz="3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sz="3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   node *next;</a:t>
            </a:r>
            <a:br>
              <a:rPr lang="en-US" altLang="zh-CN" sz="3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sz="3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};</a:t>
            </a:r>
            <a:endParaRPr lang="zh-CN" alt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4735060" y="4440875"/>
            <a:ext cx="38889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思考：链表添加</a:t>
            </a:r>
            <a:r>
              <a:rPr lang="en-US" altLang="zh-CN" sz="2800" dirty="0"/>
              <a:t>/</a:t>
            </a:r>
            <a:r>
              <a:rPr lang="zh-CN" altLang="en-US" sz="2800" dirty="0"/>
              <a:t>删除数据比数组容易吗？</a:t>
            </a:r>
            <a:endParaRPr lang="en-US" altLang="zh-CN" sz="2800" dirty="0"/>
          </a:p>
          <a:p>
            <a:r>
              <a:rPr lang="zh-CN" altLang="en-US" sz="2800" dirty="0"/>
              <a:t>例如，原本有序存着数据</a:t>
            </a:r>
            <a:r>
              <a:rPr lang="en-US" altLang="zh-CN" sz="2800" dirty="0"/>
              <a:t>2-&gt;3-&gt;5-&gt;8</a:t>
            </a:r>
            <a:r>
              <a:rPr lang="zh-CN" altLang="en-US" sz="2800" dirty="0"/>
              <a:t>；要插入</a:t>
            </a:r>
            <a:r>
              <a:rPr lang="en-US" altLang="zh-CN" sz="2800" dirty="0"/>
              <a:t>4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练习：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#286.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链表操作（删除节点）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本题需要补充完成链表删除结点的代码。</a:t>
            </a:r>
            <a:endParaRPr lang="zh-CN" altLang="en-US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algn="l"/>
            <a:b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struct node{</a:t>
            </a:r>
            <a:b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   int m;</a:t>
            </a:r>
            <a:b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   node *next;</a:t>
            </a:r>
            <a:b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};</a:t>
            </a:r>
            <a:b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b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删除以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head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为头节点的链表中的第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n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个节点，并返回删除后的链表的头节点</a:t>
            </a:r>
            <a:b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node * </a:t>
            </a:r>
            <a:r>
              <a:rPr lang="en-US" altLang="zh-CN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delNode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( node *head, int n )</a:t>
            </a:r>
            <a:b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{</a:t>
            </a:r>
            <a:b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//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你需要补充完成的内容</a:t>
            </a:r>
            <a:b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}</a:t>
            </a:r>
            <a:endParaRPr lang="en-US" altLang="zh-CN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999" y="1389185"/>
            <a:ext cx="8315923" cy="493689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b="0" i="0" dirty="0">
                <a:solidFill>
                  <a:schemeClr val="bg1">
                    <a:lumMod val="65000"/>
                  </a:schemeClr>
                </a:solidFill>
                <a:effectLst/>
                <a:latin typeface="Open Sans" panose="020B0606030504020204" pitchFamily="34" charset="0"/>
              </a:rPr>
              <a:t>       node * </a:t>
            </a:r>
            <a:r>
              <a:rPr lang="en-US" altLang="zh-CN" b="0" i="0" dirty="0" err="1">
                <a:solidFill>
                  <a:schemeClr val="bg1">
                    <a:lumMod val="65000"/>
                  </a:schemeClr>
                </a:solidFill>
                <a:effectLst/>
                <a:latin typeface="Open Sans" panose="020B0606030504020204" pitchFamily="34" charset="0"/>
              </a:rPr>
              <a:t>delNode</a:t>
            </a:r>
            <a:r>
              <a:rPr lang="en-US" altLang="zh-CN" b="0" i="0" dirty="0">
                <a:solidFill>
                  <a:schemeClr val="bg1">
                    <a:lumMod val="65000"/>
                  </a:schemeClr>
                </a:solidFill>
                <a:effectLst/>
                <a:latin typeface="Open Sans" panose="020B0606030504020204" pitchFamily="34" charset="0"/>
              </a:rPr>
              <a:t>( node *head, int n )</a:t>
            </a:r>
            <a:br>
              <a:rPr lang="en-US" altLang="zh-CN" b="0" i="0" dirty="0">
                <a:solidFill>
                  <a:schemeClr val="bg1">
                    <a:lumMod val="65000"/>
                  </a:schemeClr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bg1">
                    <a:lumMod val="65000"/>
                  </a:schemeClr>
                </a:solidFill>
                <a:effectLst/>
                <a:latin typeface="Open Sans" panose="020B0606030504020204" pitchFamily="34" charset="0"/>
              </a:rPr>
              <a:t>       {</a:t>
            </a:r>
            <a:b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            if(n==1) //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边界情况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，修改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head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节点即可</a:t>
            </a:r>
            <a:endParaRPr lang="en-US" altLang="zh-CN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		return head-&gt;next;</a:t>
            </a:r>
            <a:endParaRPr lang="en-US" altLang="zh-CN" dirty="0">
              <a:solidFill>
                <a:schemeClr val="tx1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	node *</a:t>
            </a:r>
            <a:r>
              <a:rPr lang="en-US" altLang="zh-CN" dirty="0" err="1">
                <a:solidFill>
                  <a:schemeClr val="tx1"/>
                </a:solidFill>
                <a:latin typeface="Open Sans" panose="020B0606030504020204" pitchFamily="34" charset="0"/>
              </a:rPr>
              <a:t>prevnode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 = NULL, *</a:t>
            </a:r>
            <a:r>
              <a:rPr lang="en-US" altLang="zh-CN" dirty="0" err="1">
                <a:solidFill>
                  <a:schemeClr val="tx1"/>
                </a:solidFill>
                <a:latin typeface="Open Sans" panose="020B0606030504020204" pitchFamily="34" charset="0"/>
              </a:rPr>
              <a:t>curnode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 = head;</a:t>
            </a:r>
            <a:endParaRPr lang="en-US" altLang="zh-CN" dirty="0">
              <a:solidFill>
                <a:schemeClr val="tx1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	for(int </a:t>
            </a:r>
            <a:r>
              <a:rPr lang="en-US" altLang="zh-CN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=2;i&lt;=</a:t>
            </a:r>
            <a:r>
              <a:rPr lang="en-US" altLang="zh-CN" dirty="0" err="1">
                <a:solidFill>
                  <a:schemeClr val="tx1"/>
                </a:solidFill>
                <a:latin typeface="Open Sans" panose="020B0606030504020204" pitchFamily="34" charset="0"/>
              </a:rPr>
              <a:t>n;i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++){  //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找到第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n-1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和第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n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个节点</a:t>
            </a:r>
            <a:endParaRPr lang="en-US" altLang="zh-CN" dirty="0">
              <a:solidFill>
                <a:schemeClr val="tx1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		</a:t>
            </a:r>
            <a:r>
              <a:rPr lang="en-US" altLang="zh-CN" dirty="0" err="1">
                <a:solidFill>
                  <a:schemeClr val="tx1"/>
                </a:solidFill>
                <a:latin typeface="Open Sans" panose="020B0606030504020204" pitchFamily="34" charset="0"/>
              </a:rPr>
              <a:t>prevnode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 = </a:t>
            </a:r>
            <a:r>
              <a:rPr lang="en-US" altLang="zh-CN" dirty="0" err="1">
                <a:solidFill>
                  <a:schemeClr val="tx1"/>
                </a:solidFill>
                <a:latin typeface="Open Sans" panose="020B0606030504020204" pitchFamily="34" charset="0"/>
              </a:rPr>
              <a:t>curnode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;</a:t>
            </a:r>
            <a:endParaRPr lang="en-US" altLang="zh-CN" dirty="0">
              <a:solidFill>
                <a:schemeClr val="tx1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		</a:t>
            </a:r>
            <a:r>
              <a:rPr lang="en-US" altLang="zh-CN" dirty="0" err="1">
                <a:solidFill>
                  <a:schemeClr val="tx1"/>
                </a:solidFill>
                <a:latin typeface="Open Sans" panose="020B0606030504020204" pitchFamily="34" charset="0"/>
              </a:rPr>
              <a:t>curnode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 = </a:t>
            </a:r>
            <a:r>
              <a:rPr lang="en-US" altLang="zh-CN" dirty="0" err="1">
                <a:solidFill>
                  <a:schemeClr val="tx1"/>
                </a:solidFill>
                <a:latin typeface="Open Sans" panose="020B0606030504020204" pitchFamily="34" charset="0"/>
              </a:rPr>
              <a:t>curnode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 -&gt; next;</a:t>
            </a:r>
            <a:endParaRPr lang="en-US" altLang="zh-CN" dirty="0">
              <a:solidFill>
                <a:schemeClr val="tx1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            }</a:t>
            </a:r>
            <a:endParaRPr lang="en-US" altLang="zh-CN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	</a:t>
            </a:r>
            <a:r>
              <a:rPr lang="en-US" altLang="zh-CN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prevnode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-&gt;next = </a:t>
            </a:r>
            <a:r>
              <a:rPr lang="en-US" altLang="zh-CN" dirty="0" err="1">
                <a:solidFill>
                  <a:schemeClr val="tx1"/>
                </a:solidFill>
                <a:latin typeface="Open Sans" panose="020B0606030504020204" pitchFamily="34" charset="0"/>
              </a:rPr>
              <a:t>curnode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 -&gt; next; //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删除第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n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个节点</a:t>
            </a:r>
            <a:endParaRPr lang="en-US" altLang="zh-CN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	return head;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	</a:t>
            </a:r>
            <a:b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zh-CN" altLang="en-US" b="0" i="0" dirty="0">
                <a:solidFill>
                  <a:schemeClr val="bg1">
                    <a:lumMod val="65000"/>
                  </a:schemeClr>
                </a:solidFill>
                <a:effectLst/>
                <a:latin typeface="Open Sans" panose="020B0606030504020204" pitchFamily="34" charset="0"/>
              </a:rPr>
              <a:t>        </a:t>
            </a:r>
            <a:r>
              <a:rPr lang="en-US" altLang="zh-CN" b="0" i="0" dirty="0">
                <a:solidFill>
                  <a:schemeClr val="bg1">
                    <a:lumMod val="65000"/>
                  </a:schemeClr>
                </a:solidFill>
                <a:effectLst/>
                <a:latin typeface="Open Sans" panose="020B0606030504020204" pitchFamily="34" charset="0"/>
              </a:rPr>
              <a:t>}</a:t>
            </a:r>
            <a:endParaRPr lang="en-US" altLang="zh-CN" b="0" i="0" dirty="0">
              <a:solidFill>
                <a:schemeClr val="bg1">
                  <a:lumMod val="65000"/>
                </a:schemeClr>
              </a:solidFill>
              <a:effectLst/>
              <a:latin typeface="Open Sans" panose="020B0606030504020204" pitchFamily="34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结构也可以构成数组，即数组元素是结构，当然要求这一类数组的全部元素都应该是同一类结构。</a:t>
            </a:r>
            <a:endParaRPr lang="zh-CN" altLang="en-US" dirty="0"/>
          </a:p>
          <a:p>
            <a:pPr>
              <a:defRPr/>
            </a:pPr>
            <a:r>
              <a:rPr lang="zh-CN" altLang="en-US" dirty="0"/>
              <a:t>下例中有同宿舍的四名同学的数据，构成一个有四个元素的结构数组。</a:t>
            </a:r>
            <a:endParaRPr lang="zh-CN" alt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指针与结构数组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651314" y="3508013"/>
            <a:ext cx="3453064" cy="2505238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// </a:t>
            </a:r>
            <a:r>
              <a:rPr kumimoji="1" lang="en-US" altLang="en-US" dirty="0" err="1">
                <a:latin typeface="Arial Narrow" panose="020B0606020202030204" pitchFamily="34" charset="0"/>
                <a:ea typeface="黑体" panose="02010609060101010101" pitchFamily="49" charset="-122"/>
              </a:rPr>
              <a:t>定义结构</a:t>
            </a:r>
            <a:r>
              <a:rPr kumimoji="1" lang="en-US" altLang="zh-CN" dirty="0" err="1">
                <a:latin typeface="Arial Narrow" panose="020B0606020202030204" pitchFamily="34" charset="0"/>
                <a:ea typeface="黑体" panose="02010609060101010101" pitchFamily="49" charset="-122"/>
              </a:rPr>
              <a:t>student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struct student {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	char name[20];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	char sex;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	unsigned long birthday;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	float height;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	float weight;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};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67808" y="3508013"/>
            <a:ext cx="4130174" cy="2031325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// </a:t>
            </a:r>
            <a:r>
              <a:rPr lang="zh-CN" altLang="en-US" dirty="0">
                <a:latin typeface="Arial Narrow" panose="020B0606020202030204" pitchFamily="34" charset="0"/>
              </a:rPr>
              <a:t>定义</a:t>
            </a:r>
            <a:r>
              <a:rPr lang="en-US" altLang="zh-CN" dirty="0">
                <a:latin typeface="Arial Narrow" panose="020B0606020202030204" pitchFamily="34" charset="0"/>
              </a:rPr>
              <a:t>student</a:t>
            </a:r>
            <a:r>
              <a:rPr lang="zh-CN" altLang="en-US" dirty="0">
                <a:latin typeface="Arial Narrow" panose="020B0606020202030204" pitchFamily="34" charset="0"/>
              </a:rPr>
              <a:t>结构数组，并初始化</a:t>
            </a:r>
            <a:endParaRPr lang="zh-CN" altLang="en-US" dirty="0">
              <a:latin typeface="Arial Narrow" panose="020B0606020202030204" pitchFamily="34" charset="0"/>
            </a:endParaRP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student Room[4]={</a:t>
            </a:r>
            <a:endParaRPr lang="en-US" altLang="zh-CN" dirty="0">
              <a:latin typeface="Arial Narrow" panose="020B0606020202030204" pitchFamily="34" charset="0"/>
            </a:endParaRP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    { "</a:t>
            </a:r>
            <a:r>
              <a:rPr lang="en-US" altLang="zh-CN" dirty="0" err="1">
                <a:latin typeface="Arial Narrow" panose="020B0606020202030204" pitchFamily="34" charset="0"/>
              </a:rPr>
              <a:t>Lixin</a:t>
            </a:r>
            <a:r>
              <a:rPr lang="en-US" altLang="zh-CN" dirty="0">
                <a:latin typeface="Arial Narrow" panose="020B0606020202030204" pitchFamily="34" charset="0"/>
              </a:rPr>
              <a:t>", ‘M’ ,  19840318 , 1.82f , 65.0f      },</a:t>
            </a:r>
            <a:endParaRPr lang="en-US" altLang="zh-CN" dirty="0">
              <a:latin typeface="Arial Narrow" panose="020B0606020202030204" pitchFamily="34" charset="0"/>
            </a:endParaRP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    { "</a:t>
            </a:r>
            <a:r>
              <a:rPr lang="en-US" altLang="zh-CN" dirty="0" err="1">
                <a:latin typeface="Arial Narrow" panose="020B0606020202030204" pitchFamily="34" charset="0"/>
              </a:rPr>
              <a:t>Zhangmen</a:t>
            </a:r>
            <a:r>
              <a:rPr lang="en-US" altLang="zh-CN" dirty="0">
                <a:latin typeface="Arial Narrow" panose="020B0606020202030204" pitchFamily="34" charset="0"/>
              </a:rPr>
              <a:t>",'M', 19840918, 1.75f , 58.0f },      </a:t>
            </a:r>
            <a:endParaRPr lang="en-US" altLang="zh-CN" dirty="0">
              <a:latin typeface="Arial Narrow" panose="020B0606020202030204" pitchFamily="34" charset="0"/>
            </a:endParaRP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    { "</a:t>
            </a:r>
            <a:r>
              <a:rPr lang="en-US" altLang="zh-CN" dirty="0" err="1">
                <a:latin typeface="Arial Narrow" panose="020B0606020202030204" pitchFamily="34" charset="0"/>
              </a:rPr>
              <a:t>Helei</a:t>
            </a:r>
            <a:r>
              <a:rPr lang="en-US" altLang="zh-CN" dirty="0">
                <a:latin typeface="Arial Narrow" panose="020B0606020202030204" pitchFamily="34" charset="0"/>
              </a:rPr>
              <a:t>",  'M',  19841209 , 1.83f , 67.1f       },</a:t>
            </a:r>
            <a:endParaRPr lang="en-US" altLang="zh-CN" dirty="0">
              <a:latin typeface="Arial Narrow" panose="020B0606020202030204" pitchFamily="34" charset="0"/>
            </a:endParaRP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    {"</a:t>
            </a:r>
            <a:r>
              <a:rPr lang="en-US" altLang="zh-CN" dirty="0" err="1">
                <a:latin typeface="Arial Narrow" panose="020B0606020202030204" pitchFamily="34" charset="0"/>
              </a:rPr>
              <a:t>Geyujian</a:t>
            </a:r>
            <a:r>
              <a:rPr lang="en-US" altLang="zh-CN" dirty="0">
                <a:latin typeface="Arial Narrow" panose="020B0606020202030204" pitchFamily="34" charset="0"/>
              </a:rPr>
              <a:t>", 'M', 19840101 , 1.70f , 59.0f    }</a:t>
            </a:r>
            <a:endParaRPr lang="en-US" altLang="zh-CN" dirty="0">
              <a:latin typeface="Arial Narrow" panose="020B0606020202030204" pitchFamily="34" charset="0"/>
            </a:endParaRP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};</a:t>
            </a:r>
            <a:endParaRPr lang="en-US" altLang="zh-CN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974558" y="345411"/>
            <a:ext cx="8169442" cy="6167177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main()		// </a:t>
            </a:r>
            <a:r>
              <a:rPr kumimoji="1" lang="en-US" altLang="en-US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主函数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{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	student q;		// </a:t>
            </a:r>
            <a:r>
              <a:rPr kumimoji="1" lang="en-US" altLang="en-US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q </a:t>
            </a:r>
            <a:r>
              <a:rPr kumimoji="1" lang="en-US" altLang="en-US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为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student</a:t>
            </a:r>
            <a:r>
              <a:rPr kumimoji="1" lang="en-US" altLang="en-US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结构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	// </a:t>
            </a:r>
            <a:r>
              <a:rPr kumimoji="1" lang="en-US" altLang="en-US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以下是按年龄大小对四位同学进行排序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= 0;	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j = 0;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	for (j=0; j&lt;3; 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j++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	{// for j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		for (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=0; 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&lt;3-j; 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++)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		{// for 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		   if ( Room[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].birthday &gt; Room[i+1].birthday )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	        {       q = Room[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];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				Room[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] = Room[i+1];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				Room[i+1] = q;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		    }// if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		}// for 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	}// for j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endParaRPr kumimoji="1"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3" name="Rectangle 3"/>
          <p:cNvSpPr>
            <a:spLocks noGrp="1" noChangeArrowheads="1"/>
          </p:cNvSpPr>
          <p:nvPr>
            <p:ph idx="1"/>
          </p:nvPr>
        </p:nvSpPr>
        <p:spPr>
          <a:xfrm>
            <a:off x="1215190" y="188996"/>
            <a:ext cx="7447548" cy="5762625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0" dirty="0">
                <a:effectLst/>
              </a:rPr>
              <a:t>	for (</a:t>
            </a:r>
            <a:r>
              <a:rPr lang="en-US" altLang="zh-CN" b="0" dirty="0" err="1">
                <a:effectLst/>
              </a:rPr>
              <a:t>i</a:t>
            </a:r>
            <a:r>
              <a:rPr lang="en-US" altLang="zh-CN" b="0" dirty="0">
                <a:effectLst/>
              </a:rPr>
              <a:t>=0; </a:t>
            </a:r>
            <a:r>
              <a:rPr lang="en-US" altLang="zh-CN" b="0" dirty="0" err="1">
                <a:effectLst/>
              </a:rPr>
              <a:t>i</a:t>
            </a:r>
            <a:r>
              <a:rPr lang="en-US" altLang="zh-CN" b="0" dirty="0">
                <a:effectLst/>
              </a:rPr>
              <a:t>&lt;4; </a:t>
            </a:r>
            <a:r>
              <a:rPr lang="en-US" altLang="zh-CN" b="0" dirty="0" err="1">
                <a:effectLst/>
              </a:rPr>
              <a:t>i</a:t>
            </a:r>
            <a:r>
              <a:rPr lang="en-US" altLang="zh-CN" b="0" dirty="0">
                <a:effectLst/>
              </a:rPr>
              <a:t>++)</a:t>
            </a:r>
            <a:endParaRPr lang="en-US" altLang="zh-CN" b="0" dirty="0">
              <a:effectLst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0" dirty="0">
                <a:effectLst/>
              </a:rPr>
              <a:t>	{</a:t>
            </a:r>
            <a:endParaRPr lang="en-US" altLang="zh-CN" b="0" dirty="0">
              <a:effectLst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0" dirty="0">
                <a:effectLst/>
              </a:rPr>
              <a:t>		</a:t>
            </a:r>
            <a:r>
              <a:rPr lang="en-US" altLang="zh-CN" b="0" dirty="0" err="1">
                <a:effectLst/>
              </a:rPr>
              <a:t>printf</a:t>
            </a:r>
            <a:r>
              <a:rPr lang="en-US" altLang="zh-CN" b="0" dirty="0">
                <a:effectLst/>
              </a:rPr>
              <a:t>(</a:t>
            </a:r>
            <a:r>
              <a:rPr lang="en-US" altLang="en-US" b="0" dirty="0">
                <a:effectLst/>
                <a:latin typeface="Arial" panose="020B0604020202020204" pitchFamily="34" charset="0"/>
              </a:rPr>
              <a:t>“</a:t>
            </a:r>
            <a:r>
              <a:rPr lang="en-US" altLang="zh-CN" b="0" dirty="0">
                <a:effectLst/>
              </a:rPr>
              <a:t>%s\n</a:t>
            </a:r>
            <a:r>
              <a:rPr lang="en-US" altLang="en-US" b="0" dirty="0">
                <a:effectLst/>
                <a:latin typeface="Arial" panose="020B0604020202020204" pitchFamily="34" charset="0"/>
              </a:rPr>
              <a:t>”</a:t>
            </a:r>
            <a:r>
              <a:rPr lang="en-US" altLang="zh-CN" b="0" dirty="0">
                <a:effectLst/>
              </a:rPr>
              <a:t>, Room[</a:t>
            </a:r>
            <a:r>
              <a:rPr lang="en-US" altLang="zh-CN" b="0" dirty="0" err="1">
                <a:effectLst/>
              </a:rPr>
              <a:t>i</a:t>
            </a:r>
            <a:r>
              <a:rPr lang="en-US" altLang="zh-CN" b="0" dirty="0">
                <a:effectLst/>
              </a:rPr>
              <a:t>].name); </a:t>
            </a:r>
            <a:endParaRPr lang="en-US" altLang="zh-CN" b="0" dirty="0">
              <a:effectLst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0" dirty="0">
                <a:effectLst/>
              </a:rPr>
              <a:t>		</a:t>
            </a:r>
            <a:r>
              <a:rPr lang="en-US" altLang="zh-CN" b="0" dirty="0" err="1">
                <a:effectLst/>
              </a:rPr>
              <a:t>printf</a:t>
            </a:r>
            <a:r>
              <a:rPr lang="en-US" altLang="zh-CN" b="0" dirty="0">
                <a:effectLst/>
              </a:rPr>
              <a:t>(</a:t>
            </a:r>
            <a:r>
              <a:rPr lang="en-US" altLang="en-US" b="0" dirty="0">
                <a:effectLst/>
                <a:latin typeface="Arial" panose="020B0604020202020204" pitchFamily="34" charset="0"/>
              </a:rPr>
              <a:t>“</a:t>
            </a:r>
            <a:r>
              <a:rPr lang="en-US" altLang="zh-CN" b="0" dirty="0">
                <a:effectLst/>
              </a:rPr>
              <a:t>%c\n</a:t>
            </a:r>
            <a:r>
              <a:rPr lang="en-US" altLang="en-US" b="0" dirty="0">
                <a:effectLst/>
                <a:latin typeface="Arial" panose="020B0604020202020204" pitchFamily="34" charset="0"/>
              </a:rPr>
              <a:t>”</a:t>
            </a:r>
            <a:r>
              <a:rPr lang="en-US" altLang="zh-CN" b="0" dirty="0">
                <a:effectLst/>
              </a:rPr>
              <a:t>, Room[</a:t>
            </a:r>
            <a:r>
              <a:rPr lang="en-US" altLang="zh-CN" b="0" dirty="0" err="1">
                <a:effectLst/>
              </a:rPr>
              <a:t>i</a:t>
            </a:r>
            <a:r>
              <a:rPr lang="en-US" altLang="zh-CN" b="0" dirty="0">
                <a:effectLst/>
              </a:rPr>
              <a:t>].sex);</a:t>
            </a:r>
            <a:endParaRPr lang="en-US" altLang="zh-CN" b="0" dirty="0">
              <a:effectLst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0" dirty="0">
                <a:effectLst/>
              </a:rPr>
              <a:t>		</a:t>
            </a:r>
            <a:r>
              <a:rPr lang="en-US" altLang="zh-CN" b="0" dirty="0" err="1">
                <a:effectLst/>
              </a:rPr>
              <a:t>printf</a:t>
            </a:r>
            <a:r>
              <a:rPr lang="en-US" altLang="zh-CN" b="0" dirty="0">
                <a:effectLst/>
              </a:rPr>
              <a:t>(</a:t>
            </a:r>
            <a:r>
              <a:rPr lang="en-US" altLang="en-US" b="0" dirty="0">
                <a:effectLst/>
                <a:latin typeface="Arial" panose="020B0604020202020204" pitchFamily="34" charset="0"/>
              </a:rPr>
              <a:t>“</a:t>
            </a:r>
            <a:r>
              <a:rPr lang="en-US" altLang="zh-CN" b="0" dirty="0">
                <a:effectLst/>
              </a:rPr>
              <a:t>%d\n</a:t>
            </a:r>
            <a:r>
              <a:rPr lang="en-US" altLang="en-US" b="0" dirty="0">
                <a:effectLst/>
                <a:latin typeface="Arial" panose="020B0604020202020204" pitchFamily="34" charset="0"/>
              </a:rPr>
              <a:t>”</a:t>
            </a:r>
            <a:r>
              <a:rPr lang="en-US" altLang="zh-CN" b="0" dirty="0">
                <a:effectLst/>
              </a:rPr>
              <a:t>, Room[</a:t>
            </a:r>
            <a:r>
              <a:rPr lang="en-US" altLang="zh-CN" b="0" dirty="0" err="1">
                <a:effectLst/>
              </a:rPr>
              <a:t>i</a:t>
            </a:r>
            <a:r>
              <a:rPr lang="en-US" altLang="zh-CN" b="0" dirty="0">
                <a:effectLst/>
              </a:rPr>
              <a:t>].birthday); 		         	</a:t>
            </a:r>
            <a:r>
              <a:rPr lang="en-US" altLang="zh-CN" b="0" dirty="0" err="1">
                <a:effectLst/>
              </a:rPr>
              <a:t>printf</a:t>
            </a:r>
            <a:r>
              <a:rPr lang="en-US" altLang="zh-CN" b="0" dirty="0">
                <a:effectLst/>
              </a:rPr>
              <a:t>(</a:t>
            </a:r>
            <a:r>
              <a:rPr lang="en-US" altLang="en-US" b="0" dirty="0">
                <a:effectLst/>
                <a:latin typeface="Arial" panose="020B0604020202020204" pitchFamily="34" charset="0"/>
              </a:rPr>
              <a:t>“</a:t>
            </a:r>
            <a:r>
              <a:rPr lang="en-US" altLang="zh-CN" b="0" dirty="0">
                <a:effectLst/>
              </a:rPr>
              <a:t>%f\n</a:t>
            </a:r>
            <a:r>
              <a:rPr lang="en-US" altLang="en-US" b="0" dirty="0">
                <a:effectLst/>
                <a:latin typeface="Arial" panose="020B0604020202020204" pitchFamily="34" charset="0"/>
              </a:rPr>
              <a:t>”</a:t>
            </a:r>
            <a:r>
              <a:rPr lang="en-US" altLang="zh-CN" b="0" dirty="0">
                <a:effectLst/>
              </a:rPr>
              <a:t>, Room[</a:t>
            </a:r>
            <a:r>
              <a:rPr lang="en-US" altLang="zh-CN" b="0" dirty="0" err="1">
                <a:effectLst/>
              </a:rPr>
              <a:t>i</a:t>
            </a:r>
            <a:r>
              <a:rPr lang="en-US" altLang="zh-CN" b="0" dirty="0">
                <a:effectLst/>
              </a:rPr>
              <a:t>].height);</a:t>
            </a:r>
            <a:endParaRPr lang="en-US" altLang="zh-CN" b="0" dirty="0">
              <a:effectLst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0" dirty="0">
                <a:effectLst/>
              </a:rPr>
              <a:t>		</a:t>
            </a:r>
            <a:r>
              <a:rPr lang="en-US" altLang="zh-CN" b="0" dirty="0" err="1">
                <a:effectLst/>
              </a:rPr>
              <a:t>printf</a:t>
            </a:r>
            <a:r>
              <a:rPr lang="en-US" altLang="zh-CN" b="0" dirty="0">
                <a:effectLst/>
              </a:rPr>
              <a:t>(</a:t>
            </a:r>
            <a:r>
              <a:rPr lang="en-US" altLang="en-US" b="0" dirty="0">
                <a:effectLst/>
                <a:latin typeface="Arial" panose="020B0604020202020204" pitchFamily="34" charset="0"/>
              </a:rPr>
              <a:t>“</a:t>
            </a:r>
            <a:r>
              <a:rPr lang="en-US" altLang="zh-CN" b="0" dirty="0">
                <a:effectLst/>
              </a:rPr>
              <a:t>%f\n</a:t>
            </a:r>
            <a:r>
              <a:rPr lang="en-US" altLang="en-US" b="0" dirty="0">
                <a:effectLst/>
                <a:latin typeface="Arial" panose="020B0604020202020204" pitchFamily="34" charset="0"/>
              </a:rPr>
              <a:t>”</a:t>
            </a:r>
            <a:r>
              <a:rPr lang="en-US" altLang="zh-CN" b="0" dirty="0">
                <a:effectLst/>
              </a:rPr>
              <a:t>, Room[</a:t>
            </a:r>
            <a:r>
              <a:rPr lang="en-US" altLang="zh-CN" b="0" dirty="0" err="1">
                <a:effectLst/>
              </a:rPr>
              <a:t>i</a:t>
            </a:r>
            <a:r>
              <a:rPr lang="en-US" altLang="zh-CN" b="0" dirty="0">
                <a:effectLst/>
              </a:rPr>
              <a:t>].weight);</a:t>
            </a:r>
            <a:endParaRPr lang="en-US" altLang="zh-CN" b="0" dirty="0">
              <a:effectLst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0" dirty="0">
                <a:effectLst/>
              </a:rPr>
              <a:t>	} </a:t>
            </a:r>
            <a:endParaRPr lang="en-US" altLang="zh-CN" b="0" dirty="0">
              <a:effectLst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0" dirty="0">
                <a:effectLst/>
              </a:rPr>
              <a:t>	return 0;</a:t>
            </a:r>
            <a:endParaRPr lang="en-US" altLang="zh-CN" b="0" dirty="0">
              <a:effectLst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0" dirty="0">
                <a:effectLst/>
              </a:rPr>
              <a:t>}		</a:t>
            </a: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1431759" y="5199058"/>
            <a:ext cx="72309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dirty="0"/>
              <a:t>上述程序可完成冒泡排序。在排序过程中数组中的元素是结构。按生日大小排序时，学生的</a:t>
            </a:r>
            <a:r>
              <a:rPr kumimoji="1" lang="en-US" altLang="zh-CN" dirty="0"/>
              <a:t>5</a:t>
            </a:r>
            <a:r>
              <a:rPr kumimoji="1" lang="zh-CN" altLang="en-US" dirty="0"/>
              <a:t>个数据作为一个整体（结构）来调整在数组中的位置。</a:t>
            </a:r>
            <a:endParaRPr kumimoji="1"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417320"/>
            <a:ext cx="8280000" cy="535940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zh-CN" altLang="en-US" dirty="0"/>
              <a:t>结构体指针也可以构成数组，即数组元素是结构体指针变量</a:t>
            </a:r>
            <a:endParaRPr lang="en-US" altLang="zh-CN" dirty="0"/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lang="en-US" altLang="zh-CN" sz="2800" dirty="0">
                <a:solidFill>
                  <a:srgbClr val="FF0000"/>
                </a:solidFill>
                <a:latin typeface="Consolas" panose="020B0609020204030204" pitchFamily="49" charset="0"/>
              </a:rPr>
              <a:t> *p[4]</a:t>
            </a:r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</a:rPr>
              <a:t> = {&amp;Room[</a:t>
            </a:r>
            <a:r>
              <a:rPr lang="en-US" altLang="zh-CN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</a:rPr>
              <a:t>], &amp;Room[</a:t>
            </a:r>
            <a:r>
              <a:rPr lang="en-US" altLang="zh-CN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</a:rPr>
              <a:t>], &amp;Room[</a:t>
            </a:r>
            <a:r>
              <a:rPr lang="en-US" altLang="zh-CN" sz="28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</a:rPr>
              <a:t>], &amp;Room[</a:t>
            </a:r>
            <a:r>
              <a:rPr lang="en-US" altLang="zh-CN" sz="28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</a:rPr>
              <a:t>]};</a:t>
            </a:r>
            <a:endParaRPr lang="en-US" altLang="zh-C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defRPr/>
            </a:pP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zh-CN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指针数组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：是数组，数组元素是指针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定义：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int *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pArr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[5];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或者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char *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strArr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[3];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解读：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[]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（数组）优先级比 *（指针）高，所以先解析为「数组」，再解析为「数组的元素是指针」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zh-CN" altLang="en-US" sz="28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数组指针</a:t>
            </a:r>
            <a:r>
              <a:rPr lang="zh-CN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：是指针，指向一个数组</a:t>
            </a:r>
            <a:endParaRPr lang="en-US" altLang="zh-C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定义：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int (*p)[5];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或者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char (*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pStr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)[10];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解读：括号强制先解析 *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（是指针），再解析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[5]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（指向数组）；当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p+1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或者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pStr+1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时，将跳过整个数组的所有元素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zh-C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</a:t>
            </a:r>
            <a:r>
              <a:rPr lang="zh-CN" altLang="en-US" u="sng" dirty="0"/>
              <a:t>指针数组</a:t>
            </a:r>
            <a:endParaRPr lang="en-US" u="sng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1106905" y="163513"/>
            <a:ext cx="698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用结构指针数组来完成排序任务</a:t>
            </a:r>
            <a:endParaRPr kumimoji="1"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6905" y="813845"/>
            <a:ext cx="7676147" cy="6044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定义指向 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student 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结构的指针数组，指向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Room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数组元素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*p[4]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{&amp;Room[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 &amp;Room[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 &amp;Room[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 &amp;Room[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]};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student *q;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 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定义一个指向 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student 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结构的指针，用作中间变量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b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j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(j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 j &lt;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 for j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- j;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{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 for 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(p[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]-&gt;height &gt; p[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]-&gt;height)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q = p[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p[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 = p[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p[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 = q;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 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输出排序结果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"%s\n"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p[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]-&gt;name);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"%c\n"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p[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]-&gt;sex);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p[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]-&gt;birthday);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"%f\n"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p[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]-&gt;height);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"%f\n"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p[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]-&gt;weight);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使用指针数组处理结构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(1)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593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/>
              <a:t>如何使用指针数组完成排序？</a:t>
            </a:r>
            <a:endParaRPr lang="en-US" altLang="zh-CN"/>
          </a:p>
          <a:p>
            <a:pPr lvl="1"/>
            <a:r>
              <a:rPr lang="zh-CN" altLang="en-US" sz="2400"/>
              <a:t>如何声明指向结构的指针数组</a:t>
            </a:r>
            <a:endParaRPr lang="en-US" altLang="zh-CN" sz="2400"/>
          </a:p>
          <a:p>
            <a:pPr lvl="1"/>
            <a:endParaRPr lang="en-US" altLang="en-US" sz="2400">
              <a:ea typeface="华文中宋" panose="02010600040101010101" pitchFamily="2" charset="-122"/>
            </a:endParaRPr>
          </a:p>
          <a:p>
            <a:pPr lvl="1"/>
            <a:endParaRPr lang="en-US" altLang="en-US" sz="2400">
              <a:ea typeface="华文中宋" panose="02010600040101010101" pitchFamily="2" charset="-122"/>
            </a:endParaRPr>
          </a:p>
          <a:p>
            <a:pPr lvl="1"/>
            <a:r>
              <a:rPr lang="zh-CN" altLang="en-US" sz="2400"/>
              <a:t>如何使用指针完成排序</a:t>
            </a:r>
            <a:endParaRPr lang="en-US" altLang="en-US" sz="2400">
              <a:ea typeface="华文中宋" panose="0201060004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610D7B-A52B-42DB-94DB-C60787EC03F4}" type="slidenum">
              <a:rPr lang="zh-CN" altLang="en-US" smtClean="0"/>
            </a:fld>
            <a:endParaRPr lang="en-US" altLang="zh-CN"/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2124075" y="2492375"/>
            <a:ext cx="6335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770028"/>
                </a:solidFill>
                <a:latin typeface="CourierNewPSMT"/>
              </a:rPr>
              <a:t>struct</a:t>
            </a:r>
            <a:r>
              <a:rPr lang="zh-CN" altLang="en-US" sz="200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>
                <a:solidFill>
                  <a:srgbClr val="770028"/>
                </a:solidFill>
                <a:latin typeface="CourierNewPSMT"/>
              </a:rPr>
              <a:t>student *p[4]={&amp;Room[0],</a:t>
            </a:r>
            <a:r>
              <a:rPr lang="zh-CN" altLang="en-US" sz="200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>
                <a:solidFill>
                  <a:srgbClr val="770028"/>
                </a:solidFill>
                <a:latin typeface="CourierNewPSMT"/>
              </a:rPr>
              <a:t>&amp;Room[1], </a:t>
            </a:r>
            <a:r>
              <a:rPr lang="zh-CN" altLang="en-US" sz="2000">
                <a:solidFill>
                  <a:srgbClr val="770028"/>
                </a:solidFill>
                <a:latin typeface="CourierNewPSMT"/>
              </a:rPr>
              <a:t>   </a:t>
            </a:r>
            <a:endParaRPr lang="en-US" altLang="zh-CN" sz="2000">
              <a:solidFill>
                <a:srgbClr val="770028"/>
              </a:solidFill>
              <a:latin typeface="CourierNewPSMT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770028"/>
                </a:solidFill>
                <a:latin typeface="CourierNewPSMT"/>
              </a:rPr>
              <a:t>               </a:t>
            </a:r>
            <a:r>
              <a:rPr lang="en-US" altLang="zh-CN" sz="2000">
                <a:solidFill>
                  <a:srgbClr val="770028"/>
                </a:solidFill>
                <a:latin typeface="CourierNewPSMT"/>
              </a:rPr>
              <a:t>&amp;Room[2], &amp;Room[3] };</a:t>
            </a:r>
            <a:endParaRPr lang="en-US" altLang="en-US" sz="2000">
              <a:solidFill>
                <a:srgbClr val="770028"/>
              </a:solidFill>
              <a:latin typeface="CourierNewPSMT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124075" y="3851275"/>
            <a:ext cx="68103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for (int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 err="1">
                <a:solidFill>
                  <a:srgbClr val="770028"/>
                </a:solidFill>
                <a:latin typeface="CourierNewPSMT"/>
              </a:rPr>
              <a:t>i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=0; </a:t>
            </a:r>
            <a:r>
              <a:rPr lang="en-US" altLang="zh-CN" sz="2000" dirty="0" err="1">
                <a:solidFill>
                  <a:srgbClr val="770028"/>
                </a:solidFill>
                <a:latin typeface="CourierNewPSMT"/>
              </a:rPr>
              <a:t>i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&lt;3;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 err="1">
                <a:solidFill>
                  <a:srgbClr val="770028"/>
                </a:solidFill>
                <a:latin typeface="CourierNewPSMT"/>
              </a:rPr>
              <a:t>i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++)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{</a:t>
            </a:r>
            <a:endParaRPr lang="en-US" altLang="zh-CN" sz="2000" dirty="0">
              <a:solidFill>
                <a:srgbClr val="770028"/>
              </a:solidFill>
              <a:latin typeface="CourierNewPSMT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for (int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j=0; j&lt;=3-i;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 err="1">
                <a:solidFill>
                  <a:srgbClr val="770028"/>
                </a:solidFill>
                <a:latin typeface="CourierNewPSMT"/>
              </a:rPr>
              <a:t>j++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)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{</a:t>
            </a:r>
            <a:endParaRPr lang="en-US" altLang="zh-CN" sz="2000" dirty="0">
              <a:solidFill>
                <a:srgbClr val="770028"/>
              </a:solidFill>
              <a:latin typeface="CourierNewPSMT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  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if (p[j]-&gt;height &gt;  p[j+1]-&gt;height)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{</a:t>
            </a:r>
            <a:endParaRPr lang="en-US" altLang="zh-CN" sz="2000" dirty="0">
              <a:solidFill>
                <a:srgbClr val="770028"/>
              </a:solidFill>
              <a:latin typeface="CourierNewPSMT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	struct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student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*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q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=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p[j]; </a:t>
            </a:r>
            <a:endParaRPr lang="en-US" altLang="zh-CN" sz="2000" dirty="0">
              <a:solidFill>
                <a:srgbClr val="770028"/>
              </a:solidFill>
              <a:latin typeface="CourierNewPSMT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    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p[j]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=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p[j+1]; </a:t>
            </a:r>
            <a:endParaRPr lang="en-US" altLang="zh-CN" sz="2000" dirty="0">
              <a:solidFill>
                <a:srgbClr val="770028"/>
              </a:solidFill>
              <a:latin typeface="CourierNewPSMT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    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p[j+1]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=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q;</a:t>
            </a:r>
            <a:endParaRPr lang="en-US" altLang="zh-CN" sz="2000" dirty="0">
              <a:solidFill>
                <a:srgbClr val="770028"/>
              </a:solidFill>
              <a:latin typeface="CourierNewPSMT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  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}</a:t>
            </a:r>
            <a:endParaRPr lang="en-US" altLang="zh-CN" sz="2000" dirty="0">
              <a:solidFill>
                <a:srgbClr val="770028"/>
              </a:solidFill>
              <a:latin typeface="CourierNewPSMT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}</a:t>
            </a:r>
            <a:endParaRPr lang="en-US" altLang="zh-CN" sz="2000" dirty="0">
              <a:solidFill>
                <a:srgbClr val="770028"/>
              </a:solidFill>
              <a:latin typeface="CourierNewPSMT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}</a:t>
            </a:r>
            <a:endParaRPr lang="en-US" altLang="en-US" sz="2000" dirty="0">
              <a:solidFill>
                <a:srgbClr val="770028"/>
              </a:solidFill>
              <a:latin typeface="CourierNewPS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使用指针数组处理结构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(2)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60418" name="Content Placeholder 2"/>
          <p:cNvSpPr>
            <a:spLocks noGrp="1"/>
          </p:cNvSpPr>
          <p:nvPr>
            <p:ph idx="1"/>
          </p:nvPr>
        </p:nvSpPr>
        <p:spPr>
          <a:xfrm>
            <a:off x="769620" y="1447800"/>
            <a:ext cx="7499350" cy="1062038"/>
          </a:xfrm>
        </p:spPr>
        <p:txBody>
          <a:bodyPr/>
          <a:lstStyle/>
          <a:p>
            <a:r>
              <a:rPr lang="en-US" altLang="zh-CN" sz="2800" dirty="0"/>
              <a:t>p[ ]</a:t>
            </a:r>
            <a:r>
              <a:rPr lang="zh-CN" altLang="en-US" sz="2800" dirty="0"/>
              <a:t>是指向 </a:t>
            </a:r>
            <a:r>
              <a:rPr lang="en-US" altLang="zh-CN" sz="2800" dirty="0"/>
              <a:t>student </a:t>
            </a:r>
            <a:r>
              <a:rPr lang="zh-CN" altLang="en-US" sz="2800" dirty="0"/>
              <a:t>结构的</a:t>
            </a:r>
            <a:r>
              <a:rPr lang="zh-CN" altLang="en-US" sz="2800" dirty="0">
                <a:solidFill>
                  <a:srgbClr val="0000CC"/>
                </a:solidFill>
              </a:rPr>
              <a:t>指针数组</a:t>
            </a:r>
            <a:r>
              <a:rPr lang="zh-CN" altLang="en-US" sz="2800" dirty="0"/>
              <a:t>，经初始化赋入的是 </a:t>
            </a:r>
            <a:r>
              <a:rPr lang="en-US" altLang="zh-CN" sz="2800" dirty="0"/>
              <a:t>room </a:t>
            </a:r>
            <a:r>
              <a:rPr lang="zh-CN" altLang="en-US" sz="2800" dirty="0"/>
              <a:t>数组中元素所在的地址</a:t>
            </a:r>
            <a:endParaRPr lang="en-US" altLang="en-US" sz="2800" dirty="0">
              <a:ea typeface="华文中宋" panose="0201060004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C8BCA5-A9DC-4DB0-8CCD-D004EFC5F435}" type="slidenum">
              <a:rPr lang="zh-CN" altLang="en-US" smtClean="0"/>
            </a:fld>
            <a:endParaRPr lang="en-US" altLang="zh-CN"/>
          </a:p>
        </p:txBody>
      </p:sp>
      <p:sp>
        <p:nvSpPr>
          <p:cNvPr id="13" name="Text Box 31"/>
          <p:cNvSpPr txBox="1">
            <a:spLocks noChangeArrowheads="1"/>
          </p:cNvSpPr>
          <p:nvPr/>
        </p:nvSpPr>
        <p:spPr bwMode="auto">
          <a:xfrm>
            <a:off x="9801543" y="2668588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&amp;Room[0]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4" name="Text Box 32"/>
          <p:cNvSpPr txBox="1">
            <a:spLocks noChangeArrowheads="1"/>
          </p:cNvSpPr>
          <p:nvPr/>
        </p:nvSpPr>
        <p:spPr bwMode="auto">
          <a:xfrm>
            <a:off x="9801543" y="3508375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&amp;Room[1]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5" name="Text Box 33"/>
          <p:cNvSpPr txBox="1">
            <a:spLocks noChangeArrowheads="1"/>
          </p:cNvSpPr>
          <p:nvPr/>
        </p:nvSpPr>
        <p:spPr bwMode="auto">
          <a:xfrm>
            <a:off x="9801543" y="4829175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&amp;Room[2]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6" name="Text Box 34"/>
          <p:cNvSpPr txBox="1">
            <a:spLocks noChangeArrowheads="1"/>
          </p:cNvSpPr>
          <p:nvPr/>
        </p:nvSpPr>
        <p:spPr bwMode="auto">
          <a:xfrm>
            <a:off x="9801543" y="5740400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&amp;Room[3]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51" name="Group 4"/>
          <p:cNvGrpSpPr/>
          <p:nvPr/>
        </p:nvGrpSpPr>
        <p:grpSpPr bwMode="auto">
          <a:xfrm>
            <a:off x="1241108" y="3217863"/>
            <a:ext cx="1512887" cy="1762125"/>
            <a:chOff x="929" y="1207"/>
            <a:chExt cx="953" cy="1316"/>
          </a:xfrm>
        </p:grpSpPr>
        <p:sp>
          <p:nvSpPr>
            <p:cNvPr id="52" name="Rectangle 5"/>
            <p:cNvSpPr>
              <a:spLocks noChangeArrowheads="1"/>
            </p:cNvSpPr>
            <p:nvPr/>
          </p:nvSpPr>
          <p:spPr bwMode="auto">
            <a:xfrm>
              <a:off x="929" y="1207"/>
              <a:ext cx="953" cy="1316"/>
            </a:xfrm>
            <a:prstGeom prst="rect">
              <a:avLst/>
            </a:prstGeom>
            <a:noFill/>
            <a:ln w="254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3" name="Text Box 6"/>
            <p:cNvSpPr txBox="1">
              <a:spLocks noChangeArrowheads="1"/>
            </p:cNvSpPr>
            <p:nvPr/>
          </p:nvSpPr>
          <p:spPr bwMode="auto">
            <a:xfrm>
              <a:off x="1156" y="1328"/>
              <a:ext cx="590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  <a:cs typeface="黑体" panose="02010609060101010101" pitchFamily="49" charset="-122"/>
                </a:rPr>
                <a:t>p[0]</a:t>
              </a:r>
              <a:endPara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54" name="Text Box 7"/>
            <p:cNvSpPr txBox="1">
              <a:spLocks noChangeArrowheads="1"/>
            </p:cNvSpPr>
            <p:nvPr/>
          </p:nvSpPr>
          <p:spPr bwMode="auto">
            <a:xfrm>
              <a:off x="1156" y="1585"/>
              <a:ext cx="590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  <a:cs typeface="黑体" panose="02010609060101010101" pitchFamily="49" charset="-122"/>
                </a:rPr>
                <a:t>p[1]</a:t>
              </a:r>
              <a:endPara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55" name="Text Box 8"/>
            <p:cNvSpPr txBox="1">
              <a:spLocks noChangeArrowheads="1"/>
            </p:cNvSpPr>
            <p:nvPr/>
          </p:nvSpPr>
          <p:spPr bwMode="auto">
            <a:xfrm>
              <a:off x="1156" y="1874"/>
              <a:ext cx="590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  <a:cs typeface="黑体" panose="02010609060101010101" pitchFamily="49" charset="-122"/>
                </a:rPr>
                <a:t>p[2]</a:t>
              </a:r>
              <a:endPara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56" name="Text Box 9"/>
            <p:cNvSpPr txBox="1">
              <a:spLocks noChangeArrowheads="1"/>
            </p:cNvSpPr>
            <p:nvPr/>
          </p:nvSpPr>
          <p:spPr bwMode="auto">
            <a:xfrm>
              <a:off x="1156" y="2163"/>
              <a:ext cx="590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  <a:cs typeface="黑体" panose="02010609060101010101" pitchFamily="49" charset="-122"/>
                </a:rPr>
                <a:t>p[3]</a:t>
              </a:r>
              <a:endPara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</p:grpSp>
      <p:grpSp>
        <p:nvGrpSpPr>
          <p:cNvPr id="57" name="Group 15"/>
          <p:cNvGrpSpPr/>
          <p:nvPr/>
        </p:nvGrpSpPr>
        <p:grpSpPr bwMode="auto">
          <a:xfrm>
            <a:off x="2322195" y="3141663"/>
            <a:ext cx="2520950" cy="441325"/>
            <a:chOff x="1610" y="1150"/>
            <a:chExt cx="1588" cy="330"/>
          </a:xfrm>
        </p:grpSpPr>
        <p:sp>
          <p:nvSpPr>
            <p:cNvPr id="58" name="Line 16"/>
            <p:cNvSpPr>
              <a:spLocks noChangeShapeType="1"/>
            </p:cNvSpPr>
            <p:nvPr/>
          </p:nvSpPr>
          <p:spPr bwMode="auto">
            <a:xfrm>
              <a:off x="1610" y="1480"/>
              <a:ext cx="544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9" name="Line 17"/>
            <p:cNvSpPr>
              <a:spLocks noChangeShapeType="1"/>
            </p:cNvSpPr>
            <p:nvPr/>
          </p:nvSpPr>
          <p:spPr bwMode="auto">
            <a:xfrm flipH="1" flipV="1">
              <a:off x="2153" y="1158"/>
              <a:ext cx="1" cy="322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0" name="Line 18"/>
            <p:cNvSpPr>
              <a:spLocks noChangeShapeType="1"/>
            </p:cNvSpPr>
            <p:nvPr/>
          </p:nvSpPr>
          <p:spPr bwMode="auto">
            <a:xfrm>
              <a:off x="2154" y="1150"/>
              <a:ext cx="1044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61" name="Group 19"/>
          <p:cNvGrpSpPr/>
          <p:nvPr/>
        </p:nvGrpSpPr>
        <p:grpSpPr bwMode="auto">
          <a:xfrm>
            <a:off x="2322195" y="1601788"/>
            <a:ext cx="2520950" cy="2332037"/>
            <a:chOff x="1882" y="1480"/>
            <a:chExt cx="1588" cy="2330544"/>
          </a:xfrm>
        </p:grpSpPr>
        <p:sp>
          <p:nvSpPr>
            <p:cNvPr id="62" name="Line 20"/>
            <p:cNvSpPr>
              <a:spLocks noChangeShapeType="1"/>
            </p:cNvSpPr>
            <p:nvPr/>
          </p:nvSpPr>
          <p:spPr bwMode="auto">
            <a:xfrm>
              <a:off x="1882" y="2332024"/>
              <a:ext cx="862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3" name="Line 21"/>
            <p:cNvSpPr>
              <a:spLocks noChangeShapeType="1"/>
            </p:cNvSpPr>
            <p:nvPr/>
          </p:nvSpPr>
          <p:spPr bwMode="auto">
            <a:xfrm flipH="1" flipV="1">
              <a:off x="2472" y="1480"/>
              <a:ext cx="2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4" name="Line 22"/>
            <p:cNvSpPr>
              <a:spLocks noChangeShapeType="1"/>
            </p:cNvSpPr>
            <p:nvPr/>
          </p:nvSpPr>
          <p:spPr bwMode="auto">
            <a:xfrm>
              <a:off x="2744" y="2332024"/>
              <a:ext cx="726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65" name="Group 46"/>
          <p:cNvGrpSpPr/>
          <p:nvPr/>
        </p:nvGrpSpPr>
        <p:grpSpPr bwMode="auto">
          <a:xfrm>
            <a:off x="2322195" y="4724400"/>
            <a:ext cx="2520950" cy="936625"/>
            <a:chOff x="2555875" y="4725144"/>
            <a:chExt cx="2520950" cy="935932"/>
          </a:xfrm>
        </p:grpSpPr>
        <p:sp>
          <p:nvSpPr>
            <p:cNvPr id="66" name="Line 24"/>
            <p:cNvSpPr>
              <a:spLocks noChangeShapeType="1"/>
            </p:cNvSpPr>
            <p:nvPr/>
          </p:nvSpPr>
          <p:spPr bwMode="auto">
            <a:xfrm>
              <a:off x="2555875" y="4725144"/>
              <a:ext cx="863600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7" name="Line 26"/>
            <p:cNvSpPr>
              <a:spLocks noChangeShapeType="1"/>
            </p:cNvSpPr>
            <p:nvPr/>
          </p:nvSpPr>
          <p:spPr bwMode="auto">
            <a:xfrm>
              <a:off x="3419475" y="5661076"/>
              <a:ext cx="1657350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68" name="Group 27"/>
          <p:cNvGrpSpPr/>
          <p:nvPr/>
        </p:nvGrpSpPr>
        <p:grpSpPr bwMode="auto">
          <a:xfrm>
            <a:off x="2322195" y="4311650"/>
            <a:ext cx="2520950" cy="485775"/>
            <a:chOff x="1610" y="2024"/>
            <a:chExt cx="1588" cy="362"/>
          </a:xfrm>
        </p:grpSpPr>
        <p:sp>
          <p:nvSpPr>
            <p:cNvPr id="69" name="Line 28"/>
            <p:cNvSpPr>
              <a:spLocks noChangeShapeType="1"/>
            </p:cNvSpPr>
            <p:nvPr/>
          </p:nvSpPr>
          <p:spPr bwMode="auto">
            <a:xfrm>
              <a:off x="1610" y="2024"/>
              <a:ext cx="862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0" name="Line 29"/>
            <p:cNvSpPr>
              <a:spLocks noChangeShapeType="1"/>
            </p:cNvSpPr>
            <p:nvPr/>
          </p:nvSpPr>
          <p:spPr bwMode="auto">
            <a:xfrm flipH="1" flipV="1">
              <a:off x="2474" y="2026"/>
              <a:ext cx="0" cy="36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1" name="Line 30"/>
            <p:cNvSpPr>
              <a:spLocks noChangeShapeType="1"/>
            </p:cNvSpPr>
            <p:nvPr/>
          </p:nvSpPr>
          <p:spPr bwMode="auto">
            <a:xfrm>
              <a:off x="2472" y="2386"/>
              <a:ext cx="726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72" name="Text Box 31"/>
          <p:cNvSpPr txBox="1">
            <a:spLocks noChangeArrowheads="1"/>
          </p:cNvSpPr>
          <p:nvPr/>
        </p:nvSpPr>
        <p:spPr bwMode="auto">
          <a:xfrm>
            <a:off x="3187383" y="2636838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&amp;Room[0]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73" name="Text Box 32"/>
          <p:cNvSpPr txBox="1">
            <a:spLocks noChangeArrowheads="1"/>
          </p:cNvSpPr>
          <p:nvPr/>
        </p:nvSpPr>
        <p:spPr bwMode="auto">
          <a:xfrm>
            <a:off x="3187383" y="3476625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&amp;Room[1]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74" name="Text Box 33"/>
          <p:cNvSpPr txBox="1">
            <a:spLocks noChangeArrowheads="1"/>
          </p:cNvSpPr>
          <p:nvPr/>
        </p:nvSpPr>
        <p:spPr bwMode="auto">
          <a:xfrm>
            <a:off x="3187383" y="4797425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&amp;Room[2]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75" name="Text Box 34"/>
          <p:cNvSpPr txBox="1">
            <a:spLocks noChangeArrowheads="1"/>
          </p:cNvSpPr>
          <p:nvPr/>
        </p:nvSpPr>
        <p:spPr bwMode="auto">
          <a:xfrm>
            <a:off x="3187383" y="5708650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&amp;Room[3]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76" name="Group 45"/>
          <p:cNvGrpSpPr/>
          <p:nvPr/>
        </p:nvGrpSpPr>
        <p:grpSpPr bwMode="auto">
          <a:xfrm>
            <a:off x="4843145" y="2671763"/>
            <a:ext cx="2519363" cy="3417887"/>
            <a:chOff x="5076824" y="2671471"/>
            <a:chExt cx="2519512" cy="3418651"/>
          </a:xfrm>
        </p:grpSpPr>
        <p:grpSp>
          <p:nvGrpSpPr>
            <p:cNvPr id="77" name="Group 10"/>
            <p:cNvGrpSpPr/>
            <p:nvPr/>
          </p:nvGrpSpPr>
          <p:grpSpPr bwMode="auto">
            <a:xfrm>
              <a:off x="5076825" y="2671471"/>
              <a:ext cx="2519511" cy="3418651"/>
              <a:chOff x="3198" y="270"/>
              <a:chExt cx="953" cy="3748"/>
            </a:xfrm>
          </p:grpSpPr>
          <p:sp>
            <p:nvSpPr>
              <p:cNvPr id="82" name="Rectangle 11"/>
              <p:cNvSpPr>
                <a:spLocks noChangeArrowheads="1"/>
              </p:cNvSpPr>
              <p:nvPr/>
            </p:nvSpPr>
            <p:spPr bwMode="auto">
              <a:xfrm>
                <a:off x="3198" y="270"/>
                <a:ext cx="953" cy="937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83" name="Rectangle 12"/>
              <p:cNvSpPr>
                <a:spLocks noChangeArrowheads="1"/>
              </p:cNvSpPr>
              <p:nvPr/>
            </p:nvSpPr>
            <p:spPr bwMode="auto">
              <a:xfrm>
                <a:off x="3198" y="1207"/>
                <a:ext cx="953" cy="937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84" name="Rectangle 13"/>
              <p:cNvSpPr>
                <a:spLocks noChangeArrowheads="1"/>
              </p:cNvSpPr>
              <p:nvPr/>
            </p:nvSpPr>
            <p:spPr bwMode="auto">
              <a:xfrm>
                <a:off x="3198" y="2145"/>
                <a:ext cx="953" cy="937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85" name="Rectangle 14"/>
              <p:cNvSpPr>
                <a:spLocks noChangeArrowheads="1"/>
              </p:cNvSpPr>
              <p:nvPr/>
            </p:nvSpPr>
            <p:spPr bwMode="auto">
              <a:xfrm>
                <a:off x="3198" y="3081"/>
                <a:ext cx="953" cy="935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78" name="Text Box 35"/>
            <p:cNvSpPr txBox="1">
              <a:spLocks noChangeArrowheads="1"/>
            </p:cNvSpPr>
            <p:nvPr/>
          </p:nvSpPr>
          <p:spPr bwMode="auto">
            <a:xfrm>
              <a:off x="5076824" y="2781032"/>
              <a:ext cx="2087686" cy="4620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Room[0]</a:t>
              </a: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 结构</a:t>
              </a: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79" name="Text Box 36"/>
            <p:cNvSpPr txBox="1">
              <a:spLocks noChangeArrowheads="1"/>
            </p:cNvSpPr>
            <p:nvPr/>
          </p:nvSpPr>
          <p:spPr bwMode="auto">
            <a:xfrm>
              <a:off x="5076824" y="3716279"/>
              <a:ext cx="2087686" cy="4620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Room[1]</a:t>
              </a: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 结构</a:t>
              </a: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0" name="Text Box 37"/>
            <p:cNvSpPr txBox="1">
              <a:spLocks noChangeArrowheads="1"/>
            </p:cNvSpPr>
            <p:nvPr/>
          </p:nvSpPr>
          <p:spPr bwMode="auto">
            <a:xfrm>
              <a:off x="5076824" y="4559430"/>
              <a:ext cx="2087686" cy="4604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Room[2]</a:t>
              </a: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 结构</a:t>
              </a: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1" name="Text Box 38"/>
            <p:cNvSpPr txBox="1">
              <a:spLocks noChangeArrowheads="1"/>
            </p:cNvSpPr>
            <p:nvPr/>
          </p:nvSpPr>
          <p:spPr bwMode="auto">
            <a:xfrm>
              <a:off x="5076824" y="5415284"/>
              <a:ext cx="2087686" cy="4620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Room[3]</a:t>
              </a: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 结构</a:t>
              </a: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86" name="Line 40"/>
          <p:cNvSpPr>
            <a:spLocks noChangeShapeType="1"/>
          </p:cNvSpPr>
          <p:nvPr/>
        </p:nvSpPr>
        <p:spPr bwMode="auto">
          <a:xfrm>
            <a:off x="1241108" y="3765550"/>
            <a:ext cx="15128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Garamond" panose="02020404030301010803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7" name="Line 41"/>
          <p:cNvSpPr>
            <a:spLocks noChangeShapeType="1"/>
          </p:cNvSpPr>
          <p:nvPr/>
        </p:nvSpPr>
        <p:spPr bwMode="auto">
          <a:xfrm>
            <a:off x="1241108" y="4110038"/>
            <a:ext cx="15128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Garamond" panose="02020404030301010803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8" name="Line 42"/>
          <p:cNvSpPr>
            <a:spLocks noChangeShapeType="1"/>
          </p:cNvSpPr>
          <p:nvPr/>
        </p:nvSpPr>
        <p:spPr bwMode="auto">
          <a:xfrm>
            <a:off x="1241108" y="4486275"/>
            <a:ext cx="1512887" cy="111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Garamond" panose="02020404030301010803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9" name="Line 29"/>
          <p:cNvSpPr>
            <a:spLocks noChangeShapeType="1"/>
          </p:cNvSpPr>
          <p:nvPr/>
        </p:nvSpPr>
        <p:spPr bwMode="auto">
          <a:xfrm flipH="1" flipV="1">
            <a:off x="3184208" y="4719638"/>
            <a:ext cx="1587" cy="941387"/>
          </a:xfrm>
          <a:prstGeom prst="line">
            <a:avLst/>
          </a:prstGeom>
          <a:noFill/>
          <a:ln w="25400" cap="sq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Garamond" panose="02020404030301010803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6182" y="2831786"/>
            <a:ext cx="49565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8</a:t>
            </a:r>
            <a:endParaRPr lang="zh-CN" altLang="en-US" sz="2400" dirty="0"/>
          </a:p>
        </p:txBody>
      </p:sp>
      <p:sp>
        <p:nvSpPr>
          <p:cNvPr id="90" name="TextBox 89"/>
          <p:cNvSpPr txBox="1"/>
          <p:nvPr/>
        </p:nvSpPr>
        <p:spPr>
          <a:xfrm>
            <a:off x="7556182" y="3702992"/>
            <a:ext cx="49565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15</a:t>
            </a:r>
            <a:endParaRPr lang="zh-CN" altLang="en-US" sz="2400" dirty="0"/>
          </a:p>
        </p:txBody>
      </p:sp>
      <p:sp>
        <p:nvSpPr>
          <p:cNvPr id="91" name="TextBox 90"/>
          <p:cNvSpPr txBox="1"/>
          <p:nvPr/>
        </p:nvSpPr>
        <p:spPr>
          <a:xfrm>
            <a:off x="7559040" y="4552156"/>
            <a:ext cx="49565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5</a:t>
            </a:r>
            <a:endParaRPr lang="zh-CN" altLang="en-US" sz="2400" dirty="0"/>
          </a:p>
        </p:txBody>
      </p:sp>
      <p:sp>
        <p:nvSpPr>
          <p:cNvPr id="92" name="TextBox 91"/>
          <p:cNvSpPr txBox="1"/>
          <p:nvPr/>
        </p:nvSpPr>
        <p:spPr>
          <a:xfrm>
            <a:off x="7556182" y="5430192"/>
            <a:ext cx="49565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10</a:t>
            </a:r>
            <a:endParaRPr lang="zh-CN" altLang="en-US" sz="2400" dirty="0"/>
          </a:p>
        </p:txBody>
      </p:sp>
      <p:sp>
        <p:nvSpPr>
          <p:cNvPr id="97" name="TextBox 96"/>
          <p:cNvSpPr txBox="1"/>
          <p:nvPr/>
        </p:nvSpPr>
        <p:spPr>
          <a:xfrm>
            <a:off x="607028" y="3118390"/>
            <a:ext cx="49565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8</a:t>
            </a:r>
            <a:endParaRPr lang="zh-CN" altLang="en-US" sz="2400" dirty="0"/>
          </a:p>
        </p:txBody>
      </p:sp>
      <p:sp>
        <p:nvSpPr>
          <p:cNvPr id="98" name="TextBox 97"/>
          <p:cNvSpPr txBox="1"/>
          <p:nvPr/>
        </p:nvSpPr>
        <p:spPr>
          <a:xfrm>
            <a:off x="607028" y="3618150"/>
            <a:ext cx="49565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15</a:t>
            </a:r>
            <a:endParaRPr lang="zh-CN" altLang="en-US" sz="2400" dirty="0"/>
          </a:p>
        </p:txBody>
      </p:sp>
      <p:sp>
        <p:nvSpPr>
          <p:cNvPr id="99" name="TextBox 98"/>
          <p:cNvSpPr txBox="1"/>
          <p:nvPr/>
        </p:nvSpPr>
        <p:spPr>
          <a:xfrm>
            <a:off x="607028" y="4124813"/>
            <a:ext cx="49565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5</a:t>
            </a:r>
            <a:endParaRPr lang="zh-CN" altLang="en-US" sz="2400" dirty="0"/>
          </a:p>
        </p:txBody>
      </p:sp>
      <p:sp>
        <p:nvSpPr>
          <p:cNvPr id="100" name="TextBox 99"/>
          <p:cNvSpPr txBox="1"/>
          <p:nvPr/>
        </p:nvSpPr>
        <p:spPr>
          <a:xfrm>
            <a:off x="607028" y="4631476"/>
            <a:ext cx="49565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10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使用指针数组处理结构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(3)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0000CC"/>
                </a:solidFill>
              </a:rPr>
              <a:t>p[j]-&gt;height</a:t>
            </a:r>
            <a:r>
              <a:rPr lang="zh-CN" altLang="en-US" sz="2800" dirty="0"/>
              <a:t>：</a:t>
            </a:r>
            <a:r>
              <a:rPr lang="en-US" altLang="zh-CN" sz="2800" dirty="0"/>
              <a:t>p[j] </a:t>
            </a:r>
            <a:r>
              <a:rPr lang="zh-CN" altLang="en-US" sz="2800" dirty="0"/>
              <a:t>的指针通过箭头操作符来访问 </a:t>
            </a:r>
            <a:r>
              <a:rPr lang="en-US" altLang="zh-CN" sz="2800" dirty="0"/>
              <a:t>my </a:t>
            </a:r>
            <a:r>
              <a:rPr lang="zh-CN" altLang="en-US" sz="2800" dirty="0"/>
              <a:t>结构成员 </a:t>
            </a:r>
            <a:r>
              <a:rPr lang="en-US" altLang="zh-CN" sz="2800" dirty="0"/>
              <a:t>height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en-US" altLang="zh-CN" sz="2800" dirty="0"/>
              <a:t>if (p[j]-&gt;height &gt; p[j+1]-&gt;height) </a:t>
            </a:r>
            <a:r>
              <a:rPr lang="zh-CN" altLang="en-US" sz="2800" dirty="0"/>
              <a:t>：如果 </a:t>
            </a:r>
            <a:r>
              <a:rPr lang="en-US" altLang="zh-CN" sz="2800" dirty="0"/>
              <a:t>Room[j] </a:t>
            </a:r>
            <a:r>
              <a:rPr lang="zh-CN" altLang="en-US" sz="2800" dirty="0"/>
              <a:t>中的 </a:t>
            </a:r>
            <a:r>
              <a:rPr lang="en-US" altLang="zh-CN" sz="2800" dirty="0"/>
              <a:t>height </a:t>
            </a:r>
            <a:r>
              <a:rPr lang="zh-CN" altLang="en-US" sz="2800" dirty="0"/>
              <a:t>成员比 </a:t>
            </a:r>
            <a:r>
              <a:rPr lang="en-US" altLang="zh-CN" sz="2800" dirty="0"/>
              <a:t>Room[j+1] </a:t>
            </a:r>
            <a:r>
              <a:rPr lang="zh-CN" altLang="en-US" sz="2800" dirty="0"/>
              <a:t>中的 </a:t>
            </a:r>
            <a:r>
              <a:rPr lang="en-US" altLang="zh-CN" sz="2800" dirty="0"/>
              <a:t>height </a:t>
            </a:r>
            <a:r>
              <a:rPr lang="zh-CN" altLang="en-US" sz="2800" dirty="0"/>
              <a:t>成员大，就去做下面的语句组：</a:t>
            </a:r>
            <a:endParaRPr lang="en-US" altLang="zh-CN" sz="2800" dirty="0"/>
          </a:p>
          <a:p>
            <a:pPr lvl="1"/>
            <a:r>
              <a:rPr lang="zh-CN" altLang="en-US" sz="2400" dirty="0"/>
              <a:t>变换指针的指向，让 </a:t>
            </a:r>
            <a:r>
              <a:rPr lang="en-US" altLang="zh-CN" sz="2400" dirty="0"/>
              <a:t>p[j] </a:t>
            </a:r>
            <a:r>
              <a:rPr lang="zh-CN" altLang="en-US" sz="2400" dirty="0"/>
              <a:t>改去指向 </a:t>
            </a:r>
            <a:r>
              <a:rPr lang="en-US" altLang="zh-CN" sz="2400" dirty="0"/>
              <a:t>Room[j+1]</a:t>
            </a:r>
            <a:r>
              <a:rPr lang="zh-CN" altLang="en-US" sz="2400" dirty="0"/>
              <a:t>，让 </a:t>
            </a:r>
            <a:r>
              <a:rPr lang="en-US" altLang="zh-CN" sz="2400" dirty="0"/>
              <a:t>p[j+1] </a:t>
            </a:r>
            <a:r>
              <a:rPr lang="zh-CN" altLang="en-US" sz="2400" dirty="0"/>
              <a:t>指向 </a:t>
            </a:r>
            <a:r>
              <a:rPr lang="en-US" altLang="zh-CN" sz="2400" dirty="0"/>
              <a:t>Room[j]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400" dirty="0"/>
              <a:t>这样做就比前一个程序好。当着结构成员很多时，直接让结构变量相互交换并不是好办法，而现在的做法只需将指针的指向交换一下，极为省力</a:t>
            </a:r>
            <a:endParaRPr lang="en-US" altLang="en-US" sz="2400" dirty="0">
              <a:ea typeface="华文中宋" panose="0201060004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6C09E3-5210-461B-B1A2-EB84F2B7B37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使用指针数组处理结构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(4)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60418" name="Content Placeholder 2"/>
          <p:cNvSpPr>
            <a:spLocks noGrp="1"/>
          </p:cNvSpPr>
          <p:nvPr>
            <p:ph idx="1"/>
          </p:nvPr>
        </p:nvSpPr>
        <p:spPr>
          <a:xfrm>
            <a:off x="769620" y="1122225"/>
            <a:ext cx="7499350" cy="1437958"/>
          </a:xfrm>
        </p:spPr>
        <p:txBody>
          <a:bodyPr>
            <a:normAutofit lnSpcReduction="10000"/>
          </a:bodyPr>
          <a:lstStyle/>
          <a:p>
            <a:r>
              <a:rPr lang="en-US" altLang="zh-CN" sz="2800" dirty="0"/>
              <a:t>p[ ]</a:t>
            </a:r>
            <a:r>
              <a:rPr lang="zh-CN" altLang="en-US" sz="2800" dirty="0"/>
              <a:t> 经排序后指向的</a:t>
            </a:r>
            <a:r>
              <a:rPr lang="zh-CN" altLang="en-US" dirty="0"/>
              <a:t>地址发生了改变</a:t>
            </a:r>
            <a:endParaRPr lang="en-US" altLang="zh-CN" dirty="0"/>
          </a:p>
          <a:p>
            <a:r>
              <a:rPr lang="zh-CN" altLang="en-US" dirty="0"/>
              <a:t>从</a:t>
            </a:r>
            <a:r>
              <a:rPr lang="en-US" altLang="zh-CN" dirty="0"/>
              <a:t>p[0]</a:t>
            </a:r>
            <a:r>
              <a:rPr lang="zh-CN" altLang="en-US" dirty="0"/>
              <a:t>到</a:t>
            </a:r>
            <a:r>
              <a:rPr lang="en-US" altLang="zh-CN" dirty="0"/>
              <a:t>p[n-1]</a:t>
            </a:r>
            <a:r>
              <a:rPr lang="zh-CN" altLang="en-US" dirty="0"/>
              <a:t>打印是排好序的，从</a:t>
            </a:r>
            <a:r>
              <a:rPr lang="en-US" altLang="zh-CN" dirty="0"/>
              <a:t>Room[0]</a:t>
            </a:r>
            <a:r>
              <a:rPr lang="zh-CN" altLang="en-US" dirty="0"/>
              <a:t>到</a:t>
            </a:r>
            <a:r>
              <a:rPr lang="en-US" altLang="zh-CN" dirty="0"/>
              <a:t>Room[n-1]</a:t>
            </a:r>
            <a:r>
              <a:rPr lang="zh-CN" altLang="en-US" dirty="0"/>
              <a:t>打印是原来的顺序</a:t>
            </a:r>
            <a:endParaRPr lang="en-US" altLang="en-US" sz="2800" dirty="0">
              <a:ea typeface="华文中宋" panose="0201060004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C8BCA5-A9DC-4DB0-8CCD-D004EFC5F435}" type="slidenum">
              <a:rPr lang="zh-CN" altLang="en-US" smtClean="0"/>
            </a:fld>
            <a:endParaRPr lang="en-US" altLang="zh-CN"/>
          </a:p>
        </p:txBody>
      </p:sp>
      <p:grpSp>
        <p:nvGrpSpPr>
          <p:cNvPr id="46" name="Group 4"/>
          <p:cNvGrpSpPr/>
          <p:nvPr/>
        </p:nvGrpSpPr>
        <p:grpSpPr bwMode="auto">
          <a:xfrm>
            <a:off x="1241108" y="3217863"/>
            <a:ext cx="1512887" cy="1762125"/>
            <a:chOff x="929" y="1207"/>
            <a:chExt cx="953" cy="1316"/>
          </a:xfrm>
        </p:grpSpPr>
        <p:sp>
          <p:nvSpPr>
            <p:cNvPr id="47" name="Rectangle 5"/>
            <p:cNvSpPr>
              <a:spLocks noChangeArrowheads="1"/>
            </p:cNvSpPr>
            <p:nvPr/>
          </p:nvSpPr>
          <p:spPr bwMode="auto">
            <a:xfrm>
              <a:off x="929" y="1207"/>
              <a:ext cx="953" cy="1316"/>
            </a:xfrm>
            <a:prstGeom prst="rect">
              <a:avLst/>
            </a:prstGeom>
            <a:noFill/>
            <a:ln w="254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9" name="Text Box 6"/>
            <p:cNvSpPr txBox="1">
              <a:spLocks noChangeArrowheads="1"/>
            </p:cNvSpPr>
            <p:nvPr/>
          </p:nvSpPr>
          <p:spPr bwMode="auto">
            <a:xfrm>
              <a:off x="1156" y="1328"/>
              <a:ext cx="590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  <a:cs typeface="黑体" panose="02010609060101010101" pitchFamily="49" charset="-122"/>
                </a:rPr>
                <a:t>p[0]</a:t>
              </a:r>
              <a:endPara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50" name="Text Box 7"/>
            <p:cNvSpPr txBox="1">
              <a:spLocks noChangeArrowheads="1"/>
            </p:cNvSpPr>
            <p:nvPr/>
          </p:nvSpPr>
          <p:spPr bwMode="auto">
            <a:xfrm>
              <a:off x="1156" y="1585"/>
              <a:ext cx="590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  <a:cs typeface="黑体" panose="02010609060101010101" pitchFamily="49" charset="-122"/>
                </a:rPr>
                <a:t>p[1]</a:t>
              </a:r>
              <a:endPara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51" name="Text Box 8"/>
            <p:cNvSpPr txBox="1">
              <a:spLocks noChangeArrowheads="1"/>
            </p:cNvSpPr>
            <p:nvPr/>
          </p:nvSpPr>
          <p:spPr bwMode="auto">
            <a:xfrm>
              <a:off x="1156" y="1874"/>
              <a:ext cx="590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  <a:cs typeface="黑体" panose="02010609060101010101" pitchFamily="49" charset="-122"/>
                </a:rPr>
                <a:t>p[2]</a:t>
              </a:r>
              <a:endPara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52" name="Text Box 9"/>
            <p:cNvSpPr txBox="1">
              <a:spLocks noChangeArrowheads="1"/>
            </p:cNvSpPr>
            <p:nvPr/>
          </p:nvSpPr>
          <p:spPr bwMode="auto">
            <a:xfrm>
              <a:off x="1156" y="2163"/>
              <a:ext cx="590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  <a:cs typeface="黑体" panose="02010609060101010101" pitchFamily="49" charset="-122"/>
                </a:rPr>
                <a:t>p[3]</a:t>
              </a:r>
              <a:endPara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</p:grpSp>
      <p:grpSp>
        <p:nvGrpSpPr>
          <p:cNvPr id="53" name="Group 15"/>
          <p:cNvGrpSpPr/>
          <p:nvPr/>
        </p:nvGrpSpPr>
        <p:grpSpPr bwMode="auto">
          <a:xfrm>
            <a:off x="2322195" y="3087571"/>
            <a:ext cx="2520950" cy="868479"/>
            <a:chOff x="1610" y="1150"/>
            <a:chExt cx="1588" cy="330"/>
          </a:xfrm>
        </p:grpSpPr>
        <p:sp>
          <p:nvSpPr>
            <p:cNvPr id="54" name="Line 16"/>
            <p:cNvSpPr>
              <a:spLocks noChangeShapeType="1"/>
            </p:cNvSpPr>
            <p:nvPr/>
          </p:nvSpPr>
          <p:spPr bwMode="auto">
            <a:xfrm>
              <a:off x="1610" y="1480"/>
              <a:ext cx="544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5" name="Line 17"/>
            <p:cNvSpPr>
              <a:spLocks noChangeShapeType="1"/>
            </p:cNvSpPr>
            <p:nvPr/>
          </p:nvSpPr>
          <p:spPr bwMode="auto">
            <a:xfrm flipH="1" flipV="1">
              <a:off x="2153" y="1158"/>
              <a:ext cx="1" cy="322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6" name="Line 18"/>
            <p:cNvSpPr>
              <a:spLocks noChangeShapeType="1"/>
            </p:cNvSpPr>
            <p:nvPr/>
          </p:nvSpPr>
          <p:spPr bwMode="auto">
            <a:xfrm>
              <a:off x="2154" y="1150"/>
              <a:ext cx="1044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57" name="Group 27"/>
          <p:cNvGrpSpPr/>
          <p:nvPr/>
        </p:nvGrpSpPr>
        <p:grpSpPr bwMode="auto">
          <a:xfrm>
            <a:off x="2322195" y="3614738"/>
            <a:ext cx="2520950" cy="1182687"/>
            <a:chOff x="1610" y="2024"/>
            <a:chExt cx="1588" cy="362"/>
          </a:xfrm>
        </p:grpSpPr>
        <p:sp>
          <p:nvSpPr>
            <p:cNvPr id="58" name="Line 28"/>
            <p:cNvSpPr>
              <a:spLocks noChangeShapeType="1"/>
            </p:cNvSpPr>
            <p:nvPr/>
          </p:nvSpPr>
          <p:spPr bwMode="auto">
            <a:xfrm>
              <a:off x="1610" y="2024"/>
              <a:ext cx="862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9" name="Line 29"/>
            <p:cNvSpPr>
              <a:spLocks noChangeShapeType="1"/>
            </p:cNvSpPr>
            <p:nvPr/>
          </p:nvSpPr>
          <p:spPr bwMode="auto">
            <a:xfrm flipH="1" flipV="1">
              <a:off x="2474" y="2026"/>
              <a:ext cx="0" cy="36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0" name="Line 30"/>
            <p:cNvSpPr>
              <a:spLocks noChangeShapeType="1"/>
            </p:cNvSpPr>
            <p:nvPr/>
          </p:nvSpPr>
          <p:spPr bwMode="auto">
            <a:xfrm>
              <a:off x="2472" y="2386"/>
              <a:ext cx="726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61" name="Group 45"/>
          <p:cNvGrpSpPr/>
          <p:nvPr/>
        </p:nvGrpSpPr>
        <p:grpSpPr bwMode="auto">
          <a:xfrm>
            <a:off x="4843145" y="2671763"/>
            <a:ext cx="2519363" cy="3417887"/>
            <a:chOff x="5076824" y="2671471"/>
            <a:chExt cx="2519512" cy="3418651"/>
          </a:xfrm>
        </p:grpSpPr>
        <p:grpSp>
          <p:nvGrpSpPr>
            <p:cNvPr id="62" name="Group 10"/>
            <p:cNvGrpSpPr/>
            <p:nvPr/>
          </p:nvGrpSpPr>
          <p:grpSpPr bwMode="auto">
            <a:xfrm>
              <a:off x="5076825" y="2671471"/>
              <a:ext cx="2519511" cy="3418651"/>
              <a:chOff x="3198" y="270"/>
              <a:chExt cx="953" cy="3748"/>
            </a:xfrm>
          </p:grpSpPr>
          <p:sp>
            <p:nvSpPr>
              <p:cNvPr id="67" name="Rectangle 11"/>
              <p:cNvSpPr>
                <a:spLocks noChangeArrowheads="1"/>
              </p:cNvSpPr>
              <p:nvPr/>
            </p:nvSpPr>
            <p:spPr bwMode="auto">
              <a:xfrm>
                <a:off x="3198" y="270"/>
                <a:ext cx="953" cy="937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68" name="Rectangle 12"/>
              <p:cNvSpPr>
                <a:spLocks noChangeArrowheads="1"/>
              </p:cNvSpPr>
              <p:nvPr/>
            </p:nvSpPr>
            <p:spPr bwMode="auto">
              <a:xfrm>
                <a:off x="3198" y="1207"/>
                <a:ext cx="953" cy="937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69" name="Rectangle 13"/>
              <p:cNvSpPr>
                <a:spLocks noChangeArrowheads="1"/>
              </p:cNvSpPr>
              <p:nvPr/>
            </p:nvSpPr>
            <p:spPr bwMode="auto">
              <a:xfrm>
                <a:off x="3198" y="2145"/>
                <a:ext cx="953" cy="937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70" name="Rectangle 14"/>
              <p:cNvSpPr>
                <a:spLocks noChangeArrowheads="1"/>
              </p:cNvSpPr>
              <p:nvPr/>
            </p:nvSpPr>
            <p:spPr bwMode="auto">
              <a:xfrm>
                <a:off x="3198" y="3081"/>
                <a:ext cx="953" cy="935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63" name="Text Box 35"/>
            <p:cNvSpPr txBox="1">
              <a:spLocks noChangeArrowheads="1"/>
            </p:cNvSpPr>
            <p:nvPr/>
          </p:nvSpPr>
          <p:spPr bwMode="auto">
            <a:xfrm>
              <a:off x="5076824" y="2781032"/>
              <a:ext cx="2087686" cy="4620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Room[0]</a:t>
              </a: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 结构</a:t>
              </a: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4" name="Text Box 36"/>
            <p:cNvSpPr txBox="1">
              <a:spLocks noChangeArrowheads="1"/>
            </p:cNvSpPr>
            <p:nvPr/>
          </p:nvSpPr>
          <p:spPr bwMode="auto">
            <a:xfrm>
              <a:off x="5076824" y="3716279"/>
              <a:ext cx="2087686" cy="4620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Room[1]</a:t>
              </a: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 结构</a:t>
              </a: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5" name="Text Box 37"/>
            <p:cNvSpPr txBox="1">
              <a:spLocks noChangeArrowheads="1"/>
            </p:cNvSpPr>
            <p:nvPr/>
          </p:nvSpPr>
          <p:spPr bwMode="auto">
            <a:xfrm>
              <a:off x="5076824" y="4559430"/>
              <a:ext cx="2087686" cy="4604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Room[2]</a:t>
              </a: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 结构</a:t>
              </a: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6" name="Text Box 38"/>
            <p:cNvSpPr txBox="1">
              <a:spLocks noChangeArrowheads="1"/>
            </p:cNvSpPr>
            <p:nvPr/>
          </p:nvSpPr>
          <p:spPr bwMode="auto">
            <a:xfrm>
              <a:off x="5076824" y="5415284"/>
              <a:ext cx="2087686" cy="4620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Room[3]</a:t>
              </a: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 结构</a:t>
              </a: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71" name="Line 40"/>
          <p:cNvSpPr>
            <a:spLocks noChangeShapeType="1"/>
          </p:cNvSpPr>
          <p:nvPr/>
        </p:nvSpPr>
        <p:spPr bwMode="auto">
          <a:xfrm>
            <a:off x="1241108" y="3765550"/>
            <a:ext cx="15128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Garamond" panose="02020404030301010803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2" name="Line 41"/>
          <p:cNvSpPr>
            <a:spLocks noChangeShapeType="1"/>
          </p:cNvSpPr>
          <p:nvPr/>
        </p:nvSpPr>
        <p:spPr bwMode="auto">
          <a:xfrm>
            <a:off x="1241108" y="4110038"/>
            <a:ext cx="15128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Garamond" panose="02020404030301010803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3" name="Line 42"/>
          <p:cNvSpPr>
            <a:spLocks noChangeShapeType="1"/>
          </p:cNvSpPr>
          <p:nvPr/>
        </p:nvSpPr>
        <p:spPr bwMode="auto">
          <a:xfrm>
            <a:off x="1241108" y="4486275"/>
            <a:ext cx="1512887" cy="111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Garamond" panose="02020404030301010803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2322195" y="4325542"/>
            <a:ext cx="2520950" cy="1335483"/>
            <a:chOff x="2322195" y="4719638"/>
            <a:chExt cx="2520950" cy="941387"/>
          </a:xfrm>
        </p:grpSpPr>
        <p:grpSp>
          <p:nvGrpSpPr>
            <p:cNvPr id="75" name="Group 46"/>
            <p:cNvGrpSpPr/>
            <p:nvPr/>
          </p:nvGrpSpPr>
          <p:grpSpPr bwMode="auto">
            <a:xfrm>
              <a:off x="2322195" y="4724400"/>
              <a:ext cx="2520950" cy="936625"/>
              <a:chOff x="2555875" y="4725144"/>
              <a:chExt cx="2520950" cy="935932"/>
            </a:xfrm>
          </p:grpSpPr>
          <p:sp>
            <p:nvSpPr>
              <p:cNvPr id="77" name="Line 24"/>
              <p:cNvSpPr>
                <a:spLocks noChangeShapeType="1"/>
              </p:cNvSpPr>
              <p:nvPr/>
            </p:nvSpPr>
            <p:spPr bwMode="auto">
              <a:xfrm>
                <a:off x="2555875" y="4725144"/>
                <a:ext cx="863600" cy="0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endParaRPr lang="zh-CN" altLang="en-US"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78" name="Line 26"/>
              <p:cNvSpPr>
                <a:spLocks noChangeShapeType="1"/>
              </p:cNvSpPr>
              <p:nvPr/>
            </p:nvSpPr>
            <p:spPr bwMode="auto">
              <a:xfrm>
                <a:off x="3419475" y="5661076"/>
                <a:ext cx="1657350" cy="0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endParaRPr lang="zh-CN" altLang="en-US">
                  <a:latin typeface="Garamond" panose="02020404030301010803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76" name="Line 29"/>
            <p:cNvSpPr>
              <a:spLocks noChangeShapeType="1"/>
            </p:cNvSpPr>
            <p:nvPr/>
          </p:nvSpPr>
          <p:spPr bwMode="auto">
            <a:xfrm flipH="1" flipV="1">
              <a:off x="3184208" y="4719638"/>
              <a:ext cx="1587" cy="941387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79" name="Group 15"/>
          <p:cNvGrpSpPr/>
          <p:nvPr/>
        </p:nvGrpSpPr>
        <p:grpSpPr bwMode="auto">
          <a:xfrm>
            <a:off x="2322195" y="3848955"/>
            <a:ext cx="2520950" cy="868479"/>
            <a:chOff x="1610" y="1150"/>
            <a:chExt cx="1588" cy="330"/>
          </a:xfrm>
        </p:grpSpPr>
        <p:sp>
          <p:nvSpPr>
            <p:cNvPr id="80" name="Line 16"/>
            <p:cNvSpPr>
              <a:spLocks noChangeShapeType="1"/>
            </p:cNvSpPr>
            <p:nvPr/>
          </p:nvSpPr>
          <p:spPr bwMode="auto">
            <a:xfrm>
              <a:off x="1610" y="1480"/>
              <a:ext cx="593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1" name="Line 17"/>
            <p:cNvSpPr>
              <a:spLocks noChangeShapeType="1"/>
            </p:cNvSpPr>
            <p:nvPr/>
          </p:nvSpPr>
          <p:spPr bwMode="auto">
            <a:xfrm flipH="1" flipV="1">
              <a:off x="2203" y="1156"/>
              <a:ext cx="1" cy="322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2" name="Line 18"/>
            <p:cNvSpPr>
              <a:spLocks noChangeShapeType="1"/>
            </p:cNvSpPr>
            <p:nvPr/>
          </p:nvSpPr>
          <p:spPr bwMode="auto">
            <a:xfrm>
              <a:off x="2203" y="1150"/>
              <a:ext cx="995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7556182" y="2831786"/>
            <a:ext cx="49565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8</a:t>
            </a:r>
            <a:endParaRPr lang="zh-CN" altLang="en-US" sz="2400" dirty="0"/>
          </a:p>
        </p:txBody>
      </p:sp>
      <p:sp>
        <p:nvSpPr>
          <p:cNvPr id="84" name="TextBox 83"/>
          <p:cNvSpPr txBox="1"/>
          <p:nvPr/>
        </p:nvSpPr>
        <p:spPr>
          <a:xfrm>
            <a:off x="7556182" y="3702992"/>
            <a:ext cx="49565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15</a:t>
            </a:r>
            <a:endParaRPr lang="zh-CN" altLang="en-US" sz="2400" dirty="0"/>
          </a:p>
        </p:txBody>
      </p:sp>
      <p:sp>
        <p:nvSpPr>
          <p:cNvPr id="85" name="TextBox 84"/>
          <p:cNvSpPr txBox="1"/>
          <p:nvPr/>
        </p:nvSpPr>
        <p:spPr>
          <a:xfrm>
            <a:off x="7559040" y="4552156"/>
            <a:ext cx="49565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5</a:t>
            </a:r>
            <a:endParaRPr lang="zh-CN" altLang="en-US" sz="2400" dirty="0"/>
          </a:p>
        </p:txBody>
      </p:sp>
      <p:sp>
        <p:nvSpPr>
          <p:cNvPr id="86" name="TextBox 85"/>
          <p:cNvSpPr txBox="1"/>
          <p:nvPr/>
        </p:nvSpPr>
        <p:spPr>
          <a:xfrm>
            <a:off x="7556182" y="5430192"/>
            <a:ext cx="49565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10</a:t>
            </a:r>
            <a:endParaRPr lang="zh-CN" altLang="en-US" sz="2400" dirty="0"/>
          </a:p>
        </p:txBody>
      </p:sp>
      <p:sp>
        <p:nvSpPr>
          <p:cNvPr id="87" name="TextBox 86"/>
          <p:cNvSpPr txBox="1"/>
          <p:nvPr/>
        </p:nvSpPr>
        <p:spPr>
          <a:xfrm>
            <a:off x="593660" y="3612470"/>
            <a:ext cx="49565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8</a:t>
            </a:r>
            <a:endParaRPr lang="zh-CN" altLang="en-US" sz="2400" dirty="0"/>
          </a:p>
        </p:txBody>
      </p:sp>
      <p:sp>
        <p:nvSpPr>
          <p:cNvPr id="88" name="TextBox 87"/>
          <p:cNvSpPr txBox="1"/>
          <p:nvPr/>
        </p:nvSpPr>
        <p:spPr>
          <a:xfrm>
            <a:off x="593660" y="3108625"/>
            <a:ext cx="49565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5</a:t>
            </a:r>
            <a:endParaRPr lang="zh-CN" altLang="en-US" sz="2400" dirty="0"/>
          </a:p>
        </p:txBody>
      </p:sp>
      <p:sp>
        <p:nvSpPr>
          <p:cNvPr id="89" name="TextBox 88"/>
          <p:cNvSpPr txBox="1"/>
          <p:nvPr/>
        </p:nvSpPr>
        <p:spPr>
          <a:xfrm>
            <a:off x="593660" y="4113652"/>
            <a:ext cx="49565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10</a:t>
            </a:r>
            <a:endParaRPr lang="zh-CN" altLang="en-US" sz="2400" dirty="0"/>
          </a:p>
        </p:txBody>
      </p:sp>
      <p:sp>
        <p:nvSpPr>
          <p:cNvPr id="90" name="TextBox 89"/>
          <p:cNvSpPr txBox="1"/>
          <p:nvPr/>
        </p:nvSpPr>
        <p:spPr>
          <a:xfrm>
            <a:off x="593660" y="4618475"/>
            <a:ext cx="49565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15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void</a:t>
            </a:r>
            <a:r>
              <a:rPr lang="zh-CN" altLang="en-US" dirty="0"/>
              <a:t>指针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void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指针类型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对所有数据类型进行统一处理，不在乎具体是什么类型，或者作为函数为不同类型提供统一接口</a:t>
            </a:r>
            <a:endParaRPr lang="en-US" altLang="zh-CN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793240" y="3540760"/>
            <a:ext cx="15100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/>
              <a:t>void *</a:t>
            </a:r>
            <a:endParaRPr lang="en-US" altLang="zh-CN" sz="3200" dirty="0"/>
          </a:p>
          <a:p>
            <a:pPr algn="ctr"/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void</a:t>
            </a:r>
            <a:r>
              <a:rPr lang="zh-CN" altLang="en-US" sz="2800" dirty="0">
                <a:solidFill>
                  <a:schemeClr val="bg2">
                    <a:lumMod val="75000"/>
                  </a:schemeClr>
                </a:solidFill>
              </a:rPr>
              <a:t>指针</a:t>
            </a:r>
            <a:endParaRPr lang="zh-CN" altLang="en-US" sz="2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Left Brace 3"/>
          <p:cNvSpPr/>
          <p:nvPr/>
        </p:nvSpPr>
        <p:spPr>
          <a:xfrm>
            <a:off x="3516474" y="2771318"/>
            <a:ext cx="294640" cy="2554545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917639" y="2727960"/>
            <a:ext cx="228838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/>
              <a:t>int *</a:t>
            </a:r>
            <a:endParaRPr lang="en-US" altLang="zh-CN" sz="3200" dirty="0"/>
          </a:p>
          <a:p>
            <a:pPr algn="ctr"/>
            <a:r>
              <a:rPr lang="en-US" altLang="zh-CN" sz="3200" dirty="0">
                <a:solidFill>
                  <a:schemeClr val="bg2">
                    <a:lumMod val="75000"/>
                  </a:schemeClr>
                </a:solidFill>
              </a:rPr>
              <a:t>double *</a:t>
            </a:r>
            <a:endParaRPr lang="en-US" altLang="zh-CN" sz="32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en-US" altLang="zh-CN" sz="3200" dirty="0">
                <a:solidFill>
                  <a:schemeClr val="bg2">
                    <a:lumMod val="75000"/>
                  </a:schemeClr>
                </a:solidFill>
              </a:rPr>
              <a:t>char *</a:t>
            </a:r>
            <a:endParaRPr lang="en-US" altLang="zh-CN" sz="32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en-US" altLang="zh-CN" sz="3200" dirty="0">
                <a:solidFill>
                  <a:schemeClr val="bg2">
                    <a:lumMod val="75000"/>
                  </a:schemeClr>
                </a:solidFill>
              </a:rPr>
              <a:t>…</a:t>
            </a:r>
            <a:endParaRPr lang="en-US" altLang="zh-CN" sz="32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en-US" altLang="zh-CN" sz="3200" dirty="0">
                <a:solidFill>
                  <a:schemeClr val="bg2">
                    <a:lumMod val="75000"/>
                  </a:schemeClr>
                </a:solidFill>
              </a:rPr>
              <a:t>struct Item *</a:t>
            </a:r>
            <a:endParaRPr lang="zh-CN" altLang="en-US" sz="28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void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指针类型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zh-CN" altLang="en-US" sz="2400" dirty="0"/>
              <a:t>定义</a:t>
            </a:r>
            <a:r>
              <a:rPr lang="en-US" altLang="zh-CN" sz="2400" dirty="0"/>
              <a:t>void</a:t>
            </a:r>
            <a:r>
              <a:rPr lang="zh-CN" altLang="en-US" sz="2400" dirty="0"/>
              <a:t>类型指针，不需要指定它是指向哪种数据类型，实际上它可以指向任何数据类型。</a:t>
            </a:r>
            <a:endParaRPr lang="en-US" altLang="zh-CN" sz="2400" dirty="0"/>
          </a:p>
          <a:p>
            <a:pPr lvl="1" eaLnBrk="1" hangingPunct="1"/>
            <a:r>
              <a:rPr lang="en-US" altLang="zh-CN" sz="2000" dirty="0"/>
              <a:t>void</a:t>
            </a:r>
            <a:r>
              <a:rPr lang="zh-CN" altLang="en-US" sz="2000" dirty="0"/>
              <a:t>指针可以指向任意类型的数据，即可用任意数据类型的指针对</a:t>
            </a:r>
            <a:r>
              <a:rPr lang="en-US" altLang="zh-CN" sz="2000" dirty="0"/>
              <a:t>void</a:t>
            </a:r>
            <a:r>
              <a:rPr lang="zh-CN" altLang="en-US" sz="2000" dirty="0"/>
              <a:t>指针赋值</a:t>
            </a:r>
            <a:endParaRPr lang="en-US" altLang="zh-CN" sz="2000" dirty="0"/>
          </a:p>
          <a:p>
            <a:pPr lvl="2" eaLnBrk="1" hangingPunct="1"/>
            <a:r>
              <a:rPr lang="zh-CN" altLang="en-US" sz="1800" dirty="0"/>
              <a:t>反之要强制转换</a:t>
            </a:r>
            <a:endParaRPr lang="en-US" altLang="zh-CN" sz="1800" dirty="0"/>
          </a:p>
          <a:p>
            <a:pPr lvl="2" eaLnBrk="1" hangingPunct="1"/>
            <a:endParaRPr lang="en-US" altLang="zh-CN" sz="1800" dirty="0"/>
          </a:p>
          <a:p>
            <a:pPr lvl="2" eaLnBrk="1" hangingPunct="1"/>
            <a:endParaRPr lang="en-US" altLang="zh-CN" sz="1800" dirty="0"/>
          </a:p>
          <a:p>
            <a:pPr lvl="2" eaLnBrk="1" hangingPunct="1"/>
            <a:endParaRPr lang="zh-CN" altLang="en-US" sz="1800" dirty="0"/>
          </a:p>
          <a:p>
            <a:pPr eaLnBrk="1" hangingPunct="1"/>
            <a:r>
              <a:rPr lang="en-US" altLang="zh-CN" sz="2400" dirty="0">
                <a:solidFill>
                  <a:srgbClr val="FF0000"/>
                </a:solidFill>
              </a:rPr>
              <a:t>void</a:t>
            </a:r>
            <a:r>
              <a:rPr lang="zh-CN" altLang="en-US" sz="2400" dirty="0">
                <a:solidFill>
                  <a:srgbClr val="FF0000"/>
                </a:solidFill>
              </a:rPr>
              <a:t>指针不能使用间接访问运算符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sz="2400" dirty="0"/>
              <a:t>void</a:t>
            </a:r>
            <a:r>
              <a:rPr lang="zh-CN" altLang="en-US" sz="2400" dirty="0"/>
              <a:t>指针的算术运算</a:t>
            </a:r>
            <a:endParaRPr lang="en-US" altLang="zh-CN" sz="2400" dirty="0"/>
          </a:p>
          <a:p>
            <a:pPr lvl="1" eaLnBrk="1" hangingPunct="1"/>
            <a:r>
              <a:rPr lang="en-US" altLang="zh-CN" sz="2000" dirty="0"/>
              <a:t>ANSI C </a:t>
            </a:r>
            <a:r>
              <a:rPr lang="zh-CN" altLang="en-US" sz="2000" dirty="0"/>
              <a:t>标准规定</a:t>
            </a:r>
            <a:r>
              <a:rPr lang="en-US" altLang="zh-CN" sz="2000" dirty="0"/>
              <a:t>void </a:t>
            </a:r>
            <a:r>
              <a:rPr lang="zh-CN" altLang="en-US" sz="2000" dirty="0"/>
              <a:t>指针进行算术操作是不合法的</a:t>
            </a:r>
            <a:endParaRPr lang="en-US" altLang="zh-CN" sz="2000" dirty="0"/>
          </a:p>
          <a:p>
            <a:pPr lvl="2" eaLnBrk="1" hangingPunct="1"/>
            <a:r>
              <a:rPr lang="zh-CN" altLang="en-US" dirty="0"/>
              <a:t>进行算法操作的指针必须确定知道其指向数据类型大小</a:t>
            </a:r>
            <a:endParaRPr lang="en-US" altLang="zh-CN" sz="1600" dirty="0"/>
          </a:p>
          <a:p>
            <a:pPr lvl="1" eaLnBrk="1" hangingPunct="1"/>
            <a:r>
              <a:rPr lang="en-US" altLang="zh-CN" sz="2000" dirty="0"/>
              <a:t>GNU </a:t>
            </a:r>
            <a:r>
              <a:rPr lang="zh-CN" altLang="en-US" sz="2000" dirty="0"/>
              <a:t>则认为“</a:t>
            </a:r>
            <a:r>
              <a:rPr lang="en-US" altLang="zh-CN" sz="2000" dirty="0"/>
              <a:t>void*”</a:t>
            </a:r>
            <a:r>
              <a:rPr lang="zh-CN" altLang="en-US" sz="2000" dirty="0"/>
              <a:t>的算法操作与“</a:t>
            </a:r>
            <a:r>
              <a:rPr lang="en-US" altLang="zh-CN" sz="2000" dirty="0"/>
              <a:t>char*”</a:t>
            </a:r>
            <a:r>
              <a:rPr lang="zh-CN" altLang="en-US" sz="2000" dirty="0"/>
              <a:t>一致</a:t>
            </a:r>
            <a:endParaRPr lang="en-US" altLang="zh-CN" sz="2000" dirty="0"/>
          </a:p>
          <a:p>
            <a:pPr lvl="1" eaLnBrk="1" hangingPunct="1"/>
            <a:endParaRPr lang="en-US" altLang="zh-CN" sz="2000" dirty="0"/>
          </a:p>
        </p:txBody>
      </p:sp>
      <p:sp>
        <p:nvSpPr>
          <p:cNvPr id="2" name="矩形 1"/>
          <p:cNvSpPr/>
          <p:nvPr/>
        </p:nvSpPr>
        <p:spPr>
          <a:xfrm>
            <a:off x="3969970" y="2228671"/>
            <a:ext cx="47835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int * pint;</a:t>
            </a:r>
            <a:br>
              <a:rPr 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void *</a:t>
            </a:r>
            <a:r>
              <a:rPr lang="en-US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pvoid</a:t>
            </a:r>
            <a:r>
              <a:rPr 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;</a:t>
            </a:r>
            <a:br>
              <a:rPr 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pvoid</a:t>
            </a:r>
            <a:r>
              <a:rPr 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= pint; /* 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不过不能 </a:t>
            </a:r>
            <a:r>
              <a:rPr 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pint= </a:t>
            </a:r>
            <a:r>
              <a:rPr lang="en-US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pvoid</a:t>
            </a:r>
            <a:r>
              <a:rPr 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; */</a:t>
            </a:r>
            <a:endParaRPr lang="en-US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pint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= (int *)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pvoid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如果函数的参数可以是任意类型指针，应该将其参数声明为 </a:t>
            </a:r>
            <a:r>
              <a:rPr lang="en-US" altLang="zh-CN" dirty="0"/>
              <a:t>void*</a:t>
            </a:r>
            <a:endParaRPr lang="en-US" altLang="zh-CN" dirty="0"/>
          </a:p>
          <a:p>
            <a:pPr lvl="1"/>
            <a:r>
              <a:rPr lang="zh-CN" altLang="en-US" dirty="0"/>
              <a:t>这样函数就可以接受任意数据类型的指针作为参数如库函数：</a:t>
            </a:r>
            <a:endParaRPr lang="en-US" altLang="zh-CN" dirty="0"/>
          </a:p>
          <a:p>
            <a:pPr lvl="1"/>
            <a:r>
              <a:rPr lang="en-US" dirty="0"/>
              <a:t>void * </a:t>
            </a:r>
            <a:r>
              <a:rPr lang="en-US" dirty="0" err="1"/>
              <a:t>memcpy</a:t>
            </a:r>
            <a:r>
              <a:rPr lang="en-US" dirty="0"/>
              <a:t>( void *</a:t>
            </a:r>
            <a:r>
              <a:rPr lang="en-US" dirty="0" err="1"/>
              <a:t>dest</a:t>
            </a:r>
            <a:r>
              <a:rPr lang="en-US" dirty="0"/>
              <a:t>, const void *</a:t>
            </a:r>
            <a:r>
              <a:rPr lang="en-US" dirty="0" err="1"/>
              <a:t>src</a:t>
            </a:r>
            <a:r>
              <a:rPr lang="en-US" dirty="0"/>
              <a:t>, </a:t>
            </a:r>
            <a:r>
              <a:rPr lang="en-US" dirty="0" err="1"/>
              <a:t>size_t</a:t>
            </a:r>
            <a:r>
              <a:rPr lang="en-US" dirty="0"/>
              <a:t> </a:t>
            </a:r>
            <a:r>
              <a:rPr lang="en-US" dirty="0" err="1"/>
              <a:t>len</a:t>
            </a:r>
            <a:r>
              <a:rPr lang="en-US" dirty="0"/>
              <a:t> );</a:t>
            </a:r>
            <a:endParaRPr lang="en-US" dirty="0"/>
          </a:p>
          <a:p>
            <a:pPr lvl="1"/>
            <a:r>
              <a:rPr lang="en-US" dirty="0"/>
              <a:t>void * </a:t>
            </a:r>
            <a:r>
              <a:rPr lang="en-US" dirty="0" err="1"/>
              <a:t>memset</a:t>
            </a:r>
            <a:r>
              <a:rPr lang="en-US" dirty="0"/>
              <a:t>( void * buffer, int c, </a:t>
            </a:r>
            <a:r>
              <a:rPr lang="en-US" dirty="0" err="1"/>
              <a:t>size_t</a:t>
            </a:r>
            <a:r>
              <a:rPr lang="en-US" dirty="0"/>
              <a:t> num );</a:t>
            </a:r>
            <a:endParaRPr lang="en-US" dirty="0"/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#include &lt;</a:t>
            </a:r>
            <a:r>
              <a:rPr lang="en-US" altLang="zh-CN" dirty="0" err="1">
                <a:solidFill>
                  <a:schemeClr val="tx1"/>
                </a:solidFill>
              </a:rPr>
              <a:t>string.h</a:t>
            </a:r>
            <a:r>
              <a:rPr lang="en-US" altLang="zh-CN" dirty="0">
                <a:solidFill>
                  <a:schemeClr val="tx1"/>
                </a:solidFill>
              </a:rPr>
              <a:t>&gt;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任何类型的指针都可以传入 </a:t>
            </a:r>
            <a:r>
              <a:rPr lang="en-US" altLang="zh-CN" dirty="0" err="1">
                <a:solidFill>
                  <a:schemeClr val="tx1"/>
                </a:solidFill>
              </a:rPr>
              <a:t>memcpy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函数和 </a:t>
            </a:r>
            <a:r>
              <a:rPr lang="en-US" altLang="zh-CN" dirty="0" err="1">
                <a:solidFill>
                  <a:schemeClr val="tx1"/>
                </a:solidFill>
              </a:rPr>
              <a:t>memset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函数中，体现了内存操作函数的意义：操作的对象仅仅是一片内存，而不关心这片内存是什么类型。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void</a:t>
            </a:r>
            <a:r>
              <a:rPr lang="zh-CN" altLang="en-US" dirty="0"/>
              <a:t>指针的用处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112520" y="259882"/>
            <a:ext cx="7498080" cy="59702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参考实现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9A1639-DE4C-4AAC-A4FF-9018FFC2498D}" type="slidenum">
              <a:rPr lang="zh-CN" altLang="en-US" smtClean="0"/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1638298" y="1069462"/>
            <a:ext cx="6972302" cy="2616101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void*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myM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emset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void*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dst,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size_t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count)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 ret =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(count--)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*(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*)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*)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移动一个字节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ret;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70262" y="3050093"/>
            <a:ext cx="6800726" cy="3385542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/>
              <a:t>void</a:t>
            </a:r>
            <a:r>
              <a:rPr lang="zh-CN" altLang="en-US" dirty="0"/>
              <a:t>*</a:t>
            </a:r>
            <a:r>
              <a:rPr lang="en-US" dirty="0"/>
              <a:t> </a:t>
            </a:r>
            <a:r>
              <a:rPr lang="en-US" dirty="0" err="1"/>
              <a:t>myMemCpy</a:t>
            </a:r>
            <a:r>
              <a:rPr lang="en-US" dirty="0"/>
              <a:t>(void *</a:t>
            </a:r>
            <a:r>
              <a:rPr lang="en-US" dirty="0" err="1"/>
              <a:t>dest</a:t>
            </a:r>
            <a:r>
              <a:rPr lang="en-US" dirty="0"/>
              <a:t>, void *</a:t>
            </a:r>
            <a:r>
              <a:rPr lang="en-US" dirty="0" err="1"/>
              <a:t>src</a:t>
            </a:r>
            <a:r>
              <a:rPr lang="en-US" dirty="0"/>
              <a:t>, </a:t>
            </a:r>
            <a:r>
              <a:rPr lang="en-US" dirty="0" err="1"/>
              <a:t>size_t</a:t>
            </a:r>
            <a:r>
              <a:rPr lang="en-US" dirty="0"/>
              <a:t> n) </a:t>
            </a:r>
            <a:endParaRPr lang="en-US" dirty="0"/>
          </a:p>
          <a:p>
            <a:r>
              <a:rPr lang="en-US" dirty="0"/>
              <a:t>{ </a:t>
            </a:r>
            <a:endParaRPr lang="en-US" dirty="0"/>
          </a:p>
          <a:p>
            <a:r>
              <a:rPr lang="en-US" dirty="0"/>
              <a:t>   // Typecast </a:t>
            </a:r>
            <a:r>
              <a:rPr lang="en-US" dirty="0" err="1"/>
              <a:t>src</a:t>
            </a:r>
            <a:r>
              <a:rPr lang="en-US" dirty="0"/>
              <a:t> and </a:t>
            </a:r>
            <a:r>
              <a:rPr lang="en-US" dirty="0" err="1"/>
              <a:t>dest</a:t>
            </a:r>
            <a:r>
              <a:rPr lang="en-US" dirty="0"/>
              <a:t> addresses to (char *) </a:t>
            </a:r>
            <a:endParaRPr lang="en-US" dirty="0"/>
          </a:p>
          <a:p>
            <a:r>
              <a:rPr lang="en-US" dirty="0"/>
              <a:t>   char *</a:t>
            </a:r>
            <a:r>
              <a:rPr lang="en-US" dirty="0" err="1"/>
              <a:t>csrc</a:t>
            </a:r>
            <a:r>
              <a:rPr lang="en-US" dirty="0"/>
              <a:t> = (char *)</a:t>
            </a:r>
            <a:r>
              <a:rPr lang="en-US" dirty="0" err="1"/>
              <a:t>src</a:t>
            </a:r>
            <a:r>
              <a:rPr lang="en-US" dirty="0"/>
              <a:t>; </a:t>
            </a:r>
            <a:endParaRPr lang="en-US" dirty="0"/>
          </a:p>
          <a:p>
            <a:r>
              <a:rPr lang="en-US" dirty="0"/>
              <a:t>   char *</a:t>
            </a:r>
            <a:r>
              <a:rPr lang="en-US" dirty="0" err="1"/>
              <a:t>cdest</a:t>
            </a:r>
            <a:r>
              <a:rPr lang="en-US" dirty="0"/>
              <a:t> = (char *)</a:t>
            </a:r>
            <a:r>
              <a:rPr lang="en-US" dirty="0" err="1"/>
              <a:t>dest</a:t>
            </a:r>
            <a:r>
              <a:rPr lang="en-US" dirty="0"/>
              <a:t>; </a:t>
            </a:r>
            <a:endParaRPr lang="en-US" dirty="0"/>
          </a:p>
          <a:p>
            <a:r>
              <a:rPr lang="en-US" dirty="0"/>
              <a:t>  </a:t>
            </a:r>
            <a:endParaRPr lang="en-US" dirty="0"/>
          </a:p>
          <a:p>
            <a:r>
              <a:rPr lang="en-US" dirty="0"/>
              <a:t>   // Copy contents of </a:t>
            </a:r>
            <a:r>
              <a:rPr lang="en-US" dirty="0" err="1"/>
              <a:t>src</a:t>
            </a:r>
            <a:r>
              <a:rPr lang="en-US" dirty="0"/>
              <a:t>[] to </a:t>
            </a:r>
            <a:r>
              <a:rPr lang="en-US" dirty="0" err="1"/>
              <a:t>dest</a:t>
            </a:r>
            <a:r>
              <a:rPr lang="en-US" dirty="0"/>
              <a:t>[] </a:t>
            </a:r>
            <a:endParaRPr lang="en-US" dirty="0"/>
          </a:p>
          <a:p>
            <a:r>
              <a:rPr lang="en-US" dirty="0"/>
              <a:t>   for (int </a:t>
            </a:r>
            <a:r>
              <a:rPr lang="en-US" dirty="0" err="1"/>
              <a:t>i</a:t>
            </a:r>
            <a:r>
              <a:rPr lang="en-US" dirty="0"/>
              <a:t>=0; </a:t>
            </a:r>
            <a:r>
              <a:rPr lang="en-US" dirty="0" err="1"/>
              <a:t>i</a:t>
            </a:r>
            <a:r>
              <a:rPr lang="en-US" dirty="0"/>
              <a:t>&lt;n; </a:t>
            </a:r>
            <a:r>
              <a:rPr lang="en-US" dirty="0" err="1"/>
              <a:t>i</a:t>
            </a:r>
            <a:r>
              <a:rPr lang="en-US" dirty="0"/>
              <a:t>++) </a:t>
            </a:r>
            <a:endParaRPr lang="en-US" dirty="0"/>
          </a:p>
          <a:p>
            <a:r>
              <a:rPr lang="en-US" dirty="0"/>
              <a:t>       </a:t>
            </a:r>
            <a:r>
              <a:rPr lang="en-US" dirty="0" err="1"/>
              <a:t>cdest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 = </a:t>
            </a:r>
            <a:r>
              <a:rPr lang="en-US" dirty="0" err="1"/>
              <a:t>csrc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 </a:t>
            </a:r>
            <a:endParaRPr lang="en-US" dirty="0"/>
          </a:p>
          <a:p>
            <a:r>
              <a:rPr lang="en-US" dirty="0"/>
              <a:t>   return </a:t>
            </a:r>
            <a:r>
              <a:rPr lang="en-US" dirty="0" err="1"/>
              <a:t>dest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} </a:t>
            </a:r>
            <a:endParaRPr lang="en-US" dirty="0"/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void</a:t>
            </a:r>
            <a:r>
              <a:rPr lang="zh-CN" altLang="en-US" sz="3600" dirty="0"/>
              <a:t>类型指针一般用在动态内容分配中。</a:t>
            </a:r>
            <a:endParaRPr lang="zh-CN" altLang="en-US" sz="36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		</a:t>
            </a:r>
            <a:r>
              <a:rPr lang="en-US" altLang="zh-CN" dirty="0"/>
              <a:t>void *p1;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	char *p2;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	</a:t>
            </a:r>
            <a:r>
              <a:rPr lang="en-US" altLang="zh-CN" dirty="0">
                <a:solidFill>
                  <a:srgbClr val="FF0000"/>
                </a:solidFill>
              </a:rPr>
              <a:t>p1 = malloc( </a:t>
            </a:r>
            <a:r>
              <a:rPr lang="en-US" altLang="zh-CN" dirty="0" err="1">
                <a:solidFill>
                  <a:srgbClr val="FF0000"/>
                </a:solidFill>
              </a:rPr>
              <a:t>sizeof</a:t>
            </a:r>
            <a:r>
              <a:rPr lang="en-US" altLang="zh-CN" dirty="0">
                <a:solidFill>
                  <a:srgbClr val="FF0000"/>
                </a:solidFill>
              </a:rPr>
              <a:t>( char ) * 1000 );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	p2 = ( char * ) p1;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</a:rPr>
              <a:t>        </a:t>
            </a:r>
            <a:r>
              <a:rPr lang="en-US" altLang="zh-CN" dirty="0">
                <a:solidFill>
                  <a:srgbClr val="FF0000"/>
                </a:solidFill>
              </a:rPr>
              <a:t>	free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(p1);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void</a:t>
            </a:r>
            <a:r>
              <a:rPr lang="zh-CN" altLang="en-US" dirty="0"/>
              <a:t>指针的应用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  <p:sp>
        <p:nvSpPr>
          <p:cNvPr id="6" name="Line Callout 1 3"/>
          <p:cNvSpPr/>
          <p:nvPr/>
        </p:nvSpPr>
        <p:spPr>
          <a:xfrm>
            <a:off x="5128377" y="4448260"/>
            <a:ext cx="2330367" cy="496720"/>
          </a:xfrm>
          <a:prstGeom prst="borderCallout1">
            <a:avLst>
              <a:gd name="adj1" fmla="val 8481"/>
              <a:gd name="adj2" fmla="val 6909"/>
              <a:gd name="adj3" fmla="val -89463"/>
              <a:gd name="adj4" fmla="val -37156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后面会详细介绍</a:t>
            </a:r>
            <a:endParaRPr lang="en-US" altLang="zh-CN" dirty="0">
              <a:solidFill>
                <a:srgbClr val="FFFFFF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指针与函数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指针与函数</a:t>
            </a:r>
            <a:endParaRPr lang="zh-CN" altLang="en-US" dirty="0"/>
          </a:p>
        </p:txBody>
      </p:sp>
      <p:sp>
        <p:nvSpPr>
          <p:cNvPr id="5642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/>
              <a:t>指针与函数关系密切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指针可以作为函数的参数</a:t>
            </a:r>
            <a:r>
              <a:rPr lang="zh-CN" altLang="en-US" dirty="0">
                <a:solidFill>
                  <a:srgbClr val="FF0000"/>
                </a:solidFill>
              </a:rPr>
              <a:t>√</a:t>
            </a:r>
            <a:endParaRPr lang="en-US" altLang="zh-CN" dirty="0">
              <a:solidFill>
                <a:srgbClr val="FF0000"/>
              </a:solidFill>
            </a:endParaRPr>
          </a:p>
          <a:p>
            <a:pPr lvl="2" eaLnBrk="1" hangingPunct="1">
              <a:defRPr/>
            </a:pPr>
            <a:r>
              <a:rPr lang="en-US" altLang="zh-CN" dirty="0">
                <a:solidFill>
                  <a:srgbClr val="FF0000"/>
                </a:solidFill>
              </a:rPr>
              <a:t>void swap(int *p, int *q);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>
              <a:defRPr/>
            </a:pPr>
            <a:r>
              <a:rPr lang="zh-CN" altLang="en-US" dirty="0"/>
              <a:t>函数的返回值为指针</a:t>
            </a:r>
            <a:r>
              <a:rPr lang="zh-CN" altLang="en-US" dirty="0">
                <a:solidFill>
                  <a:srgbClr val="FF0000"/>
                </a:solidFill>
              </a:rPr>
              <a:t>√</a:t>
            </a:r>
            <a:endParaRPr lang="zh-CN" altLang="en-US" dirty="0"/>
          </a:p>
          <a:p>
            <a:pPr lvl="2" eaLnBrk="1" hangingPunct="1">
              <a:defRPr/>
            </a:pPr>
            <a:r>
              <a:rPr lang="en-US" dirty="0">
                <a:solidFill>
                  <a:srgbClr val="FF0000"/>
                </a:solidFill>
              </a:rPr>
              <a:t>char *</a:t>
            </a:r>
            <a:r>
              <a:rPr lang="en-US" b="1" dirty="0" err="1">
                <a:solidFill>
                  <a:srgbClr val="FF0000"/>
                </a:solidFill>
              </a:rPr>
              <a:t>strcpy</a:t>
            </a:r>
            <a:r>
              <a:rPr lang="en-US" dirty="0">
                <a:solidFill>
                  <a:srgbClr val="FF0000"/>
                </a:solidFill>
              </a:rPr>
              <a:t>(char *</a:t>
            </a:r>
            <a:r>
              <a:rPr lang="en-US" dirty="0" err="1">
                <a:solidFill>
                  <a:srgbClr val="FF0000"/>
                </a:solidFill>
              </a:rPr>
              <a:t>dst</a:t>
            </a:r>
            <a:r>
              <a:rPr lang="en-US" dirty="0">
                <a:solidFill>
                  <a:srgbClr val="FF0000"/>
                </a:solidFill>
              </a:rPr>
              <a:t>, const char *</a:t>
            </a:r>
            <a:r>
              <a:rPr lang="en-US" dirty="0" err="1">
                <a:solidFill>
                  <a:srgbClr val="FF0000"/>
                </a:solidFill>
              </a:rPr>
              <a:t>src</a:t>
            </a:r>
            <a:r>
              <a:rPr lang="en-US" dirty="0">
                <a:solidFill>
                  <a:srgbClr val="FF0000"/>
                </a:solidFill>
              </a:rPr>
              <a:t>);</a:t>
            </a:r>
            <a:endParaRPr lang="en-US" altLang="zh-CN" dirty="0">
              <a:solidFill>
                <a:srgbClr val="FF0000"/>
              </a:solidFill>
            </a:endParaRPr>
          </a:p>
          <a:p>
            <a:pPr lvl="1" eaLnBrk="1" hangingPunct="1">
              <a:defRPr/>
            </a:pPr>
            <a:r>
              <a:rPr lang="zh-CN" altLang="en-US" dirty="0"/>
              <a:t>指向函数的指针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435101" y="274638"/>
            <a:ext cx="7499350" cy="497872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函数返回值为指针</a:t>
            </a:r>
            <a:endParaRPr lang="en-US" sz="2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1254017" y="948690"/>
            <a:ext cx="7727731" cy="5734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std;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max(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p,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q)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函数，求两数中的大者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           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返回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float*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*r;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(*p &gt; *q)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 = 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 = q;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r;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主函数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x, y, *s 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&gt;&gt; x;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"x="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x &lt;&lt;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&gt;&gt; y;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"y="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y &lt;&lt;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s = max(&amp;x, &amp;y);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"The bigger one is 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*s;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输出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x,y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中的大者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07671" y="1041797"/>
            <a:ext cx="3963304" cy="2862322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max(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p,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q)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            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r;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(*p &gt; *q)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 = *p;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 = *q;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&amp;r;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67400" y="62591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max</a:t>
            </a:r>
            <a:r>
              <a:rPr lang="zh-CN" altLang="en-US" dirty="0">
                <a:solidFill>
                  <a:srgbClr val="FF0000"/>
                </a:solidFill>
              </a:rPr>
              <a:t>函数这样写，可以吗？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056290" y="585144"/>
            <a:ext cx="7905915" cy="568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说明：</a:t>
            </a:r>
            <a:endParaRPr kumimoji="1"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① 在函数名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max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前加 * 号，表明该函数的返回值为指针，该指针指向的地址中的变量类型为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float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，因此，在定义时写成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float *max( float*p, float *q );</a:t>
            </a:r>
            <a:endParaRPr kumimoji="1" lang="en-US" altLang="zh-CN" sz="2400" dirty="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这个类型标志要写在这一行的最前面，在*号前面。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② 函数有两个形式参数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，都是指向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float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型变量的指针。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③ 在函数体中又定义了一个指针变量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，也是指向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float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型变量的指针。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④ 在主函数中定义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float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型变量，其数值由键盘输入。还定义了一个指向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float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型变量的指针变量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008993" y="239713"/>
            <a:ext cx="806357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⑤ 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在主函数中最关键的一条语句为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 = max (&amp;x, &amp;y);</a:t>
            </a:r>
            <a:endParaRPr kumimoji="1" lang="en-US" altLang="zh-CN" sz="2400" dirty="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	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我们来分析这条语句，因为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是指针变量。它肯定是指向一个变量（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float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型）的地址，所以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max(&amp;x, &amp;y)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应该是一个地址。此其一；其二，主函数中出现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max(&amp;x, &amp;y)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是说要去调用子函数。 调用中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与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y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的地址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&amp;x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和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&amp;y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作为实际参数赋给形式参数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和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，形成了如图所示的指向关系，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指向变量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指向变量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650469" y="4030663"/>
            <a:ext cx="1223963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&amp;x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5817532" y="4030663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*p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2650469" y="4967288"/>
            <a:ext cx="1223963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&amp;x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5817532" y="4967288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*q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3585507" y="5254625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3874432" y="3789363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3874432" y="4738688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5204757" y="3646488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5204757" y="4510088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5817532" y="532765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&amp;y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5890557" y="439102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&amp;x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1400176" y="5844901"/>
            <a:ext cx="73964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注意到图中的指向关系是主函数在调用子函数过程中形成的。</a:t>
            </a:r>
            <a:endParaRPr kumimoji="1"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3587094" y="4292600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Rectangle 2"/>
          <p:cNvSpPr>
            <a:spLocks noGrp="1" noChangeArrowheads="1"/>
          </p:cNvSpPr>
          <p:nvPr>
            <p:ph idx="1"/>
          </p:nvPr>
        </p:nvSpPr>
        <p:spPr>
          <a:xfrm>
            <a:off x="1189037" y="331790"/>
            <a:ext cx="8207375" cy="26638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0" dirty="0">
                <a:effectLst/>
              </a:rPr>
              <a:t>⑥ 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加入从键盘键入 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x=3.1416,      y=2.7182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400" dirty="0"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在调用子函数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max(*p, *q) 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后，*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p 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为 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3.1416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，*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q 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为 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2.7182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，这时*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p&gt;*q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，要执行 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r=p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，即让指针 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指向 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p 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所指向的地址 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&amp;x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，如下图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lang="en-US" altLang="zh-CN" sz="2400" dirty="0"/>
              <a:t>  </a:t>
            </a:r>
            <a:endParaRPr lang="en-US" altLang="zh-CN" sz="2400" dirty="0"/>
          </a:p>
        </p:txBody>
      </p:sp>
      <p:grpSp>
        <p:nvGrpSpPr>
          <p:cNvPr id="11267" name="Group 3"/>
          <p:cNvGrpSpPr/>
          <p:nvPr/>
        </p:nvGrpSpPr>
        <p:grpSpPr bwMode="auto">
          <a:xfrm>
            <a:off x="2267743" y="2452469"/>
            <a:ext cx="6049962" cy="3527425"/>
            <a:chOff x="793" y="1525"/>
            <a:chExt cx="3811" cy="2222"/>
          </a:xfrm>
        </p:grpSpPr>
        <p:sp>
          <p:nvSpPr>
            <p:cNvPr id="11268" name="Rectangle 4"/>
            <p:cNvSpPr>
              <a:spLocks noChangeArrowheads="1"/>
            </p:cNvSpPr>
            <p:nvPr/>
          </p:nvSpPr>
          <p:spPr bwMode="auto">
            <a:xfrm>
              <a:off x="1474" y="1978"/>
              <a:ext cx="635" cy="318"/>
            </a:xfrm>
            <a:prstGeom prst="rect">
              <a:avLst/>
            </a:prstGeom>
            <a:noFill/>
            <a:ln w="57150" cap="sq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69" name="Rectangle 5"/>
            <p:cNvSpPr>
              <a:spLocks noChangeArrowheads="1"/>
            </p:cNvSpPr>
            <p:nvPr/>
          </p:nvSpPr>
          <p:spPr bwMode="auto">
            <a:xfrm>
              <a:off x="3061" y="1842"/>
              <a:ext cx="1089" cy="454"/>
            </a:xfrm>
            <a:prstGeom prst="rect">
              <a:avLst/>
            </a:prstGeom>
            <a:noFill/>
            <a:ln w="57150" cap="sq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70" name="Rectangle 6"/>
            <p:cNvSpPr>
              <a:spLocks noChangeArrowheads="1"/>
            </p:cNvSpPr>
            <p:nvPr/>
          </p:nvSpPr>
          <p:spPr bwMode="auto">
            <a:xfrm>
              <a:off x="2109" y="2658"/>
              <a:ext cx="544" cy="363"/>
            </a:xfrm>
            <a:prstGeom prst="rect">
              <a:avLst/>
            </a:prstGeom>
            <a:noFill/>
            <a:ln w="57150" cap="sq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71" name="Rectangle 7"/>
            <p:cNvSpPr>
              <a:spLocks noChangeArrowheads="1"/>
            </p:cNvSpPr>
            <p:nvPr/>
          </p:nvSpPr>
          <p:spPr bwMode="auto">
            <a:xfrm>
              <a:off x="3061" y="2658"/>
              <a:ext cx="1089" cy="363"/>
            </a:xfrm>
            <a:prstGeom prst="rect">
              <a:avLst/>
            </a:prstGeom>
            <a:noFill/>
            <a:ln w="57150" cap="sq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72" name="Rectangle 8"/>
            <p:cNvSpPr>
              <a:spLocks noChangeArrowheads="1"/>
            </p:cNvSpPr>
            <p:nvPr/>
          </p:nvSpPr>
          <p:spPr bwMode="auto">
            <a:xfrm>
              <a:off x="1474" y="3339"/>
              <a:ext cx="635" cy="408"/>
            </a:xfrm>
            <a:prstGeom prst="rect">
              <a:avLst/>
            </a:prstGeom>
            <a:noFill/>
            <a:ln w="57150" cap="sq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73" name="Line 9"/>
            <p:cNvSpPr>
              <a:spLocks noChangeShapeType="1"/>
            </p:cNvSpPr>
            <p:nvPr/>
          </p:nvSpPr>
          <p:spPr bwMode="auto">
            <a:xfrm>
              <a:off x="1973" y="2114"/>
              <a:ext cx="0" cy="1361"/>
            </a:xfrm>
            <a:prstGeom prst="line">
              <a:avLst/>
            </a:prstGeom>
            <a:noFill/>
            <a:ln w="57150" cap="sq">
              <a:solidFill>
                <a:schemeClr val="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4" name="Line 10"/>
            <p:cNvSpPr>
              <a:spLocks noChangeShapeType="1"/>
            </p:cNvSpPr>
            <p:nvPr/>
          </p:nvSpPr>
          <p:spPr bwMode="auto">
            <a:xfrm>
              <a:off x="1973" y="2114"/>
              <a:ext cx="1088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5" name="Line 11"/>
            <p:cNvSpPr>
              <a:spLocks noChangeShapeType="1"/>
            </p:cNvSpPr>
            <p:nvPr/>
          </p:nvSpPr>
          <p:spPr bwMode="auto">
            <a:xfrm>
              <a:off x="2517" y="2840"/>
              <a:ext cx="544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6" name="Line 12"/>
            <p:cNvSpPr>
              <a:spLocks noChangeShapeType="1"/>
            </p:cNvSpPr>
            <p:nvPr/>
          </p:nvSpPr>
          <p:spPr bwMode="auto">
            <a:xfrm>
              <a:off x="1973" y="3611"/>
              <a:ext cx="2631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7" name="Line 13"/>
            <p:cNvSpPr>
              <a:spLocks noChangeShapeType="1"/>
            </p:cNvSpPr>
            <p:nvPr/>
          </p:nvSpPr>
          <p:spPr bwMode="auto">
            <a:xfrm flipV="1">
              <a:off x="4604" y="2114"/>
              <a:ext cx="0" cy="1497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8" name="Line 14"/>
            <p:cNvSpPr>
              <a:spLocks noChangeShapeType="1"/>
            </p:cNvSpPr>
            <p:nvPr/>
          </p:nvSpPr>
          <p:spPr bwMode="auto">
            <a:xfrm flipH="1">
              <a:off x="4150" y="2114"/>
              <a:ext cx="454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9" name="Oval 15"/>
            <p:cNvSpPr>
              <a:spLocks noChangeArrowheads="1"/>
            </p:cNvSpPr>
            <p:nvPr/>
          </p:nvSpPr>
          <p:spPr bwMode="auto">
            <a:xfrm>
              <a:off x="793" y="2658"/>
              <a:ext cx="681" cy="363"/>
            </a:xfrm>
            <a:prstGeom prst="ellipse">
              <a:avLst/>
            </a:prstGeom>
            <a:noFill/>
            <a:ln w="57150" cap="sq">
              <a:solidFill>
                <a:srgbClr val="66FF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80" name="Line 16"/>
            <p:cNvSpPr>
              <a:spLocks noChangeShapeType="1"/>
            </p:cNvSpPr>
            <p:nvPr/>
          </p:nvSpPr>
          <p:spPr bwMode="auto">
            <a:xfrm>
              <a:off x="1474" y="2840"/>
              <a:ext cx="499" cy="0"/>
            </a:xfrm>
            <a:prstGeom prst="line">
              <a:avLst/>
            </a:prstGeom>
            <a:noFill/>
            <a:ln w="57150" cap="sq">
              <a:solidFill>
                <a:srgbClr val="66FF33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81" name="Text Box 17"/>
            <p:cNvSpPr txBox="1">
              <a:spLocks noChangeArrowheads="1"/>
            </p:cNvSpPr>
            <p:nvPr/>
          </p:nvSpPr>
          <p:spPr bwMode="auto">
            <a:xfrm>
              <a:off x="1430" y="1955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&amp;x</a:t>
              </a:r>
              <a:endParaRPr lang="en-US" altLang="zh-CN" sz="2800"/>
            </a:p>
          </p:txBody>
        </p:sp>
        <p:sp>
          <p:nvSpPr>
            <p:cNvPr id="11282" name="Text Box 18"/>
            <p:cNvSpPr txBox="1">
              <a:spLocks noChangeArrowheads="1"/>
            </p:cNvSpPr>
            <p:nvPr/>
          </p:nvSpPr>
          <p:spPr bwMode="auto">
            <a:xfrm>
              <a:off x="3334" y="1888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3.1416</a:t>
              </a:r>
              <a:endParaRPr lang="en-US" altLang="zh-CN" sz="2800"/>
            </a:p>
          </p:txBody>
        </p:sp>
        <p:sp>
          <p:nvSpPr>
            <p:cNvPr id="11283" name="Text Box 19"/>
            <p:cNvSpPr txBox="1">
              <a:spLocks noChangeArrowheads="1"/>
            </p:cNvSpPr>
            <p:nvPr/>
          </p:nvSpPr>
          <p:spPr bwMode="auto">
            <a:xfrm>
              <a:off x="3288" y="2659"/>
              <a:ext cx="86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2.7187</a:t>
              </a:r>
              <a:endParaRPr lang="en-US" altLang="zh-CN" sz="2800"/>
            </a:p>
          </p:txBody>
        </p:sp>
        <p:sp>
          <p:nvSpPr>
            <p:cNvPr id="11284" name="Text Box 20"/>
            <p:cNvSpPr txBox="1">
              <a:spLocks noChangeArrowheads="1"/>
            </p:cNvSpPr>
            <p:nvPr/>
          </p:nvSpPr>
          <p:spPr bwMode="auto">
            <a:xfrm>
              <a:off x="1973" y="2659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&amp;y</a:t>
              </a:r>
              <a:endParaRPr lang="en-US" altLang="zh-CN" sz="2800"/>
            </a:p>
          </p:txBody>
        </p:sp>
        <p:sp>
          <p:nvSpPr>
            <p:cNvPr id="11285" name="Text Box 21"/>
            <p:cNvSpPr txBox="1">
              <a:spLocks noChangeArrowheads="1"/>
            </p:cNvSpPr>
            <p:nvPr/>
          </p:nvSpPr>
          <p:spPr bwMode="auto">
            <a:xfrm>
              <a:off x="793" y="2659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r=p</a:t>
              </a:r>
              <a:endParaRPr lang="en-US" altLang="zh-CN" sz="2800"/>
            </a:p>
          </p:txBody>
        </p:sp>
        <p:sp>
          <p:nvSpPr>
            <p:cNvPr id="11286" name="Text Box 22"/>
            <p:cNvSpPr txBox="1">
              <a:spLocks noChangeArrowheads="1"/>
            </p:cNvSpPr>
            <p:nvPr/>
          </p:nvSpPr>
          <p:spPr bwMode="auto">
            <a:xfrm>
              <a:off x="1383" y="3385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&amp;x</a:t>
              </a:r>
              <a:endParaRPr lang="en-US" altLang="zh-CN" sz="2800"/>
            </a:p>
          </p:txBody>
        </p:sp>
        <p:sp>
          <p:nvSpPr>
            <p:cNvPr id="11287" name="Text Box 23"/>
            <p:cNvSpPr txBox="1">
              <a:spLocks noChangeArrowheads="1"/>
            </p:cNvSpPr>
            <p:nvPr/>
          </p:nvSpPr>
          <p:spPr bwMode="auto">
            <a:xfrm>
              <a:off x="1429" y="1661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p</a:t>
              </a:r>
              <a:endParaRPr lang="en-US" altLang="zh-CN" sz="2800"/>
            </a:p>
          </p:txBody>
        </p:sp>
        <p:sp>
          <p:nvSpPr>
            <p:cNvPr id="11288" name="Text Box 24"/>
            <p:cNvSpPr txBox="1">
              <a:spLocks noChangeArrowheads="1"/>
            </p:cNvSpPr>
            <p:nvPr/>
          </p:nvSpPr>
          <p:spPr bwMode="auto">
            <a:xfrm>
              <a:off x="3016" y="1525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x</a:t>
              </a:r>
              <a:endParaRPr lang="en-US" altLang="zh-CN" sz="2800"/>
            </a:p>
          </p:txBody>
        </p:sp>
        <p:sp>
          <p:nvSpPr>
            <p:cNvPr id="11289" name="Text Box 25"/>
            <p:cNvSpPr txBox="1">
              <a:spLocks noChangeArrowheads="1"/>
            </p:cNvSpPr>
            <p:nvPr/>
          </p:nvSpPr>
          <p:spPr bwMode="auto">
            <a:xfrm>
              <a:off x="1292" y="3012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r</a:t>
              </a:r>
              <a:endParaRPr lang="en-US" altLang="zh-CN" sz="2800"/>
            </a:p>
          </p:txBody>
        </p:sp>
        <p:sp>
          <p:nvSpPr>
            <p:cNvPr id="11290" name="Text Box 26"/>
            <p:cNvSpPr txBox="1">
              <a:spLocks noChangeArrowheads="1"/>
            </p:cNvSpPr>
            <p:nvPr/>
          </p:nvSpPr>
          <p:spPr bwMode="auto">
            <a:xfrm>
              <a:off x="3061" y="2341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y</a:t>
              </a:r>
              <a:endParaRPr lang="en-US" altLang="zh-CN" sz="2800"/>
            </a:p>
          </p:txBody>
        </p:sp>
        <p:sp>
          <p:nvSpPr>
            <p:cNvPr id="11291" name="Text Box 27"/>
            <p:cNvSpPr txBox="1">
              <a:spLocks noChangeArrowheads="1"/>
            </p:cNvSpPr>
            <p:nvPr/>
          </p:nvSpPr>
          <p:spPr bwMode="auto">
            <a:xfrm>
              <a:off x="2018" y="2341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q</a:t>
              </a:r>
              <a:endParaRPr lang="en-US" altLang="zh-CN" sz="2800"/>
            </a:p>
          </p:txBody>
        </p:sp>
      </p:grp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119352" y="473075"/>
            <a:ext cx="7953211" cy="5254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⑦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在子函数中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return r;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是将指针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返回给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max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函数，这个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变量的地址值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&amp;x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在主函数中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s=max(&amp;x, &amp;y);</a:t>
            </a:r>
            <a:endParaRPr kumimoji="1" lang="en-US" altLang="zh-CN" dirty="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等效于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 = r;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当然 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的指向一致，为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的地址，按照程序如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y&gt;x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，则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，则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也指向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⑧ 输出两数中的大数 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*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下面是整个程序的示意图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421063" y="2012950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3.1416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6589713" y="2012950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2.7182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20" name="Text Box 4"/>
          <p:cNvSpPr txBox="1">
            <a:spLocks noChangeArrowheads="1"/>
          </p:cNvSpPr>
          <p:nvPr/>
        </p:nvSpPr>
        <p:spPr bwMode="auto">
          <a:xfrm>
            <a:off x="3455988" y="3141663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&amp;x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21" name="Text Box 5"/>
          <p:cNvSpPr txBox="1">
            <a:spLocks noChangeArrowheads="1"/>
          </p:cNvSpPr>
          <p:nvPr/>
        </p:nvSpPr>
        <p:spPr bwMode="auto">
          <a:xfrm>
            <a:off x="6589713" y="3087688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&amp;y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2843213" y="154305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5903913" y="162877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24" name="Text Box 8"/>
          <p:cNvSpPr txBox="1">
            <a:spLocks noChangeArrowheads="1"/>
          </p:cNvSpPr>
          <p:nvPr/>
        </p:nvSpPr>
        <p:spPr bwMode="auto">
          <a:xfrm>
            <a:off x="5724525" y="3068638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25" name="Text Box 9"/>
          <p:cNvSpPr txBox="1">
            <a:spLocks noChangeArrowheads="1"/>
          </p:cNvSpPr>
          <p:nvPr/>
        </p:nvSpPr>
        <p:spPr bwMode="auto">
          <a:xfrm>
            <a:off x="6156325" y="3548063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*p&lt;=*q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6191250" y="2373313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&amp;y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3313113" y="260350"/>
            <a:ext cx="2519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键 盘 输 入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3421063" y="98107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3.1416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6445250" y="981075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2.7182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 flipH="1">
            <a:off x="4067175" y="1438275"/>
            <a:ext cx="1588" cy="695325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>
            <a:off x="7165975" y="1438275"/>
            <a:ext cx="0" cy="695325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72432" name="Group 16"/>
          <p:cNvGrpSpPr/>
          <p:nvPr/>
        </p:nvGrpSpPr>
        <p:grpSpPr bwMode="auto">
          <a:xfrm>
            <a:off x="2330450" y="2228850"/>
            <a:ext cx="2530475" cy="2279650"/>
            <a:chOff x="787" y="1404"/>
            <a:chExt cx="1594" cy="1436"/>
          </a:xfrm>
        </p:grpSpPr>
        <p:sp>
          <p:nvSpPr>
            <p:cNvPr id="13361" name="Line 17"/>
            <p:cNvSpPr>
              <a:spLocks noChangeShapeType="1"/>
            </p:cNvSpPr>
            <p:nvPr/>
          </p:nvSpPr>
          <p:spPr bwMode="auto">
            <a:xfrm>
              <a:off x="793" y="2840"/>
              <a:ext cx="1588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62" name="Line 18"/>
            <p:cNvSpPr>
              <a:spLocks noChangeShapeType="1"/>
            </p:cNvSpPr>
            <p:nvPr/>
          </p:nvSpPr>
          <p:spPr bwMode="auto">
            <a:xfrm>
              <a:off x="793" y="1404"/>
              <a:ext cx="658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63" name="Line 19"/>
            <p:cNvSpPr>
              <a:spLocks noChangeShapeType="1"/>
            </p:cNvSpPr>
            <p:nvPr/>
          </p:nvSpPr>
          <p:spPr bwMode="auto">
            <a:xfrm>
              <a:off x="787" y="1404"/>
              <a:ext cx="0" cy="1436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572436" name="Text Box 20"/>
          <p:cNvSpPr txBox="1">
            <a:spLocks noChangeArrowheads="1"/>
          </p:cNvSpPr>
          <p:nvPr/>
        </p:nvSpPr>
        <p:spPr bwMode="auto">
          <a:xfrm>
            <a:off x="4573588" y="4254500"/>
            <a:ext cx="16557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330" name="Text Box 21"/>
          <p:cNvSpPr txBox="1">
            <a:spLocks noChangeArrowheads="1"/>
          </p:cNvSpPr>
          <p:nvPr/>
        </p:nvSpPr>
        <p:spPr bwMode="auto">
          <a:xfrm>
            <a:off x="3060700" y="2373313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&amp;x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38" name="Text Box 22"/>
          <p:cNvSpPr txBox="1">
            <a:spLocks noChangeArrowheads="1"/>
          </p:cNvSpPr>
          <p:nvPr/>
        </p:nvSpPr>
        <p:spPr bwMode="auto">
          <a:xfrm>
            <a:off x="2628900" y="3043238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39" name="Text Box 23"/>
          <p:cNvSpPr txBox="1">
            <a:spLocks noChangeArrowheads="1"/>
          </p:cNvSpPr>
          <p:nvPr/>
        </p:nvSpPr>
        <p:spPr bwMode="auto">
          <a:xfrm>
            <a:off x="3636963" y="3548063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*p&gt;*q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40" name="Line 24"/>
          <p:cNvSpPr>
            <a:spLocks noChangeShapeType="1"/>
          </p:cNvSpPr>
          <p:nvPr/>
        </p:nvSpPr>
        <p:spPr bwMode="auto">
          <a:xfrm flipV="1">
            <a:off x="7165975" y="2473325"/>
            <a:ext cx="0" cy="70485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2441" name="Line 25"/>
          <p:cNvSpPr>
            <a:spLocks noChangeShapeType="1"/>
          </p:cNvSpPr>
          <p:nvPr/>
        </p:nvSpPr>
        <p:spPr bwMode="auto">
          <a:xfrm flipV="1">
            <a:off x="4070350" y="2508250"/>
            <a:ext cx="0" cy="70485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2442" name="Text Box 26"/>
          <p:cNvSpPr txBox="1">
            <a:spLocks noChangeArrowheads="1"/>
          </p:cNvSpPr>
          <p:nvPr/>
        </p:nvSpPr>
        <p:spPr bwMode="auto">
          <a:xfrm>
            <a:off x="3671888" y="405130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43" name="Text Box 27"/>
          <p:cNvSpPr txBox="1">
            <a:spLocks noChangeArrowheads="1"/>
          </p:cNvSpPr>
          <p:nvPr/>
        </p:nvSpPr>
        <p:spPr bwMode="auto">
          <a:xfrm>
            <a:off x="2413000" y="3908425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*p=3.1416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44" name="Freeform 28"/>
          <p:cNvSpPr/>
          <p:nvPr/>
        </p:nvSpPr>
        <p:spPr bwMode="auto">
          <a:xfrm>
            <a:off x="4500563" y="3284538"/>
            <a:ext cx="720725" cy="1150937"/>
          </a:xfrm>
          <a:custGeom>
            <a:avLst/>
            <a:gdLst>
              <a:gd name="T0" fmla="*/ 0 w 681"/>
              <a:gd name="T1" fmla="*/ 0 h 680"/>
              <a:gd name="T2" fmla="*/ 2147483646 w 681"/>
              <a:gd name="T3" fmla="*/ 2147483646 h 680"/>
              <a:gd name="T4" fmla="*/ 2147483646 w 681"/>
              <a:gd name="T5" fmla="*/ 2147483646 h 6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81" h="680">
                <a:moveTo>
                  <a:pt x="0" y="0"/>
                </a:moveTo>
                <a:cubicBezTo>
                  <a:pt x="170" y="79"/>
                  <a:pt x="341" y="159"/>
                  <a:pt x="454" y="272"/>
                </a:cubicBezTo>
                <a:cubicBezTo>
                  <a:pt x="567" y="385"/>
                  <a:pt x="624" y="532"/>
                  <a:pt x="681" y="680"/>
                </a:cubicBezTo>
              </a:path>
            </a:pathLst>
          </a:custGeom>
          <a:noFill/>
          <a:ln w="25400" cap="sq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2445" name="Freeform 29"/>
          <p:cNvSpPr/>
          <p:nvPr/>
        </p:nvSpPr>
        <p:spPr bwMode="auto">
          <a:xfrm rot="247456" flipH="1">
            <a:off x="5935663" y="3284538"/>
            <a:ext cx="719137" cy="1222375"/>
          </a:xfrm>
          <a:custGeom>
            <a:avLst/>
            <a:gdLst>
              <a:gd name="T0" fmla="*/ 0 w 681"/>
              <a:gd name="T1" fmla="*/ 0 h 680"/>
              <a:gd name="T2" fmla="*/ 2147483646 w 681"/>
              <a:gd name="T3" fmla="*/ 2147483646 h 680"/>
              <a:gd name="T4" fmla="*/ 2147483646 w 681"/>
              <a:gd name="T5" fmla="*/ 2147483646 h 6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81" h="680">
                <a:moveTo>
                  <a:pt x="0" y="0"/>
                </a:moveTo>
                <a:cubicBezTo>
                  <a:pt x="170" y="79"/>
                  <a:pt x="341" y="159"/>
                  <a:pt x="454" y="272"/>
                </a:cubicBezTo>
                <a:cubicBezTo>
                  <a:pt x="567" y="385"/>
                  <a:pt x="624" y="532"/>
                  <a:pt x="681" y="68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dash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2446" name="Text Box 30"/>
          <p:cNvSpPr txBox="1">
            <a:spLocks noChangeArrowheads="1"/>
          </p:cNvSpPr>
          <p:nvPr/>
        </p:nvSpPr>
        <p:spPr bwMode="auto">
          <a:xfrm>
            <a:off x="4860925" y="5335588"/>
            <a:ext cx="1223963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47" name="Line 31"/>
          <p:cNvSpPr>
            <a:spLocks noChangeShapeType="1"/>
          </p:cNvSpPr>
          <p:nvPr/>
        </p:nvSpPr>
        <p:spPr bwMode="auto">
          <a:xfrm>
            <a:off x="5437188" y="4652963"/>
            <a:ext cx="0" cy="86360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2448" name="Text Box 32"/>
          <p:cNvSpPr txBox="1">
            <a:spLocks noChangeArrowheads="1"/>
          </p:cNvSpPr>
          <p:nvPr/>
        </p:nvSpPr>
        <p:spPr bwMode="auto">
          <a:xfrm>
            <a:off x="4357688" y="4868863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572449" name="Group 33"/>
          <p:cNvGrpSpPr/>
          <p:nvPr/>
        </p:nvGrpSpPr>
        <p:grpSpPr bwMode="auto">
          <a:xfrm>
            <a:off x="6084888" y="2228850"/>
            <a:ext cx="2447925" cy="2279650"/>
            <a:chOff x="3152" y="1404"/>
            <a:chExt cx="1542" cy="1436"/>
          </a:xfrm>
        </p:grpSpPr>
        <p:sp>
          <p:nvSpPr>
            <p:cNvPr id="13358" name="Line 34"/>
            <p:cNvSpPr>
              <a:spLocks noChangeShapeType="1"/>
            </p:cNvSpPr>
            <p:nvPr/>
          </p:nvSpPr>
          <p:spPr bwMode="auto">
            <a:xfrm>
              <a:off x="3152" y="2840"/>
              <a:ext cx="15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59" name="Line 35"/>
            <p:cNvSpPr>
              <a:spLocks noChangeShapeType="1"/>
            </p:cNvSpPr>
            <p:nvPr/>
          </p:nvSpPr>
          <p:spPr bwMode="auto">
            <a:xfrm flipV="1">
              <a:off x="4694" y="1404"/>
              <a:ext cx="0" cy="14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60" name="Line 36"/>
            <p:cNvSpPr>
              <a:spLocks noChangeShapeType="1"/>
            </p:cNvSpPr>
            <p:nvPr/>
          </p:nvSpPr>
          <p:spPr bwMode="auto">
            <a:xfrm flipH="1">
              <a:off x="4241" y="1404"/>
              <a:ext cx="4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3343" name="AutoShape 37"/>
          <p:cNvSpPr/>
          <p:nvPr/>
        </p:nvSpPr>
        <p:spPr bwMode="auto">
          <a:xfrm>
            <a:off x="1619250" y="1114425"/>
            <a:ext cx="360363" cy="1019175"/>
          </a:xfrm>
          <a:prstGeom prst="leftBrace">
            <a:avLst>
              <a:gd name="adj1" fmla="val 23568"/>
              <a:gd name="adj2" fmla="val 50000"/>
            </a:avLst>
          </a:prstGeom>
          <a:noFill/>
          <a:ln w="25400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44" name="Text Box 38"/>
          <p:cNvSpPr txBox="1">
            <a:spLocks noChangeArrowheads="1"/>
          </p:cNvSpPr>
          <p:nvPr/>
        </p:nvSpPr>
        <p:spPr bwMode="auto">
          <a:xfrm>
            <a:off x="395288" y="131445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主函数</a:t>
            </a:r>
            <a:endParaRPr kumimoji="1"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55" name="AutoShape 39"/>
          <p:cNvSpPr/>
          <p:nvPr/>
        </p:nvSpPr>
        <p:spPr bwMode="auto">
          <a:xfrm>
            <a:off x="1619250" y="2228850"/>
            <a:ext cx="360363" cy="2136775"/>
          </a:xfrm>
          <a:prstGeom prst="leftBrace">
            <a:avLst>
              <a:gd name="adj1" fmla="val 49413"/>
              <a:gd name="adj2" fmla="val 50000"/>
            </a:avLst>
          </a:prstGeom>
          <a:noFill/>
          <a:ln w="25400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72456" name="Text Box 40"/>
          <p:cNvSpPr txBox="1">
            <a:spLocks noChangeArrowheads="1"/>
          </p:cNvSpPr>
          <p:nvPr/>
        </p:nvSpPr>
        <p:spPr bwMode="auto">
          <a:xfrm>
            <a:off x="395288" y="298450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子函数</a:t>
            </a:r>
            <a:endParaRPr kumimoji="1"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57" name="AutoShape 41"/>
          <p:cNvSpPr/>
          <p:nvPr/>
        </p:nvSpPr>
        <p:spPr bwMode="auto">
          <a:xfrm>
            <a:off x="1619250" y="5084763"/>
            <a:ext cx="360363" cy="1081087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72458" name="Text Box 42"/>
          <p:cNvSpPr txBox="1">
            <a:spLocks noChangeArrowheads="1"/>
          </p:cNvSpPr>
          <p:nvPr/>
        </p:nvSpPr>
        <p:spPr bwMode="auto">
          <a:xfrm>
            <a:off x="395288" y="5360988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主函数</a:t>
            </a:r>
            <a:endParaRPr kumimoji="1"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59" name="AutoShape 43"/>
          <p:cNvSpPr/>
          <p:nvPr/>
        </p:nvSpPr>
        <p:spPr bwMode="auto">
          <a:xfrm>
            <a:off x="6910388" y="4783138"/>
            <a:ext cx="144462" cy="733425"/>
          </a:xfrm>
          <a:prstGeom prst="leftBrace">
            <a:avLst>
              <a:gd name="adj1" fmla="val 42308"/>
              <a:gd name="adj2" fmla="val 50000"/>
            </a:avLst>
          </a:prstGeom>
          <a:noFill/>
          <a:ln w="25400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72460" name="Text Box 44"/>
          <p:cNvSpPr txBox="1">
            <a:spLocks noChangeArrowheads="1"/>
          </p:cNvSpPr>
          <p:nvPr/>
        </p:nvSpPr>
        <p:spPr bwMode="auto">
          <a:xfrm>
            <a:off x="6227763" y="4929188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r=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61" name="Text Box 45"/>
          <p:cNvSpPr txBox="1">
            <a:spLocks noChangeArrowheads="1"/>
          </p:cNvSpPr>
          <p:nvPr/>
        </p:nvSpPr>
        <p:spPr bwMode="auto">
          <a:xfrm>
            <a:off x="7089775" y="4627563"/>
            <a:ext cx="1728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 *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p&gt;*q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62" name="Text Box 46"/>
          <p:cNvSpPr txBox="1">
            <a:spLocks noChangeArrowheads="1"/>
          </p:cNvSpPr>
          <p:nvPr/>
        </p:nvSpPr>
        <p:spPr bwMode="auto">
          <a:xfrm>
            <a:off x="7019925" y="5084763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q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 *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p&lt;=*q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63" name="AutoShape 47"/>
          <p:cNvSpPr/>
          <p:nvPr/>
        </p:nvSpPr>
        <p:spPr bwMode="auto">
          <a:xfrm>
            <a:off x="6224588" y="5935663"/>
            <a:ext cx="144462" cy="733425"/>
          </a:xfrm>
          <a:prstGeom prst="leftBrace">
            <a:avLst>
              <a:gd name="adj1" fmla="val 42308"/>
              <a:gd name="adj2" fmla="val 50000"/>
            </a:avLst>
          </a:prstGeom>
          <a:noFill/>
          <a:ln w="25400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72464" name="Text Box 48"/>
          <p:cNvSpPr txBox="1">
            <a:spLocks noChangeArrowheads="1"/>
          </p:cNvSpPr>
          <p:nvPr/>
        </p:nvSpPr>
        <p:spPr bwMode="auto">
          <a:xfrm>
            <a:off x="4787900" y="6043613"/>
            <a:ext cx="1436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输出 *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 =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65" name="Text Box 49"/>
          <p:cNvSpPr txBox="1">
            <a:spLocks noChangeArrowheads="1"/>
          </p:cNvSpPr>
          <p:nvPr/>
        </p:nvSpPr>
        <p:spPr bwMode="auto">
          <a:xfrm>
            <a:off x="6262688" y="5827713"/>
            <a:ext cx="1946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*p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 *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p&gt;*q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66" name="Text Box 50"/>
          <p:cNvSpPr txBox="1">
            <a:spLocks noChangeArrowheads="1"/>
          </p:cNvSpPr>
          <p:nvPr/>
        </p:nvSpPr>
        <p:spPr bwMode="auto">
          <a:xfrm>
            <a:off x="6334125" y="6284913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*q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 *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p&lt;=*q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67" name="Text Box 51"/>
          <p:cNvSpPr txBox="1">
            <a:spLocks noChangeArrowheads="1"/>
          </p:cNvSpPr>
          <p:nvPr/>
        </p:nvSpPr>
        <p:spPr bwMode="auto">
          <a:xfrm>
            <a:off x="6910388" y="3908425"/>
            <a:ext cx="162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*q=2.7182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20" grpId="0" animBg="1"/>
      <p:bldP spid="572421" grpId="0" animBg="1"/>
      <p:bldP spid="572424" grpId="0"/>
      <p:bldP spid="572425" grpId="0"/>
      <p:bldP spid="572436" grpId="0" animBg="1"/>
      <p:bldP spid="572438" grpId="0"/>
      <p:bldP spid="572439" grpId="0"/>
      <p:bldP spid="572442" grpId="0"/>
      <p:bldP spid="572443" grpId="0"/>
      <p:bldP spid="572446" grpId="0" animBg="1"/>
      <p:bldP spid="572448" grpId="0"/>
      <p:bldP spid="572455" grpId="0" animBg="1"/>
      <p:bldP spid="572456" grpId="0"/>
      <p:bldP spid="572457" grpId="0" animBg="1"/>
      <p:bldP spid="572458" grpId="0"/>
      <p:bldP spid="572459" grpId="0" animBg="1"/>
      <p:bldP spid="572460" grpId="0"/>
      <p:bldP spid="572461" grpId="0"/>
      <p:bldP spid="572462" grpId="0"/>
      <p:bldP spid="572463" grpId="0" animBg="1"/>
      <p:bldP spid="572464" grpId="0"/>
      <p:bldP spid="572465" grpId="0"/>
      <p:bldP spid="572466" grpId="0"/>
      <p:bldP spid="57246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指向函数的指针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函数的代码放在连成一片的内存单元中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，这一片单元的首地址就是该函数的入口地址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在执行函数时，都是从该函数的入口地址进入的。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指向函数的指针就是指向这个入口地址。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函数名代表这个入口地址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316079" y="4002322"/>
            <a:ext cx="4511842" cy="2423678"/>
            <a:chOff x="2267708" y="1444714"/>
            <a:chExt cx="4424034" cy="2543069"/>
          </a:xfrm>
        </p:grpSpPr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3221815" y="1844824"/>
              <a:ext cx="3469927" cy="523220"/>
            </a:xfrm>
            <a:prstGeom prst="rect">
              <a:avLst/>
            </a:prstGeom>
            <a:noFill/>
            <a:ln w="76200" cap="sq">
              <a:solidFill>
                <a:srgbClr val="66FF33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None/>
              </a:pP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函数的代码</a:t>
              </a: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Oval 4"/>
            <p:cNvSpPr>
              <a:spLocks noChangeArrowheads="1"/>
            </p:cNvSpPr>
            <p:nvPr/>
          </p:nvSpPr>
          <p:spPr bwMode="auto">
            <a:xfrm>
              <a:off x="2609711" y="3468432"/>
              <a:ext cx="2592139" cy="519351"/>
            </a:xfrm>
            <a:prstGeom prst="ellipse">
              <a:avLst/>
            </a:prstGeom>
            <a:noFill/>
            <a:ln w="38100" cap="sq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None/>
              </a:pPr>
              <a:r>
                <a:rPr lang="zh-CN" altLang="en-US" sz="1800" b="0" dirty="0">
                  <a:ea typeface="黑体" panose="02010609060101010101" pitchFamily="49" charset="-122"/>
                </a:rPr>
                <a:t>函数的入口地址</a:t>
              </a:r>
              <a:endParaRPr lang="en-US" altLang="en-US" sz="1800" dirty="0"/>
            </a:p>
          </p:txBody>
        </p:sp>
        <p:sp>
          <p:nvSpPr>
            <p:cNvPr id="13" name="Line 5"/>
            <p:cNvSpPr>
              <a:spLocks noChangeShapeType="1"/>
            </p:cNvSpPr>
            <p:nvPr/>
          </p:nvSpPr>
          <p:spPr bwMode="auto">
            <a:xfrm flipH="1" flipV="1">
              <a:off x="3329791" y="2397635"/>
              <a:ext cx="36910" cy="1008062"/>
            </a:xfrm>
            <a:prstGeom prst="line">
              <a:avLst/>
            </a:prstGeom>
            <a:noFill/>
            <a:ln w="76200" cap="sq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2267708" y="1444714"/>
              <a:ext cx="9541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None/>
                <a:defRPr/>
              </a:pPr>
              <a:r>
                <a:rPr lang="zh-CN" altLang="en-US" sz="2000" dirty="0"/>
                <a:t>函数名</a:t>
              </a:r>
              <a:endParaRPr lang="zh-CN" altLang="en-US" sz="2000" dirty="0"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例：王小二帮学生食堂编了一个买菜计价的程序，该程序可以显示菜单，让学生敲入菜号来选择买什么菜，之后程序会报出你买了多少个菜，用了多少钱。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指向函数的指针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A651CC-8B39-45DF-A333-2A7D248E501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22C4C4-4215-4352-B597-B2750E65EFF0}" type="slidenum">
              <a:rPr lang="zh-CN" altLang="en-US" smtClean="0"/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1198180" y="357366"/>
            <a:ext cx="695259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 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定义全局变量，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m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记选菜个数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sum =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// sum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记总钱数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food1()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鱼香肉丝：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4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sum = sum +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m=m+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food2()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白菜豆腐：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sum = sum +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m=m+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food3()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 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红烧鱼块：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sum = sum +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m=m+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food4()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 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黄瓜鸡蛋汤：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sum = sum +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m=m+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066801"/>
            <a:ext cx="8280000" cy="5259280"/>
          </a:xfrm>
        </p:spPr>
        <p:txBody>
          <a:bodyPr/>
          <a:lstStyle/>
          <a:p>
            <a:r>
              <a:rPr lang="en-US" altLang="zh-CN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altLang="zh-CN" sz="3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)() </a:t>
            </a:r>
            <a:r>
              <a:rPr lang="en-US" altLang="zh-CN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</a:t>
            </a:r>
            <a:r>
              <a:rPr lang="zh-CN" altLang="en-US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函数指针</a:t>
            </a:r>
            <a:endParaRPr lang="en-US" altLang="zh-CN" sz="32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解读：首先是个指针，这个指针指向函数（输入和返回值皆为空）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zh-CN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zh-CN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优先级比</a:t>
            </a:r>
            <a:r>
              <a:rPr lang="en-US" altLang="zh-CN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zh-CN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高，必须在</a:t>
            </a:r>
            <a:r>
              <a:rPr lang="en-US" altLang="zh-CN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*f</a:t>
            </a:r>
            <a:r>
              <a:rPr lang="zh-CN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两边加上小括号</a:t>
            </a:r>
            <a:endParaRPr lang="en-US" altLang="zh-CN" sz="32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不能写为</a:t>
            </a:r>
            <a:r>
              <a:rPr lang="en-US" altLang="zh-CN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altLang="zh-CN" sz="3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这样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f</a:t>
            </a: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是一个函数，输入为空，输出为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void *</a:t>
            </a: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，函数不能当变量一样赋值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432000" y="233880"/>
            <a:ext cx="8280000" cy="6836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指向函数的指针</a:t>
            </a:r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33880"/>
            <a:ext cx="8280000" cy="683692"/>
          </a:xfrm>
        </p:spPr>
        <p:txBody>
          <a:bodyPr/>
          <a:lstStyle/>
          <a:p>
            <a:r>
              <a:rPr lang="zh-CN" altLang="en-US" dirty="0"/>
              <a:t>指向函数的指针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917572"/>
            <a:ext cx="8280000" cy="5758375"/>
          </a:xfrm>
          <a:solidFill>
            <a:schemeClr val="tx1"/>
          </a:solidFill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)()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函数指针，注意不能写成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void *f()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choice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buy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choice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choice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     // 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多分支选择语句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food1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food2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food3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food4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后续都买这个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do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buy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buy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buy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输出结果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zh-CN" alt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你买了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个菜，共用了：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zh-CN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元</a:t>
            </a:r>
            <a:r>
              <a:rPr lang="en-US" altLang="zh-CN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1411843" y="1405579"/>
            <a:ext cx="710651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                 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主函数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choice =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定义整型变量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 (*p[])() = {food1, food2, food3, food4};</a:t>
            </a:r>
            <a:endParaRPr lang="en-US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 =====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菜单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=====\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显示一个菜单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序号    名称    单价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1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鱼香肉丝  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4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2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白菜豆腐  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3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红烧鱼块  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4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黄瓜鸡蛋汤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0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选毕退出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 ==============\n"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请你选菜（只敲入菜号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3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4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如不再选了请敲入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0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）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22C4C4-4215-4352-B597-B2750E65EFF0}" type="slidenum">
              <a:rPr lang="zh-CN" altLang="en-US" smtClean="0"/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1143000" y="1028342"/>
            <a:ext cx="7699375" cy="4915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do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          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直到型循环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&gt;&gt; choice;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(choice)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多分支选择语句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p[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]();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p[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]();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p[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]();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p[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]();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你敲错键了。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(choice !=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直到型循环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输出结果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"\n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你买了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个菜，共用了：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sum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78380" y="8312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可以优化吗？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6" name="Rectangle: Rounded Corners 5"/>
          <p:cNvSpPr/>
          <p:nvPr/>
        </p:nvSpPr>
        <p:spPr>
          <a:xfrm>
            <a:off x="2499360" y="2179320"/>
            <a:ext cx="4500880" cy="1696720"/>
          </a:xfrm>
          <a:prstGeom prst="roundRect">
            <a:avLst>
              <a:gd name="adj" fmla="val 1187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80720" y="5829658"/>
            <a:ext cx="8042283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choice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choice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choice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choice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]();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调用函数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你敲错键了。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zh-CN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5801360" y="3876040"/>
            <a:ext cx="182880" cy="191008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typedef</a:t>
            </a:r>
            <a:r>
              <a:rPr lang="zh-CN" altLang="en-US" dirty="0"/>
              <a:t>关键字</a:t>
            </a:r>
            <a:r>
              <a:rPr lang="en-US" altLang="zh-CN" dirty="0"/>
              <a:t>*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9A1639-DE4C-4AAC-A4FF-9018FFC2498D}" type="slidenum">
              <a:rPr lang="zh-CN" altLang="en-US" smtClean="0"/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1353758" y="1947000"/>
            <a:ext cx="710651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                 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主函数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choice =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定义整型变量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 (*p[])() = {food1, food2, food3, food4};</a:t>
            </a:r>
            <a:endParaRPr lang="en-US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 =====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菜单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=====\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显示一个菜单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序号    名称    单价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1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鱼香肉丝  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4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2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白菜豆腐  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3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红烧鱼块  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4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黄瓜鸡蛋汤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0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选毕退出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 ==============\n"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请你选菜（只敲入菜号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3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4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如不再选了请敲入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0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）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325546" y="1331447"/>
            <a:ext cx="699034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// 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定义一个指向函数的指针类型，名为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MenuFood</a:t>
            </a:r>
            <a:endParaRPr kumimoji="1"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typedef void (*</a:t>
            </a:r>
            <a:r>
              <a:rPr kumimoji="1"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MenuFood</a:t>
            </a: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( ); 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				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54936" y="2805045"/>
            <a:ext cx="593156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MenuFood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p[] = {food1, food2, food3, food4}; 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子函数</a:t>
            </a:r>
            <a:endParaRPr lang="en-US" altLang="zh-CN" dirty="0"/>
          </a:p>
          <a:p>
            <a:pPr lvl="1"/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void food1();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/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void food2();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/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void food3();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/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void food4();</a:t>
            </a:r>
            <a:endParaRPr lang="en-US" dirty="0"/>
          </a:p>
          <a:p>
            <a:r>
              <a:rPr lang="zh-CN" altLang="en-US" dirty="0"/>
              <a:t>主函数</a:t>
            </a:r>
            <a:endParaRPr lang="en-US" altLang="zh-CN" dirty="0"/>
          </a:p>
          <a:p>
            <a:pPr lvl="1"/>
            <a:r>
              <a:rPr lang="en-US" dirty="0"/>
              <a:t>void (*p[])() = {food1, food2, food3, food4};</a:t>
            </a:r>
            <a:endParaRPr lang="en-US" dirty="0"/>
          </a:p>
          <a:p>
            <a:pPr lvl="2"/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定义一个指向函数的指针数组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p[ ]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并初始化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/>
              <a:t>相当于</a:t>
            </a:r>
            <a:r>
              <a:rPr lang="en-US" altLang="zh-CN" dirty="0"/>
              <a:t>p[0] = food1, p[1] = food2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程序说明</a:t>
            </a:r>
            <a:r>
              <a:rPr lang="en-US" altLang="zh-CN" dirty="0"/>
              <a:t>(1)</a:t>
            </a:r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9A1639-DE4C-4AAC-A4FF-9018FFC2498D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266409" y="3156452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food1()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31" name="Line 3"/>
          <p:cNvSpPr>
            <a:spLocks noChangeShapeType="1"/>
          </p:cNvSpPr>
          <p:nvPr/>
        </p:nvSpPr>
        <p:spPr bwMode="auto">
          <a:xfrm>
            <a:off x="4812634" y="3443790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6938297" y="2699252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food1()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7046247" y="3156452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2977484" y="2699252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p[0]()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5425409" y="2927852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p[0]()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3266409" y="4126415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food2()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4812634" y="4380415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6938297" y="366921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food2()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7046247" y="4126415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2977484" y="3669215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p[1]()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5425409" y="3897815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p[1]()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3267997" y="5137652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food3()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>
            <a:off x="4814222" y="5424990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44" name="Text Box 16"/>
          <p:cNvSpPr txBox="1">
            <a:spLocks noChangeArrowheads="1"/>
          </p:cNvSpPr>
          <p:nvPr/>
        </p:nvSpPr>
        <p:spPr bwMode="auto">
          <a:xfrm>
            <a:off x="6939884" y="4680452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food3()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7047834" y="5137652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46" name="Text Box 18"/>
          <p:cNvSpPr txBox="1">
            <a:spLocks noChangeArrowheads="1"/>
          </p:cNvSpPr>
          <p:nvPr/>
        </p:nvSpPr>
        <p:spPr bwMode="auto">
          <a:xfrm>
            <a:off x="2979072" y="4680452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p[2]()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5426997" y="4909052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p[2]()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3267997" y="6107615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food4()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49" name="Line 21"/>
          <p:cNvSpPr>
            <a:spLocks noChangeShapeType="1"/>
          </p:cNvSpPr>
          <p:nvPr/>
        </p:nvSpPr>
        <p:spPr bwMode="auto">
          <a:xfrm>
            <a:off x="4814222" y="6394952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6939884" y="5650415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food4()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51" name="Text Box 23"/>
          <p:cNvSpPr txBox="1">
            <a:spLocks noChangeArrowheads="1"/>
          </p:cNvSpPr>
          <p:nvPr/>
        </p:nvSpPr>
        <p:spPr bwMode="auto">
          <a:xfrm>
            <a:off x="7047834" y="6107615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52" name="Text Box 24"/>
          <p:cNvSpPr txBox="1">
            <a:spLocks noChangeArrowheads="1"/>
          </p:cNvSpPr>
          <p:nvPr/>
        </p:nvSpPr>
        <p:spPr bwMode="auto">
          <a:xfrm>
            <a:off x="2979072" y="565041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p[3]()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53" name="Text Box 25"/>
          <p:cNvSpPr txBox="1">
            <a:spLocks noChangeArrowheads="1"/>
          </p:cNvSpPr>
          <p:nvPr/>
        </p:nvSpPr>
        <p:spPr bwMode="auto">
          <a:xfrm>
            <a:off x="5426997" y="587901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p[3]()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54" name="Text Box 26"/>
          <p:cNvSpPr txBox="1">
            <a:spLocks noChangeArrowheads="1"/>
          </p:cNvSpPr>
          <p:nvPr/>
        </p:nvSpPr>
        <p:spPr bwMode="auto">
          <a:xfrm>
            <a:off x="1753522" y="453599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p[]()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在定义函数指针数组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p[ ]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时，经初始化将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个函数名赋给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p[0], p[1], p[2], p[3]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，相当于将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个入口地址放入指针变量中，让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个指针分别指向了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个入口地址。</a:t>
            </a:r>
            <a:endParaRPr lang="en-US" sz="2400" dirty="0"/>
          </a:p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程序说明（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函数指针作为</a:t>
            </a:r>
            <a:r>
              <a:rPr lang="zh-CN" altLang="en-US"/>
              <a:t>参数传递举例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/>
              <a:t>qsort</a:t>
            </a:r>
            <a:r>
              <a:rPr lang="zh-CN" altLang="en-US" sz="2800" dirty="0"/>
              <a:t>函数</a:t>
            </a:r>
            <a:endParaRPr lang="zh-CN" altLang="en-US" sz="2800" dirty="0"/>
          </a:p>
          <a:p>
            <a:r>
              <a:rPr lang="en-US" sz="2800" dirty="0">
                <a:solidFill>
                  <a:srgbClr val="C00000"/>
                </a:solidFill>
              </a:rPr>
              <a:t>void </a:t>
            </a:r>
            <a:r>
              <a:rPr lang="en-US" sz="2800" dirty="0" err="1">
                <a:solidFill>
                  <a:srgbClr val="C00000"/>
                </a:solidFill>
              </a:rPr>
              <a:t>qsort</a:t>
            </a:r>
            <a:r>
              <a:rPr lang="en-US" sz="2800" dirty="0">
                <a:solidFill>
                  <a:srgbClr val="C00000"/>
                </a:solidFill>
              </a:rPr>
              <a:t>(void* base, </a:t>
            </a:r>
            <a:r>
              <a:rPr lang="en-US" sz="2800" dirty="0" err="1">
                <a:solidFill>
                  <a:srgbClr val="C00000"/>
                </a:solidFill>
              </a:rPr>
              <a:t>size_t</a:t>
            </a:r>
            <a:r>
              <a:rPr lang="en-US" sz="2800" dirty="0">
                <a:solidFill>
                  <a:srgbClr val="C00000"/>
                </a:solidFill>
              </a:rPr>
              <a:t> n, </a:t>
            </a:r>
            <a:r>
              <a:rPr lang="en-US" sz="2800" dirty="0" err="1">
                <a:solidFill>
                  <a:srgbClr val="C00000"/>
                </a:solidFill>
              </a:rPr>
              <a:t>size_t</a:t>
            </a:r>
            <a:r>
              <a:rPr lang="en-US" sz="2800" dirty="0">
                <a:solidFill>
                  <a:srgbClr val="C00000"/>
                </a:solidFill>
              </a:rPr>
              <a:t> size, </a:t>
            </a:r>
            <a:r>
              <a:rPr lang="en-US" sz="2800" dirty="0" err="1">
                <a:solidFill>
                  <a:srgbClr val="C00000"/>
                </a:solidFill>
              </a:rPr>
              <a:t>int</a:t>
            </a:r>
            <a:r>
              <a:rPr lang="en-US" sz="2800" dirty="0">
                <a:solidFill>
                  <a:srgbClr val="C00000"/>
                </a:solidFill>
              </a:rPr>
              <a:t> (*</a:t>
            </a:r>
            <a:r>
              <a:rPr lang="en-US" sz="2800" dirty="0" err="1">
                <a:solidFill>
                  <a:srgbClr val="C00000"/>
                </a:solidFill>
              </a:rPr>
              <a:t>cmp</a:t>
            </a:r>
            <a:r>
              <a:rPr lang="en-US" sz="2800" dirty="0">
                <a:solidFill>
                  <a:srgbClr val="C00000"/>
                </a:solidFill>
              </a:rPr>
              <a:t>)(</a:t>
            </a:r>
            <a:r>
              <a:rPr lang="en-US" sz="2800" dirty="0" err="1">
                <a:solidFill>
                  <a:srgbClr val="C00000"/>
                </a:solidFill>
              </a:rPr>
              <a:t>const</a:t>
            </a:r>
            <a:r>
              <a:rPr lang="en-US" sz="2800" dirty="0">
                <a:solidFill>
                  <a:srgbClr val="C00000"/>
                </a:solidFill>
              </a:rPr>
              <a:t> void*, </a:t>
            </a:r>
            <a:r>
              <a:rPr lang="en-US" sz="2800" dirty="0" err="1">
                <a:solidFill>
                  <a:srgbClr val="C00000"/>
                </a:solidFill>
              </a:rPr>
              <a:t>const</a:t>
            </a:r>
            <a:r>
              <a:rPr lang="en-US" sz="2800" dirty="0">
                <a:solidFill>
                  <a:srgbClr val="C00000"/>
                </a:solidFill>
              </a:rPr>
              <a:t> void*))</a:t>
            </a:r>
            <a:endParaRPr lang="en-US" sz="2800" dirty="0">
              <a:solidFill>
                <a:srgbClr val="C00000"/>
              </a:solidFill>
            </a:endParaRPr>
          </a:p>
          <a:p>
            <a:pPr lvl="1"/>
            <a:r>
              <a:rPr lang="en-US" sz="2400" dirty="0"/>
              <a:t>base </a:t>
            </a:r>
            <a:r>
              <a:rPr lang="zh-CN" altLang="en-US" sz="2400" dirty="0"/>
              <a:t>为要排序的数组</a:t>
            </a:r>
            <a:endParaRPr lang="zh-CN" altLang="en-US" sz="2400" dirty="0"/>
          </a:p>
          <a:p>
            <a:pPr lvl="1"/>
            <a:r>
              <a:rPr lang="en-US" sz="2400" dirty="0"/>
              <a:t>n</a:t>
            </a:r>
            <a:r>
              <a:rPr lang="zh-CN" altLang="en-US" sz="2400" dirty="0"/>
              <a:t>为要排序数组的长度</a:t>
            </a:r>
            <a:endParaRPr lang="zh-CN" altLang="en-US" sz="2400" dirty="0"/>
          </a:p>
          <a:p>
            <a:pPr lvl="1"/>
            <a:r>
              <a:rPr lang="en-US" sz="2400" dirty="0"/>
              <a:t>size</a:t>
            </a:r>
            <a:r>
              <a:rPr lang="zh-CN" altLang="en-US" sz="2400" dirty="0"/>
              <a:t>为数组元素的大小（以字节为单位） </a:t>
            </a:r>
            <a:endParaRPr lang="zh-CN" altLang="en-US" sz="2400" dirty="0"/>
          </a:p>
          <a:p>
            <a:pPr lvl="1"/>
            <a:r>
              <a:rPr lang="en-US" sz="2400" dirty="0" err="1"/>
              <a:t>cmp</a:t>
            </a:r>
            <a:r>
              <a:rPr lang="zh-CN" altLang="en-US" sz="2400" dirty="0"/>
              <a:t>为判断大小函数的指针</a:t>
            </a:r>
            <a:endParaRPr lang="zh-CN" altLang="en-US" sz="2400" dirty="0"/>
          </a:p>
          <a:p>
            <a:pPr lvl="2"/>
            <a:r>
              <a:rPr lang="zh-CN" altLang="en-US" sz="2000" dirty="0"/>
              <a:t>这个函数需要自己定义， 如果</a:t>
            </a:r>
            <a:r>
              <a:rPr lang="en-US" sz="2000" dirty="0"/>
              <a:t>a&gt;b，</a:t>
            </a:r>
            <a:r>
              <a:rPr lang="zh-CN" altLang="en-US" sz="2000" dirty="0"/>
              <a:t>函数返回</a:t>
            </a:r>
            <a:r>
              <a:rPr lang="en-US" altLang="zh-CN" sz="2000" dirty="0"/>
              <a:t>1</a:t>
            </a:r>
            <a:r>
              <a:rPr lang="zh-CN" altLang="en-US" sz="2000" dirty="0"/>
              <a:t>；</a:t>
            </a:r>
            <a:r>
              <a:rPr lang="en-US" sz="2000" dirty="0"/>
              <a:t>a&lt;b，</a:t>
            </a:r>
            <a:r>
              <a:rPr lang="zh-CN" altLang="en-US" sz="2000" dirty="0"/>
              <a:t>函数返回</a:t>
            </a:r>
            <a:r>
              <a:rPr lang="en-US" altLang="zh-CN" sz="2000" dirty="0"/>
              <a:t>-1</a:t>
            </a:r>
            <a:r>
              <a:rPr lang="zh-CN" altLang="en-US" sz="2000" dirty="0"/>
              <a:t>；</a:t>
            </a:r>
            <a:r>
              <a:rPr lang="en-US" sz="2000" dirty="0"/>
              <a:t>a=b，</a:t>
            </a:r>
            <a:r>
              <a:rPr lang="zh-CN" altLang="en-US" sz="2000" dirty="0"/>
              <a:t>函数返回</a:t>
            </a:r>
            <a:r>
              <a:rPr lang="en-US" altLang="zh-CN" sz="2000" dirty="0"/>
              <a:t>0  </a:t>
            </a:r>
            <a:r>
              <a:rPr lang="zh-CN" altLang="en-US" sz="2000" dirty="0">
                <a:solidFill>
                  <a:srgbClr val="C00000"/>
                </a:solidFill>
              </a:rPr>
              <a:t>（从小到大排序时）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实际：如果</a:t>
            </a:r>
            <a:r>
              <a:rPr lang="en-US" altLang="zh-CN" dirty="0">
                <a:solidFill>
                  <a:srgbClr val="C00000"/>
                </a:solidFill>
              </a:rPr>
              <a:t>a b</a:t>
            </a:r>
            <a:r>
              <a:rPr lang="zh-CN" altLang="en-US" dirty="0">
                <a:solidFill>
                  <a:srgbClr val="C00000"/>
                </a:solidFill>
              </a:rPr>
              <a:t>需要交换则返回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1106905" y="44450"/>
            <a:ext cx="7933908" cy="6769100"/>
          </a:xfrm>
          <a:prstGeom prst="rect">
            <a:avLst/>
          </a:prstGeom>
          <a:noFill/>
          <a:ln w="12700" cap="sq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10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#include &lt;</a:t>
            </a:r>
            <a:r>
              <a:rPr kumimoji="1" lang="en-US" altLang="zh-CN" sz="2400" dirty="0" err="1"/>
              <a:t>stdio.h</a:t>
            </a:r>
            <a:r>
              <a:rPr kumimoji="1" lang="en-US" altLang="zh-CN" sz="2400" dirty="0"/>
              <a:t>&gt;//</a:t>
            </a:r>
            <a:r>
              <a:rPr kumimoji="1" lang="en-US" altLang="en-US" sz="2400" dirty="0" err="1"/>
              <a:t>预编译命令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#include &lt;</a:t>
            </a:r>
            <a:r>
              <a:rPr kumimoji="1" lang="en-US" altLang="zh-CN" sz="2400" dirty="0" err="1"/>
              <a:t>time.h</a:t>
            </a:r>
            <a:r>
              <a:rPr kumimoji="1" lang="en-US" altLang="zh-CN" sz="2400" dirty="0"/>
              <a:t>&gt;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#include &lt;</a:t>
            </a:r>
            <a:r>
              <a:rPr kumimoji="1" lang="en-US" altLang="zh-CN" sz="2400" dirty="0" err="1"/>
              <a:t>stdlib.h</a:t>
            </a:r>
            <a:r>
              <a:rPr kumimoji="1" lang="en-US" altLang="zh-CN" sz="2400" dirty="0"/>
              <a:t>&gt;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 err="1"/>
              <a:t>int</a:t>
            </a:r>
            <a:r>
              <a:rPr kumimoji="1" lang="en-US" altLang="zh-CN" sz="2400" dirty="0"/>
              <a:t> compare(</a:t>
            </a:r>
            <a:r>
              <a:rPr kumimoji="1" lang="en-US" altLang="zh-CN" sz="2400" dirty="0" err="1"/>
              <a:t>const</a:t>
            </a:r>
            <a:r>
              <a:rPr kumimoji="1" lang="en-US" altLang="zh-CN" sz="2400" dirty="0"/>
              <a:t> void *a, </a:t>
            </a:r>
            <a:r>
              <a:rPr kumimoji="1" lang="en-US" altLang="zh-CN" sz="2400" dirty="0" err="1"/>
              <a:t>const</a:t>
            </a:r>
            <a:r>
              <a:rPr kumimoji="1" lang="en-US" altLang="zh-CN" sz="2400" dirty="0"/>
              <a:t> void *b);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 err="1"/>
              <a:t>int</a:t>
            </a:r>
            <a:r>
              <a:rPr kumimoji="1" lang="en-US" altLang="zh-CN" sz="2400" dirty="0"/>
              <a:t> main(){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</a:t>
            </a:r>
            <a:r>
              <a:rPr kumimoji="1" lang="en-US" altLang="zh-CN" sz="2400" dirty="0" err="1"/>
              <a:t>int</a:t>
            </a:r>
            <a:r>
              <a:rPr kumimoji="1" lang="en-US" altLang="zh-CN" sz="2400" dirty="0"/>
              <a:t> </a:t>
            </a:r>
            <a:r>
              <a:rPr kumimoji="1" lang="en-US" altLang="zh-CN" sz="2400" dirty="0" err="1"/>
              <a:t>ary</a:t>
            </a:r>
            <a:r>
              <a:rPr kumimoji="1" lang="en-US" altLang="zh-CN" sz="2400" dirty="0"/>
              <a:t>[20], 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;	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</a:t>
            </a:r>
            <a:r>
              <a:rPr kumimoji="1" lang="en-US" altLang="zh-CN" sz="2400" dirty="0" err="1">
                <a:solidFill>
                  <a:srgbClr val="C00000"/>
                </a:solidFill>
              </a:rPr>
              <a:t>srand</a:t>
            </a:r>
            <a:r>
              <a:rPr kumimoji="1" lang="en-US" altLang="zh-CN" sz="2400" dirty="0">
                <a:solidFill>
                  <a:srgbClr val="C00000"/>
                </a:solidFill>
              </a:rPr>
              <a:t>((unsigned)time(NULL));</a:t>
            </a:r>
            <a:r>
              <a:rPr kumimoji="1" lang="en-US" altLang="zh-CN" sz="2400" dirty="0"/>
              <a:t>	//</a:t>
            </a:r>
            <a:r>
              <a:rPr kumimoji="1" lang="en-US" altLang="en-US" sz="2400" dirty="0"/>
              <a:t>随机产生</a:t>
            </a:r>
            <a:r>
              <a:rPr kumimoji="1" lang="en-US" altLang="zh-CN" sz="2400" dirty="0"/>
              <a:t>20</a:t>
            </a:r>
            <a:r>
              <a:rPr kumimoji="1" lang="en-US" altLang="en-US" sz="2400" dirty="0"/>
              <a:t>个数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for (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=0; 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&lt;20; 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++)		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</a:t>
            </a:r>
            <a:r>
              <a:rPr kumimoji="1" lang="en-US" altLang="zh-CN" sz="2400" dirty="0" err="1"/>
              <a:t>ary</a:t>
            </a:r>
            <a:r>
              <a:rPr kumimoji="1" lang="en-US" altLang="zh-CN" sz="2400" dirty="0"/>
              <a:t>[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]=</a:t>
            </a:r>
            <a:r>
              <a:rPr kumimoji="1" lang="en-US" altLang="zh-CN" sz="2400" dirty="0">
                <a:solidFill>
                  <a:srgbClr val="C00000"/>
                </a:solidFill>
              </a:rPr>
              <a:t>rand();</a:t>
            </a:r>
            <a:endParaRPr kumimoji="1" lang="en-US" altLang="zh-CN" sz="2400" dirty="0">
              <a:solidFill>
                <a:srgbClr val="C0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for (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=0; 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&lt;20; 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++)	//</a:t>
            </a:r>
            <a:r>
              <a:rPr kumimoji="1" lang="en-US" altLang="en-US" sz="2400" dirty="0"/>
              <a:t>输出</a:t>
            </a:r>
            <a:r>
              <a:rPr kumimoji="1" lang="en-US" altLang="zh-CN" sz="2400" dirty="0"/>
              <a:t>20</a:t>
            </a:r>
            <a:r>
              <a:rPr kumimoji="1" lang="en-US" altLang="en-US" sz="2400" dirty="0"/>
              <a:t>个数</a:t>
            </a:r>
            <a:r>
              <a:rPr kumimoji="1" lang="en-US" altLang="zh-CN" sz="2400" dirty="0"/>
              <a:t>		</a:t>
            </a:r>
            <a:r>
              <a:rPr kumimoji="1" lang="en-US" altLang="zh-CN" sz="2400" dirty="0" err="1"/>
              <a:t>printf</a:t>
            </a:r>
            <a:r>
              <a:rPr kumimoji="1" lang="en-US" altLang="zh-CN" sz="2400" dirty="0"/>
              <a:t>("%6d ", </a:t>
            </a:r>
            <a:r>
              <a:rPr kumimoji="1" lang="en-US" altLang="zh-CN" sz="2400" dirty="0" err="1"/>
              <a:t>ary</a:t>
            </a:r>
            <a:r>
              <a:rPr kumimoji="1" lang="en-US" altLang="zh-CN" sz="2400" dirty="0"/>
              <a:t>[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]);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</a:t>
            </a:r>
            <a:r>
              <a:rPr kumimoji="1" lang="en-US" altLang="zh-CN" sz="2400" dirty="0" err="1"/>
              <a:t>printf</a:t>
            </a:r>
            <a:r>
              <a:rPr kumimoji="1" lang="en-US" altLang="zh-CN" sz="2400" dirty="0"/>
              <a:t>("\n\n");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					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</a:t>
            </a:r>
            <a:r>
              <a:rPr kumimoji="1" lang="en-US" altLang="zh-CN" sz="2400" dirty="0" err="1">
                <a:solidFill>
                  <a:srgbClr val="C00000"/>
                </a:solidFill>
              </a:rPr>
              <a:t>qsort</a:t>
            </a:r>
            <a:r>
              <a:rPr kumimoji="1" lang="en-US" altLang="zh-CN" sz="2400" dirty="0">
                <a:solidFill>
                  <a:srgbClr val="C00000"/>
                </a:solidFill>
              </a:rPr>
              <a:t>((void*)</a:t>
            </a:r>
            <a:r>
              <a:rPr kumimoji="1" lang="en-US" altLang="zh-CN" sz="2400" dirty="0" err="1">
                <a:solidFill>
                  <a:srgbClr val="C00000"/>
                </a:solidFill>
              </a:rPr>
              <a:t>ary</a:t>
            </a:r>
            <a:r>
              <a:rPr kumimoji="1" lang="en-US" altLang="zh-CN" sz="2400" dirty="0">
                <a:solidFill>
                  <a:srgbClr val="C00000"/>
                </a:solidFill>
              </a:rPr>
              <a:t>, 20, </a:t>
            </a:r>
            <a:r>
              <a:rPr kumimoji="1" lang="en-US" altLang="zh-CN" sz="2400" dirty="0" err="1">
                <a:solidFill>
                  <a:srgbClr val="C00000"/>
                </a:solidFill>
              </a:rPr>
              <a:t>sizeof</a:t>
            </a:r>
            <a:r>
              <a:rPr kumimoji="1" lang="en-US" altLang="zh-CN" sz="2400" dirty="0">
                <a:solidFill>
                  <a:srgbClr val="C00000"/>
                </a:solidFill>
              </a:rPr>
              <a:t>(</a:t>
            </a:r>
            <a:r>
              <a:rPr kumimoji="1" lang="en-US" altLang="zh-CN" sz="2400" dirty="0" err="1">
                <a:solidFill>
                  <a:srgbClr val="C00000"/>
                </a:solidFill>
              </a:rPr>
              <a:t>int</a:t>
            </a:r>
            <a:r>
              <a:rPr kumimoji="1" lang="en-US" altLang="zh-CN" sz="2400" dirty="0">
                <a:solidFill>
                  <a:srgbClr val="C00000"/>
                </a:solidFill>
              </a:rPr>
              <a:t>), compare );</a:t>
            </a:r>
            <a:r>
              <a:rPr kumimoji="1" lang="en-US" altLang="zh-CN" sz="2400" dirty="0"/>
              <a:t>	//</a:t>
            </a:r>
            <a:r>
              <a:rPr kumimoji="1" lang="en-US" altLang="en-US" sz="2400" dirty="0" err="1"/>
              <a:t>排序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for (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=0; 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&lt;10; 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++)	//</a:t>
            </a:r>
            <a:r>
              <a:rPr kumimoji="1" lang="en-US" altLang="en-US" sz="2400" dirty="0"/>
              <a:t>输出排序后的</a:t>
            </a:r>
            <a:r>
              <a:rPr kumimoji="1" lang="en-US" altLang="zh-CN" sz="2400" dirty="0"/>
              <a:t>20</a:t>
            </a:r>
            <a:r>
              <a:rPr kumimoji="1" lang="en-US" altLang="en-US" sz="2400" dirty="0"/>
              <a:t>个数</a:t>
            </a:r>
            <a:r>
              <a:rPr kumimoji="1" lang="en-US" altLang="zh-CN" sz="2400" dirty="0"/>
              <a:t>		</a:t>
            </a:r>
            <a:r>
              <a:rPr kumimoji="1" lang="en-US" altLang="zh-CN" sz="2400" dirty="0" err="1"/>
              <a:t>printf</a:t>
            </a:r>
            <a:r>
              <a:rPr kumimoji="1" lang="en-US" altLang="zh-CN" sz="2400" dirty="0"/>
              <a:t>("%6d ", </a:t>
            </a:r>
            <a:r>
              <a:rPr kumimoji="1" lang="en-US" altLang="zh-CN" sz="2400" dirty="0" err="1"/>
              <a:t>ary</a:t>
            </a:r>
            <a:r>
              <a:rPr kumimoji="1" lang="en-US" altLang="zh-CN" sz="2400" dirty="0"/>
              <a:t>[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]); 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</a:t>
            </a:r>
            <a:r>
              <a:rPr kumimoji="1" lang="en-US" altLang="zh-CN" sz="2400" dirty="0" err="1"/>
              <a:t>printf</a:t>
            </a:r>
            <a:r>
              <a:rPr kumimoji="1" lang="en-US" altLang="zh-CN" sz="2400" dirty="0"/>
              <a:t>("\n");	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return 0;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}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383631" y="1343192"/>
            <a:ext cx="7196639" cy="3684278"/>
          </a:xfrm>
          <a:prstGeom prst="rect">
            <a:avLst/>
          </a:prstGeom>
          <a:noFill/>
          <a:ln w="12700" cap="sq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10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int compare(const void *a, const void *b)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{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if ( *(int*)a &gt; *(int*)b )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return 1;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else 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if ( *(int*)a == *(int*)b )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	return 0;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else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	return -1;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}</a:t>
            </a:r>
            <a:endParaRPr kumimoji="1" lang="en-US" altLang="zh-CN" sz="2400" dirty="0"/>
          </a:p>
        </p:txBody>
      </p:sp>
      <p:sp>
        <p:nvSpPr>
          <p:cNvPr id="624643" name="Text Box 3"/>
          <p:cNvSpPr txBox="1">
            <a:spLocks noChangeArrowheads="1"/>
          </p:cNvSpPr>
          <p:nvPr/>
        </p:nvSpPr>
        <p:spPr bwMode="auto">
          <a:xfrm>
            <a:off x="1452938" y="885992"/>
            <a:ext cx="3529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ea typeface="黑体" panose="02010609060101010101" pitchFamily="49" charset="-122"/>
              </a:rPr>
              <a:t>整数比较</a:t>
            </a:r>
            <a:endParaRPr lang="zh-CN" altLang="en-US" sz="2400" dirty="0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4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1335505" y="1125538"/>
            <a:ext cx="7381458" cy="2611677"/>
          </a:xfrm>
          <a:prstGeom prst="rect">
            <a:avLst/>
          </a:prstGeom>
          <a:noFill/>
          <a:ln w="12700" cap="sq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int compare(const void *a, const void *b)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{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char *p, *q;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p = (char *)a;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q = (char *)b;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return </a:t>
            </a:r>
            <a:r>
              <a:rPr kumimoji="1" lang="en-US" altLang="zh-CN" sz="2400" dirty="0" err="1"/>
              <a:t>strcmp</a:t>
            </a:r>
            <a:r>
              <a:rPr kumimoji="1" lang="en-US" altLang="zh-CN" sz="2400" dirty="0"/>
              <a:t>(p, q);	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}</a:t>
            </a:r>
            <a:endParaRPr kumimoji="1" lang="en-US" altLang="zh-CN" sz="2400" dirty="0"/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335505" y="440155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ea typeface="黑体" panose="02010609060101010101" pitchFamily="49" charset="-122"/>
              </a:rPr>
              <a:t>字符串比较：</a:t>
            </a:r>
            <a:endParaRPr lang="zh-CN" altLang="en-US" sz="2400" dirty="0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计算机内存：理解指针的关键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1536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指针：存储</a:t>
            </a:r>
            <a:r>
              <a:rPr lang="zh-CN" altLang="en-US" sz="2800" dirty="0">
                <a:solidFill>
                  <a:srgbClr val="C00000"/>
                </a:solidFill>
              </a:rPr>
              <a:t>其它变量地址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0000CC"/>
                </a:solidFill>
              </a:rPr>
              <a:t>变量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1536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147F5EA-CC5F-4A4F-8AD1-39AB8E6B8BF8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pic>
        <p:nvPicPr>
          <p:cNvPr id="15365" name="Picture 3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3" b="13013"/>
          <a:stretch>
            <a:fillRect/>
          </a:stretch>
        </p:blipFill>
        <p:spPr bwMode="auto">
          <a:xfrm>
            <a:off x="1519238" y="3719513"/>
            <a:ext cx="2767012" cy="215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Right Arrow 31"/>
          <p:cNvSpPr/>
          <p:nvPr/>
        </p:nvSpPr>
        <p:spPr>
          <a:xfrm>
            <a:off x="4500563" y="4149725"/>
            <a:ext cx="460375" cy="8985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43" name="Group 42"/>
          <p:cNvGrpSpPr/>
          <p:nvPr/>
        </p:nvGrpSpPr>
        <p:grpSpPr bwMode="auto">
          <a:xfrm>
            <a:off x="3348038" y="2732088"/>
            <a:ext cx="5621337" cy="3516312"/>
            <a:chOff x="3347864" y="2731765"/>
            <a:chExt cx="5621846" cy="3516635"/>
          </a:xfrm>
        </p:grpSpPr>
        <p:grpSp>
          <p:nvGrpSpPr>
            <p:cNvPr id="15369" name="Group 28"/>
            <p:cNvGrpSpPr/>
            <p:nvPr/>
          </p:nvGrpSpPr>
          <p:grpSpPr bwMode="auto">
            <a:xfrm>
              <a:off x="5718939" y="2731765"/>
              <a:ext cx="2160240" cy="3516635"/>
              <a:chOff x="6084168" y="2731765"/>
              <a:chExt cx="2160240" cy="3516635"/>
            </a:xfrm>
          </p:grpSpPr>
          <p:grpSp>
            <p:nvGrpSpPr>
              <p:cNvPr id="15379" name="Group 17"/>
              <p:cNvGrpSpPr/>
              <p:nvPr/>
            </p:nvGrpSpPr>
            <p:grpSpPr bwMode="auto">
              <a:xfrm>
                <a:off x="6154688" y="2852936"/>
                <a:ext cx="2016224" cy="3237140"/>
                <a:chOff x="6012160" y="3068960"/>
                <a:chExt cx="2016224" cy="3237140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6010773" y="3068450"/>
                  <a:ext cx="2017896" cy="360395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6010773" y="3428845"/>
                  <a:ext cx="2017896" cy="360396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6010773" y="3789241"/>
                  <a:ext cx="2017896" cy="358808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6010773" y="4148049"/>
                  <a:ext cx="2017896" cy="360395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6010773" y="4511619"/>
                  <a:ext cx="2017896" cy="358808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6010773" y="4870427"/>
                  <a:ext cx="2017896" cy="358808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6010773" y="5227648"/>
                  <a:ext cx="2017896" cy="360395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6010773" y="5586456"/>
                  <a:ext cx="2017896" cy="360395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7" name="Rectangle 16"/>
                <p:cNvSpPr/>
                <p:nvPr/>
              </p:nvSpPr>
              <p:spPr>
                <a:xfrm>
                  <a:off x="6010773" y="5945264"/>
                  <a:ext cx="2017896" cy="360395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cxnSp>
            <p:nvCxnSpPr>
              <p:cNvPr id="21" name="Straight Connector 20"/>
              <p:cNvCxnSpPr/>
              <p:nvPr/>
            </p:nvCxnSpPr>
            <p:spPr>
              <a:xfrm>
                <a:off x="6083445" y="2852426"/>
                <a:ext cx="2160784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6083445" y="6089635"/>
                <a:ext cx="2160784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Up Arrow 18"/>
              <p:cNvSpPr/>
              <p:nvPr/>
            </p:nvSpPr>
            <p:spPr>
              <a:xfrm>
                <a:off x="6910772" y="2731765"/>
                <a:ext cx="504056" cy="322888"/>
              </a:xfrm>
              <a:prstGeom prst="up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8" name="Up Arrow 27"/>
              <p:cNvSpPr/>
              <p:nvPr/>
            </p:nvSpPr>
            <p:spPr>
              <a:xfrm rot="10800000">
                <a:off x="6910772" y="5925512"/>
                <a:ext cx="504056" cy="322888"/>
              </a:xfrm>
              <a:prstGeom prst="up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5370" name="TextBox 32"/>
            <p:cNvSpPr txBox="1">
              <a:spLocks noChangeArrowheads="1"/>
            </p:cNvSpPr>
            <p:nvPr/>
          </p:nvSpPr>
          <p:spPr bwMode="auto">
            <a:xfrm>
              <a:off x="5220072" y="5363504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200</a:t>
              </a:r>
              <a:endParaRPr lang="en-US" altLang="en-US"/>
            </a:p>
          </p:txBody>
        </p:sp>
        <p:sp>
          <p:nvSpPr>
            <p:cNvPr id="15371" name="TextBox 33"/>
            <p:cNvSpPr txBox="1">
              <a:spLocks noChangeArrowheads="1"/>
            </p:cNvSpPr>
            <p:nvPr/>
          </p:nvSpPr>
          <p:spPr bwMode="auto">
            <a:xfrm>
              <a:off x="5220072" y="5013653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201</a:t>
              </a:r>
              <a:endParaRPr lang="en-US" altLang="en-US"/>
            </a:p>
          </p:txBody>
        </p:sp>
        <p:sp>
          <p:nvSpPr>
            <p:cNvPr id="15372" name="TextBox 34"/>
            <p:cNvSpPr txBox="1">
              <a:spLocks noChangeArrowheads="1"/>
            </p:cNvSpPr>
            <p:nvPr/>
          </p:nvSpPr>
          <p:spPr bwMode="auto">
            <a:xfrm>
              <a:off x="5224683" y="4649663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202</a:t>
              </a:r>
              <a:endParaRPr lang="en-US" altLang="en-US"/>
            </a:p>
          </p:txBody>
        </p:sp>
        <p:sp>
          <p:nvSpPr>
            <p:cNvPr id="15373" name="TextBox 35"/>
            <p:cNvSpPr txBox="1">
              <a:spLocks noChangeArrowheads="1"/>
            </p:cNvSpPr>
            <p:nvPr/>
          </p:nvSpPr>
          <p:spPr bwMode="auto">
            <a:xfrm>
              <a:off x="5221750" y="4291912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203</a:t>
              </a:r>
              <a:endParaRPr lang="en-US" altLang="en-US"/>
            </a:p>
          </p:txBody>
        </p:sp>
        <p:sp>
          <p:nvSpPr>
            <p:cNvPr id="15374" name="TextBox 36"/>
            <p:cNvSpPr txBox="1">
              <a:spLocks noChangeArrowheads="1"/>
            </p:cNvSpPr>
            <p:nvPr/>
          </p:nvSpPr>
          <p:spPr bwMode="auto">
            <a:xfrm>
              <a:off x="5224683" y="3941801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204</a:t>
              </a:r>
              <a:endParaRPr lang="en-US" altLang="en-US"/>
            </a:p>
          </p:txBody>
        </p:sp>
        <p:sp>
          <p:nvSpPr>
            <p:cNvPr id="15375" name="TextBox 37"/>
            <p:cNvSpPr txBox="1">
              <a:spLocks noChangeArrowheads="1"/>
            </p:cNvSpPr>
            <p:nvPr/>
          </p:nvSpPr>
          <p:spPr bwMode="auto">
            <a:xfrm>
              <a:off x="5228038" y="3578515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205</a:t>
              </a:r>
              <a:endParaRPr lang="en-US" altLang="en-US"/>
            </a:p>
          </p:txBody>
        </p:sp>
        <p:sp>
          <p:nvSpPr>
            <p:cNvPr id="15376" name="TextBox 38"/>
            <p:cNvSpPr txBox="1">
              <a:spLocks noChangeArrowheads="1"/>
            </p:cNvSpPr>
            <p:nvPr/>
          </p:nvSpPr>
          <p:spPr bwMode="auto">
            <a:xfrm>
              <a:off x="5228038" y="3184211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206</a:t>
              </a:r>
              <a:endParaRPr lang="en-US" altLang="en-US"/>
            </a:p>
          </p:txBody>
        </p:sp>
        <p:sp>
          <p:nvSpPr>
            <p:cNvPr id="40" name="Line Callout 1 39"/>
            <p:cNvSpPr/>
            <p:nvPr/>
          </p:nvSpPr>
          <p:spPr>
            <a:xfrm>
              <a:off x="8028238" y="4008232"/>
              <a:ext cx="941472" cy="719203"/>
            </a:xfrm>
            <a:prstGeom prst="borderCallout1">
              <a:avLst>
                <a:gd name="adj1" fmla="val 18750"/>
                <a:gd name="adj2" fmla="val -8333"/>
                <a:gd name="adj3" fmla="val 75605"/>
                <a:gd name="adj4" fmla="val -54001"/>
              </a:avLst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>
                  <a:solidFill>
                    <a:srgbClr val="FFFFFF"/>
                  </a:solidFill>
                  <a:latin typeface="Gill Sans MT" panose="020B0502020104020203" pitchFamily="34" charset="0"/>
                  <a:ea typeface="华文中宋" panose="02010600040101010101" pitchFamily="2" charset="-122"/>
                </a:rPr>
                <a:t>字节</a:t>
              </a:r>
              <a:endParaRPr lang="en-US" altLang="zh-CN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endParaRPr>
            </a:p>
            <a:p>
              <a:pPr algn="ctr"/>
              <a:r>
                <a:rPr lang="en-US" altLang="zh-CN">
                  <a:solidFill>
                    <a:srgbClr val="FFFFFF"/>
                  </a:solidFill>
                  <a:latin typeface="Gill Sans MT" panose="020B0502020104020203" pitchFamily="34" charset="0"/>
                  <a:ea typeface="华文中宋" panose="02010600040101010101" pitchFamily="2" charset="-122"/>
                </a:rPr>
                <a:t>Byte</a:t>
              </a:r>
              <a:endParaRPr lang="en-US" altLang="en-US">
                <a:solidFill>
                  <a:srgbClr val="FFFFFF"/>
                </a:solidFill>
                <a:latin typeface="Gill Sans MT" panose="020B0502020104020203" pitchFamily="34" charset="0"/>
              </a:endParaRPr>
            </a:p>
          </p:txBody>
        </p:sp>
        <p:sp>
          <p:nvSpPr>
            <p:cNvPr id="41" name="Line Callout 1 40"/>
            <p:cNvSpPr/>
            <p:nvPr/>
          </p:nvSpPr>
          <p:spPr>
            <a:xfrm>
              <a:off x="3347864" y="5734003"/>
              <a:ext cx="1501911" cy="457242"/>
            </a:xfrm>
            <a:prstGeom prst="borderCallout1">
              <a:avLst>
                <a:gd name="adj1" fmla="val -13504"/>
                <a:gd name="adj2" fmla="val 93770"/>
                <a:gd name="adj3" fmla="val -116501"/>
                <a:gd name="adj4" fmla="val 120713"/>
              </a:avLst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/>
                <a:t>地址</a:t>
              </a:r>
              <a:endParaRPr lang="en-US" dirty="0"/>
            </a:p>
          </p:txBody>
        </p:sp>
      </p:grpSp>
      <p:sp>
        <p:nvSpPr>
          <p:cNvPr id="15368" name="Rectangle 41"/>
          <p:cNvSpPr>
            <a:spLocks noChangeArrowheads="1"/>
          </p:cNvSpPr>
          <p:nvPr/>
        </p:nvSpPr>
        <p:spPr bwMode="auto">
          <a:xfrm>
            <a:off x="1711325" y="2944813"/>
            <a:ext cx="35036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例子：</a:t>
            </a:r>
            <a:r>
              <a:rPr lang="en-US" altLang="en-US"/>
              <a:t>金士顿(Kingston)</a:t>
            </a:r>
            <a:r>
              <a:rPr lang="zh-CN" altLang="en-US"/>
              <a:t> </a:t>
            </a:r>
            <a:r>
              <a:rPr lang="en-US" altLang="en-US"/>
              <a:t>DDR3 1600 8GB 台式机内存</a:t>
            </a:r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计算机内存：理解指针的关键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16388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E21B699-3002-43D7-AF41-45EF5212F505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377950" y="2944813"/>
            <a:ext cx="4130675" cy="174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565"/>
              </a:lnSpc>
            </a:pPr>
            <a:r>
              <a:rPr lang="en-US" altLang="en-US" dirty="0">
                <a:solidFill>
                  <a:srgbClr val="7F0055"/>
                </a:solidFill>
                <a:latin typeface="Monaco"/>
                <a:ea typeface="Mangal" panose="02040503050203030202" pitchFamily="18" charset="0"/>
              </a:rPr>
              <a:t>int</a:t>
            </a:r>
            <a:r>
              <a:rPr lang="en-US" altLang="en-US" dirty="0">
                <a:latin typeface="Monaco"/>
                <a:ea typeface="Mangal" panose="02040503050203030202" pitchFamily="18" charset="0"/>
              </a:rPr>
              <a:t> main () {</a:t>
            </a:r>
            <a:endParaRPr lang="en-US" altLang="en-US" dirty="0"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zh-CN" altLang="en-US" dirty="0">
                <a:solidFill>
                  <a:srgbClr val="7F0055"/>
                </a:solidFill>
                <a:latin typeface="Monaco"/>
              </a:rPr>
              <a:t>  </a:t>
            </a:r>
            <a:r>
              <a:rPr lang="en-US" altLang="en-US" dirty="0">
                <a:solidFill>
                  <a:srgbClr val="7F0055"/>
                </a:solidFill>
                <a:latin typeface="Monaco"/>
                <a:ea typeface="Mangal" panose="02040503050203030202" pitchFamily="18" charset="0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Monaco"/>
                <a:ea typeface="Mangal" panose="02040503050203030202" pitchFamily="18" charset="0"/>
              </a:rPr>
              <a:t> var; </a:t>
            </a:r>
            <a:r>
              <a:rPr lang="en-US" altLang="en-US" dirty="0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// 声明整型变量</a:t>
            </a:r>
            <a:endParaRPr lang="en-US" altLang="en-US" dirty="0">
              <a:solidFill>
                <a:srgbClr val="3F7F5F"/>
              </a:solidFill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zh-CN" altLang="en-US" dirty="0">
                <a:latin typeface="Monaco"/>
              </a:rPr>
              <a:t>  </a:t>
            </a:r>
            <a:endParaRPr lang="en-US" altLang="en-US" dirty="0"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zh-CN" altLang="en-US" dirty="0">
                <a:solidFill>
                  <a:srgbClr val="7F0055"/>
                </a:solidFill>
                <a:latin typeface="Monaco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Monaco"/>
              </a:rPr>
              <a:t>  </a:t>
            </a:r>
            <a:endParaRPr lang="en-US" altLang="en-US" dirty="0">
              <a:solidFill>
                <a:srgbClr val="3F7F5F"/>
              </a:solidFill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en-US" altLang="en-US" dirty="0">
                <a:latin typeface="Monaco"/>
                <a:ea typeface="Mangal" panose="02040503050203030202" pitchFamily="18" charset="0"/>
              </a:rPr>
              <a:t>}</a:t>
            </a:r>
            <a:endParaRPr lang="en-US" altLang="en-US" dirty="0">
              <a:latin typeface="Monaco"/>
              <a:ea typeface="Mangal" panose="02040503050203030202" pitchFamily="18" charset="0"/>
            </a:endParaRPr>
          </a:p>
        </p:txBody>
      </p:sp>
      <p:grpSp>
        <p:nvGrpSpPr>
          <p:cNvPr id="16390" name="Group 7"/>
          <p:cNvGrpSpPr/>
          <p:nvPr/>
        </p:nvGrpSpPr>
        <p:grpSpPr bwMode="auto">
          <a:xfrm>
            <a:off x="5873750" y="2371725"/>
            <a:ext cx="2659063" cy="4187825"/>
            <a:chOff x="5873332" y="2371725"/>
            <a:chExt cx="2659108" cy="4188475"/>
          </a:xfrm>
        </p:grpSpPr>
        <p:sp>
          <p:nvSpPr>
            <p:cNvPr id="9" name="Rectangle 8"/>
            <p:cNvSpPr/>
            <p:nvPr/>
          </p:nvSpPr>
          <p:spPr>
            <a:xfrm>
              <a:off x="6443255" y="2522561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43255" y="3213231"/>
              <a:ext cx="2016159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43255" y="3573650"/>
              <a:ext cx="2016159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443255" y="3932480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43255" y="4296074"/>
              <a:ext cx="2016159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43255" y="4654904"/>
              <a:ext cx="2016159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443255" y="5012148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443255" y="5370978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443255" y="6090227"/>
              <a:ext cx="2016159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6371815" y="2522561"/>
              <a:ext cx="2160625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6371815" y="6450646"/>
              <a:ext cx="2160625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Up Arrow 18"/>
            <p:cNvSpPr/>
            <p:nvPr/>
          </p:nvSpPr>
          <p:spPr>
            <a:xfrm>
              <a:off x="7198804" y="2371725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8" name="Up Arrow 27"/>
            <p:cNvSpPr/>
            <p:nvPr/>
          </p:nvSpPr>
          <p:spPr>
            <a:xfrm rot="10800000">
              <a:off x="7198804" y="6237312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430" name="TextBox 32"/>
            <p:cNvSpPr txBox="1">
              <a:spLocks noChangeArrowheads="1"/>
            </p:cNvSpPr>
            <p:nvPr/>
          </p:nvSpPr>
          <p:spPr bwMode="auto">
            <a:xfrm>
              <a:off x="5873333" y="5752309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200</a:t>
              </a:r>
              <a:endParaRPr lang="en-US" altLang="en-US"/>
            </a:p>
          </p:txBody>
        </p:sp>
        <p:sp>
          <p:nvSpPr>
            <p:cNvPr id="16431" name="TextBox 33"/>
            <p:cNvSpPr txBox="1">
              <a:spLocks noChangeArrowheads="1"/>
            </p:cNvSpPr>
            <p:nvPr/>
          </p:nvSpPr>
          <p:spPr bwMode="auto">
            <a:xfrm>
              <a:off x="5873333" y="540245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201</a:t>
              </a:r>
              <a:endParaRPr lang="en-US" altLang="en-US"/>
            </a:p>
          </p:txBody>
        </p:sp>
        <p:sp>
          <p:nvSpPr>
            <p:cNvPr id="16432" name="TextBox 34"/>
            <p:cNvSpPr txBox="1">
              <a:spLocks noChangeArrowheads="1"/>
            </p:cNvSpPr>
            <p:nvPr/>
          </p:nvSpPr>
          <p:spPr bwMode="auto">
            <a:xfrm>
              <a:off x="5877944" y="503846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202</a:t>
              </a:r>
              <a:endParaRPr lang="en-US" altLang="en-US"/>
            </a:p>
          </p:txBody>
        </p:sp>
        <p:sp>
          <p:nvSpPr>
            <p:cNvPr id="16433" name="TextBox 35"/>
            <p:cNvSpPr txBox="1">
              <a:spLocks noChangeArrowheads="1"/>
            </p:cNvSpPr>
            <p:nvPr/>
          </p:nvSpPr>
          <p:spPr bwMode="auto">
            <a:xfrm>
              <a:off x="5875011" y="4680717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203</a:t>
              </a:r>
              <a:endParaRPr lang="en-US" altLang="en-US"/>
            </a:p>
          </p:txBody>
        </p:sp>
        <p:sp>
          <p:nvSpPr>
            <p:cNvPr id="16434" name="TextBox 36"/>
            <p:cNvSpPr txBox="1">
              <a:spLocks noChangeArrowheads="1"/>
            </p:cNvSpPr>
            <p:nvPr/>
          </p:nvSpPr>
          <p:spPr bwMode="auto">
            <a:xfrm>
              <a:off x="5877944" y="4330606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204</a:t>
              </a:r>
              <a:endParaRPr lang="en-US" altLang="en-US"/>
            </a:p>
          </p:txBody>
        </p:sp>
        <p:sp>
          <p:nvSpPr>
            <p:cNvPr id="16435" name="TextBox 37"/>
            <p:cNvSpPr txBox="1">
              <a:spLocks noChangeArrowheads="1"/>
            </p:cNvSpPr>
            <p:nvPr/>
          </p:nvSpPr>
          <p:spPr bwMode="auto">
            <a:xfrm>
              <a:off x="5881299" y="3967320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205</a:t>
              </a:r>
              <a:endParaRPr lang="en-US" altLang="en-US"/>
            </a:p>
          </p:txBody>
        </p:sp>
        <p:sp>
          <p:nvSpPr>
            <p:cNvPr id="16436" name="TextBox 38"/>
            <p:cNvSpPr txBox="1">
              <a:spLocks noChangeArrowheads="1"/>
            </p:cNvSpPr>
            <p:nvPr/>
          </p:nvSpPr>
          <p:spPr bwMode="auto">
            <a:xfrm>
              <a:off x="5881299" y="3573016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206</a:t>
              </a:r>
              <a:endParaRPr lang="en-US" alt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451192" y="2862339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443255" y="5729809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439" name="TextBox 44"/>
            <p:cNvSpPr txBox="1">
              <a:spLocks noChangeArrowheads="1"/>
            </p:cNvSpPr>
            <p:nvPr/>
          </p:nvSpPr>
          <p:spPr bwMode="auto">
            <a:xfrm>
              <a:off x="5873332" y="3204014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207</a:t>
              </a:r>
              <a:endParaRPr lang="en-US" altLang="en-US"/>
            </a:p>
          </p:txBody>
        </p:sp>
        <p:sp>
          <p:nvSpPr>
            <p:cNvPr id="16440" name="TextBox 45"/>
            <p:cNvSpPr txBox="1">
              <a:spLocks noChangeArrowheads="1"/>
            </p:cNvSpPr>
            <p:nvPr/>
          </p:nvSpPr>
          <p:spPr bwMode="auto">
            <a:xfrm>
              <a:off x="5873332" y="2809710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208</a:t>
              </a:r>
              <a:endParaRPr lang="en-US" altLang="en-US"/>
            </a:p>
          </p:txBody>
        </p:sp>
      </p:grp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76413" y="5229181"/>
          <a:ext cx="3695700" cy="1104900"/>
        </p:xfrm>
        <a:graphic>
          <a:graphicData uri="http://schemas.openxmlformats.org/drawingml/2006/table">
            <a:tbl>
              <a:tblPr/>
              <a:tblGrid>
                <a:gridCol w="1231900"/>
                <a:gridCol w="1231900"/>
                <a:gridCol w="1231900"/>
              </a:tblGrid>
              <a:tr h="3683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变量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地址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取值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/>
                    </a:solidFill>
                  </a:tcPr>
                </a:tc>
              </a:tr>
              <a:tr h="3683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var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200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?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7D1"/>
                    </a:solidFill>
                  </a:tcPr>
                </a:tc>
              </a:tr>
              <a:tr h="3683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  <a:cs typeface="Mangal" panose="02040503050203030202" pitchFamily="18" charset="0"/>
                        </a:rPr>
                        <a:t>…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  <a:cs typeface="Mangal" panose="02040503050203030202" pitchFamily="18" charset="0"/>
                        </a:rPr>
                        <a:t>…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  <a:cs typeface="Mangal" panose="02040503050203030202" pitchFamily="18" charset="0"/>
                        </a:rPr>
                        <a:t>…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3EA"/>
                    </a:solidFill>
                  </a:tcPr>
                </a:tc>
              </a:tr>
            </a:tbl>
          </a:graphicData>
        </a:graphic>
      </p:graphicFrame>
      <p:grpSp>
        <p:nvGrpSpPr>
          <p:cNvPr id="24" name="Group 23"/>
          <p:cNvGrpSpPr/>
          <p:nvPr/>
        </p:nvGrpSpPr>
        <p:grpSpPr bwMode="auto">
          <a:xfrm>
            <a:off x="6442075" y="4679950"/>
            <a:ext cx="2016125" cy="1409700"/>
            <a:chOff x="6442719" y="4680717"/>
            <a:chExt cx="2016224" cy="1409359"/>
          </a:xfrm>
        </p:grpSpPr>
        <p:sp>
          <p:nvSpPr>
            <p:cNvPr id="22" name="Rectangle 21"/>
            <p:cNvSpPr/>
            <p:nvPr/>
          </p:nvSpPr>
          <p:spPr>
            <a:xfrm>
              <a:off x="6442719" y="4680717"/>
              <a:ext cx="2016224" cy="1409359"/>
            </a:xfrm>
            <a:prstGeom prst="rect">
              <a:avLst/>
            </a:prstGeom>
            <a:solidFill>
              <a:srgbClr val="FFFDA9">
                <a:alpha val="5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412" name="Rectangle 22"/>
            <p:cNvSpPr>
              <a:spLocks noChangeArrowheads="1"/>
            </p:cNvSpPr>
            <p:nvPr/>
          </p:nvSpPr>
          <p:spPr bwMode="auto">
            <a:xfrm>
              <a:off x="6710984" y="5089751"/>
              <a:ext cx="14750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en-US" sz="2400">
                  <a:solidFill>
                    <a:srgbClr val="FF0000"/>
                  </a:solidFill>
                  <a:latin typeface="Monaco"/>
                  <a:ea typeface="Mangal" panose="02040503050203030202" pitchFamily="18" charset="0"/>
                </a:rPr>
                <a:t>var</a:t>
              </a:r>
              <a:r>
                <a:rPr lang="zh-CN" altLang="en-US" sz="2400">
                  <a:solidFill>
                    <a:srgbClr val="FF0000"/>
                  </a:solidFill>
                  <a:latin typeface="Monaco"/>
                </a:rPr>
                <a:t> </a:t>
              </a:r>
              <a:r>
                <a:rPr lang="en-US" altLang="zh-CN" sz="2400">
                  <a:solidFill>
                    <a:srgbClr val="FF0000"/>
                  </a:solidFill>
                  <a:latin typeface="Monaco"/>
                </a:rPr>
                <a:t>=</a:t>
              </a:r>
              <a:r>
                <a:rPr lang="zh-CN" altLang="en-US" sz="2400">
                  <a:solidFill>
                    <a:srgbClr val="FF0000"/>
                  </a:solidFill>
                  <a:latin typeface="Monaco"/>
                </a:rPr>
                <a:t> </a:t>
              </a:r>
              <a:r>
                <a:rPr lang="en-US" altLang="zh-CN" sz="2400">
                  <a:solidFill>
                    <a:srgbClr val="FF0000"/>
                  </a:solidFill>
                  <a:latin typeface="Monaco"/>
                </a:rPr>
                <a:t>?</a:t>
              </a:r>
              <a:endParaRPr lang="en-US" altLang="en-US" sz="2400">
                <a:solidFill>
                  <a:srgbClr val="FF0000"/>
                </a:solidFill>
              </a:endParaRPr>
            </a:p>
          </p:txBody>
        </p:sp>
      </p:grp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1776413" y="4798968"/>
            <a:ext cx="35036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Lookup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endParaRPr lang="en-US" altLang="en-US" dirty="0"/>
          </a:p>
        </p:txBody>
      </p:sp>
      <p:sp>
        <p:nvSpPr>
          <p:cNvPr id="39" name="Content Placeholder 6"/>
          <p:cNvSpPr txBox="1"/>
          <p:nvPr/>
        </p:nvSpPr>
        <p:spPr>
          <a:xfrm>
            <a:off x="584400" y="1340400"/>
            <a:ext cx="828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Tx/>
              <a:buBlip>
                <a:blip r:embed="rId1"/>
              </a:buBlip>
              <a:defRPr sz="2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8829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Tx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3050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指针：存储</a:t>
            </a:r>
            <a:r>
              <a:rPr lang="zh-CN" altLang="en-US">
                <a:solidFill>
                  <a:srgbClr val="C00000"/>
                </a:solidFill>
              </a:rPr>
              <a:t>其它变量地址</a:t>
            </a:r>
            <a:r>
              <a:rPr lang="zh-CN" altLang="en-US"/>
              <a:t>的</a:t>
            </a:r>
            <a:r>
              <a:rPr lang="zh-CN" altLang="en-US">
                <a:solidFill>
                  <a:srgbClr val="0000CC"/>
                </a:solidFill>
              </a:rPr>
              <a:t>变量</a:t>
            </a:r>
            <a:endParaRPr lang="zh-CN" altLang="en-US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计算机内存：理解指针的关键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8568183" y="6305550"/>
            <a:ext cx="4572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C19FE3F-CA1A-4FBE-ABBF-E06E32B1688E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377950" y="2944813"/>
            <a:ext cx="4130675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565"/>
              </a:lnSpc>
            </a:pPr>
            <a:r>
              <a:rPr lang="en-US" altLang="en-US">
                <a:solidFill>
                  <a:srgbClr val="7F0055"/>
                </a:solidFill>
                <a:latin typeface="Monaco"/>
                <a:ea typeface="Mangal" panose="02040503050203030202" pitchFamily="18" charset="0"/>
              </a:rPr>
              <a:t>int</a:t>
            </a:r>
            <a:r>
              <a:rPr lang="en-US" altLang="en-US">
                <a:latin typeface="Monaco"/>
                <a:ea typeface="Mangal" panose="02040503050203030202" pitchFamily="18" charset="0"/>
              </a:rPr>
              <a:t> main () {</a:t>
            </a:r>
            <a:endParaRPr lang="en-US" altLang="en-US"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zh-CN" altLang="en-US">
                <a:solidFill>
                  <a:srgbClr val="7F0055"/>
                </a:solidFill>
                <a:latin typeface="Monaco"/>
              </a:rPr>
              <a:t>  </a:t>
            </a:r>
            <a:r>
              <a:rPr lang="en-US" altLang="en-US">
                <a:solidFill>
                  <a:srgbClr val="7F0055"/>
                </a:solidFill>
                <a:latin typeface="Monaco"/>
                <a:ea typeface="Mangal" panose="02040503050203030202" pitchFamily="18" charset="0"/>
              </a:rPr>
              <a:t>int</a:t>
            </a:r>
            <a:r>
              <a:rPr lang="en-US" altLang="en-US">
                <a:solidFill>
                  <a:srgbClr val="000000"/>
                </a:solidFill>
                <a:latin typeface="Monaco"/>
                <a:ea typeface="Mangal" panose="02040503050203030202" pitchFamily="18" charset="0"/>
              </a:rPr>
              <a:t> var; 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// 声明整型变量</a:t>
            </a:r>
            <a:endParaRPr lang="en-US" altLang="en-US">
              <a:solidFill>
                <a:srgbClr val="3F7F5F"/>
              </a:solidFill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zh-CN" altLang="en-US">
                <a:latin typeface="Monaco"/>
              </a:rPr>
              <a:t>  </a:t>
            </a:r>
            <a:r>
              <a:rPr lang="en-US" altLang="en-US">
                <a:latin typeface="Monaco"/>
                <a:ea typeface="Mangal" panose="02040503050203030202" pitchFamily="18" charset="0"/>
              </a:rPr>
              <a:t>var = 10; 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// 赋值</a:t>
            </a:r>
            <a:endParaRPr lang="en-US" altLang="en-US"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zh-CN" altLang="en-US">
                <a:solidFill>
                  <a:srgbClr val="7F0055"/>
                </a:solidFill>
                <a:latin typeface="Monaco"/>
              </a:rPr>
              <a:t>  </a:t>
            </a:r>
            <a:r>
              <a:rPr lang="en-US" altLang="en-US">
                <a:solidFill>
                  <a:srgbClr val="7F0055"/>
                </a:solidFill>
                <a:latin typeface="Monaco"/>
                <a:ea typeface="Mangal" panose="02040503050203030202" pitchFamily="18" charset="0"/>
              </a:rPr>
              <a:t>int</a:t>
            </a:r>
            <a:r>
              <a:rPr lang="en-US" altLang="en-US">
                <a:solidFill>
                  <a:srgbClr val="000000"/>
                </a:solidFill>
                <a:latin typeface="Monaco"/>
                <a:ea typeface="Mangal" panose="02040503050203030202" pitchFamily="18" charset="0"/>
              </a:rPr>
              <a:t> *p; 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// 声明整型指针</a:t>
            </a:r>
            <a:endParaRPr lang="en-US" altLang="en-US">
              <a:solidFill>
                <a:srgbClr val="3F7F5F"/>
              </a:solidFill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zh-CN" altLang="en-US">
                <a:solidFill>
                  <a:srgbClr val="000000"/>
                </a:solidFill>
                <a:latin typeface="Monaco"/>
              </a:rPr>
              <a:t>  </a:t>
            </a:r>
            <a:r>
              <a:rPr lang="en-US" altLang="en-US">
                <a:solidFill>
                  <a:srgbClr val="000000"/>
                </a:solidFill>
                <a:latin typeface="Monaco"/>
                <a:ea typeface="Mangal" panose="02040503050203030202" pitchFamily="18" charset="0"/>
              </a:rPr>
              <a:t>p = &amp;var; 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// 为指针赋值</a:t>
            </a:r>
            <a:r>
              <a:rPr lang="en-US" altLang="en-US" u="sng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var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地址</a:t>
            </a:r>
            <a:endParaRPr lang="en-US" altLang="en-US">
              <a:solidFill>
                <a:srgbClr val="3F7F5F"/>
              </a:solidFill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en-US" altLang="en-US">
                <a:latin typeface="Monaco"/>
                <a:ea typeface="Mangal" panose="02040503050203030202" pitchFamily="18" charset="0"/>
              </a:rPr>
              <a:t>}</a:t>
            </a:r>
            <a:endParaRPr lang="en-US" altLang="en-US">
              <a:latin typeface="Monaco"/>
              <a:ea typeface="Mangal" panose="02040503050203030202" pitchFamily="18" charset="0"/>
            </a:endParaRPr>
          </a:p>
        </p:txBody>
      </p:sp>
      <p:grpSp>
        <p:nvGrpSpPr>
          <p:cNvPr id="18438" name="Group 7"/>
          <p:cNvGrpSpPr/>
          <p:nvPr/>
        </p:nvGrpSpPr>
        <p:grpSpPr bwMode="auto">
          <a:xfrm>
            <a:off x="5873750" y="2371725"/>
            <a:ext cx="2659063" cy="4187825"/>
            <a:chOff x="5873332" y="2371725"/>
            <a:chExt cx="2659108" cy="4188475"/>
          </a:xfrm>
        </p:grpSpPr>
        <p:sp>
          <p:nvSpPr>
            <p:cNvPr id="9" name="Rectangle 8"/>
            <p:cNvSpPr/>
            <p:nvPr/>
          </p:nvSpPr>
          <p:spPr>
            <a:xfrm>
              <a:off x="6443255" y="2522561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43255" y="3213231"/>
              <a:ext cx="2016159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43255" y="3573650"/>
              <a:ext cx="2016159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443255" y="3932480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43255" y="4296074"/>
              <a:ext cx="2016159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43255" y="4654904"/>
              <a:ext cx="2016159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443255" y="5012148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443255" y="5370978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443255" y="6090227"/>
              <a:ext cx="2016159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6371815" y="2522561"/>
              <a:ext cx="2160625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6371815" y="6450646"/>
              <a:ext cx="2160625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Up Arrow 18"/>
            <p:cNvSpPr/>
            <p:nvPr/>
          </p:nvSpPr>
          <p:spPr>
            <a:xfrm>
              <a:off x="7198804" y="2371725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8" name="Up Arrow 27"/>
            <p:cNvSpPr/>
            <p:nvPr/>
          </p:nvSpPr>
          <p:spPr>
            <a:xfrm rot="10800000">
              <a:off x="7198804" y="6237312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482" name="TextBox 32"/>
            <p:cNvSpPr txBox="1">
              <a:spLocks noChangeArrowheads="1"/>
            </p:cNvSpPr>
            <p:nvPr/>
          </p:nvSpPr>
          <p:spPr bwMode="auto">
            <a:xfrm>
              <a:off x="5873333" y="5752309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200</a:t>
              </a:r>
              <a:endParaRPr lang="en-US" altLang="en-US"/>
            </a:p>
          </p:txBody>
        </p:sp>
        <p:sp>
          <p:nvSpPr>
            <p:cNvPr id="18483" name="TextBox 33"/>
            <p:cNvSpPr txBox="1">
              <a:spLocks noChangeArrowheads="1"/>
            </p:cNvSpPr>
            <p:nvPr/>
          </p:nvSpPr>
          <p:spPr bwMode="auto">
            <a:xfrm>
              <a:off x="5873333" y="540245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201</a:t>
              </a:r>
              <a:endParaRPr lang="en-US" altLang="en-US"/>
            </a:p>
          </p:txBody>
        </p:sp>
        <p:sp>
          <p:nvSpPr>
            <p:cNvPr id="18484" name="TextBox 34"/>
            <p:cNvSpPr txBox="1">
              <a:spLocks noChangeArrowheads="1"/>
            </p:cNvSpPr>
            <p:nvPr/>
          </p:nvSpPr>
          <p:spPr bwMode="auto">
            <a:xfrm>
              <a:off x="5877944" y="503846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202</a:t>
              </a:r>
              <a:endParaRPr lang="en-US" altLang="en-US"/>
            </a:p>
          </p:txBody>
        </p:sp>
        <p:sp>
          <p:nvSpPr>
            <p:cNvPr id="18485" name="TextBox 35"/>
            <p:cNvSpPr txBox="1">
              <a:spLocks noChangeArrowheads="1"/>
            </p:cNvSpPr>
            <p:nvPr/>
          </p:nvSpPr>
          <p:spPr bwMode="auto">
            <a:xfrm>
              <a:off x="5875011" y="4680717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203</a:t>
              </a:r>
              <a:endParaRPr lang="en-US" altLang="en-US"/>
            </a:p>
          </p:txBody>
        </p:sp>
        <p:sp>
          <p:nvSpPr>
            <p:cNvPr id="18486" name="TextBox 36"/>
            <p:cNvSpPr txBox="1">
              <a:spLocks noChangeArrowheads="1"/>
            </p:cNvSpPr>
            <p:nvPr/>
          </p:nvSpPr>
          <p:spPr bwMode="auto">
            <a:xfrm>
              <a:off x="5877944" y="4330606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204</a:t>
              </a:r>
              <a:endParaRPr lang="en-US" altLang="en-US"/>
            </a:p>
          </p:txBody>
        </p:sp>
        <p:sp>
          <p:nvSpPr>
            <p:cNvPr id="18487" name="TextBox 37"/>
            <p:cNvSpPr txBox="1">
              <a:spLocks noChangeArrowheads="1"/>
            </p:cNvSpPr>
            <p:nvPr/>
          </p:nvSpPr>
          <p:spPr bwMode="auto">
            <a:xfrm>
              <a:off x="5881299" y="3967320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205</a:t>
              </a:r>
              <a:endParaRPr lang="en-US" altLang="en-US"/>
            </a:p>
          </p:txBody>
        </p:sp>
        <p:sp>
          <p:nvSpPr>
            <p:cNvPr id="18488" name="TextBox 38"/>
            <p:cNvSpPr txBox="1">
              <a:spLocks noChangeArrowheads="1"/>
            </p:cNvSpPr>
            <p:nvPr/>
          </p:nvSpPr>
          <p:spPr bwMode="auto">
            <a:xfrm>
              <a:off x="5881299" y="3573016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206</a:t>
              </a:r>
              <a:endParaRPr lang="en-US" alt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443255" y="2860751"/>
              <a:ext cx="2016159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443255" y="5729809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491" name="TextBox 44"/>
            <p:cNvSpPr txBox="1">
              <a:spLocks noChangeArrowheads="1"/>
            </p:cNvSpPr>
            <p:nvPr/>
          </p:nvSpPr>
          <p:spPr bwMode="auto">
            <a:xfrm>
              <a:off x="5873332" y="3204014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207</a:t>
              </a:r>
              <a:endParaRPr lang="en-US" altLang="en-US"/>
            </a:p>
          </p:txBody>
        </p:sp>
        <p:sp>
          <p:nvSpPr>
            <p:cNvPr id="18492" name="TextBox 45"/>
            <p:cNvSpPr txBox="1">
              <a:spLocks noChangeArrowheads="1"/>
            </p:cNvSpPr>
            <p:nvPr/>
          </p:nvSpPr>
          <p:spPr bwMode="auto">
            <a:xfrm>
              <a:off x="5873332" y="2809710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208</a:t>
              </a:r>
              <a:endParaRPr lang="en-US" altLang="en-US"/>
            </a:p>
          </p:txBody>
        </p:sp>
      </p:grpSp>
      <p:grpSp>
        <p:nvGrpSpPr>
          <p:cNvPr id="24" name="Group 23"/>
          <p:cNvGrpSpPr/>
          <p:nvPr/>
        </p:nvGrpSpPr>
        <p:grpSpPr bwMode="auto">
          <a:xfrm>
            <a:off x="6442075" y="4679950"/>
            <a:ext cx="2016125" cy="1409700"/>
            <a:chOff x="6442719" y="4680717"/>
            <a:chExt cx="2016224" cy="1409359"/>
          </a:xfrm>
        </p:grpSpPr>
        <p:sp>
          <p:nvSpPr>
            <p:cNvPr id="22" name="Rectangle 21"/>
            <p:cNvSpPr/>
            <p:nvPr/>
          </p:nvSpPr>
          <p:spPr>
            <a:xfrm>
              <a:off x="6442719" y="4680717"/>
              <a:ext cx="2016224" cy="1409359"/>
            </a:xfrm>
            <a:prstGeom prst="rect">
              <a:avLst/>
            </a:prstGeom>
            <a:solidFill>
              <a:srgbClr val="FFFDA9">
                <a:alpha val="5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464" name="Rectangle 22"/>
            <p:cNvSpPr>
              <a:spLocks noChangeArrowheads="1"/>
            </p:cNvSpPr>
            <p:nvPr/>
          </p:nvSpPr>
          <p:spPr bwMode="auto">
            <a:xfrm>
              <a:off x="6710984" y="5089751"/>
              <a:ext cx="165942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en-US" sz="2400">
                  <a:solidFill>
                    <a:srgbClr val="FF0000"/>
                  </a:solidFill>
                  <a:latin typeface="Monaco"/>
                  <a:ea typeface="Mangal" panose="02040503050203030202" pitchFamily="18" charset="0"/>
                </a:rPr>
                <a:t>var</a:t>
              </a:r>
              <a:r>
                <a:rPr lang="zh-CN" altLang="en-US" sz="2400">
                  <a:solidFill>
                    <a:srgbClr val="FF0000"/>
                  </a:solidFill>
                  <a:latin typeface="Monaco"/>
                </a:rPr>
                <a:t> </a:t>
              </a:r>
              <a:r>
                <a:rPr lang="en-US" altLang="zh-CN" sz="2400">
                  <a:solidFill>
                    <a:srgbClr val="FF0000"/>
                  </a:solidFill>
                  <a:latin typeface="Monaco"/>
                </a:rPr>
                <a:t>=</a:t>
              </a:r>
              <a:r>
                <a:rPr lang="zh-CN" altLang="en-US" sz="2400">
                  <a:solidFill>
                    <a:srgbClr val="FF0000"/>
                  </a:solidFill>
                  <a:latin typeface="Monaco"/>
                </a:rPr>
                <a:t> </a:t>
              </a:r>
              <a:r>
                <a:rPr lang="en-US" altLang="zh-CN" sz="2400">
                  <a:solidFill>
                    <a:srgbClr val="FF0000"/>
                  </a:solidFill>
                  <a:latin typeface="Monaco"/>
                </a:rPr>
                <a:t>10</a:t>
              </a:r>
              <a:endParaRPr lang="en-US" altLang="en-US" sz="240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776413" y="5516563"/>
          <a:ext cx="3695700" cy="1104900"/>
        </p:xfrm>
        <a:graphic>
          <a:graphicData uri="http://schemas.openxmlformats.org/drawingml/2006/table">
            <a:tbl>
              <a:tblPr/>
              <a:tblGrid>
                <a:gridCol w="1231900"/>
                <a:gridCol w="1231900"/>
                <a:gridCol w="1231900"/>
              </a:tblGrid>
              <a:tr h="3683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变量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地址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取值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/>
                    </a:solidFill>
                  </a:tcPr>
                </a:tc>
              </a:tr>
              <a:tr h="3683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var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200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10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7D1"/>
                    </a:solidFill>
                  </a:tcPr>
                </a:tc>
              </a:tr>
              <a:tr h="3683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  <a:cs typeface="Mangal" panose="02040503050203030202" pitchFamily="18" charset="0"/>
                        </a:rPr>
                        <a:t>…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  <a:cs typeface="Mangal" panose="02040503050203030202" pitchFamily="18" charset="0"/>
                        </a:rPr>
                        <a:t>…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  <a:cs typeface="Mangal" panose="02040503050203030202" pitchFamily="18" charset="0"/>
                        </a:rPr>
                        <a:t>…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3EA"/>
                    </a:solidFill>
                  </a:tcPr>
                </a:tc>
              </a:tr>
            </a:tbl>
          </a:graphicData>
        </a:graphic>
      </p:graphicFrame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1776413" y="5086350"/>
            <a:ext cx="35036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Lookup</a:t>
            </a:r>
            <a:r>
              <a:rPr lang="zh-CN" altLang="en-US"/>
              <a:t> </a:t>
            </a:r>
            <a:r>
              <a:rPr lang="en-US" altLang="zh-CN"/>
              <a:t>Table</a:t>
            </a:r>
            <a:endParaRPr lang="en-US" altLang="en-US"/>
          </a:p>
        </p:txBody>
      </p:sp>
      <p:sp>
        <p:nvSpPr>
          <p:cNvPr id="42" name="Rectangle 41"/>
          <p:cNvSpPr/>
          <p:nvPr/>
        </p:nvSpPr>
        <p:spPr>
          <a:xfrm>
            <a:off x="6446838" y="2860675"/>
            <a:ext cx="2016125" cy="1409700"/>
          </a:xfrm>
          <a:prstGeom prst="rect">
            <a:avLst/>
          </a:prstGeom>
          <a:solidFill>
            <a:srgbClr val="FFFDA9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6897688" y="3278188"/>
            <a:ext cx="11064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Monaco"/>
              </a:rPr>
              <a:t>p</a:t>
            </a:r>
            <a:r>
              <a:rPr lang="zh-CN" altLang="en-US" sz="24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4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Monaco"/>
              </a:rPr>
              <a:t>?</a:t>
            </a:r>
            <a:endParaRPr lang="en-US" altLang="en-US" sz="2400">
              <a:solidFill>
                <a:srgbClr val="FF0000"/>
              </a:solidFill>
            </a:endParaRPr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6897688" y="3268663"/>
            <a:ext cx="14747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Monaco"/>
              </a:rPr>
              <a:t>p</a:t>
            </a:r>
            <a:r>
              <a:rPr lang="zh-CN" altLang="en-US" sz="24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4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Monaco"/>
              </a:rPr>
              <a:t>200</a:t>
            </a:r>
            <a:endParaRPr lang="en-US" altLang="en-US" sz="2400">
              <a:solidFill>
                <a:srgbClr val="FF0000"/>
              </a:solidFill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417128" y="3429000"/>
            <a:ext cx="556807" cy="2520952"/>
            <a:chOff x="8417128" y="3429000"/>
            <a:chExt cx="556807" cy="2520952"/>
          </a:xfrm>
        </p:grpSpPr>
        <p:cxnSp>
          <p:nvCxnSpPr>
            <p:cNvPr id="18" name="Elbow Connector 17"/>
            <p:cNvCxnSpPr>
              <a:cxnSpLocks noChangeShapeType="1"/>
            </p:cNvCxnSpPr>
            <p:nvPr/>
          </p:nvCxnSpPr>
          <p:spPr bwMode="auto">
            <a:xfrm rot="10800000">
              <a:off x="8417128" y="5949951"/>
              <a:ext cx="556807" cy="1"/>
            </a:xfrm>
            <a:prstGeom prst="bentConnector3">
              <a:avLst>
                <a:gd name="adj1" fmla="val 50000"/>
              </a:avLst>
            </a:prstGeom>
            <a:ln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8458200" y="3429000"/>
              <a:ext cx="47625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934450" y="3429000"/>
              <a:ext cx="0" cy="2480469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6" name="Content Placeholder 6"/>
          <p:cNvSpPr>
            <a:spLocks noGrp="1"/>
          </p:cNvSpPr>
          <p:nvPr>
            <p:ph idx="1"/>
          </p:nvPr>
        </p:nvSpPr>
        <p:spPr>
          <a:xfrm>
            <a:off x="432000" y="1188000"/>
            <a:ext cx="8280000" cy="4351338"/>
          </a:xfrm>
        </p:spPr>
        <p:txBody>
          <a:bodyPr/>
          <a:lstStyle/>
          <a:p>
            <a:r>
              <a:rPr lang="zh-CN" altLang="en-US" sz="2800" dirty="0"/>
              <a:t>指针：存储</a:t>
            </a:r>
            <a:r>
              <a:rPr lang="zh-CN" altLang="en-US" sz="2800" dirty="0">
                <a:solidFill>
                  <a:srgbClr val="C00000"/>
                </a:solidFill>
              </a:rPr>
              <a:t>其它变量地址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0000CC"/>
                </a:solidFill>
              </a:rPr>
              <a:t>变量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  <p:bldP spid="47" grpId="0"/>
      <p:bldP spid="47" grpId="1"/>
      <p:bldP spid="4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</a:rPr>
              <a:t>ereferenc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ing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用指针访问变量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间接访问机制</a:t>
            </a:r>
            <a:endParaRPr lang="en-US" altLang="zh-CN" sz="2800" dirty="0"/>
          </a:p>
          <a:p>
            <a:pPr lvl="1"/>
            <a:r>
              <a:rPr lang="zh-CN" altLang="en-US" sz="2400" dirty="0"/>
              <a:t>使用指针 </a:t>
            </a:r>
            <a:r>
              <a:rPr lang="en-US" altLang="zh-CN" sz="2400" dirty="0"/>
              <a:t>a)</a:t>
            </a:r>
            <a:r>
              <a:rPr lang="zh-CN" altLang="en-US" sz="2400" dirty="0"/>
              <a:t> 获取变量的值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/>
              <a:t>b)</a:t>
            </a:r>
            <a:r>
              <a:rPr lang="zh-CN" altLang="en-US" sz="2400" dirty="0"/>
              <a:t> 修改变量的值</a:t>
            </a:r>
            <a:endParaRPr lang="en-US" altLang="zh-CN" sz="2400" dirty="0"/>
          </a:p>
          <a:p>
            <a:pPr lvl="1"/>
            <a:r>
              <a:rPr lang="zh-CN" altLang="en-US" sz="2400" dirty="0"/>
              <a:t>操作符： </a:t>
            </a:r>
            <a:r>
              <a:rPr lang="zh-CN" altLang="en-US" sz="2400" dirty="0">
                <a:solidFill>
                  <a:srgbClr val="FF0000"/>
                </a:solidFill>
              </a:rPr>
              <a:t>*</a:t>
            </a:r>
            <a:endParaRPr lang="en-US" altLang="en-US" sz="2400" dirty="0">
              <a:ea typeface="华文中宋" panose="0201060004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2048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E0A939-358B-4BDA-AAA3-84C67230695F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377950" y="2944813"/>
            <a:ext cx="4130675" cy="242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565"/>
              </a:lnSpc>
            </a:pPr>
            <a:r>
              <a:rPr lang="en-US" altLang="en-US">
                <a:solidFill>
                  <a:srgbClr val="7F0055"/>
                </a:solidFill>
                <a:latin typeface="Monaco"/>
                <a:ea typeface="Mangal" panose="02040503050203030202" pitchFamily="18" charset="0"/>
              </a:rPr>
              <a:t>int</a:t>
            </a:r>
            <a:r>
              <a:rPr lang="en-US" altLang="en-US">
                <a:latin typeface="Monaco"/>
                <a:ea typeface="Mangal" panose="02040503050203030202" pitchFamily="18" charset="0"/>
              </a:rPr>
              <a:t> main () {</a:t>
            </a:r>
            <a:endParaRPr lang="en-US" altLang="en-US"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zh-CN" altLang="en-US">
                <a:solidFill>
                  <a:srgbClr val="7F0055"/>
                </a:solidFill>
                <a:latin typeface="Monaco"/>
              </a:rPr>
              <a:t>  </a:t>
            </a:r>
            <a:r>
              <a:rPr lang="en-US" altLang="en-US">
                <a:solidFill>
                  <a:srgbClr val="7F0055"/>
                </a:solidFill>
                <a:latin typeface="Monaco"/>
                <a:ea typeface="Mangal" panose="02040503050203030202" pitchFamily="18" charset="0"/>
              </a:rPr>
              <a:t>int</a:t>
            </a:r>
            <a:r>
              <a:rPr lang="en-US" altLang="en-US">
                <a:solidFill>
                  <a:srgbClr val="000000"/>
                </a:solidFill>
                <a:latin typeface="Monaco"/>
                <a:ea typeface="Mangal" panose="02040503050203030202" pitchFamily="18" charset="0"/>
              </a:rPr>
              <a:t> var; 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// 声明整型变量</a:t>
            </a:r>
            <a:endParaRPr lang="en-US" altLang="en-US">
              <a:solidFill>
                <a:srgbClr val="3F7F5F"/>
              </a:solidFill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zh-CN" altLang="en-US">
                <a:latin typeface="Monaco"/>
              </a:rPr>
              <a:t>  </a:t>
            </a:r>
            <a:r>
              <a:rPr lang="en-US" altLang="en-US">
                <a:latin typeface="Monaco"/>
                <a:ea typeface="Mangal" panose="02040503050203030202" pitchFamily="18" charset="0"/>
              </a:rPr>
              <a:t>var = 10; 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// 赋值</a:t>
            </a:r>
            <a:endParaRPr lang="en-US" altLang="en-US"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zh-CN" altLang="en-US">
                <a:solidFill>
                  <a:srgbClr val="7F0055"/>
                </a:solidFill>
                <a:latin typeface="Monaco"/>
              </a:rPr>
              <a:t>  </a:t>
            </a:r>
            <a:r>
              <a:rPr lang="en-US" altLang="en-US">
                <a:solidFill>
                  <a:srgbClr val="7F0055"/>
                </a:solidFill>
                <a:latin typeface="Monaco"/>
                <a:ea typeface="Mangal" panose="02040503050203030202" pitchFamily="18" charset="0"/>
              </a:rPr>
              <a:t>int</a:t>
            </a:r>
            <a:r>
              <a:rPr lang="en-US" altLang="en-US">
                <a:solidFill>
                  <a:srgbClr val="000000"/>
                </a:solidFill>
                <a:latin typeface="Monaco"/>
                <a:ea typeface="Mangal" panose="02040503050203030202" pitchFamily="18" charset="0"/>
              </a:rPr>
              <a:t> *p; 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// 声明整型指针</a:t>
            </a:r>
            <a:endParaRPr lang="en-US" altLang="en-US">
              <a:solidFill>
                <a:srgbClr val="3F7F5F"/>
              </a:solidFill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zh-CN" altLang="en-US">
                <a:solidFill>
                  <a:srgbClr val="000000"/>
                </a:solidFill>
                <a:latin typeface="Monaco"/>
              </a:rPr>
              <a:t>  </a:t>
            </a:r>
            <a:r>
              <a:rPr lang="en-US" altLang="en-US">
                <a:solidFill>
                  <a:srgbClr val="000000"/>
                </a:solidFill>
                <a:latin typeface="Monaco"/>
                <a:ea typeface="Mangal" panose="02040503050203030202" pitchFamily="18" charset="0"/>
              </a:rPr>
              <a:t>p = &amp;var; 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// 为指针赋值</a:t>
            </a:r>
            <a:r>
              <a:rPr lang="en-US" altLang="en-US" u="sng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var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地址</a:t>
            </a:r>
            <a:endParaRPr lang="en-US" altLang="en-US">
              <a:solidFill>
                <a:srgbClr val="3F7F5F"/>
              </a:solidFill>
              <a:latin typeface="Monaco"/>
            </a:endParaRPr>
          </a:p>
          <a:p>
            <a:pPr>
              <a:lnSpc>
                <a:spcPts val="2565"/>
              </a:lnSpc>
            </a:pPr>
            <a:r>
              <a:rPr lang="zh-CN" altLang="en-US">
                <a:solidFill>
                  <a:srgbClr val="3F7F5F"/>
                </a:solidFill>
                <a:latin typeface="Monaco"/>
              </a:rPr>
              <a:t>  </a:t>
            </a:r>
            <a:r>
              <a:rPr lang="zh-CN" altLang="en-US">
                <a:solidFill>
                  <a:srgbClr val="FF0000"/>
                </a:solidFill>
                <a:latin typeface="Monaco"/>
              </a:rPr>
              <a:t>*</a:t>
            </a:r>
            <a:r>
              <a:rPr lang="en-US" altLang="zh-CN">
                <a:solidFill>
                  <a:srgbClr val="FF0000"/>
                </a:solidFill>
                <a:latin typeface="Monaco"/>
              </a:rPr>
              <a:t>p</a:t>
            </a:r>
            <a:r>
              <a:rPr lang="zh-CN" altLang="en-US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Monaco"/>
              </a:rPr>
              <a:t>12;</a:t>
            </a:r>
            <a:r>
              <a:rPr lang="zh-CN" altLang="en-US">
                <a:solidFill>
                  <a:srgbClr val="000000"/>
                </a:solidFill>
                <a:latin typeface="Monaco"/>
              </a:rPr>
              <a:t> 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// </a:t>
            </a:r>
            <a:r>
              <a:rPr lang="en-US" altLang="zh-CN">
                <a:solidFill>
                  <a:srgbClr val="3F7F5F"/>
                </a:solidFill>
                <a:latin typeface="Monaco"/>
              </a:rPr>
              <a:t>Dereferencing</a:t>
            </a:r>
            <a:endParaRPr lang="en-US" altLang="en-US">
              <a:solidFill>
                <a:srgbClr val="000000"/>
              </a:solidFill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en-US" altLang="en-US">
                <a:latin typeface="Monaco"/>
                <a:ea typeface="Mangal" panose="02040503050203030202" pitchFamily="18" charset="0"/>
              </a:rPr>
              <a:t>}</a:t>
            </a:r>
            <a:endParaRPr lang="en-US" altLang="en-US">
              <a:latin typeface="Monaco"/>
              <a:ea typeface="Mangal" panose="02040503050203030202" pitchFamily="18" charset="0"/>
            </a:endParaRPr>
          </a:p>
        </p:txBody>
      </p:sp>
      <p:grpSp>
        <p:nvGrpSpPr>
          <p:cNvPr id="20486" name="Group 6"/>
          <p:cNvGrpSpPr/>
          <p:nvPr/>
        </p:nvGrpSpPr>
        <p:grpSpPr bwMode="auto">
          <a:xfrm>
            <a:off x="5873750" y="2371725"/>
            <a:ext cx="2659063" cy="4187825"/>
            <a:chOff x="5873332" y="2371725"/>
            <a:chExt cx="2659108" cy="4188475"/>
          </a:xfrm>
        </p:grpSpPr>
        <p:sp>
          <p:nvSpPr>
            <p:cNvPr id="8" name="Rectangle 7"/>
            <p:cNvSpPr/>
            <p:nvPr/>
          </p:nvSpPr>
          <p:spPr>
            <a:xfrm>
              <a:off x="6443255" y="2522561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443255" y="3213231"/>
              <a:ext cx="2016159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43255" y="3573650"/>
              <a:ext cx="2016159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43255" y="3932480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443255" y="4296074"/>
              <a:ext cx="2016159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43255" y="4654904"/>
              <a:ext cx="2016159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43255" y="5012148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443255" y="5370978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443255" y="6090227"/>
              <a:ext cx="2016159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6371815" y="2522561"/>
              <a:ext cx="2160625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371815" y="6450646"/>
              <a:ext cx="2160625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Up Arrow 18"/>
            <p:cNvSpPr/>
            <p:nvPr/>
          </p:nvSpPr>
          <p:spPr>
            <a:xfrm>
              <a:off x="7198804" y="2371725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Up Arrow 19"/>
            <p:cNvSpPr/>
            <p:nvPr/>
          </p:nvSpPr>
          <p:spPr>
            <a:xfrm rot="10800000">
              <a:off x="7198804" y="6237312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510" name="TextBox 20"/>
            <p:cNvSpPr txBox="1">
              <a:spLocks noChangeArrowheads="1"/>
            </p:cNvSpPr>
            <p:nvPr/>
          </p:nvSpPr>
          <p:spPr bwMode="auto">
            <a:xfrm>
              <a:off x="5873333" y="5752309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200</a:t>
              </a:r>
              <a:endParaRPr lang="en-US" altLang="en-US"/>
            </a:p>
          </p:txBody>
        </p:sp>
        <p:sp>
          <p:nvSpPr>
            <p:cNvPr id="20511" name="TextBox 21"/>
            <p:cNvSpPr txBox="1">
              <a:spLocks noChangeArrowheads="1"/>
            </p:cNvSpPr>
            <p:nvPr/>
          </p:nvSpPr>
          <p:spPr bwMode="auto">
            <a:xfrm>
              <a:off x="5873333" y="540245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201</a:t>
              </a:r>
              <a:endParaRPr lang="en-US" altLang="en-US"/>
            </a:p>
          </p:txBody>
        </p:sp>
        <p:sp>
          <p:nvSpPr>
            <p:cNvPr id="20512" name="TextBox 22"/>
            <p:cNvSpPr txBox="1">
              <a:spLocks noChangeArrowheads="1"/>
            </p:cNvSpPr>
            <p:nvPr/>
          </p:nvSpPr>
          <p:spPr bwMode="auto">
            <a:xfrm>
              <a:off x="5877944" y="503846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202</a:t>
              </a:r>
              <a:endParaRPr lang="en-US" altLang="en-US"/>
            </a:p>
          </p:txBody>
        </p:sp>
        <p:sp>
          <p:nvSpPr>
            <p:cNvPr id="20513" name="TextBox 23"/>
            <p:cNvSpPr txBox="1">
              <a:spLocks noChangeArrowheads="1"/>
            </p:cNvSpPr>
            <p:nvPr/>
          </p:nvSpPr>
          <p:spPr bwMode="auto">
            <a:xfrm>
              <a:off x="5875011" y="4680717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203</a:t>
              </a:r>
              <a:endParaRPr lang="en-US" altLang="en-US"/>
            </a:p>
          </p:txBody>
        </p:sp>
        <p:sp>
          <p:nvSpPr>
            <p:cNvPr id="20514" name="TextBox 24"/>
            <p:cNvSpPr txBox="1">
              <a:spLocks noChangeArrowheads="1"/>
            </p:cNvSpPr>
            <p:nvPr/>
          </p:nvSpPr>
          <p:spPr bwMode="auto">
            <a:xfrm>
              <a:off x="5877944" y="4330606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204</a:t>
              </a:r>
              <a:endParaRPr lang="en-US" altLang="en-US"/>
            </a:p>
          </p:txBody>
        </p:sp>
        <p:sp>
          <p:nvSpPr>
            <p:cNvPr id="20515" name="TextBox 25"/>
            <p:cNvSpPr txBox="1">
              <a:spLocks noChangeArrowheads="1"/>
            </p:cNvSpPr>
            <p:nvPr/>
          </p:nvSpPr>
          <p:spPr bwMode="auto">
            <a:xfrm>
              <a:off x="5881299" y="3967320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205</a:t>
              </a:r>
              <a:endParaRPr lang="en-US" altLang="en-US"/>
            </a:p>
          </p:txBody>
        </p:sp>
        <p:sp>
          <p:nvSpPr>
            <p:cNvPr id="20516" name="TextBox 26"/>
            <p:cNvSpPr txBox="1">
              <a:spLocks noChangeArrowheads="1"/>
            </p:cNvSpPr>
            <p:nvPr/>
          </p:nvSpPr>
          <p:spPr bwMode="auto">
            <a:xfrm>
              <a:off x="5881299" y="3573016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206</a:t>
              </a:r>
              <a:endParaRPr lang="en-US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443255" y="2860751"/>
              <a:ext cx="2016159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443255" y="5729809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519" name="TextBox 29"/>
            <p:cNvSpPr txBox="1">
              <a:spLocks noChangeArrowheads="1"/>
            </p:cNvSpPr>
            <p:nvPr/>
          </p:nvSpPr>
          <p:spPr bwMode="auto">
            <a:xfrm>
              <a:off x="5873332" y="3204014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207</a:t>
              </a:r>
              <a:endParaRPr lang="en-US" altLang="en-US"/>
            </a:p>
          </p:txBody>
        </p:sp>
        <p:sp>
          <p:nvSpPr>
            <p:cNvPr id="20520" name="TextBox 30"/>
            <p:cNvSpPr txBox="1">
              <a:spLocks noChangeArrowheads="1"/>
            </p:cNvSpPr>
            <p:nvPr/>
          </p:nvSpPr>
          <p:spPr bwMode="auto">
            <a:xfrm>
              <a:off x="5873332" y="2809710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208</a:t>
              </a:r>
              <a:endParaRPr lang="en-US" altLang="en-US"/>
            </a:p>
          </p:txBody>
        </p:sp>
      </p:grpSp>
      <p:sp>
        <p:nvSpPr>
          <p:cNvPr id="33" name="Rectangle 32"/>
          <p:cNvSpPr/>
          <p:nvPr/>
        </p:nvSpPr>
        <p:spPr>
          <a:xfrm>
            <a:off x="6442075" y="4679950"/>
            <a:ext cx="2016125" cy="1409700"/>
          </a:xfrm>
          <a:prstGeom prst="rect">
            <a:avLst/>
          </a:prstGeom>
          <a:solidFill>
            <a:srgbClr val="FFFDA9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6710363" y="5089525"/>
            <a:ext cx="1660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Monaco"/>
                <a:ea typeface="Mangal" panose="02040503050203030202" pitchFamily="18" charset="0"/>
              </a:rPr>
              <a:t>var</a:t>
            </a:r>
            <a:r>
              <a:rPr lang="zh-CN" altLang="en-US" sz="24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4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Monaco"/>
              </a:rPr>
              <a:t>10</a:t>
            </a:r>
            <a:endParaRPr lang="en-US" altLang="en-US" sz="240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446838" y="2860675"/>
            <a:ext cx="2016125" cy="1409700"/>
          </a:xfrm>
          <a:prstGeom prst="rect">
            <a:avLst/>
          </a:prstGeom>
          <a:solidFill>
            <a:srgbClr val="FFFDA9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90" name="Rectangle 36"/>
          <p:cNvSpPr>
            <a:spLocks noChangeArrowheads="1"/>
          </p:cNvSpPr>
          <p:nvPr/>
        </p:nvSpPr>
        <p:spPr bwMode="auto">
          <a:xfrm>
            <a:off x="6897688" y="3255963"/>
            <a:ext cx="14747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Monaco"/>
              </a:rPr>
              <a:t>p</a:t>
            </a:r>
            <a:r>
              <a:rPr lang="zh-CN" altLang="en-US" sz="24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4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Monaco"/>
              </a:rPr>
              <a:t>200</a:t>
            </a:r>
            <a:endParaRPr lang="en-US" altLang="en-US" sz="2400">
              <a:solidFill>
                <a:srgbClr val="FF0000"/>
              </a:solidFill>
            </a:endParaRP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6710363" y="5084763"/>
            <a:ext cx="166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Monaco"/>
                <a:ea typeface="Mangal" panose="02040503050203030202" pitchFamily="18" charset="0"/>
              </a:rPr>
              <a:t>var</a:t>
            </a:r>
            <a:r>
              <a:rPr lang="zh-CN" altLang="en-US" sz="24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4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Monaco"/>
              </a:rPr>
              <a:t>12</a:t>
            </a:r>
            <a:endParaRPr lang="en-US" altLang="en-US" sz="2400">
              <a:solidFill>
                <a:srgbClr val="FF0000"/>
              </a:solidFill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8417128" y="3429000"/>
            <a:ext cx="556807" cy="2520952"/>
            <a:chOff x="8417128" y="3429000"/>
            <a:chExt cx="556807" cy="2520952"/>
          </a:xfrm>
        </p:grpSpPr>
        <p:cxnSp>
          <p:nvCxnSpPr>
            <p:cNvPr id="41" name="Elbow Connector 17"/>
            <p:cNvCxnSpPr>
              <a:cxnSpLocks noChangeShapeType="1"/>
            </p:cNvCxnSpPr>
            <p:nvPr/>
          </p:nvCxnSpPr>
          <p:spPr bwMode="auto">
            <a:xfrm rot="10800000">
              <a:off x="8417128" y="5949951"/>
              <a:ext cx="556807" cy="1"/>
            </a:xfrm>
            <a:prstGeom prst="bentConnector3">
              <a:avLst>
                <a:gd name="adj1" fmla="val 50000"/>
              </a:avLst>
            </a:prstGeom>
            <a:ln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8458200" y="3429000"/>
              <a:ext cx="47625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8934450" y="3429000"/>
              <a:ext cx="0" cy="2480469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</a:rPr>
              <a:t>ereferenc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ing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用指针访问变量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3DE956C-9E1A-4129-8FA3-CF59280736D0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377950" y="2944813"/>
            <a:ext cx="4130675" cy="276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565"/>
              </a:lnSpc>
            </a:pPr>
            <a:r>
              <a:rPr lang="en-US" altLang="en-US">
                <a:solidFill>
                  <a:srgbClr val="7F0055"/>
                </a:solidFill>
                <a:latin typeface="Monaco"/>
                <a:ea typeface="Mangal" panose="02040503050203030202" pitchFamily="18" charset="0"/>
              </a:rPr>
              <a:t>int</a:t>
            </a:r>
            <a:r>
              <a:rPr lang="en-US" altLang="en-US">
                <a:latin typeface="Monaco"/>
                <a:ea typeface="Mangal" panose="02040503050203030202" pitchFamily="18" charset="0"/>
              </a:rPr>
              <a:t> main () {</a:t>
            </a:r>
            <a:endParaRPr lang="en-US" altLang="en-US"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zh-CN" altLang="en-US">
                <a:solidFill>
                  <a:srgbClr val="7F0055"/>
                </a:solidFill>
                <a:latin typeface="Monaco"/>
              </a:rPr>
              <a:t>  </a:t>
            </a:r>
            <a:r>
              <a:rPr lang="en-US" altLang="en-US">
                <a:solidFill>
                  <a:srgbClr val="7F0055"/>
                </a:solidFill>
                <a:latin typeface="Monaco"/>
                <a:ea typeface="Mangal" panose="02040503050203030202" pitchFamily="18" charset="0"/>
              </a:rPr>
              <a:t>int</a:t>
            </a:r>
            <a:r>
              <a:rPr lang="en-US" altLang="en-US">
                <a:solidFill>
                  <a:srgbClr val="000000"/>
                </a:solidFill>
                <a:latin typeface="Monaco"/>
                <a:ea typeface="Mangal" panose="02040503050203030202" pitchFamily="18" charset="0"/>
              </a:rPr>
              <a:t> var; 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// 声明整型变量</a:t>
            </a:r>
            <a:endParaRPr lang="en-US" altLang="en-US">
              <a:solidFill>
                <a:srgbClr val="3F7F5F"/>
              </a:solidFill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zh-CN" altLang="en-US">
                <a:latin typeface="Monaco"/>
              </a:rPr>
              <a:t>  </a:t>
            </a:r>
            <a:r>
              <a:rPr lang="en-US" altLang="en-US">
                <a:latin typeface="Monaco"/>
                <a:ea typeface="Mangal" panose="02040503050203030202" pitchFamily="18" charset="0"/>
              </a:rPr>
              <a:t>var = 10; 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// 赋值</a:t>
            </a:r>
            <a:endParaRPr lang="en-US" altLang="en-US"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zh-CN" altLang="en-US">
                <a:solidFill>
                  <a:srgbClr val="7F0055"/>
                </a:solidFill>
                <a:latin typeface="Monaco"/>
              </a:rPr>
              <a:t>  </a:t>
            </a:r>
            <a:r>
              <a:rPr lang="en-US" altLang="en-US">
                <a:solidFill>
                  <a:srgbClr val="7F0055"/>
                </a:solidFill>
                <a:latin typeface="Monaco"/>
                <a:ea typeface="Mangal" panose="02040503050203030202" pitchFamily="18" charset="0"/>
              </a:rPr>
              <a:t>int</a:t>
            </a:r>
            <a:r>
              <a:rPr lang="en-US" altLang="en-US">
                <a:solidFill>
                  <a:srgbClr val="000000"/>
                </a:solidFill>
                <a:latin typeface="Monaco"/>
                <a:ea typeface="Mangal" panose="02040503050203030202" pitchFamily="18" charset="0"/>
              </a:rPr>
              <a:t> *p; 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// 声明整型指针</a:t>
            </a:r>
            <a:endParaRPr lang="en-US" altLang="en-US">
              <a:solidFill>
                <a:srgbClr val="3F7F5F"/>
              </a:solidFill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zh-CN" altLang="en-US">
                <a:solidFill>
                  <a:srgbClr val="000000"/>
                </a:solidFill>
                <a:latin typeface="Monaco"/>
              </a:rPr>
              <a:t>  </a:t>
            </a:r>
            <a:r>
              <a:rPr lang="en-US" altLang="en-US">
                <a:solidFill>
                  <a:srgbClr val="000000"/>
                </a:solidFill>
                <a:latin typeface="Monaco"/>
                <a:ea typeface="Mangal" panose="02040503050203030202" pitchFamily="18" charset="0"/>
              </a:rPr>
              <a:t>p = &amp;var; 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// 为指针赋值</a:t>
            </a:r>
            <a:r>
              <a:rPr lang="en-US" altLang="en-US" u="sng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var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地址</a:t>
            </a:r>
            <a:endParaRPr lang="en-US" altLang="en-US">
              <a:solidFill>
                <a:srgbClr val="3F7F5F"/>
              </a:solidFill>
              <a:latin typeface="Monaco"/>
            </a:endParaRPr>
          </a:p>
          <a:p>
            <a:pPr>
              <a:lnSpc>
                <a:spcPts val="2565"/>
              </a:lnSpc>
            </a:pPr>
            <a:r>
              <a:rPr lang="zh-CN" altLang="en-US">
                <a:solidFill>
                  <a:srgbClr val="3F7F5F"/>
                </a:solidFill>
                <a:latin typeface="Monaco"/>
              </a:rPr>
              <a:t>  </a:t>
            </a:r>
            <a:r>
              <a:rPr lang="en-US" altLang="zh-CN">
                <a:latin typeface="Monaco"/>
              </a:rPr>
              <a:t>int</a:t>
            </a:r>
            <a:r>
              <a:rPr lang="zh-CN" altLang="en-US">
                <a:latin typeface="Monaco"/>
              </a:rPr>
              <a:t> </a:t>
            </a:r>
            <a:r>
              <a:rPr lang="en-US" altLang="zh-CN">
                <a:latin typeface="Monaco"/>
              </a:rPr>
              <a:t>b</a:t>
            </a:r>
            <a:r>
              <a:rPr lang="zh-CN" altLang="en-US">
                <a:latin typeface="Monaco"/>
              </a:rPr>
              <a:t> </a:t>
            </a:r>
            <a:r>
              <a:rPr lang="en-US" altLang="zh-CN">
                <a:latin typeface="Monaco"/>
              </a:rPr>
              <a:t>=</a:t>
            </a:r>
            <a:r>
              <a:rPr lang="zh-CN" altLang="en-US">
                <a:latin typeface="Monaco"/>
              </a:rPr>
              <a:t> </a:t>
            </a:r>
            <a:r>
              <a:rPr lang="en-US" altLang="zh-CN">
                <a:latin typeface="Monaco"/>
              </a:rPr>
              <a:t>20;</a:t>
            </a:r>
            <a:endParaRPr lang="en-US" altLang="zh-CN">
              <a:latin typeface="Monaco"/>
            </a:endParaRPr>
          </a:p>
          <a:p>
            <a:pPr>
              <a:lnSpc>
                <a:spcPts val="2565"/>
              </a:lnSpc>
            </a:pPr>
            <a:r>
              <a:rPr lang="zh-CN" altLang="en-US">
                <a:solidFill>
                  <a:srgbClr val="3F7F5F"/>
                </a:solidFill>
                <a:latin typeface="Monaco"/>
              </a:rPr>
              <a:t>  </a:t>
            </a:r>
            <a:r>
              <a:rPr lang="zh-CN" altLang="en-US">
                <a:solidFill>
                  <a:srgbClr val="FF0000"/>
                </a:solidFill>
                <a:latin typeface="Monaco"/>
              </a:rPr>
              <a:t>*</a:t>
            </a:r>
            <a:r>
              <a:rPr lang="en-US" altLang="zh-CN">
                <a:solidFill>
                  <a:srgbClr val="FF0000"/>
                </a:solidFill>
                <a:latin typeface="Monaco"/>
              </a:rPr>
              <a:t>p</a:t>
            </a:r>
            <a:r>
              <a:rPr lang="zh-CN" altLang="en-US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Monaco"/>
              </a:rPr>
              <a:t>b;</a:t>
            </a:r>
            <a:r>
              <a:rPr lang="zh-CN" altLang="en-US">
                <a:solidFill>
                  <a:srgbClr val="000000"/>
                </a:solidFill>
                <a:latin typeface="Monaco"/>
              </a:rPr>
              <a:t> </a:t>
            </a:r>
            <a:r>
              <a:rPr lang="en-US" altLang="en-US">
                <a:solidFill>
                  <a:srgbClr val="3F7F5F"/>
                </a:solidFill>
                <a:latin typeface="Monaco"/>
                <a:ea typeface="Mangal" panose="02040503050203030202" pitchFamily="18" charset="0"/>
              </a:rPr>
              <a:t>// </a:t>
            </a:r>
            <a:r>
              <a:rPr lang="en-US" altLang="zh-CN">
                <a:solidFill>
                  <a:srgbClr val="3F7F5F"/>
                </a:solidFill>
                <a:latin typeface="Monaco"/>
              </a:rPr>
              <a:t>Dereferencing</a:t>
            </a:r>
            <a:endParaRPr lang="en-US" altLang="en-US">
              <a:solidFill>
                <a:srgbClr val="000000"/>
              </a:solidFill>
              <a:latin typeface="Monaco"/>
              <a:ea typeface="Mangal" panose="02040503050203030202" pitchFamily="18" charset="0"/>
            </a:endParaRPr>
          </a:p>
          <a:p>
            <a:pPr>
              <a:lnSpc>
                <a:spcPts val="2565"/>
              </a:lnSpc>
            </a:pPr>
            <a:r>
              <a:rPr lang="en-US" altLang="en-US">
                <a:latin typeface="Monaco"/>
                <a:ea typeface="Mangal" panose="02040503050203030202" pitchFamily="18" charset="0"/>
              </a:rPr>
              <a:t>}</a:t>
            </a:r>
            <a:endParaRPr lang="en-US" altLang="en-US">
              <a:latin typeface="Monaco"/>
              <a:ea typeface="Mangal" panose="02040503050203030202" pitchFamily="18" charset="0"/>
            </a:endParaRPr>
          </a:p>
        </p:txBody>
      </p:sp>
      <p:grpSp>
        <p:nvGrpSpPr>
          <p:cNvPr id="22534" name="Group 6"/>
          <p:cNvGrpSpPr/>
          <p:nvPr/>
        </p:nvGrpSpPr>
        <p:grpSpPr bwMode="auto">
          <a:xfrm>
            <a:off x="5873750" y="2371725"/>
            <a:ext cx="2659063" cy="4187825"/>
            <a:chOff x="5873332" y="2371725"/>
            <a:chExt cx="2659108" cy="4188475"/>
          </a:xfrm>
        </p:grpSpPr>
        <p:sp>
          <p:nvSpPr>
            <p:cNvPr id="8" name="Rectangle 7"/>
            <p:cNvSpPr/>
            <p:nvPr/>
          </p:nvSpPr>
          <p:spPr>
            <a:xfrm>
              <a:off x="6443255" y="2522561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443255" y="3213231"/>
              <a:ext cx="2016159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43255" y="3573650"/>
              <a:ext cx="2016159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43255" y="3932480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443255" y="4296074"/>
              <a:ext cx="2016159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43255" y="4654904"/>
              <a:ext cx="2016159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43255" y="5012148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443255" y="5370978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443255" y="6090227"/>
              <a:ext cx="2016159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6371815" y="2522561"/>
              <a:ext cx="2160625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371815" y="6450646"/>
              <a:ext cx="2160625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Up Arrow 18"/>
            <p:cNvSpPr/>
            <p:nvPr/>
          </p:nvSpPr>
          <p:spPr>
            <a:xfrm>
              <a:off x="7198804" y="2371725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Up Arrow 19"/>
            <p:cNvSpPr/>
            <p:nvPr/>
          </p:nvSpPr>
          <p:spPr>
            <a:xfrm rot="10800000">
              <a:off x="7198804" y="6237312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558" name="TextBox 20"/>
            <p:cNvSpPr txBox="1">
              <a:spLocks noChangeArrowheads="1"/>
            </p:cNvSpPr>
            <p:nvPr/>
          </p:nvSpPr>
          <p:spPr bwMode="auto">
            <a:xfrm>
              <a:off x="5873333" y="5752309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200</a:t>
              </a:r>
              <a:endParaRPr lang="en-US" altLang="en-US"/>
            </a:p>
          </p:txBody>
        </p:sp>
        <p:sp>
          <p:nvSpPr>
            <p:cNvPr id="22559" name="TextBox 21"/>
            <p:cNvSpPr txBox="1">
              <a:spLocks noChangeArrowheads="1"/>
            </p:cNvSpPr>
            <p:nvPr/>
          </p:nvSpPr>
          <p:spPr bwMode="auto">
            <a:xfrm>
              <a:off x="5873333" y="540245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201</a:t>
              </a:r>
              <a:endParaRPr lang="en-US" altLang="en-US"/>
            </a:p>
          </p:txBody>
        </p:sp>
        <p:sp>
          <p:nvSpPr>
            <p:cNvPr id="22560" name="TextBox 22"/>
            <p:cNvSpPr txBox="1">
              <a:spLocks noChangeArrowheads="1"/>
            </p:cNvSpPr>
            <p:nvPr/>
          </p:nvSpPr>
          <p:spPr bwMode="auto">
            <a:xfrm>
              <a:off x="5877944" y="503846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202</a:t>
              </a:r>
              <a:endParaRPr lang="en-US" altLang="en-US"/>
            </a:p>
          </p:txBody>
        </p:sp>
        <p:sp>
          <p:nvSpPr>
            <p:cNvPr id="22561" name="TextBox 23"/>
            <p:cNvSpPr txBox="1">
              <a:spLocks noChangeArrowheads="1"/>
            </p:cNvSpPr>
            <p:nvPr/>
          </p:nvSpPr>
          <p:spPr bwMode="auto">
            <a:xfrm>
              <a:off x="5875011" y="4680717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203</a:t>
              </a:r>
              <a:endParaRPr lang="en-US" altLang="en-US"/>
            </a:p>
          </p:txBody>
        </p:sp>
        <p:sp>
          <p:nvSpPr>
            <p:cNvPr id="22562" name="TextBox 24"/>
            <p:cNvSpPr txBox="1">
              <a:spLocks noChangeArrowheads="1"/>
            </p:cNvSpPr>
            <p:nvPr/>
          </p:nvSpPr>
          <p:spPr bwMode="auto">
            <a:xfrm>
              <a:off x="5877944" y="4330606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204</a:t>
              </a:r>
              <a:endParaRPr lang="en-US" altLang="en-US"/>
            </a:p>
          </p:txBody>
        </p:sp>
        <p:sp>
          <p:nvSpPr>
            <p:cNvPr id="22563" name="TextBox 25"/>
            <p:cNvSpPr txBox="1">
              <a:spLocks noChangeArrowheads="1"/>
            </p:cNvSpPr>
            <p:nvPr/>
          </p:nvSpPr>
          <p:spPr bwMode="auto">
            <a:xfrm>
              <a:off x="5881299" y="3967320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205</a:t>
              </a:r>
              <a:endParaRPr lang="en-US" altLang="en-US"/>
            </a:p>
          </p:txBody>
        </p:sp>
        <p:sp>
          <p:nvSpPr>
            <p:cNvPr id="22564" name="TextBox 26"/>
            <p:cNvSpPr txBox="1">
              <a:spLocks noChangeArrowheads="1"/>
            </p:cNvSpPr>
            <p:nvPr/>
          </p:nvSpPr>
          <p:spPr bwMode="auto">
            <a:xfrm>
              <a:off x="5881299" y="3573016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206</a:t>
              </a:r>
              <a:endParaRPr lang="en-US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443255" y="2860751"/>
              <a:ext cx="2016159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443255" y="5729809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567" name="TextBox 29"/>
            <p:cNvSpPr txBox="1">
              <a:spLocks noChangeArrowheads="1"/>
            </p:cNvSpPr>
            <p:nvPr/>
          </p:nvSpPr>
          <p:spPr bwMode="auto">
            <a:xfrm>
              <a:off x="5873332" y="3204014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207</a:t>
              </a:r>
              <a:endParaRPr lang="en-US" altLang="en-US"/>
            </a:p>
          </p:txBody>
        </p:sp>
        <p:sp>
          <p:nvSpPr>
            <p:cNvPr id="22568" name="TextBox 30"/>
            <p:cNvSpPr txBox="1">
              <a:spLocks noChangeArrowheads="1"/>
            </p:cNvSpPr>
            <p:nvPr/>
          </p:nvSpPr>
          <p:spPr bwMode="auto">
            <a:xfrm>
              <a:off x="5873332" y="2809710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208</a:t>
              </a:r>
              <a:endParaRPr lang="en-US" altLang="en-US"/>
            </a:p>
          </p:txBody>
        </p:sp>
      </p:grpSp>
      <p:sp>
        <p:nvSpPr>
          <p:cNvPr id="33" name="Rectangle 32"/>
          <p:cNvSpPr/>
          <p:nvPr/>
        </p:nvSpPr>
        <p:spPr>
          <a:xfrm>
            <a:off x="6442075" y="4679950"/>
            <a:ext cx="2016125" cy="1409700"/>
          </a:xfrm>
          <a:prstGeom prst="rect">
            <a:avLst/>
          </a:prstGeom>
          <a:solidFill>
            <a:srgbClr val="FFFDA9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446838" y="2860675"/>
            <a:ext cx="2016125" cy="1409700"/>
          </a:xfrm>
          <a:prstGeom prst="rect">
            <a:avLst/>
          </a:prstGeom>
          <a:solidFill>
            <a:srgbClr val="FFFDA9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7" name="Rectangle 36"/>
          <p:cNvSpPr>
            <a:spLocks noChangeArrowheads="1"/>
          </p:cNvSpPr>
          <p:nvPr/>
        </p:nvSpPr>
        <p:spPr bwMode="auto">
          <a:xfrm>
            <a:off x="6897688" y="3255963"/>
            <a:ext cx="14747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Monaco"/>
              </a:rPr>
              <a:t>p</a:t>
            </a:r>
            <a:r>
              <a:rPr lang="zh-CN" altLang="en-US" sz="24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4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Monaco"/>
              </a:rPr>
              <a:t>200</a:t>
            </a:r>
            <a:endParaRPr lang="en-US" altLang="en-US" sz="2400">
              <a:solidFill>
                <a:srgbClr val="FF0000"/>
              </a:solidFill>
            </a:endParaRP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6710363" y="5056188"/>
            <a:ext cx="1660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Monaco"/>
                <a:ea typeface="Mangal" panose="02040503050203030202" pitchFamily="18" charset="0"/>
              </a:rPr>
              <a:t>var</a:t>
            </a:r>
            <a:r>
              <a:rPr lang="zh-CN" altLang="en-US" sz="24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4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Monaco"/>
              </a:rPr>
              <a:t>20</a:t>
            </a:r>
            <a:endParaRPr lang="en-US" altLang="en-US" sz="2400">
              <a:solidFill>
                <a:srgbClr val="FF0000"/>
              </a:solidFill>
            </a:endParaRPr>
          </a:p>
        </p:txBody>
      </p:sp>
      <p:sp>
        <p:nvSpPr>
          <p:cNvPr id="22540" name="Rectangle 31"/>
          <p:cNvSpPr>
            <a:spLocks noChangeArrowheads="1"/>
          </p:cNvSpPr>
          <p:nvPr/>
        </p:nvSpPr>
        <p:spPr bwMode="auto">
          <a:xfrm>
            <a:off x="1520825" y="5705475"/>
            <a:ext cx="36988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0000"/>
                </a:solidFill>
              </a:rPr>
              <a:t>问题：*</a:t>
            </a:r>
            <a:r>
              <a:rPr lang="en-US" altLang="zh-CN">
                <a:solidFill>
                  <a:srgbClr val="FF0000"/>
                </a:solidFill>
              </a:rPr>
              <a:t>p</a:t>
            </a: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rgbClr val="FF0000"/>
                </a:solidFill>
              </a:rPr>
              <a:t>=</a:t>
            </a: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rgbClr val="FF0000"/>
                </a:solidFill>
              </a:rPr>
              <a:t>b</a:t>
            </a:r>
            <a:r>
              <a:rPr lang="zh-CN" altLang="en-US">
                <a:solidFill>
                  <a:srgbClr val="FF0000"/>
                </a:solidFill>
              </a:rPr>
              <a:t>操作是否会将</a:t>
            </a:r>
            <a:r>
              <a:rPr lang="en-US" altLang="zh-CN">
                <a:solidFill>
                  <a:srgbClr val="FF0000"/>
                </a:solidFill>
              </a:rPr>
              <a:t>b</a:t>
            </a:r>
            <a:r>
              <a:rPr lang="zh-CN" altLang="en-US">
                <a:solidFill>
                  <a:srgbClr val="FF0000"/>
                </a:solidFill>
              </a:rPr>
              <a:t>的地址赋值给指针</a:t>
            </a:r>
            <a:r>
              <a:rPr lang="en-US" altLang="zh-CN">
                <a:solidFill>
                  <a:srgbClr val="FF0000"/>
                </a:solidFill>
              </a:rPr>
              <a:t>p</a:t>
            </a:r>
            <a:r>
              <a:rPr lang="zh-CN" altLang="en-US">
                <a:solidFill>
                  <a:srgbClr val="FF0000"/>
                </a:solidFill>
              </a:rPr>
              <a:t>？</a:t>
            </a:r>
            <a:endParaRPr lang="en-US" altLang="en-US">
              <a:solidFill>
                <a:srgbClr val="FF0000"/>
              </a:solidFill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8417128" y="3429000"/>
            <a:ext cx="556807" cy="2520952"/>
            <a:chOff x="8417128" y="3429000"/>
            <a:chExt cx="556807" cy="2520952"/>
          </a:xfrm>
        </p:grpSpPr>
        <p:cxnSp>
          <p:nvCxnSpPr>
            <p:cNvPr id="41" name="Elbow Connector 17"/>
            <p:cNvCxnSpPr>
              <a:cxnSpLocks noChangeShapeType="1"/>
            </p:cNvCxnSpPr>
            <p:nvPr/>
          </p:nvCxnSpPr>
          <p:spPr bwMode="auto">
            <a:xfrm rot="10800000">
              <a:off x="8417128" y="5949951"/>
              <a:ext cx="556807" cy="1"/>
            </a:xfrm>
            <a:prstGeom prst="bentConnector3">
              <a:avLst>
                <a:gd name="adj1" fmla="val 50000"/>
              </a:avLst>
            </a:prstGeom>
            <a:ln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8458200" y="3429000"/>
              <a:ext cx="47625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8934450" y="3429000"/>
              <a:ext cx="0" cy="2480469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4" name="Content Placeholder 2"/>
          <p:cNvSpPr>
            <a:spLocks noGrp="1"/>
          </p:cNvSpPr>
          <p:nvPr>
            <p:ph idx="1"/>
          </p:nvPr>
        </p:nvSpPr>
        <p:spPr>
          <a:xfrm>
            <a:off x="432000" y="1188000"/>
            <a:ext cx="8280000" cy="4351338"/>
          </a:xfrm>
        </p:spPr>
        <p:txBody>
          <a:bodyPr/>
          <a:lstStyle/>
          <a:p>
            <a:r>
              <a:rPr lang="zh-CN" altLang="en-US" sz="2800" dirty="0"/>
              <a:t>间接访问机制</a:t>
            </a:r>
            <a:endParaRPr lang="en-US" altLang="zh-CN" sz="2800" dirty="0"/>
          </a:p>
          <a:p>
            <a:pPr lvl="1"/>
            <a:r>
              <a:rPr lang="zh-CN" altLang="en-US" sz="2400" dirty="0"/>
              <a:t>使用指针 </a:t>
            </a:r>
            <a:r>
              <a:rPr lang="en-US" altLang="zh-CN" sz="2400" dirty="0"/>
              <a:t>a)</a:t>
            </a:r>
            <a:r>
              <a:rPr lang="zh-CN" altLang="en-US" sz="2400" dirty="0"/>
              <a:t> 获取变量的值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/>
              <a:t>b)</a:t>
            </a:r>
            <a:r>
              <a:rPr lang="zh-CN" altLang="en-US" sz="2400" dirty="0"/>
              <a:t> 修改变量的值</a:t>
            </a:r>
            <a:endParaRPr lang="en-US" altLang="zh-CN" sz="2400" dirty="0"/>
          </a:p>
          <a:p>
            <a:pPr lvl="1"/>
            <a:r>
              <a:rPr lang="zh-CN" altLang="en-US" sz="2400" dirty="0"/>
              <a:t>操作符： </a:t>
            </a:r>
            <a:r>
              <a:rPr lang="zh-CN" altLang="en-US" sz="2400" dirty="0">
                <a:solidFill>
                  <a:srgbClr val="FF0000"/>
                </a:solidFill>
              </a:rPr>
              <a:t>*</a:t>
            </a:r>
            <a:endParaRPr lang="en-US" altLang="en-US" sz="2400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示例程序</a:t>
            </a:r>
            <a:endParaRPr lang="en-US" dirty="0"/>
          </a:p>
        </p:txBody>
      </p:sp>
      <p:pic>
        <p:nvPicPr>
          <p:cNvPr id="24578" name="Content Placeholder 6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5100" y="1422528"/>
            <a:ext cx="3540125" cy="3563937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2458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72F4822-43DF-4DF5-B211-C9D1EF5968A2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9"/>
          <a:stretch>
            <a:fillRect/>
          </a:stretch>
        </p:blipFill>
        <p:spPr bwMode="auto">
          <a:xfrm>
            <a:off x="6022975" y="2482850"/>
            <a:ext cx="2587625" cy="1422400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80808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2"/>
          <p:cNvSpPr txBox="1"/>
          <p:nvPr/>
        </p:nvSpPr>
        <p:spPr bwMode="auto">
          <a:xfrm>
            <a:off x="1435100" y="5084763"/>
            <a:ext cx="7499350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把指针初始化为</a:t>
            </a:r>
            <a:r>
              <a:rPr lang="en-US" altLang="zh-CN" sz="2800"/>
              <a:t>NULL</a:t>
            </a:r>
            <a:r>
              <a:rPr lang="zh-CN" altLang="en-US" sz="2800"/>
              <a:t>是</a:t>
            </a:r>
            <a:r>
              <a:rPr lang="zh-CN" altLang="en-US" sz="2800">
                <a:solidFill>
                  <a:srgbClr val="FF0000"/>
                </a:solidFill>
              </a:rPr>
              <a:t>好习惯</a:t>
            </a:r>
            <a:endParaRPr lang="en-US" altLang="zh-CN" sz="2800">
              <a:solidFill>
                <a:srgbClr val="FF0000"/>
              </a:solidFill>
            </a:endParaRPr>
          </a:p>
          <a:p>
            <a:pPr lvl="1" eaLnBrk="1" hangingPunct="1"/>
            <a:r>
              <a:rPr kumimoji="1" lang="en-US" altLang="zh-CN" sz="2400">
                <a:solidFill>
                  <a:srgbClr val="FF0000"/>
                </a:solidFill>
              </a:rPr>
              <a:t>int *p = NULL; 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5286375" y="2874963"/>
            <a:ext cx="441325" cy="647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351" y="4008438"/>
            <a:ext cx="1953991" cy="10235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指针的数据类型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266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指针的数据类型表示所指变量的数据类型</a:t>
            </a:r>
            <a:endParaRPr lang="en-US" altLang="zh-CN" sz="2800" dirty="0"/>
          </a:p>
          <a:p>
            <a:pPr lvl="1"/>
            <a:r>
              <a:rPr lang="zh-CN" altLang="en-US" dirty="0"/>
              <a:t>间接访问</a:t>
            </a:r>
            <a:r>
              <a:rPr lang="zh-CN" altLang="en-US" sz="2400" dirty="0"/>
              <a:t>根据数据类型取出相应</a:t>
            </a:r>
            <a:r>
              <a:rPr lang="en-US" altLang="zh-CN" sz="2400" dirty="0"/>
              <a:t>Bytes</a:t>
            </a:r>
            <a:r>
              <a:rPr lang="zh-CN" altLang="en-US" sz="2400" dirty="0"/>
              <a:t>解析</a:t>
            </a:r>
            <a:endParaRPr lang="en-US" altLang="zh-CN" sz="2400" dirty="0"/>
          </a:p>
          <a:p>
            <a:pPr lvl="1"/>
            <a:r>
              <a:rPr lang="zh-CN" altLang="en-US" sz="2400" dirty="0"/>
              <a:t>复习：常见类型字节数</a:t>
            </a:r>
            <a:endParaRPr lang="en-US" altLang="en-US" sz="2400" dirty="0">
              <a:ea typeface="华文中宋" panose="0201060004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26628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4D1E246-C699-464C-BF16-D2AF03F2CF65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377950" y="2944813"/>
            <a:ext cx="4130675" cy="2745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565"/>
              </a:lnSpc>
            </a:pPr>
            <a:r>
              <a:rPr lang="en-US" altLang="en-US" dirty="0">
                <a:solidFill>
                  <a:srgbClr val="7F00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lang="en-US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main () {</a:t>
            </a:r>
            <a:endParaRPr lang="en-US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565"/>
              </a:lnSpc>
            </a:pPr>
            <a:r>
              <a:rPr lang="zh-CN" altLang="en-US" dirty="0">
                <a:solidFill>
                  <a:srgbClr val="7F00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en-US" dirty="0">
                <a:solidFill>
                  <a:srgbClr val="7F00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var</a:t>
            </a:r>
            <a:r>
              <a:rPr lang="en-US" altLang="zh-CN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=1025</a:t>
            </a:r>
            <a:r>
              <a:rPr lang="en-US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 </a:t>
            </a:r>
            <a:r>
              <a:rPr lang="en-US" altLang="en-US" dirty="0">
                <a:solidFill>
                  <a:srgbClr val="3F7F5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 声明整型</a:t>
            </a:r>
            <a:r>
              <a:rPr lang="zh-CN" altLang="en-US" dirty="0">
                <a:solidFill>
                  <a:srgbClr val="3F7F5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</a:t>
            </a:r>
            <a:r>
              <a:rPr lang="en-US" altLang="en-US" dirty="0">
                <a:solidFill>
                  <a:srgbClr val="3F7F5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量</a:t>
            </a:r>
            <a:endParaRPr lang="en-US" altLang="en-US" dirty="0">
              <a:solidFill>
                <a:srgbClr val="3F7F5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565"/>
              </a:lnSpc>
            </a:pPr>
            <a:r>
              <a:rPr lang="zh-CN" altLang="en-US" dirty="0">
                <a:solidFill>
                  <a:srgbClr val="7F00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en-US" dirty="0">
                <a:solidFill>
                  <a:srgbClr val="7F00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*p; </a:t>
            </a:r>
            <a:r>
              <a:rPr lang="en-US" altLang="en-US" dirty="0">
                <a:solidFill>
                  <a:srgbClr val="3F7F5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 声明整型指针</a:t>
            </a:r>
            <a:endParaRPr lang="en-US" altLang="en-US" dirty="0">
              <a:solidFill>
                <a:srgbClr val="3F7F5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565"/>
              </a:lnSpc>
            </a:pP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 = &amp;var; </a:t>
            </a:r>
            <a:r>
              <a:rPr lang="en-US" altLang="en-US" dirty="0">
                <a:solidFill>
                  <a:srgbClr val="3F7F5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 为指针赋值var地址</a:t>
            </a:r>
            <a:endParaRPr lang="en-US" altLang="en-US" dirty="0">
              <a:solidFill>
                <a:srgbClr val="3F7F5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565"/>
              </a:lnSpc>
            </a:pPr>
            <a:r>
              <a:rPr lang="zh-CN" altLang="en-US" dirty="0">
                <a:solidFill>
                  <a:srgbClr val="3F7F5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dirty="0">
                <a:solidFill>
                  <a:srgbClr val="7F00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char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*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dirty="0">
                <a:solidFill>
                  <a:srgbClr val="7F00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char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p;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565"/>
              </a:lnSpc>
            </a:pPr>
            <a:r>
              <a:rPr lang="zh-CN" altLang="en-US" dirty="0">
                <a:solidFill>
                  <a:srgbClr val="64288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en-US" dirty="0">
                <a:solidFill>
                  <a:srgbClr val="64288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en-US" dirty="0">
                <a:solidFill>
                  <a:srgbClr val="2A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"*q = %d"</a:t>
            </a:r>
            <a:r>
              <a:rPr lang="en-US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 *q);</a:t>
            </a:r>
            <a:endParaRPr lang="en-US" altLang="en-US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565"/>
              </a:lnSpc>
            </a:pPr>
            <a:r>
              <a:rPr lang="en-US" altLang="zh-CN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return 0;</a:t>
            </a:r>
            <a:endParaRPr lang="en-US" altLang="en-US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565"/>
              </a:lnSpc>
            </a:pPr>
            <a:r>
              <a:rPr lang="en-US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}</a:t>
            </a:r>
            <a:endParaRPr lang="en-US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6630" name="Group 6"/>
          <p:cNvGrpSpPr/>
          <p:nvPr/>
        </p:nvGrpSpPr>
        <p:grpSpPr bwMode="auto">
          <a:xfrm>
            <a:off x="5873750" y="2371725"/>
            <a:ext cx="2659063" cy="4187825"/>
            <a:chOff x="5873332" y="2371725"/>
            <a:chExt cx="2659108" cy="4188475"/>
          </a:xfrm>
        </p:grpSpPr>
        <p:sp>
          <p:nvSpPr>
            <p:cNvPr id="8" name="Rectangle 7"/>
            <p:cNvSpPr/>
            <p:nvPr/>
          </p:nvSpPr>
          <p:spPr>
            <a:xfrm>
              <a:off x="6443255" y="2522561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443255" y="3213231"/>
              <a:ext cx="2016159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43255" y="3573650"/>
              <a:ext cx="2016159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43255" y="3932480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443255" y="4296074"/>
              <a:ext cx="2016159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43255" y="4654904"/>
              <a:ext cx="2016159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00000000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43255" y="5012148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00000000</a:t>
              </a:r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443255" y="5370978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00000100</a:t>
              </a: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443255" y="6090227"/>
              <a:ext cx="2016159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6371815" y="2522561"/>
              <a:ext cx="2160625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371815" y="6450646"/>
              <a:ext cx="2160625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Up Arrow 18"/>
            <p:cNvSpPr/>
            <p:nvPr/>
          </p:nvSpPr>
          <p:spPr>
            <a:xfrm>
              <a:off x="7198804" y="2371725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Up Arrow 19"/>
            <p:cNvSpPr/>
            <p:nvPr/>
          </p:nvSpPr>
          <p:spPr>
            <a:xfrm rot="10800000">
              <a:off x="7198804" y="6237312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6653" name="TextBox 20"/>
            <p:cNvSpPr txBox="1">
              <a:spLocks noChangeArrowheads="1"/>
            </p:cNvSpPr>
            <p:nvPr/>
          </p:nvSpPr>
          <p:spPr bwMode="auto">
            <a:xfrm>
              <a:off x="5873333" y="5752309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200</a:t>
              </a:r>
              <a:endParaRPr lang="en-US" altLang="en-US"/>
            </a:p>
          </p:txBody>
        </p:sp>
        <p:sp>
          <p:nvSpPr>
            <p:cNvPr id="26654" name="TextBox 21"/>
            <p:cNvSpPr txBox="1">
              <a:spLocks noChangeArrowheads="1"/>
            </p:cNvSpPr>
            <p:nvPr/>
          </p:nvSpPr>
          <p:spPr bwMode="auto">
            <a:xfrm>
              <a:off x="5873333" y="540245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201</a:t>
              </a:r>
              <a:endParaRPr lang="en-US" altLang="en-US"/>
            </a:p>
          </p:txBody>
        </p:sp>
        <p:sp>
          <p:nvSpPr>
            <p:cNvPr id="26655" name="TextBox 22"/>
            <p:cNvSpPr txBox="1">
              <a:spLocks noChangeArrowheads="1"/>
            </p:cNvSpPr>
            <p:nvPr/>
          </p:nvSpPr>
          <p:spPr bwMode="auto">
            <a:xfrm>
              <a:off x="5877944" y="503846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202</a:t>
              </a:r>
              <a:endParaRPr lang="en-US" altLang="en-US"/>
            </a:p>
          </p:txBody>
        </p:sp>
        <p:sp>
          <p:nvSpPr>
            <p:cNvPr id="26656" name="TextBox 23"/>
            <p:cNvSpPr txBox="1">
              <a:spLocks noChangeArrowheads="1"/>
            </p:cNvSpPr>
            <p:nvPr/>
          </p:nvSpPr>
          <p:spPr bwMode="auto">
            <a:xfrm>
              <a:off x="5875011" y="4680717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203</a:t>
              </a:r>
              <a:endParaRPr lang="en-US" altLang="en-US"/>
            </a:p>
          </p:txBody>
        </p:sp>
        <p:sp>
          <p:nvSpPr>
            <p:cNvPr id="26657" name="TextBox 24"/>
            <p:cNvSpPr txBox="1">
              <a:spLocks noChangeArrowheads="1"/>
            </p:cNvSpPr>
            <p:nvPr/>
          </p:nvSpPr>
          <p:spPr bwMode="auto">
            <a:xfrm>
              <a:off x="5877944" y="4330606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204</a:t>
              </a:r>
              <a:endParaRPr lang="en-US" altLang="en-US"/>
            </a:p>
          </p:txBody>
        </p:sp>
        <p:sp>
          <p:nvSpPr>
            <p:cNvPr id="26658" name="TextBox 25"/>
            <p:cNvSpPr txBox="1">
              <a:spLocks noChangeArrowheads="1"/>
            </p:cNvSpPr>
            <p:nvPr/>
          </p:nvSpPr>
          <p:spPr bwMode="auto">
            <a:xfrm>
              <a:off x="5881299" y="3967320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205</a:t>
              </a:r>
              <a:endParaRPr lang="en-US" altLang="en-US"/>
            </a:p>
          </p:txBody>
        </p:sp>
        <p:sp>
          <p:nvSpPr>
            <p:cNvPr id="26659" name="TextBox 26"/>
            <p:cNvSpPr txBox="1">
              <a:spLocks noChangeArrowheads="1"/>
            </p:cNvSpPr>
            <p:nvPr/>
          </p:nvSpPr>
          <p:spPr bwMode="auto">
            <a:xfrm>
              <a:off x="5881299" y="3573016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206</a:t>
              </a:r>
              <a:endParaRPr lang="en-US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443255" y="2860751"/>
              <a:ext cx="2016159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443255" y="5729809"/>
              <a:ext cx="2016159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00000001</a:t>
              </a:r>
              <a:endParaRPr lang="en-US" dirty="0"/>
            </a:p>
          </p:txBody>
        </p:sp>
        <p:sp>
          <p:nvSpPr>
            <p:cNvPr id="26662" name="TextBox 29"/>
            <p:cNvSpPr txBox="1">
              <a:spLocks noChangeArrowheads="1"/>
            </p:cNvSpPr>
            <p:nvPr/>
          </p:nvSpPr>
          <p:spPr bwMode="auto">
            <a:xfrm>
              <a:off x="5873332" y="3204014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207</a:t>
              </a:r>
              <a:endParaRPr lang="en-US" altLang="en-US"/>
            </a:p>
          </p:txBody>
        </p:sp>
        <p:sp>
          <p:nvSpPr>
            <p:cNvPr id="26663" name="TextBox 30"/>
            <p:cNvSpPr txBox="1">
              <a:spLocks noChangeArrowheads="1"/>
            </p:cNvSpPr>
            <p:nvPr/>
          </p:nvSpPr>
          <p:spPr bwMode="auto">
            <a:xfrm>
              <a:off x="5873332" y="2809710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208</a:t>
              </a:r>
              <a:endParaRPr lang="en-US" altLang="en-US"/>
            </a:p>
          </p:txBody>
        </p:sp>
      </p:grpSp>
      <p:sp>
        <p:nvSpPr>
          <p:cNvPr id="33" name="Rectangle 32"/>
          <p:cNvSpPr/>
          <p:nvPr/>
        </p:nvSpPr>
        <p:spPr>
          <a:xfrm>
            <a:off x="6448425" y="4672013"/>
            <a:ext cx="2016125" cy="1409700"/>
          </a:xfrm>
          <a:prstGeom prst="rect">
            <a:avLst/>
          </a:prstGeom>
          <a:solidFill>
            <a:srgbClr val="FFFDA9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32" name="Rectangle 33"/>
          <p:cNvSpPr>
            <a:spLocks noChangeArrowheads="1"/>
          </p:cNvSpPr>
          <p:nvPr/>
        </p:nvSpPr>
        <p:spPr bwMode="auto">
          <a:xfrm>
            <a:off x="6448425" y="4803775"/>
            <a:ext cx="2016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en-US" sz="2000">
                <a:solidFill>
                  <a:srgbClr val="FF0000"/>
                </a:solidFill>
                <a:latin typeface="Monaco"/>
                <a:ea typeface="Mangal" panose="02040503050203030202" pitchFamily="18" charset="0"/>
              </a:rPr>
              <a:t>var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1025</a:t>
            </a:r>
            <a:endParaRPr lang="en-US" altLang="en-US" sz="200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446838" y="2860675"/>
            <a:ext cx="2016125" cy="1409700"/>
          </a:xfrm>
          <a:prstGeom prst="rect">
            <a:avLst/>
          </a:prstGeom>
          <a:solidFill>
            <a:srgbClr val="FFFDA9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34" name="Rectangle 36"/>
          <p:cNvSpPr>
            <a:spLocks noChangeArrowheads="1"/>
          </p:cNvSpPr>
          <p:nvPr/>
        </p:nvSpPr>
        <p:spPr bwMode="auto">
          <a:xfrm>
            <a:off x="6897688" y="3255963"/>
            <a:ext cx="14747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Monaco"/>
              </a:rPr>
              <a:t>p</a:t>
            </a:r>
            <a:r>
              <a:rPr lang="zh-CN" altLang="en-US" sz="24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4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Monaco"/>
              </a:rPr>
              <a:t>200</a:t>
            </a:r>
            <a:endParaRPr lang="en-US" altLang="en-US" sz="2400">
              <a:solidFill>
                <a:srgbClr val="FF0000"/>
              </a:solidFill>
            </a:endParaRPr>
          </a:p>
        </p:txBody>
      </p:sp>
      <p:cxnSp>
        <p:nvCxnSpPr>
          <p:cNvPr id="38" name="Elbow Connector 37"/>
          <p:cNvCxnSpPr>
            <a:cxnSpLocks noChangeShapeType="1"/>
            <a:stCxn id="15" idx="3"/>
          </p:cNvCxnSpPr>
          <p:nvPr/>
        </p:nvCxnSpPr>
        <p:spPr bwMode="auto">
          <a:xfrm flipH="1">
            <a:off x="8458200" y="3392488"/>
            <a:ext cx="0" cy="2517775"/>
          </a:xfrm>
          <a:prstGeom prst="bentConnector3">
            <a:avLst>
              <a:gd name="adj1" fmla="val -2147483648"/>
            </a:avLst>
          </a:prstGeom>
          <a:noFill/>
          <a:ln w="25400">
            <a:solidFill>
              <a:schemeClr val="accent2"/>
            </a:solidFill>
            <a:miter lim="800000"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指针的运算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/>
              <a:t>指针可以进行代数和比较运算</a:t>
            </a:r>
            <a:endParaRPr lang="en-US" altLang="zh-CN" sz="2800"/>
          </a:p>
          <a:p>
            <a:pPr lvl="1"/>
            <a:r>
              <a:rPr lang="zh-CN" altLang="en-US" sz="2400"/>
              <a:t>编译器会根据指针的数据类型自动更新地址</a:t>
            </a:r>
            <a:endParaRPr lang="en-US" altLang="zh-CN" sz="2400"/>
          </a:p>
          <a:p>
            <a:pPr lvl="1"/>
            <a:r>
              <a:rPr lang="zh-CN" altLang="en-US" sz="2400"/>
              <a:t>指针操作：加减法，比较大小</a:t>
            </a:r>
            <a:endParaRPr lang="en-US" altLang="en-US" sz="2400">
              <a:ea typeface="华文中宋" panose="0201060004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28676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972A47B-F62A-41BE-91D5-0B6A096EE322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377950" y="2944813"/>
            <a:ext cx="4130675" cy="3412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565"/>
              </a:lnSpc>
            </a:pPr>
            <a:r>
              <a:rPr lang="en-US" altLang="en-US" dirty="0">
                <a:solidFill>
                  <a:srgbClr val="7F00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lang="en-US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main () {</a:t>
            </a:r>
            <a:endParaRPr lang="en-US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565"/>
              </a:lnSpc>
            </a:pPr>
            <a:r>
              <a:rPr lang="zh-CN" altLang="en-US" dirty="0">
                <a:solidFill>
                  <a:srgbClr val="7F00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en-US" dirty="0">
                <a:solidFill>
                  <a:srgbClr val="7F00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var</a:t>
            </a:r>
            <a:r>
              <a:rPr lang="en-US" altLang="zh-CN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=1025</a:t>
            </a:r>
            <a:r>
              <a:rPr lang="en-US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 </a:t>
            </a:r>
            <a:r>
              <a:rPr lang="en-US" altLang="en-US" dirty="0">
                <a:solidFill>
                  <a:srgbClr val="3F7F5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 声明整型变量</a:t>
            </a:r>
            <a:endParaRPr lang="en-US" altLang="en-US" dirty="0">
              <a:solidFill>
                <a:srgbClr val="3F7F5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565"/>
              </a:lnSpc>
            </a:pPr>
            <a:r>
              <a:rPr lang="zh-CN" altLang="en-US" dirty="0">
                <a:solidFill>
                  <a:srgbClr val="7F00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en-US" dirty="0">
                <a:solidFill>
                  <a:srgbClr val="7F00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*p; </a:t>
            </a:r>
            <a:r>
              <a:rPr lang="en-US" altLang="en-US" dirty="0">
                <a:solidFill>
                  <a:srgbClr val="3F7F5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 声明整型指针</a:t>
            </a:r>
            <a:endParaRPr lang="en-US" altLang="en-US" dirty="0">
              <a:solidFill>
                <a:srgbClr val="3F7F5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565"/>
              </a:lnSpc>
            </a:pP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 = &amp;var; </a:t>
            </a:r>
            <a:r>
              <a:rPr lang="en-US" altLang="en-US" dirty="0">
                <a:solidFill>
                  <a:srgbClr val="3F7F5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 为指针赋值</a:t>
            </a:r>
            <a:r>
              <a:rPr lang="en-US" altLang="en-US" u="sng" dirty="0">
                <a:solidFill>
                  <a:srgbClr val="3F7F5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var</a:t>
            </a:r>
            <a:r>
              <a:rPr lang="en-US" altLang="en-US" dirty="0">
                <a:solidFill>
                  <a:srgbClr val="3F7F5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</a:t>
            </a:r>
            <a:endParaRPr lang="en-US" altLang="en-US" dirty="0">
              <a:solidFill>
                <a:srgbClr val="3F7F5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565"/>
              </a:lnSpc>
            </a:pPr>
            <a:r>
              <a:rPr lang="zh-CN" altLang="en-US" dirty="0">
                <a:solidFill>
                  <a:srgbClr val="3F7F5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dirty="0">
                <a:solidFill>
                  <a:srgbClr val="7F00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char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*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dirty="0">
                <a:solidFill>
                  <a:srgbClr val="7F00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char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p;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565"/>
              </a:lnSpc>
            </a:pPr>
            <a:r>
              <a:rPr lang="zh-CN" altLang="en-US" dirty="0">
                <a:solidFill>
                  <a:srgbClr val="64288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en-US" dirty="0">
                <a:solidFill>
                  <a:srgbClr val="64288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(</a:t>
            </a:r>
            <a:r>
              <a:rPr lang="en-US" altLang="en-US" dirty="0">
                <a:solidFill>
                  <a:srgbClr val="2A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"*q = %d"</a:t>
            </a:r>
            <a:r>
              <a:rPr lang="en-US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 *q);</a:t>
            </a:r>
            <a:endParaRPr lang="en-US" altLang="en-US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565"/>
              </a:lnSpc>
            </a:pP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p++;</a:t>
            </a:r>
            <a:endParaRPr lang="en-US" altLang="zh-CN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565"/>
              </a:lnSpc>
            </a:pP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q++;</a:t>
            </a:r>
            <a:endParaRPr lang="en-US" altLang="zh-CN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565"/>
              </a:lnSpc>
            </a:pPr>
            <a:r>
              <a:rPr lang="en-US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return 0;</a:t>
            </a:r>
            <a:endParaRPr lang="en-US" altLang="en-US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565"/>
              </a:lnSpc>
            </a:pPr>
            <a:r>
              <a:rPr lang="en-US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}</a:t>
            </a:r>
            <a:endParaRPr lang="en-US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8678" name="Group 6"/>
          <p:cNvGrpSpPr/>
          <p:nvPr/>
        </p:nvGrpSpPr>
        <p:grpSpPr bwMode="auto">
          <a:xfrm>
            <a:off x="5387975" y="2371725"/>
            <a:ext cx="3144838" cy="4187825"/>
            <a:chOff x="5387986" y="2371725"/>
            <a:chExt cx="3144454" cy="4188475"/>
          </a:xfrm>
        </p:grpSpPr>
        <p:sp>
          <p:nvSpPr>
            <p:cNvPr id="8" name="Rectangle 7"/>
            <p:cNvSpPr/>
            <p:nvPr/>
          </p:nvSpPr>
          <p:spPr>
            <a:xfrm>
              <a:off x="6441957" y="2522561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441957" y="3213231"/>
              <a:ext cx="2017467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41957" y="3573650"/>
              <a:ext cx="2017467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41957" y="3932480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441957" y="4296074"/>
              <a:ext cx="2017467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41957" y="4654904"/>
              <a:ext cx="2017467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00000000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41957" y="5012148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00000000</a:t>
              </a:r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441957" y="5370978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00000100</a:t>
              </a: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441957" y="6090227"/>
              <a:ext cx="2017467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6372116" y="2522561"/>
              <a:ext cx="2160324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372116" y="6450646"/>
              <a:ext cx="2160324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Up Arrow 18"/>
            <p:cNvSpPr/>
            <p:nvPr/>
          </p:nvSpPr>
          <p:spPr>
            <a:xfrm>
              <a:off x="7198804" y="2371725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Up Arrow 19"/>
            <p:cNvSpPr/>
            <p:nvPr/>
          </p:nvSpPr>
          <p:spPr>
            <a:xfrm rot="10800000">
              <a:off x="7198804" y="6237312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8711" name="TextBox 20"/>
            <p:cNvSpPr txBox="1">
              <a:spLocks noChangeArrowheads="1"/>
            </p:cNvSpPr>
            <p:nvPr/>
          </p:nvSpPr>
          <p:spPr bwMode="auto">
            <a:xfrm>
              <a:off x="5873333" y="5752309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200</a:t>
              </a:r>
              <a:endParaRPr lang="en-US" altLang="en-US"/>
            </a:p>
          </p:txBody>
        </p:sp>
        <p:sp>
          <p:nvSpPr>
            <p:cNvPr id="28712" name="TextBox 21"/>
            <p:cNvSpPr txBox="1">
              <a:spLocks noChangeArrowheads="1"/>
            </p:cNvSpPr>
            <p:nvPr/>
          </p:nvSpPr>
          <p:spPr bwMode="auto">
            <a:xfrm>
              <a:off x="5873333" y="540245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201</a:t>
              </a:r>
              <a:endParaRPr lang="en-US" altLang="en-US"/>
            </a:p>
          </p:txBody>
        </p:sp>
        <p:sp>
          <p:nvSpPr>
            <p:cNvPr id="28713" name="TextBox 22"/>
            <p:cNvSpPr txBox="1">
              <a:spLocks noChangeArrowheads="1"/>
            </p:cNvSpPr>
            <p:nvPr/>
          </p:nvSpPr>
          <p:spPr bwMode="auto">
            <a:xfrm>
              <a:off x="5877944" y="503846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202</a:t>
              </a:r>
              <a:endParaRPr lang="en-US" altLang="en-US"/>
            </a:p>
          </p:txBody>
        </p:sp>
        <p:sp>
          <p:nvSpPr>
            <p:cNvPr id="28714" name="TextBox 23"/>
            <p:cNvSpPr txBox="1">
              <a:spLocks noChangeArrowheads="1"/>
            </p:cNvSpPr>
            <p:nvPr/>
          </p:nvSpPr>
          <p:spPr bwMode="auto">
            <a:xfrm>
              <a:off x="5875011" y="4680717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203</a:t>
              </a:r>
              <a:endParaRPr lang="en-US" altLang="en-US"/>
            </a:p>
          </p:txBody>
        </p:sp>
        <p:sp>
          <p:nvSpPr>
            <p:cNvPr id="28715" name="TextBox 24"/>
            <p:cNvSpPr txBox="1">
              <a:spLocks noChangeArrowheads="1"/>
            </p:cNvSpPr>
            <p:nvPr/>
          </p:nvSpPr>
          <p:spPr bwMode="auto">
            <a:xfrm>
              <a:off x="5877944" y="4330606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204</a:t>
              </a:r>
              <a:endParaRPr lang="en-US" altLang="en-US"/>
            </a:p>
          </p:txBody>
        </p:sp>
        <p:sp>
          <p:nvSpPr>
            <p:cNvPr id="28716" name="TextBox 25"/>
            <p:cNvSpPr txBox="1">
              <a:spLocks noChangeArrowheads="1"/>
            </p:cNvSpPr>
            <p:nvPr/>
          </p:nvSpPr>
          <p:spPr bwMode="auto">
            <a:xfrm>
              <a:off x="5387986" y="3939895"/>
              <a:ext cx="10310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605-608</a:t>
              </a:r>
              <a:endParaRPr lang="en-US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441957" y="2860751"/>
              <a:ext cx="2017467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441957" y="5729809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00000001</a:t>
              </a:r>
              <a:endParaRPr lang="en-US" dirty="0"/>
            </a:p>
          </p:txBody>
        </p:sp>
        <p:sp>
          <p:nvSpPr>
            <p:cNvPr id="28719" name="TextBox 29"/>
            <p:cNvSpPr txBox="1">
              <a:spLocks noChangeArrowheads="1"/>
            </p:cNvSpPr>
            <p:nvPr/>
          </p:nvSpPr>
          <p:spPr bwMode="auto">
            <a:xfrm>
              <a:off x="5405298" y="3221938"/>
              <a:ext cx="10310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609-612</a:t>
              </a:r>
              <a:endParaRPr lang="en-US" altLang="en-US"/>
            </a:p>
          </p:txBody>
        </p:sp>
      </p:grpSp>
      <p:sp>
        <p:nvSpPr>
          <p:cNvPr id="33" name="Rectangle 32"/>
          <p:cNvSpPr/>
          <p:nvPr/>
        </p:nvSpPr>
        <p:spPr>
          <a:xfrm>
            <a:off x="6448425" y="4672013"/>
            <a:ext cx="2016125" cy="1409700"/>
          </a:xfrm>
          <a:prstGeom prst="rect">
            <a:avLst/>
          </a:prstGeom>
          <a:solidFill>
            <a:srgbClr val="FFFDA9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680" name="Rectangle 33"/>
          <p:cNvSpPr>
            <a:spLocks noChangeArrowheads="1"/>
          </p:cNvSpPr>
          <p:nvPr/>
        </p:nvSpPr>
        <p:spPr bwMode="auto">
          <a:xfrm>
            <a:off x="6448425" y="4803775"/>
            <a:ext cx="2016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en-US" sz="2000">
                <a:solidFill>
                  <a:srgbClr val="FF0000"/>
                </a:solidFill>
                <a:latin typeface="Monaco"/>
                <a:ea typeface="Mangal" panose="02040503050203030202" pitchFamily="18" charset="0"/>
              </a:rPr>
              <a:t>var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1025</a:t>
            </a:r>
            <a:endParaRPr lang="en-US" altLang="en-US" sz="2000">
              <a:solidFill>
                <a:srgbClr val="FF0000"/>
              </a:solidFill>
            </a:endParaRPr>
          </a:p>
        </p:txBody>
      </p:sp>
      <p:sp>
        <p:nvSpPr>
          <p:cNvPr id="28681" name="Rectangle 36"/>
          <p:cNvSpPr>
            <a:spLocks noChangeArrowheads="1"/>
          </p:cNvSpPr>
          <p:nvPr/>
        </p:nvSpPr>
        <p:spPr bwMode="auto">
          <a:xfrm>
            <a:off x="6443663" y="3917950"/>
            <a:ext cx="1262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rgbClr val="FF0000"/>
                </a:solidFill>
                <a:latin typeface="Monaco"/>
              </a:rPr>
              <a:t>p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200</a:t>
            </a:r>
            <a:endParaRPr lang="en-US" altLang="en-US" sz="2000">
              <a:solidFill>
                <a:srgbClr val="FF0000"/>
              </a:solidFill>
            </a:endParaRPr>
          </a:p>
        </p:txBody>
      </p:sp>
      <p:cxnSp>
        <p:nvCxnSpPr>
          <p:cNvPr id="38" name="Elbow Connector 37"/>
          <p:cNvCxnSpPr>
            <a:cxnSpLocks noChangeShapeType="1"/>
            <a:endCxn id="29" idx="3"/>
          </p:cNvCxnSpPr>
          <p:nvPr/>
        </p:nvCxnSpPr>
        <p:spPr bwMode="auto">
          <a:xfrm flipH="1">
            <a:off x="8458200" y="4114800"/>
            <a:ext cx="4763" cy="1795463"/>
          </a:xfrm>
          <a:prstGeom prst="bentConnector3">
            <a:avLst>
              <a:gd name="adj1" fmla="val -6813713"/>
            </a:avLst>
          </a:prstGeom>
          <a:noFill/>
          <a:ln w="25400">
            <a:solidFill>
              <a:schemeClr val="accent2"/>
            </a:solidFill>
            <a:miter lim="800000"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3" name="Rectangle 38"/>
          <p:cNvSpPr>
            <a:spLocks noChangeArrowheads="1"/>
          </p:cNvSpPr>
          <p:nvPr/>
        </p:nvSpPr>
        <p:spPr bwMode="auto">
          <a:xfrm>
            <a:off x="6443663" y="3190875"/>
            <a:ext cx="1262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rgbClr val="FF0000"/>
                </a:solidFill>
                <a:latin typeface="Monaco"/>
              </a:rPr>
              <a:t>q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200</a:t>
            </a:r>
            <a:endParaRPr lang="en-US" altLang="en-US" sz="2000">
              <a:solidFill>
                <a:srgbClr val="FF0000"/>
              </a:solidFill>
            </a:endParaRPr>
          </a:p>
        </p:txBody>
      </p:sp>
      <p:cxnSp>
        <p:nvCxnSpPr>
          <p:cNvPr id="40" name="Elbow Connector 39"/>
          <p:cNvCxnSpPr>
            <a:cxnSpLocks noChangeShapeType="1"/>
            <a:stCxn id="9" idx="3"/>
            <a:endCxn id="29" idx="3"/>
          </p:cNvCxnSpPr>
          <p:nvPr/>
        </p:nvCxnSpPr>
        <p:spPr bwMode="auto">
          <a:xfrm flipH="1">
            <a:off x="8458200" y="3392488"/>
            <a:ext cx="0" cy="2517775"/>
          </a:xfrm>
          <a:prstGeom prst="bentConnector3">
            <a:avLst>
              <a:gd name="adj1" fmla="val -2147483648"/>
            </a:avLst>
          </a:prstGeom>
          <a:noFill/>
          <a:ln w="25400">
            <a:solidFill>
              <a:schemeClr val="accent2"/>
            </a:solidFill>
            <a:miter lim="800000"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7805738" y="3217863"/>
            <a:ext cx="646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rgbClr val="FF0000"/>
                </a:solidFill>
                <a:latin typeface="Monaco"/>
              </a:rPr>
              <a:t>201</a:t>
            </a:r>
            <a:endParaRPr lang="en-US" altLang="en-US" sz="2000">
              <a:solidFill>
                <a:srgbClr val="FF0000"/>
              </a:solidFill>
            </a:endParaRP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7805738" y="3917950"/>
            <a:ext cx="646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rgbClr val="FF0000"/>
                </a:solidFill>
                <a:latin typeface="Monaco"/>
              </a:rPr>
              <a:t>204</a:t>
            </a:r>
            <a:endParaRPr lang="en-US" altLang="en-US" sz="2000">
              <a:solidFill>
                <a:srgbClr val="FF0000"/>
              </a:solidFill>
            </a:endParaRPr>
          </a:p>
        </p:txBody>
      </p:sp>
      <p:sp>
        <p:nvSpPr>
          <p:cNvPr id="51" name="Right Arrow 50"/>
          <p:cNvSpPr/>
          <p:nvPr/>
        </p:nvSpPr>
        <p:spPr>
          <a:xfrm>
            <a:off x="7681099" y="3293124"/>
            <a:ext cx="150135" cy="216024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2" name="Right Arrow 51"/>
          <p:cNvSpPr/>
          <p:nvPr/>
        </p:nvSpPr>
        <p:spPr>
          <a:xfrm>
            <a:off x="7681099" y="4019790"/>
            <a:ext cx="150135" cy="216024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3" name="Line Callout 1 52"/>
          <p:cNvSpPr/>
          <p:nvPr/>
        </p:nvSpPr>
        <p:spPr>
          <a:xfrm>
            <a:off x="3381375" y="5732463"/>
            <a:ext cx="2397125" cy="654050"/>
          </a:xfrm>
          <a:prstGeom prst="borderCallout1">
            <a:avLst>
              <a:gd name="adj1" fmla="val -23307"/>
              <a:gd name="adj2" fmla="val 12611"/>
              <a:gd name="adj3" fmla="val -89463"/>
              <a:gd name="adj4" fmla="val -37156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指针</a:t>
            </a:r>
            <a:r>
              <a:rPr lang="en-US" altLang="zh-CN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p</a:t>
            </a:r>
            <a:r>
              <a:rPr lang="zh-CN" altLang="en-US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指向了未定义的区域</a:t>
            </a:r>
            <a:r>
              <a:rPr lang="en-US" altLang="zh-CN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——</a:t>
            </a:r>
            <a:r>
              <a:rPr lang="zh-CN" altLang="en-US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潜在风险</a:t>
            </a:r>
            <a:endParaRPr lang="en-US" altLang="zh-CN">
              <a:solidFill>
                <a:srgbClr val="FFFFFF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练习：</a:t>
            </a:r>
            <a:endParaRPr lang="en-US" dirty="0"/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499350" cy="612775"/>
          </a:xfrm>
        </p:spPr>
        <p:txBody>
          <a:bodyPr/>
          <a:lstStyle/>
          <a:p>
            <a:r>
              <a:rPr lang="zh-CN" altLang="en-US" dirty="0"/>
              <a:t>指针的基本操作</a:t>
            </a:r>
            <a:endParaRPr lang="en-US" altLang="zh-CN" dirty="0"/>
          </a:p>
          <a:p>
            <a:pPr lvl="1"/>
            <a:endParaRPr lang="en-US" altLang="en-US" dirty="0">
              <a:ea typeface="华文中宋" panose="0201060004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31748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E063376-A602-4A4A-A2AD-11C9480AB052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3475" y="2060575"/>
            <a:ext cx="6175375" cy="44021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</a:t>
            </a:r>
            <a:r>
              <a:rPr lang="en-US" sz="2000" dirty="0" err="1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int</a:t>
            </a:r>
            <a:r>
              <a:rPr 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main(void){  </a:t>
            </a:r>
            <a:endParaRPr lang="en-US" sz="2000" dirty="0">
              <a:solidFill>
                <a:srgbClr val="770028"/>
              </a:solidFill>
              <a:latin typeface="CourierNewPSMT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  </a:t>
            </a:r>
            <a:r>
              <a:rPr lang="en-US" sz="2000" dirty="0" err="1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int</a:t>
            </a:r>
            <a:r>
              <a:rPr 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urn[5] = {1,2,3,4,5};  </a:t>
            </a:r>
            <a:endParaRPr lang="en-US" sz="2000" dirty="0">
              <a:solidFill>
                <a:srgbClr val="770028"/>
              </a:solidFill>
              <a:latin typeface="CourierNewPSMT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  </a:t>
            </a:r>
            <a:r>
              <a:rPr lang="en-US" sz="2000" dirty="0" err="1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int</a:t>
            </a:r>
            <a:r>
              <a:rPr 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* p1, * p2, *p3;</a:t>
            </a:r>
            <a:endParaRPr lang="en-US" sz="2000" dirty="0">
              <a:solidFill>
                <a:srgbClr val="770028"/>
              </a:solidFill>
              <a:latin typeface="CourierNewPSMT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4</a:t>
            </a:r>
            <a:r>
              <a:rPr lang="zh-CN" alt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  </a:t>
            </a:r>
            <a:r>
              <a:rPr 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p1 = urn;         </a:t>
            </a:r>
            <a:endParaRPr lang="en-US" sz="2000" dirty="0">
              <a:solidFill>
                <a:srgbClr val="770028"/>
              </a:solidFill>
              <a:latin typeface="CourierNewPSMT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5</a:t>
            </a:r>
            <a:r>
              <a:rPr lang="zh-CN" alt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  </a:t>
            </a:r>
            <a:r>
              <a:rPr 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p2 = &amp;urn[2]; </a:t>
            </a:r>
            <a:endParaRPr lang="en-US" sz="2000" dirty="0">
              <a:solidFill>
                <a:srgbClr val="770028"/>
              </a:solidFill>
              <a:latin typeface="CourierNewPSMT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6</a:t>
            </a:r>
            <a:r>
              <a:rPr lang="zh-CN" alt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  </a:t>
            </a:r>
            <a:r>
              <a:rPr lang="en-US" sz="2000" dirty="0" err="1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printf</a:t>
            </a:r>
            <a:r>
              <a:rPr 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("%d\n", *p1); </a:t>
            </a:r>
            <a:endParaRPr lang="en-US" sz="2000" dirty="0">
              <a:solidFill>
                <a:srgbClr val="770028"/>
              </a:solidFill>
              <a:latin typeface="CourierNewPSMT" charset="0"/>
              <a:ea typeface="宋体" panose="02010600030101010101" pitchFamily="2" charset="-122"/>
            </a:endParaRPr>
          </a:p>
          <a:p>
            <a:pPr marL="457200" indent="-457200">
              <a:buFontTx/>
              <a:buAutoNum type="arabicPlain" startAt="7"/>
              <a:defRPr/>
            </a:pPr>
            <a:r>
              <a:rPr lang="zh-CN" alt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</a:t>
            </a:r>
            <a:r>
              <a:rPr 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p2 = p1 + 4; </a:t>
            </a:r>
            <a:endParaRPr lang="en-US" sz="2000" dirty="0">
              <a:solidFill>
                <a:srgbClr val="770028"/>
              </a:solidFill>
              <a:latin typeface="CourierNewPSMT" charset="0"/>
              <a:ea typeface="宋体" panose="02010600030101010101" pitchFamily="2" charset="-122"/>
            </a:endParaRPr>
          </a:p>
          <a:p>
            <a:pPr marL="457200" indent="-457200">
              <a:buFontTx/>
              <a:buAutoNum type="arabicPlain" startAt="7"/>
              <a:defRPr/>
            </a:pPr>
            <a:r>
              <a:rPr lang="zh-CN" alt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*</a:t>
            </a:r>
            <a:r>
              <a:rPr lang="en-US" altLang="zh-CN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p2</a:t>
            </a:r>
            <a:r>
              <a:rPr lang="zh-CN" alt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=</a:t>
            </a:r>
            <a:r>
              <a:rPr lang="zh-CN" alt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*</a:t>
            </a:r>
            <a:r>
              <a:rPr lang="en-US" altLang="zh-CN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p1)-1;</a:t>
            </a:r>
            <a:endParaRPr lang="en-US" sz="2000" dirty="0">
              <a:solidFill>
                <a:srgbClr val="770028"/>
              </a:solidFill>
              <a:latin typeface="CourierNewPSMT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9</a:t>
            </a:r>
            <a:r>
              <a:rPr lang="zh-CN" alt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  </a:t>
            </a:r>
            <a:r>
              <a:rPr 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p1++; </a:t>
            </a:r>
            <a:endParaRPr lang="en-US" sz="2000" dirty="0">
              <a:solidFill>
                <a:srgbClr val="770028"/>
              </a:solidFill>
              <a:latin typeface="CourierNewPSMT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10</a:t>
            </a:r>
            <a:r>
              <a:rPr lang="zh-CN" alt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 </a:t>
            </a:r>
            <a:r>
              <a:rPr 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p2--; </a:t>
            </a:r>
            <a:endParaRPr lang="en-US" sz="2000" dirty="0">
              <a:solidFill>
                <a:srgbClr val="770028"/>
              </a:solidFill>
              <a:latin typeface="CourierNewPSMT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11</a:t>
            </a:r>
            <a:r>
              <a:rPr lang="zh-CN" alt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 </a:t>
            </a:r>
            <a:r>
              <a:rPr lang="en-US" sz="2000" dirty="0" err="1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printf</a:t>
            </a:r>
            <a:r>
              <a:rPr 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("p2 - p1=%d</a:t>
            </a:r>
            <a:r>
              <a:rPr lang="en-US" altLang="zh-CN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\n</a:t>
            </a:r>
            <a:r>
              <a:rPr 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",p2-p1); </a:t>
            </a:r>
            <a:endParaRPr lang="en-US" sz="2000" dirty="0">
              <a:solidFill>
                <a:srgbClr val="770028"/>
              </a:solidFill>
              <a:latin typeface="CourierNewPSMT" charset="0"/>
              <a:ea typeface="宋体" panose="02010600030101010101" pitchFamily="2" charset="-122"/>
            </a:endParaRPr>
          </a:p>
          <a:p>
            <a:pPr marL="457200" indent="-457200">
              <a:buFontTx/>
              <a:buAutoNum type="arabicPlain" startAt="12"/>
              <a:defRPr/>
            </a:pPr>
            <a:r>
              <a:rPr lang="zh-CN" alt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</a:t>
            </a:r>
            <a:r>
              <a:rPr lang="en-US" sz="2000" dirty="0" err="1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printf</a:t>
            </a:r>
            <a:r>
              <a:rPr 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("p1 &gt; p2?%d",p1 &gt; p2); </a:t>
            </a:r>
            <a:endParaRPr lang="en-US" sz="2000" dirty="0">
              <a:solidFill>
                <a:srgbClr val="770028"/>
              </a:solidFill>
              <a:latin typeface="CourierNewPSMT" charset="0"/>
              <a:ea typeface="宋体" panose="02010600030101010101" pitchFamily="2" charset="-122"/>
            </a:endParaRPr>
          </a:p>
          <a:p>
            <a:pPr marL="457200" indent="-457200">
              <a:buFontTx/>
              <a:buAutoNum type="arabicPlain" startAt="12"/>
              <a:defRPr/>
            </a:pPr>
            <a:r>
              <a:rPr lang="zh-CN" alt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</a:t>
            </a:r>
            <a:r>
              <a:rPr 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return 0; </a:t>
            </a:r>
            <a:endParaRPr lang="en-US" sz="2000" dirty="0">
              <a:solidFill>
                <a:srgbClr val="770028"/>
              </a:solidFill>
              <a:latin typeface="CourierNewPSMT" charset="0"/>
              <a:ea typeface="宋体" panose="02010600030101010101" pitchFamily="2" charset="-122"/>
            </a:endParaRPr>
          </a:p>
          <a:p>
            <a:pPr marL="457200" indent="-457200">
              <a:buFontTx/>
              <a:buAutoNum type="arabicPlain" startAt="12"/>
              <a:defRPr/>
            </a:pPr>
            <a:r>
              <a:rPr lang="en-US" sz="2000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}</a:t>
            </a:r>
            <a:endParaRPr lang="en-US" sz="2000" dirty="0">
              <a:solidFill>
                <a:srgbClr val="770028"/>
              </a:solidFill>
              <a:latin typeface="CourierNewPSMT" charset="0"/>
              <a:ea typeface="宋体" panose="02010600030101010101" pitchFamily="2" charset="-122"/>
            </a:endParaRPr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6372225" y="3579813"/>
            <a:ext cx="2397125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en-US">
                <a:solidFill>
                  <a:srgbClr val="0000CC"/>
                </a:solidFill>
                <a:latin typeface="CourierNewPSMT"/>
              </a:rPr>
              <a:t>// 1.指针自增</a:t>
            </a:r>
            <a:endParaRPr lang="en-US" altLang="en-US">
              <a:solidFill>
                <a:srgbClr val="0000CC"/>
              </a:solidFill>
              <a:latin typeface="CourierNewPSMT"/>
            </a:endParaRPr>
          </a:p>
          <a:p>
            <a:r>
              <a:rPr lang="en-US" altLang="en-US">
                <a:solidFill>
                  <a:srgbClr val="0000CC"/>
                </a:solidFill>
                <a:latin typeface="CourierNewPSMT"/>
              </a:rPr>
              <a:t>// 2.指针比较</a:t>
            </a:r>
            <a:endParaRPr lang="en-US" altLang="en-US">
              <a:solidFill>
                <a:srgbClr val="0000CC"/>
              </a:solidFill>
              <a:latin typeface="CourierNewPSMT"/>
            </a:endParaRPr>
          </a:p>
          <a:p>
            <a:r>
              <a:rPr lang="en-US" altLang="en-US">
                <a:solidFill>
                  <a:srgbClr val="0000CC"/>
                </a:solidFill>
                <a:latin typeface="CourierNewPSMT"/>
              </a:rPr>
              <a:t>// 3.指针加/减整数</a:t>
            </a:r>
            <a:endParaRPr lang="en-US" altLang="en-US">
              <a:solidFill>
                <a:srgbClr val="0000CC"/>
              </a:solidFill>
              <a:latin typeface="CourierNewPSMT"/>
            </a:endParaRPr>
          </a:p>
          <a:p>
            <a:r>
              <a:rPr lang="en-US" altLang="en-US">
                <a:solidFill>
                  <a:srgbClr val="0000CC"/>
                </a:solidFill>
                <a:latin typeface="CourierNewPSMT"/>
              </a:rPr>
              <a:t>// 4.间接访问</a:t>
            </a:r>
            <a:endParaRPr lang="en-US" altLang="en-US">
              <a:solidFill>
                <a:srgbClr val="0000CC"/>
              </a:solidFill>
              <a:latin typeface="CourierNewPSMT"/>
            </a:endParaRPr>
          </a:p>
          <a:p>
            <a:r>
              <a:rPr lang="en-US" altLang="en-US">
                <a:solidFill>
                  <a:srgbClr val="0000CC"/>
                </a:solidFill>
                <a:latin typeface="CourierNewPSMT"/>
              </a:rPr>
              <a:t>// 5.赋值</a:t>
            </a:r>
            <a:endParaRPr lang="en-US" altLang="en-US">
              <a:solidFill>
                <a:srgbClr val="0000CC"/>
              </a:solidFill>
              <a:latin typeface="CourierNewPSMT"/>
            </a:endParaRPr>
          </a:p>
          <a:p>
            <a:r>
              <a:rPr lang="en-US" altLang="en-US">
                <a:solidFill>
                  <a:srgbClr val="0000CC"/>
                </a:solidFill>
                <a:latin typeface="CourierNewPSMT"/>
              </a:rPr>
              <a:t>// 6.取址</a:t>
            </a:r>
            <a:endParaRPr lang="en-US" altLang="en-US">
              <a:solidFill>
                <a:srgbClr val="0000CC"/>
              </a:solidFill>
              <a:latin typeface="CourierNewPSMT"/>
            </a:endParaRPr>
          </a:p>
          <a:p>
            <a:r>
              <a:rPr lang="en-US" altLang="en-US">
                <a:solidFill>
                  <a:srgbClr val="0000CC"/>
                </a:solidFill>
                <a:latin typeface="CourierNewPSMT"/>
              </a:rPr>
              <a:t>// 7.指针相减</a:t>
            </a:r>
            <a:endParaRPr lang="en-US" altLang="en-US">
              <a:solidFill>
                <a:srgbClr val="0000CC"/>
              </a:solidFill>
              <a:latin typeface="CourierNewPSMT"/>
            </a:endParaRPr>
          </a:p>
          <a:p>
            <a:r>
              <a:rPr lang="en-US" altLang="en-US">
                <a:solidFill>
                  <a:srgbClr val="0000CC"/>
                </a:solidFill>
                <a:latin typeface="CourierNewPSMT"/>
              </a:rPr>
              <a:t>//</a:t>
            </a:r>
            <a:r>
              <a:rPr lang="zh-CN" altLang="en-US">
                <a:solidFill>
                  <a:srgbClr val="0000CC"/>
                </a:solidFill>
                <a:latin typeface="CourierNewPSMT"/>
              </a:rPr>
              <a:t> </a:t>
            </a:r>
            <a:r>
              <a:rPr lang="en-US" altLang="en-US">
                <a:solidFill>
                  <a:srgbClr val="0000CC"/>
                </a:solidFill>
                <a:latin typeface="CourierNewPSMT"/>
              </a:rPr>
              <a:t>8.指针自减</a:t>
            </a:r>
            <a:endParaRPr lang="en-US" altLang="en-US">
              <a:solidFill>
                <a:srgbClr val="0000CC"/>
              </a:solidFill>
              <a:latin typeface="CourierNewPSMT"/>
            </a:endParaRPr>
          </a:p>
          <a:p>
            <a:endParaRPr lang="en-US" altLang="en-US">
              <a:solidFill>
                <a:srgbClr val="0000CC"/>
              </a:solidFill>
            </a:endParaRPr>
          </a:p>
        </p:txBody>
      </p:sp>
      <p:sp>
        <p:nvSpPr>
          <p:cNvPr id="31751" name="Content Placeholder 2"/>
          <p:cNvSpPr txBox="1"/>
          <p:nvPr/>
        </p:nvSpPr>
        <p:spPr bwMode="auto">
          <a:xfrm>
            <a:off x="5292725" y="1557338"/>
            <a:ext cx="3970338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9pPr>
          </a:lstStyle>
          <a:p>
            <a:pPr lvl="1"/>
            <a:r>
              <a:rPr lang="zh-CN" altLang="en-US" dirty="0"/>
              <a:t>将右侧的操作与左侧的行号对应起来</a:t>
            </a:r>
            <a:endParaRPr lang="en-US" altLang="zh-CN" dirty="0"/>
          </a:p>
          <a:p>
            <a:pPr lvl="1"/>
            <a:r>
              <a:rPr lang="zh-CN" altLang="en-US" dirty="0"/>
              <a:t>程序行号 操作号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0000CC"/>
                </a:solidFill>
              </a:rPr>
              <a:t>如：</a:t>
            </a:r>
            <a:r>
              <a:rPr lang="en-US" altLang="zh-CN" dirty="0">
                <a:solidFill>
                  <a:srgbClr val="0000CC"/>
                </a:solidFill>
              </a:rPr>
              <a:t>1</a:t>
            </a:r>
            <a:r>
              <a:rPr lang="zh-CN" altLang="en-US" dirty="0">
                <a:solidFill>
                  <a:srgbClr val="0000CC"/>
                </a:solidFill>
              </a:rPr>
              <a:t> </a:t>
            </a:r>
            <a:r>
              <a:rPr lang="en-US" altLang="zh-CN" dirty="0">
                <a:solidFill>
                  <a:srgbClr val="0000CC"/>
                </a:solidFill>
              </a:rPr>
              <a:t>9</a:t>
            </a:r>
            <a:endParaRPr lang="en-US" altLang="zh-CN" dirty="0">
              <a:solidFill>
                <a:srgbClr val="0000CC"/>
              </a:solidFill>
            </a:endParaRPr>
          </a:p>
          <a:p>
            <a:pPr lvl="1"/>
            <a:endParaRPr lang="en-US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0" grpId="0"/>
      <p:bldP spid="3175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指针作为函数的参数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499350" cy="549275"/>
          </a:xfrm>
        </p:spPr>
        <p:txBody>
          <a:bodyPr/>
          <a:lstStyle/>
          <a:p>
            <a:r>
              <a:rPr lang="zh-CN" altLang="en-US" sz="2800" dirty="0"/>
              <a:t>函数的传值调用</a:t>
            </a:r>
            <a:endParaRPr lang="en-US" altLang="en-US" sz="2800" dirty="0">
              <a:ea typeface="华文中宋" panose="0201060004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3482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1D7B65F-FB4A-42C2-8228-13C7B622308C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pic>
        <p:nvPicPr>
          <p:cNvPr id="34821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" t="24802" r="6589" b="19760"/>
          <a:stretch>
            <a:fillRect/>
          </a:stretch>
        </p:blipFill>
        <p:spPr bwMode="auto">
          <a:xfrm>
            <a:off x="1187450" y="2205038"/>
            <a:ext cx="7848600" cy="297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596188" y="2127250"/>
            <a:ext cx="1439862" cy="64611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为程序分配的内存空间</a:t>
            </a:r>
            <a:endParaRPr lang="en-US" altLang="en-US">
              <a:solidFill>
                <a:srgbClr val="FF000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8" name="Left Brace 7"/>
          <p:cNvSpPr/>
          <p:nvPr/>
        </p:nvSpPr>
        <p:spPr>
          <a:xfrm>
            <a:off x="7596188" y="3573463"/>
            <a:ext cx="215900" cy="1295400"/>
          </a:xfrm>
          <a:prstGeom prst="leftBrace">
            <a:avLst>
              <a:gd name="adj1" fmla="val 4983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824" name="TextBox 8"/>
          <p:cNvSpPr txBox="1">
            <a:spLocks noChangeArrowheads="1"/>
          </p:cNvSpPr>
          <p:nvPr/>
        </p:nvSpPr>
        <p:spPr bwMode="auto">
          <a:xfrm>
            <a:off x="6924675" y="4037013"/>
            <a:ext cx="671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FF0000"/>
                </a:solidFill>
              </a:rPr>
              <a:t>fixed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10" name="Left Brace 9"/>
          <p:cNvSpPr/>
          <p:nvPr/>
        </p:nvSpPr>
        <p:spPr>
          <a:xfrm>
            <a:off x="7596188" y="2797175"/>
            <a:ext cx="215900" cy="733425"/>
          </a:xfrm>
          <a:prstGeom prst="leftBrace">
            <a:avLst>
              <a:gd name="adj1" fmla="val 4983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826" name="TextBox 10"/>
          <p:cNvSpPr txBox="1">
            <a:spLocks noChangeArrowheads="1"/>
          </p:cNvSpPr>
          <p:nvPr/>
        </p:nvSpPr>
        <p:spPr bwMode="auto">
          <a:xfrm>
            <a:off x="6553200" y="2936875"/>
            <a:ext cx="1042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FF0000"/>
                </a:solidFill>
              </a:rPr>
              <a:t>dynamic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64050" y="2265363"/>
            <a:ext cx="1692275" cy="369887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聚焦</a:t>
            </a:r>
            <a:r>
              <a:rPr lang="en-US" altLang="zh-CN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Stack</a:t>
            </a:r>
            <a:r>
              <a:rPr lang="zh-CN" altLang="en-US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空间</a:t>
            </a:r>
            <a:endParaRPr lang="en-US" altLang="en-US">
              <a:solidFill>
                <a:srgbClr val="FF000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45025" y="4405313"/>
            <a:ext cx="1331913" cy="8556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/>
              <a:t>main</a:t>
            </a:r>
            <a:endParaRPr lang="en-US" altLang="zh-CN" b="1" dirty="0"/>
          </a:p>
          <a:p>
            <a:pPr algn="ctr">
              <a:defRPr/>
            </a:pPr>
            <a:r>
              <a:rPr lang="en-US" altLang="zh-CN" dirty="0" err="1"/>
              <a:t>int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10</a:t>
            </a:r>
            <a:endParaRPr lang="en-US" altLang="zh-CN" dirty="0"/>
          </a:p>
          <a:p>
            <a:pPr algn="ctr">
              <a:defRPr/>
            </a:pP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4645025" y="3549650"/>
            <a:ext cx="1331913" cy="85566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Increment</a:t>
            </a:r>
            <a:endParaRPr lang="en-US" altLang="zh-CN" dirty="0"/>
          </a:p>
          <a:p>
            <a:pPr algn="ctr">
              <a:defRPr/>
            </a:pPr>
            <a:r>
              <a:rPr lang="en-US" altLang="zh-CN" dirty="0" err="1"/>
              <a:t>int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10</a:t>
            </a:r>
            <a:r>
              <a:rPr lang="zh-CN" altLang="en-US" dirty="0"/>
              <a:t> </a:t>
            </a:r>
            <a:endParaRPr lang="en-US" altLang="zh-CN" dirty="0"/>
          </a:p>
          <a:p>
            <a:pPr algn="ctr">
              <a:defRPr/>
            </a:pPr>
            <a:endParaRPr lang="en-US" dirty="0"/>
          </a:p>
        </p:txBody>
      </p:sp>
      <p:cxnSp>
        <p:nvCxnSpPr>
          <p:cNvPr id="16" name="Elbow Connector 15"/>
          <p:cNvCxnSpPr>
            <a:stCxn id="13" idx="3"/>
            <a:endCxn id="14" idx="3"/>
          </p:cNvCxnSpPr>
          <p:nvPr/>
        </p:nvCxnSpPr>
        <p:spPr>
          <a:xfrm flipV="1">
            <a:off x="5976938" y="3978275"/>
            <a:ext cx="12700" cy="855663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64263" y="4773613"/>
            <a:ext cx="1576387" cy="64611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传递</a:t>
            </a:r>
            <a:r>
              <a:rPr lang="en-US" altLang="zh-CN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main</a:t>
            </a:r>
            <a:r>
              <a:rPr lang="zh-CN" altLang="en-US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中变量</a:t>
            </a:r>
            <a:r>
              <a:rPr lang="en-US" altLang="zh-CN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a</a:t>
            </a:r>
            <a:r>
              <a:rPr lang="zh-CN" altLang="en-US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的</a:t>
            </a:r>
            <a:r>
              <a:rPr lang="en-US" altLang="zh-CN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value</a:t>
            </a:r>
            <a:endParaRPr lang="en-US" altLang="en-US">
              <a:solidFill>
                <a:srgbClr val="FF000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33950" y="4073525"/>
            <a:ext cx="8048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600">
                <a:solidFill>
                  <a:srgbClr val="FF0000"/>
                </a:solidFill>
              </a:rPr>
              <a:t>a</a:t>
            </a:r>
            <a:r>
              <a:rPr lang="zh-CN" altLang="en-US" sz="1600">
                <a:solidFill>
                  <a:srgbClr val="FF0000"/>
                </a:solidFill>
              </a:rPr>
              <a:t> </a:t>
            </a:r>
            <a:r>
              <a:rPr lang="en-US" altLang="zh-CN" sz="1600">
                <a:solidFill>
                  <a:srgbClr val="FF0000"/>
                </a:solidFill>
              </a:rPr>
              <a:t>=</a:t>
            </a:r>
            <a:r>
              <a:rPr lang="zh-CN" altLang="en-US" sz="1600">
                <a:solidFill>
                  <a:srgbClr val="FF0000"/>
                </a:solidFill>
              </a:rPr>
              <a:t> </a:t>
            </a:r>
            <a:r>
              <a:rPr lang="en-US" altLang="zh-CN" sz="1600">
                <a:solidFill>
                  <a:srgbClr val="FF0000"/>
                </a:solidFill>
              </a:rPr>
              <a:t>11</a:t>
            </a:r>
            <a:r>
              <a:rPr lang="zh-CN" altLang="en-US" sz="1600">
                <a:solidFill>
                  <a:srgbClr val="FF0000"/>
                </a:solidFill>
              </a:rPr>
              <a:t> </a:t>
            </a:r>
            <a:endParaRPr lang="en-US" altLang="zh-CN" sz="1600">
              <a:solidFill>
                <a:srgbClr val="FF0000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5383213"/>
            <a:ext cx="4257675" cy="115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4" grpId="1" animBg="1"/>
      <p:bldP spid="17" grpId="0"/>
      <p:bldP spid="17" grpId="1"/>
      <p:bldP spid="18" grpId="0"/>
      <p:bldP spid="18" grpId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指针作为函数的参数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6866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499350" cy="549275"/>
          </a:xfrm>
        </p:spPr>
        <p:txBody>
          <a:bodyPr/>
          <a:lstStyle/>
          <a:p>
            <a:r>
              <a:rPr lang="zh-CN" altLang="en-US" sz="2800" dirty="0"/>
              <a:t>函数的传</a:t>
            </a:r>
            <a:r>
              <a:rPr lang="zh-CN" altLang="en-US" dirty="0"/>
              <a:t>指针</a:t>
            </a:r>
            <a:r>
              <a:rPr lang="zh-CN" altLang="en-US" sz="2800" dirty="0"/>
              <a:t>调用</a:t>
            </a:r>
            <a:endParaRPr lang="en-US" altLang="en-US" sz="2800" dirty="0">
              <a:ea typeface="华文中宋" panose="0201060004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36868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06C3383-65C8-45EF-BBFE-812485027A16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pic>
        <p:nvPicPr>
          <p:cNvPr id="36869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24" t="24802" r="6589" b="19760"/>
          <a:stretch>
            <a:fillRect/>
          </a:stretch>
        </p:blipFill>
        <p:spPr bwMode="auto">
          <a:xfrm>
            <a:off x="4140200" y="2205038"/>
            <a:ext cx="4895850" cy="297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596188" y="2127250"/>
            <a:ext cx="1439862" cy="64611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为程序分配的内存空间</a:t>
            </a:r>
            <a:endParaRPr lang="en-US" altLang="en-US">
              <a:solidFill>
                <a:srgbClr val="FF000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8" name="Left Brace 7"/>
          <p:cNvSpPr/>
          <p:nvPr/>
        </p:nvSpPr>
        <p:spPr>
          <a:xfrm>
            <a:off x="7596188" y="3573463"/>
            <a:ext cx="215900" cy="1295400"/>
          </a:xfrm>
          <a:prstGeom prst="leftBrace">
            <a:avLst>
              <a:gd name="adj1" fmla="val 4983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72" name="TextBox 8"/>
          <p:cNvSpPr txBox="1">
            <a:spLocks noChangeArrowheads="1"/>
          </p:cNvSpPr>
          <p:nvPr/>
        </p:nvSpPr>
        <p:spPr bwMode="auto">
          <a:xfrm>
            <a:off x="6924675" y="4037013"/>
            <a:ext cx="671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FF0000"/>
                </a:solidFill>
              </a:rPr>
              <a:t>fixed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10" name="Left Brace 9"/>
          <p:cNvSpPr/>
          <p:nvPr/>
        </p:nvSpPr>
        <p:spPr>
          <a:xfrm>
            <a:off x="7596188" y="2797175"/>
            <a:ext cx="215900" cy="733425"/>
          </a:xfrm>
          <a:prstGeom prst="leftBrace">
            <a:avLst>
              <a:gd name="adj1" fmla="val 4983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74" name="TextBox 10"/>
          <p:cNvSpPr txBox="1">
            <a:spLocks noChangeArrowheads="1"/>
          </p:cNvSpPr>
          <p:nvPr/>
        </p:nvSpPr>
        <p:spPr bwMode="auto">
          <a:xfrm>
            <a:off x="6553200" y="2936875"/>
            <a:ext cx="1042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FF0000"/>
                </a:solidFill>
              </a:rPr>
              <a:t>dynamic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64050" y="2265363"/>
            <a:ext cx="1692275" cy="369887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聚焦</a:t>
            </a:r>
            <a:r>
              <a:rPr lang="en-US" altLang="zh-CN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Stack</a:t>
            </a:r>
            <a:r>
              <a:rPr lang="zh-CN" altLang="en-US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空间</a:t>
            </a:r>
            <a:endParaRPr lang="en-US" altLang="en-US">
              <a:solidFill>
                <a:srgbClr val="FF000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45025" y="4405313"/>
            <a:ext cx="1331913" cy="8556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/>
              <a:t>main</a:t>
            </a:r>
            <a:endParaRPr lang="en-US" altLang="zh-CN" b="1" dirty="0"/>
          </a:p>
          <a:p>
            <a:pPr algn="ctr">
              <a:defRPr/>
            </a:pPr>
            <a:r>
              <a:rPr lang="en-US" altLang="zh-CN" dirty="0" err="1"/>
              <a:t>int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10</a:t>
            </a:r>
            <a:endParaRPr lang="en-US" altLang="zh-CN" dirty="0"/>
          </a:p>
        </p:txBody>
      </p:sp>
      <p:sp>
        <p:nvSpPr>
          <p:cNvPr id="14" name="Rectangle 13"/>
          <p:cNvSpPr/>
          <p:nvPr/>
        </p:nvSpPr>
        <p:spPr>
          <a:xfrm>
            <a:off x="4645025" y="3549650"/>
            <a:ext cx="1331913" cy="85566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Increment</a:t>
            </a:r>
            <a:endParaRPr lang="en-US" altLang="zh-CN" dirty="0"/>
          </a:p>
          <a:p>
            <a:pPr algn="ctr">
              <a:defRPr/>
            </a:pPr>
            <a:r>
              <a:rPr lang="en-US" altLang="zh-CN" dirty="0"/>
              <a:t>p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201</a:t>
            </a:r>
            <a:r>
              <a:rPr lang="zh-CN" altLang="en-US" dirty="0"/>
              <a:t>  </a:t>
            </a:r>
            <a:endParaRPr lang="en-US" altLang="zh-CN" dirty="0"/>
          </a:p>
          <a:p>
            <a:pPr algn="ctr">
              <a:defRPr/>
            </a:pPr>
            <a:endParaRPr lang="en-US" dirty="0"/>
          </a:p>
        </p:txBody>
      </p:sp>
      <p:cxnSp>
        <p:nvCxnSpPr>
          <p:cNvPr id="16" name="Elbow Connector 15"/>
          <p:cNvCxnSpPr>
            <a:stCxn id="13" idx="3"/>
            <a:endCxn id="14" idx="3"/>
          </p:cNvCxnSpPr>
          <p:nvPr/>
        </p:nvCxnSpPr>
        <p:spPr>
          <a:xfrm flipV="1">
            <a:off x="5976938" y="3978275"/>
            <a:ext cx="12700" cy="855663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64263" y="4773613"/>
            <a:ext cx="1576387" cy="64611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传递</a:t>
            </a:r>
            <a:r>
              <a:rPr lang="en-US" altLang="zh-CN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main</a:t>
            </a:r>
            <a:r>
              <a:rPr lang="zh-CN" altLang="en-US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中变量</a:t>
            </a:r>
            <a:r>
              <a:rPr lang="en-US" altLang="zh-CN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a</a:t>
            </a:r>
            <a:r>
              <a:rPr lang="zh-CN" altLang="en-US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的地址</a:t>
            </a:r>
            <a:endParaRPr lang="en-US" altLang="en-US">
              <a:solidFill>
                <a:srgbClr val="FF000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36880" name="Rectangle 14"/>
          <p:cNvSpPr>
            <a:spLocks noChangeArrowheads="1"/>
          </p:cNvSpPr>
          <p:nvPr/>
        </p:nvSpPr>
        <p:spPr bwMode="auto">
          <a:xfrm>
            <a:off x="1222375" y="2225675"/>
            <a:ext cx="3452813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en-US" sz="1600">
                <a:solidFill>
                  <a:srgbClr val="7F0055"/>
                </a:solidFill>
                <a:latin typeface="Monaco"/>
              </a:rPr>
              <a:t>void</a:t>
            </a:r>
            <a:r>
              <a:rPr lang="en-US" altLang="en-US" sz="1600">
                <a:latin typeface="Monaco"/>
              </a:rPr>
              <a:t> Increment (</a:t>
            </a:r>
            <a:r>
              <a:rPr lang="en-US" altLang="en-US" sz="1600">
                <a:solidFill>
                  <a:srgbClr val="7F0055"/>
                </a:solidFill>
                <a:latin typeface="Monaco"/>
              </a:rPr>
              <a:t>int</a:t>
            </a:r>
            <a:r>
              <a:rPr lang="en-US" altLang="en-US" sz="1600">
                <a:latin typeface="Monaco"/>
              </a:rPr>
              <a:t> *p) {</a:t>
            </a:r>
            <a:endParaRPr lang="en-US" altLang="en-US" sz="1600">
              <a:latin typeface="Monaco"/>
            </a:endParaRPr>
          </a:p>
          <a:p>
            <a:r>
              <a:rPr lang="zh-CN" altLang="en-US" sz="1600">
                <a:latin typeface="Monaco"/>
              </a:rPr>
              <a:t>  </a:t>
            </a:r>
            <a:r>
              <a:rPr lang="en-US" altLang="en-US" sz="1600">
                <a:latin typeface="Monaco"/>
              </a:rPr>
              <a:t>*p = (*p)+1;</a:t>
            </a:r>
            <a:endParaRPr lang="en-US" altLang="en-US" sz="1600">
              <a:latin typeface="Monaco"/>
            </a:endParaRPr>
          </a:p>
          <a:p>
            <a:r>
              <a:rPr lang="en-US" altLang="en-US" sz="1600">
                <a:latin typeface="Monaco"/>
              </a:rPr>
              <a:t>}</a:t>
            </a:r>
            <a:endParaRPr lang="en-US" altLang="en-US" sz="1600">
              <a:latin typeface="Monaco"/>
            </a:endParaRPr>
          </a:p>
        </p:txBody>
      </p:sp>
      <p:sp>
        <p:nvSpPr>
          <p:cNvPr id="36881" name="Rectangle 19"/>
          <p:cNvSpPr>
            <a:spLocks noChangeArrowheads="1"/>
          </p:cNvSpPr>
          <p:nvPr/>
        </p:nvSpPr>
        <p:spPr bwMode="auto">
          <a:xfrm>
            <a:off x="1249363" y="3289300"/>
            <a:ext cx="2890837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fr-FR" altLang="en-US" sz="1600">
                <a:solidFill>
                  <a:srgbClr val="7F0055"/>
                </a:solidFill>
                <a:latin typeface="Monaco"/>
              </a:rPr>
              <a:t>int</a:t>
            </a:r>
            <a:r>
              <a:rPr lang="fr-FR" altLang="en-US" sz="1600">
                <a:latin typeface="Monaco"/>
              </a:rPr>
              <a:t> main () {</a:t>
            </a:r>
            <a:endParaRPr lang="en-US" altLang="en-US" sz="1600">
              <a:solidFill>
                <a:srgbClr val="7F0055"/>
              </a:solidFill>
              <a:latin typeface="Monaco"/>
            </a:endParaRPr>
          </a:p>
          <a:p>
            <a:r>
              <a:rPr lang="zh-CN" altLang="en-US" sz="1600">
                <a:solidFill>
                  <a:srgbClr val="7F0055"/>
                </a:solidFill>
                <a:latin typeface="Monaco"/>
              </a:rPr>
              <a:t>  </a:t>
            </a:r>
            <a:r>
              <a:rPr lang="en-US" altLang="en-US" sz="1600">
                <a:solidFill>
                  <a:srgbClr val="7F0055"/>
                </a:solidFill>
                <a:latin typeface="Monaco"/>
              </a:rPr>
              <a:t>int</a:t>
            </a:r>
            <a:r>
              <a:rPr lang="en-US" altLang="en-US" sz="1600">
                <a:latin typeface="Monaco"/>
              </a:rPr>
              <a:t> a = 10;</a:t>
            </a:r>
            <a:endParaRPr lang="en-US" altLang="en-US" sz="1600">
              <a:latin typeface="Monaco"/>
            </a:endParaRPr>
          </a:p>
          <a:p>
            <a:r>
              <a:rPr lang="zh-CN" altLang="en-US" sz="1600">
                <a:latin typeface="Monaco"/>
              </a:rPr>
              <a:t>  </a:t>
            </a:r>
            <a:r>
              <a:rPr lang="en-US" altLang="en-US" sz="1600">
                <a:latin typeface="Monaco"/>
              </a:rPr>
              <a:t>Increment (&amp;a);</a:t>
            </a:r>
            <a:endParaRPr lang="en-US" altLang="en-US" sz="1600">
              <a:latin typeface="Monaco"/>
            </a:endParaRPr>
          </a:p>
          <a:p>
            <a:r>
              <a:rPr lang="zh-CN" altLang="en-US" sz="1600">
                <a:solidFill>
                  <a:srgbClr val="642880"/>
                </a:solidFill>
                <a:latin typeface="Monaco"/>
              </a:rPr>
              <a:t>  </a:t>
            </a:r>
            <a:r>
              <a:rPr lang="en-US" altLang="en-US" sz="1600">
                <a:solidFill>
                  <a:srgbClr val="642880"/>
                </a:solidFill>
                <a:latin typeface="Monaco"/>
              </a:rPr>
              <a:t>printf</a:t>
            </a:r>
            <a:r>
              <a:rPr lang="en-US" altLang="en-US" sz="1600">
                <a:solidFill>
                  <a:srgbClr val="000000"/>
                </a:solidFill>
                <a:latin typeface="Monaco"/>
              </a:rPr>
              <a:t> (</a:t>
            </a:r>
            <a:r>
              <a:rPr lang="en-US" altLang="en-US" sz="1600">
                <a:solidFill>
                  <a:srgbClr val="2A00FF"/>
                </a:solidFill>
                <a:latin typeface="Monaco"/>
              </a:rPr>
              <a:t>"a = %d\n"</a:t>
            </a:r>
            <a:r>
              <a:rPr lang="en-US" altLang="en-US" sz="1600">
                <a:solidFill>
                  <a:srgbClr val="000000"/>
                </a:solidFill>
                <a:latin typeface="Monaco"/>
              </a:rPr>
              <a:t>, a);</a:t>
            </a:r>
            <a:endParaRPr lang="en-US" altLang="en-US" sz="1600">
              <a:solidFill>
                <a:srgbClr val="2A00FF"/>
              </a:solidFill>
              <a:latin typeface="Monaco"/>
            </a:endParaRPr>
          </a:p>
          <a:p>
            <a:r>
              <a:rPr lang="zh-CN" altLang="en-US" sz="1600">
                <a:solidFill>
                  <a:srgbClr val="7F0055"/>
                </a:solidFill>
                <a:latin typeface="Monaco"/>
              </a:rPr>
              <a:t>  </a:t>
            </a:r>
            <a:r>
              <a:rPr lang="en-US" altLang="en-US" sz="1600">
                <a:solidFill>
                  <a:srgbClr val="7F0055"/>
                </a:solidFill>
                <a:latin typeface="Monaco"/>
              </a:rPr>
              <a:t>return</a:t>
            </a:r>
            <a:r>
              <a:rPr lang="en-US" altLang="en-US" sz="1600">
                <a:solidFill>
                  <a:srgbClr val="000000"/>
                </a:solidFill>
                <a:latin typeface="Monaco"/>
              </a:rPr>
              <a:t> 0;</a:t>
            </a:r>
            <a:endParaRPr lang="en-US" altLang="en-US" sz="1600">
              <a:solidFill>
                <a:srgbClr val="7F0055"/>
              </a:solidFill>
              <a:latin typeface="Monaco"/>
            </a:endParaRPr>
          </a:p>
          <a:p>
            <a:r>
              <a:rPr lang="en-US" altLang="en-US" sz="1600">
                <a:latin typeface="Monaco"/>
              </a:rPr>
              <a:t>}</a:t>
            </a:r>
            <a:endParaRPr lang="en-US" altLang="en-US" sz="1600">
              <a:latin typeface="Monaco"/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4106863" y="46482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201</a:t>
            </a:r>
            <a:endParaRPr lang="en-US" altLang="en-US"/>
          </a:p>
        </p:txBody>
      </p:sp>
      <p:cxnSp>
        <p:nvCxnSpPr>
          <p:cNvPr id="23" name="Elbow Connector 22"/>
          <p:cNvCxnSpPr>
            <a:cxnSpLocks noChangeShapeType="1"/>
          </p:cNvCxnSpPr>
          <p:nvPr/>
        </p:nvCxnSpPr>
        <p:spPr bwMode="auto">
          <a:xfrm rot="5400000">
            <a:off x="4781550" y="4230688"/>
            <a:ext cx="700088" cy="385762"/>
          </a:xfrm>
          <a:prstGeom prst="bentConnector3">
            <a:avLst>
              <a:gd name="adj1" fmla="val 56403"/>
            </a:avLst>
          </a:prstGeom>
          <a:noFill/>
          <a:ln w="25400">
            <a:solidFill>
              <a:schemeClr val="accent2"/>
            </a:solidFill>
            <a:miter lim="800000"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矩形 2"/>
          <p:cNvSpPr/>
          <p:nvPr/>
        </p:nvSpPr>
        <p:spPr>
          <a:xfrm>
            <a:off x="5435842" y="477361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dirty="0">
                <a:solidFill>
                  <a:srgbClr val="FF0000"/>
                </a:solidFill>
              </a:rPr>
              <a:t>11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4" grpId="1" animBg="1"/>
      <p:bldP spid="17" grpId="0"/>
      <p:bldP spid="17" grpId="1"/>
      <p:bldP spid="22" grpId="0"/>
      <p:bldP spid="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/>
              <a:t>用传指针调用实</a:t>
            </a:r>
            <a:r>
              <a:rPr lang="zh-CN" altLang="en-US" dirty="0"/>
              <a:t>现</a:t>
            </a:r>
            <a:r>
              <a:rPr lang="en-US" altLang="zh-CN" dirty="0"/>
              <a:t>swap</a:t>
            </a:r>
            <a:r>
              <a:rPr lang="zh-CN" altLang="en-US" dirty="0"/>
              <a:t>函数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3891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DD1D697-1EA1-4B56-BCD6-253A68884132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38916" name="Rectangle 5"/>
          <p:cNvSpPr>
            <a:spLocks noChangeArrowheads="1"/>
          </p:cNvSpPr>
          <p:nvPr/>
        </p:nvSpPr>
        <p:spPr bwMode="auto">
          <a:xfrm>
            <a:off x="1249363" y="1412875"/>
            <a:ext cx="7499350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en-US" sz="2000">
                <a:solidFill>
                  <a:srgbClr val="770028"/>
                </a:solidFill>
                <a:latin typeface="CourierNewPSMT"/>
              </a:rPr>
              <a:t>#include &lt;stdio.h&gt; </a:t>
            </a:r>
            <a:endParaRPr lang="en-US" altLang="en-US" sz="2000">
              <a:solidFill>
                <a:srgbClr val="770028"/>
              </a:solidFill>
              <a:latin typeface="CourierNewPSMT"/>
            </a:endParaRPr>
          </a:p>
          <a:p>
            <a:r>
              <a:rPr lang="en-US" altLang="en-US" sz="2000">
                <a:solidFill>
                  <a:srgbClr val="770028"/>
                </a:solidFill>
                <a:latin typeface="CourierNewPSMT"/>
              </a:rPr>
              <a:t>void interchange(int * u, int * v); </a:t>
            </a:r>
            <a:endParaRPr lang="en-US" altLang="en-US" sz="2000">
              <a:solidFill>
                <a:srgbClr val="770028"/>
              </a:solidFill>
              <a:latin typeface="CourierNewPSMT"/>
            </a:endParaRPr>
          </a:p>
          <a:p>
            <a:r>
              <a:rPr lang="en-US" altLang="en-US" sz="2000">
                <a:solidFill>
                  <a:srgbClr val="770028"/>
                </a:solidFill>
                <a:latin typeface="CourierNewPSMT"/>
              </a:rPr>
              <a:t>int main(void) { </a:t>
            </a:r>
            <a:endParaRPr lang="en-US" altLang="en-US" sz="2000">
              <a:solidFill>
                <a:srgbClr val="770028"/>
              </a:solidFill>
              <a:latin typeface="CourierNewPSMT"/>
            </a:endParaRPr>
          </a:p>
          <a:p>
            <a:r>
              <a:rPr lang="zh-CN" altLang="en-US" sz="2000">
                <a:solidFill>
                  <a:srgbClr val="770028"/>
                </a:solidFill>
                <a:latin typeface="CourierNewPSMT"/>
              </a:rPr>
              <a:t>  </a:t>
            </a:r>
            <a:r>
              <a:rPr lang="en-US" altLang="en-US" sz="2000">
                <a:solidFill>
                  <a:srgbClr val="770028"/>
                </a:solidFill>
                <a:latin typeface="CourierNewPSMT"/>
              </a:rPr>
              <a:t>int x = 5, y = 10; </a:t>
            </a:r>
            <a:endParaRPr lang="en-US" altLang="en-US" sz="2000">
              <a:solidFill>
                <a:srgbClr val="770028"/>
              </a:solidFill>
              <a:latin typeface="CourierNewPSMT"/>
            </a:endParaRPr>
          </a:p>
          <a:p>
            <a:r>
              <a:rPr lang="zh-CN" altLang="en-US" sz="2000">
                <a:solidFill>
                  <a:srgbClr val="770028"/>
                </a:solidFill>
                <a:latin typeface="CourierNewPSMT"/>
              </a:rPr>
              <a:t>  </a:t>
            </a:r>
            <a:r>
              <a:rPr lang="en-US" altLang="en-US" sz="2000">
                <a:solidFill>
                  <a:srgbClr val="770028"/>
                </a:solidFill>
                <a:latin typeface="CourierNewPSMT"/>
              </a:rPr>
              <a:t>printf(“Originally x = %d and y = %d.\n”, x, y); </a:t>
            </a:r>
            <a:r>
              <a:rPr lang="zh-CN" altLang="en-US" sz="2000">
                <a:solidFill>
                  <a:srgbClr val="770028"/>
                </a:solidFill>
                <a:latin typeface="CourierNewPSMT"/>
              </a:rPr>
              <a:t>  </a:t>
            </a:r>
            <a:endParaRPr lang="en-US" altLang="zh-CN" sz="2000">
              <a:solidFill>
                <a:srgbClr val="770028"/>
              </a:solidFill>
              <a:latin typeface="CourierNewPSMT"/>
            </a:endParaRPr>
          </a:p>
          <a:p>
            <a:r>
              <a:rPr lang="zh-CN" altLang="en-US" sz="2000" b="1">
                <a:solidFill>
                  <a:srgbClr val="FF0000"/>
                </a:solidFill>
                <a:latin typeface="CourierNewPSMT"/>
              </a:rPr>
              <a:t>  </a:t>
            </a:r>
            <a:r>
              <a:rPr lang="en-US" altLang="zh-CN" sz="2000" b="1">
                <a:solidFill>
                  <a:srgbClr val="FF0000"/>
                </a:solidFill>
                <a:latin typeface="CourierNewPSMT"/>
              </a:rPr>
              <a:t>swap</a:t>
            </a:r>
            <a:r>
              <a:rPr lang="en-US" altLang="en-US" sz="2000" b="1">
                <a:solidFill>
                  <a:srgbClr val="FF0000"/>
                </a:solidFill>
                <a:latin typeface="CourierNewPSMT"/>
              </a:rPr>
              <a:t>(&amp;x, &amp;y); /* send addresses to function */ </a:t>
            </a:r>
            <a:endParaRPr lang="en-US" altLang="en-US" sz="2000" b="1">
              <a:solidFill>
                <a:srgbClr val="FF0000"/>
              </a:solidFill>
              <a:latin typeface="CourierNewPSMT"/>
            </a:endParaRPr>
          </a:p>
          <a:p>
            <a:r>
              <a:rPr lang="zh-CN" altLang="en-US" sz="2000">
                <a:solidFill>
                  <a:srgbClr val="770028"/>
                </a:solidFill>
                <a:latin typeface="CourierNewPSMT"/>
              </a:rPr>
              <a:t>  </a:t>
            </a:r>
            <a:r>
              <a:rPr lang="en-US" altLang="en-US" sz="2000">
                <a:solidFill>
                  <a:srgbClr val="770028"/>
                </a:solidFill>
                <a:latin typeface="CourierNewPSMT"/>
              </a:rPr>
              <a:t>printf("Now x = %d and y = %d.\n", x, y); </a:t>
            </a:r>
            <a:endParaRPr lang="en-US" altLang="en-US" sz="2000">
              <a:solidFill>
                <a:srgbClr val="770028"/>
              </a:solidFill>
              <a:latin typeface="CourierNewPSMT"/>
            </a:endParaRPr>
          </a:p>
          <a:p>
            <a:r>
              <a:rPr lang="zh-CN" altLang="en-US" sz="2000">
                <a:solidFill>
                  <a:srgbClr val="770028"/>
                </a:solidFill>
                <a:latin typeface="CourierNewPSMT"/>
              </a:rPr>
              <a:t>  </a:t>
            </a:r>
            <a:r>
              <a:rPr lang="en-US" altLang="en-US" sz="2000">
                <a:solidFill>
                  <a:srgbClr val="770028"/>
                </a:solidFill>
                <a:latin typeface="CourierNewPSMT"/>
              </a:rPr>
              <a:t>return 0; </a:t>
            </a:r>
            <a:endParaRPr lang="en-US" altLang="en-US" sz="2000">
              <a:solidFill>
                <a:srgbClr val="770028"/>
              </a:solidFill>
              <a:latin typeface="CourierNewPSMT"/>
            </a:endParaRPr>
          </a:p>
          <a:p>
            <a:r>
              <a:rPr lang="en-US" altLang="en-US" sz="2000">
                <a:solidFill>
                  <a:srgbClr val="770028"/>
                </a:solidFill>
                <a:latin typeface="CourierNewPSMT"/>
              </a:rPr>
              <a:t>} </a:t>
            </a:r>
            <a:endParaRPr lang="en-US" altLang="en-US" sz="2000">
              <a:solidFill>
                <a:srgbClr val="770028"/>
              </a:solidFill>
              <a:latin typeface="CourierNewPSMT"/>
            </a:endParaRPr>
          </a:p>
          <a:p>
            <a:endParaRPr lang="en-US" altLang="en-US" sz="2000">
              <a:solidFill>
                <a:srgbClr val="770028"/>
              </a:solidFill>
              <a:latin typeface="CourierNewPSMT"/>
            </a:endParaRPr>
          </a:p>
          <a:p>
            <a:r>
              <a:rPr lang="en-US" altLang="en-US" sz="2000" b="1">
                <a:solidFill>
                  <a:srgbClr val="FF0000"/>
                </a:solidFill>
                <a:latin typeface="CourierNewPSMT"/>
              </a:rPr>
              <a:t>void </a:t>
            </a:r>
            <a:r>
              <a:rPr lang="en-US" altLang="zh-CN" sz="2000" b="1">
                <a:solidFill>
                  <a:srgbClr val="FF0000"/>
                </a:solidFill>
                <a:latin typeface="CourierNewPSMT"/>
              </a:rPr>
              <a:t>swap</a:t>
            </a:r>
            <a:r>
              <a:rPr lang="zh-CN" altLang="en-US" sz="2000" b="1">
                <a:solidFill>
                  <a:srgbClr val="FF0000"/>
                </a:solidFill>
                <a:latin typeface="CourierNewPSMT"/>
              </a:rPr>
              <a:t> </a:t>
            </a:r>
            <a:r>
              <a:rPr lang="en-US" altLang="en-US" sz="2000" b="1">
                <a:solidFill>
                  <a:srgbClr val="FF0000"/>
                </a:solidFill>
                <a:latin typeface="CourierNewPSMT"/>
              </a:rPr>
              <a:t>(int * u, int * v) {</a:t>
            </a:r>
            <a:endParaRPr lang="en-US" altLang="en-US" sz="2000" b="1">
              <a:solidFill>
                <a:srgbClr val="FF0000"/>
              </a:solidFill>
              <a:latin typeface="CourierNewPSMT"/>
            </a:endParaRPr>
          </a:p>
          <a:p>
            <a:r>
              <a:rPr lang="zh-CN" altLang="en-US" sz="2000">
                <a:solidFill>
                  <a:srgbClr val="770028"/>
                </a:solidFill>
                <a:latin typeface="CourierNewPSMT"/>
              </a:rPr>
              <a:t>  </a:t>
            </a:r>
            <a:r>
              <a:rPr lang="en-US" altLang="en-US" sz="2000">
                <a:solidFill>
                  <a:srgbClr val="770028"/>
                </a:solidFill>
                <a:latin typeface="CourierNewPSMT"/>
              </a:rPr>
              <a:t>int temp; </a:t>
            </a:r>
            <a:endParaRPr lang="en-US" altLang="en-US" sz="2000"/>
          </a:p>
          <a:p>
            <a:r>
              <a:rPr lang="zh-CN" altLang="en-US" sz="2000">
                <a:solidFill>
                  <a:srgbClr val="770028"/>
                </a:solidFill>
                <a:latin typeface="CourierNewPSMT"/>
              </a:rPr>
              <a:t>  </a:t>
            </a:r>
            <a:r>
              <a:rPr lang="en-US" altLang="en-US" sz="2000">
                <a:solidFill>
                  <a:srgbClr val="770028"/>
                </a:solidFill>
                <a:latin typeface="CourierNewPSMT"/>
              </a:rPr>
              <a:t>temp = *u; </a:t>
            </a:r>
            <a:endParaRPr lang="en-US" altLang="en-US" sz="2000">
              <a:solidFill>
                <a:srgbClr val="770028"/>
              </a:solidFill>
              <a:latin typeface="CourierNewPSMT"/>
            </a:endParaRPr>
          </a:p>
          <a:p>
            <a:r>
              <a:rPr lang="zh-CN" altLang="en-US" sz="2000">
                <a:solidFill>
                  <a:srgbClr val="770028"/>
                </a:solidFill>
                <a:latin typeface="CourierNewPSMT"/>
              </a:rPr>
              <a:t>  </a:t>
            </a:r>
            <a:r>
              <a:rPr lang="en-US" altLang="en-US" sz="2000">
                <a:solidFill>
                  <a:srgbClr val="770028"/>
                </a:solidFill>
                <a:latin typeface="CourierNewPSMT"/>
              </a:rPr>
              <a:t>*u = *v; </a:t>
            </a:r>
            <a:endParaRPr lang="en-US" altLang="en-US" sz="2000">
              <a:solidFill>
                <a:srgbClr val="770028"/>
              </a:solidFill>
              <a:latin typeface="CourierNewPSMT"/>
            </a:endParaRPr>
          </a:p>
          <a:p>
            <a:r>
              <a:rPr lang="zh-CN" altLang="en-US" sz="2000">
                <a:solidFill>
                  <a:srgbClr val="770028"/>
                </a:solidFill>
                <a:latin typeface="CourierNewPSMT"/>
              </a:rPr>
              <a:t>  </a:t>
            </a:r>
            <a:r>
              <a:rPr lang="en-US" altLang="en-US" sz="2000">
                <a:solidFill>
                  <a:srgbClr val="770028"/>
                </a:solidFill>
                <a:latin typeface="CourierNewPSMT"/>
              </a:rPr>
              <a:t>*v = temp; </a:t>
            </a:r>
            <a:endParaRPr lang="en-US" altLang="en-US" sz="2000">
              <a:solidFill>
                <a:srgbClr val="770028"/>
              </a:solidFill>
              <a:latin typeface="CourierNewPSMT"/>
            </a:endParaRPr>
          </a:p>
          <a:p>
            <a:r>
              <a:rPr lang="en-US" altLang="en-US" sz="2000">
                <a:solidFill>
                  <a:srgbClr val="770028"/>
                </a:solidFill>
                <a:latin typeface="CourierNewPSMT"/>
              </a:rPr>
              <a:t>} </a:t>
            </a:r>
            <a:endParaRPr lang="en-US" altLang="en-US" sz="200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319588" y="5126038"/>
            <a:ext cx="1730375" cy="12001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76201" dir="2700000" algn="tl" rotWithShape="0">
              <a:srgbClr val="808080">
                <a:alpha val="39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x-none" dirty="0" err="1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int</a:t>
            </a:r>
            <a:r>
              <a:rPr lang="zh-CN" altLang="en-US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*</a:t>
            </a:r>
            <a:r>
              <a:rPr lang="en-US" altLang="x-none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 temp; </a:t>
            </a:r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x-none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temp = u; </a:t>
            </a:r>
            <a:endParaRPr lang="en-US" altLang="x-none" dirty="0">
              <a:solidFill>
                <a:srgbClr val="770028"/>
              </a:solidFill>
              <a:latin typeface="CourierNewPSMT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x-none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u = v; </a:t>
            </a:r>
            <a:endParaRPr lang="en-US" altLang="x-none" dirty="0">
              <a:solidFill>
                <a:srgbClr val="770028"/>
              </a:solidFill>
              <a:latin typeface="CourierNewPSMT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x-none" dirty="0">
                <a:solidFill>
                  <a:srgbClr val="770028"/>
                </a:solidFill>
                <a:latin typeface="CourierNewPSMT" charset="0"/>
                <a:ea typeface="宋体" panose="02010600030101010101" pitchFamily="2" charset="-122"/>
              </a:rPr>
              <a:t>v = temp; </a:t>
            </a:r>
            <a:endParaRPr 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Line Callout 1 6"/>
          <p:cNvSpPr/>
          <p:nvPr/>
        </p:nvSpPr>
        <p:spPr>
          <a:xfrm>
            <a:off x="6502400" y="5757863"/>
            <a:ext cx="2397125" cy="652462"/>
          </a:xfrm>
          <a:prstGeom prst="borderCallout1">
            <a:avLst>
              <a:gd name="adj1" fmla="val -17820"/>
              <a:gd name="adj2" fmla="val 9619"/>
              <a:gd name="adj3" fmla="val -62029"/>
              <a:gd name="adj4" fmla="val -2331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为什么不对？</a:t>
            </a:r>
            <a:endParaRPr lang="en-US" altLang="zh-CN">
              <a:solidFill>
                <a:srgbClr val="FFFFFF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OPFI" val=""/>
</p:tagLst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16034</Words>
  <Application>WPS 演示</Application>
  <PresentationFormat>On-screen Show (4:3)</PresentationFormat>
  <Paragraphs>1468</Paragraphs>
  <Slides>67</Slides>
  <Notes>26</Notes>
  <HiddenSlides>19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99" baseType="lpstr">
      <vt:lpstr>Arial</vt:lpstr>
      <vt:lpstr>宋体</vt:lpstr>
      <vt:lpstr>Wingdings</vt:lpstr>
      <vt:lpstr>Calibri</vt:lpstr>
      <vt:lpstr>Lato</vt:lpstr>
      <vt:lpstr>Gill Sans MT</vt:lpstr>
      <vt:lpstr>华文中宋</vt:lpstr>
      <vt:lpstr>Garamond</vt:lpstr>
      <vt:lpstr>Times New Roman</vt:lpstr>
      <vt:lpstr>黑体</vt:lpstr>
      <vt:lpstr>Calibri Light</vt:lpstr>
      <vt:lpstr>微软雅黑 Light</vt:lpstr>
      <vt:lpstr>微软雅黑</vt:lpstr>
      <vt:lpstr>Arial Unicode MS</vt:lpstr>
      <vt:lpstr>等线</vt:lpstr>
      <vt:lpstr>Consolas</vt:lpstr>
      <vt:lpstr>Open Sans</vt:lpstr>
      <vt:lpstr>Segoe Print</vt:lpstr>
      <vt:lpstr>Arial Narrow</vt:lpstr>
      <vt:lpstr>CourierNewPSMT</vt:lpstr>
      <vt:lpstr>Monaco</vt:lpstr>
      <vt:lpstr>Mangal</vt:lpstr>
      <vt:lpstr>Wingdings 2</vt:lpstr>
      <vt:lpstr>Verdana</vt:lpstr>
      <vt:lpstr>楷体</vt:lpstr>
      <vt:lpstr>CourierNewPSMT</vt:lpstr>
      <vt:lpstr>DejaVu Math TeX Gyre</vt:lpstr>
      <vt:lpstr>Magneto</vt:lpstr>
      <vt:lpstr>Saturday Sans Regular</vt:lpstr>
      <vt:lpstr>Courier New</vt:lpstr>
      <vt:lpstr>Impact</vt:lpstr>
      <vt:lpstr>课程PPT模板</vt:lpstr>
      <vt:lpstr>第21讲 指针</vt:lpstr>
      <vt:lpstr>上讲内容回顾</vt:lpstr>
      <vt:lpstr>本讲内容</vt:lpstr>
      <vt:lpstr>指针与结构体</vt:lpstr>
      <vt:lpstr>指针与结构体</vt:lpstr>
      <vt:lpstr>PowerPoint 演示文稿</vt:lpstr>
      <vt:lpstr>PowerPoint 演示文稿</vt:lpstr>
      <vt:lpstr>PowerPoint 演示文稿</vt:lpstr>
      <vt:lpstr>-&gt; 操作符</vt:lpstr>
      <vt:lpstr>结构体指针作为函数输入</vt:lpstr>
      <vt:lpstr>结构体指针作为函数输出</vt:lpstr>
      <vt:lpstr>PowerPoint 演示文稿</vt:lpstr>
      <vt:lpstr>以下代码是否能正确将数组中最大元素的frequency更新？</vt:lpstr>
      <vt:lpstr>以下代码是否能正确将数组中最大元素的frequency更新？</vt:lpstr>
      <vt:lpstr>用指针可以实现链表</vt:lpstr>
      <vt:lpstr>练习：#286. 链表操作（删除节点）</vt:lpstr>
      <vt:lpstr>代码</vt:lpstr>
      <vt:lpstr>指针与结构数组</vt:lpstr>
      <vt:lpstr>PowerPoint 演示文稿</vt:lpstr>
      <vt:lpstr>PowerPoint 演示文稿</vt:lpstr>
      <vt:lpstr>结构指针数组</vt:lpstr>
      <vt:lpstr>PowerPoint 演示文稿</vt:lpstr>
      <vt:lpstr>使用指针数组处理结构 (1)</vt:lpstr>
      <vt:lpstr>使用指针数组处理结构 (2)</vt:lpstr>
      <vt:lpstr>使用指针数组处理结构 (3)</vt:lpstr>
      <vt:lpstr>使用指针数组处理结构 (4)</vt:lpstr>
      <vt:lpstr>void指针</vt:lpstr>
      <vt:lpstr>void 指针类型</vt:lpstr>
      <vt:lpstr>void 指针类型</vt:lpstr>
      <vt:lpstr>void指针的用处</vt:lpstr>
      <vt:lpstr>参考实现</vt:lpstr>
      <vt:lpstr>void指针的应用</vt:lpstr>
      <vt:lpstr>指针与函数</vt:lpstr>
      <vt:lpstr>指针与函数</vt:lpstr>
      <vt:lpstr>函数返回值为指针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指向函数的指针</vt:lpstr>
      <vt:lpstr>指向函数的指针</vt:lpstr>
      <vt:lpstr>PowerPoint 演示文稿</vt:lpstr>
      <vt:lpstr>PowerPoint 演示文稿</vt:lpstr>
      <vt:lpstr>指向函数的指针</vt:lpstr>
      <vt:lpstr>PowerPoint 演示文稿</vt:lpstr>
      <vt:lpstr>PowerPoint 演示文稿</vt:lpstr>
      <vt:lpstr>typedef关键字*</vt:lpstr>
      <vt:lpstr>程序说明(1)</vt:lpstr>
      <vt:lpstr>程序说明（2）</vt:lpstr>
      <vt:lpstr>函数指针作为参数传递举例</vt:lpstr>
      <vt:lpstr>PowerPoint 演示文稿</vt:lpstr>
      <vt:lpstr>PowerPoint 演示文稿</vt:lpstr>
      <vt:lpstr>PowerPoint 演示文稿</vt:lpstr>
      <vt:lpstr>END</vt:lpstr>
      <vt:lpstr>计算机内存：理解指针的关键</vt:lpstr>
      <vt:lpstr>计算机内存：理解指针的关键</vt:lpstr>
      <vt:lpstr>计算机内存：理解指针的关键</vt:lpstr>
      <vt:lpstr>Dereferencing 用指针访问变量</vt:lpstr>
      <vt:lpstr>Dereferencing 用指针访问变量</vt:lpstr>
      <vt:lpstr>示例程序</vt:lpstr>
      <vt:lpstr>指针的数据类型</vt:lpstr>
      <vt:lpstr>指针的运算</vt:lpstr>
      <vt:lpstr>练习：</vt:lpstr>
      <vt:lpstr>指针作为函数的参数</vt:lpstr>
      <vt:lpstr>指针作为函数的参数</vt:lpstr>
      <vt:lpstr>用传指针调用实现swap函数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Yi.</cp:lastModifiedBy>
  <cp:revision>923</cp:revision>
  <dcterms:created xsi:type="dcterms:W3CDTF">2020-10-14T02:47:00Z</dcterms:created>
  <dcterms:modified xsi:type="dcterms:W3CDTF">2025-12-04T02:11:10Z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050437C4F6E44111BCA41FED2AA082C2_13</vt:lpwstr>
  </property>
  <property fmtid="{D5CDD505-2E9C-101B-9397-08002B2CF9AE}" pid="3" name="KSOProductBuildVer">
    <vt:lpwstr>2052-12.1.0.23542</vt:lpwstr>
  </property>
</Properties>
</file>