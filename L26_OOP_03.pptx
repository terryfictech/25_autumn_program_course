
<file path=[Content_Types].xml><?xml version="1.0" encoding="utf-8"?>
<Types xmlns="http://schemas.openxmlformats.org/package/2006/content-types">
  <Default Extension="emf" ContentType="image/x-emf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9.svg" ContentType="image/svg+xml"/>
  <Override PartName="/ppt/media/image41.svg" ContentType="image/svg+xml"/>
  <Override PartName="/ppt/media/image4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7"/>
  </p:handoutMasterIdLst>
  <p:sldIdLst>
    <p:sldId id="1092" r:id="rId3"/>
    <p:sldId id="863" r:id="rId4"/>
    <p:sldId id="1121" r:id="rId6"/>
    <p:sldId id="568" r:id="rId7"/>
    <p:sldId id="571" r:id="rId8"/>
    <p:sldId id="572" r:id="rId9"/>
    <p:sldId id="619" r:id="rId10"/>
    <p:sldId id="620" r:id="rId11"/>
    <p:sldId id="621" r:id="rId12"/>
    <p:sldId id="1113" r:id="rId13"/>
    <p:sldId id="1114" r:id="rId14"/>
    <p:sldId id="1115" r:id="rId15"/>
    <p:sldId id="1116" r:id="rId16"/>
    <p:sldId id="1117" r:id="rId17"/>
    <p:sldId id="964" r:id="rId18"/>
    <p:sldId id="1118" r:id="rId19"/>
    <p:sldId id="1119" r:id="rId20"/>
    <p:sldId id="967" r:id="rId21"/>
    <p:sldId id="968" r:id="rId22"/>
    <p:sldId id="1122" r:id="rId23"/>
    <p:sldId id="660" r:id="rId24"/>
    <p:sldId id="665" r:id="rId25"/>
    <p:sldId id="781" r:id="rId26"/>
    <p:sldId id="666" r:id="rId27"/>
    <p:sldId id="743" r:id="rId28"/>
    <p:sldId id="821" r:id="rId29"/>
    <p:sldId id="971" r:id="rId30"/>
    <p:sldId id="667" r:id="rId31"/>
    <p:sldId id="668" r:id="rId32"/>
    <p:sldId id="786" r:id="rId33"/>
    <p:sldId id="672" r:id="rId34"/>
    <p:sldId id="798" r:id="rId35"/>
    <p:sldId id="675" r:id="rId36"/>
    <p:sldId id="676" r:id="rId37"/>
    <p:sldId id="677" r:id="rId38"/>
    <p:sldId id="800" r:id="rId39"/>
    <p:sldId id="679" r:id="rId40"/>
    <p:sldId id="680" r:id="rId41"/>
    <p:sldId id="681" r:id="rId42"/>
    <p:sldId id="804" r:id="rId43"/>
    <p:sldId id="687" r:id="rId44"/>
    <p:sldId id="688" r:id="rId45"/>
    <p:sldId id="689" r:id="rId46"/>
    <p:sldId id="691" r:id="rId47"/>
    <p:sldId id="692" r:id="rId48"/>
    <p:sldId id="780" r:id="rId49"/>
    <p:sldId id="784" r:id="rId50"/>
    <p:sldId id="785" r:id="rId51"/>
    <p:sldId id="816" r:id="rId52"/>
    <p:sldId id="787" r:id="rId53"/>
    <p:sldId id="817" r:id="rId54"/>
    <p:sldId id="789" r:id="rId55"/>
    <p:sldId id="1123" r:id="rId56"/>
    <p:sldId id="912" r:id="rId57"/>
    <p:sldId id="913" r:id="rId58"/>
    <p:sldId id="914" r:id="rId59"/>
    <p:sldId id="915" r:id="rId60"/>
    <p:sldId id="916" r:id="rId61"/>
    <p:sldId id="918" r:id="rId62"/>
    <p:sldId id="598" r:id="rId63"/>
    <p:sldId id="600" r:id="rId64"/>
    <p:sldId id="601" r:id="rId65"/>
    <p:sldId id="602" r:id="rId66"/>
  </p:sldIdLst>
  <p:sldSz cx="9144000" cy="6858000" type="screen4x3"/>
  <p:notesSz cx="6858000" cy="9144000"/>
  <p:custDataLst>
    <p:tags r:id="rId7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700E"/>
    <a:srgbClr val="0000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9" autoAdjust="0"/>
    <p:restoredTop sz="91699" autoAdjust="0"/>
  </p:normalViewPr>
  <p:slideViewPr>
    <p:cSldViewPr snapToGrid="0" showGuides="1">
      <p:cViewPr varScale="1">
        <p:scale>
          <a:sx n="79" d="100"/>
          <a:sy n="79" d="100"/>
        </p:scale>
        <p:origin x="1502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gs" Target="tags/tag1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6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kumimoji="1" lang="zh-CN" altLang="en-US">
              <a:latin typeface="Times New Roman" panose="02020603050405020304" pitchFamily="18" charset="0"/>
            </a:endParaRPr>
          </a:p>
        </p:txBody>
      </p:sp>
      <p:sp>
        <p:nvSpPr>
          <p:cNvPr id="14438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Ctr="0" compatLnSpc="1"/>
          <a:lstStyle>
            <a:lvl1pPr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2861DC06-FC05-49A3-AD62-91AF8D59DE70}" type="slidenum">
              <a:rPr altLang="zh-CN" sz="1300" smtClean="0"/>
            </a:fld>
            <a:endParaRPr lang="zh-CN" altLang="zh-CN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所有的成员，在内存应该有了，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 &lt;iostream&gt;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 &lt;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cmath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 A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public: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A(int s)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size = s;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A(const A &amp;a0):size(a0.size)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private: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size;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 Point {// Point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类定义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public: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Point(int xx, 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= xx;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Point(const Point &amp;p);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getX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x;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getY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y;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private: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x, y;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Point::Point(const Point &amp;p)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复制构造函数的实现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p.x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p.y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 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Point 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类的复制构造函数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&lt;&lt;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类的组合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 Line { //Line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类的定义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public: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Line(Point &amp;xp1, Point &amp;xp2);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Line(const Line &amp;l);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double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getLen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len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private: 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私有数据成员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Point p1, p2;//Point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类的对象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p1, p2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double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len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组合类的构造函数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Line::Line(Point &amp;xp1, Point &amp;xp2):p1(xp1), p2(xp2)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注意成员初始化列表的用法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 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类的构造函数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&lt;&lt;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static_cast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相当于传统的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语言里的强制转换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double x =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static_cast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&lt;double&gt;(p1.getX() - p2.getX());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double y =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static_cast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&lt;double&gt;(p1.getY() - p2.getY());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s-E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len = </a:t>
            </a:r>
            <a:r>
              <a:rPr lang="es-E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sqrt(x * x + y * y);</a:t>
            </a:r>
            <a:endParaRPr lang="es-E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Line::Line(const Line &amp;l):p1(l.p1), p2(l.p2)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组合类的复制构造函数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 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类的复制构造函数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&lt;&lt;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len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l.len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主函数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Point myp1(1, 1), myp2(4, 5);//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Point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类的对象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 line1(myp1, myp2);//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类的对象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Line line2(line1);//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利用复制构造函数建立一个新对象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"The length of the line1 is: ";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line1.getLen() &lt;&lt; 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"The length of the line2 is: ";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std::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line2.getLen() &lt;&lt; std::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0;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c++</a:t>
            </a:r>
            <a:r>
              <a:rPr lang="zh-CN" altLang="en-US" dirty="0"/>
              <a:t>函数传参正常情况是从右往左压栈。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0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kumimoji="1" lang="zh-CN" altLang="en-US" dirty="0">
                <a:latin typeface="Times New Roman" panose="02020603050405020304" pitchFamily="18" charset="0"/>
              </a:rPr>
              <a:t>没有此类型的构造函数。默认的复制构造函数是需要</a:t>
            </a:r>
            <a:r>
              <a:rPr kumimoji="1" lang="en-US" altLang="zh-CN" dirty="0">
                <a:latin typeface="Times New Roman" panose="02020603050405020304" pitchFamily="18" charset="0"/>
              </a:rPr>
              <a:t>Point</a:t>
            </a:r>
            <a:r>
              <a:rPr kumimoji="1" lang="zh-CN" altLang="en-US" dirty="0"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</a:rPr>
              <a:t>p1(xp1)</a:t>
            </a:r>
            <a:r>
              <a:rPr kumimoji="1" lang="zh-CN" altLang="en-US" dirty="0">
                <a:latin typeface="Times New Roman" panose="02020603050405020304" pitchFamily="18" charset="0"/>
              </a:rPr>
              <a:t>的方式初始化的。 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</a:rPr>
              <a:t>所以尝试的构造函数是错误的。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5411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Ctr="0" compatLnSpc="1"/>
          <a:lstStyle>
            <a:lvl1pPr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07B295A7-7FF3-4358-9BF5-E5A67C3930FB}" type="slidenum">
              <a:rPr altLang="zh-CN" sz="1300" smtClean="0"/>
            </a:fld>
            <a:endParaRPr lang="zh-CN" altLang="zh-CN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  <a:endParaRPr lang="en-US" altLang="zh-CN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std;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//Point</a:t>
            </a:r>
            <a:r>
              <a:rPr lang="zh-CN" altLang="en-US" dirty="0"/>
              <a:t>类定义</a:t>
            </a:r>
            <a:endParaRPr lang="zh-CN" altLang="en-US" dirty="0"/>
          </a:p>
          <a:p>
            <a:r>
              <a:rPr lang="en-US" altLang="zh-CN" dirty="0"/>
              <a:t>class Point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public:</a:t>
            </a:r>
            <a:endParaRPr lang="en-US" altLang="zh-CN" dirty="0"/>
          </a:p>
          <a:p>
            <a:r>
              <a:rPr lang="en-US" altLang="zh-CN" dirty="0"/>
              <a:t>	Point(int x = 0, int y = 0)</a:t>
            </a:r>
            <a:endParaRPr lang="en-US" altLang="zh-CN" dirty="0"/>
          </a:p>
          <a:p>
            <a:r>
              <a:rPr lang="en-US" altLang="zh-CN" dirty="0"/>
              <a:t>		:x(x), y(y)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构造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//</a:t>
            </a:r>
            <a:r>
              <a:rPr lang="zh-CN" altLang="en-US" dirty="0"/>
              <a:t>复制构造函数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Point(const Point &amp;p)</a:t>
            </a:r>
            <a:endParaRPr lang="en-US" altLang="zh-CN" dirty="0"/>
          </a:p>
          <a:p>
            <a:r>
              <a:rPr lang="en-US" altLang="zh-CN" dirty="0"/>
              <a:t>		:x(</a:t>
            </a:r>
            <a:r>
              <a:rPr lang="en-US" altLang="zh-CN" dirty="0" err="1"/>
              <a:t>p.x</a:t>
            </a:r>
            <a:r>
              <a:rPr lang="en-US" altLang="zh-CN" dirty="0"/>
              <a:t>), y(</a:t>
            </a:r>
            <a:r>
              <a:rPr lang="en-US" altLang="zh-CN" dirty="0" err="1"/>
              <a:t>p.y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void </a:t>
            </a:r>
            <a:r>
              <a:rPr lang="en-US" altLang="zh-CN" dirty="0" err="1"/>
              <a:t>setX</a:t>
            </a:r>
            <a:r>
              <a:rPr lang="en-US" altLang="zh-CN" dirty="0"/>
              <a:t>(int x){ this-&gt;x = x;}</a:t>
            </a:r>
            <a:endParaRPr lang="en-US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  <a:endParaRPr lang="en-US" altLang="zh-CN" dirty="0"/>
          </a:p>
          <a:p>
            <a:r>
              <a:rPr lang="en-US" altLang="zh-CN" dirty="0"/>
              <a:t>	void </a:t>
            </a:r>
            <a:r>
              <a:rPr lang="en-US" altLang="zh-CN" dirty="0" err="1"/>
              <a:t>setY</a:t>
            </a:r>
            <a:r>
              <a:rPr lang="en-US" altLang="zh-CN" dirty="0"/>
              <a:t>(int y){ this-&gt;y = y;}</a:t>
            </a:r>
            <a:endParaRPr lang="en-US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(){ return y;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private:</a:t>
            </a:r>
            <a:endParaRPr lang="en-US" altLang="zh-CN" dirty="0"/>
          </a:p>
          <a:p>
            <a:r>
              <a:rPr lang="en-US" altLang="zh-CN" dirty="0"/>
              <a:t>	int x;</a:t>
            </a:r>
            <a:endParaRPr lang="en-US" altLang="zh-CN" dirty="0"/>
          </a:p>
          <a:p>
            <a:r>
              <a:rPr lang="en-US" altLang="zh-CN" dirty="0"/>
              <a:t>	int y;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类的组合</a:t>
            </a:r>
            <a:endParaRPr lang="zh-CN" altLang="en-US" dirty="0"/>
          </a:p>
          <a:p>
            <a:r>
              <a:rPr lang="en-US" altLang="zh-CN" dirty="0"/>
              <a:t>class Line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public:</a:t>
            </a:r>
            <a:endParaRPr lang="en-US" altLang="zh-CN" dirty="0"/>
          </a:p>
          <a:p>
            <a:r>
              <a:rPr lang="en-US" altLang="zh-CN" dirty="0"/>
              <a:t>	Line(const Point &amp;xp1, const Point &amp;xp2);</a:t>
            </a:r>
            <a:endParaRPr lang="en-US" altLang="zh-CN" dirty="0"/>
          </a:p>
          <a:p>
            <a:r>
              <a:rPr lang="en-US" altLang="zh-CN" dirty="0"/>
              <a:t>	Line(const Line &amp;l);</a:t>
            </a:r>
            <a:endParaRPr lang="en-US" altLang="zh-CN" dirty="0"/>
          </a:p>
          <a:p>
            <a:r>
              <a:rPr lang="en-US" altLang="zh-CN" dirty="0"/>
              <a:t>	double </a:t>
            </a:r>
            <a:r>
              <a:rPr lang="en-US" altLang="zh-CN" dirty="0" err="1"/>
              <a:t>getLength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return length;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Point &amp;start();</a:t>
            </a:r>
            <a:endParaRPr lang="en-US" altLang="zh-CN" dirty="0"/>
          </a:p>
          <a:p>
            <a:r>
              <a:rPr lang="en-US" altLang="zh-CN" dirty="0"/>
              <a:t>	Point center();</a:t>
            </a:r>
            <a:endParaRPr lang="en-US" altLang="zh-CN" dirty="0"/>
          </a:p>
          <a:p>
            <a:r>
              <a:rPr lang="en-US" altLang="zh-CN" dirty="0"/>
              <a:t>private:</a:t>
            </a:r>
            <a:endParaRPr lang="en-US" altLang="zh-CN" dirty="0"/>
          </a:p>
          <a:p>
            <a:r>
              <a:rPr lang="en-US" altLang="zh-CN" dirty="0"/>
              <a:t>	Point p1;</a:t>
            </a:r>
            <a:endParaRPr lang="en-US" altLang="zh-CN" dirty="0"/>
          </a:p>
          <a:p>
            <a:r>
              <a:rPr lang="en-US" altLang="zh-CN" dirty="0"/>
              <a:t>	Point p2;</a:t>
            </a:r>
            <a:endParaRPr lang="en-US" altLang="zh-CN" dirty="0"/>
          </a:p>
          <a:p>
            <a:r>
              <a:rPr lang="en-US" altLang="zh-CN" dirty="0"/>
              <a:t>	double length;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//Line</a:t>
            </a:r>
            <a:r>
              <a:rPr lang="zh-CN" altLang="en-US" dirty="0"/>
              <a:t>类的构造函数</a:t>
            </a:r>
            <a:endParaRPr lang="zh-CN" altLang="en-US" dirty="0"/>
          </a:p>
          <a:p>
            <a:r>
              <a:rPr lang="en-US" altLang="zh-CN" dirty="0"/>
              <a:t>Line::Line(const Point &amp;xp1, const Point &amp;xp2)</a:t>
            </a:r>
            <a:endParaRPr lang="en-US" altLang="zh-CN" dirty="0"/>
          </a:p>
          <a:p>
            <a:r>
              <a:rPr lang="en-US" altLang="zh-CN" dirty="0"/>
              <a:t>	:p1(xp1), p2(xp2)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double dx = p1.getX() - p2.getX();</a:t>
            </a:r>
            <a:endParaRPr lang="en-US" altLang="zh-CN" dirty="0"/>
          </a:p>
          <a:p>
            <a:r>
              <a:rPr lang="en-US" altLang="zh-CN" dirty="0"/>
              <a:t>	double </a:t>
            </a:r>
            <a:r>
              <a:rPr lang="en-US" altLang="zh-CN" dirty="0" err="1"/>
              <a:t>dy</a:t>
            </a:r>
            <a:r>
              <a:rPr lang="en-US" altLang="zh-CN" dirty="0"/>
              <a:t> = p1.getY() - p2.getY();</a:t>
            </a:r>
            <a:endParaRPr lang="en-US" altLang="zh-CN" dirty="0"/>
          </a:p>
          <a:p>
            <a:r>
              <a:rPr lang="en-US" altLang="zh-CN" dirty="0"/>
              <a:t>	length = sqrt(dx * dx + </a:t>
            </a:r>
            <a:r>
              <a:rPr lang="en-US" altLang="zh-CN" dirty="0" err="1"/>
              <a:t>dy</a:t>
            </a:r>
            <a:r>
              <a:rPr lang="en-US" altLang="zh-CN" dirty="0"/>
              <a:t> * </a:t>
            </a:r>
            <a:r>
              <a:rPr lang="en-US" altLang="zh-CN" dirty="0" err="1"/>
              <a:t>dy</a:t>
            </a:r>
            <a:r>
              <a:rPr lang="en-US" altLang="zh-CN" dirty="0"/>
              <a:t>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创建新的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r>
              <a:rPr lang="en-US" altLang="zh-CN" dirty="0"/>
              <a:t>//Line</a:t>
            </a:r>
            <a:r>
              <a:rPr lang="zh-CN" altLang="en-US" dirty="0"/>
              <a:t>类的复制构造</a:t>
            </a:r>
            <a:endParaRPr lang="zh-CN" altLang="en-US" dirty="0"/>
          </a:p>
          <a:p>
            <a:r>
              <a:rPr lang="en-US" altLang="zh-CN" dirty="0"/>
              <a:t>Line::Line(const Line &amp;l)</a:t>
            </a:r>
            <a:endParaRPr lang="en-US" altLang="zh-CN" dirty="0"/>
          </a:p>
          <a:p>
            <a:r>
              <a:rPr lang="en-US" altLang="zh-CN" dirty="0"/>
              <a:t>	:p1(l.p1), p2(l.p2), length(</a:t>
            </a:r>
            <a:r>
              <a:rPr lang="en-US" altLang="zh-CN" dirty="0" err="1"/>
              <a:t>l.length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复制已有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Point Line::center()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Point </a:t>
            </a:r>
            <a:r>
              <a:rPr lang="en-US" altLang="zh-CN" dirty="0" err="1"/>
              <a:t>ct</a:t>
            </a:r>
            <a:r>
              <a:rPr lang="en-US" altLang="zh-CN" dirty="0"/>
              <a:t>(0,0);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return </a:t>
            </a:r>
            <a:r>
              <a:rPr lang="en-US" altLang="zh-CN" dirty="0" err="1"/>
              <a:t>ct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Point &amp;Line::start()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return p1; //</a:t>
            </a:r>
            <a:r>
              <a:rPr lang="zh-CN" altLang="en-US" dirty="0"/>
              <a:t>返回对成员</a:t>
            </a:r>
            <a:r>
              <a:rPr lang="en-US" altLang="zh-CN" dirty="0"/>
              <a:t>p1</a:t>
            </a:r>
            <a:r>
              <a:rPr lang="zh-CN" altLang="en-US" dirty="0"/>
              <a:t>的引用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主函数</a:t>
            </a:r>
            <a:endParaRPr lang="zh-CN" altLang="en-US" dirty="0"/>
          </a:p>
          <a:p>
            <a:r>
              <a:rPr lang="en-US" altLang="zh-CN" dirty="0"/>
              <a:t>int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Point myp1(10, 20), myp2(4, 5); //</a:t>
            </a:r>
            <a:r>
              <a:rPr lang="zh-CN" altLang="en-US" dirty="0"/>
              <a:t>建立</a:t>
            </a:r>
            <a:r>
              <a:rPr lang="en-US" altLang="zh-CN" dirty="0"/>
              <a:t>Point</a:t>
            </a:r>
            <a:r>
              <a:rPr lang="zh-CN" altLang="en-US" dirty="0"/>
              <a:t>类的对象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Line line1(myp1, myp2);  	       //</a:t>
            </a:r>
            <a:r>
              <a:rPr lang="zh-CN" altLang="en-US" dirty="0"/>
              <a:t>建立</a:t>
            </a:r>
            <a:r>
              <a:rPr lang="en-US" altLang="zh-CN" dirty="0"/>
              <a:t>Line</a:t>
            </a:r>
            <a:r>
              <a:rPr lang="zh-CN" altLang="en-US" dirty="0"/>
              <a:t>类的对象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p = line1.start();        // ???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p.setX</a:t>
            </a:r>
            <a:r>
              <a:rPr lang="en-US" altLang="zh-CN" dirty="0"/>
              <a:t>(11);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line1.start().</a:t>
            </a:r>
            <a:r>
              <a:rPr lang="en-US" altLang="zh-CN" dirty="0" err="1"/>
              <a:t>getX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  <a:endParaRPr lang="en-US" altLang="zh-CN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std;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//Point</a:t>
            </a:r>
            <a:r>
              <a:rPr lang="zh-CN" altLang="en-US" dirty="0"/>
              <a:t>类定义</a:t>
            </a:r>
            <a:endParaRPr lang="zh-CN" altLang="en-US" dirty="0"/>
          </a:p>
          <a:p>
            <a:r>
              <a:rPr lang="en-US" altLang="zh-CN" dirty="0"/>
              <a:t>class Point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public:</a:t>
            </a:r>
            <a:endParaRPr lang="en-US" altLang="zh-CN" dirty="0"/>
          </a:p>
          <a:p>
            <a:r>
              <a:rPr lang="en-US" altLang="zh-CN" dirty="0"/>
              <a:t>	Point(int x = 0, int y = 0)</a:t>
            </a:r>
            <a:endParaRPr lang="en-US" altLang="zh-CN" dirty="0"/>
          </a:p>
          <a:p>
            <a:r>
              <a:rPr lang="en-US" altLang="zh-CN" dirty="0"/>
              <a:t>		:x(x), y(y)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构造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//</a:t>
            </a:r>
            <a:r>
              <a:rPr lang="zh-CN" altLang="en-US" dirty="0"/>
              <a:t>复制构造函数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Point(const Point &amp;p)</a:t>
            </a:r>
            <a:endParaRPr lang="en-US" altLang="zh-CN" dirty="0"/>
          </a:p>
          <a:p>
            <a:r>
              <a:rPr lang="en-US" altLang="zh-CN" dirty="0"/>
              <a:t>		:x(</a:t>
            </a:r>
            <a:r>
              <a:rPr lang="en-US" altLang="zh-CN" dirty="0" err="1"/>
              <a:t>p.x</a:t>
            </a:r>
            <a:r>
              <a:rPr lang="en-US" altLang="zh-CN" dirty="0"/>
              <a:t>), y(</a:t>
            </a:r>
            <a:r>
              <a:rPr lang="en-US" altLang="zh-CN" dirty="0" err="1"/>
              <a:t>p.y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void </a:t>
            </a:r>
            <a:r>
              <a:rPr lang="en-US" altLang="zh-CN" dirty="0" err="1"/>
              <a:t>setX</a:t>
            </a:r>
            <a:r>
              <a:rPr lang="en-US" altLang="zh-CN" dirty="0"/>
              <a:t>(int x){ this-&gt;x = x;}</a:t>
            </a:r>
            <a:endParaRPr lang="en-US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  <a:endParaRPr lang="en-US" altLang="zh-CN" dirty="0"/>
          </a:p>
          <a:p>
            <a:r>
              <a:rPr lang="en-US" altLang="zh-CN" dirty="0"/>
              <a:t>	void </a:t>
            </a:r>
            <a:r>
              <a:rPr lang="en-US" altLang="zh-CN" dirty="0" err="1"/>
              <a:t>setY</a:t>
            </a:r>
            <a:r>
              <a:rPr lang="en-US" altLang="zh-CN" dirty="0"/>
              <a:t>(int y){ this-&gt;y = y;}</a:t>
            </a:r>
            <a:endParaRPr lang="en-US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(){ return y;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private:</a:t>
            </a:r>
            <a:endParaRPr lang="en-US" altLang="zh-CN" dirty="0"/>
          </a:p>
          <a:p>
            <a:r>
              <a:rPr lang="en-US" altLang="zh-CN" dirty="0"/>
              <a:t>	int x;</a:t>
            </a:r>
            <a:endParaRPr lang="en-US" altLang="zh-CN" dirty="0"/>
          </a:p>
          <a:p>
            <a:r>
              <a:rPr lang="en-US" altLang="zh-CN" dirty="0"/>
              <a:t>	int y;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类的组合</a:t>
            </a:r>
            <a:endParaRPr lang="zh-CN" altLang="en-US" dirty="0"/>
          </a:p>
          <a:p>
            <a:r>
              <a:rPr lang="en-US" altLang="zh-CN" dirty="0"/>
              <a:t>class Line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public:</a:t>
            </a:r>
            <a:endParaRPr lang="en-US" altLang="zh-CN" dirty="0"/>
          </a:p>
          <a:p>
            <a:r>
              <a:rPr lang="en-US" altLang="zh-CN" dirty="0"/>
              <a:t>	Line(const Point &amp;xp1, const Point &amp;xp2);</a:t>
            </a:r>
            <a:endParaRPr lang="en-US" altLang="zh-CN" dirty="0"/>
          </a:p>
          <a:p>
            <a:r>
              <a:rPr lang="en-US" altLang="zh-CN" dirty="0"/>
              <a:t>	Line(const Line &amp;l);</a:t>
            </a:r>
            <a:endParaRPr lang="en-US" altLang="zh-CN" dirty="0"/>
          </a:p>
          <a:p>
            <a:r>
              <a:rPr lang="en-US" altLang="zh-CN" dirty="0"/>
              <a:t>	double </a:t>
            </a:r>
            <a:r>
              <a:rPr lang="en-US" altLang="zh-CN" dirty="0" err="1"/>
              <a:t>getLength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return length;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Point start(); //</a:t>
            </a:r>
            <a:endParaRPr lang="en-US" altLang="zh-CN" dirty="0"/>
          </a:p>
          <a:p>
            <a:r>
              <a:rPr lang="en-US" altLang="zh-CN" dirty="0"/>
              <a:t>	Point center();</a:t>
            </a:r>
            <a:endParaRPr lang="en-US" altLang="zh-CN" dirty="0"/>
          </a:p>
          <a:p>
            <a:r>
              <a:rPr lang="en-US" altLang="zh-CN" dirty="0"/>
              <a:t>private:</a:t>
            </a:r>
            <a:endParaRPr lang="en-US" altLang="zh-CN" dirty="0"/>
          </a:p>
          <a:p>
            <a:r>
              <a:rPr lang="en-US" altLang="zh-CN" dirty="0"/>
              <a:t>	Point p1;</a:t>
            </a:r>
            <a:endParaRPr lang="en-US" altLang="zh-CN" dirty="0"/>
          </a:p>
          <a:p>
            <a:r>
              <a:rPr lang="en-US" altLang="zh-CN" dirty="0"/>
              <a:t>	Point p2;</a:t>
            </a:r>
            <a:endParaRPr lang="en-US" altLang="zh-CN" dirty="0"/>
          </a:p>
          <a:p>
            <a:r>
              <a:rPr lang="en-US" altLang="zh-CN" dirty="0"/>
              <a:t>	double length;</a:t>
            </a:r>
            <a:endParaRPr lang="en-US" altLang="zh-CN" dirty="0"/>
          </a:p>
          <a:p>
            <a:r>
              <a:rPr lang="en-US" altLang="zh-CN" dirty="0"/>
              <a:t>};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//Line</a:t>
            </a:r>
            <a:r>
              <a:rPr lang="zh-CN" altLang="en-US" dirty="0"/>
              <a:t>类的构造函数</a:t>
            </a:r>
            <a:endParaRPr lang="zh-CN" altLang="en-US" dirty="0"/>
          </a:p>
          <a:p>
            <a:r>
              <a:rPr lang="en-US" altLang="zh-CN" dirty="0"/>
              <a:t>Line::Line(const Point &amp;xp1, const Point &amp;xp2)</a:t>
            </a:r>
            <a:endParaRPr lang="en-US" altLang="zh-CN" dirty="0"/>
          </a:p>
          <a:p>
            <a:r>
              <a:rPr lang="en-US" altLang="zh-CN" dirty="0"/>
              <a:t>	:p1(xp1), p2(xp2)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double dx = p1.getX() - p2.getX();</a:t>
            </a:r>
            <a:endParaRPr lang="en-US" altLang="zh-CN" dirty="0"/>
          </a:p>
          <a:p>
            <a:r>
              <a:rPr lang="en-US" altLang="zh-CN" dirty="0"/>
              <a:t>	double </a:t>
            </a:r>
            <a:r>
              <a:rPr lang="en-US" altLang="zh-CN" dirty="0" err="1"/>
              <a:t>dy</a:t>
            </a:r>
            <a:r>
              <a:rPr lang="en-US" altLang="zh-CN" dirty="0"/>
              <a:t> = p1.getY() - p2.getY();</a:t>
            </a:r>
            <a:endParaRPr lang="en-US" altLang="zh-CN" dirty="0"/>
          </a:p>
          <a:p>
            <a:r>
              <a:rPr lang="en-US" altLang="zh-CN" dirty="0"/>
              <a:t>	length = sqrt(dx * dx + </a:t>
            </a:r>
            <a:r>
              <a:rPr lang="en-US" altLang="zh-CN" dirty="0" err="1"/>
              <a:t>dy</a:t>
            </a:r>
            <a:r>
              <a:rPr lang="en-US" altLang="zh-CN" dirty="0"/>
              <a:t> * </a:t>
            </a:r>
            <a:r>
              <a:rPr lang="en-US" altLang="zh-CN" dirty="0" err="1"/>
              <a:t>dy</a:t>
            </a:r>
            <a:r>
              <a:rPr lang="en-US" altLang="zh-CN" dirty="0"/>
              <a:t>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创建新的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r>
              <a:rPr lang="en-US" altLang="zh-CN" dirty="0"/>
              <a:t>//Line</a:t>
            </a:r>
            <a:r>
              <a:rPr lang="zh-CN" altLang="en-US" dirty="0"/>
              <a:t>类的复制构造</a:t>
            </a:r>
            <a:endParaRPr lang="zh-CN" altLang="en-US" dirty="0"/>
          </a:p>
          <a:p>
            <a:r>
              <a:rPr lang="en-US" altLang="zh-CN" dirty="0"/>
              <a:t>Line::Line(const Line &amp;l)</a:t>
            </a:r>
            <a:endParaRPr lang="en-US" altLang="zh-CN" dirty="0"/>
          </a:p>
          <a:p>
            <a:r>
              <a:rPr lang="en-US" altLang="zh-CN" dirty="0"/>
              <a:t>	:p1(l.p1), p2(l.p2), length(</a:t>
            </a:r>
            <a:r>
              <a:rPr lang="en-US" altLang="zh-CN" dirty="0" err="1"/>
              <a:t>l.length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复制已有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r>
              <a:rPr lang="en-US" altLang="zh-CN" dirty="0"/>
              <a:t>Point Line::start()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return p1;   //</a:t>
            </a:r>
            <a:r>
              <a:rPr lang="zh-CN" altLang="en-US" dirty="0"/>
              <a:t>返回对成员</a:t>
            </a:r>
            <a:r>
              <a:rPr lang="en-US" altLang="zh-CN" dirty="0"/>
              <a:t>p1: </a:t>
            </a:r>
            <a:r>
              <a:rPr lang="zh-CN" altLang="en-US" dirty="0"/>
              <a:t>实质是把</a:t>
            </a:r>
            <a:r>
              <a:rPr lang="en-US" altLang="zh-CN" dirty="0"/>
              <a:t>p1</a:t>
            </a:r>
            <a:r>
              <a:rPr lang="zh-CN" altLang="en-US" dirty="0"/>
              <a:t>复制给临时对象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Point Line::center()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int cx = p1.getX() + p2.getX();</a:t>
            </a:r>
            <a:endParaRPr lang="en-US" altLang="zh-CN" dirty="0"/>
          </a:p>
          <a:p>
            <a:r>
              <a:rPr lang="en-US" altLang="zh-CN" dirty="0"/>
              <a:t>	int cy = p1.getY() + p2.getY();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Point </a:t>
            </a:r>
            <a:r>
              <a:rPr lang="en-US" altLang="zh-CN" dirty="0" err="1"/>
              <a:t>ct</a:t>
            </a:r>
            <a:r>
              <a:rPr lang="en-US" altLang="zh-CN" dirty="0"/>
              <a:t>(cx/2, cy/2);</a:t>
            </a:r>
            <a:endParaRPr lang="en-US" altLang="zh-CN" dirty="0"/>
          </a:p>
          <a:p>
            <a:r>
              <a:rPr lang="en-US" altLang="zh-CN" dirty="0"/>
              <a:t>	return </a:t>
            </a:r>
            <a:r>
              <a:rPr lang="en-US" altLang="zh-CN" dirty="0" err="1"/>
              <a:t>ct</a:t>
            </a:r>
            <a:r>
              <a:rPr lang="en-US" altLang="zh-CN" dirty="0"/>
              <a:t>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//return Point(cx/2, cy/2);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主函数</a:t>
            </a:r>
            <a:endParaRPr lang="zh-CN" altLang="en-US" dirty="0"/>
          </a:p>
          <a:p>
            <a:r>
              <a:rPr lang="en-US" altLang="zh-CN" dirty="0"/>
              <a:t>int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	Point myp1(10, 20), myp2(4, 5); //</a:t>
            </a:r>
            <a:r>
              <a:rPr lang="zh-CN" altLang="en-US" dirty="0"/>
              <a:t>创建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Line line1(myp1, myp2);  //</a:t>
            </a:r>
            <a:r>
              <a:rPr lang="zh-CN" altLang="en-US" dirty="0"/>
              <a:t>创建</a:t>
            </a:r>
            <a:r>
              <a:rPr lang="en-US" altLang="zh-CN" dirty="0"/>
              <a:t>Line</a:t>
            </a:r>
            <a:r>
              <a:rPr lang="zh-CN" altLang="en-US" dirty="0"/>
              <a:t>对象</a:t>
            </a:r>
            <a:r>
              <a:rPr lang="en-US" altLang="zh-CN" dirty="0"/>
              <a:t>, </a:t>
            </a:r>
            <a:r>
              <a:rPr lang="zh-CN" altLang="en-US" dirty="0"/>
              <a:t>复制两次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p = line1.center();  // </a:t>
            </a:r>
            <a:r>
              <a:rPr lang="zh-CN" altLang="en-US" dirty="0"/>
              <a:t>不能定义引用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 err="1"/>
              <a:t>p.setX</a:t>
            </a:r>
            <a:r>
              <a:rPr lang="en-US" altLang="zh-CN" dirty="0"/>
              <a:t>(11);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line1.center().</a:t>
            </a:r>
            <a:r>
              <a:rPr lang="en-US" altLang="zh-CN" dirty="0" err="1"/>
              <a:t>getX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继承注重保持，派生注重新增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类间关系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几乎不用，只是为了技术上的完整。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为了保护基类的数据，进一步处理为</a:t>
            </a:r>
            <a:r>
              <a:rPr kumimoji="1" lang="en-US" altLang="zh-CN" dirty="0"/>
              <a:t>protected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7B9EE7-761C-4E50-9574-516E8779CF97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249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强制向基类转换，可以产生基类的对象，访问基类中的成员。 </a:t>
            </a:r>
            <a:endParaRPr kumimoji="1" lang="en-US" altLang="zh-CN" dirty="0"/>
          </a:p>
          <a:p>
            <a:r>
              <a:rPr kumimoji="1" lang="zh-CN" altLang="en-US" dirty="0"/>
              <a:t>必须为公有派生类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7EAA01-7AD5-43F5-9677-1A44FB7CFC7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F4024B-63FE-49FF-B4A0-9FD00711F185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290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&lt;iostream&gt;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using namespace std;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Base1{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display() const{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"Base1::display()" &lt;&lt;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Base2 : public Base1{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display() const{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"Base2::display()" &lt;&lt;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Derived : public Base2{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display() const{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"Derived::display()" &lt;&lt;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fun(Base1 *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-&gt;display();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fun(&amp;base1);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fun(&amp;base2);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fun(&amp;derived);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476A34-93CB-4676-B735-76E9388F0C8F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300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隐含的强制类型转换。 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476A34-93CB-4676-B735-76E9388F0C8F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300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如果写类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时重新定义了从类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继承而来的非虚函数，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的对象就可能表现出精神分裂症般的异常行为。也就是说，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的对象在被调用时，行为有可能象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，也有可能象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，决定因素和对象本身没有一点关系，而是取决于指向它的指针所声明的类型。引用也会和指针一样表现出这样的异常行为。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由于其作为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类传入的，一切照着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的标准输出。 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107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9F7D34-6128-4996-8E02-6B07936C3C1E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9064BD-EF85-448D-9E53-531BF533CFE6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321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B327F3-F673-49AA-BB38-8833E7D4023B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341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********2011/11/23</a:t>
            </a:r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73EC9B-7E75-4329-A4E7-E6F732F7DC65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351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iostream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~B();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b;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B::B() 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 = 0;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 的默认构造函数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B::B(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 =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"B's constructor called."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B::~B() 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"B's </a:t>
            </a:r>
            <a:r>
              <a:rPr kumimoji="1" lang="en-US" altLang="zh-CN" sz="1200" u="sng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destructor called." &lt;&lt; </a:t>
            </a:r>
            <a:r>
              <a:rPr kumimoji="1" lang="en-US" altLang="zh-CN" sz="1200" u="sng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u="sng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u="sng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B::print()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b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C: public B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j);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~C();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C::C() 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= 0;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类默认构造函数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C::C(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j): B(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), c(j)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类构造函数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C::~C() 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类的析构函数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C::print()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B::print();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c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main()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obj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(5, 6);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obj.print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B2C54C-C0C2-4AF7-9A56-019D7FE1EAD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15CDED-3EEA-4A7E-89D8-3B5804C62933}" type="slidenum">
              <a:rPr kumimoji="1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D5FFD8-E7DF-4841-9214-75D105D397B4}" type="slidenum">
              <a:rPr kumimoji="1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97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B32B17-ADB5-4C0D-B98D-F8C9C95CBA52}" type="slidenum">
              <a:rPr kumimoji="1" altLang="zh-CN" sz="1300" smtClean="0"/>
            </a:fld>
            <a:endParaRPr kumimoji="1" lang="zh-CN" altLang="zh-CN" sz="13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&lt;iostream&gt;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using namespace std;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Base1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基类 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，构造函数有参数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Base1(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"Constructing Base1 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~Base1() {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"Destructing Base1"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Base2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基类 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，构造函数有参数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Base2(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j)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"Constructing Base2 " &lt;&lt; j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~Base2() {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"Destructing Base2"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Base3 {//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基类 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，构造函数无参数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Base3() {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"Constructing Base3 *"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~Base3() {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"Destructing Base3" &lt;&lt; 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Derived: public Base2, public Base1, public Base3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派生新类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，注意基类名的顺序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派生类的公有成员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Derived(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a, int b, int c, int d) :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Base2(b), Base1(a), member1(c), member2(d) {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注意基类名的个数与顺序，注意成员对象名的个数与顺序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private://</a:t>
            </a:r>
            <a:r>
              <a:rPr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派生类的私有成员对象</a:t>
            </a:r>
            <a:endParaRPr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Base1 member1;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Base2 member2;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Base3 member3;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Derived obj(1, 2, 3, 4);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9" tIns="49519" rIns="99039" bIns="49519" anchor="b"/>
          <a:lstStyle>
            <a:lvl1pPr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43FEC56-F6B6-420D-8F64-49DD34A4F696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90600" y="766763"/>
            <a:ext cx="5114925" cy="3836987"/>
          </a:xfrm>
        </p:spPr>
      </p:sp>
      <p:sp>
        <p:nvSpPr>
          <p:cNvPr id="7373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944563" y="4859338"/>
            <a:ext cx="5207000" cy="4605337"/>
          </a:xfrm>
          <a:noFill/>
        </p:spPr>
        <p:txBody>
          <a:bodyPr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AAA55C5-7D62-4C44-A748-89B5AE9DD48A}" type="slidenum">
              <a:rPr kumimoji="0" lang="en-US" altLang="x-none" sz="13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x-none" sz="13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AAA55C5-7D62-4C44-A748-89B5AE9DD48A}" type="slidenum">
              <a:rPr kumimoji="0" lang="en-US" altLang="x-none" sz="13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x-none" sz="13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同样存在深拷贝浅拷贝的问题。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6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 dirty="0"/>
              <a:t>？？？？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22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82019D-DC25-4843-B4B8-0F997DFFE3C3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形参加引用的目的： 这样可以避免在函数调用时对实参的一次拷贝，提高了效率。</a:t>
            </a:r>
            <a:endParaRPr kumimoji="1"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br>
              <a:rPr lang="zh-CN" altLang="en-US" dirty="0"/>
            </a:b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string.h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String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char * str;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String () : str(NULL) { }  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初始化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NULL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char *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c_str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{ return str; }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char * operator = (const char * s);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~String() {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if(str) delete [] str; }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重载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，使得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obj = "hello"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能够成立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char * String::operator = (const char * s)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if(str) delete [] str;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if(s) { //s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才执行拷贝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(s)+1];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(str, s);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else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 = NULL;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str;  //Q: 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不要返回值可以不？ 局限是？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深拷贝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 &amp; String::operator = 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String &amp; s)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 ==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return * this;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if(str) delete [] str;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{  //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才执行拷贝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 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)+1];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(str,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else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str= NULL;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*this;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String s;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 = "Good Luck,";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//String s2 = "hello!"; //&lt;&lt;&lt;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错误！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Q: why?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 = "Shenzhou8!";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AF4090-AE77-4D2C-B7B1-4A0D325AA514}" type="slidenum">
              <a:rPr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em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4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emf"/><Relationship Id="rId1" Type="http://schemas.openxmlformats.org/officeDocument/2006/relationships/image" Target="../media/image63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94229" y="1556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26.</a:t>
            </a:r>
            <a:r>
              <a:rPr lang="zh-CN" altLang="en-US" sz="4800" dirty="0"/>
              <a:t> 面向对象程序设计</a:t>
            </a:r>
            <a:r>
              <a:rPr lang="en-US" altLang="zh-CN" sz="4800" dirty="0"/>
              <a:t>3		</a:t>
            </a:r>
            <a:endParaRPr lang="en-US" sz="4800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6743012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sz="3200" dirty="0"/>
              <a:t>——</a:t>
            </a:r>
            <a:r>
              <a:rPr lang="zh-CN" altLang="en-US" sz="3200" dirty="0"/>
              <a:t>类的</a:t>
            </a:r>
            <a:r>
              <a:rPr lang="zh-CN" altLang="en-US" sz="3200"/>
              <a:t>组合、继承等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类的组合</a:t>
            </a:r>
            <a:endParaRPr lang="en-US" altLang="zh-CN" dirty="0"/>
          </a:p>
          <a:p>
            <a:r>
              <a:rPr lang="zh-CN" altLang="en-US" dirty="0"/>
              <a:t>类继承和派生</a:t>
            </a:r>
            <a:endParaRPr lang="en-US" altLang="zh-CN" dirty="0"/>
          </a:p>
          <a:p>
            <a:r>
              <a:rPr lang="zh-CN" altLang="en-US" dirty="0"/>
              <a:t>深拷贝</a:t>
            </a:r>
            <a:r>
              <a:rPr lang="en-US" altLang="zh-CN" dirty="0"/>
              <a:t> vs. </a:t>
            </a:r>
            <a:r>
              <a:rPr lang="zh-CN" altLang="en-US" dirty="0"/>
              <a:t>浅拷贝</a:t>
            </a:r>
            <a:endParaRPr lang="en-US" altLang="zh-C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0032" y="2996952"/>
            <a:ext cx="3202843" cy="2577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类的组合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600869" y="1467284"/>
            <a:ext cx="8229600" cy="4525962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/>
              <a:t>类中的</a:t>
            </a:r>
            <a:r>
              <a:rPr lang="zh-CN" altLang="en-US" dirty="0">
                <a:solidFill>
                  <a:srgbClr val="0070C0"/>
                </a:solidFill>
              </a:rPr>
              <a:t>成员数据</a:t>
            </a:r>
            <a:r>
              <a:rPr lang="zh-CN" altLang="en-US" dirty="0"/>
              <a:t>是另一个类的对象。</a:t>
            </a:r>
            <a:endParaRPr lang="zh-CN" altLang="en-US" dirty="0"/>
          </a:p>
          <a:p>
            <a:pPr eaLnBrk="1" hangingPunct="1">
              <a:lnSpc>
                <a:spcPct val="160000"/>
              </a:lnSpc>
            </a:pPr>
            <a:r>
              <a:rPr lang="zh-CN" altLang="en-US" dirty="0"/>
              <a:t>可以在已有抽象的基础上实现更复杂的抽象。</a:t>
            </a:r>
            <a:endParaRPr lang="zh-CN" altLang="en-US" dirty="0"/>
          </a:p>
        </p:txBody>
      </p:sp>
      <p:sp>
        <p:nvSpPr>
          <p:cNvPr id="43010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5EC132A9-0801-4622-A535-73BDA6060FD0}" type="slidenum">
              <a:rPr lang="en-US" altLang="zh-CN" sz="1000"/>
            </a:fld>
            <a:endParaRPr lang="en-US" altLang="zh-CN" sz="1000"/>
          </a:p>
        </p:txBody>
      </p:sp>
      <p:sp>
        <p:nvSpPr>
          <p:cNvPr id="43012" name="矩形 23556"/>
          <p:cNvSpPr>
            <a:spLocks noGrp="1" noChangeArrowheads="1"/>
          </p:cNvSpPr>
          <p:nvPr/>
        </p:nvSpPr>
        <p:spPr bwMode="auto">
          <a:xfrm>
            <a:off x="600869" y="62068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</a:t>
            </a:r>
            <a:r>
              <a:rPr lang="zh-CN" altLang="en-US" sz="4100" b="1" dirty="0">
                <a:solidFill>
                  <a:srgbClr val="0070C0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组合</a:t>
            </a:r>
            <a:endParaRPr lang="zh-CN" altLang="en-US" sz="4100" b="1" dirty="0">
              <a:solidFill>
                <a:srgbClr val="0070C0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072" y="3726451"/>
            <a:ext cx="2702265" cy="22629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568907"/>
            <a:ext cx="2796530" cy="24822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560219" y="1484784"/>
            <a:ext cx="8229600" cy="4525962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原则：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不仅要对本类中的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基本类型成员</a:t>
            </a:r>
            <a:r>
              <a:rPr lang="zh-CN" altLang="en-US" dirty="0">
                <a:latin typeface="宋体" panose="02010600030101010101" pitchFamily="2" charset="-122"/>
              </a:rPr>
              <a:t>数据赋初值，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也要对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对象成员</a:t>
            </a:r>
            <a:r>
              <a:rPr lang="zh-CN" altLang="en-US" dirty="0">
                <a:latin typeface="宋体" panose="02010600030101010101" pitchFamily="2" charset="-122"/>
              </a:rPr>
              <a:t>初始化。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声明形式：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类名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::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类名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对象成员所需的形参，本类成员形参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宋体" panose="02010600030101010101" pitchFamily="2" charset="-122"/>
              </a:rPr>
              <a:t>       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对象</a:t>
            </a:r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参数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对象</a:t>
            </a:r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参数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......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{ 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latin typeface="宋体" panose="02010600030101010101" pitchFamily="2" charset="-122"/>
              </a:rPr>
              <a:t>      //</a:t>
            </a:r>
            <a:r>
              <a:rPr lang="zh-CN" altLang="en-US" dirty="0">
                <a:latin typeface="宋体" panose="02010600030101010101" pitchFamily="2" charset="-122"/>
              </a:rPr>
              <a:t>函数体其他语句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}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pic>
        <p:nvPicPr>
          <p:cNvPr id="44035" name="标题 1"/>
          <p:cNvPicPr>
            <a:picLocks noGrp="1" noChangeArrowheads="1"/>
          </p:cNvPicPr>
          <p:nvPr>
            <p:ph type="title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1291" y="548680"/>
            <a:ext cx="8485188" cy="1176338"/>
          </a:xfrm>
        </p:spPr>
      </p:pic>
      <p:sp>
        <p:nvSpPr>
          <p:cNvPr id="44034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0D21D8E6-1F91-4940-AF73-5FA504FC82B6}" type="slidenum">
              <a:rPr lang="en-US" altLang="zh-CN" sz="1000"/>
            </a:fld>
            <a:endParaRPr lang="en-US" altLang="zh-CN" sz="1000"/>
          </a:p>
        </p:txBody>
      </p:sp>
      <p:sp>
        <p:nvSpPr>
          <p:cNvPr id="2" name="矩形 1"/>
          <p:cNvSpPr/>
          <p:nvPr/>
        </p:nvSpPr>
        <p:spPr>
          <a:xfrm>
            <a:off x="2216747" y="4293096"/>
            <a:ext cx="511256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24128" y="431572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初始化列表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51520" y="1772816"/>
            <a:ext cx="8485188" cy="4525962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dirty="0"/>
              <a:t>首先对构造函数</a:t>
            </a:r>
            <a:r>
              <a:rPr lang="zh-CN" altLang="en-US" b="1" dirty="0">
                <a:solidFill>
                  <a:srgbClr val="C00000"/>
                </a:solidFill>
              </a:rPr>
              <a:t>初始化列表</a:t>
            </a:r>
            <a:r>
              <a:rPr lang="zh-CN" altLang="en-US" dirty="0"/>
              <a:t>中列出的成员（包括基本类型成员和对象成员）进行初始化，</a:t>
            </a:r>
            <a:r>
              <a:rPr lang="zh-CN" altLang="en-US" dirty="0">
                <a:solidFill>
                  <a:srgbClr val="C00000"/>
                </a:solidFill>
              </a:rPr>
              <a:t>初始化次序</a:t>
            </a:r>
            <a:r>
              <a:rPr lang="zh-CN" altLang="en-US" dirty="0">
                <a:solidFill>
                  <a:srgbClr val="0070C0"/>
                </a:solidFill>
              </a:rPr>
              <a:t>是成员在类体中定义的次序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成员对象构造函数调用顺序：按对象成员的声明顺序，先声明者先构造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中未出现的成员对象，调用默认构造函数（即无形参的）初始化。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ts val="1200"/>
              </a:spcBef>
            </a:pPr>
            <a:r>
              <a:rPr lang="zh-CN" altLang="en-US" dirty="0"/>
              <a:t>处理完初始化列表</a:t>
            </a:r>
            <a:r>
              <a:rPr lang="zh-CN" altLang="en-US" dirty="0">
                <a:solidFill>
                  <a:srgbClr val="C00000"/>
                </a:solidFill>
              </a:rPr>
              <a:t>之后</a:t>
            </a:r>
            <a:r>
              <a:rPr lang="zh-CN" altLang="en-US" dirty="0"/>
              <a:t>，再执行构造函数的函数体。</a:t>
            </a:r>
            <a:endParaRPr lang="zh-CN" altLang="en-US" dirty="0"/>
          </a:p>
        </p:txBody>
      </p:sp>
      <p:pic>
        <p:nvPicPr>
          <p:cNvPr id="45059" name="标题 1"/>
          <p:cNvPicPr>
            <a:picLocks noGrp="1" noChangeArrowheads="1"/>
          </p:cNvPicPr>
          <p:nvPr>
            <p:ph type="title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138" y="486519"/>
            <a:ext cx="8485188" cy="1176337"/>
          </a:xfrm>
        </p:spPr>
      </p:pic>
      <p:sp>
        <p:nvSpPr>
          <p:cNvPr id="45058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288EB031-70EE-4C68-B8B6-AC00DED322DC}" type="slidenum">
              <a:rPr lang="en-US" altLang="zh-CN" sz="1000"/>
            </a:fld>
            <a:endParaRPr lang="en-US" altLang="zh-CN" sz="1000"/>
          </a:p>
        </p:txBody>
      </p:sp>
      <p:sp>
        <p:nvSpPr>
          <p:cNvPr id="4" name="矩形 3"/>
          <p:cNvSpPr/>
          <p:nvPr/>
        </p:nvSpPr>
        <p:spPr>
          <a:xfrm>
            <a:off x="5220072" y="1348452"/>
            <a:ext cx="2664296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4498E561-F796-4A86-8564-6D174E313658}" type="slidenum">
              <a:rPr lang="en-US" altLang="zh-CN" sz="1000"/>
            </a:fld>
            <a:endParaRPr lang="en-US" altLang="zh-CN" sz="1000"/>
          </a:p>
        </p:txBody>
      </p:sp>
      <p:sp>
        <p:nvSpPr>
          <p:cNvPr id="46084" name="矩形 26628"/>
          <p:cNvSpPr>
            <a:spLocks noGrp="1" noChangeArrowheads="1"/>
          </p:cNvSpPr>
          <p:nvPr/>
        </p:nvSpPr>
        <p:spPr bwMode="auto">
          <a:xfrm>
            <a:off x="800075" y="764704"/>
            <a:ext cx="864096" cy="3591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类的组合举例</a:t>
            </a:r>
            <a:endParaRPr lang="zh-CN" altLang="en-US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752" y="764704"/>
            <a:ext cx="5572125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88B6AE7D-621D-42F9-BCC6-DC38AE34AD87}" type="slidenum">
              <a:rPr lang="en-US" altLang="zh-CN" sz="1000"/>
            </a:fld>
            <a:endParaRPr lang="en-US" altLang="zh-CN" sz="1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60" y="663861"/>
            <a:ext cx="5098477" cy="5744877"/>
          </a:xfrm>
          <a:prstGeom prst="rect">
            <a:avLst/>
          </a:prstGeom>
        </p:spPr>
      </p:pic>
      <p:sp>
        <p:nvSpPr>
          <p:cNvPr id="3" name="对话气泡: 圆角矩形 2"/>
          <p:cNvSpPr/>
          <p:nvPr/>
        </p:nvSpPr>
        <p:spPr bwMode="auto">
          <a:xfrm>
            <a:off x="5508104" y="980728"/>
            <a:ext cx="1512168" cy="432048"/>
          </a:xfrm>
          <a:prstGeom prst="wedgeRoundRectCallout">
            <a:avLst>
              <a:gd name="adj1" fmla="val -57500"/>
              <a:gd name="adj2" fmla="val 3838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构造函数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5" name="矩形 26628"/>
          <p:cNvSpPr>
            <a:spLocks noGrp="1" noChangeArrowheads="1"/>
          </p:cNvSpPr>
          <p:nvPr/>
        </p:nvSpPr>
        <p:spPr bwMode="auto">
          <a:xfrm>
            <a:off x="800075" y="764703"/>
            <a:ext cx="833688" cy="554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类的组合举例</a:t>
            </a:r>
            <a:endParaRPr lang="en-US" altLang="zh-CN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36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续</a:t>
            </a:r>
            <a:r>
              <a:rPr lang="en-US" altLang="zh-CN" sz="36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)</a:t>
            </a:r>
            <a:endParaRPr lang="en-US" altLang="zh-CN" sz="36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endParaRPr lang="zh-CN" altLang="en-US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</a:pPr>
            <a:fld id="{46DC9D12-388E-40FE-9CC5-CE73149700FA}" type="slidenum">
              <a:rPr lang="en-US" altLang="zh-CN" sz="1000"/>
            </a:fld>
            <a:endParaRPr lang="en-US" altLang="zh-CN" sz="1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6" y="976817"/>
            <a:ext cx="6162675" cy="2609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796" y="3573537"/>
            <a:ext cx="3457575" cy="2352675"/>
          </a:xfrm>
          <a:prstGeom prst="rect">
            <a:avLst/>
          </a:prstGeom>
        </p:spPr>
      </p:pic>
      <p:sp>
        <p:nvSpPr>
          <p:cNvPr id="4" name="左大括号 3"/>
          <p:cNvSpPr/>
          <p:nvPr/>
        </p:nvSpPr>
        <p:spPr>
          <a:xfrm flipH="1">
            <a:off x="6804248" y="3826427"/>
            <a:ext cx="186010" cy="683325"/>
          </a:xfrm>
          <a:prstGeom prst="leftBrace">
            <a:avLst>
              <a:gd name="adj1" fmla="val 29789"/>
              <a:gd name="adj2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690" y="3708106"/>
            <a:ext cx="3247890" cy="9199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690" y="4628075"/>
            <a:ext cx="3247890" cy="1825261"/>
          </a:xfrm>
          <a:prstGeom prst="rect">
            <a:avLst/>
          </a:prstGeom>
        </p:spPr>
      </p:pic>
      <p:sp>
        <p:nvSpPr>
          <p:cNvPr id="7" name="箭头: 右 6"/>
          <p:cNvSpPr/>
          <p:nvPr/>
        </p:nvSpPr>
        <p:spPr>
          <a:xfrm>
            <a:off x="827584" y="4972160"/>
            <a:ext cx="318045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25781" y="4425844"/>
            <a:ext cx="3401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66FF33"/>
                </a:solidFill>
              </a:rPr>
              <a:t>//</a:t>
            </a:r>
            <a:r>
              <a:rPr lang="zh-CN" altLang="en-US" sz="1600" dirty="0">
                <a:solidFill>
                  <a:srgbClr val="66FF33"/>
                </a:solidFill>
              </a:rPr>
              <a:t>调整构造函数，减少临时</a:t>
            </a:r>
            <a:r>
              <a:rPr lang="en-US" altLang="zh-CN" sz="1600" dirty="0">
                <a:solidFill>
                  <a:srgbClr val="66FF33"/>
                </a:solidFill>
              </a:rPr>
              <a:t>Point</a:t>
            </a:r>
            <a:r>
              <a:rPr lang="zh-CN" altLang="en-US" sz="1600" dirty="0">
                <a:solidFill>
                  <a:srgbClr val="66FF33"/>
                </a:solidFill>
              </a:rPr>
              <a:t>对象</a:t>
            </a:r>
            <a:endParaRPr lang="zh-CN" altLang="en-US" sz="1600" dirty="0">
              <a:solidFill>
                <a:srgbClr val="66FF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r="25602" b="20303"/>
          <a:stretch>
            <a:fillRect/>
          </a:stretch>
        </p:blipFill>
        <p:spPr>
          <a:xfrm>
            <a:off x="5963690" y="3501008"/>
            <a:ext cx="2415265" cy="176135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4665126" cy="5256584"/>
          </a:xfrm>
          <a:prstGeom prst="roundRect">
            <a:avLst>
              <a:gd name="adj" fmla="val 1760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1524" b="-1"/>
          <a:stretch>
            <a:fillRect/>
          </a:stretch>
        </p:blipFill>
        <p:spPr>
          <a:xfrm>
            <a:off x="5796136" y="1213224"/>
            <a:ext cx="2865011" cy="1064573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7291800" y="1972092"/>
            <a:ext cx="108000" cy="108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028384" y="1970457"/>
            <a:ext cx="108000" cy="108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137003" y="3907199"/>
            <a:ext cx="124557" cy="108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989170" y="3679949"/>
            <a:ext cx="108000" cy="108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连接符: 曲线 10"/>
          <p:cNvCxnSpPr>
            <a:stCxn id="6" idx="4"/>
            <a:endCxn id="34" idx="0"/>
          </p:cNvCxnSpPr>
          <p:nvPr/>
        </p:nvCxnSpPr>
        <p:spPr>
          <a:xfrm rot="5400000">
            <a:off x="6373435" y="2693863"/>
            <a:ext cx="1586136" cy="358595"/>
          </a:xfrm>
          <a:prstGeom prst="bentConnector3">
            <a:avLst/>
          </a:prstGeom>
          <a:ln w="12700">
            <a:solidFill>
              <a:srgbClr val="66FF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/>
          <p:cNvCxnSpPr>
            <a:stCxn id="7" idx="6"/>
            <a:endCxn id="35" idx="3"/>
          </p:cNvCxnSpPr>
          <p:nvPr/>
        </p:nvCxnSpPr>
        <p:spPr>
          <a:xfrm flipH="1">
            <a:off x="7972118" y="2024457"/>
            <a:ext cx="164266" cy="1947136"/>
          </a:xfrm>
          <a:prstGeom prst="bentConnector3">
            <a:avLst>
              <a:gd name="adj1" fmla="val -139165"/>
            </a:avLst>
          </a:prstGeom>
          <a:ln w="12700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/>
          <p:cNvSpPr/>
          <p:nvPr/>
        </p:nvSpPr>
        <p:spPr>
          <a:xfrm>
            <a:off x="6005334" y="3666228"/>
            <a:ext cx="1963742" cy="183242"/>
          </a:xfrm>
          <a:prstGeom prst="roundRect">
            <a:avLst/>
          </a:prstGeom>
          <a:noFill/>
          <a:ln w="19050">
            <a:solidFill>
              <a:srgbClr val="66FF3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/>
          <p:cNvSpPr/>
          <p:nvPr/>
        </p:nvSpPr>
        <p:spPr>
          <a:xfrm>
            <a:off x="6008376" y="3879972"/>
            <a:ext cx="1963742" cy="183242"/>
          </a:xfrm>
          <a:prstGeom prst="roundRect">
            <a:avLst/>
          </a:prstGeom>
          <a:noFill/>
          <a:ln w="1905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连接符: 曲线 41"/>
          <p:cNvCxnSpPr>
            <a:stCxn id="34" idx="1"/>
            <a:endCxn id="9" idx="0"/>
          </p:cNvCxnSpPr>
          <p:nvPr/>
        </p:nvCxnSpPr>
        <p:spPr>
          <a:xfrm rot="10800000">
            <a:off x="3043170" y="3679949"/>
            <a:ext cx="2962164" cy="77900"/>
          </a:xfrm>
          <a:prstGeom prst="curvedConnector4">
            <a:avLst>
              <a:gd name="adj1" fmla="val 49089"/>
              <a:gd name="adj2" fmla="val 393453"/>
            </a:avLst>
          </a:prstGeom>
          <a:ln w="12700">
            <a:solidFill>
              <a:srgbClr val="66FF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/>
          <p:cNvCxnSpPr>
            <a:stCxn id="35" idx="1"/>
            <a:endCxn id="8" idx="4"/>
          </p:cNvCxnSpPr>
          <p:nvPr/>
        </p:nvCxnSpPr>
        <p:spPr>
          <a:xfrm rot="10800000" flipV="1">
            <a:off x="2199282" y="3971593"/>
            <a:ext cx="3809094" cy="43606"/>
          </a:xfrm>
          <a:prstGeom prst="curvedConnector4">
            <a:avLst>
              <a:gd name="adj1" fmla="val 49183"/>
              <a:gd name="adj2" fmla="val 734351"/>
            </a:avLst>
          </a:prstGeom>
          <a:ln w="12700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/>
          <p:cNvSpPr/>
          <p:nvPr/>
        </p:nvSpPr>
        <p:spPr>
          <a:xfrm>
            <a:off x="6011310" y="4089894"/>
            <a:ext cx="1963742" cy="163306"/>
          </a:xfrm>
          <a:prstGeom prst="roundRect">
            <a:avLst/>
          </a:prstGeom>
          <a:noFill/>
          <a:ln w="19050">
            <a:solidFill>
              <a:srgbClr val="66FF3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6005334" y="4293587"/>
            <a:ext cx="1963742" cy="163306"/>
          </a:xfrm>
          <a:prstGeom prst="roundRect">
            <a:avLst/>
          </a:prstGeom>
          <a:noFill/>
          <a:ln w="1905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连接符: 肘形 60"/>
          <p:cNvCxnSpPr>
            <a:endCxn id="56" idx="1"/>
          </p:cNvCxnSpPr>
          <p:nvPr/>
        </p:nvCxnSpPr>
        <p:spPr>
          <a:xfrm rot="16200000" flipH="1">
            <a:off x="4669827" y="2830063"/>
            <a:ext cx="233197" cy="2449769"/>
          </a:xfrm>
          <a:prstGeom prst="bentConnector2">
            <a:avLst/>
          </a:prstGeom>
          <a:ln w="12700">
            <a:solidFill>
              <a:srgbClr val="66FF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/>
          <p:cNvCxnSpPr>
            <a:endCxn id="59" idx="1"/>
          </p:cNvCxnSpPr>
          <p:nvPr/>
        </p:nvCxnSpPr>
        <p:spPr>
          <a:xfrm rot="16200000" flipH="1">
            <a:off x="4897367" y="3267273"/>
            <a:ext cx="435902" cy="1780032"/>
          </a:xfrm>
          <a:prstGeom prst="bentConnector2">
            <a:avLst/>
          </a:prstGeom>
          <a:ln w="12700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/>
          <p:cNvCxnSpPr>
            <a:stCxn id="71" idx="0"/>
            <a:endCxn id="72" idx="0"/>
          </p:cNvCxnSpPr>
          <p:nvPr/>
        </p:nvCxnSpPr>
        <p:spPr>
          <a:xfrm rot="16200000" flipH="1" flipV="1">
            <a:off x="3520758" y="3594309"/>
            <a:ext cx="9818" cy="277990"/>
          </a:xfrm>
          <a:prstGeom prst="curvedConnector3">
            <a:avLst>
              <a:gd name="adj1" fmla="val -2328376"/>
            </a:avLst>
          </a:prstGeom>
          <a:ln w="12700">
            <a:solidFill>
              <a:srgbClr val="66FF33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/>
        </p:nvSpPr>
        <p:spPr>
          <a:xfrm>
            <a:off x="3637662" y="3728395"/>
            <a:ext cx="54000" cy="54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359672" y="3738213"/>
            <a:ext cx="54000" cy="54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4298378" y="3721777"/>
            <a:ext cx="54000" cy="54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>
            <a:off x="4029912" y="3727099"/>
            <a:ext cx="54000" cy="54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连接符: 曲线 82"/>
          <p:cNvCxnSpPr>
            <a:stCxn id="79" idx="0"/>
            <a:endCxn id="81" idx="0"/>
          </p:cNvCxnSpPr>
          <p:nvPr/>
        </p:nvCxnSpPr>
        <p:spPr>
          <a:xfrm rot="16200000" flipH="1" flipV="1">
            <a:off x="4188484" y="3590205"/>
            <a:ext cx="5322" cy="268466"/>
          </a:xfrm>
          <a:prstGeom prst="curvedConnector3">
            <a:avLst>
              <a:gd name="adj1" fmla="val -4295378"/>
            </a:avLst>
          </a:prstGeom>
          <a:ln w="12700">
            <a:solidFill>
              <a:schemeClr val="accent4">
                <a:lumMod val="40000"/>
                <a:lumOff val="6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1107679" y="3241429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用实参对象复制构造</a:t>
            </a:r>
            <a:r>
              <a:rPr lang="en-US" altLang="zh-CN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xp1</a:t>
            </a:r>
            <a:r>
              <a:rPr lang="zh-CN" altLang="en-US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xp2</a:t>
            </a:r>
            <a:r>
              <a:rPr lang="zh-CN" altLang="en-US" sz="12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形参对象</a:t>
            </a:r>
            <a:endParaRPr lang="zh-CN" altLang="en-US" sz="1200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534479" y="4245675"/>
            <a:ext cx="1906538" cy="169277"/>
          </a:xfrm>
          <a:prstGeom prst="rect">
            <a:avLst/>
          </a:prstGeom>
          <a:solidFill>
            <a:srgbClr val="0070C0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xp1</a:t>
            </a:r>
            <a:r>
              <a:rPr lang="zh-CN" altLang="en-US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xp2</a:t>
            </a:r>
            <a:r>
              <a:rPr lang="zh-CN" altLang="en-US" sz="11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复制创建成员对象</a:t>
            </a:r>
            <a:endParaRPr lang="zh-CN" altLang="en-US" sz="1100" dirty="0">
              <a:solidFill>
                <a:schemeClr val="bg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6005334" y="4873740"/>
            <a:ext cx="1963742" cy="163306"/>
          </a:xfrm>
          <a:prstGeom prst="roundRect">
            <a:avLst/>
          </a:prstGeom>
          <a:noFill/>
          <a:ln w="19050">
            <a:solidFill>
              <a:srgbClr val="47C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矩形: 圆角 89"/>
          <p:cNvSpPr/>
          <p:nvPr/>
        </p:nvSpPr>
        <p:spPr>
          <a:xfrm>
            <a:off x="6005334" y="4683503"/>
            <a:ext cx="1963742" cy="163306"/>
          </a:xfrm>
          <a:prstGeom prst="roundRect">
            <a:avLst/>
          </a:prstGeom>
          <a:noFill/>
          <a:ln w="19050">
            <a:solidFill>
              <a:srgbClr val="47C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1" name="矩形: 圆角 90"/>
          <p:cNvSpPr/>
          <p:nvPr/>
        </p:nvSpPr>
        <p:spPr>
          <a:xfrm>
            <a:off x="2717411" y="5392513"/>
            <a:ext cx="1430161" cy="169277"/>
          </a:xfrm>
          <a:prstGeom prst="roundRect">
            <a:avLst/>
          </a:prstGeom>
          <a:noFill/>
          <a:ln w="19050">
            <a:solidFill>
              <a:srgbClr val="47C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93" name="连接符: 曲线 92"/>
          <p:cNvCxnSpPr>
            <a:stCxn id="91" idx="3"/>
            <a:endCxn id="90" idx="1"/>
          </p:cNvCxnSpPr>
          <p:nvPr/>
        </p:nvCxnSpPr>
        <p:spPr>
          <a:xfrm flipV="1">
            <a:off x="4147572" y="4765156"/>
            <a:ext cx="1857762" cy="711996"/>
          </a:xfrm>
          <a:prstGeom prst="curvedConnector3">
            <a:avLst/>
          </a:prstGeom>
          <a:ln w="12700">
            <a:solidFill>
              <a:srgbClr val="47C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曲线 95"/>
          <p:cNvCxnSpPr>
            <a:stCxn id="91" idx="3"/>
            <a:endCxn id="89" idx="1"/>
          </p:cNvCxnSpPr>
          <p:nvPr/>
        </p:nvCxnSpPr>
        <p:spPr>
          <a:xfrm flipV="1">
            <a:off x="4147572" y="4955393"/>
            <a:ext cx="1857762" cy="521759"/>
          </a:xfrm>
          <a:prstGeom prst="curvedConnector3">
            <a:avLst/>
          </a:prstGeom>
          <a:ln w="12700">
            <a:solidFill>
              <a:srgbClr val="47C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4972746" y="5468584"/>
            <a:ext cx="2536519" cy="257369"/>
          </a:xfrm>
          <a:prstGeom prst="rect">
            <a:avLst/>
          </a:prstGeom>
          <a:solidFill>
            <a:srgbClr val="0070C0"/>
          </a:solidFill>
        </p:spPr>
        <p:txBody>
          <a:bodyPr wrap="none" lIns="36000" tIns="36000" rIns="36000" bIns="36000" rtlCol="0">
            <a:spAutoFit/>
          </a:bodyPr>
          <a:lstStyle>
            <a:defPPr>
              <a:defRPr lang="zh-CN"/>
            </a:defPPr>
            <a:lvl1pPr>
              <a:defRPr sz="110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200" dirty="0"/>
              <a:t>用</a:t>
            </a:r>
            <a:r>
              <a:rPr lang="en-US" altLang="zh-CN" sz="1200" dirty="0"/>
              <a:t>line1</a:t>
            </a:r>
            <a:r>
              <a:rPr lang="zh-CN" altLang="en-US" sz="1200" dirty="0"/>
              <a:t>的两个端点复制创建成员对象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8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8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8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9" grpId="0" animBg="1"/>
      <p:bldP spid="9" grpId="1" animBg="1"/>
      <p:bldP spid="34" grpId="0" animBg="1"/>
      <p:bldP spid="34" grpId="1" animBg="1"/>
      <p:bldP spid="35" grpId="0" animBg="1"/>
      <p:bldP spid="35" grpId="1" animBg="1"/>
      <p:bldP spid="56" grpId="0" animBg="1"/>
      <p:bldP spid="59" grpId="0" animBg="1"/>
      <p:bldP spid="71" grpId="0" animBg="1"/>
      <p:bldP spid="72" grpId="0" animBg="1"/>
      <p:bldP spid="79" grpId="0" animBg="1"/>
      <p:bldP spid="81" grpId="0" animBg="1"/>
      <p:bldP spid="84" grpId="0"/>
      <p:bldP spid="88" grpId="0" animBg="1"/>
      <p:bldP spid="89" grpId="0" animBg="1"/>
      <p:bldP spid="90" grpId="0" animBg="1"/>
      <p:bldP spid="91" grpId="0" animBg="1"/>
      <p:bldP spid="9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矩形 26628"/>
          <p:cNvSpPr>
            <a:spLocks noGrp="1" noChangeArrowheads="1"/>
          </p:cNvSpPr>
          <p:nvPr/>
        </p:nvSpPr>
        <p:spPr bwMode="auto">
          <a:xfrm>
            <a:off x="424032" y="625807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成员</a:t>
            </a:r>
            <a:r>
              <a:rPr lang="zh-CN" altLang="en-US" sz="4100" b="1" dirty="0">
                <a:solidFill>
                  <a:srgbClr val="0070C0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初始化列表</a:t>
            </a:r>
            <a:endParaRPr lang="zh-CN" altLang="en-US" sz="4100" b="1" dirty="0">
              <a:solidFill>
                <a:srgbClr val="0070C0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  <p:sp>
        <p:nvSpPr>
          <p:cNvPr id="49154" name="文本框 2"/>
          <p:cNvSpPr txBox="1">
            <a:spLocks noChangeArrowheads="1"/>
          </p:cNvSpPr>
          <p:nvPr/>
        </p:nvSpPr>
        <p:spPr bwMode="auto">
          <a:xfrm>
            <a:off x="424032" y="1769621"/>
            <a:ext cx="5220889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highlight>
                  <a:srgbClr val="FFFF00"/>
                </a:highlight>
              </a:rPr>
              <a:t>列表形式</a:t>
            </a:r>
            <a:r>
              <a:rPr lang="zh-CN" altLang="en-US" sz="2000" dirty="0"/>
              <a:t>：跟在构造函数的参数之后，以</a:t>
            </a:r>
            <a:r>
              <a:rPr lang="zh-CN" altLang="en-US" sz="2000" dirty="0">
                <a:solidFill>
                  <a:srgbClr val="0070C0"/>
                </a:solidFill>
              </a:rPr>
              <a:t>冒号</a:t>
            </a:r>
            <a:r>
              <a:rPr lang="zh-CN" altLang="en-US" sz="2000" dirty="0"/>
              <a:t>引出，形式为 </a:t>
            </a:r>
            <a:r>
              <a:rPr lang="zh-CN" altLang="en-US" sz="2000" dirty="0">
                <a:solidFill>
                  <a:srgbClr val="0070C0"/>
                </a:solidFill>
              </a:rPr>
              <a:t>成员名称</a:t>
            </a:r>
            <a:r>
              <a:rPr lang="en-US" altLang="zh-CN" sz="2000" dirty="0">
                <a:solidFill>
                  <a:srgbClr val="0070C0"/>
                </a:solidFill>
              </a:rPr>
              <a:t>(</a:t>
            </a:r>
            <a:r>
              <a:rPr lang="zh-CN" altLang="en-US" sz="2000" dirty="0"/>
              <a:t>参数</a:t>
            </a:r>
            <a:r>
              <a:rPr lang="en-US" altLang="zh-CN" sz="2000" dirty="0">
                <a:solidFill>
                  <a:srgbClr val="0070C0"/>
                </a:solidFill>
              </a:rPr>
              <a:t>)</a:t>
            </a:r>
            <a:r>
              <a:rPr lang="zh-CN" altLang="en-US" sz="2000" dirty="0"/>
              <a:t>，用</a:t>
            </a:r>
            <a:r>
              <a:rPr lang="zh-CN" altLang="en-US" sz="2000" dirty="0">
                <a:solidFill>
                  <a:srgbClr val="0070C0"/>
                </a:solidFill>
              </a:rPr>
              <a:t>逗号</a:t>
            </a:r>
            <a:r>
              <a:rPr lang="zh-CN" altLang="en-US" sz="2000" dirty="0"/>
              <a:t>分隔。例如：</a:t>
            </a: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当成员类型是</a:t>
            </a:r>
            <a:r>
              <a:rPr lang="zh-CN" altLang="en-US" sz="2000" dirty="0">
                <a:solidFill>
                  <a:srgbClr val="C00000"/>
                </a:solidFill>
              </a:rPr>
              <a:t>没有默认</a:t>
            </a:r>
            <a:r>
              <a:rPr lang="zh-CN" altLang="en-US" sz="2000" dirty="0"/>
              <a:t>构造函数的类，若不提供显式初始化时，则编译器隐式使用成员类型的默认构造函数，</a:t>
            </a:r>
            <a:r>
              <a:rPr lang="zh-CN" altLang="en-US" sz="2000" dirty="0">
                <a:solidFill>
                  <a:srgbClr val="C00000"/>
                </a:solidFill>
              </a:rPr>
              <a:t>此时发生错误</a:t>
            </a:r>
            <a:r>
              <a:rPr lang="zh-CN" altLang="en-US" sz="2000" dirty="0"/>
              <a:t>。尝试：</a:t>
            </a: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Line::Line(Point xp1, Point xp2)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p1(xp1); </a:t>
            </a:r>
            <a:endParaRPr lang="en-US" altLang="zh-CN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p2(xp2);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2195736" y="5035570"/>
            <a:ext cx="470248" cy="811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ts val="0"/>
              </a:spcBef>
              <a:buClr>
                <a:srgbClr val="CC99FF"/>
              </a:buClr>
              <a:buSzTx/>
              <a:buFont typeface="Monotype Sorts" pitchFamily="2" charset="2"/>
              <a:buNone/>
            </a:pPr>
            <a:r>
              <a:rPr kumimoji="1" lang="zh-CN" altLang="zh-CN" sz="48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</a:t>
            </a:r>
            <a:endParaRPr kumimoji="1" lang="en-US" altLang="zh-CN" sz="5400" b="1" dirty="0">
              <a:solidFill>
                <a:srgbClr val="FF0000"/>
              </a:solidFill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69313" y="953734"/>
            <a:ext cx="3319568" cy="557075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列表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作用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：指定各种成员“诞生”的方式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创建任何类对象的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前提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是其中的所有成员都已“诞生”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如何诞生：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默认的方式，如各种基础类型的数据成员或有默认构造函数的对象成员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2)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按初始化列表传递的参数创建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没有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初始化列表，意味着所有成员将按默认方式诞生，即对象成员所属的类必须有默认构造函数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数据成员，如整型成员可能是随机值或默认为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初始化列表中用的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参数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主要来自构造函数的参数</a:t>
            </a:r>
            <a:r>
              <a:rPr lang="en-US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但可用前面已初始化的成员初始化后面成员也可用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去初始化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构造函数并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不负责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对象成员的“诞生”，但可以更新修改成员，在</a:t>
            </a:r>
            <a:r>
              <a:rPr lang="zh-CN" altLang="en-US" sz="1600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上，它是所有成员诞生后才执行</a:t>
            </a:r>
            <a:endParaRPr lang="zh-CN" altLang="en-US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715" y="2749733"/>
            <a:ext cx="4903253" cy="86626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1560" y="5646882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2BF09"/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12BF09"/>
                </a:solidFill>
                <a:cs typeface="Times New Roman" panose="02020603050405020304" pitchFamily="18" charset="0"/>
              </a:rPr>
              <a:t> ↑ ↑ ↑错误：函数调用语句形式</a:t>
            </a:r>
            <a:endParaRPr lang="zh-CN" altLang="en-US" sz="2000" dirty="0">
              <a:solidFill>
                <a:srgbClr val="12BF09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5" y="1052736"/>
            <a:ext cx="3600401" cy="4557781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3" name="对话气泡: 圆角矩形 2"/>
          <p:cNvSpPr/>
          <p:nvPr/>
        </p:nvSpPr>
        <p:spPr>
          <a:xfrm>
            <a:off x="2159624" y="899498"/>
            <a:ext cx="2016224" cy="695970"/>
          </a:xfrm>
          <a:prstGeom prst="wedgeRoundRectCallout">
            <a:avLst>
              <a:gd name="adj1" fmla="val -21955"/>
              <a:gd name="adj2" fmla="val 74368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just"/>
            <a:r>
              <a:rPr lang="zh-CN" altLang="en-US" sz="14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若无默认构造函数，则</a:t>
            </a:r>
            <a:r>
              <a:rPr lang="en-US" altLang="zh-CN" sz="14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Line</a:t>
            </a:r>
            <a:r>
              <a:rPr lang="zh-CN" altLang="en-US" sz="14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对象的第一种构造方式将失败。</a:t>
            </a:r>
            <a:endParaRPr lang="zh-CN" altLang="en-US" sz="14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620688"/>
            <a:ext cx="3744416" cy="2559958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56" y="1879315"/>
            <a:ext cx="4772025" cy="4248150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81DEFF"/>
            </a:solidFill>
          </a:ln>
          <a:effectLst/>
        </p:spPr>
      </p:pic>
      <p:sp>
        <p:nvSpPr>
          <p:cNvPr id="8" name="对话气泡: 圆角矩形 7"/>
          <p:cNvSpPr/>
          <p:nvPr/>
        </p:nvSpPr>
        <p:spPr>
          <a:xfrm>
            <a:off x="6948264" y="2343102"/>
            <a:ext cx="1380004" cy="612648"/>
          </a:xfrm>
          <a:prstGeom prst="wedgeRoundRectCallout">
            <a:avLst>
              <a:gd name="adj1" fmla="val -57227"/>
              <a:gd name="adj2" fmla="val -34516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just"/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按默认规则创建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endParaRPr lang="zh-CN" altLang="en-US" sz="18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对话气泡: 圆角矩形 8"/>
          <p:cNvSpPr/>
          <p:nvPr/>
        </p:nvSpPr>
        <p:spPr>
          <a:xfrm>
            <a:off x="6011944" y="3150166"/>
            <a:ext cx="2016439" cy="612648"/>
          </a:xfrm>
          <a:prstGeom prst="wedgeRoundRectCallout">
            <a:avLst>
              <a:gd name="adj1" fmla="val -61570"/>
              <a:gd name="adj2" fmla="val -49442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just"/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分别更新为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xp1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xp2</a:t>
            </a:r>
            <a:endParaRPr lang="zh-CN" altLang="en-US" sz="18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860032" y="2420888"/>
            <a:ext cx="1944216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对话气泡: 圆角矩形 11"/>
          <p:cNvSpPr/>
          <p:nvPr/>
        </p:nvSpPr>
        <p:spPr>
          <a:xfrm>
            <a:off x="1619672" y="5453094"/>
            <a:ext cx="3030448" cy="432048"/>
          </a:xfrm>
          <a:prstGeom prst="wedgeRoundRectCallout">
            <a:avLst>
              <a:gd name="adj1" fmla="val 57602"/>
              <a:gd name="adj2" fmla="val -57444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just"/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按初始化列表创建</a:t>
            </a:r>
            <a:r>
              <a:rPr lang="en-US" altLang="zh-CN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line</a:t>
            </a:r>
            <a:r>
              <a:rPr lang="zh-CN" altLang="en-US" sz="1800" dirty="0">
                <a:solidFill>
                  <a:srgbClr val="66FF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的成员</a:t>
            </a:r>
            <a:endParaRPr lang="zh-CN" altLang="en-US" sz="18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1113" y="592739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052736"/>
            <a:ext cx="4933950" cy="2847975"/>
          </a:xfrm>
          <a:prstGeom prst="roundRect">
            <a:avLst>
              <a:gd name="adj" fmla="val 1760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551" y="3356992"/>
            <a:ext cx="4952149" cy="2847975"/>
          </a:xfrm>
          <a:prstGeom prst="roundRect">
            <a:avLst>
              <a:gd name="adj" fmla="val 1760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47CFFF"/>
            </a:solidFill>
          </a:ln>
          <a:effectLst/>
        </p:spPr>
      </p:pic>
      <p:sp>
        <p:nvSpPr>
          <p:cNvPr id="4" name="对话气泡: 圆角矩形 3"/>
          <p:cNvSpPr/>
          <p:nvPr/>
        </p:nvSpPr>
        <p:spPr>
          <a:xfrm>
            <a:off x="755576" y="4481389"/>
            <a:ext cx="2592288" cy="1026909"/>
          </a:xfrm>
          <a:prstGeom prst="wedgeRoundRectCallout">
            <a:avLst>
              <a:gd name="adj1" fmla="val 64221"/>
              <a:gd name="adj2" fmla="val -33115"/>
              <a:gd name="adj3" fmla="val 16667"/>
            </a:avLst>
          </a:prstGeom>
          <a:solidFill>
            <a:srgbClr val="1C1F22"/>
          </a:solidFill>
          <a:ln w="95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just"/>
            <a:r>
              <a:rPr lang="zh-CN" altLang="en-US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此方式是对成员</a:t>
            </a:r>
            <a:r>
              <a:rPr lang="en-US" altLang="zh-CN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sz="1800" dirty="0">
                <a:solidFill>
                  <a:srgbClr val="FFFF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的设置吗？</a:t>
            </a:r>
            <a:endParaRPr lang="zh-CN" altLang="en-US" sz="1800" dirty="0">
              <a:solidFill>
                <a:srgbClr val="FFFF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32040" y="1844824"/>
            <a:ext cx="3242660" cy="461665"/>
          </a:xfrm>
          <a:prstGeom prst="rect">
            <a:avLst/>
          </a:prstGeom>
          <a:solidFill>
            <a:srgbClr val="0000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//Point </a:t>
            </a:r>
            <a:r>
              <a:rPr lang="zh-CN" altLang="en-US" dirty="0">
                <a:solidFill>
                  <a:srgbClr val="FFFF00"/>
                </a:solidFill>
              </a:rPr>
              <a:t>有默认构造函数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475656" y="1916832"/>
            <a:ext cx="971210" cy="533673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3923928" y="4214553"/>
            <a:ext cx="1656184" cy="533673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连接符: 曲线 8"/>
          <p:cNvCxnSpPr>
            <a:stCxn id="6" idx="3"/>
            <a:endCxn id="7" idx="1"/>
          </p:cNvCxnSpPr>
          <p:nvPr/>
        </p:nvCxnSpPr>
        <p:spPr>
          <a:xfrm>
            <a:off x="2446866" y="2183669"/>
            <a:ext cx="1477062" cy="2297721"/>
          </a:xfrm>
          <a:prstGeom prst="curvedConnector3">
            <a:avLst>
              <a:gd name="adj1" fmla="val 50000"/>
            </a:avLst>
          </a:prstGeom>
          <a:ln w="19050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412776"/>
            <a:ext cx="4724400" cy="3857625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6" name="文本框 5"/>
          <p:cNvSpPr txBox="1"/>
          <p:nvPr/>
        </p:nvSpPr>
        <p:spPr>
          <a:xfrm>
            <a:off x="5292080" y="1698732"/>
            <a:ext cx="3242660" cy="461665"/>
          </a:xfrm>
          <a:prstGeom prst="rect">
            <a:avLst/>
          </a:prstGeom>
          <a:solidFill>
            <a:srgbClr val="0000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//Point </a:t>
            </a:r>
            <a:r>
              <a:rPr lang="zh-CN" altLang="en-US" dirty="0">
                <a:solidFill>
                  <a:srgbClr val="FFFF00"/>
                </a:solidFill>
              </a:rPr>
              <a:t>无默认构造函数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17776" y="5284577"/>
            <a:ext cx="39966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正确</a:t>
            </a:r>
            <a:r>
              <a:rPr lang="zh-CN" altLang="en-US" dirty="0">
                <a:solidFill>
                  <a:srgbClr val="0070C0"/>
                </a:solidFill>
              </a:rPr>
              <a:t>的初始化顺序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支持表达式</a:t>
            </a:r>
            <a:r>
              <a:rPr lang="en-US" altLang="zh-CN" dirty="0">
                <a:solidFill>
                  <a:srgbClr val="0070C0"/>
                </a:solidFill>
              </a:rPr>
              <a:t>)……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2590335"/>
            <a:ext cx="4396345" cy="1726757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cxnSp>
        <p:nvCxnSpPr>
          <p:cNvPr id="5" name="直接箭头连接符 4"/>
          <p:cNvCxnSpPr/>
          <p:nvPr/>
        </p:nvCxnSpPr>
        <p:spPr>
          <a:xfrm flipV="1">
            <a:off x="7956376" y="3341590"/>
            <a:ext cx="0" cy="3754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375174" y="2796003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92D050"/>
                </a:solidFill>
              </a:rPr>
              <a:t>//p1</a:t>
            </a:r>
            <a:r>
              <a:rPr lang="zh-CN" altLang="en-US" sz="1800" dirty="0">
                <a:solidFill>
                  <a:srgbClr val="92D050"/>
                </a:solidFill>
              </a:rPr>
              <a:t>成员已先初始化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5940152" y="2996952"/>
            <a:ext cx="360040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7092280" y="3341589"/>
            <a:ext cx="0" cy="37544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791508" y="3662452"/>
            <a:ext cx="2816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再利用</a:t>
            </a:r>
            <a:r>
              <a:rPr lang="en-US" altLang="zh-CN" dirty="0">
                <a:solidFill>
                  <a:srgbClr val="92D050"/>
                </a:solidFill>
              </a:rPr>
              <a:t>p1</a:t>
            </a:r>
            <a:r>
              <a:rPr lang="zh-CN" altLang="en-US" dirty="0">
                <a:solidFill>
                  <a:srgbClr val="FF0000"/>
                </a:solidFill>
              </a:rPr>
              <a:t>初始化</a:t>
            </a:r>
            <a:r>
              <a:rPr lang="en-US" altLang="zh-CN" dirty="0">
                <a:solidFill>
                  <a:srgbClr val="FF0000"/>
                </a:solidFill>
              </a:rPr>
              <a:t>p2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4125" y="1196752"/>
            <a:ext cx="5714266" cy="4176464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5574181" y="3605507"/>
            <a:ext cx="2757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错误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的初始化 顺序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……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4364405" y="1367056"/>
            <a:ext cx="0" cy="64807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427984" y="1368797"/>
            <a:ext cx="2943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</a:rPr>
              <a:t>//</a:t>
            </a:r>
            <a:r>
              <a:rPr lang="zh-CN" altLang="en-US" sz="1800" dirty="0">
                <a:solidFill>
                  <a:srgbClr val="FFFF00"/>
                </a:solidFill>
              </a:rPr>
              <a:t>类体设计中的成员顺序</a:t>
            </a:r>
            <a:endParaRPr lang="en-US" altLang="zh-CN" sz="1800" dirty="0">
              <a:solidFill>
                <a:srgbClr val="FFFF00"/>
              </a:solidFill>
            </a:endParaRPr>
          </a:p>
          <a:p>
            <a:r>
              <a:rPr lang="en-US" altLang="zh-CN" sz="1800" dirty="0">
                <a:solidFill>
                  <a:srgbClr val="FFFF00"/>
                </a:solidFill>
              </a:rPr>
              <a:t>//</a:t>
            </a:r>
            <a:r>
              <a:rPr lang="zh-CN" altLang="en-US" sz="1800" dirty="0">
                <a:solidFill>
                  <a:srgbClr val="FFFF00"/>
                </a:solidFill>
              </a:rPr>
              <a:t>才是实际的初始化顺序</a:t>
            </a:r>
            <a:endParaRPr lang="zh-CN" altLang="en-US" sz="1800" dirty="0">
              <a:solidFill>
                <a:srgbClr val="FFFF00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653903" y="5157192"/>
            <a:ext cx="864079" cy="864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800" dirty="0"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  <a:r>
              <a:rPr lang="en-US" altLang="zh-CN" sz="1800" dirty="0"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zh-CN" altLang="en-US" sz="1800" dirty="0"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1800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zh-CN" altLang="en-US" sz="1800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尚不存在</a:t>
            </a:r>
            <a:endParaRPr lang="zh-CN" altLang="en-US" sz="1800" dirty="0">
              <a:solidFill>
                <a:srgbClr val="FFFF00"/>
              </a:solidFill>
              <a:highlight>
                <a:srgbClr val="0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53903" y="4356051"/>
            <a:ext cx="108000" cy="108000"/>
          </a:xfrm>
          <a:prstGeom prst="ellipse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连接符: 曲线 9"/>
          <p:cNvCxnSpPr>
            <a:stCxn id="8" idx="4"/>
            <a:endCxn id="7" idx="0"/>
          </p:cNvCxnSpPr>
          <p:nvPr/>
        </p:nvCxnSpPr>
        <p:spPr>
          <a:xfrm rot="16200000" flipH="1">
            <a:off x="2550353" y="4621601"/>
            <a:ext cx="693141" cy="378040"/>
          </a:xfrm>
          <a:prstGeom prst="curvedConnector3">
            <a:avLst>
              <a:gd name="adj1" fmla="val 50000"/>
            </a:avLst>
          </a:prstGeom>
          <a:ln w="28575">
            <a:solidFill>
              <a:srgbClr val="66FF3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73" y="740757"/>
            <a:ext cx="3828247" cy="3517007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249683"/>
            <a:ext cx="4186795" cy="2835501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9" y="4437112"/>
            <a:ext cx="1668016" cy="1668016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cxnSp>
        <p:nvCxnSpPr>
          <p:cNvPr id="7" name="连接符: 肘形 6"/>
          <p:cNvCxnSpPr>
            <a:stCxn id="3" idx="2"/>
            <a:endCxn id="5" idx="3"/>
          </p:cNvCxnSpPr>
          <p:nvPr/>
        </p:nvCxnSpPr>
        <p:spPr>
          <a:xfrm rot="5400000">
            <a:off x="4631548" y="3885342"/>
            <a:ext cx="185936" cy="2585621"/>
          </a:xfrm>
          <a:prstGeom prst="bentConnector2">
            <a:avLst/>
          </a:prstGeom>
          <a:ln w="28575">
            <a:solidFill>
              <a:srgbClr val="66F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/>
          <p:cNvSpPr/>
          <p:nvPr/>
        </p:nvSpPr>
        <p:spPr>
          <a:xfrm>
            <a:off x="1593335" y="5585170"/>
            <a:ext cx="1963742" cy="239842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27984" y="5543077"/>
            <a:ext cx="36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//Line85</a:t>
            </a:r>
            <a:r>
              <a:rPr lang="zh-CN" altLang="en-US" sz="2000" dirty="0">
                <a:solidFill>
                  <a:srgbClr val="002060"/>
                </a:solidFill>
              </a:rPr>
              <a:t>引用对象</a:t>
            </a:r>
            <a:r>
              <a:rPr lang="en-US" altLang="zh-CN" sz="2000" dirty="0">
                <a:solidFill>
                  <a:srgbClr val="002060"/>
                </a:solidFill>
              </a:rPr>
              <a:t>line1</a:t>
            </a:r>
            <a:r>
              <a:rPr lang="zh-CN" altLang="en-US" sz="2000" dirty="0">
                <a:solidFill>
                  <a:srgbClr val="002060"/>
                </a:solidFill>
              </a:rPr>
              <a:t>的端点</a:t>
            </a:r>
            <a:r>
              <a:rPr lang="en-US" altLang="zh-CN" sz="2000" dirty="0">
                <a:solidFill>
                  <a:srgbClr val="002060"/>
                </a:solidFill>
              </a:rPr>
              <a:t>p1</a:t>
            </a:r>
            <a:endParaRPr lang="en-US" altLang="zh-CN" sz="2000" dirty="0">
              <a:solidFill>
                <a:srgbClr val="002060"/>
              </a:solidFill>
            </a:endParaRPr>
          </a:p>
          <a:p>
            <a:r>
              <a:rPr lang="en-US" altLang="zh-CN" sz="2000" dirty="0">
                <a:solidFill>
                  <a:srgbClr val="002060"/>
                </a:solidFill>
              </a:rPr>
              <a:t>//</a:t>
            </a:r>
            <a:r>
              <a:rPr lang="zh-CN" altLang="en-US" sz="2000" dirty="0">
                <a:solidFill>
                  <a:srgbClr val="002060"/>
                </a:solidFill>
              </a:rPr>
              <a:t>去初始化创建</a:t>
            </a:r>
            <a:r>
              <a:rPr lang="en-US" altLang="zh-CN" sz="2000" dirty="0">
                <a:solidFill>
                  <a:srgbClr val="002060"/>
                </a:solidFill>
              </a:rPr>
              <a:t>(</a:t>
            </a:r>
            <a:r>
              <a:rPr lang="zh-CN" altLang="en-US" sz="2000" dirty="0">
                <a:solidFill>
                  <a:srgbClr val="002060"/>
                </a:solidFill>
              </a:rPr>
              <a:t>复制</a:t>
            </a:r>
            <a:r>
              <a:rPr lang="en-US" altLang="zh-CN" sz="2000" dirty="0">
                <a:solidFill>
                  <a:srgbClr val="002060"/>
                </a:solidFill>
              </a:rPr>
              <a:t>)</a:t>
            </a:r>
            <a:r>
              <a:rPr lang="zh-CN" altLang="en-US" sz="2000" dirty="0">
                <a:solidFill>
                  <a:srgbClr val="002060"/>
                </a:solidFill>
              </a:rPr>
              <a:t>了新对象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cxnSp>
        <p:nvCxnSpPr>
          <p:cNvPr id="13" name="连接符: 曲线 12"/>
          <p:cNvCxnSpPr>
            <a:stCxn id="10" idx="3"/>
            <a:endCxn id="11" idx="1"/>
          </p:cNvCxnSpPr>
          <p:nvPr/>
        </p:nvCxnSpPr>
        <p:spPr>
          <a:xfrm>
            <a:off x="3557077" y="5705091"/>
            <a:ext cx="870907" cy="191929"/>
          </a:xfrm>
          <a:prstGeom prst="curvedConnector3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436096" y="11408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关于返回引用</a:t>
            </a:r>
            <a:endParaRPr lang="zh-CN" altLang="en-US" sz="28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7504" y="6421209"/>
            <a:ext cx="2066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代码在备注中↓ ↓ ↓</a:t>
            </a:r>
            <a:endParaRPr lang="zh-CN" altLang="en-US" sz="1600" dirty="0"/>
          </a:p>
        </p:txBody>
      </p:sp>
      <p:sp>
        <p:nvSpPr>
          <p:cNvPr id="22" name="左大括号 21"/>
          <p:cNvSpPr/>
          <p:nvPr/>
        </p:nvSpPr>
        <p:spPr>
          <a:xfrm>
            <a:off x="3677924" y="2393699"/>
            <a:ext cx="216024" cy="504056"/>
          </a:xfrm>
          <a:prstGeom prst="leftBrace">
            <a:avLst>
              <a:gd name="adj1" fmla="val 46498"/>
              <a:gd name="adj2" fmla="val 60409"/>
            </a:avLst>
          </a:prstGeom>
          <a:ln w="1905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7802"/>
          <a:stretch>
            <a:fillRect/>
          </a:stretch>
        </p:blipFill>
        <p:spPr>
          <a:xfrm>
            <a:off x="683568" y="980728"/>
            <a:ext cx="3828247" cy="3242608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347386"/>
            <a:ext cx="985764" cy="985764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5" name="连接符: 肘形 4"/>
          <p:cNvCxnSpPr>
            <a:stCxn id="10" idx="2"/>
            <a:endCxn id="18" idx="3"/>
          </p:cNvCxnSpPr>
          <p:nvPr/>
        </p:nvCxnSpPr>
        <p:spPr>
          <a:xfrm rot="5400000">
            <a:off x="4596051" y="4041848"/>
            <a:ext cx="332576" cy="2707281"/>
          </a:xfrm>
          <a:prstGeom prst="bentConnector2">
            <a:avLst/>
          </a:prstGeom>
          <a:ln w="28575">
            <a:solidFill>
              <a:srgbClr val="66F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511814" y="5667345"/>
            <a:ext cx="4020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</a:rPr>
              <a:t>//Line85 </a:t>
            </a:r>
            <a:r>
              <a:rPr lang="zh-CN" altLang="en-US" sz="1800" dirty="0">
                <a:solidFill>
                  <a:srgbClr val="002060"/>
                </a:solidFill>
              </a:rPr>
              <a:t>以</a:t>
            </a:r>
            <a:r>
              <a:rPr lang="en-US" altLang="zh-CN" sz="1800" dirty="0">
                <a:solidFill>
                  <a:srgbClr val="002060"/>
                </a:solidFill>
              </a:rPr>
              <a:t>p</a:t>
            </a:r>
            <a:r>
              <a:rPr lang="zh-CN" altLang="en-US" sz="1800" dirty="0">
                <a:solidFill>
                  <a:srgbClr val="002060"/>
                </a:solidFill>
              </a:rPr>
              <a:t>的名义获得对</a:t>
            </a:r>
            <a:r>
              <a:rPr lang="en-US" altLang="zh-CN" sz="1800" dirty="0">
                <a:solidFill>
                  <a:srgbClr val="002060"/>
                </a:solidFill>
              </a:rPr>
              <a:t>line1</a:t>
            </a:r>
            <a:r>
              <a:rPr lang="zh-CN" altLang="en-US" sz="1800" dirty="0">
                <a:solidFill>
                  <a:srgbClr val="002060"/>
                </a:solidFill>
              </a:rPr>
              <a:t>端点</a:t>
            </a:r>
            <a:endParaRPr lang="en-US" altLang="zh-CN" sz="1800" dirty="0">
              <a:solidFill>
                <a:srgbClr val="002060"/>
              </a:solidFill>
            </a:endParaRPr>
          </a:p>
          <a:p>
            <a:r>
              <a:rPr lang="en-US" altLang="zh-CN" sz="1800" dirty="0">
                <a:solidFill>
                  <a:srgbClr val="002060"/>
                </a:solidFill>
              </a:rPr>
              <a:t>//p1</a:t>
            </a:r>
            <a:r>
              <a:rPr lang="zh-CN" altLang="en-US" sz="1800" dirty="0">
                <a:solidFill>
                  <a:srgbClr val="002060"/>
                </a:solidFill>
              </a:rPr>
              <a:t>的引用，并没有创建新对象</a:t>
            </a:r>
            <a:r>
              <a:rPr lang="en-US" altLang="zh-CN" sz="1800" dirty="0">
                <a:solidFill>
                  <a:srgbClr val="002060"/>
                </a:solidFill>
              </a:rPr>
              <a:t>; </a:t>
            </a:r>
            <a:endParaRPr lang="en-US" altLang="zh-CN" sz="1800" dirty="0">
              <a:solidFill>
                <a:srgbClr val="002060"/>
              </a:solidFill>
            </a:endParaRPr>
          </a:p>
          <a:p>
            <a:r>
              <a:rPr lang="en-US" altLang="zh-CN" sz="1800" dirty="0">
                <a:solidFill>
                  <a:srgbClr val="002060"/>
                </a:solidFill>
              </a:rPr>
              <a:t>//Line86 </a:t>
            </a:r>
            <a:r>
              <a:rPr lang="zh-CN" altLang="en-US" sz="1800" dirty="0">
                <a:solidFill>
                  <a:srgbClr val="002060"/>
                </a:solidFill>
              </a:rPr>
              <a:t>设置实际发生在</a:t>
            </a:r>
            <a:r>
              <a:rPr lang="en-US" altLang="zh-CN" sz="1800" dirty="0">
                <a:solidFill>
                  <a:srgbClr val="002060"/>
                </a:solidFill>
              </a:rPr>
              <a:t>line1</a:t>
            </a:r>
            <a:r>
              <a:rPr lang="zh-CN" altLang="en-US" sz="1800" dirty="0">
                <a:solidFill>
                  <a:srgbClr val="002060"/>
                </a:solidFill>
              </a:rPr>
              <a:t>的</a:t>
            </a:r>
            <a:r>
              <a:rPr lang="en-US" altLang="zh-CN" sz="1800" dirty="0">
                <a:solidFill>
                  <a:srgbClr val="002060"/>
                </a:solidFill>
              </a:rPr>
              <a:t>p1</a:t>
            </a:r>
            <a:r>
              <a:rPr lang="zh-CN" altLang="en-US" sz="1800" dirty="0">
                <a:solidFill>
                  <a:srgbClr val="002060"/>
                </a:solidFill>
              </a:rPr>
              <a:t>上</a:t>
            </a:r>
            <a:endParaRPr lang="zh-CN" altLang="en-US" sz="1800" dirty="0">
              <a:solidFill>
                <a:srgbClr val="002060"/>
              </a:solidFill>
            </a:endParaRPr>
          </a:p>
        </p:txBody>
      </p:sp>
      <p:cxnSp>
        <p:nvCxnSpPr>
          <p:cNvPr id="8" name="连接符: 曲线 7"/>
          <p:cNvCxnSpPr>
            <a:stCxn id="6" idx="3"/>
            <a:endCxn id="7" idx="1"/>
          </p:cNvCxnSpPr>
          <p:nvPr/>
        </p:nvCxnSpPr>
        <p:spPr>
          <a:xfrm>
            <a:off x="3563888" y="6030598"/>
            <a:ext cx="947926" cy="98412"/>
          </a:xfrm>
          <a:prstGeom prst="curvedConnector3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436096" y="83671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关于返回引用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2172922"/>
            <a:ext cx="4528117" cy="3056278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14" name="左大括号 13"/>
          <p:cNvSpPr/>
          <p:nvPr/>
        </p:nvSpPr>
        <p:spPr>
          <a:xfrm>
            <a:off x="3577401" y="2356820"/>
            <a:ext cx="216024" cy="504056"/>
          </a:xfrm>
          <a:prstGeom prst="leftBrace">
            <a:avLst>
              <a:gd name="adj1" fmla="val 46498"/>
              <a:gd name="adj2" fmla="val 57435"/>
            </a:avLst>
          </a:prstGeom>
          <a:ln w="1905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66" y="4725144"/>
            <a:ext cx="1630632" cy="1673263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6" name="矩形: 圆角 5"/>
          <p:cNvSpPr/>
          <p:nvPr/>
        </p:nvSpPr>
        <p:spPr>
          <a:xfrm>
            <a:off x="1600146" y="5910677"/>
            <a:ext cx="1963742" cy="239842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3" name="连接符: 曲线 22"/>
          <p:cNvCxnSpPr>
            <a:stCxn id="4" idx="2"/>
            <a:endCxn id="18" idx="1"/>
          </p:cNvCxnSpPr>
          <p:nvPr/>
        </p:nvCxnSpPr>
        <p:spPr>
          <a:xfrm rot="16200000" flipH="1">
            <a:off x="1254933" y="5038643"/>
            <a:ext cx="228626" cy="817640"/>
          </a:xfrm>
          <a:prstGeom prst="curvedConnector2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550" y="4365104"/>
            <a:ext cx="1822074" cy="217247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73" y="740757"/>
            <a:ext cx="3828247" cy="3517007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249683"/>
            <a:ext cx="4186795" cy="2835501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cxnSp>
        <p:nvCxnSpPr>
          <p:cNvPr id="5" name="连接符: 肘形 4"/>
          <p:cNvCxnSpPr>
            <a:stCxn id="3" idx="2"/>
            <a:endCxn id="17" idx="3"/>
          </p:cNvCxnSpPr>
          <p:nvPr/>
        </p:nvCxnSpPr>
        <p:spPr>
          <a:xfrm rot="5400000">
            <a:off x="4386397" y="3820411"/>
            <a:ext cx="366157" cy="2895702"/>
          </a:xfrm>
          <a:prstGeom prst="bentConnector2">
            <a:avLst/>
          </a:prstGeom>
          <a:ln w="28575">
            <a:solidFill>
              <a:srgbClr val="66F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1157882" y="5688265"/>
            <a:ext cx="2117974" cy="239842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07678" y="5443524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</a:rPr>
              <a:t>//Line85</a:t>
            </a:r>
            <a:r>
              <a:rPr lang="zh-CN" altLang="en-US" sz="1800" dirty="0">
                <a:solidFill>
                  <a:srgbClr val="002060"/>
                </a:solidFill>
              </a:rPr>
              <a:t>：编译器优化了一次复制构造，可理解为</a:t>
            </a:r>
            <a:r>
              <a:rPr lang="en-US" altLang="zh-CN" sz="1800" dirty="0">
                <a:solidFill>
                  <a:srgbClr val="002060"/>
                </a:solidFill>
              </a:rPr>
              <a:t>start</a:t>
            </a:r>
            <a:r>
              <a:rPr lang="zh-CN" altLang="en-US" sz="1800" dirty="0">
                <a:solidFill>
                  <a:srgbClr val="002060"/>
                </a:solidFill>
              </a:rPr>
              <a:t>返回时的临时对象直接成为了</a:t>
            </a:r>
            <a:r>
              <a:rPr lang="en-US" altLang="zh-CN" sz="1800" dirty="0">
                <a:solidFill>
                  <a:srgbClr val="002060"/>
                </a:solidFill>
              </a:rPr>
              <a:t>p</a:t>
            </a:r>
            <a:endParaRPr lang="zh-CN" altLang="en-US" sz="1800" dirty="0">
              <a:solidFill>
                <a:srgbClr val="002060"/>
              </a:solidFill>
            </a:endParaRPr>
          </a:p>
        </p:txBody>
      </p:sp>
      <p:cxnSp>
        <p:nvCxnSpPr>
          <p:cNvPr id="8" name="连接符: 曲线 7"/>
          <p:cNvCxnSpPr>
            <a:stCxn id="6" idx="3"/>
            <a:endCxn id="7" idx="1"/>
          </p:cNvCxnSpPr>
          <p:nvPr/>
        </p:nvCxnSpPr>
        <p:spPr>
          <a:xfrm flipV="1">
            <a:off x="3275856" y="5766690"/>
            <a:ext cx="1131822" cy="41496"/>
          </a:xfrm>
          <a:prstGeom prst="curvedConnector3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157383" y="980227"/>
            <a:ext cx="28616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关于返回引用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 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非引用方式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左大括号 9"/>
          <p:cNvSpPr/>
          <p:nvPr/>
        </p:nvSpPr>
        <p:spPr>
          <a:xfrm>
            <a:off x="3677924" y="2393699"/>
            <a:ext cx="216024" cy="504056"/>
          </a:xfrm>
          <a:prstGeom prst="leftBrace">
            <a:avLst>
              <a:gd name="adj1" fmla="val 46498"/>
              <a:gd name="adj2" fmla="val 60409"/>
            </a:avLst>
          </a:prstGeom>
          <a:ln w="1905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195736" y="2564904"/>
            <a:ext cx="0" cy="3328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698598" y="2206694"/>
            <a:ext cx="0" cy="3328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329252" y="2726338"/>
            <a:ext cx="12589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407678" y="6019843"/>
            <a:ext cx="4484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</a:rPr>
              <a:t>//Line88</a:t>
            </a:r>
            <a:r>
              <a:rPr lang="zh-CN" altLang="en-US" sz="1800" dirty="0">
                <a:solidFill>
                  <a:srgbClr val="002060"/>
                </a:solidFill>
              </a:rPr>
              <a:t>：</a:t>
            </a:r>
            <a:r>
              <a:rPr lang="en-US" altLang="zh-CN" sz="1800" dirty="0">
                <a:solidFill>
                  <a:srgbClr val="002060"/>
                </a:solidFill>
              </a:rPr>
              <a:t>start </a:t>
            </a:r>
            <a:r>
              <a:rPr lang="zh-CN" altLang="en-US" sz="1800" dirty="0">
                <a:solidFill>
                  <a:srgbClr val="002060"/>
                </a:solidFill>
              </a:rPr>
              <a:t>函数返回时把</a:t>
            </a:r>
            <a:r>
              <a:rPr lang="en-US" altLang="zh-CN" sz="1800" dirty="0">
                <a:solidFill>
                  <a:srgbClr val="002060"/>
                </a:solidFill>
              </a:rPr>
              <a:t>p1</a:t>
            </a:r>
            <a:r>
              <a:rPr lang="zh-CN" altLang="en-US" sz="1800" dirty="0">
                <a:solidFill>
                  <a:srgbClr val="002060"/>
                </a:solidFill>
              </a:rPr>
              <a:t>复制给了</a:t>
            </a:r>
            <a:endParaRPr lang="en-US" altLang="zh-CN" sz="1800" dirty="0">
              <a:solidFill>
                <a:srgbClr val="002060"/>
              </a:solidFill>
            </a:endParaRPr>
          </a:p>
          <a:p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一个临时对象</a:t>
            </a:r>
            <a:endParaRPr lang="zh-CN" altLang="en-US" sz="1800" dirty="0">
              <a:solidFill>
                <a:srgbClr val="002060"/>
              </a:solidFill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157882" y="5960605"/>
            <a:ext cx="2117974" cy="239842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连接符: 曲线 24"/>
          <p:cNvCxnSpPr>
            <a:stCxn id="24" idx="3"/>
            <a:endCxn id="22" idx="1"/>
          </p:cNvCxnSpPr>
          <p:nvPr/>
        </p:nvCxnSpPr>
        <p:spPr>
          <a:xfrm>
            <a:off x="3275856" y="6080526"/>
            <a:ext cx="1131822" cy="262483"/>
          </a:xfrm>
          <a:prstGeom prst="curvedConnector3">
            <a:avLst/>
          </a:prstGeom>
          <a:ln w="190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899" y="1120863"/>
            <a:ext cx="3777209" cy="2476859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887126" y="4221088"/>
            <a:ext cx="32207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66FF33"/>
                </a:solidFill>
                <a:latin typeface="微软雅黑" panose="020B0503020204020204" charset="-122"/>
                <a:ea typeface="微软雅黑" panose="020B0503020204020204" charset="-122"/>
              </a:rPr>
              <a:t>关于返回引用</a:t>
            </a:r>
            <a:endParaRPr lang="en-US" altLang="zh-CN" sz="2800" dirty="0">
              <a:solidFill>
                <a:srgbClr val="66FF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800" dirty="0">
                <a:solidFill>
                  <a:srgbClr val="66FF33"/>
                </a:solidFill>
                <a:latin typeface="微软雅黑" panose="020B0503020204020204" charset="-122"/>
                <a:ea typeface="微软雅黑" panose="020B0503020204020204" charset="-122"/>
              </a:rPr>
              <a:t>—— </a:t>
            </a:r>
            <a:r>
              <a:rPr lang="zh-CN" altLang="en-US" sz="28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不</a:t>
            </a:r>
            <a:r>
              <a:rPr lang="zh-CN" altLang="en-US" sz="2800" dirty="0">
                <a:solidFill>
                  <a:srgbClr val="66FF33"/>
                </a:solidFill>
                <a:latin typeface="微软雅黑" panose="020B0503020204020204" charset="-122"/>
                <a:ea typeface="微软雅黑" panose="020B0503020204020204" charset="-122"/>
              </a:rPr>
              <a:t>正确的引用</a:t>
            </a:r>
            <a:endParaRPr lang="zh-CN" altLang="en-US" sz="2800" dirty="0">
              <a:solidFill>
                <a:srgbClr val="66F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92" y="1120863"/>
            <a:ext cx="3947509" cy="5134622"/>
          </a:xfrm>
          <a:prstGeom prst="roundRect">
            <a:avLst>
              <a:gd name="adj" fmla="val 3695"/>
            </a:avLst>
          </a:prstGeom>
          <a:solidFill>
            <a:srgbClr val="FFFFFF">
              <a:shade val="85000"/>
            </a:srgbClr>
          </a:solidFill>
          <a:ln>
            <a:solidFill>
              <a:srgbClr val="66FF33"/>
            </a:solidFill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6732869" y="638132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66FF33"/>
                </a:solidFill>
              </a:rPr>
              <a:t>代码在备注中↓ ↓ ↓</a:t>
            </a:r>
            <a:endParaRPr lang="zh-CN" altLang="en-US" sz="1600" dirty="0">
              <a:solidFill>
                <a:srgbClr val="66FF3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75142" y="5589240"/>
            <a:ext cx="3265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FF00"/>
                </a:solidFill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</a:rPr>
              <a:t>这里涉及编译器优化，仅在</a:t>
            </a:r>
            <a:r>
              <a:rPr lang="en-US" altLang="zh-CN" sz="1600" dirty="0">
                <a:solidFill>
                  <a:srgbClr val="FFFF00"/>
                </a:solidFill>
              </a:rPr>
              <a:t>center</a:t>
            </a:r>
            <a:endParaRPr lang="en-US" altLang="zh-CN" sz="1600" dirty="0">
              <a:solidFill>
                <a:srgbClr val="FFFF00"/>
              </a:solidFill>
            </a:endParaRPr>
          </a:p>
          <a:p>
            <a:r>
              <a:rPr lang="en-US" altLang="zh-CN" sz="1600" dirty="0">
                <a:solidFill>
                  <a:srgbClr val="FFFF00"/>
                </a:solidFill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</a:rPr>
              <a:t>函数执行时构造了</a:t>
            </a:r>
            <a:r>
              <a:rPr lang="zh-CN" altLang="en-US" sz="1600" dirty="0">
                <a:solidFill>
                  <a:srgbClr val="FF0000"/>
                </a:solidFill>
              </a:rPr>
              <a:t>临时对象</a:t>
            </a:r>
            <a:r>
              <a:rPr lang="en-US" altLang="zh-CN" sz="1600" dirty="0" err="1">
                <a:solidFill>
                  <a:srgbClr val="FF0000"/>
                </a:solidFill>
              </a:rPr>
              <a:t>ct</a:t>
            </a:r>
            <a:r>
              <a:rPr lang="en-US" altLang="zh-CN" sz="1600" dirty="0">
                <a:solidFill>
                  <a:srgbClr val="FF0000"/>
                </a:solidFill>
              </a:rPr>
              <a:t> 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4504155" y="5712823"/>
            <a:ext cx="1018733" cy="317173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箭头: 下 7"/>
          <p:cNvSpPr/>
          <p:nvPr/>
        </p:nvSpPr>
        <p:spPr>
          <a:xfrm rot="5400000">
            <a:off x="6988673" y="2009548"/>
            <a:ext cx="216024" cy="356159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/>
          <p:cNvSpPr/>
          <p:nvPr/>
        </p:nvSpPr>
        <p:spPr>
          <a:xfrm>
            <a:off x="2281478" y="3731344"/>
            <a:ext cx="216024" cy="388898"/>
          </a:xfrm>
          <a:prstGeom prst="upArrow">
            <a:avLst/>
          </a:pr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类的继承和派生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5820" y="3645024"/>
            <a:ext cx="2719759" cy="2094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0317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类的继承与派生</a:t>
            </a:r>
            <a:endParaRPr lang="zh-CN" altLang="en-US" dirty="0"/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685800" y="1556792"/>
            <a:ext cx="7486183" cy="4752528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继承与派生是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同一过程</a:t>
            </a:r>
            <a:r>
              <a:rPr lang="zh-CN" altLang="en-US" dirty="0">
                <a:latin typeface="宋体" panose="02010600030101010101" pitchFamily="2" charset="-122"/>
              </a:rPr>
              <a:t>从不同的角度看：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保持已有类的特性而构造新类的过程称为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继承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在已有类的基础上新增特性而产生新类的过程称为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派生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200" dirty="0">
                <a:latin typeface="宋体" panose="02010600030101010101" pitchFamily="2" charset="-122"/>
              </a:rPr>
              <a:t>被继承的已有类称为</a:t>
            </a:r>
            <a:r>
              <a:rPr lang="zh-CN" altLang="en-US" sz="2200" dirty="0">
                <a:solidFill>
                  <a:srgbClr val="C00000"/>
                </a:solidFill>
                <a:latin typeface="宋体" panose="02010600030101010101" pitchFamily="2" charset="-122"/>
              </a:rPr>
              <a:t>基类</a:t>
            </a:r>
            <a:r>
              <a:rPr lang="zh-CN" altLang="en-US" sz="2200" dirty="0">
                <a:latin typeface="宋体" panose="02010600030101010101" pitchFamily="2" charset="-122"/>
              </a:rPr>
              <a:t>（或父类）。</a:t>
            </a:r>
            <a:endParaRPr lang="zh-CN" altLang="en-US" sz="22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200" dirty="0">
                <a:latin typeface="宋体" panose="02010600030101010101" pitchFamily="2" charset="-122"/>
              </a:rPr>
              <a:t>派生出的新类称为</a:t>
            </a:r>
            <a:r>
              <a:rPr lang="zh-CN" altLang="en-US" sz="2200" dirty="0">
                <a:solidFill>
                  <a:srgbClr val="C00000"/>
                </a:solidFill>
                <a:latin typeface="宋体" panose="02010600030101010101" pitchFamily="2" charset="-122"/>
              </a:rPr>
              <a:t>派生类</a:t>
            </a:r>
            <a:r>
              <a:rPr lang="zh-CN" altLang="en-US" sz="2200" dirty="0">
                <a:latin typeface="宋体" panose="02010600030101010101" pitchFamily="2" charset="-122"/>
              </a:rPr>
              <a:t>。</a:t>
            </a:r>
            <a:endParaRPr lang="en-US" altLang="zh-CN" sz="22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200" dirty="0"/>
              <a:t>直接参与派生出某类的基类称为</a:t>
            </a:r>
            <a:r>
              <a:rPr lang="zh-CN" altLang="en-US" sz="2200" dirty="0">
                <a:solidFill>
                  <a:srgbClr val="0070C0"/>
                </a:solidFill>
                <a:latin typeface="宋体" panose="02010600030101010101" pitchFamily="2" charset="-122"/>
              </a:rPr>
              <a:t>直接</a:t>
            </a:r>
            <a:br>
              <a:rPr lang="en-US" altLang="zh-CN" sz="2200" dirty="0">
                <a:solidFill>
                  <a:srgbClr val="0070C0"/>
                </a:solidFill>
                <a:latin typeface="宋体" panose="02010600030101010101" pitchFamily="2" charset="-122"/>
              </a:rPr>
            </a:br>
            <a:r>
              <a:rPr lang="zh-CN" altLang="en-US" sz="2200" dirty="0">
                <a:solidFill>
                  <a:srgbClr val="0070C0"/>
                </a:solidFill>
                <a:latin typeface="宋体" panose="02010600030101010101" pitchFamily="2" charset="-122"/>
              </a:rPr>
              <a:t>基类</a:t>
            </a:r>
            <a:r>
              <a:rPr lang="zh-CN" altLang="en-US" sz="2200" dirty="0"/>
              <a:t>，基类的基类甚至更高层的基类</a:t>
            </a:r>
            <a:br>
              <a:rPr lang="en-US" altLang="zh-CN" sz="2200" dirty="0"/>
            </a:br>
            <a:r>
              <a:rPr lang="zh-CN" altLang="en-US" sz="2200" dirty="0"/>
              <a:t>称为</a:t>
            </a:r>
            <a:r>
              <a:rPr lang="zh-CN" altLang="en-US" sz="2200" dirty="0">
                <a:solidFill>
                  <a:srgbClr val="0070C0"/>
                </a:solidFill>
                <a:latin typeface="宋体" panose="02010600030101010101" pitchFamily="2" charset="-122"/>
              </a:rPr>
              <a:t>间接基类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4818" y="3589424"/>
            <a:ext cx="3023563" cy="22147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706476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</a:t>
            </a:r>
            <a:r>
              <a:rPr lang="zh-CN" altLang="en-US" dirty="0"/>
              <a:t>）继承与派生的</a:t>
            </a:r>
            <a:r>
              <a:rPr lang="zh-CN" altLang="en-US" dirty="0">
                <a:solidFill>
                  <a:srgbClr val="C00000"/>
                </a:solidFill>
              </a:rPr>
              <a:t>目的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625981" y="1658271"/>
            <a:ext cx="7772400" cy="4176464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继承的目的：实现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代码重用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派生的目的：当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新问题</a:t>
            </a:r>
            <a:r>
              <a:rPr lang="zh-CN" altLang="en-US" sz="2400" dirty="0">
                <a:latin typeface="宋体" panose="02010600030101010101" pitchFamily="2" charset="-122"/>
              </a:rPr>
              <a:t>出现，原有程序无法解决（或不能完全解决）时，需对原程序进行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升级改造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59632" y="3284427"/>
            <a:ext cx="4680520" cy="21988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994" y="590123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dirty="0">
                <a:latin typeface="+mj-lt"/>
              </a:rPr>
              <a:t>2</a:t>
            </a:r>
            <a:r>
              <a:rPr lang="zh-CN" altLang="en-US" sz="4000" dirty="0">
                <a:latin typeface="+mj-lt"/>
              </a:rPr>
              <a:t>）</a:t>
            </a:r>
            <a:r>
              <a:rPr lang="zh-CN" altLang="en-US" dirty="0"/>
              <a:t>派生类的声明</a:t>
            </a:r>
            <a:endParaRPr lang="zh-CN" altLang="en-US" dirty="0"/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679040" y="1484784"/>
            <a:ext cx="7772400" cy="4392488"/>
          </a:xfrm>
        </p:spPr>
        <p:txBody>
          <a:bodyPr/>
          <a:lstStyle/>
          <a:p>
            <a:pPr marL="107950" indent="0" eaLnBrk="1" hangingPunct="1">
              <a:spcAft>
                <a:spcPts val="1200"/>
              </a:spcAf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派生类的一般语义语法为：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altLang="zh-CN" sz="2000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ea typeface="楷体" panose="02010609060101010101" pitchFamily="49" charset="-122"/>
              </a:rPr>
              <a:t>: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继承方式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1 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基类名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000" dirty="0">
                <a:latin typeface="宋体" panose="02010600030101010101" pitchFamily="2" charset="-122"/>
              </a:rPr>
              <a:t>, 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继承方式</a:t>
            </a:r>
            <a:r>
              <a:rPr lang="en-US" altLang="zh-CN" sz="2000" dirty="0">
                <a:solidFill>
                  <a:srgbClr val="0000FF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基类名</a:t>
            </a:r>
            <a:r>
              <a:rPr lang="en-US" altLang="zh-CN" sz="2000" dirty="0">
                <a:solidFill>
                  <a:srgbClr val="0000FF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000" dirty="0">
                <a:latin typeface="宋体" panose="02010600030101010101" pitchFamily="2" charset="-122"/>
              </a:rPr>
              <a:t>,...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    </a:t>
            </a:r>
            <a:r>
              <a:rPr lang="zh-CN" altLang="en-US" sz="2000" dirty="0">
                <a:latin typeface="宋体" panose="02010600030101010101" pitchFamily="2" charset="-122"/>
              </a:rPr>
              <a:t>成员声明；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单</a:t>
            </a:r>
            <a:r>
              <a:rPr lang="zh-CN" altLang="en-US" sz="2400" dirty="0">
                <a:solidFill>
                  <a:srgbClr val="0070C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继承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:</a:t>
            </a:r>
            <a:r>
              <a:rPr lang="zh-CN" altLang="en-US" sz="2400" dirty="0">
                <a:solidFill>
                  <a:srgbClr val="0070C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只有一个基类</a:t>
            </a:r>
            <a:endParaRPr lang="en-US" altLang="zh-CN" sz="2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-255905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cs typeface="Times New Roman" panose="02020603050405020304" pitchFamily="18" charset="0"/>
              </a:rPr>
              <a:t>class 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zh-CN" altLang="en-US" sz="1800" dirty="0">
                <a:latin typeface="Consolas" panose="020B0609020204030204" pitchFamily="49" charset="0"/>
              </a:rPr>
              <a:t>：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继承方式 </a:t>
            </a:r>
            <a:r>
              <a:rPr lang="zh-CN" altLang="en-US" sz="1800" dirty="0">
                <a:latin typeface="Consolas" panose="020B0609020204030204" pitchFamily="49" charset="0"/>
              </a:rPr>
              <a:t>基类名</a:t>
            </a:r>
            <a:endParaRPr lang="zh-CN" altLang="en-US" sz="1800" dirty="0">
              <a:latin typeface="Consolas" panose="020B0609020204030204" pitchFamily="49" charset="0"/>
            </a:endParaRPr>
          </a:p>
          <a:p>
            <a:pPr marL="0" indent="-255905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  <a:endParaRPr lang="en-US" altLang="zh-CN" sz="18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-255905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zh-CN" altLang="en-US" sz="1800" dirty="0">
                <a:latin typeface="Consolas" panose="020B0609020204030204" pitchFamily="49" charset="0"/>
              </a:rPr>
              <a:t>成员声明；</a:t>
            </a:r>
            <a:endParaRPr lang="zh-CN" altLang="en-US" sz="1800" dirty="0">
              <a:latin typeface="Consolas" panose="020B0609020204030204" pitchFamily="49" charset="0"/>
            </a:endParaRPr>
          </a:p>
          <a:p>
            <a:pPr marL="0" indent="-255905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cs typeface="Times New Roman" panose="02020603050405020304" pitchFamily="18" charset="0"/>
              </a:rPr>
              <a:t>};</a:t>
            </a:r>
            <a:endParaRPr lang="en-US" altLang="zh-CN" sz="18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107950" indent="0" eaLnBrk="1" hangingPunct="1">
              <a:spcAft>
                <a:spcPts val="600"/>
              </a:spcAft>
              <a:buFont typeface="Georgia" panose="02040502050405020303" pitchFamily="18" charset="0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78224" y="2546714"/>
            <a:ext cx="5173216" cy="1231106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Georgia" panose="02040502050405020303" pitchFamily="18" charset="0"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注意：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Georgia" panose="02040502050405020303" pitchFamily="18" charset="0"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）“继承方式”：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protected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private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Georgia" panose="02040502050405020303" pitchFamily="18" charset="0"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）只用于限制对紧随其后之基类的继承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832" y="3908089"/>
            <a:ext cx="2333427" cy="20994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矩形: 圆角 3"/>
          <p:cNvSpPr/>
          <p:nvPr/>
        </p:nvSpPr>
        <p:spPr bwMode="auto">
          <a:xfrm>
            <a:off x="2771800" y="2020516"/>
            <a:ext cx="1296144" cy="39592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5257056" y="2020515"/>
            <a:ext cx="1296144" cy="39592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244489" y="2976539"/>
            <a:ext cx="72008" cy="7200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6481192" y="2976539"/>
            <a:ext cx="72008" cy="7200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7469696" y="2924897"/>
            <a:ext cx="72008" cy="7200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连接符: 曲线 9"/>
          <p:cNvCxnSpPr>
            <a:stCxn id="4" idx="2"/>
            <a:endCxn id="6" idx="0"/>
          </p:cNvCxnSpPr>
          <p:nvPr/>
        </p:nvCxnSpPr>
        <p:spPr bwMode="auto">
          <a:xfrm rot="16200000" flipH="1">
            <a:off x="4070135" y="1766181"/>
            <a:ext cx="560094" cy="186062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连接符: 曲线 16"/>
          <p:cNvCxnSpPr>
            <a:stCxn id="4" idx="2"/>
            <a:endCxn id="11" idx="0"/>
          </p:cNvCxnSpPr>
          <p:nvPr/>
        </p:nvCxnSpPr>
        <p:spPr bwMode="auto">
          <a:xfrm rot="16200000" flipH="1">
            <a:off x="4688487" y="1147830"/>
            <a:ext cx="560094" cy="3097324"/>
          </a:xfrm>
          <a:prstGeom prst="curvedConnector3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连接符: 曲线 19"/>
          <p:cNvCxnSpPr>
            <a:stCxn id="4" idx="2"/>
            <a:endCxn id="12" idx="7"/>
          </p:cNvCxnSpPr>
          <p:nvPr/>
        </p:nvCxnSpPr>
        <p:spPr bwMode="auto">
          <a:xfrm rot="16200000" flipH="1">
            <a:off x="5216017" y="620299"/>
            <a:ext cx="518997" cy="4111287"/>
          </a:xfrm>
          <a:prstGeom prst="curvedConnector3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矩形: 圆角 26"/>
          <p:cNvSpPr/>
          <p:nvPr/>
        </p:nvSpPr>
        <p:spPr bwMode="auto">
          <a:xfrm>
            <a:off x="2915816" y="4437112"/>
            <a:ext cx="1152128" cy="395929"/>
          </a:xfrm>
          <a:prstGeom prst="roundRect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7584" y="1928757"/>
            <a:ext cx="7056784" cy="20867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5760" marR="0" lvl="0" indent="-255905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class Derived: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public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 Base1,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private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 Base2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{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public: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Derived ();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~Derived ();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};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593852"/>
            <a:ext cx="3781425" cy="26098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195736" y="4509120"/>
            <a:ext cx="1204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public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38186" y="4437112"/>
            <a:ext cx="13740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private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7584" y="1183961"/>
            <a:ext cx="646331" cy="646331"/>
          </a:xfrm>
          <a:prstGeom prst="rect">
            <a:avLst/>
          </a:prstGeom>
          <a:solidFill>
            <a:srgbClr val="30519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fontAlgn="auto" hangingPunct="1">
              <a:spcAft>
                <a:spcPts val="0"/>
              </a:spcAft>
              <a:defRPr sz="36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eaLnBrk="1" hangingPunct="1"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/>
                <a:ea typeface="+mj-ea"/>
                <a:cs typeface="+mj-cs"/>
              </a:rPr>
              <a:t>例</a:t>
            </a:r>
            <a:endParaRPr kumimoji="1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dirty="0">
                <a:latin typeface="+mj-lt"/>
              </a:rPr>
              <a:t>3</a:t>
            </a:r>
            <a:r>
              <a:rPr lang="zh-CN" altLang="en-US" sz="4000" dirty="0">
                <a:latin typeface="+mj-lt"/>
              </a:rPr>
              <a:t>）</a:t>
            </a:r>
            <a:r>
              <a:rPr lang="zh-CN" altLang="en-US" dirty="0"/>
              <a:t>派生类生成</a:t>
            </a:r>
            <a:r>
              <a:rPr lang="zh-CN" altLang="en-US" dirty="0">
                <a:solidFill>
                  <a:srgbClr val="0070C0"/>
                </a:solidFill>
              </a:rPr>
              <a:t>过程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717429" y="1556792"/>
            <a:ext cx="7772400" cy="4608512"/>
          </a:xfrm>
        </p:spPr>
        <p:txBody>
          <a:bodyPr/>
          <a:lstStyle/>
          <a:p>
            <a:pPr marL="133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3200" dirty="0">
                <a:solidFill>
                  <a:srgbClr val="0070C0"/>
                </a:solidFill>
              </a:rPr>
              <a:t>吸收</a:t>
            </a:r>
            <a:r>
              <a:rPr lang="zh-CN" altLang="en-US" sz="2400" dirty="0"/>
              <a:t>基类成员</a:t>
            </a:r>
            <a:endParaRPr lang="en-US" altLang="zh-CN" sz="2400" dirty="0"/>
          </a:p>
          <a:p>
            <a:pPr marL="0" lvl="1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吸收基类成员之后，派生类实际上就</a:t>
            </a:r>
            <a:r>
              <a:rPr lang="zh-CN" altLang="en-US" sz="2400" dirty="0">
                <a:solidFill>
                  <a:srgbClr val="0070C0"/>
                </a:solidFill>
              </a:rPr>
              <a:t>包含了</a:t>
            </a:r>
            <a:r>
              <a:rPr lang="zh-CN" altLang="en-US" sz="2000" dirty="0"/>
              <a:t>它的全部基类中</a:t>
            </a:r>
            <a:r>
              <a:rPr lang="zh-CN" altLang="en-US" sz="2000" b="1" dirty="0">
                <a:solidFill>
                  <a:srgbClr val="C00000"/>
                </a:solidFill>
              </a:rPr>
              <a:t>除构造和析构函数之外</a:t>
            </a:r>
            <a:r>
              <a:rPr lang="zh-CN" altLang="en-US" sz="2000" dirty="0"/>
              <a:t>的</a:t>
            </a:r>
            <a:r>
              <a:rPr lang="zh-CN" altLang="en-US" sz="2400" dirty="0">
                <a:solidFill>
                  <a:srgbClr val="0070C0"/>
                </a:solidFill>
              </a:rPr>
              <a:t>所有成员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133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3200" dirty="0">
                <a:solidFill>
                  <a:srgbClr val="0070C0"/>
                </a:solidFill>
              </a:rPr>
              <a:t>改造</a:t>
            </a:r>
            <a:r>
              <a:rPr lang="zh-CN" altLang="en-US" sz="2400" dirty="0"/>
              <a:t>基类成员</a:t>
            </a:r>
            <a:endParaRPr lang="en-US" altLang="zh-CN" sz="2400" dirty="0"/>
          </a:p>
          <a:p>
            <a:pPr marL="0" lvl="1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如果派生类声明了一个和某基类成员</a:t>
            </a:r>
            <a:r>
              <a:rPr lang="zh-CN" altLang="en-US" sz="2000" dirty="0">
                <a:solidFill>
                  <a:srgbClr val="C00000"/>
                </a:solidFill>
              </a:rPr>
              <a:t>同名的</a:t>
            </a:r>
            <a:r>
              <a:rPr lang="zh-CN" altLang="en-US" sz="2000" dirty="0"/>
              <a:t>新成员（如果是成员函数，则参数表也要相同，参数不同的情况属于</a:t>
            </a:r>
            <a:r>
              <a:rPr lang="zh-CN" altLang="en-US" sz="2000" dirty="0">
                <a:solidFill>
                  <a:srgbClr val="0070C0"/>
                </a:solidFill>
              </a:rPr>
              <a:t>重载</a:t>
            </a:r>
            <a:r>
              <a:rPr lang="zh-CN" altLang="en-US" sz="2000" dirty="0"/>
              <a:t>），派生的新成员就</a:t>
            </a:r>
            <a:r>
              <a:rPr lang="zh-CN" altLang="en-US" sz="2000" dirty="0">
                <a:solidFill>
                  <a:srgbClr val="0070C0"/>
                </a:solidFill>
              </a:rPr>
              <a:t>覆盖了</a:t>
            </a:r>
            <a:r>
              <a:rPr lang="zh-CN" altLang="en-US" sz="2000" dirty="0"/>
              <a:t>外层同名成员。</a:t>
            </a:r>
            <a:r>
              <a:rPr lang="en-US" altLang="zh-CN" sz="2000" b="1" dirty="0"/>
              <a:t>Override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dirty="0">
                <a:latin typeface="+mj-lt"/>
              </a:rPr>
              <a:t>3</a:t>
            </a:r>
            <a:r>
              <a:rPr lang="zh-CN" altLang="en-US" sz="4000" dirty="0">
                <a:latin typeface="+mj-lt"/>
              </a:rPr>
              <a:t>）</a:t>
            </a:r>
            <a:r>
              <a:rPr lang="zh-CN" altLang="en-US" dirty="0"/>
              <a:t>派生类生成</a:t>
            </a:r>
            <a:r>
              <a:rPr lang="zh-CN" altLang="en-US" dirty="0">
                <a:solidFill>
                  <a:srgbClr val="0070C0"/>
                </a:solidFill>
              </a:rPr>
              <a:t>过程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717429" y="1556792"/>
            <a:ext cx="7772400" cy="4608512"/>
          </a:xfrm>
        </p:spPr>
        <p:txBody>
          <a:bodyPr/>
          <a:lstStyle/>
          <a:p>
            <a:pPr marL="133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 startAt="3"/>
            </a:pPr>
            <a:r>
              <a:rPr lang="zh-CN" altLang="en-US" sz="3200" dirty="0">
                <a:solidFill>
                  <a:srgbClr val="0070C0"/>
                </a:solidFill>
              </a:rPr>
              <a:t>添加</a:t>
            </a:r>
            <a:r>
              <a:rPr lang="zh-CN" altLang="en-US" sz="2400" dirty="0"/>
              <a:t>新的成员</a:t>
            </a:r>
            <a:endParaRPr lang="en-US" altLang="zh-CN" sz="2400" dirty="0"/>
          </a:p>
          <a:p>
            <a:pPr marL="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派生类新成员的加入是继承与派生机制的核心，是保证派生类在功能上有所发展。</a:t>
            </a:r>
            <a:endParaRPr lang="en-US" altLang="zh-CN" sz="2000" b="1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979712" y="3501008"/>
            <a:ext cx="5544616" cy="2582576"/>
            <a:chOff x="2627784" y="3429000"/>
            <a:chExt cx="5544616" cy="2582576"/>
          </a:xfrm>
        </p:grpSpPr>
        <p:sp>
          <p:nvSpPr>
            <p:cNvPr id="17" name="矩形 16"/>
            <p:cNvSpPr/>
            <p:nvPr/>
          </p:nvSpPr>
          <p:spPr>
            <a:xfrm>
              <a:off x="2627784" y="3429000"/>
              <a:ext cx="2088232" cy="669259"/>
            </a:xfrm>
            <a:prstGeom prst="rect">
              <a:avLst/>
            </a:prstGeom>
            <a:solidFill>
              <a:srgbClr val="EB641B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基类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627784" y="4402826"/>
              <a:ext cx="3816424" cy="669259"/>
            </a:xfrm>
            <a:prstGeom prst="rect">
              <a:avLst/>
            </a:prstGeom>
            <a:solidFill>
              <a:srgbClr val="002060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基类方法和属性</a:t>
              </a:r>
              <a:r>
                <a:rPr kumimoji="0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||</a:t>
              </a:r>
              <a:endPara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868685" y="4425754"/>
              <a:ext cx="14542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派生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类新增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方法和属性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2627784" y="5336314"/>
              <a:ext cx="5544616" cy="669259"/>
            </a:xfrm>
            <a:prstGeom prst="rect">
              <a:avLst/>
            </a:prstGeom>
            <a:solidFill>
              <a:srgbClr val="002060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基类方法和属性</a:t>
              </a:r>
              <a:r>
                <a:rPr kumimoji="0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||</a:t>
              </a:r>
              <a:endPara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868685" y="5359242"/>
              <a:ext cx="14542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派生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类新增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方法和属性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578208" y="5365245"/>
              <a:ext cx="14542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派生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类新增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方法和属性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3" name="下箭头 14"/>
          <p:cNvSpPr/>
          <p:nvPr/>
        </p:nvSpPr>
        <p:spPr>
          <a:xfrm>
            <a:off x="5220072" y="3501008"/>
            <a:ext cx="195715" cy="621876"/>
          </a:xfrm>
          <a:prstGeom prst="downArrow">
            <a:avLst/>
          </a:prstGeom>
          <a:gradFill rotWithShape="1">
            <a:gsLst>
              <a:gs pos="0">
                <a:srgbClr val="EB641B">
                  <a:shade val="15000"/>
                  <a:satMod val="180000"/>
                </a:srgbClr>
              </a:gs>
              <a:gs pos="50000">
                <a:srgbClr val="EB641B">
                  <a:shade val="45000"/>
                  <a:satMod val="170000"/>
                </a:srgbClr>
              </a:gs>
              <a:gs pos="70000">
                <a:srgbClr val="EB641B">
                  <a:tint val="99000"/>
                  <a:shade val="65000"/>
                  <a:satMod val="155000"/>
                </a:srgbClr>
              </a:gs>
              <a:gs pos="100000">
                <a:srgbClr val="EB641B">
                  <a:tint val="95500"/>
                  <a:shade val="100000"/>
                  <a:satMod val="155000"/>
                </a:srgbClr>
              </a:gs>
            </a:gsLst>
            <a:lin ang="16200000" scaled="0"/>
          </a:gradFill>
          <a:ln>
            <a:noFill/>
          </a:ln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rgbClr val="EB641B">
                <a:satMod val="300000"/>
              </a:srgbClr>
            </a:contourClr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 panose="020B0602030504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" name="下箭头 15"/>
          <p:cNvSpPr/>
          <p:nvPr/>
        </p:nvSpPr>
        <p:spPr>
          <a:xfrm>
            <a:off x="7220836" y="4497762"/>
            <a:ext cx="218998" cy="674268"/>
          </a:xfrm>
          <a:prstGeom prst="downArrow">
            <a:avLst/>
          </a:prstGeom>
          <a:gradFill rotWithShape="1">
            <a:gsLst>
              <a:gs pos="0">
                <a:srgbClr val="EB641B">
                  <a:shade val="15000"/>
                  <a:satMod val="180000"/>
                </a:srgbClr>
              </a:gs>
              <a:gs pos="50000">
                <a:srgbClr val="EB641B">
                  <a:shade val="45000"/>
                  <a:satMod val="170000"/>
                </a:srgbClr>
              </a:gs>
              <a:gs pos="70000">
                <a:srgbClr val="EB641B">
                  <a:tint val="99000"/>
                  <a:shade val="65000"/>
                  <a:satMod val="155000"/>
                </a:srgbClr>
              </a:gs>
              <a:gs pos="100000">
                <a:srgbClr val="EB641B">
                  <a:tint val="95500"/>
                  <a:shade val="100000"/>
                  <a:satMod val="155000"/>
                </a:srgbClr>
              </a:gs>
            </a:gsLst>
            <a:lin ang="16200000" scaled="0"/>
          </a:gradFill>
          <a:ln>
            <a:noFill/>
          </a:ln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rgbClr val="EB641B">
                <a:satMod val="300000"/>
              </a:srgbClr>
            </a:contourClr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 panose="020B0602030504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圆角矩形 8"/>
          <p:cNvSpPr/>
          <p:nvPr/>
        </p:nvSpPr>
        <p:spPr>
          <a:xfrm>
            <a:off x="2051720" y="5461468"/>
            <a:ext cx="3738468" cy="562965"/>
          </a:xfrm>
          <a:prstGeom prst="roundRect">
            <a:avLst>
              <a:gd name="adj" fmla="val 15301"/>
            </a:avLst>
          </a:prstGeom>
          <a:noFill/>
          <a:ln w="12700" cap="flat" cmpd="sng" algn="ctr">
            <a:solidFill>
              <a:srgbClr val="DEF5FA">
                <a:lumMod val="9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 panose="020B0602030504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圆角矩形 16"/>
          <p:cNvSpPr/>
          <p:nvPr/>
        </p:nvSpPr>
        <p:spPr>
          <a:xfrm>
            <a:off x="2051720" y="4539444"/>
            <a:ext cx="2016224" cy="562965"/>
          </a:xfrm>
          <a:prstGeom prst="roundRect">
            <a:avLst>
              <a:gd name="adj" fmla="val 15301"/>
            </a:avLst>
          </a:prstGeom>
          <a:noFill/>
          <a:ln w="12700" cap="flat" cmpd="sng" algn="ctr">
            <a:solidFill>
              <a:srgbClr val="DEF5FA">
                <a:lumMod val="9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 panose="020B0602030504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45259"/>
            <a:ext cx="2110379" cy="5059665"/>
          </a:xfrm>
        </p:spPr>
      </p:pic>
      <p:sp>
        <p:nvSpPr>
          <p:cNvPr id="6" name="内容占位符 2"/>
          <p:cNvSpPr txBox="1"/>
          <p:nvPr/>
        </p:nvSpPr>
        <p:spPr bwMode="auto">
          <a:xfrm>
            <a:off x="2688267" y="1067520"/>
            <a:ext cx="6392845" cy="505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 </a:t>
            </a:r>
            <a:r>
              <a:rPr kumimoji="0" lang="zh-CN" altLang="en-US" dirty="0"/>
              <a:t>继承了 </a:t>
            </a:r>
            <a:r>
              <a:rPr kumimoji="0" lang="en-US" altLang="zh-CN" dirty="0"/>
              <a:t>Person</a:t>
            </a:r>
            <a:endParaRPr kumimoji="0" lang="en-US" altLang="zh-CN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0070C0"/>
                </a:solidFill>
              </a:rPr>
              <a:t>吸收</a:t>
            </a:r>
            <a:r>
              <a:rPr kumimoji="0" lang="zh-CN" altLang="en-US" dirty="0"/>
              <a:t>基类成员</a:t>
            </a:r>
            <a:endParaRPr kumimoji="0"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 </a:t>
            </a:r>
            <a:r>
              <a:rPr kumimoji="0" lang="zh-CN" altLang="en-US" dirty="0"/>
              <a:t>吸收了 </a:t>
            </a:r>
            <a:r>
              <a:rPr kumimoji="0" lang="en-US" altLang="zh-CN" dirty="0"/>
              <a:t>Person </a:t>
            </a:r>
            <a:r>
              <a:rPr kumimoji="0" lang="zh-CN" altLang="en-US" dirty="0"/>
              <a:t>的 </a:t>
            </a:r>
            <a:r>
              <a:rPr kumimoji="0" lang="en-US" altLang="zh-CN" dirty="0"/>
              <a:t>name, ID, </a:t>
            </a:r>
            <a:r>
              <a:rPr kumimoji="0" lang="en-US" altLang="zh-CN" dirty="0" err="1"/>
              <a:t>getName</a:t>
            </a:r>
            <a:r>
              <a:rPr kumimoji="0" lang="en-US" altLang="zh-CN" dirty="0"/>
              <a:t>(), </a:t>
            </a:r>
            <a:r>
              <a:rPr kumimoji="0" lang="en-US" altLang="zh-CN" dirty="0" err="1"/>
              <a:t>getID</a:t>
            </a:r>
            <a:r>
              <a:rPr kumimoji="0" lang="en-US" altLang="zh-CN" dirty="0"/>
              <a:t>(), </a:t>
            </a:r>
            <a:r>
              <a:rPr kumimoji="0" lang="en-US" altLang="zh-CN" dirty="0" err="1"/>
              <a:t>setName</a:t>
            </a:r>
            <a:r>
              <a:rPr kumimoji="0" lang="en-US" altLang="zh-CN" dirty="0"/>
              <a:t>(*), </a:t>
            </a:r>
            <a:r>
              <a:rPr kumimoji="0" lang="en-US" altLang="zh-CN" dirty="0" err="1"/>
              <a:t>setID</a:t>
            </a:r>
            <a:r>
              <a:rPr kumimoji="0" lang="en-US" altLang="zh-CN" dirty="0"/>
              <a:t>(*)</a:t>
            </a:r>
            <a:r>
              <a:rPr kumimoji="0" lang="zh-CN" altLang="en-US" dirty="0"/>
              <a:t>等成员</a:t>
            </a:r>
            <a:endParaRPr kumimoji="0" lang="en-US" altLang="zh-CN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C00000"/>
                </a:solidFill>
              </a:rPr>
              <a:t>改造</a:t>
            </a:r>
            <a:r>
              <a:rPr kumimoji="0" lang="zh-CN" altLang="en-US" dirty="0"/>
              <a:t>基类成员</a:t>
            </a:r>
            <a:endParaRPr kumimoji="0"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</a:t>
            </a:r>
            <a:r>
              <a:rPr kumimoji="0" lang="zh-CN" altLang="en-US" dirty="0"/>
              <a:t>改造了</a:t>
            </a:r>
            <a:r>
              <a:rPr kumimoji="0" lang="en-US" altLang="zh-CN" dirty="0" err="1">
                <a:solidFill>
                  <a:srgbClr val="C00000"/>
                </a:solidFill>
              </a:rPr>
              <a:t>toString</a:t>
            </a:r>
            <a:r>
              <a:rPr kumimoji="0" lang="en-US" altLang="zh-CN" dirty="0">
                <a:solidFill>
                  <a:srgbClr val="C00000"/>
                </a:solidFill>
              </a:rPr>
              <a:t>() </a:t>
            </a:r>
            <a:r>
              <a:rPr kumimoji="0" lang="zh-CN" altLang="en-US" dirty="0"/>
              <a:t>成员</a:t>
            </a:r>
            <a:endParaRPr kumimoji="0" lang="en-US" altLang="zh-CN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0070C0"/>
                </a:solidFill>
              </a:rPr>
              <a:t>添加</a:t>
            </a:r>
            <a:r>
              <a:rPr kumimoji="0" lang="zh-CN" altLang="en-US" dirty="0"/>
              <a:t>新的成员</a:t>
            </a:r>
            <a:endParaRPr kumimoji="0"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kumimoji="0" lang="en-US" altLang="zh-CN" dirty="0"/>
              <a:t>Student</a:t>
            </a:r>
            <a:r>
              <a:rPr kumimoji="0" lang="zh-CN" altLang="en-US" dirty="0"/>
              <a:t>增加了</a:t>
            </a:r>
            <a:r>
              <a:rPr kumimoji="0" lang="en-US" altLang="zh-CN" dirty="0" err="1"/>
              <a:t>studentID</a:t>
            </a:r>
            <a:r>
              <a:rPr kumimoji="0" lang="en-US" altLang="zh-CN" dirty="0"/>
              <a:t>, </a:t>
            </a:r>
            <a:r>
              <a:rPr kumimoji="0" lang="en-US" altLang="zh-CN" dirty="0" err="1"/>
              <a:t>getStudentID</a:t>
            </a:r>
            <a:r>
              <a:rPr kumimoji="0" lang="en-US" altLang="zh-CN" dirty="0"/>
              <a:t>(), </a:t>
            </a:r>
            <a:r>
              <a:rPr kumimoji="0" lang="en-US" altLang="zh-CN" dirty="0" err="1"/>
              <a:t>setStudentID</a:t>
            </a:r>
            <a:r>
              <a:rPr kumimoji="0" lang="en-US" altLang="zh-CN" dirty="0"/>
              <a:t>(*) </a:t>
            </a:r>
            <a:r>
              <a:rPr kumimoji="0" lang="zh-CN" altLang="en-US" dirty="0"/>
              <a:t>成员</a:t>
            </a:r>
            <a:endParaRPr kumimoji="0"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访问控制</a:t>
            </a:r>
            <a:endParaRPr lang="zh-CN" altLang="en-US" dirty="0"/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760413" y="1628800"/>
            <a:ext cx="7772400" cy="4176464"/>
          </a:xfrm>
        </p:spPr>
        <p:txBody>
          <a:bodyPr>
            <a:normAutofit/>
          </a:bodyPr>
          <a:lstStyle/>
          <a:p>
            <a:pPr marL="109855" indent="0" eaLnBrk="1" fontAlgn="auto" hangingPunct="1"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zh-CN" altLang="en-US" dirty="0">
                <a:latin typeface="宋体" panose="02010600030101010101" pitchFamily="2" charset="-122"/>
              </a:rPr>
              <a:t>不同</a:t>
            </a:r>
            <a:r>
              <a:rPr lang="zh-CN" altLang="en-US" sz="3600" dirty="0">
                <a:solidFill>
                  <a:srgbClr val="0070C0"/>
                </a:solidFill>
                <a:latin typeface="宋体" panose="02010600030101010101" pitchFamily="2" charset="-122"/>
              </a:rPr>
              <a:t>继承方式</a:t>
            </a:r>
            <a:r>
              <a:rPr lang="zh-CN" altLang="en-US" dirty="0">
                <a:latin typeface="宋体" panose="02010600030101010101" pitchFamily="2" charset="-122"/>
              </a:rPr>
              <a:t>的影响主要体现在：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658495" lvl="1" indent="-247015" eaLnBrk="1" fontAlgn="auto" hangingPunct="1">
              <a:spcBef>
                <a:spcPts val="325"/>
              </a:spcBef>
              <a:spcAft>
                <a:spcPts val="1200"/>
              </a:spcAft>
              <a:buFont typeface="Georgia" panose="02040502050405020303"/>
              <a:buChar char="▫"/>
              <a:defRPr/>
            </a:pPr>
            <a:r>
              <a:rPr lang="zh-CN" altLang="en-US" dirty="0">
                <a:latin typeface="宋体" panose="02010600030101010101" pitchFamily="2" charset="-122"/>
              </a:rPr>
              <a:t>派生类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成员对</a:t>
            </a:r>
            <a:r>
              <a:rPr lang="zh-CN" altLang="en-US" dirty="0">
                <a:latin typeface="宋体" panose="02010600030101010101" pitchFamily="2" charset="-122"/>
              </a:rPr>
              <a:t>基类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成员</a:t>
            </a:r>
            <a:r>
              <a:rPr lang="zh-CN" altLang="en-US" dirty="0">
                <a:latin typeface="宋体" panose="02010600030101010101" pitchFamily="2" charset="-122"/>
              </a:rPr>
              <a:t>的访问权限：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定义实现派生类时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58495" lvl="1" indent="-247015" eaLnBrk="1" fontAlgn="auto" hangingPunct="1">
              <a:spcBef>
                <a:spcPts val="325"/>
              </a:spcBef>
              <a:spcAft>
                <a:spcPts val="1200"/>
              </a:spcAft>
              <a:buFont typeface="Georgia" panose="02040502050405020303"/>
              <a:buChar char="▫"/>
              <a:defRPr/>
            </a:pPr>
            <a:r>
              <a:rPr lang="zh-CN" altLang="en-US" dirty="0">
                <a:latin typeface="宋体" panose="02010600030101010101" pitchFamily="2" charset="-122"/>
              </a:rPr>
              <a:t>通过派生类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对象对</a:t>
            </a:r>
            <a:r>
              <a:rPr lang="zh-CN" altLang="en-US" dirty="0">
                <a:latin typeface="宋体" panose="02010600030101010101" pitchFamily="2" charset="-122"/>
              </a:rPr>
              <a:t>基类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成员</a:t>
            </a:r>
            <a:r>
              <a:rPr lang="zh-CN" altLang="en-US" dirty="0">
                <a:latin typeface="宋体" panose="02010600030101010101" pitchFamily="2" charset="-122"/>
              </a:rPr>
              <a:t>的访问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</a:rPr>
              <a:t>权限：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使用派生类对象时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 eaLnBrk="1" fontAlgn="auto" hangingPunct="1"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zh-CN" altLang="en-US" sz="3600" dirty="0">
                <a:solidFill>
                  <a:srgbClr val="0070C0"/>
                </a:solidFill>
                <a:latin typeface="宋体" panose="02010600030101010101" pitchFamily="2" charset="-122"/>
              </a:rPr>
              <a:t>三种</a:t>
            </a:r>
            <a:r>
              <a:rPr lang="zh-CN" altLang="en-US" dirty="0">
                <a:latin typeface="宋体" panose="02010600030101010101" pitchFamily="2" charset="-122"/>
              </a:rPr>
              <a:t>继承方式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658495" lvl="1" indent="-247015" eaLnBrk="1" fontAlgn="auto" hangingPunct="1">
              <a:spcBef>
                <a:spcPts val="325"/>
              </a:spcBef>
              <a:spcAft>
                <a:spcPts val="1200"/>
              </a:spcAft>
              <a:buFont typeface="Georgia" panose="02040502050405020303"/>
              <a:buChar char="▫"/>
              <a:defRPr/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</a:rPr>
              <a:t>公有继承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宋体" panose="02010600030101010101" pitchFamily="2" charset="-122"/>
            </a:endParaRPr>
          </a:p>
          <a:p>
            <a:pPr marL="658495" lvl="1" indent="-247015" eaLnBrk="1" fontAlgn="auto" hangingPunct="1">
              <a:spcBef>
                <a:spcPts val="325"/>
              </a:spcBef>
              <a:spcAft>
                <a:spcPts val="1200"/>
              </a:spcAft>
              <a:buFont typeface="Georgia" panose="02040502050405020303"/>
              <a:buChar char="▫"/>
              <a:defRPr/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</a:rPr>
              <a:t>私有继承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宋体" panose="02010600030101010101" pitchFamily="2" charset="-122"/>
            </a:endParaRPr>
          </a:p>
          <a:p>
            <a:pPr marL="658495" lvl="1" indent="-247015" eaLnBrk="1" fontAlgn="auto" hangingPunct="1">
              <a:spcBef>
                <a:spcPts val="325"/>
              </a:spcBef>
              <a:spcAft>
                <a:spcPts val="1200"/>
              </a:spcAft>
              <a:buFont typeface="Georgia" panose="02040502050405020303"/>
              <a:buChar char="▫"/>
              <a:defRPr/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</a:rPr>
              <a:t>保护继承</a:t>
            </a:r>
            <a:endParaRPr lang="zh-CN" altLang="en-US" dirty="0">
              <a:solidFill>
                <a:schemeClr val="accent6">
                  <a:lumMod val="50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1) </a:t>
            </a:r>
            <a:r>
              <a:rPr lang="zh-CN" altLang="en-US" dirty="0"/>
              <a:t>公有继承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public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2530" name="内容占位符 2"/>
          <p:cNvSpPr>
            <a:spLocks noGrp="1"/>
          </p:cNvSpPr>
          <p:nvPr>
            <p:ph idx="4294967295"/>
          </p:nvPr>
        </p:nvSpPr>
        <p:spPr>
          <a:xfrm>
            <a:off x="707979" y="1402469"/>
            <a:ext cx="7772400" cy="417671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000" dirty="0">
                <a:latin typeface="宋体" panose="02010600030101010101" pitchFamily="2" charset="-122"/>
              </a:rPr>
              <a:t>成员的访问属性在派生子类中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保持不变</a:t>
            </a:r>
            <a:r>
              <a:rPr lang="zh-CN" altLang="en-US" sz="2000" dirty="0">
                <a:latin typeface="宋体" panose="02010600030101010101" pitchFamily="2" charset="-122"/>
              </a:rPr>
              <a:t>，但基类的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000" dirty="0">
                <a:latin typeface="宋体" panose="02010600030101010101" pitchFamily="2" charset="-122"/>
              </a:rPr>
              <a:t>成员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派生类中的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成员函数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可以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基类中的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000" dirty="0">
                <a:latin typeface="宋体" panose="02010600030101010101" pitchFamily="2" charset="-122"/>
              </a:rPr>
              <a:t>成员，但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000" dirty="0">
                <a:latin typeface="宋体" panose="02010600030101010101" pitchFamily="2" charset="-122"/>
              </a:rPr>
              <a:t>成员。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通过派生类的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对象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只能</a:t>
            </a:r>
            <a:r>
              <a:rPr lang="zh-CN" altLang="en-US" sz="2000" dirty="0">
                <a:latin typeface="宋体" panose="02010600030101010101" pitchFamily="2" charset="-122"/>
              </a:rPr>
              <a:t>访问基类的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成员。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20403" y="5048071"/>
            <a:ext cx="3722494" cy="1200329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student: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person{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对话气泡: 圆角矩形 4"/>
          <p:cNvSpPr/>
          <p:nvPr/>
        </p:nvSpPr>
        <p:spPr>
          <a:xfrm>
            <a:off x="6444208" y="2622015"/>
            <a:ext cx="1152128" cy="360040"/>
          </a:xfrm>
          <a:prstGeom prst="wedgeRoundRectCallout">
            <a:avLst>
              <a:gd name="adj1" fmla="val -57931"/>
              <a:gd name="adj2" fmla="val -45722"/>
              <a:gd name="adj3" fmla="val 16667"/>
            </a:avLst>
          </a:prstGeom>
          <a:solidFill>
            <a:srgbClr val="30519C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但存在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pic>
        <p:nvPicPr>
          <p:cNvPr id="8" name="图形 7" descr="用户"/>
          <p:cNvPicPr>
            <a:picLocks noChangeAspect="1"/>
          </p:cNvPicPr>
          <p:nvPr/>
        </p:nvPicPr>
        <p:blipFill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067" y="5370616"/>
            <a:ext cx="1031945" cy="1031945"/>
          </a:xfrm>
          <a:prstGeom prst="rect">
            <a:avLst/>
          </a:prstGeom>
        </p:spPr>
      </p:pic>
      <p:pic>
        <p:nvPicPr>
          <p:cNvPr id="10" name="图形 9" descr="男学生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3584" y="5466928"/>
            <a:ext cx="914400" cy="914400"/>
          </a:xfrm>
          <a:prstGeom prst="rect">
            <a:avLst/>
          </a:prstGeom>
        </p:spPr>
      </p:pic>
      <p:pic>
        <p:nvPicPr>
          <p:cNvPr id="12" name="图形 11" descr="女学生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4275" y="5461469"/>
            <a:ext cx="914400" cy="914400"/>
          </a:xfrm>
          <a:prstGeom prst="rect">
            <a:avLst/>
          </a:prstGeom>
        </p:spPr>
      </p:pic>
      <p:sp>
        <p:nvSpPr>
          <p:cNvPr id="13" name="箭头: 右 12"/>
          <p:cNvSpPr/>
          <p:nvPr/>
        </p:nvSpPr>
        <p:spPr>
          <a:xfrm>
            <a:off x="2358779" y="5810657"/>
            <a:ext cx="373127" cy="216024"/>
          </a:xfrm>
          <a:prstGeom prst="rightArrow">
            <a:avLst/>
          </a:prstGeom>
          <a:solidFill>
            <a:srgbClr val="FFC000"/>
          </a:solidFill>
          <a:ln w="63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>
          <a:xfrm>
            <a:off x="827584" y="404664"/>
            <a:ext cx="7991475" cy="984250"/>
          </a:xfrm>
        </p:spPr>
        <p:txBody>
          <a:bodyPr/>
          <a:lstStyle/>
          <a:p>
            <a:r>
              <a:rPr lang="zh-CN" altLang="en-US" dirty="0"/>
              <a:t>例：公有继承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1286293"/>
            <a:ext cx="4824536" cy="3434642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629" y="3722513"/>
            <a:ext cx="5976664" cy="239570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5773842" y="1705937"/>
            <a:ext cx="2959451" cy="160253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尝试将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Person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的数据成员改为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，然后在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Student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的成员函数中访问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10074" y="3789040"/>
            <a:ext cx="432048" cy="21054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+mj-ea"/>
              </a:rPr>
              <a:t>2) </a:t>
            </a:r>
            <a:r>
              <a:rPr lang="zh-CN" altLang="en-US" dirty="0"/>
              <a:t>私有继承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private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xfrm>
            <a:off x="685800" y="1412776"/>
            <a:ext cx="7772400" cy="475252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dirty="0">
                <a:latin typeface="宋体" panose="02010600030101010101" pitchFamily="2" charset="-122"/>
              </a:rPr>
              <a:t>成员</a:t>
            </a:r>
            <a:r>
              <a:rPr lang="zh-CN" altLang="en-US" sz="3200" b="1" dirty="0">
                <a:solidFill>
                  <a:srgbClr val="C00000"/>
                </a:solidFill>
                <a:latin typeface="宋体" panose="02010600030101010101" pitchFamily="2" charset="-122"/>
              </a:rPr>
              <a:t>都</a:t>
            </a:r>
            <a:r>
              <a:rPr lang="zh-CN" altLang="en-US" dirty="0">
                <a:latin typeface="宋体" panose="02010600030101010101" pitchFamily="2" charset="-122"/>
              </a:rPr>
              <a:t>以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身份</a:t>
            </a:r>
            <a:r>
              <a:rPr lang="zh-CN" altLang="en-US" dirty="0">
                <a:latin typeface="宋体" panose="02010600030101010101" pitchFamily="2" charset="-122"/>
              </a:rPr>
              <a:t>出现在派生类中，但基类的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dirty="0">
                <a:latin typeface="宋体" panose="02010600030101010101" pitchFamily="2" charset="-122"/>
              </a:rPr>
              <a:t>成员</a:t>
            </a:r>
            <a:r>
              <a:rPr lang="zh-CN" altLang="en-US" sz="32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8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派生类的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成员函数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可以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dirty="0">
                <a:latin typeface="宋体" panose="02010600030101010101" pitchFamily="2" charset="-122"/>
              </a:rPr>
              <a:t>成员，但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dirty="0">
                <a:latin typeface="宋体" panose="02010600030101010101" pitchFamily="2" charset="-122"/>
              </a:rPr>
              <a:t>成员。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派生类的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对象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dirty="0">
                <a:latin typeface="宋体" panose="02010600030101010101" pitchFamily="2" charset="-122"/>
              </a:rPr>
              <a:t>基类的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任何</a:t>
            </a:r>
            <a:r>
              <a:rPr lang="zh-CN" altLang="en-US" dirty="0">
                <a:latin typeface="宋体" panose="02010600030101010101" pitchFamily="2" charset="-122"/>
              </a:rPr>
              <a:t>成员。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" name="对话气泡: 圆角矩形 2"/>
          <p:cNvSpPr/>
          <p:nvPr/>
        </p:nvSpPr>
        <p:spPr bwMode="auto">
          <a:xfrm>
            <a:off x="5833120" y="2996952"/>
            <a:ext cx="1440160" cy="738372"/>
          </a:xfrm>
          <a:prstGeom prst="wedgeRoundRectCallout">
            <a:avLst>
              <a:gd name="adj1" fmla="val 28323"/>
              <a:gd name="adj2" fmla="val 8646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宋体" panose="02010600030101010101" pitchFamily="2" charset="-122"/>
                <a:cs typeface="+mn-cs"/>
              </a:rPr>
              <a:t>如果改造有同名成员？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5800" y="693480"/>
            <a:ext cx="7772400" cy="947192"/>
          </a:xfrm>
        </p:spPr>
        <p:txBody>
          <a:bodyPr/>
          <a:lstStyle/>
          <a:p>
            <a:r>
              <a:rPr lang="en-US" altLang="zh-CN" dirty="0"/>
              <a:t>* </a:t>
            </a:r>
            <a:r>
              <a:rPr lang="zh-CN" altLang="en-US" dirty="0"/>
              <a:t>私有继承的含义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8810" y="1638678"/>
            <a:ext cx="7772400" cy="474264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dirty="0"/>
              <a:t>C++</a:t>
            </a:r>
            <a:r>
              <a:rPr lang="zh-CN" altLang="en-US" dirty="0"/>
              <a:t>将</a:t>
            </a:r>
            <a:r>
              <a:rPr lang="zh-CN" altLang="en-US" dirty="0">
                <a:solidFill>
                  <a:srgbClr val="FFFF00"/>
                </a:solidFill>
                <a:highlight>
                  <a:srgbClr val="000080"/>
                </a:highlight>
              </a:rPr>
              <a:t>公有</a:t>
            </a: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继承</a:t>
            </a:r>
            <a:r>
              <a:rPr lang="zh-CN" altLang="en-US" dirty="0"/>
              <a:t>视为 </a:t>
            </a:r>
            <a:r>
              <a:rPr lang="en-US" altLang="zh-CN" sz="2800" dirty="0">
                <a:solidFill>
                  <a:srgbClr val="0070C0"/>
                </a:solidFill>
              </a:rPr>
              <a:t>“</a:t>
            </a:r>
            <a:r>
              <a:rPr lang="zh-CN" altLang="en-US" sz="2800" dirty="0">
                <a:solidFill>
                  <a:srgbClr val="0070C0"/>
                </a:solidFill>
              </a:rPr>
              <a:t>是一个</a:t>
            </a:r>
            <a:r>
              <a:rPr lang="en-US" altLang="zh-CN" sz="2800" dirty="0">
                <a:solidFill>
                  <a:srgbClr val="0070C0"/>
                </a:solidFill>
              </a:rPr>
              <a:t>…”</a:t>
            </a:r>
            <a:r>
              <a:rPr lang="en-US" altLang="zh-CN" dirty="0"/>
              <a:t> </a:t>
            </a:r>
            <a:r>
              <a:rPr lang="zh-CN" altLang="en-US" dirty="0"/>
              <a:t>的关系，而</a:t>
            </a:r>
            <a:br>
              <a:rPr lang="en-US" altLang="zh-CN" dirty="0"/>
            </a:br>
            <a:r>
              <a:rPr lang="zh-CN" altLang="en-US" dirty="0">
                <a:solidFill>
                  <a:srgbClr val="FFFF00"/>
                </a:solidFill>
                <a:highlight>
                  <a:srgbClr val="000080"/>
                </a:highlight>
              </a:rPr>
              <a:t>私有</a:t>
            </a: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继承</a:t>
            </a:r>
            <a:r>
              <a:rPr lang="zh-CN" altLang="en-US" dirty="0"/>
              <a:t>意味着 </a:t>
            </a:r>
            <a:r>
              <a:rPr lang="en-US" altLang="zh-CN" sz="2800" dirty="0">
                <a:solidFill>
                  <a:srgbClr val="0070C0"/>
                </a:solidFill>
              </a:rPr>
              <a:t>"</a:t>
            </a:r>
            <a:r>
              <a:rPr lang="zh-CN" altLang="en-US" sz="2800" dirty="0">
                <a:solidFill>
                  <a:srgbClr val="0070C0"/>
                </a:solidFill>
              </a:rPr>
              <a:t>用</a:t>
            </a:r>
            <a:r>
              <a:rPr lang="en-US" altLang="zh-CN" sz="2800" dirty="0">
                <a:solidFill>
                  <a:srgbClr val="0070C0"/>
                </a:solidFill>
              </a:rPr>
              <a:t>...</a:t>
            </a:r>
            <a:r>
              <a:rPr lang="zh-CN" altLang="en-US" sz="2800" dirty="0">
                <a:solidFill>
                  <a:srgbClr val="0070C0"/>
                </a:solidFill>
              </a:rPr>
              <a:t>来实现</a:t>
            </a:r>
            <a:r>
              <a:rPr lang="en-US" altLang="zh-CN" sz="2800" dirty="0">
                <a:solidFill>
                  <a:srgbClr val="0070C0"/>
                </a:solidFill>
              </a:rPr>
              <a:t>"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如果使类</a:t>
            </a:r>
            <a:r>
              <a:rPr lang="en-US" altLang="zh-CN" dirty="0"/>
              <a:t>D</a:t>
            </a:r>
            <a:r>
              <a:rPr lang="zh-CN" altLang="en-US" dirty="0"/>
              <a:t>私有继承于类</a:t>
            </a:r>
            <a:r>
              <a:rPr lang="en-US" altLang="zh-CN" dirty="0"/>
              <a:t>B</a:t>
            </a:r>
            <a:r>
              <a:rPr lang="zh-CN" altLang="en-US" dirty="0"/>
              <a:t>，这样做主要是</a:t>
            </a:r>
            <a:r>
              <a:rPr lang="zh-CN" altLang="en-US" dirty="0">
                <a:solidFill>
                  <a:srgbClr val="002060"/>
                </a:solidFill>
              </a:rPr>
              <a:t>为</a:t>
            </a:r>
            <a:r>
              <a:rPr lang="zh-CN" altLang="en-US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利用类</a:t>
            </a:r>
            <a:r>
              <a:rPr lang="en-US" altLang="zh-CN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中已经存在的某些代码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C00000"/>
                </a:solidFill>
              </a:rPr>
              <a:t>非</a:t>
            </a:r>
            <a:r>
              <a:rPr lang="zh-CN" altLang="en-US" dirty="0"/>
              <a:t>因为类型</a:t>
            </a:r>
            <a:r>
              <a:rPr lang="en-US" altLang="zh-CN" dirty="0"/>
              <a:t>B</a:t>
            </a:r>
            <a:r>
              <a:rPr lang="zh-CN" altLang="en-US" dirty="0"/>
              <a:t>的对象和类型</a:t>
            </a:r>
            <a:r>
              <a:rPr lang="en-US" altLang="zh-CN" dirty="0"/>
              <a:t>D</a:t>
            </a:r>
            <a:r>
              <a:rPr lang="zh-CN" altLang="en-US" dirty="0"/>
              <a:t>的对象之间有什么概念上的关系。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因而，</a:t>
            </a:r>
            <a:r>
              <a:rPr lang="zh-CN" altLang="en-US" sz="2800" b="1" dirty="0">
                <a:solidFill>
                  <a:srgbClr val="0070C0"/>
                </a:solidFill>
              </a:rPr>
              <a:t>私有继承纯粹是一种实现技术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solidFill>
                  <a:srgbClr val="C00000"/>
                </a:solidFill>
              </a:rPr>
              <a:t>不推荐</a:t>
            </a:r>
            <a:r>
              <a:rPr lang="zh-CN" altLang="en-US" dirty="0"/>
              <a:t>，万不得已才用私有继承 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+mj-ea"/>
              </a:rPr>
              <a:t>3) </a:t>
            </a:r>
            <a:r>
              <a:rPr lang="zh-CN" altLang="en-US" dirty="0"/>
              <a:t>保护继承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protected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827584" y="1556792"/>
            <a:ext cx="7704856" cy="4248472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基类的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400" dirty="0">
                <a:latin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400" dirty="0">
                <a:latin typeface="宋体" panose="02010600030101010101" pitchFamily="2" charset="-122"/>
              </a:rPr>
              <a:t>成员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都</a:t>
            </a:r>
            <a:r>
              <a:rPr lang="zh-CN" altLang="en-US" sz="2400" dirty="0">
                <a:latin typeface="宋体" panose="02010600030101010101" pitchFamily="2" charset="-122"/>
              </a:rPr>
              <a:t>以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身份</a:t>
            </a:r>
            <a:r>
              <a:rPr lang="zh-CN" altLang="en-US" sz="2400" dirty="0">
                <a:latin typeface="宋体" panose="02010600030101010101" pitchFamily="2" charset="-122"/>
              </a:rPr>
              <a:t>出现在派生类中，但基类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400" dirty="0">
                <a:latin typeface="宋体" panose="02010600030101010101" pitchFamily="2" charset="-122"/>
              </a:rPr>
              <a:t>成员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派生类中的</a:t>
            </a:r>
            <a:r>
              <a:rPr lang="zh-CN" altLang="en-US" sz="18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成员函数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可以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altLang="en-US" sz="2000" dirty="0">
                <a:latin typeface="宋体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altLang="en-US" sz="2000" dirty="0">
                <a:latin typeface="宋体" panose="02010600030101010101" pitchFamily="2" charset="-122"/>
              </a:rPr>
              <a:t>成员，但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altLang="en-US" sz="2000" dirty="0">
                <a:latin typeface="宋体" panose="02010600030101010101" pitchFamily="2" charset="-122"/>
              </a:rPr>
              <a:t>成员。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通过派生类的</a:t>
            </a:r>
            <a:r>
              <a:rPr lang="zh-CN" altLang="en-US" sz="1800" dirty="0">
                <a:solidFill>
                  <a:schemeClr val="bg1"/>
                </a:solidFill>
                <a:highlight>
                  <a:srgbClr val="000080"/>
                </a:highlight>
                <a:latin typeface="宋体" panose="02010600030101010101" pitchFamily="2" charset="-122"/>
              </a:rPr>
              <a:t>对象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不能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直接访问</a:t>
            </a:r>
            <a:r>
              <a:rPr lang="zh-CN" altLang="en-US" sz="2000" dirty="0">
                <a:latin typeface="宋体" panose="02010600030101010101" pitchFamily="2" charset="-122"/>
              </a:rPr>
              <a:t>基类的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任何</a:t>
            </a:r>
            <a:r>
              <a:rPr lang="zh-CN" altLang="en-US" sz="2000" dirty="0">
                <a:latin typeface="宋体" panose="02010600030101010101" pitchFamily="2" charset="-122"/>
              </a:rPr>
              <a:t>成员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保护继承的特点是：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基类的公用成员和保护成员在派生类中都成了保护成员，其私有成员仍为基类私有。也就是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把基类原有的公用成员也保护起来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，不让类外任意访问</a:t>
            </a:r>
            <a:r>
              <a:rPr lang="zh-CN" altLang="en-US" sz="2400" dirty="0"/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6465" y="609600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</a:rPr>
              <a:t>protected</a:t>
            </a:r>
            <a:r>
              <a:rPr lang="en-US" altLang="zh-CN" dirty="0"/>
              <a:t> </a:t>
            </a:r>
            <a:r>
              <a:rPr lang="zh-CN" altLang="en-US" dirty="0"/>
              <a:t>成员的特点与作用</a:t>
            </a:r>
            <a:endParaRPr lang="zh-CN" altLang="en-US" dirty="0"/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xfrm>
            <a:off x="645633" y="1556792"/>
            <a:ext cx="7772400" cy="4176464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对创建它</a:t>
            </a:r>
            <a:r>
              <a:rPr lang="zh-CN" altLang="en-US" sz="2400" dirty="0">
                <a:solidFill>
                  <a:srgbClr val="C00000"/>
                </a:solidFill>
              </a:rPr>
              <a:t>所在</a:t>
            </a:r>
            <a:r>
              <a:rPr lang="zh-CN" altLang="en-US" sz="2400" b="1" dirty="0">
                <a:solidFill>
                  <a:srgbClr val="C00000"/>
                </a:solidFill>
              </a:rPr>
              <a:t>对象</a:t>
            </a:r>
            <a:r>
              <a:rPr lang="zh-CN" altLang="en-US" sz="2400" dirty="0">
                <a:solidFill>
                  <a:srgbClr val="C00000"/>
                </a:solidFill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</a:rPr>
              <a:t>模块</a:t>
            </a:r>
            <a:r>
              <a:rPr lang="zh-CN" altLang="en-US" sz="2400" dirty="0"/>
              <a:t>来说，它与 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成员的性质相同。</a:t>
            </a:r>
            <a:endParaRPr lang="zh-CN" altLang="en-US" sz="2400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对于其</a:t>
            </a:r>
            <a:r>
              <a:rPr lang="zh-CN" altLang="en-US" sz="2400" b="1" dirty="0"/>
              <a:t>派生类</a:t>
            </a:r>
            <a:r>
              <a:rPr lang="en-US" altLang="zh-CN" sz="2400" b="1" dirty="0"/>
              <a:t>(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类作用域</a:t>
            </a:r>
            <a:r>
              <a:rPr lang="en-US" altLang="zh-CN" sz="2400" b="1" dirty="0"/>
              <a:t>)</a:t>
            </a:r>
            <a:r>
              <a:rPr lang="zh-CN" altLang="en-US" sz="2400" dirty="0"/>
              <a:t>来说，它与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</a:rPr>
              <a:t>成员</a:t>
            </a:r>
            <a:r>
              <a:rPr lang="zh-CN" altLang="en-US" sz="2400" dirty="0"/>
              <a:t>的性质相同。</a:t>
            </a:r>
            <a:endParaRPr lang="zh-CN" altLang="en-US" sz="2400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既实现了数据隐藏，又方便继承，实现代码重用。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2438" y="4254982"/>
            <a:ext cx="4302140" cy="19032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78" y="4191223"/>
            <a:ext cx="3280208" cy="185802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5" name="圆角矩形 4"/>
          <p:cNvSpPr/>
          <p:nvPr/>
        </p:nvSpPr>
        <p:spPr bwMode="auto">
          <a:xfrm>
            <a:off x="2339752" y="1556792"/>
            <a:ext cx="2160240" cy="504056"/>
          </a:xfrm>
          <a:prstGeom prst="roundRect">
            <a:avLst/>
          </a:prstGeom>
          <a:noFill/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曲线连接符 6"/>
          <p:cNvCxnSpPr>
            <a:endCxn id="3" idx="0"/>
          </p:cNvCxnSpPr>
          <p:nvPr/>
        </p:nvCxnSpPr>
        <p:spPr bwMode="auto">
          <a:xfrm rot="5400000">
            <a:off x="1870890" y="2642240"/>
            <a:ext cx="2130375" cy="967590"/>
          </a:xfrm>
          <a:prstGeom prst="curvedConnector3">
            <a:avLst/>
          </a:prstGeom>
          <a:noFill/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4294967295"/>
          </p:nvPr>
        </p:nvSpPr>
        <p:spPr>
          <a:xfrm>
            <a:off x="818196" y="2276872"/>
            <a:ext cx="3609975" cy="3671888"/>
          </a:xfrm>
          <a:solidFill>
            <a:srgbClr val="002060"/>
          </a:solidFill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class A {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FF00"/>
                </a:solidFill>
                <a:latin typeface="Consolas" panose="020B0609020204030204" pitchFamily="49" charset="0"/>
              </a:rPr>
              <a:t>protected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 x;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 main() {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	A </a:t>
            </a:r>
            <a:r>
              <a:rPr lang="en-US" altLang="zh-CN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.x</a:t>
            </a: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 = 5;   </a:t>
            </a:r>
            <a:r>
              <a:rPr lang="en-US" altLang="zh-CN" sz="2400" dirty="0">
                <a:solidFill>
                  <a:srgbClr val="FFC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错误</a:t>
            </a:r>
            <a:endParaRPr lang="zh-CN" altLang="en-US" sz="24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83568" y="1002121"/>
            <a:ext cx="8229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例：</a:t>
            </a:r>
            <a:r>
              <a:rPr lang="en-US" altLang="zh-CN" dirty="0"/>
              <a:t> protected </a:t>
            </a:r>
            <a:br>
              <a:rPr lang="en-US" altLang="zh-CN" dirty="0"/>
            </a:br>
            <a:r>
              <a:rPr lang="zh-CN" altLang="en-US" dirty="0"/>
              <a:t>成员举例</a:t>
            </a:r>
            <a:endParaRPr kumimoji="1" lang="zh-CN" altLang="en-US" dirty="0"/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4608797" y="1028150"/>
            <a:ext cx="3888805" cy="53041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 A 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protected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 B: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void function();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 B:function() 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5;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正确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派生类的作用域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576" y="784076"/>
            <a:ext cx="7772400" cy="947192"/>
          </a:xfrm>
        </p:spPr>
        <p:txBody>
          <a:bodyPr/>
          <a:lstStyle/>
          <a:p>
            <a:r>
              <a:rPr lang="zh-CN" altLang="en-US" dirty="0"/>
              <a:t>多继承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628800"/>
            <a:ext cx="7772400" cy="4176464"/>
          </a:xfrm>
        </p:spPr>
        <p:txBody>
          <a:bodyPr/>
          <a:lstStyle/>
          <a:p>
            <a:r>
              <a:rPr lang="zh-CN" altLang="en-US" dirty="0"/>
              <a:t>在前面的例子中，派生类都只有</a:t>
            </a:r>
            <a:r>
              <a:rPr lang="zh-CN" altLang="en-US" sz="3200" dirty="0">
                <a:solidFill>
                  <a:srgbClr val="0070C0"/>
                </a:solidFill>
              </a:rPr>
              <a:t>一个基类</a:t>
            </a:r>
            <a:r>
              <a:rPr lang="zh-CN" altLang="en-US" dirty="0"/>
              <a:t>，称为</a:t>
            </a:r>
            <a:r>
              <a:rPr lang="zh-CN" altLang="en-US" sz="2800" dirty="0">
                <a:solidFill>
                  <a:srgbClr val="0070C0"/>
                </a:solidFill>
              </a:rPr>
              <a:t>单继承</a:t>
            </a:r>
            <a:r>
              <a:rPr lang="zh-CN" altLang="en-US" dirty="0"/>
              <a:t>（</a:t>
            </a:r>
            <a:r>
              <a:rPr lang="en-US" altLang="zh-CN" dirty="0"/>
              <a:t>Single Inheritance</a:t>
            </a:r>
            <a:r>
              <a:rPr lang="zh-CN" altLang="en-US" dirty="0"/>
              <a:t>）。除此之外，</a:t>
            </a:r>
            <a:r>
              <a:rPr lang="en-US" altLang="zh-CN" dirty="0"/>
              <a:t>C++</a:t>
            </a:r>
            <a:r>
              <a:rPr lang="zh-CN" altLang="en-US" dirty="0"/>
              <a:t>也支持</a:t>
            </a:r>
            <a:r>
              <a:rPr lang="zh-CN" altLang="en-US" sz="2800" b="1" dirty="0">
                <a:solidFill>
                  <a:srgbClr val="0070C0"/>
                </a:solidFill>
              </a:rPr>
              <a:t>多继承</a:t>
            </a:r>
            <a:r>
              <a:rPr lang="zh-CN" altLang="en-US" dirty="0"/>
              <a:t>（</a:t>
            </a:r>
            <a:r>
              <a:rPr lang="en-US" altLang="zh-CN" dirty="0"/>
              <a:t>Multiple Inheritance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一个派生类可以有两个或多个基类。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* 多继承容易让代码逻辑复杂、思路混乱，一直备受争议，中小型项目中较少使用，后来的 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C#</a:t>
            </a:r>
            <a:r>
              <a:rPr lang="zh-CN" altLang="en-US" dirty="0"/>
              <a:t>、</a:t>
            </a:r>
            <a:r>
              <a:rPr lang="en-US" altLang="zh-CN" dirty="0"/>
              <a:t>PHP </a:t>
            </a:r>
            <a:r>
              <a:rPr lang="zh-CN" altLang="en-US" dirty="0"/>
              <a:t>等干脆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取消了多继承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753616"/>
            <a:ext cx="7772400" cy="94719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类型</a:t>
            </a:r>
            <a:r>
              <a:rPr lang="zh-CN" altLang="en-US" dirty="0">
                <a:solidFill>
                  <a:srgbClr val="C00000"/>
                </a:solidFill>
              </a:rPr>
              <a:t>兼容</a:t>
            </a:r>
            <a:r>
              <a:rPr lang="zh-CN" altLang="en-US" dirty="0"/>
              <a:t>规则</a:t>
            </a:r>
            <a:endParaRPr lang="zh-CN" altLang="en-US" dirty="0"/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>
          <a:xfrm>
            <a:off x="685800" y="1700808"/>
            <a:ext cx="8062664" cy="4896544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一个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</a:rPr>
              <a:t>公有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派生类</a:t>
            </a:r>
            <a:r>
              <a:rPr lang="zh-CN" altLang="en-US" sz="2400" dirty="0">
                <a:latin typeface="宋体" panose="02010600030101010101" pitchFamily="2" charset="-122"/>
              </a:rPr>
              <a:t>的对象在使用上可以被当作基类的对象，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反之被禁止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不可能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。具体表现在：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派生类的对象可以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隐含转换为基类对象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派生类的对象可以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初始化基类的引用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派生类的指针可以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隐含转换为基类的指针</a:t>
            </a:r>
            <a:r>
              <a:rPr lang="zh-CN" altLang="en-US" sz="2000" dirty="0">
                <a:latin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私有或保护派生类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不适用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通过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基类对象名、指针</a:t>
            </a:r>
            <a:r>
              <a:rPr lang="zh-CN" altLang="en-US" sz="2400" dirty="0">
                <a:latin typeface="宋体" panose="02010600030101010101" pitchFamily="2" charset="-122"/>
              </a:rPr>
              <a:t>只能使用从基类继承的成员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47664" y="402882"/>
            <a:ext cx="7246937" cy="1066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/>
              <a:t>例：</a:t>
            </a:r>
            <a:r>
              <a:rPr lang="zh-CN" altLang="en-US" sz="2800" dirty="0"/>
              <a:t>类型转换规则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672" y="1212881"/>
            <a:ext cx="6048672" cy="5069261"/>
          </a:xfrm>
          <a:prstGeom prst="rect">
            <a:avLst/>
          </a:prstGeom>
        </p:spPr>
      </p:pic>
      <p:sp>
        <p:nvSpPr>
          <p:cNvPr id="3" name="箭头: 右 2"/>
          <p:cNvSpPr/>
          <p:nvPr/>
        </p:nvSpPr>
        <p:spPr>
          <a:xfrm>
            <a:off x="1043608" y="3531488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" name="箭头: 右 7"/>
          <p:cNvSpPr/>
          <p:nvPr/>
        </p:nvSpPr>
        <p:spPr>
          <a:xfrm>
            <a:off x="1043608" y="5259680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96336" y="3963536"/>
            <a:ext cx="834753" cy="156966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覆盖重写基类方法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3116600" y="3501008"/>
            <a:ext cx="1152128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3116600" y="5226300"/>
            <a:ext cx="1152128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11" name="连接符: 曲线 10"/>
          <p:cNvCxnSpPr>
            <a:stCxn id="9" idx="3"/>
            <a:endCxn id="5" idx="1"/>
          </p:cNvCxnSpPr>
          <p:nvPr/>
        </p:nvCxnSpPr>
        <p:spPr>
          <a:xfrm>
            <a:off x="4268728" y="3663026"/>
            <a:ext cx="3327608" cy="1085340"/>
          </a:xfrm>
          <a:prstGeom prst="curvedConnector3">
            <a:avLst>
              <a:gd name="adj1" fmla="val 85723"/>
            </a:avLst>
          </a:prstGeom>
          <a:ln w="1905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/>
          <p:cNvCxnSpPr>
            <a:stCxn id="10" idx="3"/>
            <a:endCxn id="5" idx="1"/>
          </p:cNvCxnSpPr>
          <p:nvPr/>
        </p:nvCxnSpPr>
        <p:spPr>
          <a:xfrm flipV="1">
            <a:off x="4268728" y="4748366"/>
            <a:ext cx="3327608" cy="639952"/>
          </a:xfrm>
          <a:prstGeom prst="curvedConnector3">
            <a:avLst>
              <a:gd name="adj1" fmla="val 81602"/>
            </a:avLst>
          </a:prstGeom>
          <a:ln w="1905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31988" y="476672"/>
            <a:ext cx="7065963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769" y="1484784"/>
            <a:ext cx="7802333" cy="4176464"/>
          </a:xfrm>
          <a:prstGeom prst="rect">
            <a:avLst/>
          </a:prstGeom>
        </p:spPr>
      </p:pic>
      <p:sp>
        <p:nvSpPr>
          <p:cNvPr id="3" name="矩形: 圆角 2"/>
          <p:cNvSpPr/>
          <p:nvPr/>
        </p:nvSpPr>
        <p:spPr bwMode="auto">
          <a:xfrm>
            <a:off x="1619672" y="3429000"/>
            <a:ext cx="6696744" cy="72008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重新定义继承</a:t>
            </a:r>
            <a:r>
              <a:rPr lang="zh-CN" altLang="en-US" sz="4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带来的问题</a:t>
            </a:r>
            <a:endParaRPr lang="zh-CN" altLang="en-US" sz="4400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681" y="1499360"/>
            <a:ext cx="6552728" cy="40867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747" y="4635314"/>
            <a:ext cx="3291275" cy="1800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44681" y="5414028"/>
            <a:ext cx="3911292" cy="1006476"/>
          </a:xfrm>
          <a:prstGeom prst="rect">
            <a:avLst/>
          </a:prstGeom>
          <a:solidFill>
            <a:srgbClr val="191D1F"/>
          </a:solidFill>
          <a:ln w="38100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哪个对象的指针就调用哪个对象上的方法？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运行</a:t>
            </a:r>
            <a:r>
              <a:rPr kumimoji="1" lang="zh-CN" altLang="en-US" b="1" dirty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多态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</a:t>
            </a:r>
            <a:r>
              <a:rPr lang="zh-CN" altLang="en-US" dirty="0">
                <a:solidFill>
                  <a:srgbClr val="0070C0"/>
                </a:solidFill>
              </a:rPr>
              <a:t>构造函数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>
          <a:xfrm>
            <a:off x="679283" y="1716832"/>
            <a:ext cx="7772400" cy="4176464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zh-CN" altLang="en-US" dirty="0"/>
              <a:t>基类的构造函数</a:t>
            </a:r>
            <a:r>
              <a:rPr lang="zh-CN" altLang="en-US" sz="2800" dirty="0">
                <a:solidFill>
                  <a:srgbClr val="C00000"/>
                </a:solidFill>
              </a:rPr>
              <a:t>不被继承</a:t>
            </a:r>
            <a:r>
              <a:rPr lang="zh-CN" altLang="en-US" dirty="0"/>
              <a:t>，派生类中需要</a:t>
            </a:r>
            <a:r>
              <a:rPr lang="zh-CN" altLang="en-US" sz="2800" dirty="0">
                <a:solidFill>
                  <a:srgbClr val="0070C0"/>
                </a:solidFill>
              </a:rPr>
              <a:t>自己声明</a:t>
            </a:r>
            <a:r>
              <a:rPr lang="zh-CN" altLang="en-US" dirty="0"/>
              <a:t>构造函数。定义构造函数时，</a:t>
            </a:r>
            <a:endParaRPr lang="zh-CN" altLang="en-US" dirty="0"/>
          </a:p>
          <a:p>
            <a:pPr marL="1028700" lvl="1" indent="-457200" eaLnBrk="1" hangingPunct="1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/>
              <a:t>若只对本类中新增成员进行初始化；对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继承来的基类成员的初始化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自动调用基类默认构造函数完成</a:t>
            </a:r>
            <a:r>
              <a:rPr lang="zh-CN" altLang="en-US" dirty="0"/>
              <a:t>。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1028700" lvl="1" indent="-457200" eaLnBrk="1" hangingPunct="1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/>
              <a:t>派生类的构造函数需要给基类的构造函数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传递参数。</a:t>
            </a:r>
            <a:endParaRPr lang="zh-CN" altLang="en-US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5336810"/>
            <a:ext cx="7181850" cy="10953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74088" y="5192794"/>
            <a:ext cx="2649230" cy="180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30876" y="5192793"/>
            <a:ext cx="2265870" cy="1799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96746" y="5192793"/>
            <a:ext cx="2016224" cy="1799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22173" y="465555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参数表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" name="连接符: 曲线 11"/>
          <p:cNvCxnSpPr>
            <a:endCxn id="32" idx="7"/>
          </p:cNvCxnSpPr>
          <p:nvPr/>
        </p:nvCxnSpPr>
        <p:spPr>
          <a:xfrm rot="10800000" flipV="1">
            <a:off x="7068672" y="4653136"/>
            <a:ext cx="887704" cy="458026"/>
          </a:xfrm>
          <a:prstGeom prst="curvedConnector2">
            <a:avLst/>
          </a:prstGeom>
          <a:ln w="28575">
            <a:solidFill>
              <a:srgbClr val="3051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/>
          <p:cNvCxnSpPr>
            <a:stCxn id="32" idx="1"/>
            <a:endCxn id="20" idx="7"/>
          </p:cNvCxnSpPr>
          <p:nvPr/>
        </p:nvCxnSpPr>
        <p:spPr>
          <a:xfrm rot="16200000" flipH="1" flipV="1">
            <a:off x="5923536" y="4111297"/>
            <a:ext cx="17991" cy="2017720"/>
          </a:xfrm>
          <a:prstGeom prst="curvedConnector3">
            <a:avLst>
              <a:gd name="adj1" fmla="val -2779329"/>
            </a:avLst>
          </a:prstGeom>
          <a:ln w="19050">
            <a:solidFill>
              <a:srgbClr val="FFC000"/>
            </a:solidFill>
            <a:prstDash val="sysDash"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/>
          <p:cNvCxnSpPr>
            <a:stCxn id="20" idx="1"/>
            <a:endCxn id="38" idx="0"/>
          </p:cNvCxnSpPr>
          <p:nvPr/>
        </p:nvCxnSpPr>
        <p:spPr>
          <a:xfrm rot="16200000" flipV="1">
            <a:off x="3582295" y="3915056"/>
            <a:ext cx="34284" cy="2393910"/>
          </a:xfrm>
          <a:prstGeom prst="curvedConnector3">
            <a:avLst>
              <a:gd name="adj1" fmla="val 1469417"/>
            </a:avLst>
          </a:prstGeom>
          <a:ln w="19050">
            <a:solidFill>
              <a:srgbClr val="3051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>
            <a:spLocks noChangeAspect="1"/>
          </p:cNvSpPr>
          <p:nvPr/>
        </p:nvSpPr>
        <p:spPr>
          <a:xfrm>
            <a:off x="4770032" y="5102793"/>
            <a:ext cx="180000" cy="180000"/>
          </a:xfrm>
          <a:prstGeom prst="ellipse">
            <a:avLst/>
          </a:prstGeom>
          <a:solidFill>
            <a:srgbClr val="FFFF00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2" name="椭圆 31"/>
          <p:cNvSpPr>
            <a:spLocks noChangeAspect="1"/>
          </p:cNvSpPr>
          <p:nvPr/>
        </p:nvSpPr>
        <p:spPr>
          <a:xfrm>
            <a:off x="6915032" y="5084802"/>
            <a:ext cx="180000" cy="180000"/>
          </a:xfrm>
          <a:prstGeom prst="ellipse">
            <a:avLst/>
          </a:prstGeom>
          <a:solidFill>
            <a:srgbClr val="FFC000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8" name="椭圆 37"/>
          <p:cNvSpPr>
            <a:spLocks noChangeAspect="1"/>
          </p:cNvSpPr>
          <p:nvPr/>
        </p:nvSpPr>
        <p:spPr>
          <a:xfrm>
            <a:off x="2312482" y="5094869"/>
            <a:ext cx="180000" cy="180000"/>
          </a:xfrm>
          <a:prstGeom prst="ellipse">
            <a:avLst/>
          </a:prstGeom>
          <a:solidFill>
            <a:srgbClr val="002060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4953" y="815155"/>
            <a:ext cx="7772400" cy="9160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  <a:endParaRPr lang="zh-CN" altLang="en-US" dirty="0"/>
          </a:p>
        </p:txBody>
      </p:sp>
      <p:sp>
        <p:nvSpPr>
          <p:cNvPr id="40962" name="内容占位符 2"/>
          <p:cNvSpPr>
            <a:spLocks noGrp="1"/>
          </p:cNvSpPr>
          <p:nvPr>
            <p:ph idx="4294967295"/>
          </p:nvPr>
        </p:nvSpPr>
        <p:spPr>
          <a:xfrm>
            <a:off x="755576" y="1844824"/>
            <a:ext cx="7250113" cy="3627437"/>
          </a:xfrm>
        </p:spPr>
        <p:txBody>
          <a:bodyPr/>
          <a:lstStyle/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en-US" altLang="zh-CN" dirty="0"/>
              <a:t>::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派生类名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00000"/>
                </a:solidFill>
              </a:rPr>
              <a:t>基类所需的形参</a:t>
            </a:r>
            <a:r>
              <a:rPr lang="zh-CN" altLang="en-US" dirty="0"/>
              <a:t>，本类成员所需的</a:t>
            </a:r>
            <a:r>
              <a:rPr lang="zh-CN" altLang="en-US" dirty="0">
                <a:solidFill>
                  <a:srgbClr val="0070C0"/>
                </a:solidFill>
              </a:rPr>
              <a:t>形参</a:t>
            </a:r>
            <a:r>
              <a:rPr lang="en-US" altLang="zh-CN" dirty="0"/>
              <a:t>):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基类名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00000"/>
                </a:solidFill>
              </a:rPr>
              <a:t>参数表</a:t>
            </a:r>
            <a:r>
              <a:rPr lang="en-US" altLang="zh-CN" dirty="0"/>
              <a:t>), </a:t>
            </a:r>
            <a:r>
              <a:rPr lang="zh-CN" altLang="en-US" dirty="0">
                <a:solidFill>
                  <a:srgbClr val="C00000"/>
                </a:solidFill>
              </a:rPr>
              <a:t>本类</a:t>
            </a:r>
            <a:r>
              <a:rPr lang="zh-CN" altLang="en-US" dirty="0"/>
              <a:t>成员</a:t>
            </a:r>
            <a:r>
              <a:rPr lang="zh-CN" altLang="en-US" dirty="0">
                <a:solidFill>
                  <a:srgbClr val="0070C0"/>
                </a:solidFill>
              </a:rPr>
              <a:t>初始化列表</a:t>
            </a:r>
            <a:endParaRPr lang="en-US" altLang="zh-CN" dirty="0">
              <a:solidFill>
                <a:srgbClr val="0070C0"/>
              </a:solidFill>
            </a:endParaRPr>
          </a:p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	//</a:t>
            </a:r>
            <a:r>
              <a:rPr lang="zh-CN" altLang="en-US" dirty="0"/>
              <a:t>其他操作；</a:t>
            </a:r>
            <a:endParaRPr lang="zh-CN" altLang="en-US" dirty="0"/>
          </a:p>
          <a:p>
            <a:pPr marL="107950" indent="0"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}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3" name="对话气泡: 圆角矩形 2"/>
          <p:cNvSpPr/>
          <p:nvPr/>
        </p:nvSpPr>
        <p:spPr>
          <a:xfrm>
            <a:off x="5041032" y="3212976"/>
            <a:ext cx="3024336" cy="648072"/>
          </a:xfrm>
          <a:prstGeom prst="wedgeRoundRectCallout">
            <a:avLst>
              <a:gd name="adj1" fmla="val 21374"/>
              <a:gd name="adj2" fmla="val -92094"/>
              <a:gd name="adj3" fmla="val 16667"/>
            </a:avLst>
          </a:prstGeom>
          <a:solidFill>
            <a:srgbClr val="0070C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只能是本类中定义的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  <a:r>
              <a:rPr lang="zh-CN" altLang="en-US" dirty="0">
                <a:solidFill>
                  <a:srgbClr val="0070C0"/>
                </a:solidFill>
              </a:rPr>
              <a:t>举例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375" y="1594976"/>
            <a:ext cx="3530187" cy="31127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671" y="2658552"/>
            <a:ext cx="5472809" cy="3218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5389" y="515357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omic Sans MS" panose="030F0702030302020204"/>
                <a:ea typeface="宋体" panose="02010600030101010101" pitchFamily="2" charset="-122"/>
                <a:cs typeface="+mn-cs"/>
              </a:rPr>
              <a:t>类体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Comic Sans MS" panose="030F07020303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箭头: 上 6"/>
          <p:cNvSpPr/>
          <p:nvPr/>
        </p:nvSpPr>
        <p:spPr>
          <a:xfrm>
            <a:off x="1978982" y="4818792"/>
            <a:ext cx="144016" cy="2880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25871" y="1643668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omic Sans MS" panose="030F0702030302020204"/>
                <a:ea typeface="宋体" panose="02010600030101010101" pitchFamily="2" charset="-122"/>
                <a:cs typeface="+mn-cs"/>
              </a:rPr>
              <a:t>实现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Comic Sans MS" panose="030F07020303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箭头: 下 7"/>
          <p:cNvSpPr/>
          <p:nvPr/>
        </p:nvSpPr>
        <p:spPr>
          <a:xfrm>
            <a:off x="6558168" y="2277135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48680"/>
            <a:ext cx="7772400" cy="9160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  <a:r>
              <a:rPr lang="zh-CN" altLang="en-US" dirty="0">
                <a:solidFill>
                  <a:srgbClr val="0070C0"/>
                </a:solidFill>
              </a:rPr>
              <a:t>举例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708" y="1464720"/>
            <a:ext cx="5256584" cy="4766274"/>
          </a:xfrm>
          <a:prstGeom prst="rect">
            <a:avLst/>
          </a:prstGeom>
        </p:spPr>
      </p:pic>
      <p:sp>
        <p:nvSpPr>
          <p:cNvPr id="7" name="箭头: 左 6"/>
          <p:cNvSpPr/>
          <p:nvPr/>
        </p:nvSpPr>
        <p:spPr>
          <a:xfrm rot="16200000">
            <a:off x="4896036" y="4977172"/>
            <a:ext cx="288032" cy="216024"/>
          </a:xfrm>
          <a:prstGeom prst="leftArrow">
            <a:avLst/>
          </a:prstGeom>
          <a:solidFill>
            <a:srgbClr val="FFC000"/>
          </a:solidFill>
          <a:ln w="63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01598"/>
            <a:ext cx="7772400" cy="9160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单继承时的构造函数</a:t>
            </a:r>
            <a:r>
              <a:rPr lang="zh-CN" altLang="en-US" dirty="0">
                <a:solidFill>
                  <a:srgbClr val="0070C0"/>
                </a:solidFill>
              </a:rPr>
              <a:t>举例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155" y="1417638"/>
            <a:ext cx="5116077" cy="373955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0" y="3717032"/>
            <a:ext cx="3312368" cy="267765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B's constructor called.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类构造函数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类的析构函数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B's destructor called.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520" y="6257036"/>
            <a:ext cx="1107996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代码↓ ↓ ↓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39552" y="692696"/>
            <a:ext cx="7772400" cy="916040"/>
          </a:xfrm>
        </p:spPr>
        <p:txBody>
          <a:bodyPr/>
          <a:lstStyle/>
          <a:p>
            <a:r>
              <a:rPr lang="zh-CN" altLang="en-US" dirty="0"/>
              <a:t>派生类与基类的构造函数</a:t>
            </a:r>
            <a:endParaRPr lang="zh-CN" altLang="en-US" dirty="0"/>
          </a:p>
        </p:txBody>
      </p:sp>
      <p:sp>
        <p:nvSpPr>
          <p:cNvPr id="17410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755576" y="1705990"/>
            <a:ext cx="7772400" cy="4525963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dirty="0"/>
              <a:t>当基类中声明</a:t>
            </a:r>
            <a:r>
              <a:rPr lang="zh-CN" altLang="en-US" sz="2800" dirty="0">
                <a:solidFill>
                  <a:srgbClr val="C00000"/>
                </a:solidFill>
              </a:rPr>
              <a:t>有缺省</a:t>
            </a:r>
            <a:r>
              <a:rPr lang="zh-CN" altLang="en-US" sz="2800" dirty="0">
                <a:solidFill>
                  <a:srgbClr val="0070C0"/>
                </a:solidFill>
              </a:rPr>
              <a:t>构造函数</a:t>
            </a:r>
            <a:r>
              <a:rPr lang="zh-CN" altLang="en-US" dirty="0"/>
              <a:t>或未声明构造函数时，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派生类构造函数可以不向基类构造函数传递参数，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也可以不声明构造函数，构造派生类的对象时，基类的缺省构造函数将被调用。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dirty="0"/>
              <a:t>当需要执行基类中</a:t>
            </a:r>
            <a:r>
              <a:rPr lang="zh-CN" altLang="en-US" dirty="0">
                <a:solidFill>
                  <a:srgbClr val="C00000"/>
                </a:solidFill>
              </a:rPr>
              <a:t>带形参</a:t>
            </a:r>
            <a:r>
              <a:rPr lang="zh-CN" altLang="en-US" dirty="0">
                <a:solidFill>
                  <a:srgbClr val="0070C0"/>
                </a:solidFill>
              </a:rPr>
              <a:t>的构造函数</a:t>
            </a:r>
            <a:r>
              <a:rPr lang="zh-CN" altLang="en-US" dirty="0"/>
              <a:t>来初始化基类数据时，派生类构造函数应</a:t>
            </a:r>
            <a:r>
              <a:rPr lang="zh-CN" altLang="en-US" dirty="0">
                <a:solidFill>
                  <a:srgbClr val="C00000"/>
                </a:solidFill>
              </a:rPr>
              <a:t>在初始化列表中</a:t>
            </a:r>
            <a:r>
              <a:rPr lang="zh-CN" altLang="en-US" dirty="0"/>
              <a:t>为基类构造函数提供参数。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构造函数的执行顺序</a:t>
            </a:r>
            <a:endParaRPr lang="zh-CN" altLang="en-US" dirty="0"/>
          </a:p>
        </p:txBody>
      </p:sp>
      <p:sp>
        <p:nvSpPr>
          <p:cNvPr id="23554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902858" y="1700808"/>
            <a:ext cx="7555342" cy="4133850"/>
          </a:xfrm>
        </p:spPr>
        <p:txBody>
          <a:bodyPr/>
          <a:lstStyle/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Trebuchet MS" panose="020B0603020202020204" pitchFamily="34" charset="0"/>
              <a:buAutoNum type="arabicPeriod"/>
            </a:pPr>
            <a:r>
              <a:rPr lang="zh-CN" altLang="en-US" sz="2400" dirty="0"/>
              <a:t>调用基类构造函数</a:t>
            </a:r>
            <a:r>
              <a:rPr lang="en-US" altLang="zh-CN" sz="2400" dirty="0"/>
              <a:t>(</a:t>
            </a:r>
            <a:r>
              <a:rPr lang="zh-CN" altLang="en-US" sz="2400" dirty="0"/>
              <a:t>若多个基类，调用顺序按照它们被继承时声明的顺序，即</a:t>
            </a:r>
            <a:r>
              <a:rPr lang="zh-CN" altLang="en-US" sz="2400" b="1" dirty="0">
                <a:solidFill>
                  <a:srgbClr val="0070C0"/>
                </a:solidFill>
              </a:rPr>
              <a:t>从左向右</a:t>
            </a:r>
            <a:r>
              <a:rPr lang="zh-CN" altLang="en-US" sz="2400" dirty="0"/>
              <a:t>）。</a:t>
            </a:r>
            <a:endParaRPr lang="zh-CN" altLang="en-US" sz="2400" dirty="0"/>
          </a:p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Trebuchet MS" panose="020B0603020202020204" pitchFamily="34" charset="0"/>
              <a:buAutoNum type="arabicPeriod"/>
            </a:pPr>
            <a:r>
              <a:rPr lang="zh-CN" altLang="en-US" sz="2400" dirty="0"/>
              <a:t>对本类成员初始化列表中的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基本类型成员</a:t>
            </a:r>
            <a:r>
              <a:rPr lang="zh-CN" altLang="en-US" sz="2400" dirty="0"/>
              <a:t>和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对象成员</a:t>
            </a:r>
            <a:r>
              <a:rPr lang="zh-CN" altLang="en-US" sz="2400" dirty="0"/>
              <a:t>进行初始化，</a:t>
            </a:r>
            <a:r>
              <a:rPr lang="zh-CN" altLang="en-US" sz="2000" dirty="0"/>
              <a:t>初始化</a:t>
            </a:r>
            <a:r>
              <a:rPr lang="zh-CN" altLang="en-US" sz="2000" b="1" dirty="0">
                <a:solidFill>
                  <a:srgbClr val="0070C0"/>
                </a:solidFill>
              </a:rPr>
              <a:t>顺序</a:t>
            </a:r>
            <a:r>
              <a:rPr lang="zh-CN" altLang="en-US" sz="2000" dirty="0"/>
              <a:t>按照在类中声明的顺序。</a:t>
            </a:r>
            <a:endParaRPr lang="en-US" altLang="zh-CN" sz="2000" dirty="0"/>
          </a:p>
          <a:p>
            <a:pPr marL="10795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      对象成员初始化</a:t>
            </a:r>
            <a:r>
              <a:rPr lang="en-US" altLang="zh-CN" sz="2000" dirty="0"/>
              <a:t>: </a:t>
            </a:r>
            <a:r>
              <a:rPr lang="zh-CN" altLang="en-US" sz="2000" dirty="0"/>
              <a:t>自动调用对象所属类的构造函数完成。</a:t>
            </a:r>
            <a:endParaRPr lang="zh-CN" altLang="en-US" sz="2000" dirty="0"/>
          </a:p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zh-CN" altLang="en-US" sz="2400" dirty="0"/>
              <a:t>执行派生类的构造函数体中的内容。</a:t>
            </a:r>
            <a:endParaRPr lang="zh-CN" altLang="en-US" sz="2400" dirty="0"/>
          </a:p>
          <a:p>
            <a:pPr marL="622300" indent="-514350" eaLnBrk="1" hangingPunct="1">
              <a:spcBef>
                <a:spcPts val="0"/>
              </a:spcBef>
              <a:spcAft>
                <a:spcPts val="600"/>
              </a:spcAft>
              <a:buFont typeface="Trebuchet MS" panose="020B0603020202020204" pitchFamily="34" charset="0"/>
              <a:buAutoNum type="arabicPeriod" startAt="3"/>
            </a:pP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 flipV="1">
            <a:off x="2411760" y="1406485"/>
            <a:ext cx="2448272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复制构造函数</a:t>
            </a:r>
            <a:endParaRPr lang="zh-CN" altLang="en-US" dirty="0"/>
          </a:p>
        </p:txBody>
      </p:sp>
      <p:sp>
        <p:nvSpPr>
          <p:cNvPr id="24578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700608" y="1557077"/>
            <a:ext cx="8229600" cy="4525962"/>
          </a:xfrm>
        </p:spPr>
        <p:txBody>
          <a:bodyPr/>
          <a:lstStyle/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/>
              <a:t>建立派生类对象时</a:t>
            </a:r>
            <a:r>
              <a:rPr lang="zh-CN" altLang="en-US" dirty="0">
                <a:solidFill>
                  <a:srgbClr val="C00000"/>
                </a:solidFill>
              </a:rPr>
              <a:t>若没有编写</a:t>
            </a:r>
            <a:r>
              <a:rPr lang="zh-CN" altLang="en-US" dirty="0"/>
              <a:t>复制构造函数，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编译器会生成一个</a:t>
            </a:r>
            <a:r>
              <a:rPr lang="zh-CN" altLang="en-US" sz="28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复制构造函数，该函数先调用基类的复制构造函数，再为派生类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新增的成员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对象执行拷贝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/>
              <a:t>若编写派生类的复制构造函数，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则需要为基类相应的复制构造函数传递参数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09575" lvl="1" indent="0" eaLnBrk="1" hangingPunct="1">
              <a:buFont typeface="Georgia" panose="02040502050405020303" pitchFamily="18" charset="0"/>
              <a:buNone/>
            </a:pPr>
            <a:r>
              <a:rPr lang="zh-CN" altLang="en-US" sz="3200" dirty="0"/>
              <a:t>例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None/>
            </a:pPr>
            <a:r>
              <a:rPr lang="en-US" altLang="zh-CN" dirty="0"/>
              <a:t>	</a:t>
            </a:r>
            <a:r>
              <a:rPr lang="en-US" altLang="zh-CN" sz="2400" dirty="0"/>
              <a:t>C::C(const C &amp;c1)</a:t>
            </a:r>
            <a:r>
              <a:rPr lang="en-US" altLang="zh-CN" sz="2400" b="1" dirty="0">
                <a:solidFill>
                  <a:srgbClr val="C00000"/>
                </a:solidFill>
              </a:rPr>
              <a:t>: B(c1) </a:t>
            </a:r>
            <a:r>
              <a:rPr lang="en-US" altLang="zh-CN" sz="2400" dirty="0"/>
              <a:t>{…}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析构函数</a:t>
            </a:r>
            <a:endParaRPr lang="zh-CN" altLang="en-US" dirty="0"/>
          </a:p>
        </p:txBody>
      </p:sp>
      <p:sp>
        <p:nvSpPr>
          <p:cNvPr id="25602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652046" y="1844824"/>
            <a:ext cx="8229600" cy="3740150"/>
          </a:xfrm>
        </p:spPr>
        <p:txBody>
          <a:bodyPr/>
          <a:lstStyle/>
          <a:p>
            <a:pPr eaLnBrk="1" hangingPunct="1"/>
            <a:r>
              <a:rPr lang="zh-CN" altLang="en-US" dirty="0"/>
              <a:t>析构函数也</a:t>
            </a:r>
            <a:r>
              <a:rPr lang="zh-CN" altLang="en-US" dirty="0">
                <a:solidFill>
                  <a:srgbClr val="C00000"/>
                </a:solidFill>
              </a:rPr>
              <a:t>不</a:t>
            </a:r>
            <a:r>
              <a:rPr lang="zh-CN" altLang="en-US" dirty="0">
                <a:solidFill>
                  <a:srgbClr val="0070C0"/>
                </a:solidFill>
              </a:rPr>
              <a:t>被继承</a:t>
            </a:r>
            <a:r>
              <a:rPr lang="zh-CN" altLang="en-US" dirty="0"/>
              <a:t>，派生类自行声明</a:t>
            </a:r>
            <a:endParaRPr lang="zh-CN" altLang="en-US" dirty="0"/>
          </a:p>
          <a:p>
            <a:pPr eaLnBrk="1" hangingPunct="1"/>
            <a:r>
              <a:rPr lang="zh-CN" altLang="en-US" dirty="0"/>
              <a:t>声明方法与一般（无继承关系时）类的析构函数相同。</a:t>
            </a:r>
            <a:endParaRPr lang="zh-CN" altLang="en-US" dirty="0"/>
          </a:p>
          <a:p>
            <a:pPr eaLnBrk="1" hangingPunct="1"/>
            <a:r>
              <a:rPr lang="zh-CN" altLang="en-US" dirty="0"/>
              <a:t>不需要显式地调用基类的析构函数，系统会自动隐式调用。</a:t>
            </a:r>
            <a:endParaRPr lang="zh-CN" altLang="en-US" dirty="0"/>
          </a:p>
          <a:p>
            <a:pPr eaLnBrk="1" hangingPunct="1"/>
            <a:r>
              <a:rPr lang="zh-CN" altLang="en-US" dirty="0"/>
              <a:t>析构函数的</a:t>
            </a:r>
            <a:r>
              <a:rPr lang="zh-CN" altLang="en-US" dirty="0">
                <a:solidFill>
                  <a:srgbClr val="0070C0"/>
                </a:solidFill>
              </a:rPr>
              <a:t>调用次序</a:t>
            </a:r>
            <a:r>
              <a:rPr lang="zh-CN" altLang="en-US" dirty="0"/>
              <a:t>与构造函数相反。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187624" y="548680"/>
            <a:ext cx="7772400" cy="916040"/>
          </a:xfrm>
        </p:spPr>
        <p:txBody>
          <a:bodyPr/>
          <a:lstStyle/>
          <a:p>
            <a:r>
              <a:rPr lang="zh-CN" altLang="en-US" dirty="0"/>
              <a:t>例：派生类析构函数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746" y="1423187"/>
            <a:ext cx="6120680" cy="4938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95536" y="596010"/>
            <a:ext cx="7772400" cy="916040"/>
          </a:xfrm>
        </p:spPr>
        <p:txBody>
          <a:bodyPr/>
          <a:lstStyle/>
          <a:p>
            <a:r>
              <a:rPr lang="zh-CN" altLang="en-US" sz="4000" b="1" dirty="0"/>
              <a:t>例：</a:t>
            </a:r>
            <a:r>
              <a:rPr lang="zh-CN" altLang="en-US" sz="2800" dirty="0"/>
              <a:t>派生类析构函数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6" y="1502400"/>
            <a:ext cx="6120680" cy="490633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55976" y="1605140"/>
            <a:ext cx="3816424" cy="48793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运行结果：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endParaRPr lang="en-US" altLang="zh-CN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Constructing Base2 2</a:t>
            </a:r>
            <a:endParaRPr lang="en-US" altLang="zh-CN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Constructing Base1 1</a:t>
            </a:r>
            <a:endParaRPr lang="en-US" altLang="zh-CN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Constructing Base3 *</a:t>
            </a:r>
            <a:endParaRPr lang="en-US" altLang="zh-CN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Constructing Base1 3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Constructing Base2 4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Constructing Base3 *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Destructing Base3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Destructing Base2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Destructing Base1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Destructing Base3</a:t>
            </a:r>
            <a:endParaRPr lang="en-US" altLang="zh-CN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Destructing Base1</a:t>
            </a:r>
            <a:endParaRPr lang="en-US" altLang="zh-CN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EB641B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FF00"/>
                </a:solidFill>
                <a:latin typeface="Consolas" panose="020B0609020204030204" pitchFamily="49" charset="0"/>
              </a:rPr>
              <a:t>Destructing Base2</a:t>
            </a:r>
            <a:endParaRPr lang="en-US" altLang="zh-CN" sz="20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377" y="2723821"/>
            <a:ext cx="3350971" cy="1052873"/>
          </a:xfrm>
          <a:prstGeom prst="rect">
            <a:avLst/>
          </a:prstGeom>
        </p:spPr>
      </p:pic>
      <p:sp>
        <p:nvSpPr>
          <p:cNvPr id="6" name="箭头: 下 5"/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代码备注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1847" y="623577"/>
            <a:ext cx="7772400" cy="947192"/>
          </a:xfrm>
        </p:spPr>
        <p:txBody>
          <a:bodyPr/>
          <a:lstStyle/>
          <a:p>
            <a:r>
              <a:rPr lang="zh-CN" altLang="en-US" dirty="0"/>
              <a:t>派生类析构函数示例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深拷贝和浅拷贝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667345" y="1649187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70C0"/>
                </a:solidFill>
              </a:rPr>
              <a:t>浅拷贝</a:t>
            </a:r>
            <a:endParaRPr lang="zh-CN" altLang="en-US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zh-CN" altLang="en-US" dirty="0"/>
              <a:t>实现对象间</a:t>
            </a:r>
            <a:r>
              <a:rPr lang="zh-CN" altLang="en-US" dirty="0">
                <a:solidFill>
                  <a:srgbClr val="0070C0"/>
                </a:solidFill>
              </a:rPr>
              <a:t>数据元素的一一对应复制</a:t>
            </a:r>
            <a:r>
              <a:rPr lang="zh-CN" altLang="en-US" dirty="0"/>
              <a:t>。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当数据成员中没有指针时，浅拷贝是可行的。编译器默认的复制构造函数是浅拷贝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0070C0"/>
                </a:solidFill>
              </a:rPr>
              <a:t>深拷贝</a:t>
            </a:r>
            <a:endParaRPr lang="zh-CN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zh-CN" altLang="en-US" dirty="0"/>
              <a:t>当</a:t>
            </a:r>
            <a:r>
              <a:rPr lang="zh-CN" altLang="en-US" b="1" dirty="0">
                <a:solidFill>
                  <a:srgbClr val="C00000"/>
                </a:solidFill>
              </a:rPr>
              <a:t>数据成员中有指针时</a:t>
            </a:r>
            <a:r>
              <a:rPr lang="zh-CN" altLang="en-US" dirty="0"/>
              <a:t>，如果采用简单的浅拷贝，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则两对象中的两个指针将指向同一个地址，当对象快结束时，会调用两次析构函数，而导致指针悬挂现象，所以，此时，必须采用深拷贝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72707" name="标题 1"/>
          <p:cNvPicPr>
            <a:picLocks noGrp="1" noChangeArrowheads="1"/>
          </p:cNvPicPr>
          <p:nvPr>
            <p:ph type="title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589" y="548680"/>
            <a:ext cx="8485187" cy="1176338"/>
          </a:xfrm>
        </p:spPr>
      </p:pic>
      <p:sp>
        <p:nvSpPr>
          <p:cNvPr id="72706" name="灯片编号占位符 3"/>
          <p:cNvSpPr txBox="1">
            <a:spLocks noGrp="1" noChangeArrowheads="1"/>
          </p:cNvSpPr>
          <p:nvPr/>
        </p:nvSpPr>
        <p:spPr bwMode="auto">
          <a:xfrm>
            <a:off x="8320088" y="6227351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fld id="{76DF1DB0-A301-4F0A-BFF5-02310BFCE89D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8193"/>
          <p:cNvSpPr>
            <a:spLocks noGrp="1" noChangeArrowheads="1"/>
          </p:cNvSpPr>
          <p:nvPr>
            <p:ph type="title"/>
          </p:nvPr>
        </p:nvSpPr>
        <p:spPr>
          <a:xfrm>
            <a:off x="200666" y="732880"/>
            <a:ext cx="7772400" cy="947192"/>
          </a:xfrm>
        </p:spPr>
        <p:txBody>
          <a:bodyPr/>
          <a:lstStyle/>
          <a:p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74754" name="内容占位符 1"/>
          <p:cNvSpPr>
            <a:spLocks noGrp="1" noChangeArrowheads="1"/>
          </p:cNvSpPr>
          <p:nvPr/>
        </p:nvSpPr>
        <p:spPr bwMode="auto">
          <a:xfrm>
            <a:off x="179512" y="1526059"/>
            <a:ext cx="8856984" cy="4855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358775" indent="-2508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class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public: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(int s)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size= s;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new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int[s];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private: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int* data;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  int size;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int main()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A a(5), b(4)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；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 b = a;       //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注意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!!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55" name="文本框 8195"/>
          <p:cNvSpPr txBox="1">
            <a:spLocks noChangeArrowheads="1"/>
          </p:cNvSpPr>
          <p:nvPr/>
        </p:nvSpPr>
        <p:spPr bwMode="auto">
          <a:xfrm>
            <a:off x="4139952" y="2255861"/>
            <a:ext cx="4752851" cy="339566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 = 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会造成未定义行为，因为类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中的复制构造函数是编译器生成的，所以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 = 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执行的是一个浅拷贝过程。比如：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b.data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a.data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 // !!!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这里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的指针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data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的指针指向了堆上的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同一块内存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析构时，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先把其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data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指向的动态分配的内存释放了一次，而后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析构时又将这块已经被释放过的内存再释放一次。对同一块动态内存执行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次以上释放的结果是未定义的，所以这将导致内存泄露或程序崩溃。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fld id="{E1CEFBE6-0A71-4492-AAC2-F2900D84959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79" name="Text Box 8"/>
          <p:cNvSpPr txBox="1">
            <a:spLocks noChangeArrowheads="1"/>
          </p:cNvSpPr>
          <p:nvPr/>
        </p:nvSpPr>
        <p:spPr bwMode="auto">
          <a:xfrm>
            <a:off x="6899275" y="1470297"/>
            <a:ext cx="1909763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E2D3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拷贝前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E2D37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0" name="Text Box 14"/>
          <p:cNvSpPr txBox="1">
            <a:spLocks noChangeArrowheads="1"/>
          </p:cNvSpPr>
          <p:nvPr/>
        </p:nvSpPr>
        <p:spPr bwMode="auto">
          <a:xfrm>
            <a:off x="6823075" y="5508897"/>
            <a:ext cx="1909763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E2D3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拷贝后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5E2D37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5781" name="Group 3"/>
          <p:cNvGrpSpPr/>
          <p:nvPr/>
        </p:nvGrpSpPr>
        <p:grpSpPr bwMode="auto">
          <a:xfrm>
            <a:off x="4854575" y="1667147"/>
            <a:ext cx="1912938" cy="557213"/>
            <a:chOff x="0" y="0"/>
            <a:chExt cx="1050" cy="465"/>
          </a:xfrm>
        </p:grpSpPr>
        <p:sp>
          <p:nvSpPr>
            <p:cNvPr id="75798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050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 3" panose="05040102010807070707" pitchFamily="18" charset="2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75799" name="Line 5"/>
            <p:cNvSpPr>
              <a:spLocks noChangeShapeType="1"/>
            </p:cNvSpPr>
            <p:nvPr/>
          </p:nvSpPr>
          <p:spPr bwMode="auto">
            <a:xfrm>
              <a:off x="0" y="240"/>
              <a:ext cx="1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</p:grp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4603750" y="911497"/>
            <a:ext cx="27051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对象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中数据成员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指向的内存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auto">
          <a:xfrm>
            <a:off x="3489325" y="1684610"/>
            <a:ext cx="136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84" name="Text Box 21"/>
          <p:cNvSpPr txBox="1">
            <a:spLocks noChangeArrowheads="1"/>
          </p:cNvSpPr>
          <p:nvPr/>
        </p:nvSpPr>
        <p:spPr bwMode="auto">
          <a:xfrm>
            <a:off x="1952625" y="1500460"/>
            <a:ext cx="2222500" cy="884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size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5" name="Text Box 22"/>
          <p:cNvSpPr txBox="1">
            <a:spLocks noChangeArrowheads="1"/>
          </p:cNvSpPr>
          <p:nvPr/>
        </p:nvSpPr>
        <p:spPr bwMode="auto">
          <a:xfrm>
            <a:off x="1619250" y="1702072"/>
            <a:ext cx="86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6" name="Text Box 10"/>
          <p:cNvSpPr txBox="1">
            <a:spLocks noChangeArrowheads="1"/>
          </p:cNvSpPr>
          <p:nvPr/>
        </p:nvSpPr>
        <p:spPr bwMode="auto">
          <a:xfrm>
            <a:off x="2271713" y="3878535"/>
            <a:ext cx="2279650" cy="868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size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7" name="Line 13"/>
          <p:cNvSpPr>
            <a:spLocks noChangeShapeType="1"/>
          </p:cNvSpPr>
          <p:nvPr/>
        </p:nvSpPr>
        <p:spPr bwMode="auto">
          <a:xfrm>
            <a:off x="3890963" y="4059510"/>
            <a:ext cx="1401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88" name="Line 15"/>
          <p:cNvSpPr>
            <a:spLocks noChangeShapeType="1"/>
          </p:cNvSpPr>
          <p:nvPr/>
        </p:nvSpPr>
        <p:spPr bwMode="auto">
          <a:xfrm flipV="1">
            <a:off x="3835400" y="4042047"/>
            <a:ext cx="1457325" cy="196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89" name="AutoShape 16"/>
          <p:cNvSpPr>
            <a:spLocks noChangeArrowheads="1"/>
          </p:cNvSpPr>
          <p:nvPr/>
        </p:nvSpPr>
        <p:spPr bwMode="auto">
          <a:xfrm>
            <a:off x="3275013" y="4872310"/>
            <a:ext cx="392112" cy="760412"/>
          </a:xfrm>
          <a:prstGeom prst="downArrow">
            <a:avLst>
              <a:gd name="adj1" fmla="val 50000"/>
              <a:gd name="adj2" fmla="val 48455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90" name="Text Box 18"/>
          <p:cNvSpPr txBox="1">
            <a:spLocks noChangeArrowheads="1"/>
          </p:cNvSpPr>
          <p:nvPr/>
        </p:nvSpPr>
        <p:spPr bwMode="auto">
          <a:xfrm>
            <a:off x="2271713" y="5804172"/>
            <a:ext cx="2279650" cy="865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size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5791" name="Group 23"/>
          <p:cNvGrpSpPr/>
          <p:nvPr/>
        </p:nvGrpSpPr>
        <p:grpSpPr bwMode="auto">
          <a:xfrm>
            <a:off x="5359400" y="4042047"/>
            <a:ext cx="1958975" cy="547688"/>
            <a:chOff x="0" y="0"/>
            <a:chExt cx="1050" cy="465"/>
          </a:xfrm>
        </p:grpSpPr>
        <p:sp>
          <p:nvSpPr>
            <p:cNvPr id="75796" name="Rectangle 24"/>
            <p:cNvSpPr>
              <a:spLocks noChangeArrowheads="1"/>
            </p:cNvSpPr>
            <p:nvPr/>
          </p:nvSpPr>
          <p:spPr bwMode="auto">
            <a:xfrm>
              <a:off x="0" y="0"/>
              <a:ext cx="1050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 3" panose="05040102010807070707" pitchFamily="18" charset="2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75797" name="Line 25"/>
            <p:cNvSpPr>
              <a:spLocks noChangeShapeType="1"/>
            </p:cNvSpPr>
            <p:nvPr/>
          </p:nvSpPr>
          <p:spPr bwMode="auto">
            <a:xfrm>
              <a:off x="0" y="240"/>
              <a:ext cx="1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</p:grpSp>
      <p:sp>
        <p:nvSpPr>
          <p:cNvPr id="75792" name="Line 29"/>
          <p:cNvSpPr>
            <a:spLocks noChangeShapeType="1"/>
          </p:cNvSpPr>
          <p:nvPr/>
        </p:nvSpPr>
        <p:spPr bwMode="auto">
          <a:xfrm>
            <a:off x="125413" y="3070497"/>
            <a:ext cx="8839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5793" name="Text Box 22"/>
          <p:cNvSpPr txBox="1">
            <a:spLocks noChangeArrowheads="1"/>
          </p:cNvSpPr>
          <p:nvPr/>
        </p:nvSpPr>
        <p:spPr bwMode="auto">
          <a:xfrm>
            <a:off x="1836738" y="5877197"/>
            <a:ext cx="8636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5794" name="Text Box 22"/>
          <p:cNvSpPr txBox="1">
            <a:spLocks noChangeArrowheads="1"/>
          </p:cNvSpPr>
          <p:nvPr/>
        </p:nvSpPr>
        <p:spPr bwMode="auto">
          <a:xfrm>
            <a:off x="1889125" y="4053160"/>
            <a:ext cx="86518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5795" name="Text Box 6"/>
          <p:cNvSpPr txBox="1">
            <a:spLocks noChangeArrowheads="1"/>
          </p:cNvSpPr>
          <p:nvPr/>
        </p:nvSpPr>
        <p:spPr bwMode="auto">
          <a:xfrm>
            <a:off x="4730750" y="3264172"/>
            <a:ext cx="27051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 3" panose="05040102010807070707" pitchFamily="18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对象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中数据成员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指向的内存</a:t>
            </a:r>
            <a:endParaRPr kumimoji="0" lang="zh-CN" altLang="en-US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0241"/>
          <p:cNvSpPr>
            <a:spLocks noGrp="1" noChangeArrowheads="1"/>
          </p:cNvSpPr>
          <p:nvPr>
            <p:ph type="title"/>
          </p:nvPr>
        </p:nvSpPr>
        <p:spPr>
          <a:xfrm>
            <a:off x="496543" y="528258"/>
            <a:ext cx="7772400" cy="947192"/>
          </a:xfrm>
        </p:spPr>
        <p:txBody>
          <a:bodyPr/>
          <a:lstStyle/>
          <a:p>
            <a:r>
              <a:rPr lang="zh-CN" altLang="en-US" dirty="0"/>
              <a:t>改进</a:t>
            </a:r>
            <a:endParaRPr lang="zh-CN" altLang="en-US" dirty="0"/>
          </a:p>
        </p:txBody>
      </p:sp>
      <p:sp>
        <p:nvSpPr>
          <p:cNvPr id="76802" name="文本占位符 1024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6803" name="内容占位符 1"/>
          <p:cNvSpPr>
            <a:spLocks noGrp="1" noChangeArrowheads="1"/>
          </p:cNvSpPr>
          <p:nvPr/>
        </p:nvSpPr>
        <p:spPr bwMode="auto">
          <a:xfrm>
            <a:off x="514596" y="1393258"/>
            <a:ext cx="8229600" cy="45259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358775" indent="-2508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class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public: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(int s)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size=s;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int[s];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(const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&amp; a0) : size(a0.size)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[size]; 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新的内存空间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//TODO: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复制数据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//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深拷贝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......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6804" name="文本框 10244"/>
          <p:cNvSpPr txBox="1">
            <a:spLocks noChangeArrowheads="1"/>
          </p:cNvSpPr>
          <p:nvPr/>
        </p:nvSpPr>
        <p:spPr bwMode="auto">
          <a:xfrm>
            <a:off x="3491880" y="1701233"/>
            <a:ext cx="4970462" cy="835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170" tIns="46990" rIns="90170" bIns="469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注意：实际程序中还应该重载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操作符，同样实现深拷贝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1"/>
          <p:cNvSpPr>
            <a:spLocks noGrp="1" noChangeArrowheads="1"/>
          </p:cNvSpPr>
          <p:nvPr/>
        </p:nvSpPr>
        <p:spPr bwMode="auto">
          <a:xfrm>
            <a:off x="1043608" y="764704"/>
            <a:ext cx="7355160" cy="56883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358775" indent="-2508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class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public: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(int s)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size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;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int[s];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(const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&amp; a0): size(a0.size)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{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= new int[size];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//TODO ……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深拷贝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void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operator =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(const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&amp; a0)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{//重载 = 操作符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if(this-&gt;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!= NULL){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free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(this-&gt;data);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//释放原有内存资源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}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size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a0.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size;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= new int[size];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重新分配内存资源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	//TODO: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必要时需把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a0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中的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复制到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中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}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	......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  <a:p>
            <a:pPr marL="358775" marR="0" lvl="0" indent="-25082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BBE0E3"/>
              </a:buClr>
              <a:buSzPct val="68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ucida Sans Unicode" panose="020B0602030504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92080" y="908720"/>
            <a:ext cx="2954655" cy="120032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深拷贝涉及两个层面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、复制构造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、赋值操作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标题 1"/>
          <p:cNvSpPr>
            <a:spLocks noGrp="1" noChangeArrowheads="1"/>
          </p:cNvSpPr>
          <p:nvPr>
            <p:ph type="title"/>
          </p:nvPr>
        </p:nvSpPr>
        <p:spPr>
          <a:xfrm>
            <a:off x="1031807" y="908720"/>
            <a:ext cx="8229600" cy="1143000"/>
          </a:xfrm>
        </p:spPr>
        <p:txBody>
          <a:bodyPr/>
          <a:lstStyle/>
          <a:p>
            <a:r>
              <a:rPr lang="zh-CN" altLang="en-US" dirty="0"/>
              <a:t>特别提示</a:t>
            </a:r>
            <a:endParaRPr lang="zh-CN" altLang="en-US" dirty="0"/>
          </a:p>
        </p:txBody>
      </p:sp>
      <p:sp>
        <p:nvSpPr>
          <p:cNvPr id="78850" name="文本框 11267"/>
          <p:cNvSpPr txBox="1">
            <a:spLocks noChangeArrowheads="1"/>
          </p:cNvSpPr>
          <p:nvPr/>
        </p:nvSpPr>
        <p:spPr bwMode="auto">
          <a:xfrm>
            <a:off x="1978819" y="2458243"/>
            <a:ext cx="5186362" cy="1941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170" tIns="46990" rIns="90170" bIns="469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注意：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 a(5),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b = 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 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调用复制构造函数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A c;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 = 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;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调用重载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操作符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>
          <a:xfrm>
            <a:off x="395536" y="935418"/>
            <a:ext cx="2044542" cy="2016125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effectLst/>
              </a:rPr>
              <a:t>编写可变长度</a:t>
            </a:r>
            <a:r>
              <a:rPr lang="zh-CN" altLang="en-US" sz="4000" b="1" dirty="0"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字符串</a:t>
            </a:r>
            <a:r>
              <a:rPr lang="zh-CN" altLang="en-US" sz="3200" dirty="0">
                <a:solidFill>
                  <a:schemeClr val="tx1"/>
                </a:solidFill>
                <a:effectLst/>
              </a:rPr>
              <a:t>类 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String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079" y="771525"/>
            <a:ext cx="5753100" cy="5705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068960"/>
            <a:ext cx="6531654" cy="33088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effectLst/>
              </a:rPr>
              <a:t>重载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赋值运算符</a:t>
            </a:r>
            <a:r>
              <a:rPr lang="zh-CN" altLang="en-US" dirty="0">
                <a:effectLst/>
              </a:rPr>
              <a:t>的意义：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浅</a:t>
            </a:r>
            <a:r>
              <a:rPr lang="zh-CN" altLang="en-US" dirty="0">
                <a:effectLst/>
              </a:rPr>
              <a:t>拷贝和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深</a:t>
            </a:r>
            <a:r>
              <a:rPr lang="zh-CN" altLang="en-US" dirty="0">
                <a:effectLst/>
              </a:rPr>
              <a:t>拷贝</a:t>
            </a:r>
            <a:endParaRPr lang="zh-CN" altLang="en-US" dirty="0">
              <a:effectLst/>
            </a:endParaRPr>
          </a:p>
        </p:txBody>
      </p:sp>
      <p:pic>
        <p:nvPicPr>
          <p:cNvPr id="50177" name="内容占位符 4"/>
          <p:cNvPicPr>
            <a:picLocks noGrp="1" noChangeAspect="1" noChangeArrowheads="1"/>
          </p:cNvPicPr>
          <p:nvPr>
            <p:ph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00213"/>
            <a:ext cx="4148138" cy="3976687"/>
          </a:xfrm>
        </p:spPr>
      </p:pic>
      <p:pic>
        <p:nvPicPr>
          <p:cNvPr id="50180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38288"/>
            <a:ext cx="4897437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文本框 7"/>
          <p:cNvSpPr txBox="1">
            <a:spLocks noChangeArrowheads="1"/>
          </p:cNvSpPr>
          <p:nvPr/>
        </p:nvSpPr>
        <p:spPr bwMode="auto">
          <a:xfrm>
            <a:off x="6444208" y="1772816"/>
            <a:ext cx="2354263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String s1, s2;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s1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“this”;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s2 = “that”;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s1 = s2;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effectLst/>
              </a:rPr>
              <a:t>重载赋值运算符的意义：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浅</a:t>
            </a:r>
            <a:r>
              <a:rPr lang="zh-CN" altLang="en-US" dirty="0">
                <a:effectLst/>
              </a:rPr>
              <a:t>拷贝和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深</a:t>
            </a:r>
            <a:r>
              <a:rPr lang="zh-CN" altLang="en-US" dirty="0">
                <a:effectLst/>
              </a:rPr>
              <a:t>拷贝</a:t>
            </a:r>
            <a:endParaRPr lang="zh-CN" altLang="en-US" dirty="0">
              <a:effectLst/>
            </a:endParaRPr>
          </a:p>
        </p:txBody>
      </p:sp>
      <p:pic>
        <p:nvPicPr>
          <p:cNvPr id="51201" name="内容占位符 4"/>
          <p:cNvPicPr>
            <a:picLocks noGrp="1" noChangeAspect="1" noChangeArrowheads="1"/>
          </p:cNvPicPr>
          <p:nvPr>
            <p:ph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00213"/>
            <a:ext cx="4148138" cy="3976687"/>
          </a:xfrm>
        </p:spPr>
      </p:pic>
      <p:sp>
        <p:nvSpPr>
          <p:cNvPr id="51204" name="文本框 7"/>
          <p:cNvSpPr txBox="1">
            <a:spLocks noChangeArrowheads="1"/>
          </p:cNvSpPr>
          <p:nvPr/>
        </p:nvSpPr>
        <p:spPr bwMode="auto">
          <a:xfrm>
            <a:off x="6477000" y="1700213"/>
            <a:ext cx="2354263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String s1, s2;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s1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=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“this”;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s2 = “that”;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s1 = s2;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51205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25588"/>
            <a:ext cx="4968875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rgbClr val="0070C0"/>
                </a:solidFill>
                <a:effectLst/>
              </a:rPr>
              <a:t>再次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重载赋值运算符</a:t>
            </a:r>
            <a:endParaRPr lang="zh-CN" altLang="en-US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1665916"/>
            <a:ext cx="6959997" cy="4248472"/>
          </a:xfrm>
          <a:prstGeom prst="rect">
            <a:avLst/>
          </a:prstGeom>
        </p:spPr>
      </p:pic>
      <p:sp>
        <p:nvSpPr>
          <p:cNvPr id="8" name="箭头: 下 7"/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代码备注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" name="箭头: 右 5"/>
          <p:cNvSpPr/>
          <p:nvPr/>
        </p:nvSpPr>
        <p:spPr>
          <a:xfrm>
            <a:off x="539552" y="2058088"/>
            <a:ext cx="504056" cy="216024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1467332" y="2004082"/>
            <a:ext cx="1304467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OPFI" val="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6305</Words>
  <Application>WPS 演示</Application>
  <PresentationFormat>On-screen Show (4:3)</PresentationFormat>
  <Paragraphs>578</Paragraphs>
  <Slides>63</Slides>
  <Notes>37</Notes>
  <HiddenSlides>11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99" baseType="lpstr">
      <vt:lpstr>Arial</vt:lpstr>
      <vt:lpstr>宋体</vt:lpstr>
      <vt:lpstr>Wingdings</vt:lpstr>
      <vt:lpstr>Calibri</vt:lpstr>
      <vt:lpstr>Times New Roman</vt:lpstr>
      <vt:lpstr>隶书</vt:lpstr>
      <vt:lpstr>Wingdings 3</vt:lpstr>
      <vt:lpstr>Lucida Sans Unicode</vt:lpstr>
      <vt:lpstr>黑体</vt:lpstr>
      <vt:lpstr>Georgia</vt:lpstr>
      <vt:lpstr>楷体</vt:lpstr>
      <vt:lpstr>Times</vt:lpstr>
      <vt:lpstr>Calibri Light</vt:lpstr>
      <vt:lpstr>微软雅黑</vt:lpstr>
      <vt:lpstr>微软雅黑 Light</vt:lpstr>
      <vt:lpstr>Arial Unicode MS</vt:lpstr>
      <vt:lpstr>等线</vt:lpstr>
      <vt:lpstr>Monotype Sorts</vt:lpstr>
      <vt:lpstr>Wingdings</vt:lpstr>
      <vt:lpstr>Wingdings 2</vt:lpstr>
      <vt:lpstr>Consolas</vt:lpstr>
      <vt:lpstr>Comic Sans MS</vt:lpstr>
      <vt:lpstr>Comic Sans MS</vt:lpstr>
      <vt:lpstr>Lucida Sans Unicode</vt:lpstr>
      <vt:lpstr>Verdana</vt:lpstr>
      <vt:lpstr>Wingdings 2</vt:lpstr>
      <vt:lpstr>Georgia</vt:lpstr>
      <vt:lpstr>Verdana</vt:lpstr>
      <vt:lpstr>华文新魏</vt:lpstr>
      <vt:lpstr>Trebuchet MS</vt:lpstr>
      <vt:lpstr>Monotype Sorts</vt:lpstr>
      <vt:lpstr>Wingdings 2</vt:lpstr>
      <vt:lpstr>Wingdings 3</vt:lpstr>
      <vt:lpstr>Good Times</vt:lpstr>
      <vt:lpstr>Toots Regular</vt:lpstr>
      <vt:lpstr>课程PPT模板</vt:lpstr>
      <vt:lpstr>26. 面向对象程序设计3		</vt:lpstr>
      <vt:lpstr>内容</vt:lpstr>
      <vt:lpstr>类的组合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类的继承和派生</vt:lpstr>
      <vt:lpstr>类的继承与派生</vt:lpstr>
      <vt:lpstr>1）继承与派生的目的</vt:lpstr>
      <vt:lpstr>2）派生类的声明</vt:lpstr>
      <vt:lpstr>PowerPoint 演示文稿</vt:lpstr>
      <vt:lpstr>3）派生类生成过程</vt:lpstr>
      <vt:lpstr>3）派生类生成过程</vt:lpstr>
      <vt:lpstr>PowerPoint 演示文稿</vt:lpstr>
      <vt:lpstr>访问控制</vt:lpstr>
      <vt:lpstr>1) 公有继承(public)</vt:lpstr>
      <vt:lpstr>例：公有继承</vt:lpstr>
      <vt:lpstr>2) 私有继承(private)</vt:lpstr>
      <vt:lpstr>* 私有继承的含义</vt:lpstr>
      <vt:lpstr>3) 保护继承(protected)</vt:lpstr>
      <vt:lpstr>protected 成员的特点与作用</vt:lpstr>
      <vt:lpstr>例： protected  成员举例</vt:lpstr>
      <vt:lpstr>多继承</vt:lpstr>
      <vt:lpstr>类型兼容规则</vt:lpstr>
      <vt:lpstr>例：类型转换规则</vt:lpstr>
      <vt:lpstr>(续)</vt:lpstr>
      <vt:lpstr>*重新定义继承带来的问题</vt:lpstr>
      <vt:lpstr>单继承时的构造函数</vt:lpstr>
      <vt:lpstr>单继承时的构造函数</vt:lpstr>
      <vt:lpstr>单继承时的构造函数举例</vt:lpstr>
      <vt:lpstr>单继承时的构造函数举例 (续)</vt:lpstr>
      <vt:lpstr>单继承时的构造函数举例 (续)</vt:lpstr>
      <vt:lpstr>派生类与基类的构造函数</vt:lpstr>
      <vt:lpstr>构造函数的执行顺序</vt:lpstr>
      <vt:lpstr>复制构造函数</vt:lpstr>
      <vt:lpstr>析构函数</vt:lpstr>
      <vt:lpstr>例：派生类析构函数</vt:lpstr>
      <vt:lpstr>例：派生类析构函数</vt:lpstr>
      <vt:lpstr>派生类析构函数示例</vt:lpstr>
      <vt:lpstr>深拷贝和浅拷贝</vt:lpstr>
      <vt:lpstr>PowerPoint 演示文稿</vt:lpstr>
      <vt:lpstr>例</vt:lpstr>
      <vt:lpstr>PowerPoint 演示文稿</vt:lpstr>
      <vt:lpstr>改进</vt:lpstr>
      <vt:lpstr>PowerPoint 演示文稿</vt:lpstr>
      <vt:lpstr>特别提示</vt:lpstr>
      <vt:lpstr>编写可变长度字符串类 String</vt:lpstr>
      <vt:lpstr>重载赋值运算符的意义：浅拷贝和深拷贝</vt:lpstr>
      <vt:lpstr>重载赋值运算符的意义：浅拷贝和深拷贝</vt:lpstr>
      <vt:lpstr>再次重载赋值运算符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1360</cp:revision>
  <dcterms:created xsi:type="dcterms:W3CDTF">2020-10-14T02:47:00Z</dcterms:created>
  <dcterms:modified xsi:type="dcterms:W3CDTF">2025-12-16T06:11:26Z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F9BDC4735AB44E4A88AA5F9F856461BC_13</vt:lpwstr>
  </property>
  <property fmtid="{D5CDD505-2E9C-101B-9397-08002B2CF9AE}" pid="3" name="KSOProductBuildVer">
    <vt:lpwstr>2052-12.1.0.24034</vt:lpwstr>
  </property>
</Properties>
</file>