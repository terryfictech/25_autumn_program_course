
<file path=[Content_Types].xml><?xml version="1.0" encoding="utf-8"?>
<Types xmlns="http://schemas.openxmlformats.org/package/2006/content-types">
  <Default Extension="png" ContentType="image/png"/>
  <Default Extension="gif" ContentType="image/gif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41"/>
  </p:handoutMasterIdLst>
  <p:sldIdLst>
    <p:sldId id="1092" r:id="rId3"/>
    <p:sldId id="1106" r:id="rId4"/>
    <p:sldId id="1179" r:id="rId5"/>
    <p:sldId id="1162" r:id="rId6"/>
    <p:sldId id="1163" r:id="rId8"/>
    <p:sldId id="1164" r:id="rId9"/>
    <p:sldId id="1165" r:id="rId10"/>
    <p:sldId id="494" r:id="rId11"/>
    <p:sldId id="610" r:id="rId12"/>
    <p:sldId id="1150" r:id="rId13"/>
    <p:sldId id="477" r:id="rId14"/>
    <p:sldId id="476" r:id="rId15"/>
    <p:sldId id="1180" r:id="rId16"/>
    <p:sldId id="1183" r:id="rId17"/>
    <p:sldId id="1166" r:id="rId18"/>
    <p:sldId id="1107" r:id="rId19"/>
    <p:sldId id="1184" r:id="rId20"/>
    <p:sldId id="471" r:id="rId21"/>
    <p:sldId id="1108" r:id="rId22"/>
    <p:sldId id="1185" r:id="rId23"/>
    <p:sldId id="750" r:id="rId24"/>
    <p:sldId id="759" r:id="rId25"/>
    <p:sldId id="751" r:id="rId26"/>
    <p:sldId id="381" r:id="rId27"/>
    <p:sldId id="1168" r:id="rId28"/>
    <p:sldId id="1167" r:id="rId29"/>
    <p:sldId id="488" r:id="rId30"/>
    <p:sldId id="533" r:id="rId31"/>
    <p:sldId id="1177" r:id="rId32"/>
    <p:sldId id="753" r:id="rId33"/>
    <p:sldId id="1175" r:id="rId34"/>
    <p:sldId id="1176" r:id="rId35"/>
    <p:sldId id="1181" r:id="rId36"/>
    <p:sldId id="1110" r:id="rId37"/>
    <p:sldId id="1182" r:id="rId38"/>
    <p:sldId id="529" r:id="rId39"/>
    <p:sldId id="110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1552" autoAdjust="0"/>
  </p:normalViewPr>
  <p:slideViewPr>
    <p:cSldViewPr snapToGrid="0">
      <p:cViewPr varScale="1">
        <p:scale>
          <a:sx n="70" d="100"/>
          <a:sy n="70" d="100"/>
        </p:scale>
        <p:origin x="1783" y="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（要求：能看懂，自己不会写问题不大）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枚举元素可以用来作判断比较。枚举元素的比较规则是按其在初始化时指定的整数来进行比较的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这个例子感觉有点绕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【</a:t>
            </a:r>
            <a:r>
              <a:rPr lang="zh-CN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演示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】</a:t>
            </a:r>
            <a:r>
              <a:rPr lang="zh-CN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说真话  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A: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B: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C: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D: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打印哪些人说真话</a:t>
            </a:r>
            <a:endParaRPr lang="zh-CN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提高内容，理解结构体变量的存储以及如何节省空间。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内存以</a:t>
            </a:r>
            <a:r>
              <a:rPr lang="en-US" altLang="zh-CN" dirty="0"/>
              <a:t>4</a:t>
            </a:r>
            <a:r>
              <a:rPr lang="zh-CN" altLang="en-US" dirty="0"/>
              <a:t>个字节为单位，没填满下一个是</a:t>
            </a:r>
            <a:r>
              <a:rPr lang="en-US" altLang="zh-CN" dirty="0"/>
              <a:t>int</a:t>
            </a:r>
            <a:r>
              <a:rPr lang="zh-CN" altLang="en-US" dirty="0"/>
              <a:t>的话会有一段内存没用</a:t>
            </a:r>
            <a:endParaRPr lang="en-US" altLang="zh-CN" dirty="0"/>
          </a:p>
          <a:p>
            <a:r>
              <a:rPr lang="zh-CN" altLang="en-US" dirty="0"/>
              <a:t>例如：</a:t>
            </a:r>
            <a:endParaRPr lang="en-US" altLang="zh-CN" dirty="0"/>
          </a:p>
          <a:p>
            <a:r>
              <a:rPr lang="en-US" altLang="zh-CN" dirty="0"/>
              <a:t>Char(</a:t>
            </a:r>
            <a:r>
              <a:rPr lang="zh-CN" altLang="en-US" dirty="0"/>
              <a:t>一个字节） 空</a:t>
            </a:r>
            <a:r>
              <a:rPr lang="en-US" altLang="zh-CN" dirty="0"/>
              <a:t>3</a:t>
            </a:r>
            <a:r>
              <a:rPr lang="zh-CN" altLang="en-US" dirty="0"/>
              <a:t>个字节</a:t>
            </a:r>
            <a:endParaRPr lang="en-US" altLang="zh-CN" dirty="0"/>
          </a:p>
          <a:p>
            <a:r>
              <a:rPr lang="en-US" altLang="zh-CN" dirty="0"/>
              <a:t>Int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个字节）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en-US" altLang="zh-CN" dirty="0"/>
          </a:p>
          <a:p>
            <a:r>
              <a:rPr lang="en-US" altLang="zh-CN" dirty="0"/>
              <a:t>Char</a:t>
            </a:r>
            <a:r>
              <a:rPr lang="zh-CN" altLang="en-US" dirty="0"/>
              <a:t>在一起尽量填满</a:t>
            </a:r>
            <a:r>
              <a:rPr lang="en-US" altLang="zh-CN" dirty="0"/>
              <a:t>4</a:t>
            </a:r>
            <a:r>
              <a:rPr lang="zh-CN" altLang="en-US" dirty="0"/>
              <a:t>个字节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了解即可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了解即可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底下也可以</a:t>
            </a:r>
            <a:r>
              <a:rPr lang="en-US" altLang="zh-CN" dirty="0"/>
              <a:t>Date</a:t>
            </a:r>
            <a:r>
              <a:rPr lang="zh-CN" altLang="en-US" dirty="0"/>
              <a:t>了（不用</a:t>
            </a:r>
            <a:r>
              <a:rPr lang="en-US" altLang="zh-CN" dirty="0"/>
              <a:t>struct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Typedef</a:t>
            </a:r>
            <a:r>
              <a:rPr lang="zh-CN" altLang="en-US" dirty="0"/>
              <a:t>起到降维的左右</a:t>
            </a:r>
            <a:endParaRPr lang="en-US" altLang="zh-CN" dirty="0"/>
          </a:p>
          <a:p>
            <a:r>
              <a:rPr lang="en-US" altLang="zh-CN" dirty="0"/>
              <a:t>100</a:t>
            </a:r>
            <a:r>
              <a:rPr lang="zh-CN" altLang="en-US" dirty="0"/>
              <a:t>不能换了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Float</a:t>
            </a:r>
            <a:r>
              <a:rPr lang="zh-CN" altLang="en-US"/>
              <a:t>用等号比？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762CE59C-CF32-4C0B-98F6-36A6A0274684}" type="datetime1">
              <a:rPr lang="en-US" altLang="zh-CN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1DBE8-CEA6-48DA-8F06-44190DA2A0F8}" type="datetime1">
              <a:rPr lang="en-US" altLang="zh-CN" smtClean="0"/>
            </a:fld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DC657-BB46-4EF7-9D66-BFB8C6F8FE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11201D-BD5C-462E-91B7-D4A479357667}" type="datetime1">
              <a:rPr lang="en-US" altLang="zh-CN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64A42-05FC-484D-98E8-9F09568243FA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5.emf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5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299357" y="1773237"/>
            <a:ext cx="8844643" cy="1655763"/>
          </a:xfrm>
        </p:spPr>
        <p:txBody>
          <a:bodyPr>
            <a:normAutofit/>
          </a:bodyPr>
          <a:lstStyle/>
          <a:p>
            <a:r>
              <a:rPr lang="en-US" altLang="zh-CN"/>
              <a:t>12.</a:t>
            </a:r>
            <a:r>
              <a:rPr lang="zh-CN" altLang="en-US" dirty="0"/>
              <a:t> 数据的组织（三）</a:t>
            </a:r>
            <a:br>
              <a:rPr lang="en-US" altLang="zh-CN" dirty="0"/>
            </a:br>
            <a:r>
              <a:rPr lang="en-US" altLang="zh-CN" dirty="0"/>
              <a:t>		  ——</a:t>
            </a:r>
            <a:r>
              <a:rPr lang="zh-CN" altLang="en-US" dirty="0"/>
              <a:t>自定义类型</a:t>
            </a:r>
            <a:endParaRPr 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自定义数据类型：概览</a:t>
            </a:r>
            <a:endParaRPr lang="en-US" altLang="zh-CN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en-US" altLang="zh-CN" dirty="0"/>
          </a:p>
          <a:p>
            <a:r>
              <a:rPr lang="zh-CN" altLang="en-US" dirty="0"/>
              <a:t>结构体</a:t>
            </a:r>
            <a:endParaRPr lang="en-US" altLang="zh-CN" dirty="0"/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共用体（选学）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/>
              <a:t>用</a:t>
            </a:r>
            <a:r>
              <a:rPr lang="en-US" altLang="zh-CN" dirty="0"/>
              <a:t>typedef</a:t>
            </a:r>
            <a:r>
              <a:rPr lang="zh-CN" altLang="en-US" dirty="0"/>
              <a:t>定义新类型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u="sng" dirty="0"/>
              <a:t>定义类型</a:t>
            </a:r>
            <a:endParaRPr lang="en-US" altLang="zh-CN" u="sng" dirty="0"/>
          </a:p>
          <a:p>
            <a:r>
              <a:rPr lang="zh-CN" altLang="en-US" dirty="0"/>
              <a:t>定义变量</a:t>
            </a:r>
            <a:endParaRPr lang="en-US" altLang="zh-CN" dirty="0"/>
          </a:p>
          <a:p>
            <a:r>
              <a:rPr lang="zh-CN" altLang="en-US" dirty="0"/>
              <a:t>使用变量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自定义数据类型步骤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枚举类型（要求：能够看懂）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90408" y="2358744"/>
            <a:ext cx="4184553" cy="558800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{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枚举元素列表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239788" y="3264207"/>
            <a:ext cx="6913612" cy="558800"/>
          </a:xfrm>
          <a:prstGeom prst="roundRect">
            <a:avLst>
              <a:gd name="adj" fmla="val 807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Weekday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{sun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mon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tue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wed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thu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fri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sat};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980" y="155041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定义自己的数据类型</a:t>
            </a:r>
            <a:endParaRPr lang="zh-CN" altLang="en-US" sz="3200" dirty="0"/>
          </a:p>
        </p:txBody>
      </p:sp>
      <p:sp>
        <p:nvSpPr>
          <p:cNvPr id="7" name="文本框 6"/>
          <p:cNvSpPr txBox="1"/>
          <p:nvPr/>
        </p:nvSpPr>
        <p:spPr>
          <a:xfrm>
            <a:off x="3490463" y="4384267"/>
            <a:ext cx="36904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新数据类型种可能的取值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相当于</a:t>
            </a:r>
            <a:r>
              <a:rPr lang="en-US" altLang="zh-CN" sz="2400" dirty="0">
                <a:solidFill>
                  <a:schemeClr val="accent1"/>
                </a:solidFill>
              </a:rPr>
              <a:t>0, 1, 2, 3…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8" name="箭头: 右 7"/>
          <p:cNvSpPr/>
          <p:nvPr/>
        </p:nvSpPr>
        <p:spPr>
          <a:xfrm rot="16200000">
            <a:off x="2352308" y="3905476"/>
            <a:ext cx="42672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25309" y="4384268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新的数据类型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相当于</a:t>
            </a:r>
            <a:r>
              <a:rPr lang="en-US" altLang="zh-CN" sz="2400" dirty="0">
                <a:solidFill>
                  <a:schemeClr val="accent1"/>
                </a:solidFill>
              </a:rPr>
              <a:t>int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11" name="左大括号 10"/>
          <p:cNvSpPr/>
          <p:nvPr/>
        </p:nvSpPr>
        <p:spPr>
          <a:xfrm rot="16200000">
            <a:off x="5120698" y="1886229"/>
            <a:ext cx="209436" cy="417957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92969" y="5617857"/>
            <a:ext cx="7375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sun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mon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… sat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是变量还是常量？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90408" y="2358744"/>
            <a:ext cx="4184553" cy="558800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{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枚举元素列表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239788" y="3264207"/>
            <a:ext cx="6913612" cy="558800"/>
          </a:xfrm>
          <a:prstGeom prst="roundRect">
            <a:avLst>
              <a:gd name="adj" fmla="val 807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Weekday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{sun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mon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tue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wed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thu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fri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sat};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980" y="155041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定义自己的数据类型</a:t>
            </a:r>
            <a:endParaRPr lang="zh-CN" altLang="en-US" sz="3200" dirty="0"/>
          </a:p>
        </p:txBody>
      </p:sp>
      <p:sp>
        <p:nvSpPr>
          <p:cNvPr id="7" name="文本框 6"/>
          <p:cNvSpPr txBox="1"/>
          <p:nvPr/>
        </p:nvSpPr>
        <p:spPr>
          <a:xfrm>
            <a:off x="3490463" y="4384267"/>
            <a:ext cx="36904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新数据类型种可能的取值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相当于</a:t>
            </a:r>
            <a:r>
              <a:rPr lang="en-US" altLang="zh-CN" sz="2400" dirty="0">
                <a:solidFill>
                  <a:schemeClr val="accent1"/>
                </a:solidFill>
              </a:rPr>
              <a:t>0, 1, 2, 3…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8" name="箭头: 右 7"/>
          <p:cNvSpPr/>
          <p:nvPr/>
        </p:nvSpPr>
        <p:spPr>
          <a:xfrm rot="16200000">
            <a:off x="2352308" y="3905476"/>
            <a:ext cx="42672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25309" y="4384268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新的数据类型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相当于</a:t>
            </a:r>
            <a:r>
              <a:rPr lang="en-US" altLang="zh-CN" sz="2400" dirty="0">
                <a:solidFill>
                  <a:schemeClr val="accent1"/>
                </a:solidFill>
              </a:rPr>
              <a:t>int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11" name="左大括号 10"/>
          <p:cNvSpPr/>
          <p:nvPr/>
        </p:nvSpPr>
        <p:spPr>
          <a:xfrm rot="16200000">
            <a:off x="5120698" y="1886229"/>
            <a:ext cx="209436" cy="417957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5336" y="5412116"/>
            <a:ext cx="80029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每一个枚举元素都代表一个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整数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语言编译按定义时的顺序默认它们的值为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0,1,2,3,4,5…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。也可以在定义枚举类型时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显式地指定枚举元素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的数值。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枚举类型示例代码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40640" y="1562160"/>
            <a:ext cx="646176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2000" dirty="0">
                <a:solidFill>
                  <a:srgbClr val="CE9178"/>
                </a:solidFill>
                <a:latin typeface="Consolas" panose="020B0609020204030204" pitchFamily="49" charset="0"/>
              </a:rPr>
              <a:t>&lt;stdio.h&gt;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enum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4EC9B0"/>
                </a:solidFill>
                <a:latin typeface="Consolas" panose="020B0609020204030204" pitchFamily="49" charset="0"/>
              </a:rPr>
              <a:t>Weekday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sun</a:t>
            </a:r>
            <a:r>
              <a:rPr lang="en-US" altLang="zh-CN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mon</a:t>
            </a:r>
            <a:r>
              <a:rPr lang="en-US" altLang="zh-CN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tue</a:t>
            </a:r>
            <a:r>
              <a:rPr lang="en-US" altLang="zh-CN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wed</a:t>
            </a:r>
            <a:r>
              <a:rPr lang="en-US" altLang="zh-CN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thu</a:t>
            </a:r>
            <a:r>
              <a:rPr lang="en-US" altLang="zh-CN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fri</a:t>
            </a:r>
            <a:r>
              <a:rPr lang="en-US" altLang="zh-CN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 err="1">
                <a:solidFill>
                  <a:srgbClr val="4FC1FF"/>
                </a:solidFill>
                <a:latin typeface="Consolas" panose="020B0609020204030204" pitchFamily="49" charset="0"/>
              </a:rPr>
              <a:t>sat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};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>
                <a:solidFill>
                  <a:srgbClr val="4EC9B0"/>
                </a:solidFill>
                <a:latin typeface="Consolas" panose="020B0609020204030204" pitchFamily="49" charset="0"/>
              </a:rPr>
              <a:t>Weekday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today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4FC1FF"/>
                </a:solidFill>
                <a:latin typeface="Consolas" panose="020B0609020204030204" pitchFamily="49" charset="0"/>
              </a:rPr>
              <a:t>sun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tomorrow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today</a:t>
            </a:r>
            <a:r>
              <a:rPr lang="en-US" altLang="zh-CN" sz="2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altLang="zh-CN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altLang="zh-CN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today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000" dirty="0">
                <a:solidFill>
                  <a:srgbClr val="9CDCFE"/>
                </a:solidFill>
                <a:latin typeface="Consolas" panose="020B0609020204030204" pitchFamily="49" charset="0"/>
              </a:rPr>
              <a:t>tomorrow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zh-CN" sz="2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68804" y="507125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输出什么？</a:t>
            </a:r>
            <a:endParaRPr lang="zh-CN" altLang="en-US" sz="32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1527" y="4843240"/>
            <a:ext cx="1691654" cy="95155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7687" y="6071960"/>
            <a:ext cx="8107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sun,mon,tue,wed,thu,fri,sat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zh-CN" altLang="en-US" sz="2400" dirty="0">
                <a:latin typeface="Consolas" panose="020B0609020204030204" pitchFamily="49" charset="0"/>
              </a:rPr>
              <a:t>分别被赋值为</a:t>
            </a:r>
            <a:r>
              <a:rPr lang="en-US" altLang="zh-CN" sz="2400" dirty="0">
                <a:latin typeface="Consolas" panose="020B0609020204030204" pitchFamily="49" charset="0"/>
              </a:rPr>
              <a:t>0,1,2,…6</a:t>
            </a:r>
            <a:endParaRPr lang="zh-CN" altLang="en-US" sz="2400" dirty="0"/>
          </a:p>
        </p:txBody>
      </p:sp>
      <p:sp>
        <p:nvSpPr>
          <p:cNvPr id="2" name="矩形: 圆角 1"/>
          <p:cNvSpPr/>
          <p:nvPr/>
        </p:nvSpPr>
        <p:spPr>
          <a:xfrm>
            <a:off x="1872343" y="2781300"/>
            <a:ext cx="1164771" cy="4027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75466" y="432000"/>
            <a:ext cx="1691654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Weekday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3037114" y="432000"/>
            <a:ext cx="2803072" cy="23493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952265" y="-16169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</a:t>
            </a:r>
            <a:r>
              <a:rPr lang="zh-CN" altLang="en-US" b="1" dirty="0"/>
              <a:t>这里需要写成：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5865703" y="893829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cpp</a:t>
            </a:r>
            <a:r>
              <a:rPr lang="zh-CN" altLang="en-US" b="1" dirty="0"/>
              <a:t>可以省略</a:t>
            </a:r>
            <a:r>
              <a:rPr lang="en-US" altLang="zh-CN" b="1" dirty="0" err="1"/>
              <a:t>enum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  <p:bldP spid="9" grpId="0" animBg="1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枚举类型示例代码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05805" y="1737420"/>
            <a:ext cx="6760509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sun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mon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wed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sat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wed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83090" y="447124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输出什么？</a:t>
            </a: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471247"/>
            <a:ext cx="2449733" cy="58477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0486" y="5663746"/>
            <a:ext cx="9916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sun,mon,tue,wed,thu,fri,sat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zh-CN" altLang="en-US" sz="2400" dirty="0">
                <a:latin typeface="Consolas" panose="020B0609020204030204" pitchFamily="49" charset="0"/>
              </a:rPr>
              <a:t>分别被赋值为</a:t>
            </a:r>
            <a:r>
              <a:rPr lang="en-US" altLang="zh-CN" sz="2400" dirty="0">
                <a:latin typeface="Consolas" panose="020B0609020204030204" pitchFamily="49" charset="0"/>
              </a:rPr>
              <a:t>7,1,2,3,4,5,6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4100" y="1194776"/>
            <a:ext cx="8623200" cy="36286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2487" y="358858"/>
            <a:ext cx="8230387" cy="654678"/>
          </a:xfrm>
        </p:spPr>
        <p:txBody>
          <a:bodyPr/>
          <a:lstStyle/>
          <a:p>
            <a:r>
              <a:rPr lang="zh-CN" altLang="en-US" dirty="0"/>
              <a:t>枚举类型举例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342" y="5095644"/>
            <a:ext cx="38766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11"/>
          <p:cNvSpPr/>
          <p:nvPr/>
        </p:nvSpPr>
        <p:spPr>
          <a:xfrm>
            <a:off x="254100" y="1269961"/>
            <a:ext cx="8930058" cy="3054356"/>
          </a:xfrm>
          <a:prstGeom prst="roundRect">
            <a:avLst>
              <a:gd name="adj" fmla="val 1628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wed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sat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Nation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chaoxian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han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tujia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yao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按汉语拼音字典序排列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Nation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chaoxian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han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tujia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yao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sun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wed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sat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枚举法举例</a:t>
            </a:r>
            <a:r>
              <a:rPr lang="zh-CN" altLang="en-US" dirty="0">
                <a:latin typeface="Arial" panose="020B0604020202020204" pitchFamily="34" charset="0"/>
              </a:rPr>
              <a:t>：谁做的好事</a:t>
            </a:r>
            <a:endParaRPr lang="zh-CN" altLang="en-US" sz="4000" dirty="0"/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505" y="1403685"/>
            <a:ext cx="7543800" cy="31765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人大附中有四位同学中的一位做了好事，不留名，表扬信来了之后，校长问这四位是谁做的好事。</a:t>
            </a:r>
            <a:endParaRPr lang="zh-CN" altLang="en-US" sz="24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	Alice</a:t>
            </a:r>
            <a:r>
              <a:rPr lang="zh-CN" altLang="en-US" sz="2000" dirty="0"/>
              <a:t>说：不是我。</a:t>
            </a:r>
            <a:endParaRPr lang="zh-CN" altLang="en-US" sz="20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	Bob</a:t>
            </a:r>
            <a:r>
              <a:rPr lang="zh-CN" altLang="en-US" sz="2000" dirty="0"/>
              <a:t>说：是</a:t>
            </a:r>
            <a:r>
              <a:rPr lang="en-US" altLang="zh-CN" sz="2000" dirty="0"/>
              <a:t>Charles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	Charles</a:t>
            </a:r>
            <a:r>
              <a:rPr lang="zh-CN" altLang="en-US" sz="2000" dirty="0"/>
              <a:t>说：是</a:t>
            </a:r>
            <a:r>
              <a:rPr lang="en-US" altLang="zh-CN" sz="2000" dirty="0"/>
              <a:t>David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	David</a:t>
            </a:r>
            <a:r>
              <a:rPr lang="zh-CN" altLang="en-US" sz="2000" dirty="0"/>
              <a:t>说：</a:t>
            </a:r>
            <a:r>
              <a:rPr lang="en-US" altLang="zh-CN" sz="2000" dirty="0"/>
              <a:t> Charles</a:t>
            </a:r>
            <a:r>
              <a:rPr lang="zh-CN" altLang="en-US" sz="2000" dirty="0"/>
              <a:t>胡说。</a:t>
            </a:r>
            <a:endParaRPr lang="zh-CN" alt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		已知三个人说的是真话，一个人说的是假话。现在要根据这些信息，找出做了好事的人。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找到谁做的好事的代码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534" y="5606078"/>
            <a:ext cx="1491473" cy="4474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75560" y="556818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70986" y="1524521"/>
            <a:ext cx="9013143" cy="3706065"/>
          </a:xfrm>
          <a:solidFill>
            <a:schemeClr val="tx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Charles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David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studentNames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[][</a:t>
            </a:r>
            <a:r>
              <a:rPr lang="en-US" altLang="zh-CN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"Charles"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"David"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David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truecnt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Charles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David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David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truecnt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studentNames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thisman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en-US" altLang="zh-CN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打印做好事的人</a:t>
            </a:r>
            <a:endParaRPr lang="zh-CN" alt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6613071" y="2650671"/>
            <a:ext cx="1360715" cy="33201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658099" y="1023786"/>
            <a:ext cx="97971" cy="16709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9220" y="38116"/>
            <a:ext cx="2737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c++</a:t>
            </a:r>
            <a:r>
              <a:rPr lang="zh-CN" altLang="en-US" dirty="0"/>
              <a:t>中，如果</a:t>
            </a:r>
            <a:r>
              <a:rPr lang="en-US" altLang="zh-CN" dirty="0" err="1"/>
              <a:t>thisman</a:t>
            </a:r>
            <a:r>
              <a:rPr lang="zh-CN" altLang="en-US" dirty="0"/>
              <a:t>是枚举类型（</a:t>
            </a:r>
            <a:r>
              <a:rPr lang="en-US" altLang="zh-CN" dirty="0"/>
              <a:t>Student</a:t>
            </a:r>
            <a:r>
              <a:rPr lang="zh-CN" altLang="en-US" dirty="0"/>
              <a:t>）则不可</a:t>
            </a:r>
            <a:r>
              <a:rPr lang="en-US" altLang="zh-CN" dirty="0"/>
              <a:t>++</a:t>
            </a:r>
            <a:r>
              <a:rPr lang="zh-CN" altLang="en-US" dirty="0"/>
              <a:t>，是</a:t>
            </a:r>
            <a:r>
              <a:rPr lang="en-US" altLang="zh-CN" dirty="0"/>
              <a:t>int</a:t>
            </a:r>
            <a:r>
              <a:rPr lang="zh-CN" altLang="en-US" dirty="0"/>
              <a:t>则可以</a:t>
            </a:r>
            <a:r>
              <a:rPr lang="en-US" altLang="zh-CN" dirty="0"/>
              <a:t>++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52098"/>
          </a:xfrm>
        </p:spPr>
        <p:txBody>
          <a:bodyPr/>
          <a:lstStyle/>
          <a:p>
            <a:r>
              <a:rPr lang="zh-CN" altLang="en-US" dirty="0"/>
              <a:t>枚举类型应用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4184" y="1331651"/>
            <a:ext cx="8497816" cy="4968350"/>
          </a:xfrm>
        </p:spPr>
        <p:txBody>
          <a:bodyPr/>
          <a:lstStyle/>
          <a:p>
            <a:r>
              <a:rPr lang="zh-CN" altLang="en-US" dirty="0"/>
              <a:t>口袋中有红、黄、蓝、白、黑</a:t>
            </a:r>
            <a:r>
              <a:rPr lang="en-US" altLang="zh-CN" dirty="0"/>
              <a:t>5</a:t>
            </a:r>
            <a:r>
              <a:rPr lang="zh-CN" altLang="en-US" dirty="0"/>
              <a:t>种颜色的球若干个。每次从口袋中先后取出</a:t>
            </a:r>
            <a:r>
              <a:rPr lang="en-US" altLang="zh-CN" dirty="0"/>
              <a:t>3</a:t>
            </a:r>
            <a:r>
              <a:rPr lang="zh-CN" altLang="en-US" dirty="0"/>
              <a:t>个球，问得到</a:t>
            </a:r>
            <a:r>
              <a:rPr lang="en-US" altLang="zh-CN" dirty="0"/>
              <a:t>3</a:t>
            </a:r>
            <a:r>
              <a:rPr lang="zh-CN" altLang="en-US" dirty="0"/>
              <a:t>种不同颜色球的可能取法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57546" y="2178443"/>
            <a:ext cx="8779293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[][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"white"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"black"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枚举类型总结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7505" y="1412776"/>
            <a:ext cx="3312367" cy="558800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枚举名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{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枚举元素列表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563888" y="1412776"/>
            <a:ext cx="5472609" cy="558800"/>
          </a:xfrm>
          <a:prstGeom prst="roundRect">
            <a:avLst>
              <a:gd name="adj" fmla="val 807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Weekday {sun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mon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tue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wed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thu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fri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sat};</a:t>
            </a:r>
            <a:endParaRPr kumimoji="0" lang="zh-CN" altLang="en-US" sz="17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MH_Desc_1"/>
          <p:cNvSpPr/>
          <p:nvPr>
            <p:custDataLst>
              <p:tags r:id="rId1"/>
            </p:custDataLst>
          </p:nvPr>
        </p:nvSpPr>
        <p:spPr>
          <a:xfrm>
            <a:off x="107505" y="2097961"/>
            <a:ext cx="8856983" cy="468793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如果一个变量只有几种可能的值，则可以定义为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(enumeration)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类型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，所谓“枚举”就是指把可能的值一一列举出来，变量的值只限于列举出来的值的范围内。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声明枚举类型用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开头。花括号中的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sun, mon, …, sat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称为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枚举元素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或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枚举常量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也可以不声明有名字的枚举类型，而直接定义枚举变量：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编译对枚举类型的枚举元素按常量处理，故称枚举常量。不要因为它们是标识符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有名字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)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而把它们看作变量，不能对它们赋值。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每一个枚举元素都代表一个整数，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语言编译按定义时的顺序默认它们的值为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0,1,2,3,4,5…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。也可以在定义枚举类型时显式地指定枚举元素的数值。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枚举元素可以用来作判断比较。枚举元素的比较规则是按其在初始化时指定的整数来进行比较的。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090457" y="2625350"/>
            <a:ext cx="3802023" cy="1268260"/>
          </a:xfrm>
          <a:prstGeom prst="roundRect">
            <a:avLst>
              <a:gd name="adj" fmla="val 4935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 Weekday workday,weekend;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 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枚举类型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	  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枚举变量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890863" y="2999088"/>
            <a:ext cx="0" cy="437322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sp>
        <p:nvSpPr>
          <p:cNvPr id="9" name="任意多边形 8"/>
          <p:cNvSpPr/>
          <p:nvPr/>
        </p:nvSpPr>
        <p:spPr>
          <a:xfrm>
            <a:off x="7192889" y="2989149"/>
            <a:ext cx="964096" cy="198783"/>
          </a:xfrm>
          <a:custGeom>
            <a:avLst/>
            <a:gdLst>
              <a:gd name="connsiteX0" fmla="*/ 0 w 964096"/>
              <a:gd name="connsiteY0" fmla="*/ 0 h 198783"/>
              <a:gd name="connsiteX1" fmla="*/ 0 w 964096"/>
              <a:gd name="connsiteY1" fmla="*/ 198783 h 198783"/>
              <a:gd name="connsiteX2" fmla="*/ 964096 w 964096"/>
              <a:gd name="connsiteY2" fmla="*/ 198783 h 198783"/>
              <a:gd name="connsiteX3" fmla="*/ 964096 w 964096"/>
              <a:gd name="connsiteY3" fmla="*/ 9939 h 19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4096" h="198783">
                <a:moveTo>
                  <a:pt x="0" y="0"/>
                </a:moveTo>
                <a:lnTo>
                  <a:pt x="0" y="198783"/>
                </a:lnTo>
                <a:lnTo>
                  <a:pt x="964096" y="198783"/>
                </a:lnTo>
                <a:lnTo>
                  <a:pt x="964096" y="9939"/>
                </a:lnTo>
              </a:path>
            </a:pathLst>
          </a:cu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640150" y="3187932"/>
            <a:ext cx="0" cy="248478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sp>
        <p:nvSpPr>
          <p:cNvPr id="11" name="圆角矩形 10"/>
          <p:cNvSpPr/>
          <p:nvPr/>
        </p:nvSpPr>
        <p:spPr>
          <a:xfrm>
            <a:off x="179512" y="4298920"/>
            <a:ext cx="7718041" cy="426224"/>
          </a:xfrm>
          <a:prstGeom prst="roundRect">
            <a:avLst>
              <a:gd name="adj" fmla="val 1273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enum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{sun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mon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tue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wed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thu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fri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sat} workday, weekend;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自定义数据类型：概览</a:t>
            </a:r>
            <a:endParaRPr lang="en-US" altLang="zh-CN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en-US" altLang="zh-CN" dirty="0"/>
          </a:p>
          <a:p>
            <a:r>
              <a:rPr lang="zh-CN" altLang="en-US" dirty="0"/>
              <a:t>结构体</a:t>
            </a:r>
            <a:endParaRPr lang="en-US" altLang="zh-CN" dirty="0"/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共用体（选学）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/>
              <a:t>用</a:t>
            </a:r>
            <a:r>
              <a:rPr lang="en-US" altLang="zh-CN" dirty="0"/>
              <a:t>typedef</a:t>
            </a:r>
            <a:r>
              <a:rPr lang="zh-CN" altLang="en-US" dirty="0"/>
              <a:t>定义新类型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u="sng" dirty="0"/>
              <a:t>定义类型</a:t>
            </a:r>
            <a:endParaRPr lang="en-US" altLang="zh-CN" u="sng" dirty="0"/>
          </a:p>
          <a:p>
            <a:r>
              <a:rPr lang="zh-CN" altLang="en-US" dirty="0"/>
              <a:t>定义变量</a:t>
            </a:r>
            <a:endParaRPr lang="en-US" altLang="zh-CN" dirty="0"/>
          </a:p>
          <a:p>
            <a:r>
              <a:rPr lang="zh-CN" altLang="en-US" dirty="0"/>
              <a:t>使用变量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自定义数据类型步骤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7443"/>
            <a:ext cx="8230387" cy="799795"/>
          </a:xfrm>
        </p:spPr>
        <p:txBody>
          <a:bodyPr/>
          <a:lstStyle/>
          <a:p>
            <a:r>
              <a:rPr lang="zh-CN" altLang="en-US" dirty="0"/>
              <a:t>结构体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345151"/>
            <a:ext cx="8280000" cy="4954850"/>
          </a:xfrm>
        </p:spPr>
        <p:txBody>
          <a:bodyPr/>
          <a:lstStyle/>
          <a:p>
            <a:r>
              <a:rPr lang="en-US" altLang="zh-CN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</a:t>
            </a:r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语言允许用户自己建立由</a:t>
            </a:r>
            <a:r>
              <a:rPr lang="zh-CN" altLang="en-US" b="1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不同类型数据</a:t>
            </a:r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组成的组合型的数据结构，它称为</a:t>
            </a:r>
            <a:r>
              <a:rPr lang="zh-CN" altLang="en-US" b="1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结构体</a:t>
            </a:r>
            <a:r>
              <a:rPr lang="zh-CN" altLang="en-US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（</a:t>
            </a:r>
            <a:r>
              <a:rPr lang="en-US" altLang="zh-CN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structure</a:t>
            </a:r>
            <a:r>
              <a:rPr lang="zh-CN" altLang="en-US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endParaRPr lang="en-US" altLang="zh-CN" kern="0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为什么引入结构体</a:t>
            </a:r>
            <a:endParaRPr lang="zh-CN" altLang="en-US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1"/>
            <a:r>
              <a:rPr lang="zh-CN" altLang="en-US" dirty="0"/>
              <a:t>数组：其中的每一个元素都必须是相同类型的数据；</a:t>
            </a:r>
            <a:endParaRPr lang="zh-CN" altLang="en-US" dirty="0"/>
          </a:p>
          <a:p>
            <a:pPr lvl="1"/>
            <a:r>
              <a:rPr lang="zh-CN" altLang="en-US" dirty="0"/>
              <a:t>实际应用：常常需要将不同类型的数据放在一起，使处理起来更为直观方便。</a:t>
            </a:r>
            <a:endParaRPr lang="zh-CN" altLang="en-US" dirty="0"/>
          </a:p>
          <a:p>
            <a:pPr lvl="2"/>
            <a:r>
              <a:rPr lang="zh-CN" altLang="en-US" dirty="0"/>
              <a:t>例如：一个学生的信息，包括姓名、性别、出生年月日、身高和体重，如果能归在一起，对于统计个人信息会十分方便。</a:t>
            </a:r>
            <a:endParaRPr lang="en-US" altLang="zh-CN" dirty="0"/>
          </a:p>
          <a:p>
            <a:pPr lvl="2"/>
            <a:endParaRPr lang="en-US" altLang="zh-CN" dirty="0"/>
          </a:p>
          <a:p>
            <a:r>
              <a:rPr lang="zh-CN" altLang="en-US" b="1" dirty="0"/>
              <a:t>结构体好用，不容易出错，需要掌握！</a:t>
            </a:r>
            <a:endParaRPr lang="zh-CN" altLang="en-US" b="1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99795"/>
          </a:xfrm>
        </p:spPr>
        <p:txBody>
          <a:bodyPr/>
          <a:lstStyle/>
          <a:p>
            <a:r>
              <a:rPr lang="zh-CN" altLang="en-US" dirty="0"/>
              <a:t>结构体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345151"/>
            <a:ext cx="8280000" cy="4954850"/>
          </a:xfrm>
        </p:spPr>
        <p:txBody>
          <a:bodyPr/>
          <a:lstStyle/>
          <a:p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声明结构体类型</a:t>
            </a:r>
            <a:endParaRPr lang="en-US" altLang="zh-CN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1"/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38384" y="2081781"/>
            <a:ext cx="2612217" cy="179717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b="1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struct 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结构体名 </a:t>
            </a:r>
            <a:endParaRPr lang="zh-CN" altLang="en-US" b="1" kern="0" dirty="0">
              <a:latin typeface="等线" panose="02010600030101010101" charset="-122"/>
              <a:ea typeface="等线" panose="02010600030101010101" charset="-122"/>
            </a:endParaRPr>
          </a:p>
          <a:p>
            <a:pPr lvl="0">
              <a:defRPr/>
            </a:pP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{</a:t>
            </a:r>
            <a:endParaRPr lang="en-US" altLang="zh-CN" b="1" kern="0" dirty="0">
              <a:latin typeface="等线" panose="02010600030101010101" charset="-122"/>
              <a:ea typeface="等线" panose="02010600030101010101" charset="-122"/>
            </a:endParaRPr>
          </a:p>
          <a:p>
            <a:pPr lvl="0">
              <a:defRPr/>
            </a:pP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类型名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1   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成员名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；</a:t>
            </a:r>
            <a:endParaRPr lang="zh-CN" altLang="en-US" b="1" kern="0" dirty="0">
              <a:latin typeface="等线" panose="02010600030101010101" charset="-122"/>
              <a:ea typeface="等线" panose="02010600030101010101" charset="-122"/>
            </a:endParaRPr>
          </a:p>
          <a:p>
            <a:pPr lvl="0">
              <a:defRPr/>
            </a:pP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     类型名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2   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成员名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；</a:t>
            </a:r>
            <a:endParaRPr lang="zh-CN" altLang="en-US" b="1" kern="0" dirty="0">
              <a:latin typeface="等线" panose="02010600030101010101" charset="-122"/>
              <a:ea typeface="等线" panose="02010600030101010101" charset="-122"/>
            </a:endParaRPr>
          </a:p>
          <a:p>
            <a:pPr lvl="0">
              <a:defRPr/>
            </a:pP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      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. . .</a:t>
            </a:r>
            <a:endParaRPr lang="en-US" altLang="zh-CN" b="1" kern="0" dirty="0">
              <a:latin typeface="等线" panose="02010600030101010101" charset="-122"/>
              <a:ea typeface="等线" panose="02010600030101010101" charset="-122"/>
            </a:endParaRPr>
          </a:p>
          <a:p>
            <a:pPr lvl="0">
              <a:defRPr/>
            </a:pP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类型名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n   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成员名 </a:t>
            </a: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n</a:t>
            </a:r>
            <a:r>
              <a:rPr lang="zh-CN" altLang="en-US" b="1" kern="0" dirty="0">
                <a:latin typeface="等线" panose="02010600030101010101" charset="-122"/>
                <a:ea typeface="等线" panose="02010600030101010101" charset="-122"/>
              </a:rPr>
              <a:t>；</a:t>
            </a:r>
            <a:endParaRPr lang="zh-CN" altLang="en-US" b="1" kern="0" dirty="0">
              <a:latin typeface="等线" panose="02010600030101010101" charset="-122"/>
              <a:ea typeface="等线" panose="02010600030101010101" charset="-122"/>
            </a:endParaRPr>
          </a:p>
          <a:p>
            <a:pPr lvl="0">
              <a:defRPr/>
            </a:pPr>
            <a:r>
              <a:rPr lang="en-US" altLang="zh-CN" b="1" kern="0" dirty="0">
                <a:latin typeface="等线" panose="02010600030101010101" charset="-122"/>
                <a:ea typeface="等线" panose="02010600030101010101" charset="-122"/>
              </a:rPr>
              <a:t>} </a:t>
            </a:r>
            <a:r>
              <a:rPr lang="zh-CN" altLang="en-US" b="1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；</a:t>
            </a:r>
            <a:endParaRPr lang="zh-CN" altLang="en-US" b="1" kern="0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3873" y="1940267"/>
            <a:ext cx="53301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struct </a:t>
            </a:r>
            <a:r>
              <a:rPr lang="en-US" altLang="zh-CN" sz="2000" dirty="0">
                <a:solidFill>
                  <a:srgbClr val="0000FF"/>
                </a:solidFill>
              </a:rPr>
              <a:t> student          //</a:t>
            </a:r>
            <a:r>
              <a:rPr lang="zh-CN" altLang="en-US" sz="2000" dirty="0">
                <a:solidFill>
                  <a:srgbClr val="0000FF"/>
                </a:solidFill>
              </a:rPr>
              <a:t>名为</a:t>
            </a:r>
            <a:r>
              <a:rPr lang="en-US" altLang="zh-CN" sz="2000" dirty="0">
                <a:solidFill>
                  <a:srgbClr val="0000FF"/>
                </a:solidFill>
              </a:rPr>
              <a:t>student</a:t>
            </a:r>
            <a:r>
              <a:rPr lang="zh-CN" altLang="en-US" sz="2000" dirty="0">
                <a:solidFill>
                  <a:srgbClr val="0000FF"/>
                </a:solidFill>
              </a:rPr>
              <a:t>的结构类型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{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char  name[20];                 //</a:t>
            </a:r>
            <a:r>
              <a:rPr lang="zh-CN" altLang="en-US" sz="2000" dirty="0">
                <a:solidFill>
                  <a:srgbClr val="0000FF"/>
                </a:solidFill>
              </a:rPr>
              <a:t>姓名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</a:rPr>
              <a:t>char sex;                             //</a:t>
            </a:r>
            <a:r>
              <a:rPr lang="zh-CN" altLang="en-US" sz="2000" dirty="0">
                <a:solidFill>
                  <a:srgbClr val="0000FF"/>
                </a:solidFill>
              </a:rPr>
              <a:t>性别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</a:rPr>
              <a:t>unsigned  long birthday;   //</a:t>
            </a:r>
            <a:r>
              <a:rPr lang="zh-CN" altLang="en-US" sz="2000" dirty="0">
                <a:solidFill>
                  <a:srgbClr val="0000FF"/>
                </a:solidFill>
              </a:rPr>
              <a:t>生日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</a:rPr>
              <a:t>float height;                        //</a:t>
            </a:r>
            <a:r>
              <a:rPr lang="zh-CN" altLang="en-US" sz="2000" dirty="0">
                <a:solidFill>
                  <a:srgbClr val="0000FF"/>
                </a:solidFill>
              </a:rPr>
              <a:t>身高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</a:t>
            </a:r>
            <a:r>
              <a:rPr lang="en-US" altLang="zh-CN" sz="2000" dirty="0">
                <a:solidFill>
                  <a:srgbClr val="0000FF"/>
                </a:solidFill>
              </a:rPr>
              <a:t>float weight;                       //</a:t>
            </a:r>
            <a:r>
              <a:rPr lang="zh-CN" altLang="en-US" sz="2000" dirty="0">
                <a:solidFill>
                  <a:srgbClr val="0000FF"/>
                </a:solidFill>
              </a:rPr>
              <a:t>体重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};</a:t>
            </a:r>
            <a:endParaRPr lang="en-US" altLang="zh-CN" sz="2000" dirty="0"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3614" y="4843707"/>
            <a:ext cx="5957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思考：</a:t>
            </a:r>
            <a:r>
              <a:rPr lang="en-US" altLang="zh-CN" sz="2800" dirty="0"/>
              <a:t>student</a:t>
            </a:r>
            <a:r>
              <a:rPr lang="zh-CN" altLang="en-US" sz="2800" dirty="0"/>
              <a:t>是数据类型还是变量？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1643078" y="5506732"/>
            <a:ext cx="6078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student</a:t>
            </a:r>
            <a:r>
              <a:rPr lang="zh-CN" altLang="en-US" sz="2800" dirty="0"/>
              <a:t>是数据类型，还需要定义变量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定义类型</a:t>
            </a:r>
            <a:endParaRPr lang="en-US" altLang="zh-CN" dirty="0"/>
          </a:p>
          <a:p>
            <a:r>
              <a:rPr lang="zh-CN" altLang="en-US" u="sng" dirty="0"/>
              <a:t>定义变量</a:t>
            </a:r>
            <a:endParaRPr lang="en-US" altLang="zh-CN" u="sng" dirty="0"/>
          </a:p>
          <a:p>
            <a:r>
              <a:rPr lang="zh-CN" altLang="en-US" dirty="0"/>
              <a:t>使用变量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自定义数据类型步骤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定义结构体类型变量</a:t>
            </a:r>
            <a:endParaRPr lang="zh-CN" altLang="en-US" dirty="0"/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79512" y="1557556"/>
            <a:ext cx="8912100" cy="488328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先声明结构体类型，再定义该类型的变量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在声明类型的同时定义变量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				3.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不指定类型名而直接定义结构体类型变量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95208" y="4652347"/>
            <a:ext cx="4317641" cy="838502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 Student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</a:t>
            </a:r>
            <a:r>
              <a:rPr kumimoji="0" lang="en-US" altLang="zh-CN" sz="16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student1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, </a:t>
            </a:r>
            <a:r>
              <a:rPr kumimoji="0" lang="en-US" altLang="zh-CN" sz="16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student2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    |			    |		       |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结构体类型名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结构体变量名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E84C22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95208" y="2103284"/>
            <a:ext cx="4317641" cy="2442959"/>
          </a:xfrm>
          <a:prstGeom prst="roundRect">
            <a:avLst>
              <a:gd name="adj" fmla="val 2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struct  student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名为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student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的结构类型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{</a:t>
            </a:r>
            <a:endParaRPr lang="en-US" altLang="zh-CN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char  name[20];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姓名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char sex;            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性别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unsigned  long birthday;   //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生日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float height;       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身高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float weight;                       //</a:t>
            </a: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体重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};</a:t>
            </a:r>
            <a:endParaRPr lang="en-US" altLang="zh-CN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				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18912" y="5699160"/>
          <a:ext cx="4470231" cy="741680"/>
        </p:xfrm>
        <a:graphic>
          <a:graphicData uri="http://schemas.openxmlformats.org/drawingml/2006/table">
            <a:tbl>
              <a:tblPr/>
              <a:tblGrid>
                <a:gridCol w="1073444"/>
                <a:gridCol w="1013268"/>
                <a:gridCol w="301913"/>
                <a:gridCol w="1007706"/>
                <a:gridCol w="660758"/>
                <a:gridCol w="413142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student1: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ZhangSan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F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20020310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166.5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52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student2: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LiSi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M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20021201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182.0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等线" panose="02010600030101010101" charset="-122"/>
                          <a:ea typeface="+mn-ea"/>
                          <a:cs typeface="+mn-cs"/>
                        </a:rPr>
                        <a:t>65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36000" marR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圆角矩形 14"/>
          <p:cNvSpPr/>
          <p:nvPr/>
        </p:nvSpPr>
        <p:spPr>
          <a:xfrm>
            <a:off x="4790330" y="2092758"/>
            <a:ext cx="2549473" cy="2447483"/>
          </a:xfrm>
          <a:prstGeom prst="roundRect">
            <a:avLst>
              <a:gd name="adj" fmla="val 2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 Student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{</a:t>
            </a:r>
            <a:endParaRPr lang="en-US" altLang="zh-CN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char  name[20];                 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char sex;                            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unsigned  long birthday;  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float height;                     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float weight;                     </a:t>
            </a:r>
            <a:endParaRPr lang="zh-CN" altLang="en-US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5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} </a:t>
            </a:r>
            <a:r>
              <a:rPr lang="en-US" altLang="zh-CN" sz="1600" b="1" u="sng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student1, student2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466927" y="2608887"/>
            <a:ext cx="1497561" cy="1223347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结构体名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{	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成员表列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变量名表列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4257" y="5100480"/>
            <a:ext cx="2001617" cy="1197360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{	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53530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成员表列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变量名表列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结构体类型与结构体类型变量</a:t>
            </a:r>
            <a:endParaRPr 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结构体类型与结构体变量是不同的概念，不要混淆：</a:t>
            </a:r>
            <a:endParaRPr lang="en-US" altLang="zh-CN" dirty="0"/>
          </a:p>
          <a:p>
            <a:r>
              <a:rPr lang="zh-CN" altLang="en-US" dirty="0"/>
              <a:t>只能对</a:t>
            </a:r>
            <a:r>
              <a:rPr lang="zh-CN" altLang="en-US" b="1" dirty="0"/>
              <a:t>变量</a:t>
            </a:r>
            <a:r>
              <a:rPr lang="zh-CN" altLang="en-US" dirty="0"/>
              <a:t>赋值、存取或运算</a:t>
            </a:r>
            <a:endParaRPr lang="en-US" altLang="zh-CN" dirty="0"/>
          </a:p>
          <a:p>
            <a:r>
              <a:rPr lang="zh-CN" altLang="en-US" dirty="0"/>
              <a:t>不能对一个</a:t>
            </a:r>
            <a:r>
              <a:rPr lang="zh-CN" altLang="en-US" b="1" dirty="0"/>
              <a:t>类型</a:t>
            </a:r>
            <a:r>
              <a:rPr lang="zh-CN" altLang="en-US" dirty="0"/>
              <a:t>赋值、存取或运算。在编译时，对类型是不分配空间的，只对变量分配空间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5" name="圆角矩形 11"/>
          <p:cNvSpPr/>
          <p:nvPr/>
        </p:nvSpPr>
        <p:spPr>
          <a:xfrm>
            <a:off x="4547193" y="4163155"/>
            <a:ext cx="4572000" cy="1215052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 Student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</a:t>
            </a:r>
            <a:r>
              <a:rPr kumimoji="0" lang="en-US" altLang="zh-CN" sz="2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student1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, </a:t>
            </a:r>
            <a:r>
              <a:rPr kumimoji="0" lang="en-US" altLang="zh-CN" sz="2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student2</a:t>
            </a:r>
            <a:r>
              <a:rPr lang="en-US" altLang="zh-CN" sz="2000" b="1" u="sng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, my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    |			    |		       |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结构体类型名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结构体变量名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E84C22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圆角矩形 12"/>
          <p:cNvSpPr/>
          <p:nvPr/>
        </p:nvSpPr>
        <p:spPr>
          <a:xfrm>
            <a:off x="109809" y="3542812"/>
            <a:ext cx="4317641" cy="2757188"/>
          </a:xfrm>
          <a:prstGeom prst="roundRect">
            <a:avLst>
              <a:gd name="adj" fmla="val 2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defTabSz="363855">
              <a:lnSpc>
                <a:spcPct val="120000"/>
              </a:lnSpc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struct  student          //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名为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student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的结构类型</a:t>
            </a:r>
            <a:endParaRPr lang="zh-CN" altLang="en-US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{</a:t>
            </a:r>
            <a:endParaRPr lang="en-US" altLang="zh-CN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char  name[20];                 //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姓名</a:t>
            </a:r>
            <a:endParaRPr lang="zh-CN" altLang="en-US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char sex;                             //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性别</a:t>
            </a:r>
            <a:endParaRPr lang="zh-CN" altLang="en-US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unsigned  long birthday;   //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生日</a:t>
            </a:r>
            <a:endParaRPr lang="zh-CN" altLang="en-US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float height;                        //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身高</a:t>
            </a:r>
            <a:endParaRPr lang="zh-CN" altLang="en-US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float weight;                       //</a:t>
            </a: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体重</a:t>
            </a:r>
            <a:endParaRPr lang="zh-CN" altLang="en-US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};</a:t>
            </a:r>
            <a:endParaRPr lang="en-US" altLang="zh-CN" sz="16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				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5609" y="635181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不分配空间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228207" y="543002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分配空间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定义类型</a:t>
            </a:r>
            <a:endParaRPr lang="en-US" altLang="zh-CN" dirty="0"/>
          </a:p>
          <a:p>
            <a:r>
              <a:rPr lang="zh-CN" altLang="en-US" dirty="0"/>
              <a:t>定义变量</a:t>
            </a:r>
            <a:endParaRPr lang="en-US" altLang="zh-CN" dirty="0"/>
          </a:p>
          <a:p>
            <a:r>
              <a:rPr lang="zh-CN" altLang="en-US" u="sng" dirty="0"/>
              <a:t>使用变量</a:t>
            </a:r>
            <a:endParaRPr lang="zh-CN" altLang="en-US" u="sn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自定义数据类型步骤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成员运算符（点操作符）</a:t>
            </a:r>
            <a:endParaRPr lang="zh-CN" alt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  <a:r>
              <a:rPr lang="en-US" altLang="zh-CN" dirty="0"/>
              <a:t>”</a:t>
            </a:r>
            <a:r>
              <a:rPr lang="zh-CN" altLang="en-US" dirty="0"/>
              <a:t>：用于对结构体变量的成员的引用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	</a:t>
            </a:r>
            <a:r>
              <a:rPr lang="zh-CN" altLang="en-US" sz="1600" dirty="0"/>
              <a:t>如：</a:t>
            </a:r>
            <a:r>
              <a:rPr lang="en-US" altLang="zh-CN" sz="1600" b="1" dirty="0" err="1">
                <a:solidFill>
                  <a:srgbClr val="00B0F0"/>
                </a:solidFill>
              </a:rPr>
              <a:t>cout</a:t>
            </a:r>
            <a:r>
              <a:rPr lang="en-US" altLang="zh-CN" sz="1600" b="1" dirty="0">
                <a:solidFill>
                  <a:srgbClr val="00B0F0"/>
                </a:solidFill>
              </a:rPr>
              <a:t>&lt;&lt; my.name ;</a:t>
            </a:r>
            <a:endParaRPr lang="en-US" altLang="zh-CN" sz="1600" b="1" dirty="0">
              <a:solidFill>
                <a:srgbClr val="00B0F0"/>
              </a:solidFill>
            </a:endParaRPr>
          </a:p>
          <a:p>
            <a:r>
              <a:rPr lang="zh-CN" altLang="en-US" dirty="0"/>
              <a:t>成员运算符在所有的运算符中优先级最高</a:t>
            </a:r>
            <a:endParaRPr lang="en-US" altLang="zh-CN" sz="15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1"/>
            <a:r>
              <a:rPr lang="zh-CN" altLang="en-US" sz="1400" dirty="0">
                <a:latin typeface="+mj-ea"/>
                <a:ea typeface="+mj-ea"/>
              </a:rPr>
              <a:t>可以把</a:t>
            </a:r>
            <a:r>
              <a:rPr lang="en-US" altLang="zh-CN" sz="1400" dirty="0">
                <a:latin typeface="+mj-ea"/>
                <a:ea typeface="+mj-ea"/>
              </a:rPr>
              <a:t>my.name</a:t>
            </a:r>
            <a:r>
              <a:rPr lang="zh-CN" altLang="en-US" sz="1400" dirty="0">
                <a:latin typeface="+mj-ea"/>
                <a:ea typeface="+mj-ea"/>
              </a:rPr>
              <a:t>作为一个整体来看待，相当于一个变量，可以</a:t>
            </a:r>
            <a:r>
              <a:rPr lang="zh-CN" altLang="en-US" sz="14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像普通变量一样进行各种运算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grpSp>
        <p:nvGrpSpPr>
          <p:cNvPr id="25" name="组合 24"/>
          <p:cNvGrpSpPr/>
          <p:nvPr/>
        </p:nvGrpSpPr>
        <p:grpSpPr>
          <a:xfrm>
            <a:off x="2961424" y="3848709"/>
            <a:ext cx="3620746" cy="2946907"/>
            <a:chOff x="2375950" y="3224157"/>
            <a:chExt cx="4051300" cy="3358687"/>
          </a:xfrm>
        </p:grpSpPr>
        <p:grpSp>
          <p:nvGrpSpPr>
            <p:cNvPr id="5" name="Group 9"/>
            <p:cNvGrpSpPr/>
            <p:nvPr/>
          </p:nvGrpSpPr>
          <p:grpSpPr bwMode="auto">
            <a:xfrm>
              <a:off x="2375950" y="3224157"/>
              <a:ext cx="4051300" cy="2796381"/>
              <a:chOff x="884" y="1071"/>
              <a:chExt cx="2812" cy="1951"/>
            </a:xfrm>
          </p:grpSpPr>
          <p:sp>
            <p:nvSpPr>
              <p:cNvPr id="6" name="Rectangle 3"/>
              <p:cNvSpPr>
                <a:spLocks noChangeArrowheads="1"/>
              </p:cNvSpPr>
              <p:nvPr/>
            </p:nvSpPr>
            <p:spPr bwMode="auto">
              <a:xfrm>
                <a:off x="884" y="1071"/>
                <a:ext cx="2812" cy="1951"/>
              </a:xfrm>
              <a:prstGeom prst="rect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" name="Rectangle 4"/>
              <p:cNvSpPr>
                <a:spLocks noChangeArrowheads="1"/>
              </p:cNvSpPr>
              <p:nvPr/>
            </p:nvSpPr>
            <p:spPr bwMode="auto">
              <a:xfrm>
                <a:off x="1104" y="1296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104" y="1632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1104" y="1968"/>
                <a:ext cx="2400" cy="192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104" y="2304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104" y="2640"/>
                <a:ext cx="2400" cy="240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" name="矩形 1"/>
            <p:cNvSpPr/>
            <p:nvPr/>
          </p:nvSpPr>
          <p:spPr>
            <a:xfrm>
              <a:off x="3705874" y="6213512"/>
              <a:ext cx="9255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变量</a:t>
              </a:r>
              <a:r>
                <a:rPr lang="en-US" altLang="zh-CN" dirty="0"/>
                <a:t>my</a:t>
              </a:r>
              <a:endParaRPr lang="en-US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2769175" y="3546390"/>
              <a:ext cx="1237886" cy="4209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B0F0"/>
                  </a:solidFill>
                </a:rPr>
                <a:t>my.name</a:t>
              </a:r>
              <a:endParaRPr lang="en-US" altLang="zh-CN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2769175" y="4042323"/>
              <a:ext cx="959229" cy="4209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>
                  <a:solidFill>
                    <a:srgbClr val="00B0F0"/>
                  </a:solidFill>
                </a:rPr>
                <a:t>my.sex</a:t>
              </a:r>
              <a:endParaRPr lang="en-US" altLang="zh-CN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2769175" y="4483370"/>
              <a:ext cx="1540793" cy="4209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>
                  <a:solidFill>
                    <a:srgbClr val="00B0F0"/>
                  </a:solidFill>
                </a:rPr>
                <a:t>my.birthday</a:t>
              </a:r>
              <a:endParaRPr lang="en-US" altLang="zh-CN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763990" y="4980531"/>
              <a:ext cx="1315800" cy="4209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>
                  <a:solidFill>
                    <a:srgbClr val="00B0F0"/>
                  </a:solidFill>
                </a:rPr>
                <a:t>my.height</a:t>
              </a:r>
              <a:endParaRPr lang="en-US" altLang="zh-CN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771291" y="5461125"/>
              <a:ext cx="1353395" cy="4209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1" dirty="0" err="1">
                  <a:solidFill>
                    <a:srgbClr val="00B0F0"/>
                  </a:solidFill>
                </a:rPr>
                <a:t>my.weight</a:t>
              </a:r>
              <a:endParaRPr lang="en-US" altLang="zh-CN" sz="2000" b="1" dirty="0">
                <a:solidFill>
                  <a:srgbClr val="00B0F0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252495" y="4131436"/>
            <a:ext cx="2744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&amp; my ( </a:t>
            </a:r>
            <a:r>
              <a:rPr lang="zh-CN" altLang="en-US" dirty="0"/>
              <a:t>变量的内存地址）</a:t>
            </a:r>
            <a:endParaRPr lang="en-US" dirty="0"/>
          </a:p>
        </p:txBody>
      </p:sp>
      <p:sp>
        <p:nvSpPr>
          <p:cNvPr id="31" name="矩形 30"/>
          <p:cNvSpPr/>
          <p:nvPr/>
        </p:nvSpPr>
        <p:spPr>
          <a:xfrm>
            <a:off x="2590642" y="1952153"/>
            <a:ext cx="2252342" cy="24510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tIns="0" bIns="0"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结构体变量名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.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成员名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圆角矩形 12"/>
          <p:cNvSpPr/>
          <p:nvPr/>
        </p:nvSpPr>
        <p:spPr>
          <a:xfrm>
            <a:off x="869162" y="3311360"/>
            <a:ext cx="5652550" cy="438624"/>
          </a:xfrm>
          <a:prstGeom prst="roundRect">
            <a:avLst>
              <a:gd name="adj" fmla="val 1091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(″%s\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n″,my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);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企图用结构体变量名输出所有成员的值 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10707" y="3236882"/>
            <a:ext cx="542925" cy="552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12642" y="823072"/>
            <a:ext cx="729252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student                        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定义结构 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name[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姓名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sex;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性别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birthday;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生日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height;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身高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weight;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体重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 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student my;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my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为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student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类的结构 </a:t>
            </a:r>
            <a:endParaRPr lang="en-US" altLang="zh-CN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输入自己的数据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提示信息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姓名（汉语拼音）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性别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M/F \n"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生日（年月日）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身高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m)\n"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体重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kg)\n"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依次输入个人信息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my.name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my.sex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my.birthday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my.height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my.weight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依次输出个人信息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&lt;&lt;my.name&lt;&lt;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my.sex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my.birthday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my.height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my.weight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2642" y="174171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这段代码在做什么？</a:t>
            </a:r>
            <a:endParaRPr lang="zh-CN" altLang="en-US" sz="3200" b="1" dirty="0"/>
          </a:p>
        </p:txBody>
      </p:sp>
      <p:sp>
        <p:nvSpPr>
          <p:cNvPr id="4" name="矩形: 圆角 3"/>
          <p:cNvSpPr/>
          <p:nvPr/>
        </p:nvSpPr>
        <p:spPr>
          <a:xfrm>
            <a:off x="1333500" y="3243943"/>
            <a:ext cx="767443" cy="1850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100943" y="2492829"/>
            <a:ext cx="3728357" cy="7511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32837" y="1964871"/>
            <a:ext cx="3311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</a:rPr>
              <a:t>需要写成</a:t>
            </a:r>
            <a:r>
              <a:rPr lang="en-US" altLang="zh-CN" sz="2400" b="1" dirty="0">
                <a:solidFill>
                  <a:srgbClr val="FF0000"/>
                </a:solidFill>
              </a:rPr>
              <a:t>struct student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C++</a:t>
            </a:r>
            <a:r>
              <a:rPr lang="zh-CN" altLang="en-US" sz="2400" b="1" dirty="0">
                <a:solidFill>
                  <a:srgbClr val="FF0000"/>
                </a:solidFill>
              </a:rPr>
              <a:t>可以省略</a:t>
            </a:r>
            <a:r>
              <a:rPr lang="en-US" altLang="zh-CN" sz="2400" b="1" dirty="0">
                <a:solidFill>
                  <a:srgbClr val="FF0000"/>
                </a:solidFill>
              </a:rPr>
              <a:t>struct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结构体变量的</a:t>
            </a:r>
            <a:r>
              <a:rPr lang="zh-CN" altLang="en-US" u="sng" dirty="0"/>
              <a:t>初始化</a:t>
            </a:r>
            <a:endParaRPr lang="zh-CN" altLang="en-US" u="sng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方法一：</a:t>
            </a:r>
            <a:r>
              <a:rPr lang="zh-CN" altLang="en-US" dirty="0"/>
              <a:t>定义和初始化同时完成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方法二</a:t>
            </a:r>
            <a:r>
              <a:rPr lang="zh-CN" altLang="en-US" dirty="0"/>
              <a:t>：分开完成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719038" y="2041686"/>
            <a:ext cx="45708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struct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person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{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name[10];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unsigned  long  birthday;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</a:t>
            </a:r>
            <a:r>
              <a:rPr lang="en-US" altLang="zh-CN" dirty="0" err="1">
                <a:effectLst>
                  <a:outerShdw blurRad="38100" dist="38100" dir="2700000" algn="tl">
                    <a:srgbClr val="010199"/>
                  </a:outerShdw>
                </a:effectLst>
              </a:rPr>
              <a:t>placeofbirth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[20];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}</a:t>
            </a:r>
            <a:r>
              <a:rPr lang="en-US" altLang="zh-CN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= 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{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“Li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ming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”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,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19821209, “Beijing”};</a:t>
            </a:r>
            <a:endParaRPr lang="en-US" altLang="zh-CN" sz="3200" dirty="0">
              <a:solidFill>
                <a:srgbClr val="0099FF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5363664" y="1910786"/>
            <a:ext cx="3635374" cy="20161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Clr>
                <a:schemeClr val="tx2"/>
              </a:buClr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Clr>
                <a:schemeClr val="accent2"/>
              </a:buClr>
              <a:buChar char="l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Clr>
                <a:schemeClr val="folHlink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Clr>
                <a:schemeClr val="tx1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person</a:t>
            </a:r>
            <a:r>
              <a:rPr lang="en-US" altLang="zh-CN" sz="2000" dirty="0">
                <a:solidFill>
                  <a:srgbClr val="0099FF"/>
                </a:solidFill>
              </a:rPr>
              <a:t>  </a:t>
            </a:r>
            <a:r>
              <a:rPr lang="zh-CN" altLang="en-US" sz="2000" dirty="0"/>
              <a:t>是结构体类型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</a:t>
            </a:r>
            <a:r>
              <a:rPr lang="en-US" altLang="zh-CN" sz="2000" dirty="0"/>
              <a:t>  </a:t>
            </a:r>
            <a:r>
              <a:rPr lang="zh-CN" altLang="en-US" sz="2000" dirty="0"/>
              <a:t>是结构体变量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per.name = “Liming”;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err="1"/>
              <a:t>per.birthday</a:t>
            </a:r>
            <a:r>
              <a:rPr lang="en-US" altLang="zh-CN" sz="2000" dirty="0"/>
              <a:t> = 19821209;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err="1"/>
              <a:t>per.placeofbirth</a:t>
            </a:r>
            <a:r>
              <a:rPr lang="en-US" altLang="zh-CN" sz="2000" dirty="0"/>
              <a:t> = “Beijing”;</a:t>
            </a:r>
            <a:endParaRPr lang="en-US" altLang="zh-CN" sz="2000" dirty="0"/>
          </a:p>
        </p:txBody>
      </p:sp>
      <p:sp>
        <p:nvSpPr>
          <p:cNvPr id="2" name="矩形 1"/>
          <p:cNvSpPr/>
          <p:nvPr/>
        </p:nvSpPr>
        <p:spPr>
          <a:xfrm>
            <a:off x="717918" y="450500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struct 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person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{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name[10];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unsigned  long  birthday;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   char  </a:t>
            </a:r>
            <a:r>
              <a:rPr lang="en-US" altLang="zh-CN" dirty="0" err="1">
                <a:effectLst>
                  <a:outerShdw blurRad="38100" dist="38100" dir="2700000" algn="tl">
                    <a:srgbClr val="010199"/>
                  </a:outerShdw>
                </a:effectLst>
              </a:rPr>
              <a:t>piaceofbirth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[20];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};</a:t>
            </a:r>
            <a:endParaRPr lang="en-US" altLang="zh-CN" dirty="0">
              <a:effectLst>
                <a:outerShdw blurRad="38100" dist="38100" dir="2700000" algn="tl">
                  <a:srgbClr val="010199"/>
                </a:outerShdw>
              </a:effectLst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person</a:t>
            </a:r>
            <a:r>
              <a:rPr lang="en-US" altLang="zh-CN" dirty="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</a:t>
            </a:r>
            <a:r>
              <a:rPr lang="en-US" altLang="zh-CN" dirty="0">
                <a:effectLst>
                  <a:outerShdw blurRad="38100" dist="38100" dir="2700000" algn="tl">
                    <a:srgbClr val="010199"/>
                  </a:outerShdw>
                </a:effectLst>
              </a:rPr>
              <a:t> 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{“Li </a:t>
            </a:r>
            <a:r>
              <a:rPr lang="en-US" altLang="zh-CN" dirty="0" err="1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ming</a:t>
            </a:r>
            <a:r>
              <a:rPr lang="en-US" altLang="zh-CN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”, 19821209, “Beijing”};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结构体变量之间</a:t>
            </a:r>
            <a:r>
              <a:rPr lang="zh-CN" altLang="en-US" dirty="0">
                <a:solidFill>
                  <a:srgbClr val="FF0000"/>
                </a:solidFill>
              </a:rPr>
              <a:t>可以等号赋值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2257" y="1410808"/>
            <a:ext cx="8280000" cy="4764163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但是如果数组包装在结构体中，那么就能进行复制了</a:t>
            </a:r>
            <a:endParaRPr lang="en-US" altLang="zh-CN" dirty="0"/>
          </a:p>
          <a:p>
            <a:r>
              <a:rPr lang="zh-CN" altLang="en-US" dirty="0"/>
              <a:t>但单独的数组之间不能直接赋值操作，如下面的操作就是非法的：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032" y="5087111"/>
            <a:ext cx="1758450" cy="9607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765" y="1593550"/>
            <a:ext cx="2828091" cy="1629601"/>
          </a:xfrm>
          <a:prstGeom prst="rect">
            <a:avLst/>
          </a:prstGeom>
        </p:spPr>
      </p:pic>
      <p:sp>
        <p:nvSpPr>
          <p:cNvPr id="9" name="乘号 8"/>
          <p:cNvSpPr/>
          <p:nvPr/>
        </p:nvSpPr>
        <p:spPr>
          <a:xfrm>
            <a:off x="4485662" y="5820641"/>
            <a:ext cx="845820" cy="35433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: 圆角 4"/>
          <p:cNvSpPr/>
          <p:nvPr/>
        </p:nvSpPr>
        <p:spPr>
          <a:xfrm>
            <a:off x="3179725" y="2807337"/>
            <a:ext cx="1611086" cy="5170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86988" y="2543174"/>
            <a:ext cx="3328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可以的！</a:t>
            </a:r>
            <a:r>
              <a:rPr lang="zh-CN" altLang="en-US" sz="2400" b="1" dirty="0"/>
              <a:t>所有的结构体成员变量值都被复制了，</a:t>
            </a:r>
            <a:r>
              <a:rPr lang="zh-CN" altLang="en-US" sz="2400" b="1" dirty="0">
                <a:solidFill>
                  <a:srgbClr val="FF0000"/>
                </a:solidFill>
              </a:rPr>
              <a:t>包括数组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55890" y="3414550"/>
            <a:ext cx="2551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直接</a:t>
            </a:r>
            <a:r>
              <a:rPr lang="zh-CN" altLang="en-US" sz="2000" dirty="0"/>
              <a:t>进行</a:t>
            </a:r>
            <a:r>
              <a:rPr lang="zh-CN" altLang="zh-CN" sz="2000" dirty="0"/>
              <a:t>内存拷贝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下面程序输出什么结果？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3215" y="3429000"/>
            <a:ext cx="1990300" cy="805378"/>
          </a:xfrm>
          <a:prstGeom prst="rect">
            <a:avLst/>
          </a:prstGeom>
        </p:spPr>
      </p:pic>
      <p:sp>
        <p:nvSpPr>
          <p:cNvPr id="8" name="内容占位符 2"/>
          <p:cNvSpPr txBox="1"/>
          <p:nvPr/>
        </p:nvSpPr>
        <p:spPr>
          <a:xfrm>
            <a:off x="282245" y="1524521"/>
            <a:ext cx="6030457" cy="443540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041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8245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isMale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"wang"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isMale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isMale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结构体变量中的成员作用域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要结构体类型中的成员名可以与程序中的变量名相同，但二者不代表同一对象</a:t>
            </a:r>
            <a:endParaRPr lang="en-US" altLang="zh-CN" dirty="0"/>
          </a:p>
          <a:p>
            <a:r>
              <a:rPr lang="zh-CN" altLang="en-US" dirty="0"/>
              <a:t>对结构体变量中的成员（即“域”），可以单独使用，它的作用与地位相当于普通变量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726422" y="3389837"/>
            <a:ext cx="4525936" cy="303616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041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8245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"wang"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"yang"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745" y="4476741"/>
            <a:ext cx="2912833" cy="76653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06886" y="376645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打印结果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提高：结构体变量的存储（选学）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圆角矩形 4"/>
          <p:cNvSpPr/>
          <p:nvPr/>
        </p:nvSpPr>
        <p:spPr>
          <a:xfrm>
            <a:off x="35496" y="1444440"/>
            <a:ext cx="9001000" cy="515291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#include &lt;</a:t>
            </a:r>
            <a:r>
              <a:rPr lang="en-US" altLang="zh-CN" sz="1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  <a:endParaRPr lang="en-US" altLang="zh-CN" sz="10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Nation {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chaoxian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tujia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struct Date		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声明一个结构体类型 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Date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int year;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int month;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int day;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struct Student		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声明结构体类型</a:t>
            </a:r>
            <a:r>
              <a:rPr lang="en-US" altLang="zh-CN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Student</a:t>
            </a:r>
            <a:endParaRPr lang="en-US" altLang="zh-CN" sz="1100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int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		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char name[20];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char sex;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char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Nation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nation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short age;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struct Date birthday;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};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("%d %d\n",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(struct Date),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(struct Student));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r>
              <a:rPr lang="en-US" altLang="zh-CN" sz="1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6081932"/>
            <a:ext cx="1224136" cy="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如何排布结构体成员域，使得结构体所占内存最小？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提高：结构体变量的存储（选学）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95536" y="2204864"/>
            <a:ext cx="3816424" cy="223224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struct Student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int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char name[20];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char sex;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char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Nation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nation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short age;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struct Date birthday;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4643844"/>
            <a:ext cx="3816424" cy="3231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 err="1"/>
              <a:t>sizeof</a:t>
            </a:r>
            <a:r>
              <a:rPr lang="en-US" altLang="zh-CN" sz="1500" dirty="0"/>
              <a:t>(struct Student) == 48</a:t>
            </a:r>
            <a:endParaRPr lang="zh-CN" altLang="en-US" sz="1500" dirty="0"/>
          </a:p>
        </p:txBody>
      </p:sp>
      <p:sp>
        <p:nvSpPr>
          <p:cNvPr id="6" name="圆角矩形 5"/>
          <p:cNvSpPr/>
          <p:nvPr/>
        </p:nvSpPr>
        <p:spPr>
          <a:xfrm>
            <a:off x="5004048" y="2204864"/>
            <a:ext cx="3816424" cy="223224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Student2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Date birthday;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Nation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nation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short age;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name[20];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sex;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4048" y="4643844"/>
            <a:ext cx="3816424" cy="3231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 err="1"/>
              <a:t>sizeof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Student2) == 44</a:t>
            </a:r>
            <a:endParaRPr lang="zh-CN" alt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586288" y="5363924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方法：把占用内存空间大的成员域放前面，占用内存空间小的成员域放后面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#1563.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点结构体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利用点结构体计算两点间距离（填写程序模板）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输入：两个点的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的坐标（</a:t>
            </a:r>
            <a:r>
              <a:rPr lang="en-US" altLang="zh-CN" dirty="0"/>
              <a:t>double</a:t>
            </a:r>
            <a:r>
              <a:rPr lang="zh-CN" altLang="en-US" dirty="0"/>
              <a:t>类型）</a:t>
            </a:r>
            <a:endParaRPr lang="en-US" altLang="zh-CN" dirty="0"/>
          </a:p>
          <a:p>
            <a:r>
              <a:rPr lang="zh-CN" altLang="en-US" dirty="0"/>
              <a:t>输出：两点之间的距离（精确到小数点后</a:t>
            </a:r>
            <a:r>
              <a:rPr lang="en-US" altLang="zh-CN" dirty="0"/>
              <a:t>3</a:t>
            </a:r>
            <a:r>
              <a:rPr lang="zh-CN" altLang="en-US" dirty="0"/>
              <a:t>位）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程序模板中已经写了数据输入的代码，需要填写结构体的定义代码以及输出两点之间举例的代码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结构数组</a:t>
            </a:r>
            <a:endParaRPr lang="zh-CN" alt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结构也可以构成数组，即每个数组元素是一个结构；</a:t>
            </a:r>
            <a:endParaRPr lang="zh-CN" altLang="en-US" dirty="0"/>
          </a:p>
          <a:p>
            <a:r>
              <a:rPr lang="zh-CN" altLang="en-US" dirty="0"/>
              <a:t>当然，要求这一类数组的全部元素都应该是同一类结构；</a:t>
            </a:r>
            <a:endParaRPr lang="zh-CN" altLang="en-US" dirty="0"/>
          </a:p>
          <a:p>
            <a:r>
              <a:rPr lang="zh-CN" altLang="en-US" dirty="0"/>
              <a:t>例如：同宿舍</a:t>
            </a:r>
            <a:r>
              <a:rPr lang="en-US" altLang="zh-CN" dirty="0"/>
              <a:t>4</a:t>
            </a:r>
            <a:r>
              <a:rPr lang="zh-CN" altLang="en-US" dirty="0"/>
              <a:t>名同学的数据，构成一个有</a:t>
            </a:r>
            <a:r>
              <a:rPr lang="en-US" altLang="zh-CN" dirty="0"/>
              <a:t>4</a:t>
            </a:r>
            <a:r>
              <a:rPr lang="zh-CN" altLang="en-US" dirty="0"/>
              <a:t>个元素的结构数组。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265120" y="3550789"/>
            <a:ext cx="5581545" cy="21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Clr>
                <a:schemeClr val="tx2"/>
              </a:buClr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Clr>
                <a:schemeClr val="accent2"/>
              </a:buClr>
              <a:buChar char="l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Clr>
                <a:schemeClr val="folHlink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Clr>
                <a:schemeClr val="tx1"/>
              </a:buClr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student  </a:t>
            </a:r>
            <a:r>
              <a:rPr lang="en-US" altLang="zh-CN" sz="2400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Room [ 4 ]</a:t>
            </a:r>
            <a:r>
              <a:rPr lang="en-US" altLang="zh-CN" sz="2400" dirty="0">
                <a:solidFill>
                  <a:srgbClr val="0099FF"/>
                </a:solidFill>
              </a:rPr>
              <a:t> </a:t>
            </a:r>
            <a:r>
              <a:rPr lang="en-US" altLang="zh-CN" sz="2400" dirty="0"/>
              <a:t>= {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{“Li </a:t>
            </a:r>
            <a:r>
              <a:rPr lang="en-US" altLang="zh-CN" sz="2000" dirty="0" err="1"/>
              <a:t>li</a:t>
            </a:r>
            <a:r>
              <a:rPr lang="en-US" altLang="zh-CN" sz="2000" dirty="0"/>
              <a:t>”, ‘M’, 19840318, 1.82, 65.0 },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{“Mi </a:t>
            </a:r>
            <a:r>
              <a:rPr lang="en-US" altLang="zh-CN" sz="2000" dirty="0" err="1"/>
              <a:t>mi</a:t>
            </a:r>
            <a:r>
              <a:rPr lang="en-US" altLang="zh-CN" sz="2000" dirty="0"/>
              <a:t>”, ‘M’, 19830918, 1.75, 58.0 },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{“He lei”, ‘M’, 19841209, 1.83, 67.1 },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 dirty="0"/>
              <a:t> {“Ge li”, ‘M’, 19840101, 1.70, 59.0 }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};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作业：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#1562.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校园寻宝大比拼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513166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ui-sans-serif"/>
              </a:rPr>
              <a:t>校园里正在举行一场激动人心的寻宝大比拼，三位进入决赛的同学分别找到了不同数量的宝藏。输入他们的参赛编号、姓名（无空格）、性别（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ui-sans-serif"/>
              </a:rPr>
              <a:t>‘M’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ui-sans-serif"/>
              </a:rPr>
              <a:t>或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ui-sans-serif"/>
              </a:rPr>
              <a:t>‘F’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ui-sans-serif"/>
              </a:rPr>
              <a:t>）、年龄和找到的宝藏数量（信息之间用空格分隔），请按照他们找到的宝藏数量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从大到小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ui-sans-serif"/>
              </a:rPr>
              <a:t>排列地输出他们的信息，展示这场寻宝比赛的最终排名。输出时，各项信息用逗号分隔，每位同学的信息单独占一行。</a:t>
            </a:r>
            <a:endParaRPr lang="zh-CN" altLang="en-US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样例输入：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2001 </a:t>
            </a:r>
            <a:r>
              <a:rPr lang="en-US" altLang="zh-CN" dirty="0" err="1"/>
              <a:t>WangLi</a:t>
            </a:r>
            <a:r>
              <a:rPr lang="en-US" altLang="zh-CN" dirty="0"/>
              <a:t> M 18 88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2002 </a:t>
            </a:r>
            <a:r>
              <a:rPr lang="en-US" altLang="zh-CN" dirty="0" err="1"/>
              <a:t>LiChang</a:t>
            </a:r>
            <a:r>
              <a:rPr lang="en-US" altLang="zh-CN" dirty="0"/>
              <a:t> F 17 80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2003 </a:t>
            </a:r>
            <a:r>
              <a:rPr lang="en-US" altLang="zh-CN" dirty="0" err="1"/>
              <a:t>ChenSan</a:t>
            </a:r>
            <a:r>
              <a:rPr lang="en-US" altLang="zh-CN" dirty="0"/>
              <a:t> M 19 90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样例输出：</a:t>
            </a:r>
            <a:endParaRPr lang="en-US" altLang="zh-CN" dirty="0"/>
          </a:p>
          <a:p>
            <a:pPr marL="0" indent="0">
              <a:spcBef>
                <a:spcPts val="0"/>
              </a:spcBef>
              <a:buClrTx/>
              <a:buNone/>
              <a:defRPr/>
            </a:pPr>
            <a:r>
              <a:rPr lang="en-US" altLang="zh-CN" dirty="0"/>
              <a:t>2003,ChenSan,M,19,90</a:t>
            </a:r>
            <a:endParaRPr lang="en-US" altLang="zh-CN" dirty="0"/>
          </a:p>
          <a:p>
            <a:pPr marL="0" indent="0">
              <a:spcBef>
                <a:spcPts val="0"/>
              </a:spcBef>
              <a:buClrTx/>
              <a:buNone/>
              <a:defRPr/>
            </a:pPr>
            <a:r>
              <a:rPr lang="en-US" altLang="zh-CN" dirty="0"/>
              <a:t>2001,WangLi,M,18,88</a:t>
            </a:r>
            <a:endParaRPr lang="en-US" altLang="zh-CN" dirty="0"/>
          </a:p>
          <a:p>
            <a:pPr marL="0" indent="0">
              <a:spcBef>
                <a:spcPts val="0"/>
              </a:spcBef>
              <a:buClrTx/>
              <a:buNone/>
              <a:defRPr/>
            </a:pPr>
            <a:r>
              <a:rPr lang="en-US" altLang="zh-CN" dirty="0"/>
              <a:t>2002,LiChang,F,17,80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作业：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 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#1564.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宿舍魔力对决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472514" cy="518064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魔法学校现有若干宿舍，宿舍间可发起挑战赛。宿舍</a:t>
            </a:r>
            <a:r>
              <a:rPr lang="en-US" altLang="zh-CN" dirty="0"/>
              <a:t>A</a:t>
            </a:r>
            <a:r>
              <a:rPr lang="zh-CN" altLang="en-US" dirty="0"/>
              <a:t>向</a:t>
            </a:r>
            <a:r>
              <a:rPr lang="en-US" altLang="zh-CN" dirty="0"/>
              <a:t>B</a:t>
            </a:r>
            <a:r>
              <a:rPr lang="zh-CN" altLang="en-US" dirty="0"/>
              <a:t>发起挑战时，若宿舍</a:t>
            </a:r>
            <a:r>
              <a:rPr lang="en-US" altLang="zh-CN" dirty="0"/>
              <a:t>A</a:t>
            </a:r>
            <a:r>
              <a:rPr lang="zh-CN" altLang="en-US" dirty="0"/>
              <a:t>的巫师魔力值总和大于宿舍</a:t>
            </a:r>
            <a:r>
              <a:rPr lang="en-US" altLang="zh-CN" dirty="0"/>
              <a:t>B</a:t>
            </a:r>
            <a:r>
              <a:rPr lang="zh-CN" altLang="en-US" dirty="0"/>
              <a:t>的巫师魔力值总和，则挑战成功，巫师们交换宿舍。输出挑战赛后宿舍中巫师的名字</a:t>
            </a:r>
            <a:endParaRPr lang="en-US" altLang="zh-CN" dirty="0"/>
          </a:p>
          <a:p>
            <a:r>
              <a:rPr lang="zh-CN" altLang="en-US" dirty="0"/>
              <a:t>输入格式：共三行</a:t>
            </a:r>
            <a:endParaRPr lang="en-US" altLang="zh-CN" dirty="0"/>
          </a:p>
          <a:p>
            <a:pPr lvl="1"/>
            <a:r>
              <a:rPr lang="zh-CN" altLang="en-US" dirty="0"/>
              <a:t>第一行第一个数为宿舍个数</a:t>
            </a:r>
            <a:r>
              <a:rPr lang="en-US" altLang="zh-CN" dirty="0"/>
              <a:t>n</a:t>
            </a:r>
            <a:r>
              <a:rPr lang="zh-CN" altLang="en-US" dirty="0"/>
              <a:t>，接下来为每个宿舍的名字（按字典序由小到大排列，宿舍数不超过</a:t>
            </a:r>
            <a:r>
              <a:rPr lang="en-US" altLang="zh-CN" dirty="0"/>
              <a:t>50</a:t>
            </a:r>
            <a:r>
              <a:rPr lang="zh-CN" altLang="en-US" dirty="0"/>
              <a:t>，宿舍名字长度不超过</a:t>
            </a:r>
            <a:r>
              <a:rPr lang="en-US" altLang="zh-CN" dirty="0"/>
              <a:t>10</a:t>
            </a:r>
            <a:r>
              <a:rPr lang="zh-CN" altLang="en-US" dirty="0"/>
              <a:t>个字且不含分隔符，不同宿舍间用空格分隔）</a:t>
            </a:r>
            <a:endParaRPr lang="en-US" altLang="zh-CN" dirty="0"/>
          </a:p>
          <a:p>
            <a:pPr lvl="1"/>
            <a:r>
              <a:rPr lang="zh-CN" altLang="en-US" dirty="0"/>
              <a:t>第二行第一个数为巫师个数</a:t>
            </a:r>
            <a:r>
              <a:rPr lang="en-US" altLang="zh-CN" dirty="0"/>
              <a:t>m</a:t>
            </a:r>
            <a:r>
              <a:rPr lang="zh-CN" altLang="en-US" dirty="0"/>
              <a:t>，接下来为每位巫师名字、其魔力值（正整数）对应宿舍名。不同名字及魔力值间用空格分隔。巫师数不超过</a:t>
            </a:r>
            <a:r>
              <a:rPr lang="en-US" altLang="zh-CN" dirty="0"/>
              <a:t>100</a:t>
            </a:r>
            <a:r>
              <a:rPr lang="zh-CN" altLang="en-US" dirty="0"/>
              <a:t>，其名字长度不超过</a:t>
            </a:r>
            <a:r>
              <a:rPr lang="en-US" altLang="zh-CN" dirty="0"/>
              <a:t>10</a:t>
            </a:r>
            <a:r>
              <a:rPr lang="zh-CN" altLang="en-US" dirty="0"/>
              <a:t>且名字中不含分隔符，巫师名字按照字典序从小到大排列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第三行第一个数为挑战数</a:t>
            </a:r>
            <a:r>
              <a:rPr lang="en-US" altLang="zh-CN" dirty="0"/>
              <a:t>k</a:t>
            </a:r>
            <a:r>
              <a:rPr lang="zh-CN" altLang="en-US" dirty="0"/>
              <a:t>，接下来的字符串为宿舍间按顺序发起的挑战（</a:t>
            </a:r>
            <a:r>
              <a:rPr lang="en-US" altLang="zh-CN" dirty="0"/>
              <a:t>A</a:t>
            </a:r>
            <a:r>
              <a:rPr lang="zh-CN" altLang="en-US" dirty="0"/>
              <a:t>在前，</a:t>
            </a:r>
            <a:r>
              <a:rPr lang="en-US" altLang="zh-CN" dirty="0"/>
              <a:t>B</a:t>
            </a:r>
            <a:r>
              <a:rPr lang="zh-CN" altLang="en-US" dirty="0"/>
              <a:t>在后，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之间用</a:t>
            </a:r>
            <a:r>
              <a:rPr lang="en-US" altLang="zh-CN" dirty="0"/>
              <a:t>-&gt;</a:t>
            </a:r>
            <a:r>
              <a:rPr lang="zh-CN" altLang="en-US" dirty="0"/>
              <a:t>连接，不同挑战间用空格分隔）</a:t>
            </a:r>
            <a:endParaRPr lang="en-US" altLang="zh-CN" dirty="0"/>
          </a:p>
          <a:p>
            <a:r>
              <a:rPr lang="zh-CN" altLang="en-US" dirty="0"/>
              <a:t>输出格式：</a:t>
            </a:r>
            <a:r>
              <a:rPr lang="en-US" altLang="zh-CN" dirty="0"/>
              <a:t>k</a:t>
            </a:r>
            <a:r>
              <a:rPr lang="zh-CN" altLang="en-US" dirty="0"/>
              <a:t>行</a:t>
            </a:r>
            <a:endParaRPr lang="en-US" altLang="zh-CN" dirty="0"/>
          </a:p>
          <a:p>
            <a:pPr lvl="1"/>
            <a:r>
              <a:rPr lang="zh-CN" altLang="en-US" dirty="0"/>
              <a:t>每行为一个宿舍的名字及所住同学（字典序小的宿舍排在前面，字典序小的同学也排在前面）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自定义数据类型：概览</a:t>
            </a:r>
            <a:endParaRPr lang="en-US" altLang="zh-CN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en-US" altLang="zh-CN" dirty="0"/>
          </a:p>
          <a:p>
            <a:r>
              <a:rPr lang="zh-CN" altLang="en-US" dirty="0"/>
              <a:t>结构体</a:t>
            </a:r>
            <a:endParaRPr lang="en-US" altLang="zh-CN" dirty="0"/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共用体（选学）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/>
              <a:t>用</a:t>
            </a:r>
            <a:r>
              <a:rPr lang="en-US" altLang="zh-CN" dirty="0"/>
              <a:t>typedef</a:t>
            </a:r>
            <a:r>
              <a:rPr lang="zh-CN" altLang="en-US" dirty="0"/>
              <a:t>定义新类型</a:t>
            </a:r>
            <a:endParaRPr lang="en-US" altLang="en-US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40475"/>
          </a:xfrm>
        </p:spPr>
        <p:txBody>
          <a:bodyPr/>
          <a:lstStyle/>
          <a:p>
            <a:r>
              <a:rPr lang="zh-CN" altLang="en-US" dirty="0"/>
              <a:t>共用体：选学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3074" y="1288499"/>
            <a:ext cx="8280000" cy="4764163"/>
          </a:xfrm>
        </p:spPr>
        <p:txBody>
          <a:bodyPr/>
          <a:lstStyle/>
          <a:p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几个不同类型的变量共享同一段内存的结构，称为 </a:t>
            </a:r>
            <a:r>
              <a:rPr lang="zh-CN" altLang="en-US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“共用体”类型</a:t>
            </a:r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的结构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450310" y="2257255"/>
            <a:ext cx="2360725" cy="1171745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union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共用体名</a:t>
            </a:r>
            <a:r>
              <a:rPr kumimoji="0" lang="zh-CN" altLang="en-US" sz="1700" b="1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{</a:t>
            </a:r>
            <a:endParaRPr kumimoji="0" lang="en-US" altLang="zh-CN" sz="1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700" b="1" kern="0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成员表列</a:t>
            </a:r>
            <a:endParaRPr kumimoji="0" lang="zh-CN" altLang="en-US" sz="1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 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变量表列</a:t>
            </a:r>
            <a:r>
              <a:rPr kumimoji="0" lang="en-US" altLang="zh-CN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r>
              <a:rPr kumimoji="0" lang="zh-CN" altLang="en-US" sz="1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endParaRPr kumimoji="0" lang="zh-CN" altLang="en-US" sz="1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813085" y="2145179"/>
          <a:ext cx="3211824" cy="1263360"/>
        </p:xfrm>
        <a:graphic>
          <a:graphicData uri="http://schemas.openxmlformats.org/drawingml/2006/table">
            <a:tbl>
              <a:tblPr/>
              <a:tblGrid>
                <a:gridCol w="802956"/>
                <a:gridCol w="802956"/>
                <a:gridCol w="802956"/>
                <a:gridCol w="802956"/>
              </a:tblGrid>
              <a:tr h="300326"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r>
                        <a:rPr lang="en-US" altLang="zh-CN" sz="1600" dirty="0"/>
                        <a:t>1000</a:t>
                      </a:r>
                      <a:r>
                        <a:rPr lang="zh-CN" altLang="en-US" sz="1600" dirty="0"/>
                        <a:t>地址</a:t>
                      </a:r>
                      <a:endParaRPr lang="zh-CN" altLang="en-US" sz="1600" dirty="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0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0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032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endParaRPr lang="zh-CN" altLang="en-US" sz="1600" dirty="0"/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832838" y="2461018"/>
          <a:ext cx="1800488" cy="947520"/>
        </p:xfrm>
        <a:graphic>
          <a:graphicData uri="http://schemas.openxmlformats.org/drawingml/2006/table">
            <a:tbl>
              <a:tblPr/>
              <a:tblGrid>
                <a:gridCol w="1800488"/>
              </a:tblGrid>
              <a:tr h="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短整型变量</a:t>
                      </a:r>
                      <a:r>
                        <a:rPr lang="en-US" altLang="zh-CN" sz="16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字符型变量</a:t>
                      </a:r>
                      <a:r>
                        <a:rPr lang="en-US" altLang="zh-CN" sz="16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实型变量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圆角矩形 5"/>
          <p:cNvSpPr/>
          <p:nvPr/>
        </p:nvSpPr>
        <p:spPr>
          <a:xfrm>
            <a:off x="432000" y="3593349"/>
            <a:ext cx="5652124" cy="1331359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defTabSz="363855"/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union Data   </a:t>
            </a:r>
            <a:r>
              <a:rPr lang="en-US" altLang="zh-CN" sz="1400" kern="0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//</a:t>
            </a:r>
            <a:r>
              <a:rPr lang="zh-CN" altLang="en-US" sz="1400" kern="0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表示不同类型的变量</a:t>
            </a:r>
            <a:r>
              <a:rPr lang="en-US" altLang="zh-CN" sz="1400" kern="0" dirty="0" err="1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i,ch,f</a:t>
            </a:r>
            <a:r>
              <a:rPr lang="zh-CN" altLang="en-US" sz="1400" kern="0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可以存放到同一段存储单元中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{	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float f;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a,b,c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	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在声明类型同时定义变量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圆角矩形 8"/>
          <p:cNvSpPr/>
          <p:nvPr/>
        </p:nvSpPr>
        <p:spPr>
          <a:xfrm>
            <a:off x="418853" y="5089057"/>
            <a:ext cx="5652124" cy="1524603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union Data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声明共用体类型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{	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float f;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};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union Data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a,b,c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;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用共用体类型定义变量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圆角矩形 9"/>
          <p:cNvSpPr/>
          <p:nvPr/>
        </p:nvSpPr>
        <p:spPr>
          <a:xfrm>
            <a:off x="6155278" y="2188404"/>
            <a:ext cx="2886064" cy="1404945"/>
          </a:xfrm>
          <a:prstGeom prst="roundRect">
            <a:avLst>
              <a:gd name="adj" fmla="val 334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union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没有定义共用体类型名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{	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int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	char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	float f;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}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a,b,c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;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57830" y="3838780"/>
            <a:ext cx="3080960" cy="2644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“共用体”与“结构体”的定义形式相似。</a:t>
            </a:r>
            <a:endParaRPr lang="en-US" altLang="zh-CN" sz="14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但它们的含义是不同的。</a:t>
            </a:r>
            <a:endParaRPr lang="zh-CN" altLang="en-US" sz="14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结构体变量所占内存长度是各成员占的内存长度之和。每个成员分别占有其自己的内存单元。</a:t>
            </a:r>
            <a:endParaRPr lang="en-US" altLang="zh-CN" sz="14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而共用体变量所占的内存长度等于最长的成员的长度。几个成员共用一个内存区。</a:t>
            </a:r>
            <a:endParaRPr lang="zh-CN" altLang="en-US" sz="14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20257" y="83505"/>
            <a:ext cx="5174757" cy="87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同一个内存段可以用来存放几种不同类型的成员，但在每一瞬时只能存放其中一个成员，而不是同时存放几个。</a:t>
            </a:r>
            <a:endParaRPr lang="en-US" altLang="zh-CN" sz="16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E1F34"/>
                </a:solidFill>
              </a:rPr>
              <a:t>共用体所占的内存空间大小等于其所占空间最大的成员域的大小</a:t>
            </a:r>
            <a:endParaRPr lang="en-US" altLang="zh-CN" sz="16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自定义数据类型：概览</a:t>
            </a:r>
            <a:endParaRPr lang="en-US" altLang="zh-CN" dirty="0"/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en-US" altLang="zh-CN" dirty="0"/>
          </a:p>
          <a:p>
            <a:r>
              <a:rPr lang="zh-CN" altLang="en-US" dirty="0"/>
              <a:t>结构体</a:t>
            </a:r>
            <a:endParaRPr lang="en-US" altLang="zh-CN" dirty="0"/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共用体（选学）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dirty="0"/>
              <a:t>用</a:t>
            </a:r>
            <a:r>
              <a:rPr lang="en-US" altLang="zh-CN" dirty="0"/>
              <a:t>typedef</a:t>
            </a:r>
            <a:r>
              <a:rPr lang="zh-CN" altLang="en-US" dirty="0"/>
              <a:t>定义新类型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 err="1"/>
              <a:t>typedef</a:t>
            </a:r>
            <a:r>
              <a:rPr lang="zh-CN" altLang="en-US" dirty="0"/>
              <a:t>声明新类型名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82387" y="1345832"/>
            <a:ext cx="8280000" cy="4764163"/>
          </a:xfrm>
        </p:spPr>
        <p:txBody>
          <a:bodyPr/>
          <a:lstStyle/>
          <a:p>
            <a:r>
              <a:rPr lang="zh-CN" altLang="en-US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简单用一个新的类型名代替原有类型名</a:t>
            </a:r>
            <a:endParaRPr lang="en-US" altLang="zh-CN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endParaRPr lang="en-US" dirty="0"/>
          </a:p>
        </p:txBody>
      </p:sp>
      <p:sp>
        <p:nvSpPr>
          <p:cNvPr id="5" name="圆角矩形 4"/>
          <p:cNvSpPr/>
          <p:nvPr/>
        </p:nvSpPr>
        <p:spPr>
          <a:xfrm>
            <a:off x="672997" y="1906735"/>
            <a:ext cx="5004048" cy="594481"/>
          </a:xfrm>
          <a:prstGeom prst="roundRect">
            <a:avLst>
              <a:gd name="adj" fmla="val 1244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Integer;</a:t>
            </a:r>
            <a:r>
              <a:rPr kumimoji="0" lang="en-US" altLang="zh-CN" sz="1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指定用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Integer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为类型名，作用与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相同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float Real;	 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指定用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Real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为类型名，作用与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float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相同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72997" y="2591081"/>
            <a:ext cx="7446110" cy="2011148"/>
          </a:xfrm>
          <a:prstGeom prst="roundRect">
            <a:avLst>
              <a:gd name="adj" fmla="val 326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{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month;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day;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year;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}Date;	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声明了一个新类型名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Date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，代表结构体类型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Date birthday;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定义结构体类型变量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birthday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，不要写成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struct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Date birthday;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typedef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Num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[100];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声明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Num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为整型数组类型名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Num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a;		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定义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a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为整型数组名，它有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个元素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2997" y="4807164"/>
            <a:ext cx="74461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声明一个新的类型名的方法是： </a:t>
            </a:r>
            <a:endParaRPr lang="zh-CN" altLang="en-US" sz="12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① 先按定义变量的方法写出定义体（如： 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int </a:t>
            </a:r>
            <a:r>
              <a:rPr lang="en-US" altLang="zh-CN" sz="1200" b="1" kern="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endParaRPr lang="en-US" altLang="zh-CN" sz="12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② 将变量名换成新类型名（例如： 将</a:t>
            </a:r>
            <a:r>
              <a:rPr lang="en-US" altLang="zh-CN" sz="1200" b="1" kern="0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换成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Count</a:t>
            </a: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endParaRPr lang="zh-CN" altLang="en-US" sz="12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③ 在最前面加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typedef</a:t>
            </a: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（例如： 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typedef int Count</a:t>
            </a: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	</a:t>
            </a:r>
            <a:endParaRPr lang="en-US" altLang="zh-CN" sz="12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④ 然后可以用新类型名去定义变量</a:t>
            </a:r>
            <a:endParaRPr lang="en-US" altLang="zh-CN" sz="12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0" algn="just" defTabSz="805180"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简单地说，就是按定义变量的方式把变量名换上新类型名，并在最前面加</a:t>
            </a:r>
            <a:r>
              <a:rPr lang="en-US" altLang="zh-CN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typedef</a:t>
            </a:r>
            <a:r>
              <a:rPr lang="zh-CN" altLang="en-US" sz="1200" b="1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，就声明了新类型名代表原来的类型。</a:t>
            </a:r>
            <a:endParaRPr lang="zh-CN" altLang="en-US" sz="1200" b="1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02213" y="6144136"/>
            <a:ext cx="57395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习惯上，常把用</a:t>
            </a:r>
            <a:r>
              <a:rPr lang="en-US" altLang="zh-CN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typedef</a:t>
            </a:r>
            <a:r>
              <a:rPr lang="zh-CN" altLang="en-US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声明的类型名的第</a:t>
            </a:r>
            <a:r>
              <a:rPr lang="en-US" altLang="zh-CN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zh-CN" altLang="en-US" kern="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个字母大写，以便与系统提供的标准类型标识符相区别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编写一个程序计算</a:t>
            </a:r>
            <a:r>
              <a:rPr lang="en-US" altLang="zh-CN" dirty="0" err="1"/>
              <a:t>sinx</a:t>
            </a:r>
            <a:r>
              <a:rPr lang="zh-CN" altLang="en-US" dirty="0"/>
              <a:t>和</a:t>
            </a:r>
            <a:r>
              <a:rPr lang="en-US" altLang="zh-CN" dirty="0" err="1"/>
              <a:t>cosx</a:t>
            </a:r>
            <a:r>
              <a:rPr lang="zh-CN" altLang="en-US" dirty="0"/>
              <a:t>的近似值</a:t>
            </a:r>
            <a:r>
              <a:rPr lang="en-US" altLang="zh-CN" dirty="0"/>
              <a:t>,</a:t>
            </a:r>
            <a:r>
              <a:rPr lang="zh-CN" altLang="en-US" dirty="0"/>
              <a:t>使用如下的台劳级数公式</a:t>
            </a:r>
            <a:r>
              <a:rPr lang="en-US" altLang="zh-CN" dirty="0"/>
              <a:t>(</a:t>
            </a:r>
            <a:r>
              <a:rPr lang="zh-CN" altLang="en-US" dirty="0"/>
              <a:t>舍去的绝对值应小于</a:t>
            </a:r>
            <a:r>
              <a:rPr lang="en-US" altLang="zh-CN"/>
              <a:t>ε)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习题讲解</a:t>
            </a:r>
            <a:r>
              <a:rPr lang="en-US" altLang="zh-CN" dirty="0"/>
              <a:t>-#180</a:t>
            </a:r>
            <a:endParaRPr lang="en-US" dirty="0"/>
          </a:p>
        </p:txBody>
      </p:sp>
      <p:pic>
        <p:nvPicPr>
          <p:cNvPr id="8194" name="Picture 2" descr="http://yoj.ruc.edu.cn/Uploads/images/sunh/5de87ad437f1f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2571750"/>
            <a:ext cx="38862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2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9934</Words>
  <Application>WPS 演示</Application>
  <PresentationFormat>On-screen Show (4:3)</PresentationFormat>
  <Paragraphs>686</Paragraphs>
  <Slides>37</Slides>
  <Notes>20</Notes>
  <HiddenSlides>6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2" baseType="lpstr">
      <vt:lpstr>Arial</vt:lpstr>
      <vt:lpstr>宋体</vt:lpstr>
      <vt:lpstr>Wingdings</vt:lpstr>
      <vt:lpstr>Calibri</vt:lpstr>
      <vt:lpstr>等线</vt:lpstr>
      <vt:lpstr>Consolas</vt:lpstr>
      <vt:lpstr>Calibri Light</vt:lpstr>
      <vt:lpstr>微软雅黑</vt:lpstr>
      <vt:lpstr>微软雅黑 Light</vt:lpstr>
      <vt:lpstr>Arial Unicode MS</vt:lpstr>
      <vt:lpstr>Courier New</vt:lpstr>
      <vt:lpstr>Lato</vt:lpstr>
      <vt:lpstr>ui-sans-serif</vt:lpstr>
      <vt:lpstr>Segoe Print</vt:lpstr>
      <vt:lpstr>课程PPT模板</vt:lpstr>
      <vt:lpstr>12. 数据的组织（三） 		  ——自定义类型</vt:lpstr>
      <vt:lpstr>自定义数据类型：概览</vt:lpstr>
      <vt:lpstr>自定义数据类型步骤</vt:lpstr>
      <vt:lpstr>枚举类型（要求：能够看懂）</vt:lpstr>
      <vt:lpstr>枚举类型</vt:lpstr>
      <vt:lpstr>枚举类型示例代码</vt:lpstr>
      <vt:lpstr>枚举类型示例代码</vt:lpstr>
      <vt:lpstr>枚举类型举例</vt:lpstr>
      <vt:lpstr>枚举法举例：谁做的好事</vt:lpstr>
      <vt:lpstr>找到谁做的好事的代码</vt:lpstr>
      <vt:lpstr>枚举类型应用</vt:lpstr>
      <vt:lpstr>枚举类型总结</vt:lpstr>
      <vt:lpstr>自定义数据类型：概览</vt:lpstr>
      <vt:lpstr>自定义数据类型步骤</vt:lpstr>
      <vt:lpstr>结构体</vt:lpstr>
      <vt:lpstr>结构体</vt:lpstr>
      <vt:lpstr>自定义数据类型步骤</vt:lpstr>
      <vt:lpstr>定义结构体类型变量</vt:lpstr>
      <vt:lpstr>结构体类型与结构体类型变量</vt:lpstr>
      <vt:lpstr>自定义数据类型步骤</vt:lpstr>
      <vt:lpstr>成员运算符（点操作符）</vt:lpstr>
      <vt:lpstr>PowerPoint 演示文稿</vt:lpstr>
      <vt:lpstr>结构体变量的初始化</vt:lpstr>
      <vt:lpstr>结构体变量之间可以等号赋值</vt:lpstr>
      <vt:lpstr>下面程序输出什么结果？</vt:lpstr>
      <vt:lpstr>结构体变量中的成员作用域</vt:lpstr>
      <vt:lpstr>提高：结构体变量的存储（选学）</vt:lpstr>
      <vt:lpstr>提高：结构体变量的存储（选学）</vt:lpstr>
      <vt:lpstr>练习：#1563. 点结构体</vt:lpstr>
      <vt:lpstr>结构数组</vt:lpstr>
      <vt:lpstr>作业：#1562. 校园寻宝大比拼</vt:lpstr>
      <vt:lpstr>作业： #1564. 宿舍魔力对决</vt:lpstr>
      <vt:lpstr>自定义数据类型：概览</vt:lpstr>
      <vt:lpstr>共用体：选学</vt:lpstr>
      <vt:lpstr>自定义数据类型：概览</vt:lpstr>
      <vt:lpstr>用typedef声明新类型名</vt:lpstr>
      <vt:lpstr>习题讲解-#180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1424</cp:revision>
  <dcterms:created xsi:type="dcterms:W3CDTF">2020-10-14T02:47:00Z</dcterms:created>
  <dcterms:modified xsi:type="dcterms:W3CDTF">2025-11-12T03:02:26Z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EEB917A960C24A4BA1ABA290F125BAD8</vt:lpwstr>
  </property>
  <property fmtid="{D5CDD505-2E9C-101B-9397-08002B2CF9AE}" pid="3" name="KSOProductBuildVer">
    <vt:lpwstr>2052-11.1.0.12173</vt:lpwstr>
  </property>
</Properties>
</file>