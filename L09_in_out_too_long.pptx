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11"/>
  </p:handoutMasterIdLst>
  <p:sldIdLst>
    <p:sldId id="1154" r:id="rId3"/>
    <p:sldId id="1153" r:id="rId4"/>
    <p:sldId id="1156" r:id="rId5"/>
    <p:sldId id="1158" r:id="rId7"/>
    <p:sldId id="1159" r:id="rId8"/>
    <p:sldId id="1160" r:id="rId9"/>
    <p:sldId id="1161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6700E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52" autoAdjust="0"/>
    <p:restoredTop sz="81589" autoAdjust="0"/>
  </p:normalViewPr>
  <p:slideViewPr>
    <p:cSldViewPr snapToGrid="0">
      <p:cViewPr varScale="1">
        <p:scale>
          <a:sx n="70" d="100"/>
          <a:sy n="70" d="100"/>
        </p:scale>
        <p:origin x="1872" y="3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95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63B7C-F87A-4992-9D16-F63F1FA43DB6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5AF18-CFCB-48CD-B900-85FE73933DD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6F8E1-D84A-44BD-AFC6-9B54380022BF}" type="datetimeFigureOut">
              <a:rPr lang="en-US" smtClean="0"/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https://pan.ruc.edu.cn/link/AR90051D02723D4B358426ABEE89AE1035</a:t>
            </a:r>
            <a:endParaRPr lang="en-US" altLang="zh-CN" dirty="0"/>
          </a:p>
          <a:p>
            <a:r>
              <a:rPr lang="en-US" altLang="zh-CN" dirty="0"/>
              <a:t>Name: my10.out</a:t>
            </a:r>
            <a:endParaRPr lang="en-US" altLang="zh-CN" dirty="0"/>
          </a:p>
          <a:p>
            <a:r>
              <a:rPr lang="en-US" altLang="zh-CN" dirty="0"/>
              <a:t>File Location: AnyShare://</a:t>
            </a:r>
            <a:r>
              <a:rPr lang="zh-CN" altLang="en-US" dirty="0"/>
              <a:t>王希廷</a:t>
            </a:r>
            <a:r>
              <a:rPr lang="en-US" altLang="zh-CN" dirty="0"/>
              <a:t>_20230132/</a:t>
            </a:r>
            <a:r>
              <a:rPr lang="en-US" altLang="zh-CN" dirty="0" err="1"/>
              <a:t>CFiles</a:t>
            </a:r>
            <a:r>
              <a:rPr lang="en-US" altLang="zh-CN" dirty="0"/>
              <a:t>/my10.out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https://pan.ruc.edu.cn/link/ARBEAE46398C3E4BC9BFD6AC1FC1A381F4 Name: data10.out File Location: AnyShare://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王希廷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_20230132/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-apple-system"/>
              </a:rPr>
              <a:t>CFiles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/data10.out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https://pan.ruc.edu.cn/link/AR90051D02723D4B358426ABEE89AE1035</a:t>
            </a:r>
            <a:endParaRPr lang="en-US" altLang="zh-CN" dirty="0"/>
          </a:p>
          <a:p>
            <a:r>
              <a:rPr lang="en-US" altLang="zh-CN" dirty="0"/>
              <a:t>Name: my10.out</a:t>
            </a:r>
            <a:endParaRPr lang="en-US" altLang="zh-CN" dirty="0"/>
          </a:p>
          <a:p>
            <a:r>
              <a:rPr lang="en-US" altLang="zh-CN" dirty="0"/>
              <a:t>File Location: AnyShare://</a:t>
            </a:r>
            <a:r>
              <a:rPr lang="zh-CN" altLang="en-US" dirty="0"/>
              <a:t>王希廷</a:t>
            </a:r>
            <a:r>
              <a:rPr lang="en-US" altLang="zh-CN" dirty="0"/>
              <a:t>_20230132/</a:t>
            </a:r>
            <a:r>
              <a:rPr lang="en-US" altLang="zh-CN" dirty="0" err="1"/>
              <a:t>CFiles</a:t>
            </a:r>
            <a:r>
              <a:rPr lang="en-US" altLang="zh-CN" dirty="0"/>
              <a:t>/my10.out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https://pan.ruc.edu.cn/link/ARBEAE46398C3E4BC9BFD6AC1FC1A381F4 Name: data10.out File Location: AnyShare://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王希廷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_20230132/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-apple-system"/>
              </a:rPr>
              <a:t>CFiles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/data10.out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r>
              <a:rPr lang="zh-CN" altLang="en-US" dirty="0"/>
              <a:t>行和</a:t>
            </a:r>
            <a:r>
              <a:rPr lang="en-US" altLang="zh-CN" dirty="0"/>
              <a:t>7</a:t>
            </a:r>
            <a:r>
              <a:rPr lang="zh-CN" altLang="en-US" dirty="0"/>
              <a:t>行可以单独加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Data10.in</a:t>
            </a:r>
            <a:r>
              <a:rPr lang="zh-CN" altLang="en-US" dirty="0"/>
              <a:t>中的内容：</a:t>
            </a:r>
            <a:r>
              <a:rPr lang="en-US" altLang="zh-CN" dirty="0"/>
              <a:t>100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&lt;stdio.h&gt;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//</a:t>
            </a:r>
            <a:r>
              <a:rPr lang="zh-CN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本程序输入不从键盘，改为从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"data10.in"</a:t>
            </a:r>
            <a:r>
              <a:rPr lang="zh-CN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文件</a:t>
            </a:r>
            <a:endParaRPr lang="zh-CN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freopen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"data10.in"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stdin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 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//</a:t>
            </a:r>
            <a:r>
              <a:rPr lang="zh-CN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本程序输出结果不打印到终端，改为打印到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"my10.out"</a:t>
            </a:r>
            <a:r>
              <a:rPr lang="zh-CN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文件</a:t>
            </a:r>
            <a:endParaRPr lang="zh-CN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freopen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"my12.out"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stdout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 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{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){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){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){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}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)))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zh-C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zh-C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10.0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{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 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             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}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}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 answer"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microsoft.com/office/2007/relationships/hdphoto" Target="../media/image4.wdp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/>
          <p:cNvSpPr/>
          <p:nvPr/>
        </p:nvSpPr>
        <p:spPr>
          <a:xfrm>
            <a:off x="8177483" y="5910463"/>
            <a:ext cx="504000" cy="50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椭圆 11"/>
          <p:cNvSpPr/>
          <p:nvPr/>
        </p:nvSpPr>
        <p:spPr>
          <a:xfrm>
            <a:off x="7414927" y="813765"/>
            <a:ext cx="742237" cy="7422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椭圆 9"/>
          <p:cNvSpPr/>
          <p:nvPr/>
        </p:nvSpPr>
        <p:spPr>
          <a:xfrm>
            <a:off x="-2459620" y="610564"/>
            <a:ext cx="5400000" cy="5400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8874" y="3811522"/>
            <a:ext cx="5429250" cy="1655762"/>
          </a:xfrm>
        </p:spPr>
        <p:txBody>
          <a:bodyPr/>
          <a:lstStyle>
            <a:lvl1pPr marL="0" indent="0" algn="l">
              <a:buNone/>
              <a:defRPr sz="2400" baseline="0">
                <a:latin typeface="Calibri" panose="020F0502020204030204" pitchFamily="34" charset="0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8875" y="2063685"/>
            <a:ext cx="6606253" cy="1655763"/>
          </a:xfrm>
        </p:spPr>
        <p:txBody>
          <a:bodyPr anchor="b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弧形 3"/>
          <p:cNvSpPr/>
          <p:nvPr userDrawn="1"/>
        </p:nvSpPr>
        <p:spPr>
          <a:xfrm>
            <a:off x="-1790184" y="-1709103"/>
            <a:ext cx="3960000" cy="3883419"/>
          </a:xfrm>
          <a:prstGeom prst="arc">
            <a:avLst>
              <a:gd name="adj1" fmla="val 21064148"/>
              <a:gd name="adj2" fmla="val 5986293"/>
            </a:avLst>
          </a:prstGeom>
          <a:noFill/>
          <a:ln w="635000"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62471" y="2155124"/>
            <a:ext cx="6711517" cy="1655763"/>
          </a:xfrm>
        </p:spPr>
        <p:txBody>
          <a:bodyPr anchor="t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圆: 空心 8"/>
          <p:cNvSpPr/>
          <p:nvPr/>
        </p:nvSpPr>
        <p:spPr>
          <a:xfrm>
            <a:off x="685564" y="2155124"/>
            <a:ext cx="544750" cy="558709"/>
          </a:xfrm>
          <a:prstGeom prst="donut">
            <a:avLst>
              <a:gd name="adj" fmla="val 3476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293" y="431999"/>
            <a:ext cx="8152708" cy="935161"/>
          </a:xfrm>
        </p:spPr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59292" y="1615736"/>
            <a:ext cx="8152707" cy="4710344"/>
          </a:xfrm>
        </p:spPr>
        <p:txBody>
          <a:bodyPr anchor="t">
            <a:normAutofit/>
          </a:bodyPr>
          <a:lstStyle>
            <a:lvl1pPr marL="514350" indent="-514350">
              <a:lnSpc>
                <a:spcPct val="114000"/>
              </a:lnSpc>
              <a:buFont typeface="+mj-lt"/>
              <a:buAutoNum type="arabicPeriod"/>
              <a:defRPr sz="28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1pPr>
            <a:lvl2pPr marL="782955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369695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7145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1717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目录项目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30387" cy="899650"/>
          </a:xfrm>
        </p:spPr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1535837"/>
            <a:ext cx="8280000" cy="47641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 marL="740410" indent="-342900">
              <a:buFont typeface="Wingdings" panose="05000000000000000000" pitchFamily="2" charset="2"/>
              <a:buChar char="§"/>
              <a:defRPr sz="2000"/>
            </a:lvl2pPr>
            <a:lvl3pPr marL="1198245" indent="-285750">
              <a:buFont typeface="Wingdings" panose="05000000000000000000" pitchFamily="2" charset="2"/>
              <a:buChar char="§"/>
              <a:defRPr sz="1800"/>
            </a:lvl3pPr>
            <a:lvl4pPr marL="1657350" indent="-285750">
              <a:buFont typeface="Wingdings" panose="05000000000000000000" pitchFamily="2" charset="2"/>
              <a:buChar char="§"/>
              <a:defRPr sz="1600"/>
            </a:lvl4pPr>
            <a:lvl5pPr marL="2114550" indent="-285750"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32000" y="1260000"/>
            <a:ext cx="4082850" cy="5040000"/>
          </a:xfrm>
        </p:spPr>
        <p:txBody>
          <a:bodyPr/>
          <a:lstStyle>
            <a:lvl1pPr marL="360045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260000"/>
            <a:ext cx="4082850" cy="5040000"/>
          </a:xfrm>
        </p:spPr>
        <p:txBody>
          <a:bodyPr/>
          <a:lstStyle>
            <a:lvl1pPr marL="360045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32000" y="1188000"/>
            <a:ext cx="4066182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2000" y="2037716"/>
            <a:ext cx="4066182" cy="438828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188000"/>
            <a:ext cx="4082850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037716"/>
            <a:ext cx="4082850" cy="438828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683692"/>
          </a:xfrm>
        </p:spPr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54133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541337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结束，致谢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268875" y="2155125"/>
            <a:ext cx="6606253" cy="1655763"/>
          </a:xfrm>
        </p:spPr>
        <p:txBody>
          <a:bodyPr anchor="b">
            <a:normAutofit/>
          </a:bodyPr>
          <a:lstStyle>
            <a:lvl1pPr algn="ctr">
              <a:defRPr sz="44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圆: 空心 8"/>
          <p:cNvSpPr/>
          <p:nvPr/>
        </p:nvSpPr>
        <p:spPr>
          <a:xfrm>
            <a:off x="8088487" y="5873868"/>
            <a:ext cx="720000" cy="720000"/>
          </a:xfrm>
          <a:prstGeom prst="donut">
            <a:avLst>
              <a:gd name="adj" fmla="val 2415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7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6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1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751EAF42-C692-4271-8CB7-3D9B314629A6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04800"/>
            <a:ext cx="7543800" cy="14319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66800" y="1981200"/>
            <a:ext cx="36957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14900" y="1981200"/>
            <a:ext cx="36957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0DC657-BB46-4EF7-9D66-BFB8C6F8FE0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5.emf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8866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447062"/>
            <a:ext cx="8280000" cy="4705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45" indent="-360045" algn="l" defTabSz="914400" rtl="0" eaLnBrk="1" latinLnBrk="0" hangingPunct="1">
        <a:lnSpc>
          <a:spcPct val="100000"/>
        </a:lnSpc>
        <a:spcBef>
          <a:spcPts val="1000"/>
        </a:spcBef>
        <a:buClr>
          <a:schemeClr val="accent4"/>
        </a:buClr>
        <a:buFontTx/>
        <a:buBlip>
          <a:blip r:embed="rId13"/>
        </a:buBlip>
        <a:defRPr sz="28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8829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Tx/>
        <a:buBlip>
          <a:blip r:embed="rId13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30505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hyperlink" Target="http://yoj.ruc.edu.cn/index.php/teacher/problem/detail/pno/148.html" TargetMode="Externa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hyperlink" Target="http://yoj.ruc.edu.cn/index.php/teacher/problem/detail/pno/148.html" TargetMode="Externa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hyperlink" Target="http://yoj.ruc.edu.cn/index.php/teacher/problem/detail/pno/148.htm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hyperlink" Target="http://yoj.ruc.edu.cn/index.php/teacher/problem/detail/pno/148.htm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关于输入输出较长时的问题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例子：</a:t>
            </a:r>
            <a:r>
              <a:rPr lang="en-US" altLang="zh-CN" b="0" i="0" u="none" strike="noStrike" dirty="0">
                <a:solidFill>
                  <a:srgbClr val="1E70BF"/>
                </a:solidFill>
                <a:effectLst/>
                <a:latin typeface="Lato" panose="020F0502020204030203" pitchFamily="34" charset="0"/>
                <a:hlinkClick r:id="rId1"/>
              </a:rPr>
              <a:t>#148 </a:t>
            </a:r>
            <a:r>
              <a:rPr lang="zh-CN" altLang="en-US" b="0" i="0" u="none" strike="noStrike" dirty="0">
                <a:solidFill>
                  <a:srgbClr val="1E70BF"/>
                </a:solidFill>
                <a:effectLst/>
                <a:latin typeface="Lato" panose="020F0502020204030203" pitchFamily="34" charset="0"/>
                <a:hlinkClick r:id="rId1"/>
              </a:rPr>
              <a:t>傻大木买军火</a:t>
            </a:r>
            <a:r>
              <a:rPr lang="zh-CN" altLang="en-US" dirty="0">
                <a:solidFill>
                  <a:schemeClr val="tx1"/>
                </a:solidFill>
              </a:rPr>
              <a:t>（本周作业）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看不全测试点的输入或者输出信息（太长被省略）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" y="2881888"/>
            <a:ext cx="3760796" cy="3962743"/>
          </a:xfrm>
          <a:prstGeom prst="rect">
            <a:avLst/>
          </a:prstGeom>
        </p:spPr>
      </p:pic>
      <p:sp>
        <p:nvSpPr>
          <p:cNvPr id="6" name="Rectangle: Rounded Corners 5"/>
          <p:cNvSpPr/>
          <p:nvPr/>
        </p:nvSpPr>
        <p:spPr>
          <a:xfrm>
            <a:off x="718457" y="6326080"/>
            <a:ext cx="1807028" cy="250371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256" y="2881888"/>
            <a:ext cx="4442172" cy="34441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82693" y="6198174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</a:rPr>
              <a:t>看不全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3978572" y="6263488"/>
            <a:ext cx="1569660" cy="23948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/>
          <p:cNvSpPr/>
          <p:nvPr/>
        </p:nvSpPr>
        <p:spPr>
          <a:xfrm>
            <a:off x="5034642" y="5868880"/>
            <a:ext cx="3501079" cy="3429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6549254" y="4603984"/>
            <a:ext cx="2259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C00000"/>
                </a:solidFill>
              </a:rPr>
              <a:t>注意：此为该错误测试点的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algn="ctr"/>
            <a:r>
              <a:rPr lang="zh-CN" altLang="en-US" sz="2400" b="1" dirty="0">
                <a:solidFill>
                  <a:srgbClr val="C00000"/>
                </a:solidFill>
              </a:rPr>
              <a:t>正确</a:t>
            </a:r>
            <a:r>
              <a:rPr lang="zh-CN" altLang="en-US" sz="2400" dirty="0">
                <a:solidFill>
                  <a:srgbClr val="C00000"/>
                </a:solidFill>
              </a:rPr>
              <a:t>输出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关于输入输出较长时的问题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953" y="1593965"/>
            <a:ext cx="8786094" cy="4710344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例子：</a:t>
            </a:r>
            <a:r>
              <a:rPr lang="en-US" altLang="zh-CN" b="0" i="0" u="none" strike="noStrike" dirty="0">
                <a:solidFill>
                  <a:srgbClr val="1E70BF"/>
                </a:solidFill>
                <a:effectLst/>
                <a:latin typeface="Lato" panose="020F0502020204030203" pitchFamily="34" charset="0"/>
                <a:hlinkClick r:id="rId1"/>
              </a:rPr>
              <a:t>#148 </a:t>
            </a:r>
            <a:r>
              <a:rPr lang="zh-CN" altLang="en-US" b="0" i="0" u="none" strike="noStrike" dirty="0">
                <a:solidFill>
                  <a:srgbClr val="1E70BF"/>
                </a:solidFill>
                <a:effectLst/>
                <a:latin typeface="Lato" panose="020F0502020204030203" pitchFamily="34" charset="0"/>
                <a:hlinkClick r:id="rId1"/>
              </a:rPr>
              <a:t>傻大木买军火</a:t>
            </a:r>
            <a:r>
              <a:rPr lang="zh-CN" altLang="en-US" dirty="0">
                <a:solidFill>
                  <a:schemeClr val="tx1"/>
                </a:solidFill>
              </a:rPr>
              <a:t>（本周作业）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难以跟自己的错误答案进行对比（太长了找不到哪错了）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960" y="3129641"/>
            <a:ext cx="1476142" cy="35977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0948" y="2748253"/>
            <a:ext cx="29921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err="1"/>
              <a:t>Yoj</a:t>
            </a:r>
            <a:r>
              <a:rPr lang="zh-CN" altLang="en-US" sz="2400" b="1" dirty="0"/>
              <a:t>上下载的错误输出</a:t>
            </a:r>
            <a:endParaRPr lang="en-US" altLang="zh-CN" sz="2400" b="1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126" y="3209918"/>
            <a:ext cx="1539041" cy="352697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173114" y="2748253"/>
            <a:ext cx="46890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Vs code</a:t>
            </a:r>
            <a:r>
              <a:rPr lang="zh-CN" altLang="en-US" sz="2400" b="1" dirty="0"/>
              <a:t>上跑出来的结果</a:t>
            </a:r>
            <a:endParaRPr lang="en-US" altLang="zh-CN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5548727" y="4364206"/>
            <a:ext cx="341632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C00000"/>
                </a:solidFill>
              </a:rPr>
              <a:t>看上去差不多</a:t>
            </a:r>
            <a:endParaRPr lang="en-US" altLang="zh-CN" sz="2800" b="1" dirty="0">
              <a:solidFill>
                <a:srgbClr val="C00000"/>
              </a:solidFill>
            </a:endParaRPr>
          </a:p>
          <a:p>
            <a:pPr algn="ctr"/>
            <a:r>
              <a:rPr lang="zh-CN" altLang="en-US" sz="2800" b="1" dirty="0">
                <a:solidFill>
                  <a:srgbClr val="C00000"/>
                </a:solidFill>
              </a:rPr>
              <a:t>找不同比较慢和困难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关于输入输出较长时的问题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953" y="1593965"/>
            <a:ext cx="8786094" cy="4710344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例子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：</a:t>
            </a:r>
            <a:r>
              <a:rPr lang="en-US" altLang="zh-CN" b="0" i="0" u="none" strike="noStrike" dirty="0">
                <a:solidFill>
                  <a:srgbClr val="1E70BF"/>
                </a:solidFill>
                <a:effectLst/>
                <a:latin typeface="Lato" panose="020F0502020204030203" pitchFamily="34" charset="0"/>
                <a:hlinkClick r:id="rId1"/>
              </a:rPr>
              <a:t>#148 </a:t>
            </a:r>
            <a:r>
              <a:rPr lang="zh-CN" altLang="en-US" b="0" i="0" u="none" strike="noStrike" dirty="0">
                <a:solidFill>
                  <a:srgbClr val="1E70BF"/>
                </a:solidFill>
                <a:effectLst/>
                <a:latin typeface="Lato" panose="020F0502020204030203" pitchFamily="34" charset="0"/>
                <a:hlinkClick r:id="rId1"/>
              </a:rPr>
              <a:t>傻大木买军火</a:t>
            </a:r>
            <a:r>
              <a:rPr lang="zh-CN" altLang="en-US" dirty="0">
                <a:solidFill>
                  <a:schemeClr val="tx1"/>
                </a:solidFill>
              </a:rPr>
              <a:t>（本周作业）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难以跟自己的错误答案进行对比（太长了找不到哪错了）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960" y="3129641"/>
            <a:ext cx="1476142" cy="35977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0948" y="2748253"/>
            <a:ext cx="29921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err="1"/>
              <a:t>Yoj</a:t>
            </a:r>
            <a:r>
              <a:rPr lang="zh-CN" altLang="en-US" sz="2400" b="1" dirty="0"/>
              <a:t>上下载的错误输出</a:t>
            </a:r>
            <a:endParaRPr lang="en-US" altLang="zh-CN" sz="24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3173114" y="2748253"/>
            <a:ext cx="46890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Vs code</a:t>
            </a:r>
            <a:r>
              <a:rPr lang="zh-CN" altLang="en-US" sz="2400" b="1" dirty="0"/>
              <a:t>上跑出来的结果</a:t>
            </a:r>
            <a:endParaRPr lang="en-US" altLang="zh-CN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5536601" y="3429000"/>
            <a:ext cx="309243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C00000"/>
                </a:solidFill>
              </a:rPr>
              <a:t>步骤一：把</a:t>
            </a:r>
            <a:r>
              <a:rPr lang="en-US" altLang="zh-CN" sz="2800" b="1" dirty="0" err="1">
                <a:solidFill>
                  <a:srgbClr val="C00000"/>
                </a:solidFill>
              </a:rPr>
              <a:t>yoj</a:t>
            </a:r>
            <a:r>
              <a:rPr lang="zh-CN" altLang="en-US" sz="2800" b="1" dirty="0">
                <a:solidFill>
                  <a:srgbClr val="C00000"/>
                </a:solidFill>
              </a:rPr>
              <a:t>上的结果保存到文件中</a:t>
            </a:r>
            <a:endParaRPr lang="en-US" altLang="zh-CN" sz="2800" b="1" dirty="0">
              <a:solidFill>
                <a:srgbClr val="C00000"/>
              </a:solidFill>
            </a:endParaRPr>
          </a:p>
          <a:p>
            <a:pPr algn="ctr"/>
            <a:endParaRPr lang="en-US" altLang="zh-CN" sz="2800" b="1" dirty="0">
              <a:solidFill>
                <a:srgbClr val="C00000"/>
              </a:solidFill>
            </a:endParaRPr>
          </a:p>
          <a:p>
            <a:pPr algn="ctr"/>
            <a:r>
              <a:rPr lang="zh-CN" altLang="en-US" sz="2800" b="1" dirty="0"/>
              <a:t>此时已经可以切换标签比较，如果还有困难，进行下述步骤二</a:t>
            </a:r>
            <a:endParaRPr lang="zh-CN" altLang="en-US" sz="28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819" y="3129641"/>
            <a:ext cx="1592438" cy="35977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关于输入输出较长时的问题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953" y="1593965"/>
            <a:ext cx="8786094" cy="4710344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例子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：</a:t>
            </a:r>
            <a:r>
              <a:rPr lang="en-US" altLang="zh-CN" b="0" i="0" u="none" strike="noStrike" dirty="0">
                <a:solidFill>
                  <a:srgbClr val="1E70BF"/>
                </a:solidFill>
                <a:effectLst/>
                <a:latin typeface="Lato" panose="020F0502020204030203" pitchFamily="34" charset="0"/>
                <a:hlinkClick r:id="rId1"/>
              </a:rPr>
              <a:t>#148 </a:t>
            </a:r>
            <a:r>
              <a:rPr lang="zh-CN" altLang="en-US" b="0" i="0" u="none" strike="noStrike" dirty="0">
                <a:solidFill>
                  <a:srgbClr val="1E70BF"/>
                </a:solidFill>
                <a:effectLst/>
                <a:latin typeface="Lato" panose="020F0502020204030203" pitchFamily="34" charset="0"/>
                <a:hlinkClick r:id="rId1"/>
              </a:rPr>
              <a:t>傻大木买军火</a:t>
            </a:r>
            <a:r>
              <a:rPr lang="zh-CN" altLang="en-US" dirty="0">
                <a:solidFill>
                  <a:schemeClr val="tx1"/>
                </a:solidFill>
              </a:rPr>
              <a:t>（本周作业）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难以跟自己的错误答案进行对比（太长了找不到哪错了）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0948" y="2748253"/>
            <a:ext cx="29921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err="1"/>
              <a:t>Yoj</a:t>
            </a:r>
            <a:r>
              <a:rPr lang="zh-CN" altLang="en-US" sz="2400" b="1" dirty="0"/>
              <a:t>上下载的错误输出</a:t>
            </a:r>
            <a:endParaRPr lang="en-US" altLang="zh-CN" sz="24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3173114" y="2748253"/>
            <a:ext cx="46890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Vs code</a:t>
            </a:r>
            <a:r>
              <a:rPr lang="zh-CN" altLang="en-US" sz="2400" b="1" dirty="0"/>
              <a:t>上跑出来的结果</a:t>
            </a:r>
            <a:endParaRPr lang="en-US" altLang="zh-CN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76200" y="3429000"/>
            <a:ext cx="936171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C00000"/>
                </a:solidFill>
              </a:rPr>
              <a:t>步骤二：在</a:t>
            </a:r>
            <a:r>
              <a:rPr lang="en-US" altLang="zh-CN" sz="2800" b="1" dirty="0" err="1">
                <a:solidFill>
                  <a:srgbClr val="C00000"/>
                </a:solidFill>
              </a:rPr>
              <a:t>vscode</a:t>
            </a:r>
            <a:r>
              <a:rPr lang="zh-CN" altLang="en-US" sz="2800" b="1" dirty="0">
                <a:solidFill>
                  <a:srgbClr val="C00000"/>
                </a:solidFill>
              </a:rPr>
              <a:t>上对比两个文件</a:t>
            </a:r>
            <a:endParaRPr lang="en-US" altLang="zh-CN" sz="2800" b="1" dirty="0">
              <a:solidFill>
                <a:srgbClr val="C00000"/>
              </a:solidFill>
            </a:endParaRPr>
          </a:p>
          <a:p>
            <a:r>
              <a:rPr lang="en-US" altLang="zh-CN" sz="2800" b="1" dirty="0"/>
              <a:t>2.1 </a:t>
            </a:r>
            <a:r>
              <a:rPr lang="zh-CN" altLang="en-US" sz="2800" b="1" dirty="0"/>
              <a:t>复制到</a:t>
            </a:r>
            <a:r>
              <a:rPr lang="en-US" altLang="zh-CN" sz="2800" b="1" dirty="0" err="1"/>
              <a:t>vscode</a:t>
            </a:r>
            <a:r>
              <a:rPr lang="zh-CN" altLang="en-US" sz="2800" b="1" dirty="0"/>
              <a:t>的文件夹里面</a:t>
            </a:r>
            <a:endParaRPr lang="en-US" altLang="zh-CN" sz="2800" b="1" dirty="0"/>
          </a:p>
          <a:p>
            <a:r>
              <a:rPr lang="en-US" altLang="zh-CN" sz="2800" b="1" dirty="0"/>
              <a:t>2.2 </a:t>
            </a:r>
            <a:r>
              <a:rPr lang="zh-CN" altLang="en-US" sz="2800" b="1" dirty="0"/>
              <a:t>选中其中一个文件，鼠标右键</a:t>
            </a:r>
            <a:r>
              <a:rPr lang="en-US" altLang="zh-CN" sz="2800" b="1" dirty="0"/>
              <a:t>-&gt;</a:t>
            </a:r>
            <a:r>
              <a:rPr lang="zh-CN" altLang="en-US" sz="2800" b="1" dirty="0"/>
              <a:t>选择以进行比较</a:t>
            </a:r>
            <a:endParaRPr lang="en-US" altLang="zh-CN" sz="2800" b="1" dirty="0"/>
          </a:p>
          <a:p>
            <a:r>
              <a:rPr lang="en-US" altLang="zh-CN" sz="2800" b="1" dirty="0"/>
              <a:t>2.3 </a:t>
            </a:r>
            <a:r>
              <a:rPr lang="zh-CN" altLang="en-US" sz="2800" b="1" dirty="0"/>
              <a:t>选择另一个文件，鼠标右键</a:t>
            </a:r>
            <a:r>
              <a:rPr lang="en-US" altLang="zh-CN" sz="2800" b="1" dirty="0"/>
              <a:t>-&gt;</a:t>
            </a:r>
            <a:r>
              <a:rPr lang="zh-CN" altLang="en-US" sz="2800" b="1" dirty="0"/>
              <a:t>与已选项目进行比较</a:t>
            </a:r>
            <a:endParaRPr lang="en-US" altLang="zh-CN" sz="2800" b="1" dirty="0"/>
          </a:p>
          <a:p>
            <a:pPr algn="ctr"/>
            <a:endParaRPr lang="en-US" altLang="zh-CN" sz="28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r="23777"/>
          <a:stretch>
            <a:fillRect/>
          </a:stretch>
        </p:blipFill>
        <p:spPr>
          <a:xfrm>
            <a:off x="103415" y="899579"/>
            <a:ext cx="4201886" cy="5242264"/>
          </a:xfrm>
          <a:prstGeom prst="rect">
            <a:avLst/>
          </a:prstGeom>
        </p:spPr>
      </p:pic>
      <p:sp>
        <p:nvSpPr>
          <p:cNvPr id="6" name="Rectangle: Rounded Corners 5"/>
          <p:cNvSpPr/>
          <p:nvPr/>
        </p:nvSpPr>
        <p:spPr>
          <a:xfrm>
            <a:off x="642257" y="4288971"/>
            <a:ext cx="1246414" cy="359229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: Rounded Corners 6"/>
          <p:cNvSpPr/>
          <p:nvPr/>
        </p:nvSpPr>
        <p:spPr>
          <a:xfrm>
            <a:off x="2324100" y="3848099"/>
            <a:ext cx="1246414" cy="359229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r="11382"/>
          <a:stretch>
            <a:fillRect/>
          </a:stretch>
        </p:blipFill>
        <p:spPr>
          <a:xfrm>
            <a:off x="4388266" y="899579"/>
            <a:ext cx="4450770" cy="5242264"/>
          </a:xfrm>
          <a:prstGeom prst="rect">
            <a:avLst/>
          </a:prstGeom>
        </p:spPr>
      </p:pic>
      <p:sp>
        <p:nvSpPr>
          <p:cNvPr id="10" name="Rectangle: Rounded Corners 9"/>
          <p:cNvSpPr/>
          <p:nvPr/>
        </p:nvSpPr>
        <p:spPr>
          <a:xfrm>
            <a:off x="4890409" y="4109356"/>
            <a:ext cx="1246414" cy="359229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: Rounded Corners 11"/>
          <p:cNvSpPr/>
          <p:nvPr/>
        </p:nvSpPr>
        <p:spPr>
          <a:xfrm>
            <a:off x="6389915" y="3215658"/>
            <a:ext cx="1246414" cy="359229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Vscode</a:t>
            </a:r>
            <a:r>
              <a:rPr lang="zh-CN" altLang="en-US" dirty="0"/>
              <a:t>自动</a:t>
            </a:r>
            <a:r>
              <a:rPr lang="en-US" altLang="zh-CN" dirty="0"/>
              <a:t>highlight</a:t>
            </a:r>
            <a:r>
              <a:rPr lang="zh-CN" altLang="en-US" dirty="0"/>
              <a:t>出错的部分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"/>
          <a:srcRect l="-52" t="138" r="15646" b="19746"/>
          <a:stretch>
            <a:fillRect/>
          </a:stretch>
        </p:blipFill>
        <p:spPr>
          <a:xfrm>
            <a:off x="4432" y="1549735"/>
            <a:ext cx="9139568" cy="47103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关于输入输出较长时的问题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953" y="1593965"/>
            <a:ext cx="8786094" cy="4710344"/>
          </a:xfrm>
        </p:spPr>
        <p:txBody>
          <a:bodyPr/>
          <a:lstStyle/>
          <a:p>
            <a:r>
              <a:rPr lang="zh-CN" altLang="en-US" b="1" dirty="0">
                <a:solidFill>
                  <a:schemeClr val="tx1"/>
                </a:solidFill>
              </a:rPr>
              <a:t>例子： </a:t>
            </a:r>
            <a:r>
              <a:rPr lang="en-US" altLang="zh-CN" b="1" dirty="0">
                <a:solidFill>
                  <a:schemeClr val="tx1"/>
                </a:solidFill>
              </a:rPr>
              <a:t>#1556. </a:t>
            </a:r>
            <a:r>
              <a:rPr lang="zh-CN" altLang="en-US" b="1" dirty="0">
                <a:solidFill>
                  <a:schemeClr val="tx1"/>
                </a:solidFill>
              </a:rPr>
              <a:t>小鱼记忆王</a:t>
            </a:r>
            <a:endParaRPr lang="en-US" altLang="zh-CN" b="1" dirty="0">
              <a:solidFill>
                <a:schemeClr val="tx1"/>
              </a:solidFill>
            </a:endParaRPr>
          </a:p>
          <a:p>
            <a:r>
              <a:rPr lang="zh-CN" altLang="en-US" b="1" dirty="0">
                <a:solidFill>
                  <a:schemeClr val="tx1"/>
                </a:solidFill>
              </a:rPr>
              <a:t>输入太长不容易复制到</a:t>
            </a:r>
            <a:r>
              <a:rPr lang="en-US" altLang="zh-CN" b="1" dirty="0" err="1">
                <a:solidFill>
                  <a:schemeClr val="tx1"/>
                </a:solidFill>
              </a:rPr>
              <a:t>vscode</a:t>
            </a:r>
            <a:r>
              <a:rPr lang="zh-CN" altLang="en-US" b="1" dirty="0">
                <a:solidFill>
                  <a:schemeClr val="tx1"/>
                </a:solidFill>
              </a:rPr>
              <a:t>中</a:t>
            </a:r>
            <a:endParaRPr lang="en-US" altLang="zh-CN" b="1" dirty="0">
              <a:solidFill>
                <a:schemeClr val="tx1"/>
              </a:solidFill>
            </a:endParaRPr>
          </a:p>
          <a:p>
            <a:r>
              <a:rPr lang="zh-CN" altLang="en-US" b="1" dirty="0">
                <a:solidFill>
                  <a:schemeClr val="tx1"/>
                </a:solidFill>
              </a:rPr>
              <a:t>输出太长在</a:t>
            </a:r>
            <a:r>
              <a:rPr lang="en-US" altLang="zh-CN" b="1" dirty="0" err="1">
                <a:solidFill>
                  <a:schemeClr val="tx1"/>
                </a:solidFill>
              </a:rPr>
              <a:t>vscode</a:t>
            </a:r>
            <a:r>
              <a:rPr lang="zh-CN" altLang="en-US" b="1" dirty="0">
                <a:solidFill>
                  <a:schemeClr val="tx1"/>
                </a:solidFill>
              </a:rPr>
              <a:t>中跑太久，难以保存到文件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8953" y="4284345"/>
            <a:ext cx="8681358" cy="224676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CN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&lt;stdio.h&gt;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//</a:t>
            </a:r>
            <a:r>
              <a:rPr lang="zh-CN" alt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本程序输入不从键盘，改为从</a:t>
            </a:r>
            <a:r>
              <a:rPr lang="en-US" altLang="zh-CN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"data10.in"</a:t>
            </a:r>
            <a:r>
              <a:rPr lang="zh-CN" alt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文件</a:t>
            </a:r>
            <a:endParaRPr lang="zh-CN" alt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freopen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"data10.in"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"r"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stdin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 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//</a:t>
            </a:r>
            <a:r>
              <a:rPr lang="zh-CN" alt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本程序输出结果不打印到终端，改为打印到</a:t>
            </a:r>
            <a:r>
              <a:rPr lang="en-US" altLang="zh-CN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"my10.out"</a:t>
            </a:r>
            <a:r>
              <a:rPr lang="zh-CN" alt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文件</a:t>
            </a:r>
            <a:endParaRPr lang="zh-CN" alt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freopen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"my10.out"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"w"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stdout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 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3312" y="3575281"/>
            <a:ext cx="48510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在</a:t>
            </a:r>
            <a:r>
              <a:rPr lang="en-US" altLang="zh-CN" sz="2800" dirty="0"/>
              <a:t>main</a:t>
            </a:r>
            <a:r>
              <a:rPr lang="zh-CN" altLang="en-US" sz="2800" dirty="0"/>
              <a:t>函数开头加入下列代码</a:t>
            </a:r>
            <a:endParaRPr lang="zh-CN" alt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课程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雅黑-Calibri">
      <a:majorFont>
        <a:latin typeface="Calibri"/>
        <a:ea typeface="微软雅黑"/>
        <a:cs typeface=""/>
      </a:majorFont>
      <a:minorFont>
        <a:latin typeface="Calibri Light"/>
        <a:ea typeface="微软雅黑 Light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754</Words>
  <Application>WPS 演示</Application>
  <PresentationFormat>On-screen Show (4:3)</PresentationFormat>
  <Paragraphs>68</Paragraphs>
  <Slides>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Arial</vt:lpstr>
      <vt:lpstr>宋体</vt:lpstr>
      <vt:lpstr>Wingdings</vt:lpstr>
      <vt:lpstr>Calibri</vt:lpstr>
      <vt:lpstr>Lato</vt:lpstr>
      <vt:lpstr>-apple-system</vt:lpstr>
      <vt:lpstr>Segoe Print</vt:lpstr>
      <vt:lpstr>Consolas</vt:lpstr>
      <vt:lpstr>微软雅黑</vt:lpstr>
      <vt:lpstr>Calibri Light</vt:lpstr>
      <vt:lpstr>微软雅黑 Light</vt:lpstr>
      <vt:lpstr>Arial Unicode MS</vt:lpstr>
      <vt:lpstr>等线</vt:lpstr>
      <vt:lpstr>课程PPT模板</vt:lpstr>
      <vt:lpstr>关于输入输出较长时的问题1</vt:lpstr>
      <vt:lpstr>关于输入输出较长时的问题2</vt:lpstr>
      <vt:lpstr>关于输入输出较长时的问题2</vt:lpstr>
      <vt:lpstr>关于输入输出较长时的问题2</vt:lpstr>
      <vt:lpstr>PowerPoint 演示文稿</vt:lpstr>
      <vt:lpstr>Vscode自动highlight出错的部分</vt:lpstr>
      <vt:lpstr>关于输入输出较长时的问题3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程序设计 I</dc:title>
  <dc:creator>sun hui</dc:creator>
  <cp:lastModifiedBy>Yi.</cp:lastModifiedBy>
  <cp:revision>993</cp:revision>
  <dcterms:created xsi:type="dcterms:W3CDTF">2020-10-14T02:47:00Z</dcterms:created>
  <dcterms:modified xsi:type="dcterms:W3CDTF">2025-10-14T13:20:06Z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3EAC8D7704C64492945A5C7AE2CFA84F</vt:lpwstr>
  </property>
  <property fmtid="{D5CDD505-2E9C-101B-9397-08002B2CF9AE}" pid="3" name="KSOProductBuildVer">
    <vt:lpwstr>2052-11.1.0.12173</vt:lpwstr>
  </property>
</Properties>
</file>