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231" r:id="rId3"/>
    <p:sldId id="862" r:id="rId5"/>
    <p:sldId id="863" r:id="rId6"/>
    <p:sldId id="1236" r:id="rId7"/>
    <p:sldId id="864" r:id="rId8"/>
    <p:sldId id="868" r:id="rId9"/>
    <p:sldId id="1232" r:id="rId10"/>
    <p:sldId id="739" r:id="rId11"/>
    <p:sldId id="1238" r:id="rId12"/>
    <p:sldId id="866" r:id="rId13"/>
    <p:sldId id="867" r:id="rId14"/>
    <p:sldId id="1239" r:id="rId15"/>
    <p:sldId id="1243" r:id="rId16"/>
    <p:sldId id="876" r:id="rId17"/>
    <p:sldId id="869" r:id="rId18"/>
    <p:sldId id="738" r:id="rId19"/>
    <p:sldId id="1244" r:id="rId20"/>
    <p:sldId id="879" r:id="rId21"/>
    <p:sldId id="1235" r:id="rId22"/>
    <p:sldId id="898" r:id="rId23"/>
    <p:sldId id="745" r:id="rId24"/>
    <p:sldId id="749" r:id="rId25"/>
    <p:sldId id="897" r:id="rId26"/>
    <p:sldId id="1249" r:id="rId27"/>
    <p:sldId id="1237" r:id="rId28"/>
    <p:sldId id="1246" r:id="rId29"/>
    <p:sldId id="1247" r:id="rId30"/>
    <p:sldId id="1248" r:id="rId31"/>
    <p:sldId id="1250" r:id="rId32"/>
    <p:sldId id="1251" r:id="rId33"/>
    <p:sldId id="1252" r:id="rId34"/>
    <p:sldId id="754" r:id="rId35"/>
    <p:sldId id="758" r:id="rId36"/>
    <p:sldId id="759" r:id="rId37"/>
    <p:sldId id="1253" r:id="rId38"/>
    <p:sldId id="882" r:id="rId39"/>
    <p:sldId id="601" r:id="rId40"/>
    <p:sldId id="602" r:id="rId41"/>
    <p:sldId id="603" r:id="rId42"/>
    <p:sldId id="1245" r:id="rId43"/>
    <p:sldId id="877" r:id="rId44"/>
    <p:sldId id="746" r:id="rId45"/>
    <p:sldId id="750" r:id="rId46"/>
    <p:sldId id="751" r:id="rId47"/>
    <p:sldId id="755" r:id="rId48"/>
    <p:sldId id="756" r:id="rId49"/>
    <p:sldId id="1233" r:id="rId50"/>
    <p:sldId id="1234" r:id="rId51"/>
  </p:sldIdLst>
  <p:sldSz cx="9144000" cy="6858000" type="screen4x3"/>
  <p:notesSz cx="6858000" cy="9144000"/>
  <p:custDataLst>
    <p:tags r:id="rId5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19" autoAdjust="0"/>
    <p:restoredTop sz="82156" autoAdjust="0"/>
  </p:normalViewPr>
  <p:slideViewPr>
    <p:cSldViewPr snapToGrid="0" showGuides="1">
      <p:cViewPr varScale="1">
        <p:scale>
          <a:sx n="71" d="100"/>
          <a:sy n="71" d="100"/>
        </p:scale>
        <p:origin x="1670" y="2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gs" Target="tags/tag8.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6F8E1-D84A-44BD-AFC6-9B54380022BF}" type="datetimeFigureOut">
              <a:rPr lang="en-US" smtClean="0"/>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B8F7-AA39-458F-B195-A32598CB259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课堂练习：</a:t>
            </a:r>
            <a:r>
              <a:rPr lang="en-US" altLang="zh-CN" b="1" i="0" dirty="0">
                <a:effectLst/>
                <a:latin typeface="Lato" panose="020F0502020204030203" pitchFamily="34" charset="0"/>
              </a:rPr>
              <a:t>#228. </a:t>
            </a:r>
            <a:r>
              <a:rPr lang="zh-CN" altLang="en-US" b="1" i="0" dirty="0">
                <a:effectLst/>
                <a:latin typeface="Lato" panose="020F0502020204030203" pitchFamily="34" charset="0"/>
              </a:rPr>
              <a:t>图书管理系统</a:t>
            </a:r>
            <a:r>
              <a:rPr lang="en-US" altLang="zh-CN" b="1" i="0" dirty="0">
                <a:effectLst/>
                <a:latin typeface="Lato" panose="020F0502020204030203" pitchFamily="34" charset="0"/>
              </a:rPr>
              <a:t>—</a:t>
            </a:r>
            <a:r>
              <a:rPr lang="zh-CN" altLang="en-US" b="1" i="0" dirty="0">
                <a:effectLst/>
                <a:latin typeface="Lato" panose="020F0502020204030203" pitchFamily="34" charset="0"/>
              </a:rPr>
              <a:t>数据读入</a:t>
            </a:r>
            <a:endParaRPr lang="zh-CN" altLang="en-US" b="1" i="0" dirty="0">
              <a:effectLst/>
              <a:latin typeface="Lato" panose="020F0502020204030203" pitchFamily="34" charset="0"/>
            </a:endParaRPr>
          </a:p>
          <a:p>
            <a:endParaRPr lang="zh-CN" altLang="en-US" dirty="0"/>
          </a:p>
        </p:txBody>
      </p:sp>
      <p:sp>
        <p:nvSpPr>
          <p:cNvPr id="4" name="Slide Number Placeholder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C658F5A-008E-4264-AE19-8775C340F27F}" type="slidenum">
              <a:rPr lang="en-US" altLang="zh-CN"/>
            </a:fld>
            <a:endParaRPr lang="en-US" altLang="zh-CN"/>
          </a:p>
        </p:txBody>
      </p:sp>
      <p:sp>
        <p:nvSpPr>
          <p:cNvPr id="1329154" name="Rectangle 2"/>
          <p:cNvSpPr>
            <a:spLocks noGrp="1" noRot="1" noChangeAspect="1" noChangeArrowheads="1" noTextEdit="1"/>
          </p:cNvSpPr>
          <p:nvPr>
            <p:ph type="sldImg"/>
          </p:nvPr>
        </p:nvSpPr>
        <p:spPr/>
      </p:sp>
      <p:sp>
        <p:nvSpPr>
          <p:cNvPr id="1329155" name="Rectangle 3"/>
          <p:cNvSpPr>
            <a:spLocks noGrp="1" noChangeArrowheads="1"/>
          </p:cNvSpPr>
          <p:nvPr>
            <p:ph type="body" idx="1"/>
          </p:nvPr>
        </p:nvSpPr>
        <p:spPr/>
        <p:txBody>
          <a:bodyPr/>
          <a:lstStyle/>
          <a:p>
            <a:r>
              <a:rPr lang="zh-CN" altLang="en-US" dirty="0"/>
              <a:t>内存：断电即失，有大小限制（排序）</a:t>
            </a:r>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先回顾</a:t>
            </a:r>
            <a:r>
              <a:rPr lang="en-US" altLang="zh-CN" dirty="0" err="1"/>
              <a:t>printf</a:t>
            </a:r>
            <a:r>
              <a:rPr lang="en-US" altLang="zh-CN" dirty="0"/>
              <a:t>/</a:t>
            </a:r>
            <a:r>
              <a:rPr lang="en-US" altLang="zh-CN" dirty="0" err="1"/>
              <a:t>scanf</a:t>
            </a:r>
            <a:r>
              <a:rPr lang="en-US" altLang="zh-CN" dirty="0"/>
              <a:t>, puts/</a:t>
            </a:r>
            <a:r>
              <a:rPr lang="en-US" altLang="zh-CN" dirty="0" err="1"/>
              <a:t>putc</a:t>
            </a:r>
            <a:r>
              <a:rPr lang="en-US" altLang="zh-CN" dirty="0"/>
              <a:t>, gets/</a:t>
            </a:r>
            <a:r>
              <a:rPr lang="en-US" altLang="zh-CN" dirty="0" err="1"/>
              <a:t>getc</a:t>
            </a:r>
            <a:endParaRPr lang="en-US" altLang="zh-CN" dirty="0"/>
          </a:p>
          <a:p>
            <a:endParaRPr lang="en-US" altLang="zh-CN" dirty="0"/>
          </a:p>
          <a:p>
            <a:r>
              <a:rPr lang="zh-CN" altLang="en-US" dirty="0"/>
              <a:t>会多出来</a:t>
            </a:r>
            <a:r>
              <a:rPr lang="en-US" altLang="zh-CN"/>
              <a:t>read/write</a:t>
            </a:r>
            <a:endParaRPr lang="zh-CN" altLang="en-US"/>
          </a:p>
        </p:txBody>
      </p:sp>
      <p:sp>
        <p:nvSpPr>
          <p:cNvPr id="4" name="Slide Number Placeholder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6CFB011-BCFA-43CA-B444-FED2872A8187}" type="slidenum">
              <a:rPr lang="en-US" altLang="zh-CN"/>
            </a:fld>
            <a:endParaRPr lang="en-US" altLang="zh-CN"/>
          </a:p>
        </p:txBody>
      </p:sp>
      <p:sp>
        <p:nvSpPr>
          <p:cNvPr id="1331202" name="Rectangle 2"/>
          <p:cNvSpPr>
            <a:spLocks noGrp="1" noRot="1" noChangeAspect="1" noChangeArrowheads="1" noTextEdit="1"/>
          </p:cNvSpPr>
          <p:nvPr>
            <p:ph type="sldImg"/>
          </p:nvPr>
        </p:nvSpPr>
        <p:spPr/>
      </p:sp>
      <p:sp>
        <p:nvSpPr>
          <p:cNvPr id="13312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C6E53F1A-95D6-4A42-BAC1-3DB1AE69A381}" type="slidenum">
              <a:rPr lang="en-US" altLang="zh-CN"/>
            </a:fld>
            <a:endParaRPr lang="en-US" altLang="zh-CN"/>
          </a:p>
        </p:txBody>
      </p:sp>
      <p:sp>
        <p:nvSpPr>
          <p:cNvPr id="1339394" name="Rectangle 2"/>
          <p:cNvSpPr>
            <a:spLocks noGrp="1" noRot="1" noChangeAspect="1" noChangeArrowheads="1" noTextEdit="1"/>
          </p:cNvSpPr>
          <p:nvPr>
            <p:ph type="sldImg"/>
          </p:nvPr>
        </p:nvSpPr>
        <p:spPr/>
      </p:sp>
      <p:sp>
        <p:nvSpPr>
          <p:cNvPr id="1339395" name="Rectangle 3"/>
          <p:cNvSpPr>
            <a:spLocks noGrp="1" noChangeArrowheads="1"/>
          </p:cNvSpPr>
          <p:nvPr>
            <p:ph type="body" idx="1"/>
          </p:nvPr>
        </p:nvSpPr>
        <p:spPr/>
        <p:txBody>
          <a:bodyPr/>
          <a:lstStyle/>
          <a:p>
            <a:r>
              <a:rPr lang="zh-CN" altLang="en-US" dirty="0"/>
              <a:t>类似旅游等一个大巴车满了就发车</a:t>
            </a:r>
            <a:endParaRPr lang="en-US" altLang="zh-CN" dirty="0"/>
          </a:p>
          <a:p>
            <a:endParaRPr lang="en-US" altLang="zh-CN" dirty="0"/>
          </a:p>
          <a:p>
            <a:r>
              <a:rPr lang="en-US" altLang="zh-CN" dirty="0"/>
              <a:t>C</a:t>
            </a:r>
            <a:r>
              <a:rPr lang="zh-CN" altLang="en-US" dirty="0"/>
              <a:t>标准采用缓冲文件系统处理来数据文件，系统自动在内存区为程序中每一个正在使用的文件开辟一个文件缓冲区， 其大小由编译系统确定。</a:t>
            </a:r>
            <a:endParaRPr lang="zh-CN" altLang="en-US" dirty="0"/>
          </a:p>
          <a:p>
            <a:r>
              <a:rPr lang="zh-CN" altLang="en-US" dirty="0"/>
              <a:t>在向文件输出数据时，它就作为输出缓冲区</a:t>
            </a:r>
            <a:endParaRPr lang="zh-CN" altLang="en-US" dirty="0"/>
          </a:p>
          <a:p>
            <a:r>
              <a:rPr lang="zh-CN" altLang="en-US" dirty="0"/>
              <a:t>在从文件输入数据时，它就作为输入缓冲区</a:t>
            </a:r>
            <a:endParaRPr lang="zh-CN" altLang="en-US" dirty="0"/>
          </a:p>
          <a:p>
            <a:endParaRPr lang="en-US" altLang="zh-CN" dirty="0"/>
          </a:p>
          <a:p>
            <a:r>
              <a:rPr lang="zh-CN" altLang="en-US" dirty="0"/>
              <a:t>文件缓冲区目的是节省存取时间、提高效率</a:t>
            </a:r>
            <a:endParaRPr lang="zh-CN" altLang="en-US" dirty="0"/>
          </a:p>
          <a:p>
            <a:r>
              <a:rPr lang="zh-CN" altLang="en-US" dirty="0"/>
              <a:t>从内存向磁盘导出数据：必须先送到内存中的缓冲区，装满缓冲区后才一起送到磁盘去</a:t>
            </a:r>
            <a:endParaRPr lang="zh-CN" altLang="en-US" dirty="0"/>
          </a:p>
          <a:p>
            <a:r>
              <a:rPr lang="zh-CN" altLang="en-US" dirty="0"/>
              <a:t>从磁盘向内存导入数据：一次从磁盘文件将一批数据填充满内存缓冲区，然后再从缓冲区逐个地将数据送到程序数据区给程序变量</a:t>
            </a:r>
            <a:endParaRPr lang="zh-CN" altLang="en-US" dirty="0"/>
          </a:p>
          <a:p>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虽然</a:t>
            </a:r>
            <a:r>
              <a:rPr lang="en-US" altLang="zh-CN" dirty="0" err="1"/>
              <a:t>fwrite</a:t>
            </a:r>
            <a:r>
              <a:rPr lang="zh-CN" altLang="en-US" dirty="0"/>
              <a:t>了，但是这个只是写到缓冲区，如果没有</a:t>
            </a:r>
            <a:r>
              <a:rPr lang="en-US" altLang="zh-CN" dirty="0" err="1"/>
              <a:t>fclose</a:t>
            </a:r>
            <a:r>
              <a:rPr lang="zh-CN" altLang="en-US" dirty="0"/>
              <a:t>可能文件里面少了一些内容</a:t>
            </a:r>
            <a:endParaRPr lang="en-US" altLang="zh-CN" dirty="0"/>
          </a:p>
          <a:p>
            <a:r>
              <a:rPr lang="en-US" altLang="zh-CN" dirty="0"/>
              <a:t>Filename</a:t>
            </a:r>
            <a:r>
              <a:rPr lang="zh-CN" altLang="en-US" dirty="0"/>
              <a:t>：不然是包括目录结构的完整路径，不然是当前目录下。</a:t>
            </a:r>
            <a:r>
              <a:rPr lang="en-US" altLang="zh-CN" dirty="0"/>
              <a:t>”D:\\Test\\a.txt”</a:t>
            </a:r>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在字符串里面</a:t>
            </a:r>
            <a:r>
              <a:rPr lang="en-US" altLang="zh-CN" dirty="0"/>
              <a:t>\</a:t>
            </a:r>
            <a:r>
              <a:rPr lang="zh-CN" altLang="en-US" dirty="0"/>
              <a:t>要写成</a:t>
            </a:r>
            <a:r>
              <a:rPr lang="en-US" altLang="zh-CN" dirty="0"/>
              <a:t>\\</a:t>
            </a:r>
            <a:r>
              <a:rPr lang="zh-CN" altLang="en-US" dirty="0"/>
              <a:t>（转移字符）</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文件名主干的命名规则遵循标识符的命名规则</a:t>
            </a:r>
            <a:endParaRPr lang="en-US" altLang="zh-CN" dirty="0"/>
          </a:p>
          <a:p>
            <a:endParaRPr lang="en-US" altLang="zh-CN" dirty="0"/>
          </a:p>
          <a:p>
            <a:endParaRPr lang="en-US" altLang="zh-CN" dirty="0"/>
          </a:p>
          <a:p>
            <a:r>
              <a:rPr lang="zh-CN" altLang="en-US" dirty="0"/>
              <a:t>在程序设计中，主要用到两类文件</a:t>
            </a:r>
            <a:endParaRPr lang="en-US" altLang="zh-CN" dirty="0"/>
          </a:p>
          <a:p>
            <a:pPr lvl="1"/>
            <a:r>
              <a:rPr lang="zh-CN" altLang="en-US" dirty="0"/>
              <a:t>程序文件：包括源程序文件</a:t>
            </a:r>
            <a:r>
              <a:rPr lang="en-US" altLang="zh-CN" dirty="0"/>
              <a:t>(</a:t>
            </a:r>
            <a:r>
              <a:rPr lang="zh-CN" altLang="en-US" dirty="0"/>
              <a:t>后缀为</a:t>
            </a:r>
            <a:r>
              <a:rPr lang="en-US" altLang="zh-CN" dirty="0"/>
              <a:t>.c/.</a:t>
            </a:r>
            <a:r>
              <a:rPr lang="en-US" altLang="zh-CN" dirty="0" err="1"/>
              <a:t>cpp</a:t>
            </a:r>
            <a:r>
              <a:rPr lang="en-US" altLang="zh-CN" dirty="0"/>
              <a:t>)</a:t>
            </a:r>
            <a:r>
              <a:rPr lang="zh-CN" altLang="en-US" dirty="0"/>
              <a:t>、目标文件</a:t>
            </a:r>
            <a:r>
              <a:rPr lang="en-US" altLang="zh-CN" dirty="0"/>
              <a:t>(</a:t>
            </a:r>
            <a:r>
              <a:rPr lang="zh-CN" altLang="en-US" dirty="0"/>
              <a:t>后缀为</a:t>
            </a:r>
            <a:r>
              <a:rPr lang="en-US" altLang="zh-CN" b="1" dirty="0">
                <a:solidFill>
                  <a:srgbClr val="0070C0"/>
                </a:solidFill>
              </a:rPr>
              <a:t>.obj</a:t>
            </a:r>
            <a:r>
              <a:rPr lang="zh-CN" altLang="en-US" dirty="0"/>
              <a:t>或</a:t>
            </a:r>
            <a:r>
              <a:rPr lang="en-US" altLang="zh-CN" b="1" dirty="0">
                <a:solidFill>
                  <a:srgbClr val="E84C22"/>
                </a:solidFill>
                <a:latin typeface="+mn-ea"/>
              </a:rPr>
              <a:t>.o</a:t>
            </a:r>
            <a:r>
              <a:rPr lang="en-US" altLang="zh-CN" dirty="0"/>
              <a:t>)</a:t>
            </a:r>
            <a:r>
              <a:rPr lang="zh-CN" altLang="en-US" dirty="0"/>
              <a:t>、静态链接库（后缀为</a:t>
            </a:r>
            <a:r>
              <a:rPr lang="en-US" altLang="zh-CN" b="1" dirty="0">
                <a:solidFill>
                  <a:srgbClr val="0070C0"/>
                </a:solidFill>
              </a:rPr>
              <a:t>.lib</a:t>
            </a:r>
            <a:r>
              <a:rPr lang="zh-CN" altLang="en-US" dirty="0"/>
              <a:t>或</a:t>
            </a:r>
            <a:r>
              <a:rPr lang="en-US" altLang="zh-CN" b="1" dirty="0">
                <a:solidFill>
                  <a:srgbClr val="E84C22"/>
                </a:solidFill>
                <a:latin typeface="+mn-ea"/>
              </a:rPr>
              <a:t>.a</a:t>
            </a:r>
            <a:r>
              <a:rPr lang="zh-CN" altLang="en-US" dirty="0"/>
              <a:t>）、动态链接库（后缀为</a:t>
            </a:r>
            <a:r>
              <a:rPr lang="en-US" altLang="zh-CN" b="1" dirty="0">
                <a:solidFill>
                  <a:srgbClr val="0070C0"/>
                </a:solidFill>
              </a:rPr>
              <a:t>.</a:t>
            </a:r>
            <a:r>
              <a:rPr lang="en-US" altLang="zh-CN" b="1" dirty="0" err="1">
                <a:solidFill>
                  <a:srgbClr val="0070C0"/>
                </a:solidFill>
              </a:rPr>
              <a:t>dll</a:t>
            </a:r>
            <a:r>
              <a:rPr lang="zh-CN" altLang="en-US" dirty="0"/>
              <a:t>或</a:t>
            </a:r>
            <a:r>
              <a:rPr lang="en-US" altLang="zh-CN" b="1" dirty="0">
                <a:solidFill>
                  <a:srgbClr val="E84C22"/>
                </a:solidFill>
                <a:latin typeface="+mn-ea"/>
              </a:rPr>
              <a:t>.so</a:t>
            </a:r>
            <a:r>
              <a:rPr lang="zh-CN" altLang="en-US" dirty="0"/>
              <a:t>）、可执行文件</a:t>
            </a:r>
            <a:r>
              <a:rPr lang="en-US" altLang="zh-CN" dirty="0"/>
              <a:t>(</a:t>
            </a:r>
            <a:r>
              <a:rPr lang="zh-CN" altLang="en-US" dirty="0"/>
              <a:t>后缀为</a:t>
            </a:r>
            <a:r>
              <a:rPr lang="en-US" altLang="zh-CN" b="1" dirty="0">
                <a:solidFill>
                  <a:srgbClr val="0070C0"/>
                </a:solidFill>
              </a:rPr>
              <a:t>.exe</a:t>
            </a:r>
            <a:r>
              <a:rPr lang="zh-CN" altLang="en-US" dirty="0"/>
              <a:t>或</a:t>
            </a:r>
            <a:r>
              <a:rPr lang="zh-CN" altLang="en-US" b="1" dirty="0">
                <a:solidFill>
                  <a:srgbClr val="E84C22"/>
                </a:solidFill>
                <a:latin typeface="+mn-ea"/>
              </a:rPr>
              <a:t>无后缀</a:t>
            </a:r>
            <a:r>
              <a:rPr lang="en-US" altLang="zh-CN" dirty="0"/>
              <a:t>)</a:t>
            </a:r>
            <a:r>
              <a:rPr lang="zh-CN" altLang="en-US" dirty="0"/>
              <a:t>。这种文件的内容是程序代码。</a:t>
            </a:r>
            <a:endParaRPr lang="zh-CN" altLang="en-US" dirty="0"/>
          </a:p>
          <a:p>
            <a:pPr lvl="1"/>
            <a:r>
              <a:rPr lang="zh-CN" altLang="en-US" dirty="0"/>
              <a:t>数据文件：文件的内容不是程序，而是供程序运行时读写的数据，如在程序运行过程中输出到磁盘</a:t>
            </a:r>
            <a:r>
              <a:rPr lang="en-US" altLang="zh-CN" dirty="0"/>
              <a:t>(</a:t>
            </a:r>
            <a:r>
              <a:rPr lang="zh-CN" altLang="en-US" dirty="0"/>
              <a:t>或其他外部设备</a:t>
            </a:r>
            <a:r>
              <a:rPr lang="en-US" altLang="zh-CN" dirty="0"/>
              <a:t>)</a:t>
            </a:r>
            <a:r>
              <a:rPr lang="zh-CN" altLang="en-US" dirty="0"/>
              <a:t>的数据，或在程序运行过程中供读入的数据。如一批学生的成绩数据、货物交易的数据等</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B27E1A52-D98A-4223-8DA2-78DC357798A3}" type="slidenum">
              <a:rPr lang="en-US" altLang="zh-CN"/>
            </a:fld>
            <a:endParaRPr lang="en-US" altLang="zh-CN"/>
          </a:p>
        </p:txBody>
      </p:sp>
      <p:sp>
        <p:nvSpPr>
          <p:cNvPr id="1343490" name="Rectangle 2"/>
          <p:cNvSpPr>
            <a:spLocks noGrp="1" noRot="1" noChangeAspect="1" noChangeArrowheads="1" noTextEdit="1"/>
          </p:cNvSpPr>
          <p:nvPr>
            <p:ph type="sldImg"/>
          </p:nvPr>
        </p:nvSpPr>
        <p:spPr/>
      </p:sp>
      <p:sp>
        <p:nvSpPr>
          <p:cNvPr id="134349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有</a:t>
            </a:r>
            <a:r>
              <a:rPr lang="en-US" altLang="zh-CN" sz="1200" dirty="0"/>
              <a:t>12</a:t>
            </a:r>
            <a:r>
              <a:rPr lang="zh-CN" altLang="en-US" sz="1200" dirty="0"/>
              <a:t>种文件使用方式，其中有</a:t>
            </a:r>
            <a:r>
              <a:rPr lang="en-US" altLang="zh-CN" sz="1200" dirty="0"/>
              <a:t>6</a:t>
            </a:r>
            <a:r>
              <a:rPr lang="zh-CN" altLang="en-US" sz="1200" dirty="0"/>
              <a:t>种是在第一个字母后面加了字母</a:t>
            </a:r>
            <a:r>
              <a:rPr lang="en-US" altLang="zh-CN" sz="1200" dirty="0"/>
              <a:t>b</a:t>
            </a:r>
            <a:r>
              <a:rPr lang="zh-CN" altLang="en-US" sz="1200" dirty="0"/>
              <a:t>的，表示二进制方式打开。没加</a:t>
            </a:r>
            <a:r>
              <a:rPr lang="en-US" altLang="zh-CN" sz="1200" dirty="0"/>
              <a:t>b</a:t>
            </a:r>
            <a:r>
              <a:rPr lang="zh-CN" altLang="en-US" sz="1200" dirty="0"/>
              <a:t>，原样读写数据；有加</a:t>
            </a:r>
            <a:r>
              <a:rPr lang="en-US" altLang="zh-CN" sz="1200" dirty="0"/>
              <a:t>b</a:t>
            </a:r>
            <a:r>
              <a:rPr lang="zh-CN" altLang="en-US" sz="1200" dirty="0"/>
              <a:t>，写入时</a:t>
            </a:r>
            <a:r>
              <a:rPr lang="en-US" altLang="zh-CN" sz="1200" dirty="0"/>
              <a:t>\n</a:t>
            </a:r>
            <a:r>
              <a:rPr lang="zh-CN" altLang="en-US" sz="1200" dirty="0"/>
              <a:t>转换为</a:t>
            </a:r>
            <a:r>
              <a:rPr lang="en-US" altLang="zh-CN" sz="1200" dirty="0"/>
              <a:t>\r\n</a:t>
            </a:r>
            <a:r>
              <a:rPr lang="zh-CN" altLang="en-US" sz="1200" dirty="0"/>
              <a:t>；读取时</a:t>
            </a:r>
            <a:r>
              <a:rPr lang="en-US" altLang="zh-CN" sz="1200" dirty="0"/>
              <a:t>\r\n</a:t>
            </a:r>
            <a:r>
              <a:rPr lang="zh-CN" altLang="en-US" sz="1200" dirty="0"/>
              <a:t>转换为</a:t>
            </a:r>
            <a:r>
              <a:rPr lang="en-US" altLang="zh-CN" sz="1200" dirty="0"/>
              <a:t>\n</a:t>
            </a:r>
            <a:endParaRPr lang="en-US" altLang="zh-CN" sz="1200" dirty="0"/>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有</a:t>
            </a:r>
            <a:r>
              <a:rPr lang="en-US" altLang="zh-CN" sz="1200" b="0" i="0" kern="1200" dirty="0">
                <a:solidFill>
                  <a:schemeClr val="tx1"/>
                </a:solidFill>
                <a:effectLst/>
                <a:latin typeface="+mn-lt"/>
                <a:ea typeface="+mn-ea"/>
                <a:cs typeface="+mn-cs"/>
              </a:rPr>
              <a:t>b: </a:t>
            </a:r>
            <a:r>
              <a:rPr lang="en-US" altLang="zh-CN" sz="1200" b="0" i="0" kern="1200" dirty="0" err="1">
                <a:solidFill>
                  <a:schemeClr val="tx1"/>
                </a:solidFill>
                <a:effectLst/>
                <a:latin typeface="+mn-lt"/>
                <a:ea typeface="+mn-ea"/>
                <a:cs typeface="+mn-cs"/>
              </a:rPr>
              <a:t>fwrite</a:t>
            </a:r>
            <a:r>
              <a:rPr lang="zh-CN" altLang="en-US" sz="1200" b="0" i="0" kern="1200" dirty="0">
                <a:solidFill>
                  <a:schemeClr val="tx1"/>
                </a:solidFill>
                <a:effectLst/>
                <a:latin typeface="+mn-lt"/>
                <a:ea typeface="+mn-ea"/>
                <a:cs typeface="+mn-cs"/>
              </a:rPr>
              <a:t>写入时</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原原本本的写入数据</a:t>
            </a:r>
            <a:r>
              <a:rPr lang="en-US" altLang="zh-CN" sz="1200" b="0" i="0" kern="1200" dirty="0">
                <a:solidFill>
                  <a:schemeClr val="tx1"/>
                </a:solidFill>
                <a:effectLst/>
                <a:latin typeface="+mn-lt"/>
                <a:ea typeface="+mn-ea"/>
                <a:cs typeface="+mn-cs"/>
              </a:rPr>
              <a:t>.</a:t>
            </a:r>
            <a:br>
              <a:rPr lang="zh-CN" altLang="en-US" dirty="0"/>
            </a:br>
            <a:r>
              <a:rPr lang="zh-CN" altLang="en-US" sz="1200" b="0" i="0" kern="1200" dirty="0">
                <a:solidFill>
                  <a:schemeClr val="tx1"/>
                </a:solidFill>
                <a:effectLst/>
                <a:latin typeface="+mn-lt"/>
                <a:ea typeface="+mn-ea"/>
                <a:cs typeface="+mn-cs"/>
              </a:rPr>
              <a:t>没</a:t>
            </a:r>
            <a:r>
              <a:rPr lang="en-US" altLang="zh-CN" sz="1200" b="0" i="0" kern="1200" dirty="0">
                <a:solidFill>
                  <a:schemeClr val="tx1"/>
                </a:solidFill>
                <a:effectLst/>
                <a:latin typeface="+mn-lt"/>
                <a:ea typeface="+mn-ea"/>
                <a:cs typeface="+mn-cs"/>
              </a:rPr>
              <a:t>b: </a:t>
            </a:r>
            <a:r>
              <a:rPr lang="en-US" altLang="zh-CN" sz="1200" b="0" i="0" kern="1200" dirty="0" err="1">
                <a:solidFill>
                  <a:schemeClr val="tx1"/>
                </a:solidFill>
                <a:effectLst/>
                <a:latin typeface="+mn-lt"/>
                <a:ea typeface="+mn-ea"/>
                <a:cs typeface="+mn-cs"/>
              </a:rPr>
              <a:t>fwrite</a:t>
            </a:r>
            <a:r>
              <a:rPr lang="zh-CN" altLang="en-US" sz="1200" b="0" i="0" kern="1200" dirty="0">
                <a:solidFill>
                  <a:schemeClr val="tx1"/>
                </a:solidFill>
                <a:effectLst/>
                <a:latin typeface="+mn-lt"/>
                <a:ea typeface="+mn-ea"/>
                <a:cs typeface="+mn-cs"/>
              </a:rPr>
              <a:t>写入时</a:t>
            </a:r>
            <a:r>
              <a:rPr lang="en-US" altLang="zh-CN" sz="1200" b="0" i="0" kern="1200" dirty="0">
                <a:solidFill>
                  <a:schemeClr val="tx1"/>
                </a:solidFill>
                <a:effectLst/>
                <a:latin typeface="+mn-lt"/>
                <a:ea typeface="+mn-ea"/>
                <a:cs typeface="+mn-cs"/>
              </a:rPr>
              <a:t>, \n</a:t>
            </a:r>
            <a:r>
              <a:rPr lang="zh-CN" altLang="en-US" sz="1200" b="0" i="0" kern="1200" dirty="0">
                <a:solidFill>
                  <a:schemeClr val="tx1"/>
                </a:solidFill>
                <a:effectLst/>
                <a:latin typeface="+mn-lt"/>
                <a:ea typeface="+mn-ea"/>
                <a:cs typeface="+mn-cs"/>
              </a:rPr>
              <a:t>会转成</a:t>
            </a:r>
            <a:r>
              <a:rPr lang="en-US" altLang="zh-CN" sz="1200" b="0" i="0" kern="1200" dirty="0">
                <a:solidFill>
                  <a:schemeClr val="tx1"/>
                </a:solidFill>
                <a:effectLst/>
                <a:latin typeface="+mn-lt"/>
                <a:ea typeface="+mn-ea"/>
                <a:cs typeface="+mn-cs"/>
              </a:rPr>
              <a:t>\r\n</a:t>
            </a:r>
            <a:r>
              <a:rPr lang="zh-CN" altLang="en-US" sz="1200" b="0" i="0" kern="1200" dirty="0">
                <a:solidFill>
                  <a:schemeClr val="tx1"/>
                </a:solidFill>
                <a:effectLst/>
                <a:latin typeface="+mn-lt"/>
                <a:ea typeface="+mn-ea"/>
                <a:cs typeface="+mn-cs"/>
              </a:rPr>
              <a:t>写入数据</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既可以读又可以写，打开方式不同</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Windows</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\r\n</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Linux \n</a:t>
            </a:r>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CAC088D-34E0-4167-8073-87F1C4E80913}" type="slidenum">
              <a:rPr lang="en-US" altLang="zh-CN"/>
            </a:fld>
            <a:endParaRPr lang="en-US" altLang="zh-CN"/>
          </a:p>
        </p:txBody>
      </p:sp>
      <p:sp>
        <p:nvSpPr>
          <p:cNvPr id="1335298" name="Rectangle 2"/>
          <p:cNvSpPr>
            <a:spLocks noGrp="1" noRot="1" noChangeAspect="1" noChangeArrowheads="1" noTextEdit="1"/>
          </p:cNvSpPr>
          <p:nvPr>
            <p:ph type="sldImg"/>
          </p:nvPr>
        </p:nvSpPr>
        <p:spPr/>
      </p:sp>
      <p:sp>
        <p:nvSpPr>
          <p:cNvPr id="1335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A441CFBF-57DF-4CDC-9B57-ED0FAF6174E6}" type="slidenum">
              <a:rPr lang="en-US" altLang="zh-CN"/>
            </a:fld>
            <a:endParaRPr lang="en-US" altLang="zh-CN"/>
          </a:p>
        </p:txBody>
      </p:sp>
      <p:sp>
        <p:nvSpPr>
          <p:cNvPr id="1337346" name="Rectangle 2"/>
          <p:cNvSpPr>
            <a:spLocks noGrp="1" noRot="1" noChangeAspect="1" noChangeArrowheads="1" noTextEdit="1"/>
          </p:cNvSpPr>
          <p:nvPr>
            <p:ph type="sldImg"/>
          </p:nvPr>
        </p:nvSpPr>
        <p:spPr/>
      </p:sp>
      <p:sp>
        <p:nvSpPr>
          <p:cNvPr id="1337347" name="Rectangle 3"/>
          <p:cNvSpPr>
            <a:spLocks noGrp="1" noChangeArrowheads="1"/>
          </p:cNvSpPr>
          <p:nvPr>
            <p:ph type="body" idx="1"/>
          </p:nvPr>
        </p:nvSpPr>
        <p:spPr/>
        <p:txBody>
          <a:bodyPr/>
          <a:lstStyle/>
          <a:p>
            <a:r>
              <a:rPr lang="en-US" altLang="zh-CN" dirty="0"/>
              <a:t>12345</a:t>
            </a:r>
            <a:r>
              <a:rPr lang="zh-CN" altLang="en-US" dirty="0"/>
              <a:t>这个数呢？编码方式要对</a:t>
            </a:r>
            <a:endParaRPr lang="en-US" altLang="zh-CN" dirty="0"/>
          </a:p>
          <a:p>
            <a:r>
              <a:rPr lang="en-US" altLang="zh-CN" dirty="0"/>
              <a:t>\0</a:t>
            </a:r>
            <a:r>
              <a:rPr lang="zh-CN" altLang="en-US" dirty="0"/>
              <a:t>的问题</a:t>
            </a:r>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0FFF186-2B1D-4C40-9883-5546E8E5AFB7}" type="slidenum">
              <a:rPr lang="en-US" altLang="zh-CN"/>
            </a:fld>
            <a:endParaRPr lang="en-US" altLang="zh-CN"/>
          </a:p>
        </p:txBody>
      </p:sp>
      <p:sp>
        <p:nvSpPr>
          <p:cNvPr id="1347586" name="Rectangle 2"/>
          <p:cNvSpPr>
            <a:spLocks noGrp="1" noRot="1" noChangeAspect="1" noChangeArrowheads="1" noTextEdit="1"/>
          </p:cNvSpPr>
          <p:nvPr>
            <p:ph type="sldImg"/>
          </p:nvPr>
        </p:nvSpPr>
        <p:spPr/>
      </p:sp>
      <p:sp>
        <p:nvSpPr>
          <p:cNvPr id="1347587"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虽然</a:t>
            </a:r>
            <a:r>
              <a:rPr lang="en-US" altLang="zh-CN" dirty="0" err="1"/>
              <a:t>fwrite</a:t>
            </a:r>
            <a:r>
              <a:rPr lang="zh-CN" altLang="en-US" dirty="0"/>
              <a:t>了，但是这个只是写到缓冲区，如果没有</a:t>
            </a:r>
            <a:r>
              <a:rPr lang="en-US" altLang="zh-CN" dirty="0" err="1"/>
              <a:t>fclose</a:t>
            </a:r>
            <a:r>
              <a:rPr lang="zh-CN" altLang="en-US" dirty="0"/>
              <a:t>可能文件里面少了一些内容</a:t>
            </a:r>
            <a:endParaRPr lang="en-US" altLang="zh-CN" dirty="0"/>
          </a:p>
          <a:p>
            <a:r>
              <a:rPr lang="en-US" altLang="zh-CN" dirty="0"/>
              <a:t>Filename</a:t>
            </a:r>
            <a:r>
              <a:rPr lang="zh-CN" altLang="en-US" dirty="0"/>
              <a:t>：不然是包括目录结构的完整路径，不然是当前目录下。</a:t>
            </a:r>
            <a:r>
              <a:rPr lang="en-US" altLang="zh-CN" dirty="0"/>
              <a:t>”D:\\Test\\a.txt”</a:t>
            </a:r>
            <a:endParaRPr lang="en-US" altLang="zh-CN" dirty="0"/>
          </a:p>
          <a:p>
            <a:endParaRPr lang="en-US" dirty="0"/>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一般需要</a:t>
            </a:r>
            <a:r>
              <a:rPr kumimoji="0" lang="en-US" altLang="zh-CN" sz="12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FILE *</a:t>
            </a:r>
            <a:r>
              <a:rPr kumimoji="0" lang="en-US" altLang="zh-CN" sz="12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fp</a:t>
            </a:r>
            <a:r>
              <a:rPr kumimoji="0" lang="en-US" altLang="zh-CN" sz="12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 = </a:t>
            </a:r>
            <a:r>
              <a:rPr kumimoji="0" lang="en-US" altLang="zh-CN" sz="12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fopen</a:t>
            </a:r>
            <a:r>
              <a:rPr kumimoji="0" lang="en-US" altLang="zh-CN" sz="12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 if(</a:t>
            </a:r>
            <a:r>
              <a:rPr kumimoji="0" lang="en-US" altLang="zh-CN" sz="12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fp</a:t>
            </a:r>
            <a:r>
              <a:rPr kumimoji="0" lang="en-US" altLang="zh-CN" sz="12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!=NULL)</a:t>
            </a:r>
            <a:endParaRPr kumimoji="0" lang="en-US" altLang="zh-CN" sz="12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3BF6F80-5E48-4A53-BF27-082275F5CCF0}" type="slidenum">
              <a:rPr lang="en-US" altLang="zh-CN"/>
            </a:fld>
            <a:endParaRPr lang="en-US" altLang="zh-CN"/>
          </a:p>
        </p:txBody>
      </p:sp>
      <p:sp>
        <p:nvSpPr>
          <p:cNvPr id="1351682" name="Rectangle 2"/>
          <p:cNvSpPr>
            <a:spLocks noGrp="1" noRot="1" noChangeAspect="1" noChangeArrowheads="1" noTextEdit="1"/>
          </p:cNvSpPr>
          <p:nvPr>
            <p:ph type="sldImg"/>
          </p:nvPr>
        </p:nvSpPr>
        <p:spPr/>
      </p:sp>
      <p:sp>
        <p:nvSpPr>
          <p:cNvPr id="1351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54D8762-1FF2-475F-9F18-40228B96EF69}" type="slidenum">
              <a:rPr lang="en-US" altLang="zh-CN"/>
            </a:fld>
            <a:endParaRPr lang="en-US" altLang="zh-CN"/>
          </a:p>
        </p:txBody>
      </p:sp>
      <p:sp>
        <p:nvSpPr>
          <p:cNvPr id="1341442" name="Rectangle 2"/>
          <p:cNvSpPr>
            <a:spLocks noGrp="1" noRot="1" noChangeAspect="1" noChangeArrowheads="1" noTextEdit="1"/>
          </p:cNvSpPr>
          <p:nvPr>
            <p:ph type="sldImg"/>
          </p:nvPr>
        </p:nvSpPr>
        <p:spPr/>
      </p:sp>
      <p:sp>
        <p:nvSpPr>
          <p:cNvPr id="1341443" name="Rectangle 3"/>
          <p:cNvSpPr>
            <a:spLocks noGrp="1" noChangeArrowheads="1"/>
          </p:cNvSpPr>
          <p:nvPr>
            <p:ph type="body" idx="1"/>
          </p:nvPr>
        </p:nvSpPr>
        <p:spPr/>
        <p:txBody>
          <a:bodyPr/>
          <a:lstStyle/>
          <a:p>
            <a:r>
              <a:rPr lang="en-US" sz="1200" b="0" i="0" kern="1200" dirty="0" err="1">
                <a:solidFill>
                  <a:schemeClr val="tx1"/>
                </a:solidFill>
                <a:effectLst/>
                <a:latin typeface="+mn-lt"/>
                <a:ea typeface="+mn-ea"/>
                <a:cs typeface="+mn-cs"/>
              </a:rPr>
              <a:t>fopen</a:t>
            </a:r>
            <a:r>
              <a:rPr lang="zh-CN" altLang="en-US" sz="1200" b="0" i="0" kern="1200" dirty="0">
                <a:solidFill>
                  <a:schemeClr val="tx1"/>
                </a:solidFill>
                <a:effectLst/>
                <a:latin typeface="+mn-lt"/>
                <a:ea typeface="+mn-ea"/>
                <a:cs typeface="+mn-cs"/>
              </a:rPr>
              <a:t>返回的文件指针只是给</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语言库函数的参数使用的</a:t>
            </a:r>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把标准输入和标准输出理解为特殊的文件，理解起来就容易了</a:t>
            </a:r>
            <a:endParaRPr lang="en-US" altLang="zh-CN" sz="1200" dirty="0"/>
          </a:p>
          <a:p>
            <a:endParaRPr lang="en-US" altLang="zh-CN" sz="1200" dirty="0"/>
          </a:p>
          <a:p>
            <a:r>
              <a:rPr lang="zh-CN" altLang="en-US" sz="1200" dirty="0"/>
              <a:t>输入操作时，数据从文件流向计算机内存</a:t>
            </a:r>
            <a:endParaRPr lang="en-US" altLang="zh-CN" sz="1200" dirty="0"/>
          </a:p>
          <a:p>
            <a:r>
              <a:rPr lang="zh-CN" altLang="en-US" sz="1200" dirty="0"/>
              <a:t>在输出操作时，数据从计算机流向文件</a:t>
            </a:r>
            <a:r>
              <a:rPr lang="en-US" altLang="zh-CN" sz="1200" dirty="0"/>
              <a:t>(</a:t>
            </a:r>
            <a:r>
              <a:rPr lang="zh-CN" altLang="en-US" sz="1200" dirty="0"/>
              <a:t>如打印机、磁盘文件</a:t>
            </a:r>
            <a:r>
              <a:rPr lang="en-US" altLang="zh-CN" sz="1200" dirty="0"/>
              <a:t>)</a:t>
            </a:r>
            <a:endParaRPr lang="en-US" altLang="zh-CN" sz="1200"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dirty="0"/>
              <a:t>在</a:t>
            </a:r>
            <a:r>
              <a:rPr lang="en-US" altLang="zh-CN" sz="1200" dirty="0"/>
              <a:t>C</a:t>
            </a:r>
            <a:r>
              <a:rPr lang="zh-CN" altLang="en-US" sz="1200" dirty="0"/>
              <a:t>语言把文件看作一个字符</a:t>
            </a:r>
            <a:r>
              <a:rPr lang="en-US" altLang="zh-CN" sz="1200" dirty="0"/>
              <a:t>(</a:t>
            </a:r>
            <a:r>
              <a:rPr lang="zh-CN" altLang="en-US" sz="1200" dirty="0"/>
              <a:t>或字节</a:t>
            </a:r>
            <a:r>
              <a:rPr lang="en-US" altLang="zh-CN" sz="1200" dirty="0"/>
              <a:t>)</a:t>
            </a:r>
            <a:r>
              <a:rPr lang="zh-CN" altLang="en-US" sz="1200" dirty="0"/>
              <a:t>的序列，即由一个一个字符（或字节）的数据顺序组成。一个输入输出流就是一个</a:t>
            </a:r>
            <a:r>
              <a:rPr lang="zh-CN" altLang="en-US" sz="1200" dirty="0">
                <a:solidFill>
                  <a:srgbClr val="FF0000"/>
                </a:solidFill>
              </a:rPr>
              <a:t>字符流</a:t>
            </a:r>
            <a:r>
              <a:rPr lang="zh-CN" altLang="en-US" sz="1200" dirty="0"/>
              <a:t>或</a:t>
            </a:r>
            <a:r>
              <a:rPr lang="zh-CN" altLang="en-US" sz="1200" dirty="0">
                <a:solidFill>
                  <a:srgbClr val="FF0000"/>
                </a:solidFill>
              </a:rPr>
              <a:t>字节流</a:t>
            </a:r>
            <a:r>
              <a:rPr lang="zh-CN" altLang="en-US" sz="1200" dirty="0"/>
              <a:t>。</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把标准输入和标准输出理解为特殊的文件，理解起来就容易了</a:t>
            </a:r>
            <a:endParaRPr lang="en-US" altLang="zh-CN" sz="1200" dirty="0"/>
          </a:p>
          <a:p>
            <a:endParaRPr lang="en-US" altLang="zh-CN" sz="1200" dirty="0"/>
          </a:p>
          <a:p>
            <a:r>
              <a:rPr lang="zh-CN" altLang="en-US" sz="1200" dirty="0"/>
              <a:t>输入操作时，数据从文件流向计算机内存</a:t>
            </a:r>
            <a:endParaRPr lang="en-US" altLang="zh-CN" sz="1200" dirty="0"/>
          </a:p>
          <a:p>
            <a:r>
              <a:rPr lang="zh-CN" altLang="en-US" sz="1200" dirty="0"/>
              <a:t>在输出操作时，数据从计算机流向文件</a:t>
            </a:r>
            <a:r>
              <a:rPr lang="en-US" altLang="zh-CN" sz="1200" dirty="0"/>
              <a:t>(</a:t>
            </a:r>
            <a:r>
              <a:rPr lang="zh-CN" altLang="en-US" sz="1200" dirty="0"/>
              <a:t>如打印机、磁盘文件</a:t>
            </a:r>
            <a:r>
              <a:rPr lang="en-US" altLang="zh-CN" sz="1200" dirty="0"/>
              <a:t>)</a:t>
            </a:r>
            <a:endParaRPr lang="en-US" altLang="zh-CN" sz="1200"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100" dirty="0"/>
              <a:t>在</a:t>
            </a:r>
            <a:r>
              <a:rPr lang="en-US" altLang="zh-CN" sz="1200" dirty="0"/>
              <a:t>C</a:t>
            </a:r>
            <a:r>
              <a:rPr lang="zh-CN" altLang="en-US" sz="1200" dirty="0"/>
              <a:t>语言把文件看作一个字符</a:t>
            </a:r>
            <a:r>
              <a:rPr lang="en-US" altLang="zh-CN" sz="1200" dirty="0"/>
              <a:t>(</a:t>
            </a:r>
            <a:r>
              <a:rPr lang="zh-CN" altLang="en-US" sz="1200" dirty="0"/>
              <a:t>或字节</a:t>
            </a:r>
            <a:r>
              <a:rPr lang="en-US" altLang="zh-CN" sz="1200" dirty="0"/>
              <a:t>)</a:t>
            </a:r>
            <a:r>
              <a:rPr lang="zh-CN" altLang="en-US" sz="1200" dirty="0"/>
              <a:t>的序列，即由一个一个字符（或字节）的数据顺序组成。一个输入输出流就是一个</a:t>
            </a:r>
            <a:r>
              <a:rPr lang="zh-CN" altLang="en-US" sz="1200" dirty="0">
                <a:solidFill>
                  <a:srgbClr val="FF0000"/>
                </a:solidFill>
              </a:rPr>
              <a:t>字符流</a:t>
            </a:r>
            <a:r>
              <a:rPr lang="zh-CN" altLang="en-US" sz="1200" dirty="0"/>
              <a:t>或</a:t>
            </a:r>
            <a:r>
              <a:rPr lang="zh-CN" altLang="en-US" sz="1200" dirty="0">
                <a:solidFill>
                  <a:srgbClr val="FF0000"/>
                </a:solidFill>
              </a:rPr>
              <a:t>字节流</a:t>
            </a:r>
            <a:r>
              <a:rPr lang="zh-CN" altLang="en-US" sz="1200" dirty="0"/>
              <a:t>。</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37AF63F-A033-4E88-954E-892B3B7F8A36}" type="slidenum">
              <a:rPr lang="en-US" altLang="zh-CN"/>
            </a:fld>
            <a:endParaRPr lang="en-US" altLang="zh-CN"/>
          </a:p>
        </p:txBody>
      </p:sp>
      <p:sp>
        <p:nvSpPr>
          <p:cNvPr id="1357826" name="Rectangle 2"/>
          <p:cNvSpPr>
            <a:spLocks noGrp="1" noRot="1" noChangeAspect="1" noChangeArrowheads="1" noTextEdit="1"/>
          </p:cNvSpPr>
          <p:nvPr>
            <p:ph type="sldImg"/>
          </p:nvPr>
        </p:nvSpPr>
        <p:spPr/>
      </p:sp>
      <p:sp>
        <p:nvSpPr>
          <p:cNvPr id="13578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54D8762-1FF2-475F-9F18-40228B96EF69}" type="slidenum">
              <a:rPr lang="en-US" altLang="zh-CN"/>
            </a:fld>
            <a:endParaRPr lang="en-US" altLang="zh-CN"/>
          </a:p>
        </p:txBody>
      </p:sp>
      <p:sp>
        <p:nvSpPr>
          <p:cNvPr id="1341442" name="Rectangle 2"/>
          <p:cNvSpPr>
            <a:spLocks noGrp="1" noRot="1" noChangeAspect="1" noChangeArrowheads="1" noTextEdit="1"/>
          </p:cNvSpPr>
          <p:nvPr>
            <p:ph type="sldImg"/>
          </p:nvPr>
        </p:nvSpPr>
        <p:spPr/>
      </p:sp>
      <p:sp>
        <p:nvSpPr>
          <p:cNvPr id="1341443" name="Rectangle 3"/>
          <p:cNvSpPr>
            <a:spLocks noGrp="1" noChangeArrowheads="1"/>
          </p:cNvSpPr>
          <p:nvPr>
            <p:ph type="body" idx="1"/>
          </p:nvPr>
        </p:nvSpPr>
        <p:spPr/>
        <p:txBody>
          <a:bodyPr/>
          <a:lstStyle/>
          <a:p>
            <a:r>
              <a:rPr lang="en-US" sz="1200" b="0" i="0" kern="1200" dirty="0" err="1">
                <a:solidFill>
                  <a:schemeClr val="tx1"/>
                </a:solidFill>
                <a:effectLst/>
                <a:latin typeface="+mn-lt"/>
                <a:ea typeface="+mn-ea"/>
                <a:cs typeface="+mn-cs"/>
              </a:rPr>
              <a:t>fopen</a:t>
            </a:r>
            <a:r>
              <a:rPr lang="zh-CN" altLang="en-US" sz="1200" b="0" i="0" kern="1200" dirty="0">
                <a:solidFill>
                  <a:schemeClr val="tx1"/>
                </a:solidFill>
                <a:effectLst/>
                <a:latin typeface="+mn-lt"/>
                <a:ea typeface="+mn-ea"/>
                <a:cs typeface="+mn-cs"/>
              </a:rPr>
              <a:t>返回的文件指针只是给</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语言库函数的参数使用的</a:t>
            </a:r>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hangingPunct="1">
              <a:lnSpc>
                <a:spcPct val="125000"/>
              </a:lnSpc>
              <a:spcBef>
                <a:spcPct val="0"/>
              </a:spcBef>
            </a:pPr>
            <a:r>
              <a:rPr kumimoji="1" lang="zh-CN" altLang="en-US" sz="1200" dirty="0">
                <a:latin typeface="Times New Roman" panose="02020603050405020304" pitchFamily="18" charset="0"/>
              </a:rPr>
              <a:t>选学：</a:t>
            </a:r>
            <a:endParaRPr kumimoji="1" lang="en-US" altLang="zh-CN" sz="1200" dirty="0">
              <a:latin typeface="Times New Roman" panose="02020603050405020304" pitchFamily="18" charset="0"/>
            </a:endParaRPr>
          </a:p>
          <a:p>
            <a:pPr algn="l" eaLnBrk="1" hangingPunct="1">
              <a:lnSpc>
                <a:spcPct val="125000"/>
              </a:lnSpc>
              <a:spcBef>
                <a:spcPct val="0"/>
              </a:spcBef>
            </a:pPr>
            <a:r>
              <a:rPr kumimoji="1" lang="en-US" altLang="zh-CN" sz="1200" dirty="0" err="1">
                <a:latin typeface="Times New Roman" panose="02020603050405020304" pitchFamily="18" charset="0"/>
              </a:rPr>
              <a:t>getw</a:t>
            </a:r>
            <a:r>
              <a:rPr kumimoji="1" lang="en-US" altLang="zh-CN" sz="1200" dirty="0">
                <a:latin typeface="Times New Roman" panose="02020603050405020304" pitchFamily="18" charset="0"/>
              </a:rPr>
              <a:t>()</a:t>
            </a:r>
            <a:r>
              <a:rPr kumimoji="1" lang="zh-CN" altLang="en-US" sz="1200" dirty="0">
                <a:latin typeface="Times New Roman" panose="02020603050405020304" pitchFamily="18" charset="0"/>
              </a:rPr>
              <a:t>从指定文件读取一个字（</a:t>
            </a:r>
            <a:r>
              <a:rPr kumimoji="1" lang="en-US" altLang="zh-CN" sz="1200" dirty="0">
                <a:latin typeface="Times New Roman" panose="02020603050405020304" pitchFamily="18" charset="0"/>
              </a:rPr>
              <a:t>int</a:t>
            </a:r>
            <a:r>
              <a:rPr kumimoji="1" lang="zh-CN" altLang="en-US" sz="1200" dirty="0">
                <a:latin typeface="Times New Roman" panose="02020603050405020304" pitchFamily="18" charset="0"/>
              </a:rPr>
              <a:t>型）</a:t>
            </a:r>
            <a:endParaRPr kumimoji="1" lang="zh-CN" altLang="en-US" sz="1200" dirty="0">
              <a:latin typeface="Times New Roman" panose="02020603050405020304" pitchFamily="18" charset="0"/>
            </a:endParaRPr>
          </a:p>
          <a:p>
            <a:pPr algn="l" eaLnBrk="1" hangingPunct="1">
              <a:lnSpc>
                <a:spcPct val="125000"/>
              </a:lnSpc>
              <a:spcBef>
                <a:spcPct val="0"/>
              </a:spcBef>
            </a:pPr>
            <a:r>
              <a:rPr kumimoji="1" lang="en-US" altLang="zh-CN" sz="1200" dirty="0" err="1">
                <a:latin typeface="Times New Roman" panose="02020603050405020304" pitchFamily="18" charset="0"/>
              </a:rPr>
              <a:t>putw</a:t>
            </a:r>
            <a:r>
              <a:rPr kumimoji="1" lang="en-US" altLang="zh-CN" sz="1200" dirty="0">
                <a:latin typeface="Times New Roman" panose="02020603050405020304" pitchFamily="18" charset="0"/>
              </a:rPr>
              <a:t>()</a:t>
            </a:r>
            <a:r>
              <a:rPr kumimoji="1" lang="zh-CN" altLang="en-US" sz="1200" dirty="0">
                <a:latin typeface="Times New Roman" panose="02020603050405020304" pitchFamily="18" charset="0"/>
              </a:rPr>
              <a:t>把一个字输出到指定文件</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gets</a:t>
            </a:r>
            <a:r>
              <a:rPr lang="zh-CN" altLang="en-US" dirty="0"/>
              <a:t>带不带</a:t>
            </a:r>
            <a:r>
              <a:rPr lang="en-US" altLang="zh-CN" dirty="0"/>
              <a:t>\n? </a:t>
            </a:r>
            <a:r>
              <a:rPr lang="zh-CN" altLang="en-US" dirty="0"/>
              <a:t>试一下就知道了，不一定要记</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一般的文本文件不能这么读，必须是当初</a:t>
            </a:r>
            <a:r>
              <a:rPr lang="en-US" altLang="zh-CN" dirty="0" err="1"/>
              <a:t>fwrite</a:t>
            </a:r>
            <a:r>
              <a:rPr lang="zh-CN" altLang="en-US" dirty="0"/>
              <a:t>按照二进制方式写进去的</a:t>
            </a:r>
            <a:endParaRPr lang="en-US" altLang="zh-CN" dirty="0"/>
          </a:p>
          <a:p>
            <a:r>
              <a:rPr lang="zh-CN" altLang="en-US" dirty="0"/>
              <a:t>二进制的数据 内存和磁盘 是一样的</a:t>
            </a:r>
            <a:endParaRPr lang="en-US" altLang="zh-CN" dirty="0"/>
          </a:p>
          <a:p>
            <a:r>
              <a:rPr lang="zh-CN" altLang="en-US" dirty="0"/>
              <a:t>好处？快</a:t>
            </a:r>
            <a:endParaRPr lang="zh-CN" altLang="en-US" dirty="0"/>
          </a:p>
          <a:p>
            <a:r>
              <a:rPr lang="en-US" altLang="zh-CN" dirty="0"/>
              <a:t>buffer</a:t>
            </a:r>
            <a:r>
              <a:rPr lang="zh-CN" altLang="en-US" dirty="0"/>
              <a:t>是</a:t>
            </a:r>
            <a:r>
              <a:rPr lang="en-US" altLang="zh-CN" dirty="0"/>
              <a:t>void*</a:t>
            </a:r>
            <a:r>
              <a:rPr lang="zh-CN" altLang="en-US" dirty="0"/>
              <a:t>类型</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可以从头读一串整数（不知道多少个）嘛？可以，利用</a:t>
            </a:r>
            <a:r>
              <a:rPr lang="en-US" altLang="zh-CN" dirty="0" err="1"/>
              <a:t>feof</a:t>
            </a:r>
            <a:r>
              <a:rPr lang="en-US" altLang="zh-CN" dirty="0"/>
              <a:t>() </a:t>
            </a:r>
            <a:r>
              <a:rPr lang="zh-CN" altLang="en-US" dirty="0"/>
              <a:t>或 </a:t>
            </a:r>
            <a:r>
              <a:rPr lang="en-US" altLang="zh-CN" dirty="0" err="1"/>
              <a:t>ferror</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w</a:t>
            </a:r>
            <a:r>
              <a:rPr lang="zh-CN" altLang="en-US" dirty="0"/>
              <a:t>”要小心，打开以后文件就全部被清空了</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1EB1086-1949-4DC6-B3B2-85F24A81AE3F}" type="slidenum">
              <a:rPr lang="en-US" altLang="zh-CN"/>
            </a:fld>
            <a:endParaRPr lang="en-US" altLang="zh-CN"/>
          </a:p>
        </p:txBody>
      </p:sp>
      <p:sp>
        <p:nvSpPr>
          <p:cNvPr id="1363970" name="Rectangle 2"/>
          <p:cNvSpPr>
            <a:spLocks noGrp="1" noRot="1" noChangeAspect="1" noChangeArrowheads="1" noTextEdit="1"/>
          </p:cNvSpPr>
          <p:nvPr>
            <p:ph type="sldImg"/>
          </p:nvPr>
        </p:nvSpPr>
        <p:spPr/>
      </p:sp>
      <p:sp>
        <p:nvSpPr>
          <p:cNvPr id="1363971" name="Rectangle 3"/>
          <p:cNvSpPr>
            <a:spLocks noGrp="1" noChangeArrowheads="1"/>
          </p:cNvSpPr>
          <p:nvPr>
            <p:ph type="body" idx="1"/>
          </p:nvPr>
        </p:nvSpPr>
        <p:spPr/>
        <p:txBody>
          <a:bodyPr/>
          <a:lstStyle/>
          <a:p>
            <a:r>
              <a:rPr lang="zh-CN" altLang="en-US" dirty="0"/>
              <a:t>改成主函数带参数的，把</a:t>
            </a:r>
            <a:r>
              <a:rPr lang="en-US" altLang="zh-CN" dirty="0"/>
              <a:t>1.txt</a:t>
            </a:r>
            <a:r>
              <a:rPr lang="zh-CN" altLang="en-US" dirty="0"/>
              <a:t>改成</a:t>
            </a:r>
            <a:r>
              <a:rPr lang="en-US" altLang="zh-CN" dirty="0"/>
              <a:t>2.txt</a:t>
            </a:r>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例子：写一个复制的程序（复制文件）</a:t>
            </a:r>
            <a:r>
              <a:rPr lang="en-US" altLang="zh-CN" dirty="0"/>
              <a:t>- </a:t>
            </a:r>
            <a:r>
              <a:rPr lang="zh-CN" altLang="en-US" dirty="0"/>
              <a:t>预习</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BDAC9AA-4B98-42BD-BB2F-45406A2689B9}" type="slidenum">
              <a:rPr lang="en-US" altLang="zh-CN"/>
            </a:fld>
            <a:endParaRPr lang="en-US" altLang="zh-CN"/>
          </a:p>
        </p:txBody>
      </p:sp>
      <p:sp>
        <p:nvSpPr>
          <p:cNvPr id="1353730" name="Rectangle 2"/>
          <p:cNvSpPr>
            <a:spLocks noGrp="1" noRot="1" noChangeAspect="1" noChangeArrowheads="1" noTextEdit="1"/>
          </p:cNvSpPr>
          <p:nvPr>
            <p:ph type="sldImg"/>
          </p:nvPr>
        </p:nvSpPr>
        <p:spPr/>
      </p:sp>
      <p:sp>
        <p:nvSpPr>
          <p:cNvPr id="1353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自己理解</a:t>
            </a:r>
            <a:r>
              <a:rPr lang="en-US" altLang="zh-CN" dirty="0" err="1"/>
              <a:t>fseek</a:t>
            </a:r>
            <a:r>
              <a:rPr lang="zh-CN" altLang="en-US" dirty="0"/>
              <a:t>函数</a:t>
            </a:r>
            <a:endParaRPr lang="en-US" altLang="zh-CN" dirty="0"/>
          </a:p>
          <a:p>
            <a:r>
              <a:rPr lang="zh-CN" altLang="en-US" dirty="0"/>
              <a:t>一道练习题</a:t>
            </a:r>
            <a:endParaRPr lang="zh-CN" alt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pt-BR" dirty="0"/>
              <a:t>gcc -c quicksort.cpp -o quicksort.o</a:t>
            </a:r>
            <a:endParaRPr lang="pt-BR" dirty="0"/>
          </a:p>
          <a:p>
            <a:r>
              <a:rPr lang="pt-BR" dirty="0"/>
              <a:t>gcc -c project.cpp -o project.o </a:t>
            </a:r>
            <a:endParaRPr lang="pt-BR" dirty="0"/>
          </a:p>
          <a:p>
            <a:r>
              <a:rPr lang="pt-BR" dirty="0"/>
              <a:t>gcc -o project.exe project.o quicksort.o</a:t>
            </a:r>
            <a:endParaRPr lang="pt-BR" dirty="0"/>
          </a:p>
          <a:p>
            <a:endParaRPr lang="en-US" altLang="zh-CN" dirty="0"/>
          </a:p>
          <a:p>
            <a:endParaRPr lang="en-US" altLang="zh-CN" dirty="0"/>
          </a:p>
          <a:p>
            <a:r>
              <a:rPr lang="en-US" altLang="zh-CN" sz="1200" b="0" i="0" kern="1200" dirty="0">
                <a:solidFill>
                  <a:schemeClr val="tx1"/>
                </a:solidFill>
                <a:effectLst/>
                <a:latin typeface="+mn-lt"/>
                <a:ea typeface="+mn-ea"/>
                <a:cs typeface="+mn-cs"/>
              </a:rPr>
              <a:t>make</a:t>
            </a:r>
            <a:r>
              <a:rPr lang="zh-CN" altLang="en-US" sz="1200" b="0" i="0" kern="1200" dirty="0">
                <a:solidFill>
                  <a:schemeClr val="tx1"/>
                </a:solidFill>
                <a:effectLst/>
                <a:latin typeface="+mn-lt"/>
                <a:ea typeface="+mn-ea"/>
                <a:cs typeface="+mn-cs"/>
              </a:rPr>
              <a:t>主要是用来管理软件工程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实现增量式编译的工具</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makefile</a:t>
            </a:r>
            <a:r>
              <a:rPr lang="zh-CN" altLang="en-US" sz="1200" b="0" i="0" kern="1200" dirty="0">
                <a:solidFill>
                  <a:schemeClr val="tx1"/>
                </a:solidFill>
                <a:effectLst/>
                <a:latin typeface="+mn-lt"/>
                <a:ea typeface="+mn-ea"/>
                <a:cs typeface="+mn-cs"/>
              </a:rPr>
              <a:t>是</a:t>
            </a:r>
            <a:r>
              <a:rPr lang="en-US" altLang="zh-CN" sz="1200" b="0" i="0" kern="1200" dirty="0">
                <a:solidFill>
                  <a:schemeClr val="tx1"/>
                </a:solidFill>
                <a:effectLst/>
                <a:latin typeface="+mn-lt"/>
                <a:ea typeface="+mn-ea"/>
                <a:cs typeface="+mn-cs"/>
              </a:rPr>
              <a:t>make</a:t>
            </a:r>
            <a:r>
              <a:rPr lang="zh-CN" altLang="en-US" sz="1200" b="0" i="0" kern="1200" dirty="0">
                <a:solidFill>
                  <a:schemeClr val="tx1"/>
                </a:solidFill>
                <a:effectLst/>
                <a:latin typeface="+mn-lt"/>
                <a:ea typeface="+mn-ea"/>
                <a:cs typeface="+mn-cs"/>
              </a:rPr>
              <a:t>调用的规则脚本</a:t>
            </a:r>
            <a:r>
              <a:rPr lang="en-US" altLang="zh-CN"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endParaRPr lang="en-US" altLang="zh-CN" dirty="0"/>
          </a:p>
          <a:p>
            <a:r>
              <a:rPr lang="en-US" altLang="zh-CN" dirty="0"/>
              <a:t>Windows</a:t>
            </a:r>
            <a:r>
              <a:rPr lang="zh-CN" altLang="en-US" dirty="0"/>
              <a:t>下，写好</a:t>
            </a:r>
            <a:r>
              <a:rPr lang="en-US" altLang="zh-CN" dirty="0" err="1"/>
              <a:t>Makefile</a:t>
            </a:r>
            <a:endParaRPr lang="pt-BR" dirty="0"/>
          </a:p>
          <a:p>
            <a:r>
              <a:rPr lang="pt-BR" dirty="0"/>
              <a:t>mingw32-make</a:t>
            </a:r>
            <a:endParaRPr lang="pt-BR" dirty="0"/>
          </a:p>
          <a:p>
            <a:endParaRPr lang="pt-BR" dirty="0"/>
          </a:p>
          <a:p>
            <a:r>
              <a:rPr lang="en-US" altLang="zh-CN" dirty="0"/>
              <a:t>Linux</a:t>
            </a:r>
            <a:r>
              <a:rPr lang="zh-CN" altLang="en-US" dirty="0"/>
              <a:t>下</a:t>
            </a:r>
            <a:endParaRPr lang="en-US" altLang="zh-CN" dirty="0"/>
          </a:p>
          <a:p>
            <a:r>
              <a:rPr lang="en-US" altLang="zh-CN" dirty="0"/>
              <a:t>make</a:t>
            </a:r>
            <a:endParaRPr lang="en-US" altLang="zh-CN" dirty="0"/>
          </a:p>
          <a:p>
            <a:endParaRPr lang="en-US" altLang="zh-CN" dirty="0"/>
          </a:p>
          <a:p>
            <a:r>
              <a:rPr lang="en-US" altLang="zh-CN" dirty="0"/>
              <a:t>rm –rf project *.o</a:t>
            </a:r>
            <a:endParaRPr lang="en-US" altLang="zh-CN" dirty="0"/>
          </a:p>
          <a:p>
            <a:endParaRPr lang="en-US" altLang="zh-CN" dirty="0"/>
          </a:p>
          <a:p>
            <a:endParaRPr lang="pt-BR" dirty="0"/>
          </a:p>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11" name="椭圆 10"/>
          <p:cNvSpPr/>
          <p:nvPr/>
        </p:nvSpPr>
        <p:spPr>
          <a:xfrm>
            <a:off x="8177483" y="5910463"/>
            <a:ext cx="504000" cy="50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7414926" y="813763"/>
            <a:ext cx="742237" cy="742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0" name="椭圆 9"/>
          <p:cNvSpPr/>
          <p:nvPr/>
        </p:nvSpPr>
        <p:spPr>
          <a:xfrm>
            <a:off x="-2459620" y="610564"/>
            <a:ext cx="5400000" cy="5400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Subtitle 2"/>
          <p:cNvSpPr>
            <a:spLocks noGrp="1"/>
          </p:cNvSpPr>
          <p:nvPr>
            <p:ph type="subTitle" idx="1"/>
          </p:nvPr>
        </p:nvSpPr>
        <p:spPr>
          <a:xfrm>
            <a:off x="1268874" y="3811522"/>
            <a:ext cx="5429250" cy="1655762"/>
          </a:xfrm>
        </p:spPr>
        <p:txBody>
          <a:bodyPr/>
          <a:lstStyle>
            <a:lvl1pPr marL="0" indent="0" algn="l">
              <a:buNone/>
              <a:defRPr sz="2400" baseline="0">
                <a:latin typeface="Calibri" panose="020F0502020204030204" pitchFamily="34" charset="0"/>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7" name="圆: 空心 6"/>
          <p:cNvSpPr/>
          <p:nvPr/>
        </p:nvSpPr>
        <p:spPr>
          <a:xfrm>
            <a:off x="-1447253" y="-1783037"/>
            <a:ext cx="3960000" cy="3960000"/>
          </a:xfrm>
          <a:prstGeom prst="donut">
            <a:avLst>
              <a:gd name="adj" fmla="val 14845"/>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solidFill>
                <a:schemeClr val="tx1"/>
              </a:solidFill>
            </a:endParaRPr>
          </a:p>
        </p:txBody>
      </p:sp>
      <p:sp>
        <p:nvSpPr>
          <p:cNvPr id="2" name="Title 1"/>
          <p:cNvSpPr>
            <a:spLocks noGrp="1"/>
          </p:cNvSpPr>
          <p:nvPr>
            <p:ph type="ctrTitle"/>
          </p:nvPr>
        </p:nvSpPr>
        <p:spPr>
          <a:xfrm>
            <a:off x="1268874" y="2063683"/>
            <a:ext cx="6606253" cy="1655763"/>
          </a:xfrm>
        </p:spPr>
        <p:txBody>
          <a:bodyPr anchor="b">
            <a:normAutofit/>
          </a:bodyPr>
          <a:lstStyle>
            <a:lvl1pPr algn="l">
              <a:defRPr sz="5400" b="1"/>
            </a:lvl1pPr>
          </a:lstStyle>
          <a:p>
            <a:r>
              <a:rPr lang="zh-CN" altLang="en-US" dirty="0"/>
              <a:t>单击此处编辑母版标题样式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节标题">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268874" y="2155123"/>
            <a:ext cx="6606253" cy="1655763"/>
          </a:xfrm>
        </p:spPr>
        <p:txBody>
          <a:bodyPr anchor="t">
            <a:normAutofit/>
          </a:bodyPr>
          <a:lstStyle>
            <a:lvl1pPr algn="l">
              <a:defRPr sz="5400" b="1"/>
            </a:lvl1pPr>
          </a:lstStyle>
          <a:p>
            <a:r>
              <a:rPr lang="zh-CN" altLang="en-US"/>
              <a:t>单击此处编辑母版标题样式</a:t>
            </a:r>
            <a:endParaRPr lang="en-US" dirty="0"/>
          </a:p>
        </p:txBody>
      </p:sp>
      <p:sp>
        <p:nvSpPr>
          <p:cNvPr id="9" name="圆: 空心 8"/>
          <p:cNvSpPr/>
          <p:nvPr/>
        </p:nvSpPr>
        <p:spPr>
          <a:xfrm>
            <a:off x="409455" y="2155308"/>
            <a:ext cx="720000" cy="720000"/>
          </a:xfrm>
          <a:prstGeom prst="donut">
            <a:avLst>
              <a:gd name="adj" fmla="val 24158"/>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432000" y="1389185"/>
            <a:ext cx="8280000" cy="4936895"/>
          </a:xfrm>
        </p:spPr>
        <p:txBody>
          <a:bodyPr anchor="t">
            <a:normAutofit/>
          </a:bodyPr>
          <a:lstStyle>
            <a:lvl1pPr marL="514350" indent="-514350">
              <a:lnSpc>
                <a:spcPct val="114000"/>
              </a:lnSpc>
              <a:buFont typeface="+mj-lt"/>
              <a:buAutoNum type="arabicPeriod"/>
              <a:defRPr sz="3200">
                <a:solidFill>
                  <a:schemeClr val="tx1">
                    <a:lumMod val="50000"/>
                    <a:lumOff val="50000"/>
                  </a:schemeClr>
                </a:solidFill>
                <a:latin typeface="+mj-ea"/>
                <a:ea typeface="+mj-ea"/>
              </a:defRPr>
            </a:lvl1pPr>
            <a:lvl2pPr marL="782955" indent="-457200">
              <a:buFont typeface="+mj-lt"/>
              <a:buAutoNum type="arabicPeriod"/>
              <a:defRPr>
                <a:solidFill>
                  <a:schemeClr val="tx1">
                    <a:lumMod val="50000"/>
                    <a:lumOff val="50000"/>
                  </a:schemeClr>
                </a:solidFill>
              </a:defRPr>
            </a:lvl2pPr>
            <a:lvl3pPr marL="1369695" indent="-457200">
              <a:buFont typeface="+mj-lt"/>
              <a:buAutoNum type="arabicPeriod"/>
              <a:defRPr>
                <a:solidFill>
                  <a:schemeClr val="tx1">
                    <a:lumMod val="50000"/>
                    <a:lumOff val="50000"/>
                  </a:schemeClr>
                </a:solidFill>
              </a:defRPr>
            </a:lvl3pPr>
            <a:lvl4pPr marL="1714500" indent="-342900">
              <a:buFont typeface="+mj-lt"/>
              <a:buAutoNum type="arabicPeriod"/>
              <a:defRPr>
                <a:solidFill>
                  <a:schemeClr val="tx1">
                    <a:lumMod val="50000"/>
                    <a:lumOff val="50000"/>
                  </a:schemeClr>
                </a:solidFill>
              </a:defRPr>
            </a:lvl4pPr>
            <a:lvl5pPr marL="2171700" indent="-342900">
              <a:buFont typeface="+mj-lt"/>
              <a:buAutoNum type="arabicPeriod"/>
              <a:defRPr>
                <a:solidFill>
                  <a:schemeClr val="tx1">
                    <a:lumMod val="50000"/>
                    <a:lumOff val="50000"/>
                  </a:schemeClr>
                </a:solidFill>
              </a:defRPr>
            </a:lvl5pPr>
          </a:lstStyle>
          <a:p>
            <a:pPr lvl="0"/>
            <a:r>
              <a:rPr lang="zh-CN" altLang="en-US" dirty="0"/>
              <a:t>目录项目</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
        <p:nvSpPr>
          <p:cNvPr id="3" name="Content Placeholder 2"/>
          <p:cNvSpPr>
            <a:spLocks noGrp="1"/>
          </p:cNvSpPr>
          <p:nvPr>
            <p:ph idx="1" hasCustomPrompt="1"/>
          </p:nvPr>
        </p:nvSpPr>
        <p:spPr>
          <a:xfrm>
            <a:off x="432000" y="1260000"/>
            <a:ext cx="8280000" cy="5040000"/>
          </a:xfrm>
        </p:spPr>
        <p:txBody>
          <a:bodyPr/>
          <a:lstStyle>
            <a:lvl2pPr indent="-288290">
              <a:defRPr/>
            </a:lvl2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432000" y="1260000"/>
            <a:ext cx="4082850" cy="5040000"/>
          </a:xfrm>
        </p:spPr>
        <p:txBody>
          <a:bodyPr/>
          <a:lstStyle>
            <a:lvl1pPr marL="360045">
              <a:defRPr/>
            </a:lvl1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4629150" y="1260000"/>
            <a:ext cx="4082850" cy="5040000"/>
          </a:xfrm>
        </p:spPr>
        <p:txBody>
          <a:bodyPr/>
          <a:lstStyle>
            <a:lvl1pPr marL="360045">
              <a:defRPr/>
            </a:lvl1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32000" y="1188000"/>
            <a:ext cx="4066182"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432000" y="2037714"/>
            <a:ext cx="4066182" cy="438828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629150" y="1188000"/>
            <a:ext cx="4082850"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4629150" y="2037714"/>
            <a:ext cx="4082850" cy="438828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 name="Title 1"/>
          <p:cNvSpPr>
            <a:spLocks noGrp="1"/>
          </p:cNvSpPr>
          <p:nvPr>
            <p:ph type="title"/>
          </p:nvPr>
        </p:nvSpPr>
        <p:spPr>
          <a:xfrm>
            <a:off x="432000" y="432000"/>
            <a:ext cx="8280000" cy="683692"/>
          </a:xfrm>
        </p:spPr>
        <p:txBody>
          <a:bodyPr anchor="b"/>
          <a:lstStyle/>
          <a:p>
            <a:r>
              <a:rPr lang="zh-CN" altLang="en-US"/>
              <a:t>单击此处编辑母版标题样式</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541337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541337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结束，致谢">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1268874" y="2155123"/>
            <a:ext cx="6606253" cy="1655763"/>
          </a:xfrm>
        </p:spPr>
        <p:txBody>
          <a:bodyPr anchor="b">
            <a:normAutofit/>
          </a:bodyPr>
          <a:lstStyle>
            <a:lvl1pPr algn="ctr">
              <a:defRPr sz="4400" b="1"/>
            </a:lvl1pPr>
          </a:lstStyle>
          <a:p>
            <a:r>
              <a:rPr lang="zh-CN" altLang="en-US"/>
              <a:t>单击此处编辑母版标题样式</a:t>
            </a:r>
            <a:endParaRPr lang="en-US" dirty="0"/>
          </a:p>
        </p:txBody>
      </p:sp>
      <p:sp>
        <p:nvSpPr>
          <p:cNvPr id="9" name="圆: 空心 8"/>
          <p:cNvSpPr/>
          <p:nvPr/>
        </p:nvSpPr>
        <p:spPr>
          <a:xfrm>
            <a:off x="8088487" y="5873868"/>
            <a:ext cx="720000" cy="720000"/>
          </a:xfrm>
          <a:prstGeom prst="donut">
            <a:avLst>
              <a:gd name="adj" fmla="val 24158"/>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US"/>
          </a:p>
        </p:txBody>
      </p:sp>
      <p:sp>
        <p:nvSpPr>
          <p:cNvPr id="3" name="SmartArt Placeholder 2"/>
          <p:cNvSpPr>
            <a:spLocks noGrp="1"/>
          </p:cNvSpPr>
          <p:nvPr>
            <p:ph type="dgm" idx="1"/>
          </p:nvPr>
        </p:nvSpPr>
        <p:spPr>
          <a:xfrm>
            <a:off x="457200" y="1600200"/>
            <a:ext cx="8229600" cy="4525963"/>
          </a:xfrm>
        </p:spPr>
        <p:txBody>
          <a:bodyPr/>
          <a:lstStyle/>
          <a:p>
            <a:pPr lvl="0"/>
            <a:endParaRPr lang="en-US" noProof="0"/>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fld id="{9CBF01F0-5869-42E2-A8FD-A9376291A2A2}" type="slidenum">
              <a:rPr lang="en-US" altLang="zh-CN"/>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showMasterSp="0">
  <p:cSld name="Section Header">
    <p:spTree>
      <p:nvGrpSpPr>
        <p:cNvPr id="1" name=""/>
        <p:cNvGrpSpPr/>
        <p:nvPr/>
      </p:nvGrpSpPr>
      <p:grpSpPr>
        <a:xfrm>
          <a:off x="0" y="0"/>
          <a:ext cx="0" cy="0"/>
          <a:chOff x="0" y="0"/>
          <a:chExt cx="0" cy="0"/>
        </a:xfrm>
      </p:grpSpPr>
      <p:sp>
        <p:nvSpPr>
          <p:cNvPr id="4" name="Rectangle 12"/>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5" name="Rectangle 13"/>
          <p:cNvSpPr>
            <a:spLocks noChangeArrowheads="1"/>
          </p:cNvSpPr>
          <p:nvPr/>
        </p:nvSpPr>
        <p:spPr bwMode="invGray">
          <a:xfrm>
            <a:off x="2286000" y="0"/>
            <a:ext cx="76200" cy="6858000"/>
          </a:xfrm>
          <a:prstGeom prst="rect">
            <a:avLst/>
          </a:prstGeom>
          <a:solidFill>
            <a:schemeClr val="bg1"/>
          </a:solidFill>
          <a:ln>
            <a:noFill/>
          </a:ln>
          <a:effectLst>
            <a:outerShdw blurRad="63500" dist="38000" dir="10800000" algn="tl" rotWithShape="0">
              <a:srgbClr val="73726C">
                <a:alpha val="2500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eaLnBrk="1" fontAlgn="auto" hangingPunct="1">
              <a:spcBef>
                <a:spcPts val="0"/>
              </a:spcBef>
              <a:spcAft>
                <a:spcPts val="0"/>
              </a:spcAft>
              <a:defRPr/>
            </a:pPr>
            <a:endParaRPr lang="en-US" sz="1350">
              <a:solidFill>
                <a:schemeClr val="lt1"/>
              </a:solidFill>
              <a:latin typeface="+mn-lt"/>
              <a:ea typeface="+mn-ea"/>
            </a:endParaRPr>
          </a:p>
        </p:txBody>
      </p:sp>
      <p:sp>
        <p:nvSpPr>
          <p:cNvPr id="6" name="Oval 1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sz="1350"/>
          </a:p>
        </p:txBody>
      </p:sp>
      <p:sp>
        <p:nvSpPr>
          <p:cNvPr id="7" name="Oval 16"/>
          <p:cNvSpPr/>
          <p:nvPr/>
        </p:nvSpPr>
        <p:spPr>
          <a:xfrm>
            <a:off x="2408239"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sz="1350"/>
          </a:p>
        </p:txBody>
      </p:sp>
      <p:sp>
        <p:nvSpPr>
          <p:cNvPr id="2" name="Title 1"/>
          <p:cNvSpPr>
            <a:spLocks noGrp="1"/>
          </p:cNvSpPr>
          <p:nvPr>
            <p:ph type="title"/>
          </p:nvPr>
        </p:nvSpPr>
        <p:spPr>
          <a:xfrm>
            <a:off x="2578392" y="2600325"/>
            <a:ext cx="6400800" cy="2286000"/>
          </a:xfrm>
        </p:spPr>
        <p:txBody>
          <a:bodyPr anchor="t"/>
          <a:lstStyle>
            <a:lvl1pPr algn="l">
              <a:lnSpc>
                <a:spcPts val="3375"/>
              </a:lnSpc>
              <a:buNone/>
              <a:defRPr sz="3000" b="1" cap="all"/>
            </a:lvl1pPr>
          </a:lstStyle>
          <a:p>
            <a:r>
              <a:rPr lang="en-US" altLang="zh-CN"/>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3970" indent="0">
              <a:lnSpc>
                <a:spcPts val="1725"/>
              </a:lnSpc>
              <a:spcBef>
                <a:spcPts val="0"/>
              </a:spcBef>
              <a:buNone/>
              <a:defRPr sz="1500">
                <a:solidFill>
                  <a:schemeClr val="tx2">
                    <a:shade val="30000"/>
                    <a:satMod val="150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a:r>
              <a:rPr lang="en-US" altLang="zh-CN"/>
              <a:t>Click to edit Master text styles</a:t>
            </a:r>
            <a:endParaRPr lang="en-US" altLang="zh-CN"/>
          </a:p>
        </p:txBody>
      </p:sp>
      <p:sp>
        <p:nvSpPr>
          <p:cNvPr id="8" name="Date Placeholder 3"/>
          <p:cNvSpPr>
            <a:spLocks noGrp="1"/>
          </p:cNvSpPr>
          <p:nvPr>
            <p:ph type="dt" sz="half" idx="10"/>
          </p:nvPr>
        </p:nvSpPr>
        <p:spPr/>
        <p:txBody>
          <a:bodyPr/>
          <a:lstStyle>
            <a:lvl1pPr>
              <a:defRPr/>
            </a:lvl1pPr>
          </a:lstStyle>
          <a:p>
            <a:pPr>
              <a:defRPr/>
            </a:pPr>
            <a:endParaRPr lang="zh-CN" altLang="en-US"/>
          </a:p>
        </p:txBody>
      </p:sp>
      <p:sp>
        <p:nvSpPr>
          <p:cNvPr id="9" name="Footer Placeholder 4"/>
          <p:cNvSpPr>
            <a:spLocks noGrp="1"/>
          </p:cNvSpPr>
          <p:nvPr>
            <p:ph type="ftr" sz="quarter" idx="11"/>
          </p:nvPr>
        </p:nvSpPr>
        <p:spPr/>
        <p:txBody>
          <a:bodyPr/>
          <a:lstStyle>
            <a:lvl1pPr>
              <a:defRPr/>
            </a:lvl1pPr>
          </a:lstStyle>
          <a:p>
            <a:endParaRPr lang="zh-CN" altLang="en-US"/>
          </a:p>
        </p:txBody>
      </p:sp>
      <p:sp>
        <p:nvSpPr>
          <p:cNvPr id="10" name="Slide Number Placeholder 5"/>
          <p:cNvSpPr>
            <a:spLocks noGrp="1"/>
          </p:cNvSpPr>
          <p:nvPr>
            <p:ph type="sldNum" sz="quarter" idx="12"/>
          </p:nvPr>
        </p:nvSpPr>
        <p:spPr/>
        <p:txBody>
          <a:bodyPr/>
          <a:lstStyle>
            <a:lvl1pPr>
              <a:defRPr/>
            </a:lvl1pPr>
          </a:lstStyle>
          <a:p>
            <a:pPr>
              <a:defRPr/>
            </a:pPr>
            <a:fld id="{B165537A-573F-4928-9A76-1F19383F4DCB}" type="slidenum">
              <a:rPr lang="zh-CN" altLang="en-US"/>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Rectangle 2"/>
          <p:cNvSpPr>
            <a:spLocks noGrp="1" noChangeArrowheads="1"/>
          </p:cNvSpPr>
          <p:nvPr>
            <p:ph type="dt" sz="half" idx="10"/>
          </p:nvPr>
        </p:nvSpPr>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a:defRPr/>
            </a:lvl1pPr>
          </a:lstStyle>
          <a:p>
            <a:pPr>
              <a:defRPr/>
            </a:pPr>
            <a:fld id="{91A651CC-8B39-45DF-A333-2A7D248E5017}" type="slidenum">
              <a:rPr lang="en-US" altLang="zh-CN"/>
            </a:fld>
            <a:endParaRPr lang="en-US" altLang="zh-CN"/>
          </a:p>
        </p:txBody>
      </p:sp>
      <p:sp>
        <p:nvSpPr>
          <p:cNvPr id="5"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showMasterSp="0">
  <p:cSld name="Blank">
    <p:spTree>
      <p:nvGrpSpPr>
        <p:cNvPr id="1" name=""/>
        <p:cNvGrpSpPr/>
        <p:nvPr/>
      </p:nvGrpSpPr>
      <p:grpSpPr>
        <a:xfrm>
          <a:off x="0" y="0"/>
          <a:ext cx="0" cy="0"/>
          <a:chOff x="0" y="0"/>
          <a:chExt cx="0" cy="0"/>
        </a:xfrm>
      </p:grpSpPr>
      <p:sp>
        <p:nvSpPr>
          <p:cNvPr id="2" name="Rectangle 12"/>
          <p:cNvSpPr/>
          <p:nvPr/>
        </p:nvSpPr>
        <p:spPr>
          <a:xfrm>
            <a:off x="1014414"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 name="Rectangle 13"/>
          <p:cNvSpPr>
            <a:spLocks noChangeArrowheads="1"/>
          </p:cNvSpPr>
          <p:nvPr/>
        </p:nvSpPr>
        <p:spPr bwMode="invGray">
          <a:xfrm>
            <a:off x="1014414" y="0"/>
            <a:ext cx="73025" cy="6858000"/>
          </a:xfrm>
          <a:prstGeom prst="rect">
            <a:avLst/>
          </a:prstGeom>
          <a:solidFill>
            <a:schemeClr val="bg1"/>
          </a:solidFill>
          <a:ln>
            <a:noFill/>
          </a:ln>
          <a:effectLst>
            <a:outerShdw blurRad="63500" dist="38000" dir="10800000" algn="tl" rotWithShape="0">
              <a:srgbClr val="73726C">
                <a:alpha val="2500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eaLnBrk="1" fontAlgn="auto" hangingPunct="1">
              <a:spcBef>
                <a:spcPts val="0"/>
              </a:spcBef>
              <a:spcAft>
                <a:spcPts val="0"/>
              </a:spcAft>
              <a:defRPr/>
            </a:pPr>
            <a:endParaRPr lang="en-US" sz="1350">
              <a:solidFill>
                <a:schemeClr val="lt1"/>
              </a:solidFill>
              <a:latin typeface="+mn-lt"/>
              <a:ea typeface="+mn-ea"/>
            </a:endParaRPr>
          </a:p>
        </p:txBody>
      </p:sp>
      <p:sp>
        <p:nvSpPr>
          <p:cNvPr id="4" name="Date Placeholder 1"/>
          <p:cNvSpPr>
            <a:spLocks noGrp="1"/>
          </p:cNvSpPr>
          <p:nvPr>
            <p:ph type="dt" sz="half" idx="10"/>
          </p:nvPr>
        </p:nvSpPr>
        <p:spPr/>
        <p:txBody>
          <a:bodyPr/>
          <a:lstStyle>
            <a:lvl1pPr>
              <a:defRPr/>
            </a:lvl1pPr>
          </a:lstStyle>
          <a:p>
            <a:pPr>
              <a:defRPr/>
            </a:pPr>
            <a:endParaRPr lang="zh-CN" altLang="en-US"/>
          </a:p>
        </p:txBody>
      </p:sp>
      <p:sp>
        <p:nvSpPr>
          <p:cNvPr id="5" name="Footer Placeholder 2"/>
          <p:cNvSpPr>
            <a:spLocks noGrp="1"/>
          </p:cNvSpPr>
          <p:nvPr>
            <p:ph type="ftr" sz="quarter" idx="11"/>
          </p:nvPr>
        </p:nvSpPr>
        <p:spPr/>
        <p:txBody>
          <a:bodyPr/>
          <a:lstStyle>
            <a:lvl1pPr>
              <a:defRPr/>
            </a:lvl1pPr>
          </a:lstStyle>
          <a:p>
            <a:endParaRPr lang="zh-CN" altLang="en-US"/>
          </a:p>
        </p:txBody>
      </p:sp>
      <p:sp>
        <p:nvSpPr>
          <p:cNvPr id="6" name="Slide Number Placeholder 3"/>
          <p:cNvSpPr>
            <a:spLocks noGrp="1"/>
          </p:cNvSpPr>
          <p:nvPr>
            <p:ph type="sldNum" sz="quarter" idx="12"/>
          </p:nvPr>
        </p:nvSpPr>
        <p:spPr/>
        <p:txBody>
          <a:bodyPr/>
          <a:lstStyle>
            <a:lvl1pPr>
              <a:defRPr/>
            </a:lvl1pPr>
          </a:lstStyle>
          <a:p>
            <a:pPr>
              <a:defRPr/>
            </a:pPr>
            <a:fld id="{6322C4C4-4215-4352-B597-B2750E65EFF0}" type="slidenum">
              <a:rPr lang="zh-CN" altLang="en-US"/>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800"/>
            </a:lvl1pPr>
            <a:lvl2pPr>
              <a:defRPr sz="2400"/>
            </a:lvl2pPr>
            <a:lvl3pPr>
              <a:defRPr sz="2000"/>
            </a:lvl3pPr>
            <a:lvl4pPr>
              <a:defRPr sz="1600"/>
            </a:lvl4pPr>
            <a:lvl5pPr>
              <a:defRPr sz="1600"/>
            </a:lvl5p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dirty="0"/>
          </a:p>
        </p:txBody>
      </p:sp>
      <p:sp>
        <p:nvSpPr>
          <p:cNvPr id="7" name="标题 6"/>
          <p:cNvSpPr>
            <a:spLocks noGrp="1"/>
          </p:cNvSpPr>
          <p:nvPr>
            <p:ph type="title"/>
          </p:nvPr>
        </p:nvSpPr>
        <p:spPr/>
        <p:txBody>
          <a:bodyPr>
            <a:normAutofit/>
          </a:bodyPr>
          <a:lstStyle>
            <a:lvl1pPr>
              <a:defRPr sz="4000"/>
            </a:lvl1pPr>
          </a:lstStyle>
          <a:p>
            <a:r>
              <a:rPr lang="zh-CN" altLang="en-US" dirty="0"/>
              <a:t>单击此处编辑母版标题样式</a:t>
            </a:r>
            <a:endParaRPr lang="en-US" dirty="0"/>
          </a:p>
        </p:txBody>
      </p:sp>
      <p:sp>
        <p:nvSpPr>
          <p:cNvPr id="8" name="日期占位符 7"/>
          <p:cNvSpPr>
            <a:spLocks noGrp="1"/>
          </p:cNvSpPr>
          <p:nvPr>
            <p:ph type="dt" sz="half" idx="10"/>
          </p:nvPr>
        </p:nvSpPr>
        <p:spPr/>
        <p:txBody>
          <a:bodyPr/>
          <a:lstStyle/>
          <a:p>
            <a:pPr>
              <a:defRPr/>
            </a:pPr>
            <a:endParaRPr lang="zh-CN" altLang="en-US"/>
          </a:p>
        </p:txBody>
      </p:sp>
      <p:sp>
        <p:nvSpPr>
          <p:cNvPr id="9" name="页脚占位符 8"/>
          <p:cNvSpPr>
            <a:spLocks noGrp="1"/>
          </p:cNvSpPr>
          <p:nvPr>
            <p:ph type="ftr" sz="quarter" idx="11"/>
          </p:nvPr>
        </p:nvSpPr>
        <p:spPr/>
        <p:txBody>
          <a:bodyPr/>
          <a:lstStyle/>
          <a:p>
            <a:endParaRPr lang="zh-CN" altLang="en-US"/>
          </a:p>
        </p:txBody>
      </p:sp>
      <p:sp>
        <p:nvSpPr>
          <p:cNvPr id="10" name="灯片编号占位符 9"/>
          <p:cNvSpPr>
            <a:spLocks noGrp="1"/>
          </p:cNvSpPr>
          <p:nvPr>
            <p:ph type="sldNum" sz="quarter" idx="12"/>
          </p:nvPr>
        </p:nvSpPr>
        <p:spPr/>
        <p:txBody>
          <a:bodyPr/>
          <a:lstStyle/>
          <a:p>
            <a:pPr>
              <a:defRPr/>
            </a:pPr>
            <a:fld id="{1AE995F9-82BC-4AFC-8E20-89426A466BF1}" type="slidenum">
              <a:rPr lang="zh-CN" altLang="en-US" smtClean="0"/>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emf"/><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000" y="432000"/>
            <a:ext cx="8280000" cy="683692"/>
          </a:xfrm>
          <a:prstGeom prst="rect">
            <a:avLst/>
          </a:prstGeom>
        </p:spPr>
        <p:txBody>
          <a:bodyPr vert="horz" lIns="91440" tIns="45720" rIns="91440" bIns="45720" rtlCol="0" anchor="t">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432000" y="1188000"/>
            <a:ext cx="82800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360045" indent="-360045" algn="l" defTabSz="914400" rtl="0" eaLnBrk="1" latinLnBrk="0" hangingPunct="1">
        <a:lnSpc>
          <a:spcPct val="100000"/>
        </a:lnSpc>
        <a:spcBef>
          <a:spcPts val="1000"/>
        </a:spcBef>
        <a:buClr>
          <a:schemeClr val="accent4"/>
        </a:buClr>
        <a:buFontTx/>
        <a:buBlip>
          <a:blip r:embed="rId16"/>
        </a:buBlip>
        <a:defRPr sz="2800" kern="1200">
          <a:solidFill>
            <a:schemeClr val="tx1"/>
          </a:solidFill>
          <a:latin typeface="+mj-ea"/>
          <a:ea typeface="+mj-ea"/>
          <a:cs typeface="+mn-cs"/>
        </a:defRPr>
      </a:lvl1pPr>
      <a:lvl2pPr marL="685800" indent="-288290" algn="l" defTabSz="914400" rtl="0" eaLnBrk="1" latinLnBrk="0" hangingPunct="1">
        <a:lnSpc>
          <a:spcPct val="100000"/>
        </a:lnSpc>
        <a:spcBef>
          <a:spcPts val="500"/>
        </a:spcBef>
        <a:buClr>
          <a:schemeClr val="accent4"/>
        </a:buClr>
        <a:buFontTx/>
        <a:buBlip>
          <a:blip r:embed="rId16"/>
        </a:buBlip>
        <a:defRPr sz="2400" kern="1200">
          <a:solidFill>
            <a:schemeClr val="tx1"/>
          </a:solidFill>
          <a:latin typeface="+mn-lt"/>
          <a:ea typeface="+mn-ea"/>
          <a:cs typeface="+mn-cs"/>
        </a:defRPr>
      </a:lvl2pPr>
      <a:lvl3pPr marL="1143000" indent="-230505" algn="l" defTabSz="914400" rtl="0" eaLnBrk="1" latinLnBrk="0" hangingPunct="1">
        <a:lnSpc>
          <a:spcPct val="100000"/>
        </a:lnSpc>
        <a:spcBef>
          <a:spcPts val="500"/>
        </a:spcBef>
        <a:buClr>
          <a:schemeClr val="accent4"/>
        </a:buClr>
        <a:buSzPct val="100000"/>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tags" Target="../tags/tag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tags" Target="../tags/tag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lstStyle/>
          <a:p>
            <a:r>
              <a:rPr lang="zh-CN" altLang="en-US" dirty="0"/>
              <a:t>第</a:t>
            </a:r>
            <a:r>
              <a:rPr lang="en-US" altLang="zh-CN" dirty="0"/>
              <a:t>23</a:t>
            </a:r>
            <a:r>
              <a:rPr lang="zh-CN" altLang="en-US" dirty="0"/>
              <a:t>讲 文件</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Rot="1" noChangeArrowheads="1"/>
          </p:cNvSpPr>
          <p:nvPr>
            <p:ph type="title"/>
          </p:nvPr>
        </p:nvSpPr>
        <p:spPr/>
        <p:txBody>
          <a:bodyPr/>
          <a:lstStyle/>
          <a:p>
            <a:pPr eaLnBrk="1" hangingPunct="1"/>
            <a:r>
              <a:rPr lang="zh-CN" altLang="en-US" dirty="0"/>
              <a:t>内容要点</a:t>
            </a:r>
            <a:endParaRPr lang="zh-CN" altLang="en-US" dirty="0"/>
          </a:p>
        </p:txBody>
      </p:sp>
      <p:sp>
        <p:nvSpPr>
          <p:cNvPr id="161795" name="Rectangle 3"/>
          <p:cNvSpPr>
            <a:spLocks noGrp="1" noChangeArrowheads="1"/>
          </p:cNvSpPr>
          <p:nvPr>
            <p:ph idx="1"/>
          </p:nvPr>
        </p:nvSpPr>
        <p:spPr/>
        <p:txBody>
          <a:bodyPr/>
          <a:lstStyle/>
          <a:p>
            <a:r>
              <a:rPr lang="zh-CN" altLang="en-US" dirty="0"/>
              <a:t>文件</a:t>
            </a:r>
            <a:endParaRPr lang="en-US" altLang="zh-CN" dirty="0"/>
          </a:p>
          <a:p>
            <a:pPr lvl="1"/>
            <a:r>
              <a:rPr lang="zh-CN" altLang="en-US" dirty="0"/>
              <a:t>文件的概念</a:t>
            </a:r>
            <a:endParaRPr lang="zh-CN" altLang="en-US" dirty="0"/>
          </a:p>
          <a:p>
            <a:pPr lvl="1"/>
            <a:r>
              <a:rPr lang="zh-CN" altLang="en-US" dirty="0"/>
              <a:t>文件指针</a:t>
            </a:r>
            <a:endParaRPr lang="zh-CN" altLang="en-US" dirty="0"/>
          </a:p>
          <a:p>
            <a:pPr lvl="1"/>
            <a:r>
              <a:rPr lang="zh-CN" altLang="en-US" dirty="0"/>
              <a:t>文件的打开与关闭</a:t>
            </a:r>
            <a:endParaRPr lang="zh-CN" altLang="en-US" dirty="0"/>
          </a:p>
          <a:p>
            <a:pPr lvl="1"/>
            <a:r>
              <a:rPr lang="zh-CN" altLang="en-US" dirty="0"/>
              <a:t>文件的读写</a:t>
            </a:r>
            <a:endParaRPr lang="zh-CN" altLang="en-US" dirty="0"/>
          </a:p>
          <a:p>
            <a:pPr lvl="1"/>
            <a:r>
              <a:rPr lang="zh-CN" altLang="en-US" dirty="0"/>
              <a:t>文件的定位</a:t>
            </a:r>
            <a:endParaRPr lang="zh-CN" altLang="en-US" dirty="0"/>
          </a:p>
          <a:p>
            <a:r>
              <a:rPr lang="zh-CN" altLang="en-US" dirty="0"/>
              <a:t>工程</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8130" name="Rectangle 2"/>
          <p:cNvSpPr>
            <a:spLocks noGrp="1" noChangeArrowheads="1"/>
          </p:cNvSpPr>
          <p:nvPr>
            <p:ph type="title"/>
          </p:nvPr>
        </p:nvSpPr>
        <p:spPr/>
        <p:txBody>
          <a:bodyPr/>
          <a:lstStyle/>
          <a:p>
            <a:r>
              <a:rPr lang="zh-CN" altLang="en-US" dirty="0">
                <a:latin typeface="华文新魏" panose="02010800040101010101" pitchFamily="2" charset="-122"/>
              </a:rPr>
              <a:t>文件</a:t>
            </a:r>
            <a:endParaRPr lang="zh-CN" altLang="en-US" dirty="0">
              <a:latin typeface="华文新魏" panose="02010800040101010101" pitchFamily="2" charset="-122"/>
            </a:endParaRPr>
          </a:p>
        </p:txBody>
      </p:sp>
      <p:sp>
        <p:nvSpPr>
          <p:cNvPr id="1328131" name="Rectangle 3"/>
          <p:cNvSpPr>
            <a:spLocks noGrp="1" noChangeArrowheads="1"/>
          </p:cNvSpPr>
          <p:nvPr>
            <p:ph idx="1"/>
          </p:nvPr>
        </p:nvSpPr>
        <p:spPr/>
        <p:txBody>
          <a:bodyPr/>
          <a:lstStyle/>
          <a:p>
            <a:r>
              <a:rPr lang="zh-CN" altLang="en-US" dirty="0"/>
              <a:t>文件</a:t>
            </a:r>
            <a:r>
              <a:rPr lang="en-US" altLang="zh-CN" dirty="0"/>
              <a:t>: </a:t>
            </a:r>
            <a:r>
              <a:rPr lang="zh-CN" altLang="en-US" dirty="0"/>
              <a:t>存储在外存储器上的数据集合。</a:t>
            </a:r>
            <a:endParaRPr lang="zh-CN" altLang="en-US" dirty="0"/>
          </a:p>
        </p:txBody>
      </p:sp>
      <p:grpSp>
        <p:nvGrpSpPr>
          <p:cNvPr id="1328133" name="Group 5"/>
          <p:cNvGrpSpPr/>
          <p:nvPr/>
        </p:nvGrpSpPr>
        <p:grpSpPr bwMode="auto">
          <a:xfrm>
            <a:off x="2291735" y="3629876"/>
            <a:ext cx="1035050" cy="1212850"/>
            <a:chOff x="2051" y="2598"/>
            <a:chExt cx="652" cy="764"/>
          </a:xfrm>
        </p:grpSpPr>
        <p:sp>
          <p:nvSpPr>
            <p:cNvPr id="1328134" name="AutoShape 6"/>
            <p:cNvSpPr>
              <a:spLocks noChangeArrowheads="1"/>
            </p:cNvSpPr>
            <p:nvPr/>
          </p:nvSpPr>
          <p:spPr bwMode="auto">
            <a:xfrm>
              <a:off x="2051" y="2598"/>
              <a:ext cx="652" cy="764"/>
            </a:xfrm>
            <a:prstGeom prst="flowChartDocument">
              <a:avLst/>
            </a:prstGeom>
            <a:solidFill>
              <a:srgbClr val="CCFF99"/>
            </a:solidFill>
            <a:ln w="9525" algn="ctr">
              <a:solidFill>
                <a:srgbClr val="008000"/>
              </a:solidFill>
              <a:miter lim="800000"/>
            </a:ln>
            <a:effectLst>
              <a:outerShdw dist="107763" dir="2700000" algn="ctr" rotWithShape="0">
                <a:schemeClr val="bg2">
                  <a:alpha val="50000"/>
                </a:schemeClr>
              </a:outerShdw>
            </a:effectLst>
          </p:spPr>
          <p:txBody>
            <a:bodyPr wrap="none" anchor="ctr"/>
            <a:lstStyle/>
            <a:p>
              <a:pPr algn="ctr"/>
              <a:endParaRPr lang="zh-CN" altLang="zh-CN" b="1">
                <a:solidFill>
                  <a:srgbClr val="008000"/>
                </a:solidFill>
                <a:latin typeface="Courier New" panose="02070309020205020404" pitchFamily="49" charset="0"/>
              </a:endParaRPr>
            </a:p>
          </p:txBody>
        </p:sp>
        <p:sp>
          <p:nvSpPr>
            <p:cNvPr id="1328135" name="Line 7"/>
            <p:cNvSpPr>
              <a:spLocks noChangeShapeType="1"/>
            </p:cNvSpPr>
            <p:nvPr/>
          </p:nvSpPr>
          <p:spPr bwMode="auto">
            <a:xfrm>
              <a:off x="2063" y="2692"/>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36" name="Line 8"/>
            <p:cNvSpPr>
              <a:spLocks noChangeShapeType="1"/>
            </p:cNvSpPr>
            <p:nvPr/>
          </p:nvSpPr>
          <p:spPr bwMode="auto">
            <a:xfrm>
              <a:off x="2063" y="2776"/>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37" name="Line 9"/>
            <p:cNvSpPr>
              <a:spLocks noChangeShapeType="1"/>
            </p:cNvSpPr>
            <p:nvPr/>
          </p:nvSpPr>
          <p:spPr bwMode="auto">
            <a:xfrm>
              <a:off x="2063" y="2860"/>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38" name="Line 10"/>
            <p:cNvSpPr>
              <a:spLocks noChangeShapeType="1"/>
            </p:cNvSpPr>
            <p:nvPr/>
          </p:nvSpPr>
          <p:spPr bwMode="auto">
            <a:xfrm>
              <a:off x="2063" y="2944"/>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39" name="Line 11"/>
            <p:cNvSpPr>
              <a:spLocks noChangeShapeType="1"/>
            </p:cNvSpPr>
            <p:nvPr/>
          </p:nvSpPr>
          <p:spPr bwMode="auto">
            <a:xfrm>
              <a:off x="2063" y="3028"/>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40" name="Line 12"/>
            <p:cNvSpPr>
              <a:spLocks noChangeShapeType="1"/>
            </p:cNvSpPr>
            <p:nvPr/>
          </p:nvSpPr>
          <p:spPr bwMode="auto">
            <a:xfrm>
              <a:off x="2063" y="3113"/>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28141" name="Line 13"/>
            <p:cNvSpPr>
              <a:spLocks noChangeShapeType="1"/>
            </p:cNvSpPr>
            <p:nvPr/>
          </p:nvSpPr>
          <p:spPr bwMode="auto">
            <a:xfrm>
              <a:off x="2067" y="3195"/>
              <a:ext cx="300" cy="0"/>
            </a:xfrm>
            <a:prstGeom prst="line">
              <a:avLst/>
            </a:prstGeom>
            <a:noFill/>
            <a:ln w="952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grpSp>
      <p:grpSp>
        <p:nvGrpSpPr>
          <p:cNvPr id="1328142" name="Group 14"/>
          <p:cNvGrpSpPr/>
          <p:nvPr/>
        </p:nvGrpSpPr>
        <p:grpSpPr bwMode="auto">
          <a:xfrm>
            <a:off x="4988897" y="3880701"/>
            <a:ext cx="1287463" cy="514350"/>
            <a:chOff x="3438" y="2762"/>
            <a:chExt cx="811" cy="324"/>
          </a:xfrm>
        </p:grpSpPr>
        <p:sp>
          <p:nvSpPr>
            <p:cNvPr id="1328143" name="AutoShape 15"/>
            <p:cNvSpPr>
              <a:spLocks noChangeArrowheads="1"/>
            </p:cNvSpPr>
            <p:nvPr/>
          </p:nvSpPr>
          <p:spPr bwMode="auto">
            <a:xfrm>
              <a:off x="3438" y="2762"/>
              <a:ext cx="811" cy="324"/>
            </a:xfrm>
            <a:prstGeom prst="flowChartMagneticDisk">
              <a:avLst/>
            </a:prstGeom>
            <a:solidFill>
              <a:schemeClr val="accent1"/>
            </a:solidFill>
            <a:ln w="9525">
              <a:solidFill>
                <a:srgbClr val="3366FF"/>
              </a:solidFill>
              <a:round/>
            </a:ln>
            <a:effectLst>
              <a:outerShdw dist="107763" dir="2700000" algn="ctr" rotWithShape="0">
                <a:schemeClr val="bg2">
                  <a:alpha val="50000"/>
                </a:schemeClr>
              </a:outerShdw>
            </a:effectLst>
          </p:spPr>
          <p:txBody>
            <a:bodyPr wrap="none" anchor="ctr"/>
            <a:lstStyle/>
            <a:p>
              <a:pPr algn="ctr"/>
              <a:endParaRPr lang="zh-CN" altLang="zh-CN" sz="1400" b="1">
                <a:solidFill>
                  <a:srgbClr val="3366FF"/>
                </a:solidFill>
                <a:latin typeface="Courier New" panose="02070309020205020404" pitchFamily="49" charset="0"/>
              </a:endParaRPr>
            </a:p>
          </p:txBody>
        </p:sp>
        <p:sp>
          <p:nvSpPr>
            <p:cNvPr id="1328144" name="AutoShape 16"/>
            <p:cNvSpPr>
              <a:spLocks noChangeArrowheads="1"/>
            </p:cNvSpPr>
            <p:nvPr/>
          </p:nvSpPr>
          <p:spPr bwMode="auto">
            <a:xfrm>
              <a:off x="3587" y="2904"/>
              <a:ext cx="82" cy="111"/>
            </a:xfrm>
            <a:prstGeom prst="foldedCorner">
              <a:avLst>
                <a:gd name="adj" fmla="val 12500"/>
              </a:avLst>
            </a:prstGeom>
            <a:solidFill>
              <a:schemeClr val="bg1"/>
            </a:solidFill>
            <a:ln w="9525">
              <a:solidFill>
                <a:schemeClr val="bg2"/>
              </a:solidFill>
              <a:round/>
            </a:ln>
            <a:effectLst>
              <a:outerShdw dist="35921" dir="2700000" algn="ctr" rotWithShape="0">
                <a:schemeClr val="bg2">
                  <a:alpha val="50000"/>
                </a:schemeClr>
              </a:outerShdw>
            </a:effectLst>
          </p:spPr>
          <p:txBody>
            <a:bodyPr wrap="none" anchor="ctr"/>
            <a:lstStyle/>
            <a:p>
              <a:endParaRPr lang="zh-CN" altLang="en-US"/>
            </a:p>
          </p:txBody>
        </p:sp>
        <p:sp>
          <p:nvSpPr>
            <p:cNvPr id="1328145" name="AutoShape 17"/>
            <p:cNvSpPr>
              <a:spLocks noChangeArrowheads="1"/>
            </p:cNvSpPr>
            <p:nvPr/>
          </p:nvSpPr>
          <p:spPr bwMode="auto">
            <a:xfrm>
              <a:off x="3732" y="2904"/>
              <a:ext cx="82" cy="111"/>
            </a:xfrm>
            <a:prstGeom prst="foldedCorner">
              <a:avLst>
                <a:gd name="adj" fmla="val 12500"/>
              </a:avLst>
            </a:prstGeom>
            <a:solidFill>
              <a:schemeClr val="bg1"/>
            </a:solidFill>
            <a:ln w="9525">
              <a:solidFill>
                <a:schemeClr val="bg2"/>
              </a:solidFill>
              <a:round/>
            </a:ln>
            <a:effectLst>
              <a:outerShdw dist="35921" dir="2700000" algn="ctr" rotWithShape="0">
                <a:schemeClr val="bg2">
                  <a:alpha val="50000"/>
                </a:schemeClr>
              </a:outerShdw>
            </a:effectLst>
          </p:spPr>
          <p:txBody>
            <a:bodyPr wrap="none" anchor="ctr"/>
            <a:lstStyle/>
            <a:p>
              <a:endParaRPr lang="zh-CN" altLang="en-US"/>
            </a:p>
          </p:txBody>
        </p:sp>
        <p:sp>
          <p:nvSpPr>
            <p:cNvPr id="1328146" name="AutoShape 18"/>
            <p:cNvSpPr>
              <a:spLocks noChangeArrowheads="1"/>
            </p:cNvSpPr>
            <p:nvPr/>
          </p:nvSpPr>
          <p:spPr bwMode="auto">
            <a:xfrm>
              <a:off x="3878" y="2904"/>
              <a:ext cx="82" cy="111"/>
            </a:xfrm>
            <a:prstGeom prst="foldedCorner">
              <a:avLst>
                <a:gd name="adj" fmla="val 12500"/>
              </a:avLst>
            </a:prstGeom>
            <a:solidFill>
              <a:schemeClr val="bg1"/>
            </a:solidFill>
            <a:ln w="9525">
              <a:solidFill>
                <a:schemeClr val="bg2"/>
              </a:solidFill>
              <a:round/>
            </a:ln>
            <a:effectLst>
              <a:outerShdw dist="35921" dir="2700000" algn="ctr" rotWithShape="0">
                <a:schemeClr val="bg2">
                  <a:alpha val="50000"/>
                </a:schemeClr>
              </a:outerShdw>
            </a:effectLst>
          </p:spPr>
          <p:txBody>
            <a:bodyPr wrap="none" anchor="ctr"/>
            <a:lstStyle/>
            <a:p>
              <a:endParaRPr lang="zh-CN" altLang="en-US"/>
            </a:p>
          </p:txBody>
        </p:sp>
        <p:sp>
          <p:nvSpPr>
            <p:cNvPr id="1328147" name="AutoShape 19"/>
            <p:cNvSpPr>
              <a:spLocks noChangeArrowheads="1"/>
            </p:cNvSpPr>
            <p:nvPr/>
          </p:nvSpPr>
          <p:spPr bwMode="auto">
            <a:xfrm>
              <a:off x="4024" y="2904"/>
              <a:ext cx="82" cy="111"/>
            </a:xfrm>
            <a:prstGeom prst="foldedCorner">
              <a:avLst>
                <a:gd name="adj" fmla="val 12500"/>
              </a:avLst>
            </a:prstGeom>
            <a:solidFill>
              <a:schemeClr val="bg1"/>
            </a:solidFill>
            <a:ln w="9525">
              <a:solidFill>
                <a:schemeClr val="bg2"/>
              </a:solidFill>
              <a:round/>
            </a:ln>
            <a:effectLst>
              <a:outerShdw dist="35921" dir="2700000" algn="ctr" rotWithShape="0">
                <a:schemeClr val="bg2">
                  <a:alpha val="50000"/>
                </a:schemeClr>
              </a:outerShdw>
            </a:effectLst>
          </p:spPr>
          <p:txBody>
            <a:bodyPr wrap="none" anchor="ctr"/>
            <a:lstStyle/>
            <a:p>
              <a:endParaRPr lang="zh-CN" altLang="en-US"/>
            </a:p>
          </p:txBody>
        </p:sp>
      </p:grpSp>
      <p:sp>
        <p:nvSpPr>
          <p:cNvPr id="1328148" name="Text Box 20"/>
          <p:cNvSpPr txBox="1">
            <a:spLocks noChangeArrowheads="1"/>
          </p:cNvSpPr>
          <p:nvPr/>
        </p:nvSpPr>
        <p:spPr bwMode="auto">
          <a:xfrm>
            <a:off x="2060754" y="4969991"/>
            <a:ext cx="1465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66FF"/>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p>
            <a:pPr algn="ctr">
              <a:spcBef>
                <a:spcPct val="50000"/>
              </a:spcBef>
            </a:pPr>
            <a:r>
              <a:rPr lang="zh-CN" altLang="en-US" sz="2800" b="1" dirty="0">
                <a:solidFill>
                  <a:srgbClr val="008000"/>
                </a:solidFill>
              </a:rPr>
              <a:t>内存</a:t>
            </a:r>
            <a:endParaRPr lang="zh-CN" altLang="en-US" sz="2800" b="1" dirty="0">
              <a:solidFill>
                <a:srgbClr val="008000"/>
              </a:solidFill>
            </a:endParaRPr>
          </a:p>
        </p:txBody>
      </p:sp>
      <p:sp>
        <p:nvSpPr>
          <p:cNvPr id="1328149" name="Text Box 21"/>
          <p:cNvSpPr txBox="1">
            <a:spLocks noChangeArrowheads="1"/>
          </p:cNvSpPr>
          <p:nvPr/>
        </p:nvSpPr>
        <p:spPr bwMode="auto">
          <a:xfrm>
            <a:off x="4916466" y="4577614"/>
            <a:ext cx="14652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66FF"/>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p>
            <a:pPr algn="ctr">
              <a:spcBef>
                <a:spcPct val="50000"/>
              </a:spcBef>
            </a:pPr>
            <a:r>
              <a:rPr lang="zh-CN" altLang="en-US" sz="2800" b="1" dirty="0">
                <a:solidFill>
                  <a:srgbClr val="3366FF"/>
                </a:solidFill>
              </a:rPr>
              <a:t>硬盘</a:t>
            </a:r>
            <a:endParaRPr lang="zh-CN" altLang="en-US" sz="2800" b="1" dirty="0">
              <a:solidFill>
                <a:srgbClr val="3366FF"/>
              </a:solidFill>
            </a:endParaRPr>
          </a:p>
        </p:txBody>
      </p:sp>
      <p:sp>
        <p:nvSpPr>
          <p:cNvPr id="1328150" name="AutoShape 22"/>
          <p:cNvSpPr>
            <a:spLocks noChangeArrowheads="1"/>
          </p:cNvSpPr>
          <p:nvPr/>
        </p:nvSpPr>
        <p:spPr bwMode="auto">
          <a:xfrm>
            <a:off x="3571260" y="3974363"/>
            <a:ext cx="1184275" cy="307975"/>
          </a:xfrm>
          <a:prstGeom prst="leftRightArrow">
            <a:avLst>
              <a:gd name="adj1" fmla="val 50000"/>
              <a:gd name="adj2" fmla="val 76907"/>
            </a:avLst>
          </a:prstGeom>
          <a:solidFill>
            <a:srgbClr val="FFCCFF"/>
          </a:solidFill>
          <a:ln w="9525" algn="ctr">
            <a:solidFill>
              <a:srgbClr val="FF00FF"/>
            </a:solidFill>
            <a:miter lim="800000"/>
          </a:ln>
          <a:effectLst>
            <a:outerShdw dist="107763" dir="2700000" algn="ctr" rotWithShape="0">
              <a:schemeClr val="bg2">
                <a:alpha val="50000"/>
              </a:schemeClr>
            </a:outerShdw>
          </a:effectLst>
        </p:spPr>
        <p:txBody>
          <a:bodyPr wrap="none" anchor="ctr"/>
          <a:lstStyle/>
          <a:p>
            <a:endParaRPr lang="zh-CN" altLang="en-US"/>
          </a:p>
        </p:txBody>
      </p:sp>
      <p:sp>
        <p:nvSpPr>
          <p:cNvPr id="1328151" name="Text Box 23"/>
          <p:cNvSpPr txBox="1">
            <a:spLocks noChangeArrowheads="1"/>
          </p:cNvSpPr>
          <p:nvPr/>
        </p:nvSpPr>
        <p:spPr bwMode="auto">
          <a:xfrm>
            <a:off x="3438266" y="3537711"/>
            <a:ext cx="146526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66FF"/>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p>
            <a:pPr algn="ctr">
              <a:spcBef>
                <a:spcPct val="50000"/>
              </a:spcBef>
            </a:pPr>
            <a:r>
              <a:rPr lang="zh-CN" altLang="en-US" sz="2000" b="1" dirty="0">
                <a:solidFill>
                  <a:srgbClr val="FF00FF"/>
                </a:solidFill>
              </a:rPr>
              <a:t>写</a:t>
            </a:r>
            <a:endParaRPr lang="zh-CN" altLang="en-US" sz="2000" b="1" dirty="0">
              <a:solidFill>
                <a:srgbClr val="FF00FF"/>
              </a:solidFill>
            </a:endParaRPr>
          </a:p>
          <a:p>
            <a:pPr algn="ctr">
              <a:spcBef>
                <a:spcPct val="50000"/>
              </a:spcBef>
            </a:pPr>
            <a:endParaRPr lang="zh-CN" altLang="en-US" sz="2000" b="1" dirty="0">
              <a:solidFill>
                <a:srgbClr val="FF00FF"/>
              </a:solidFill>
            </a:endParaRPr>
          </a:p>
          <a:p>
            <a:pPr algn="ctr">
              <a:spcBef>
                <a:spcPct val="50000"/>
              </a:spcBef>
            </a:pPr>
            <a:r>
              <a:rPr lang="zh-CN" altLang="en-US" sz="2000" b="1" dirty="0">
                <a:solidFill>
                  <a:srgbClr val="FF00FF"/>
                </a:solidFill>
              </a:rPr>
              <a:t>读</a:t>
            </a:r>
            <a:endParaRPr lang="zh-CN" altLang="en-US" sz="2000" b="1" dirty="0">
              <a:solidFill>
                <a:srgbClr val="FF00FF"/>
              </a:solidFill>
            </a:endParaRPr>
          </a:p>
        </p:txBody>
      </p:sp>
      <p:sp>
        <p:nvSpPr>
          <p:cNvPr id="1328152" name="AutoShape 24"/>
          <p:cNvSpPr>
            <a:spLocks noChangeArrowheads="1"/>
          </p:cNvSpPr>
          <p:nvPr/>
        </p:nvSpPr>
        <p:spPr bwMode="auto">
          <a:xfrm>
            <a:off x="508971" y="2255554"/>
            <a:ext cx="2800352" cy="1177126"/>
          </a:xfrm>
          <a:prstGeom prst="wedgeRectCallout">
            <a:avLst>
              <a:gd name="adj1" fmla="val 23962"/>
              <a:gd name="adj2" fmla="val 63870"/>
            </a:avLst>
          </a:prstGeom>
          <a:gradFill rotWithShape="1">
            <a:gsLst>
              <a:gs pos="0">
                <a:srgbClr val="CCFFCC">
                  <a:gamma/>
                  <a:shade val="85882"/>
                  <a:invGamma/>
                </a:srgbClr>
              </a:gs>
              <a:gs pos="50000">
                <a:srgbClr val="CCFFCC"/>
              </a:gs>
              <a:gs pos="100000">
                <a:srgbClr val="CCFFCC">
                  <a:gamma/>
                  <a:shade val="85882"/>
                  <a:invGamma/>
                </a:srgbClr>
              </a:gs>
            </a:gsLst>
            <a:lin ang="2700000" scaled="1"/>
          </a:gradFill>
          <a:ln w="9525" algn="ctr">
            <a:solidFill>
              <a:srgbClr val="00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20000"/>
              </a:lnSpc>
              <a:spcBef>
                <a:spcPts val="825"/>
              </a:spcBef>
              <a:spcAft>
                <a:spcPts val="825"/>
              </a:spcAft>
            </a:pPr>
            <a:r>
              <a:rPr kumimoji="1" lang="zh-CN" altLang="en-US" sz="2400" b="1" dirty="0">
                <a:solidFill>
                  <a:srgbClr val="009900"/>
                </a:solidFill>
                <a:latin typeface="Times New Roman" panose="02020603050405020304" pitchFamily="18" charset="0"/>
              </a:rPr>
              <a:t>保存在变量和数组中的数据是暂时的</a:t>
            </a:r>
            <a:endParaRPr kumimoji="1" lang="zh-CN" altLang="en-US" sz="2400" b="1" dirty="0">
              <a:solidFill>
                <a:srgbClr val="009900"/>
              </a:solidFill>
              <a:latin typeface="Times New Roman" panose="02020603050405020304" pitchFamily="18" charset="0"/>
            </a:endParaRPr>
          </a:p>
        </p:txBody>
      </p:sp>
      <p:sp>
        <p:nvSpPr>
          <p:cNvPr id="1328153" name="AutoShape 25"/>
          <p:cNvSpPr>
            <a:spLocks noChangeArrowheads="1"/>
          </p:cNvSpPr>
          <p:nvPr/>
        </p:nvSpPr>
        <p:spPr bwMode="auto">
          <a:xfrm>
            <a:off x="5455622" y="2311213"/>
            <a:ext cx="2694940" cy="1121467"/>
          </a:xfrm>
          <a:prstGeom prst="wedgeRectCallout">
            <a:avLst>
              <a:gd name="adj1" fmla="val -26799"/>
              <a:gd name="adj2" fmla="val 77451"/>
            </a:avLst>
          </a:prstGeom>
          <a:gradFill rotWithShape="1">
            <a:gsLst>
              <a:gs pos="0">
                <a:srgbClr val="CCFFFF">
                  <a:gamma/>
                  <a:shade val="72941"/>
                  <a:invGamma/>
                </a:srgbClr>
              </a:gs>
              <a:gs pos="50000">
                <a:srgbClr val="CCFFFF"/>
              </a:gs>
              <a:gs pos="100000">
                <a:srgbClr val="CCFFFF">
                  <a:gamma/>
                  <a:shade val="72941"/>
                  <a:invGamma/>
                </a:srgbClr>
              </a:gs>
            </a:gsLst>
            <a:lin ang="2700000" scaled="1"/>
          </a:gra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20000"/>
              </a:lnSpc>
              <a:spcBef>
                <a:spcPts val="825"/>
              </a:spcBef>
              <a:spcAft>
                <a:spcPts val="825"/>
              </a:spcAft>
            </a:pPr>
            <a:r>
              <a:rPr kumimoji="1" lang="zh-CN" altLang="en-US" sz="2400" b="1" dirty="0">
                <a:solidFill>
                  <a:srgbClr val="3333FF"/>
                </a:solidFill>
                <a:latin typeface="Times New Roman" panose="02020603050405020304" pitchFamily="18" charset="0"/>
              </a:rPr>
              <a:t>大量的数据保存到文件实现永久存储</a:t>
            </a:r>
            <a:endParaRPr kumimoji="1" lang="zh-CN" altLang="en-US" sz="2400" b="1" dirty="0">
              <a:solidFill>
                <a:srgbClr val="3333FF"/>
              </a:solidFill>
              <a:latin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6365743" y="3853045"/>
            <a:ext cx="2820559" cy="858585"/>
          </a:xfrm>
          <a:prstGeom prst="rect">
            <a:avLst/>
          </a:prstGeom>
        </p:spPr>
      </p:pic>
      <p:pic>
        <p:nvPicPr>
          <p:cNvPr id="5" name="图片 4"/>
          <p:cNvPicPr>
            <a:picLocks noChangeAspect="1"/>
          </p:cNvPicPr>
          <p:nvPr/>
        </p:nvPicPr>
        <p:blipFill>
          <a:blip r:embed="rId2"/>
          <a:stretch>
            <a:fillRect/>
          </a:stretch>
        </p:blipFill>
        <p:spPr>
          <a:xfrm>
            <a:off x="6532282" y="4788904"/>
            <a:ext cx="2366995" cy="623859"/>
          </a:xfrm>
          <a:prstGeom prst="rect">
            <a:avLst/>
          </a:prstGeom>
        </p:spPr>
      </p:pic>
      <p:sp>
        <p:nvSpPr>
          <p:cNvPr id="28" name="TextBox 27"/>
          <p:cNvSpPr txBox="1"/>
          <p:nvPr/>
        </p:nvSpPr>
        <p:spPr>
          <a:xfrm>
            <a:off x="1672293" y="5754534"/>
            <a:ext cx="6633208" cy="830997"/>
          </a:xfrm>
          <a:prstGeom prst="rect">
            <a:avLst/>
          </a:prstGeom>
          <a:noFill/>
        </p:spPr>
        <p:txBody>
          <a:bodyPr wrap="square">
            <a:spAutoFit/>
          </a:bodyPr>
          <a:lstStyle/>
          <a:p>
            <a:r>
              <a:rPr lang="zh-CN" altLang="en-US" sz="2400" dirty="0"/>
              <a:t>内存：断电即失，空间偏小（如</a:t>
            </a:r>
            <a:r>
              <a:rPr lang="en-US" altLang="zh-CN" sz="2400" dirty="0"/>
              <a:t>64GB</a:t>
            </a:r>
            <a:r>
              <a:rPr lang="zh-CN" altLang="en-US" sz="2400" dirty="0"/>
              <a:t>）</a:t>
            </a:r>
            <a:endParaRPr lang="en-US" altLang="zh-CN" sz="2400" dirty="0"/>
          </a:p>
          <a:p>
            <a:r>
              <a:rPr lang="zh-CN" altLang="en-US" sz="2400" dirty="0"/>
              <a:t>硬盘：断电仍在，空间较大（如</a:t>
            </a:r>
            <a:r>
              <a:rPr lang="en-US" altLang="zh-CN" sz="2400" dirty="0"/>
              <a:t>1TB</a:t>
            </a:r>
            <a:r>
              <a:rPr lang="zh-CN" altLang="en-US" sz="2400" dirty="0"/>
              <a:t>）</a:t>
            </a:r>
            <a:endParaRPr lang="zh-CN" altLang="zh-C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如何完成下面任务？</a:t>
            </a:r>
            <a:endParaRPr lang="zh-CN" altLang="en-US" dirty="0"/>
          </a:p>
        </p:txBody>
      </p:sp>
      <p:sp>
        <p:nvSpPr>
          <p:cNvPr id="3" name="内容占位符 2"/>
          <p:cNvSpPr>
            <a:spLocks noGrp="1"/>
          </p:cNvSpPr>
          <p:nvPr>
            <p:ph idx="1"/>
          </p:nvPr>
        </p:nvSpPr>
        <p:spPr>
          <a:xfrm>
            <a:off x="432000" y="1844936"/>
            <a:ext cx="8280000" cy="4455063"/>
          </a:xfrm>
        </p:spPr>
        <p:txBody>
          <a:bodyPr>
            <a:normAutofit/>
          </a:bodyPr>
          <a:lstStyle/>
          <a:p>
            <a:pPr marL="514350" indent="-514350">
              <a:buFont typeface="+mj-lt"/>
              <a:buAutoNum type="arabicPeriod"/>
            </a:pPr>
            <a:r>
              <a:rPr lang="zh-CN" altLang="en-US" sz="3200" dirty="0"/>
              <a:t>将结构体数组中的学生信息存入到文件中</a:t>
            </a:r>
            <a:endParaRPr lang="en-US" altLang="zh-CN" sz="3200" dirty="0"/>
          </a:p>
          <a:p>
            <a:pPr marL="514350" indent="-514350">
              <a:buFont typeface="+mj-lt"/>
              <a:buAutoNum type="arabicPeriod"/>
            </a:pPr>
            <a:r>
              <a:rPr lang="zh-CN" altLang="en-US" sz="3200" dirty="0"/>
              <a:t>将文件中的学生信息读入到结构体数组</a:t>
            </a:r>
            <a:endParaRPr lang="en-US" altLang="zh-CN" sz="3200" dirty="0"/>
          </a:p>
          <a:p>
            <a:pPr marL="514350" indent="-514350">
              <a:buFont typeface="+mj-lt"/>
              <a:buAutoNum type="arabicPeriod"/>
            </a:pPr>
            <a:r>
              <a:rPr lang="zh-CN" altLang="en-US" sz="3200" dirty="0"/>
              <a:t>命令行实现文件的复制</a:t>
            </a:r>
            <a:endParaRPr lang="en-US" altLang="zh-CN" sz="3200" dirty="0"/>
          </a:p>
          <a:p>
            <a:pPr marL="514350" indent="-514350">
              <a:buFont typeface="+mj-lt"/>
              <a:buAutoNum type="arabicPeriod"/>
            </a:pPr>
            <a:endParaRPr lang="zh-CN" altLang="en-US" sz="3200" dirty="0"/>
          </a:p>
        </p:txBody>
      </p:sp>
      <p:sp>
        <p:nvSpPr>
          <p:cNvPr id="4" name="文本框 3"/>
          <p:cNvSpPr txBox="1"/>
          <p:nvPr/>
        </p:nvSpPr>
        <p:spPr>
          <a:xfrm>
            <a:off x="3275704" y="4372984"/>
            <a:ext cx="2492990" cy="646331"/>
          </a:xfrm>
          <a:prstGeom prst="rect">
            <a:avLst/>
          </a:prstGeom>
          <a:noFill/>
        </p:spPr>
        <p:txBody>
          <a:bodyPr wrap="none" rtlCol="0">
            <a:spAutoFit/>
          </a:bodyPr>
          <a:lstStyle/>
          <a:p>
            <a:r>
              <a:rPr lang="zh-CN" altLang="en-US" sz="3600" dirty="0"/>
              <a:t>文件操作！</a:t>
            </a:r>
            <a:endParaRPr lang="zh-CN" alt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0178" name="Rectangle 2"/>
          <p:cNvSpPr>
            <a:spLocks noGrp="1" noChangeArrowheads="1"/>
          </p:cNvSpPr>
          <p:nvPr>
            <p:ph type="title"/>
          </p:nvPr>
        </p:nvSpPr>
        <p:spPr/>
        <p:txBody>
          <a:bodyPr/>
          <a:lstStyle/>
          <a:p>
            <a:r>
              <a:rPr lang="zh-CN" altLang="en-US" dirty="0">
                <a:latin typeface="华文新魏" panose="02010800040101010101" pitchFamily="2" charset="-122"/>
              </a:rPr>
              <a:t>文件的概念</a:t>
            </a:r>
            <a:endParaRPr lang="zh-CN" altLang="en-US" dirty="0">
              <a:latin typeface="华文新魏" panose="02010800040101010101" pitchFamily="2" charset="-122"/>
            </a:endParaRPr>
          </a:p>
        </p:txBody>
      </p:sp>
      <p:sp>
        <p:nvSpPr>
          <p:cNvPr id="1330179" name="Rectangle 3"/>
          <p:cNvSpPr>
            <a:spLocks noGrp="1" noChangeArrowheads="1"/>
          </p:cNvSpPr>
          <p:nvPr>
            <p:ph idx="1"/>
          </p:nvPr>
        </p:nvSpPr>
        <p:spPr>
          <a:xfrm>
            <a:off x="432000" y="1268412"/>
            <a:ext cx="8280000" cy="5031588"/>
          </a:xfrm>
        </p:spPr>
        <p:txBody>
          <a:bodyPr/>
          <a:lstStyle/>
          <a:p>
            <a:r>
              <a:rPr lang="zh-CN" altLang="en-US" sz="1800" dirty="0"/>
              <a:t>文件（</a:t>
            </a:r>
            <a:r>
              <a:rPr lang="en-US" altLang="zh-CN" sz="1800" dirty="0"/>
              <a:t>file</a:t>
            </a:r>
            <a:r>
              <a:rPr lang="zh-CN" altLang="en-US" sz="1800" dirty="0"/>
              <a:t>）一般指存储在外部介质上数据的集合。操作系统是以文件为单位对数据进行管理的。</a:t>
            </a:r>
            <a:endParaRPr lang="en-US" altLang="zh-CN" sz="1800" dirty="0"/>
          </a:p>
          <a:p>
            <a:r>
              <a:rPr lang="zh-CN" altLang="en-US" sz="1800" dirty="0"/>
              <a:t>数据的层次结构</a:t>
            </a:r>
            <a:endParaRPr lang="zh-CN" altLang="en-US" sz="1800" dirty="0"/>
          </a:p>
          <a:p>
            <a:pPr lvl="1"/>
            <a:endParaRPr lang="en-US" altLang="zh-CN" dirty="0"/>
          </a:p>
        </p:txBody>
      </p:sp>
      <p:sp>
        <p:nvSpPr>
          <p:cNvPr id="1330181" name="Rectangle 5"/>
          <p:cNvSpPr>
            <a:spLocks noChangeArrowheads="1"/>
          </p:cNvSpPr>
          <p:nvPr/>
        </p:nvSpPr>
        <p:spPr bwMode="auto">
          <a:xfrm>
            <a:off x="587375" y="6304347"/>
            <a:ext cx="7854950" cy="298450"/>
          </a:xfrm>
          <a:prstGeom prst="rect">
            <a:avLst/>
          </a:prstGeom>
          <a:solidFill>
            <a:schemeClr val="bg2"/>
          </a:solidFill>
          <a:ln w="9525" algn="ctr">
            <a:solidFill>
              <a:schemeClr val="tx1"/>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dirty="0">
                <a:latin typeface="Courier New" panose="02070309020205020404" pitchFamily="49" charset="0"/>
              </a:rPr>
              <a:t>001000111001001111010110011011100100100100111101101011101001011</a:t>
            </a:r>
            <a:endParaRPr lang="en-US" altLang="zh-CN" sz="1600" b="1" dirty="0">
              <a:latin typeface="Courier New" panose="02070309020205020404" pitchFamily="49" charset="0"/>
            </a:endParaRPr>
          </a:p>
        </p:txBody>
      </p:sp>
      <p:grpSp>
        <p:nvGrpSpPr>
          <p:cNvPr id="1330182" name="Group 6"/>
          <p:cNvGrpSpPr/>
          <p:nvPr/>
        </p:nvGrpSpPr>
        <p:grpSpPr bwMode="auto">
          <a:xfrm>
            <a:off x="2073275" y="3629410"/>
            <a:ext cx="3557588" cy="298450"/>
            <a:chOff x="477" y="2382"/>
            <a:chExt cx="2241" cy="188"/>
          </a:xfrm>
        </p:grpSpPr>
        <p:sp>
          <p:nvSpPr>
            <p:cNvPr id="1330183" name="Rectangle 7"/>
            <p:cNvSpPr>
              <a:spLocks noChangeArrowheads="1"/>
            </p:cNvSpPr>
            <p:nvPr/>
          </p:nvSpPr>
          <p:spPr bwMode="auto">
            <a:xfrm>
              <a:off x="477" y="2382"/>
              <a:ext cx="746" cy="188"/>
            </a:xfrm>
            <a:prstGeom prst="rect">
              <a:avLst/>
            </a:prstGeom>
            <a:solidFill>
              <a:srgbClr val="D6ECEE"/>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WangHai</a:t>
              </a:r>
              <a:endParaRPr lang="en-US" altLang="zh-CN" sz="1600" b="1">
                <a:solidFill>
                  <a:srgbClr val="3366FF"/>
                </a:solidFill>
                <a:latin typeface="Courier New" panose="02070309020205020404" pitchFamily="49" charset="0"/>
              </a:endParaRPr>
            </a:p>
          </p:txBody>
        </p:sp>
        <p:sp>
          <p:nvSpPr>
            <p:cNvPr id="1330184" name="Rectangle 8"/>
            <p:cNvSpPr>
              <a:spLocks noChangeArrowheads="1"/>
            </p:cNvSpPr>
            <p:nvPr/>
          </p:nvSpPr>
          <p:spPr bwMode="auto">
            <a:xfrm>
              <a:off x="1252" y="2382"/>
              <a:ext cx="270" cy="188"/>
            </a:xfrm>
            <a:prstGeom prst="rect">
              <a:avLst/>
            </a:prstGeom>
            <a:solidFill>
              <a:srgbClr val="D6ECEE"/>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21</a:t>
              </a:r>
              <a:endParaRPr lang="en-US" altLang="zh-CN" sz="1600" b="1">
                <a:solidFill>
                  <a:srgbClr val="3366FF"/>
                </a:solidFill>
                <a:latin typeface="Courier New" panose="02070309020205020404" pitchFamily="49" charset="0"/>
              </a:endParaRPr>
            </a:p>
          </p:txBody>
        </p:sp>
        <p:sp>
          <p:nvSpPr>
            <p:cNvPr id="1330185" name="Rectangle 9"/>
            <p:cNvSpPr>
              <a:spLocks noChangeArrowheads="1"/>
            </p:cNvSpPr>
            <p:nvPr/>
          </p:nvSpPr>
          <p:spPr bwMode="auto">
            <a:xfrm>
              <a:off x="1551" y="2382"/>
              <a:ext cx="164" cy="188"/>
            </a:xfrm>
            <a:prstGeom prst="rect">
              <a:avLst/>
            </a:prstGeom>
            <a:solidFill>
              <a:srgbClr val="D6ECEE"/>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M</a:t>
              </a:r>
              <a:endParaRPr lang="en-US" altLang="zh-CN" sz="1600" b="1">
                <a:solidFill>
                  <a:srgbClr val="3366FF"/>
                </a:solidFill>
                <a:latin typeface="Courier New" panose="02070309020205020404" pitchFamily="49" charset="0"/>
              </a:endParaRPr>
            </a:p>
          </p:txBody>
        </p:sp>
        <p:sp>
          <p:nvSpPr>
            <p:cNvPr id="1330186" name="Rectangle 10"/>
            <p:cNvSpPr>
              <a:spLocks noChangeArrowheads="1"/>
            </p:cNvSpPr>
            <p:nvPr/>
          </p:nvSpPr>
          <p:spPr bwMode="auto">
            <a:xfrm>
              <a:off x="1744" y="2382"/>
              <a:ext cx="305" cy="188"/>
            </a:xfrm>
            <a:prstGeom prst="rect">
              <a:avLst/>
            </a:prstGeom>
            <a:solidFill>
              <a:srgbClr val="D6ECEE"/>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78</a:t>
              </a:r>
              <a:endParaRPr lang="en-US" altLang="zh-CN" sz="1600" b="1">
                <a:solidFill>
                  <a:srgbClr val="3366FF"/>
                </a:solidFill>
                <a:latin typeface="Courier New" panose="02070309020205020404" pitchFamily="49" charset="0"/>
              </a:endParaRPr>
            </a:p>
          </p:txBody>
        </p:sp>
        <p:sp>
          <p:nvSpPr>
            <p:cNvPr id="1330187" name="Rectangle 11"/>
            <p:cNvSpPr>
              <a:spLocks noChangeArrowheads="1"/>
            </p:cNvSpPr>
            <p:nvPr/>
          </p:nvSpPr>
          <p:spPr bwMode="auto">
            <a:xfrm>
              <a:off x="2078" y="2382"/>
              <a:ext cx="305" cy="188"/>
            </a:xfrm>
            <a:prstGeom prst="rect">
              <a:avLst/>
            </a:prstGeom>
            <a:solidFill>
              <a:srgbClr val="D6ECEE"/>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89</a:t>
              </a:r>
              <a:endParaRPr lang="en-US" altLang="zh-CN" sz="1600" b="1">
                <a:solidFill>
                  <a:srgbClr val="3366FF"/>
                </a:solidFill>
                <a:latin typeface="Courier New" panose="02070309020205020404" pitchFamily="49" charset="0"/>
              </a:endParaRPr>
            </a:p>
          </p:txBody>
        </p:sp>
        <p:sp>
          <p:nvSpPr>
            <p:cNvPr id="1330188" name="Rectangle 12"/>
            <p:cNvSpPr>
              <a:spLocks noChangeArrowheads="1"/>
            </p:cNvSpPr>
            <p:nvPr/>
          </p:nvSpPr>
          <p:spPr bwMode="auto">
            <a:xfrm>
              <a:off x="2413" y="2382"/>
              <a:ext cx="305" cy="188"/>
            </a:xfrm>
            <a:prstGeom prst="rect">
              <a:avLst/>
            </a:prstGeom>
            <a:solidFill>
              <a:srgbClr val="D6ECEE"/>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83</a:t>
              </a:r>
              <a:endParaRPr lang="en-US" altLang="zh-CN" sz="1600" b="1">
                <a:solidFill>
                  <a:srgbClr val="3366FF"/>
                </a:solidFill>
                <a:latin typeface="Courier New" panose="02070309020205020404" pitchFamily="49" charset="0"/>
              </a:endParaRPr>
            </a:p>
          </p:txBody>
        </p:sp>
      </p:grpSp>
      <p:grpSp>
        <p:nvGrpSpPr>
          <p:cNvPr id="1330189" name="Group 13"/>
          <p:cNvGrpSpPr/>
          <p:nvPr/>
        </p:nvGrpSpPr>
        <p:grpSpPr bwMode="auto">
          <a:xfrm>
            <a:off x="2073275" y="3983422"/>
            <a:ext cx="3557588" cy="298450"/>
            <a:chOff x="477" y="2382"/>
            <a:chExt cx="2241" cy="188"/>
          </a:xfrm>
        </p:grpSpPr>
        <p:sp>
          <p:nvSpPr>
            <p:cNvPr id="1330190" name="Rectangle 14"/>
            <p:cNvSpPr>
              <a:spLocks noChangeArrowheads="1"/>
            </p:cNvSpPr>
            <p:nvPr/>
          </p:nvSpPr>
          <p:spPr bwMode="auto">
            <a:xfrm>
              <a:off x="477" y="2382"/>
              <a:ext cx="746" cy="188"/>
            </a:xfrm>
            <a:prstGeom prst="rect">
              <a:avLst/>
            </a:prstGeom>
            <a:solidFill>
              <a:srgbClr val="CCFFFF"/>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LiFei</a:t>
              </a:r>
              <a:endParaRPr lang="en-US" altLang="zh-CN" sz="1600" b="1">
                <a:solidFill>
                  <a:srgbClr val="3366FF"/>
                </a:solidFill>
                <a:latin typeface="Courier New" panose="02070309020205020404" pitchFamily="49" charset="0"/>
              </a:endParaRPr>
            </a:p>
          </p:txBody>
        </p:sp>
        <p:sp>
          <p:nvSpPr>
            <p:cNvPr id="1330191" name="Rectangle 15"/>
            <p:cNvSpPr>
              <a:spLocks noChangeArrowheads="1"/>
            </p:cNvSpPr>
            <p:nvPr/>
          </p:nvSpPr>
          <p:spPr bwMode="auto">
            <a:xfrm>
              <a:off x="1252" y="2382"/>
              <a:ext cx="270" cy="188"/>
            </a:xfrm>
            <a:prstGeom prst="rect">
              <a:avLst/>
            </a:prstGeom>
            <a:solidFill>
              <a:srgbClr val="CCFFFF"/>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21</a:t>
              </a:r>
              <a:endParaRPr lang="en-US" altLang="zh-CN" sz="1600" b="1">
                <a:solidFill>
                  <a:srgbClr val="3366FF"/>
                </a:solidFill>
                <a:latin typeface="Courier New" panose="02070309020205020404" pitchFamily="49" charset="0"/>
              </a:endParaRPr>
            </a:p>
          </p:txBody>
        </p:sp>
        <p:sp>
          <p:nvSpPr>
            <p:cNvPr id="1330192" name="Rectangle 16"/>
            <p:cNvSpPr>
              <a:spLocks noChangeArrowheads="1"/>
            </p:cNvSpPr>
            <p:nvPr/>
          </p:nvSpPr>
          <p:spPr bwMode="auto">
            <a:xfrm>
              <a:off x="1551" y="2382"/>
              <a:ext cx="164" cy="188"/>
            </a:xfrm>
            <a:prstGeom prst="rect">
              <a:avLst/>
            </a:prstGeom>
            <a:solidFill>
              <a:srgbClr val="CCFFFF"/>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F</a:t>
              </a:r>
              <a:endParaRPr lang="en-US" altLang="zh-CN" sz="1600" b="1">
                <a:solidFill>
                  <a:srgbClr val="3366FF"/>
                </a:solidFill>
                <a:latin typeface="Courier New" panose="02070309020205020404" pitchFamily="49" charset="0"/>
              </a:endParaRPr>
            </a:p>
          </p:txBody>
        </p:sp>
        <p:sp>
          <p:nvSpPr>
            <p:cNvPr id="1330193" name="Rectangle 17"/>
            <p:cNvSpPr>
              <a:spLocks noChangeArrowheads="1"/>
            </p:cNvSpPr>
            <p:nvPr/>
          </p:nvSpPr>
          <p:spPr bwMode="auto">
            <a:xfrm>
              <a:off x="1744" y="2382"/>
              <a:ext cx="305" cy="188"/>
            </a:xfrm>
            <a:prstGeom prst="rect">
              <a:avLst/>
            </a:prstGeom>
            <a:solidFill>
              <a:srgbClr val="CCFFFF"/>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76</a:t>
              </a:r>
              <a:endParaRPr lang="en-US" altLang="zh-CN" sz="1600" b="1">
                <a:solidFill>
                  <a:srgbClr val="3366FF"/>
                </a:solidFill>
                <a:latin typeface="Courier New" panose="02070309020205020404" pitchFamily="49" charset="0"/>
              </a:endParaRPr>
            </a:p>
          </p:txBody>
        </p:sp>
        <p:sp>
          <p:nvSpPr>
            <p:cNvPr id="1330194" name="Rectangle 18"/>
            <p:cNvSpPr>
              <a:spLocks noChangeArrowheads="1"/>
            </p:cNvSpPr>
            <p:nvPr/>
          </p:nvSpPr>
          <p:spPr bwMode="auto">
            <a:xfrm>
              <a:off x="2078" y="2382"/>
              <a:ext cx="305" cy="188"/>
            </a:xfrm>
            <a:prstGeom prst="rect">
              <a:avLst/>
            </a:prstGeom>
            <a:solidFill>
              <a:srgbClr val="CCFFFF"/>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88</a:t>
              </a:r>
              <a:endParaRPr lang="en-US" altLang="zh-CN" sz="1600" b="1">
                <a:solidFill>
                  <a:srgbClr val="3366FF"/>
                </a:solidFill>
                <a:latin typeface="Courier New" panose="02070309020205020404" pitchFamily="49" charset="0"/>
              </a:endParaRPr>
            </a:p>
          </p:txBody>
        </p:sp>
        <p:sp>
          <p:nvSpPr>
            <p:cNvPr id="1330195" name="Rectangle 19"/>
            <p:cNvSpPr>
              <a:spLocks noChangeArrowheads="1"/>
            </p:cNvSpPr>
            <p:nvPr/>
          </p:nvSpPr>
          <p:spPr bwMode="auto">
            <a:xfrm>
              <a:off x="2413" y="2382"/>
              <a:ext cx="305" cy="188"/>
            </a:xfrm>
            <a:prstGeom prst="rect">
              <a:avLst/>
            </a:prstGeom>
            <a:solidFill>
              <a:srgbClr val="CCFFFF"/>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85</a:t>
              </a:r>
              <a:endParaRPr lang="en-US" altLang="zh-CN" sz="1600" b="1">
                <a:solidFill>
                  <a:srgbClr val="3366FF"/>
                </a:solidFill>
                <a:latin typeface="Courier New" panose="02070309020205020404" pitchFamily="49" charset="0"/>
              </a:endParaRPr>
            </a:p>
          </p:txBody>
        </p:sp>
      </p:grpSp>
      <p:grpSp>
        <p:nvGrpSpPr>
          <p:cNvPr id="1330196" name="Group 20"/>
          <p:cNvGrpSpPr/>
          <p:nvPr/>
        </p:nvGrpSpPr>
        <p:grpSpPr bwMode="auto">
          <a:xfrm>
            <a:off x="2073275" y="4339022"/>
            <a:ext cx="3557588" cy="298450"/>
            <a:chOff x="477" y="2382"/>
            <a:chExt cx="2241" cy="188"/>
          </a:xfrm>
        </p:grpSpPr>
        <p:sp>
          <p:nvSpPr>
            <p:cNvPr id="1330197" name="Rectangle 21"/>
            <p:cNvSpPr>
              <a:spLocks noChangeArrowheads="1"/>
            </p:cNvSpPr>
            <p:nvPr/>
          </p:nvSpPr>
          <p:spPr bwMode="auto">
            <a:xfrm>
              <a:off x="477" y="2382"/>
              <a:ext cx="746" cy="188"/>
            </a:xfrm>
            <a:prstGeom prst="rect">
              <a:avLst/>
            </a:prstGeom>
            <a:solidFill>
              <a:srgbClr val="D6ECEE"/>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ZhaoXin</a:t>
              </a:r>
              <a:endParaRPr lang="en-US" altLang="zh-CN" sz="1600" b="1">
                <a:solidFill>
                  <a:srgbClr val="3366FF"/>
                </a:solidFill>
                <a:latin typeface="Courier New" panose="02070309020205020404" pitchFamily="49" charset="0"/>
              </a:endParaRPr>
            </a:p>
          </p:txBody>
        </p:sp>
        <p:sp>
          <p:nvSpPr>
            <p:cNvPr id="1330198" name="Rectangle 22"/>
            <p:cNvSpPr>
              <a:spLocks noChangeArrowheads="1"/>
            </p:cNvSpPr>
            <p:nvPr/>
          </p:nvSpPr>
          <p:spPr bwMode="auto">
            <a:xfrm>
              <a:off x="1252" y="2382"/>
              <a:ext cx="270" cy="188"/>
            </a:xfrm>
            <a:prstGeom prst="rect">
              <a:avLst/>
            </a:prstGeom>
            <a:solidFill>
              <a:srgbClr val="D6ECEE"/>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21</a:t>
              </a:r>
              <a:endParaRPr lang="en-US" altLang="zh-CN" sz="1600" b="1">
                <a:solidFill>
                  <a:srgbClr val="3366FF"/>
                </a:solidFill>
                <a:latin typeface="Courier New" panose="02070309020205020404" pitchFamily="49" charset="0"/>
              </a:endParaRPr>
            </a:p>
          </p:txBody>
        </p:sp>
        <p:sp>
          <p:nvSpPr>
            <p:cNvPr id="1330199" name="Rectangle 23"/>
            <p:cNvSpPr>
              <a:spLocks noChangeArrowheads="1"/>
            </p:cNvSpPr>
            <p:nvPr/>
          </p:nvSpPr>
          <p:spPr bwMode="auto">
            <a:xfrm>
              <a:off x="1551" y="2382"/>
              <a:ext cx="164" cy="188"/>
            </a:xfrm>
            <a:prstGeom prst="rect">
              <a:avLst/>
            </a:prstGeom>
            <a:solidFill>
              <a:srgbClr val="FFCCFF"/>
            </a:solidFill>
            <a:ln w="9525" algn="ctr">
              <a:solidFill>
                <a:srgbClr val="FF00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FF00FF"/>
                  </a:solidFill>
                  <a:latin typeface="Courier New" panose="02070309020205020404" pitchFamily="49" charset="0"/>
                </a:rPr>
                <a:t>M</a:t>
              </a:r>
              <a:endParaRPr lang="en-US" altLang="zh-CN" sz="1600" b="1">
                <a:solidFill>
                  <a:srgbClr val="FF00FF"/>
                </a:solidFill>
                <a:latin typeface="Courier New" panose="02070309020205020404" pitchFamily="49" charset="0"/>
              </a:endParaRPr>
            </a:p>
          </p:txBody>
        </p:sp>
        <p:sp>
          <p:nvSpPr>
            <p:cNvPr id="1330200" name="Rectangle 24"/>
            <p:cNvSpPr>
              <a:spLocks noChangeArrowheads="1"/>
            </p:cNvSpPr>
            <p:nvPr/>
          </p:nvSpPr>
          <p:spPr bwMode="auto">
            <a:xfrm>
              <a:off x="1744" y="2382"/>
              <a:ext cx="305" cy="188"/>
            </a:xfrm>
            <a:prstGeom prst="rect">
              <a:avLst/>
            </a:prstGeom>
            <a:solidFill>
              <a:srgbClr val="D6ECEE"/>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81</a:t>
              </a:r>
              <a:endParaRPr lang="en-US" altLang="zh-CN" sz="1600" b="1">
                <a:solidFill>
                  <a:srgbClr val="3366FF"/>
                </a:solidFill>
                <a:latin typeface="Courier New" panose="02070309020205020404" pitchFamily="49" charset="0"/>
              </a:endParaRPr>
            </a:p>
          </p:txBody>
        </p:sp>
        <p:sp>
          <p:nvSpPr>
            <p:cNvPr id="1330201" name="Rectangle 25"/>
            <p:cNvSpPr>
              <a:spLocks noChangeArrowheads="1"/>
            </p:cNvSpPr>
            <p:nvPr/>
          </p:nvSpPr>
          <p:spPr bwMode="auto">
            <a:xfrm>
              <a:off x="2078" y="2382"/>
              <a:ext cx="305" cy="188"/>
            </a:xfrm>
            <a:prstGeom prst="rect">
              <a:avLst/>
            </a:prstGeom>
            <a:solidFill>
              <a:srgbClr val="D6ECEE"/>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86</a:t>
              </a:r>
              <a:endParaRPr lang="en-US" altLang="zh-CN" sz="1600" b="1">
                <a:solidFill>
                  <a:srgbClr val="3366FF"/>
                </a:solidFill>
                <a:latin typeface="Courier New" panose="02070309020205020404" pitchFamily="49" charset="0"/>
              </a:endParaRPr>
            </a:p>
          </p:txBody>
        </p:sp>
        <p:sp>
          <p:nvSpPr>
            <p:cNvPr id="1330202" name="Rectangle 26"/>
            <p:cNvSpPr>
              <a:spLocks noChangeArrowheads="1"/>
            </p:cNvSpPr>
            <p:nvPr/>
          </p:nvSpPr>
          <p:spPr bwMode="auto">
            <a:xfrm>
              <a:off x="2413" y="2382"/>
              <a:ext cx="305" cy="188"/>
            </a:xfrm>
            <a:prstGeom prst="rect">
              <a:avLst/>
            </a:prstGeom>
            <a:solidFill>
              <a:srgbClr val="D6ECEE"/>
            </a:solidFill>
            <a:ln w="9525" algn="ctr">
              <a:solidFill>
                <a:srgbClr val="3366FF"/>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3366FF"/>
                  </a:solidFill>
                  <a:latin typeface="Courier New" panose="02070309020205020404" pitchFamily="49" charset="0"/>
                </a:rPr>
                <a:t>79</a:t>
              </a:r>
              <a:endParaRPr lang="en-US" altLang="zh-CN" sz="1600" b="1">
                <a:solidFill>
                  <a:srgbClr val="3366FF"/>
                </a:solidFill>
                <a:latin typeface="Courier New" panose="02070309020205020404" pitchFamily="49" charset="0"/>
              </a:endParaRPr>
            </a:p>
          </p:txBody>
        </p:sp>
      </p:grpSp>
      <p:sp>
        <p:nvSpPr>
          <p:cNvPr id="1330203" name="Rectangle 27"/>
          <p:cNvSpPr>
            <a:spLocks noChangeArrowheads="1"/>
          </p:cNvSpPr>
          <p:nvPr/>
        </p:nvSpPr>
        <p:spPr bwMode="auto">
          <a:xfrm>
            <a:off x="3368675" y="4989897"/>
            <a:ext cx="1100138" cy="298450"/>
          </a:xfrm>
          <a:prstGeom prst="rect">
            <a:avLst/>
          </a:prstGeom>
          <a:solidFill>
            <a:srgbClr val="CCFF99"/>
          </a:solidFill>
          <a:ln w="9525" algn="ctr">
            <a:solidFill>
              <a:srgbClr val="008000"/>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rgbClr val="008000"/>
                </a:solidFill>
                <a:latin typeface="Courier New" panose="02070309020205020404" pitchFamily="49" charset="0"/>
              </a:rPr>
              <a:t>010</a:t>
            </a:r>
            <a:r>
              <a:rPr lang="en-US" altLang="zh-CN" sz="1600" b="1">
                <a:latin typeface="Courier New" panose="02070309020205020404" pitchFamily="49" charset="0"/>
              </a:rPr>
              <a:t>1</a:t>
            </a:r>
            <a:r>
              <a:rPr lang="en-US" altLang="zh-CN" sz="1600" b="1">
                <a:solidFill>
                  <a:srgbClr val="008000"/>
                </a:solidFill>
                <a:latin typeface="Courier New" panose="02070309020205020404" pitchFamily="49" charset="0"/>
              </a:rPr>
              <a:t>1100</a:t>
            </a:r>
            <a:endParaRPr lang="en-US" altLang="zh-CN" sz="1600" b="1">
              <a:solidFill>
                <a:srgbClr val="008000"/>
              </a:solidFill>
              <a:latin typeface="Courier New" panose="02070309020205020404" pitchFamily="49" charset="0"/>
            </a:endParaRPr>
          </a:p>
        </p:txBody>
      </p:sp>
      <p:sp>
        <p:nvSpPr>
          <p:cNvPr id="1330204" name="Rectangle 28"/>
          <p:cNvSpPr>
            <a:spLocks noChangeArrowheads="1"/>
          </p:cNvSpPr>
          <p:nvPr/>
        </p:nvSpPr>
        <p:spPr bwMode="auto">
          <a:xfrm>
            <a:off x="3789363" y="5661410"/>
            <a:ext cx="241300" cy="298450"/>
          </a:xfrm>
          <a:prstGeom prst="rect">
            <a:avLst/>
          </a:prstGeom>
          <a:solidFill>
            <a:schemeClr val="hlink"/>
          </a:solidFill>
          <a:ln w="9525" algn="ctr">
            <a:solidFill>
              <a:schemeClr val="accent2"/>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pPr algn="ctr"/>
            <a:r>
              <a:rPr lang="en-US" altLang="zh-CN" sz="1600" b="1">
                <a:solidFill>
                  <a:schemeClr val="accent2"/>
                </a:solidFill>
                <a:latin typeface="Courier New" panose="02070309020205020404" pitchFamily="49" charset="0"/>
              </a:rPr>
              <a:t>1</a:t>
            </a:r>
            <a:endParaRPr lang="en-US" altLang="zh-CN" sz="1600" b="1">
              <a:solidFill>
                <a:schemeClr val="accent2"/>
              </a:solidFill>
              <a:latin typeface="Courier New" panose="02070309020205020404" pitchFamily="49" charset="0"/>
            </a:endParaRPr>
          </a:p>
        </p:txBody>
      </p:sp>
      <p:sp>
        <p:nvSpPr>
          <p:cNvPr id="1330205" name="AutoShape 29"/>
          <p:cNvSpPr>
            <a:spLocks noChangeArrowheads="1"/>
          </p:cNvSpPr>
          <p:nvPr/>
        </p:nvSpPr>
        <p:spPr bwMode="auto">
          <a:xfrm>
            <a:off x="3575050" y="2359410"/>
            <a:ext cx="709613" cy="847725"/>
          </a:xfrm>
          <a:prstGeom prst="foldedCorner">
            <a:avLst>
              <a:gd name="adj" fmla="val 12500"/>
            </a:avLst>
          </a:prstGeom>
          <a:solidFill>
            <a:schemeClr val="bg1"/>
          </a:solidFill>
          <a:ln w="9525">
            <a:solidFill>
              <a:schemeClr val="bg2"/>
            </a:solidFill>
            <a:round/>
          </a:ln>
          <a:effectLst>
            <a:outerShdw dist="107763" dir="2700000" algn="ctr" rotWithShape="0">
              <a:schemeClr val="bg2">
                <a:alpha val="50000"/>
              </a:schemeClr>
            </a:outerShdw>
          </a:effectLst>
        </p:spPr>
        <p:txBody>
          <a:bodyPr wrap="none" anchor="ctr"/>
          <a:lstStyle/>
          <a:p>
            <a:r>
              <a:rPr lang="en-US" altLang="zh-CN" b="1" dirty="0">
                <a:latin typeface="Courier New" panose="02070309020205020404" pitchFamily="49" charset="0"/>
              </a:rPr>
              <a:t>…………</a:t>
            </a:r>
            <a:endParaRPr lang="en-US" altLang="zh-CN" b="1" dirty="0">
              <a:latin typeface="Courier New" panose="02070309020205020404" pitchFamily="49" charset="0"/>
            </a:endParaRPr>
          </a:p>
          <a:p>
            <a:r>
              <a:rPr lang="en-US" altLang="zh-CN" b="1" dirty="0">
                <a:latin typeface="Courier New" panose="02070309020205020404" pitchFamily="49" charset="0"/>
              </a:rPr>
              <a:t>…………</a:t>
            </a:r>
            <a:endParaRPr lang="en-US" altLang="zh-CN" b="1" dirty="0">
              <a:latin typeface="Courier New" panose="02070309020205020404" pitchFamily="49" charset="0"/>
            </a:endParaRPr>
          </a:p>
          <a:p>
            <a:r>
              <a:rPr lang="en-US" altLang="zh-CN" b="1" dirty="0">
                <a:latin typeface="Courier New" panose="02070309020205020404" pitchFamily="49" charset="0"/>
              </a:rPr>
              <a:t>……</a:t>
            </a:r>
            <a:endParaRPr lang="en-US" altLang="zh-CN" b="1" dirty="0">
              <a:latin typeface="Courier New" panose="02070309020205020404" pitchFamily="49" charset="0"/>
            </a:endParaRPr>
          </a:p>
        </p:txBody>
      </p:sp>
      <p:sp>
        <p:nvSpPr>
          <p:cNvPr id="1330206" name="AutoShape 30"/>
          <p:cNvSpPr>
            <a:spLocks noChangeArrowheads="1"/>
          </p:cNvSpPr>
          <p:nvPr/>
        </p:nvSpPr>
        <p:spPr bwMode="auto">
          <a:xfrm>
            <a:off x="3789363" y="3350010"/>
            <a:ext cx="225425" cy="215900"/>
          </a:xfrm>
          <a:prstGeom prst="downArrow">
            <a:avLst>
              <a:gd name="adj1" fmla="val 50000"/>
              <a:gd name="adj2" fmla="val 25000"/>
            </a:avLst>
          </a:prstGeom>
          <a:solidFill>
            <a:srgbClr val="D6ECEE"/>
          </a:solidFill>
          <a:ln w="9525" algn="ctr">
            <a:solidFill>
              <a:schemeClr val="hlink"/>
            </a:solidFill>
            <a:miter lim="800000"/>
          </a:ln>
          <a:effectLst>
            <a:prstShdw prst="shdw18" dist="17961" dir="13500000">
              <a:schemeClr val="hlink">
                <a:gamma/>
                <a:shade val="60000"/>
                <a:invGamma/>
              </a:schemeClr>
            </a:prstShdw>
          </a:effectLst>
        </p:spPr>
        <p:txBody>
          <a:bodyPr wrap="none" anchor="ctr"/>
          <a:lstStyle/>
          <a:p>
            <a:endParaRPr lang="zh-CN" altLang="en-US"/>
          </a:p>
        </p:txBody>
      </p:sp>
      <p:sp>
        <p:nvSpPr>
          <p:cNvPr id="1330207" name="AutoShape 31"/>
          <p:cNvSpPr>
            <a:spLocks noChangeArrowheads="1"/>
          </p:cNvSpPr>
          <p:nvPr/>
        </p:nvSpPr>
        <p:spPr bwMode="auto">
          <a:xfrm>
            <a:off x="3797300" y="4696210"/>
            <a:ext cx="225425" cy="215900"/>
          </a:xfrm>
          <a:prstGeom prst="downArrow">
            <a:avLst>
              <a:gd name="adj1" fmla="val 50000"/>
              <a:gd name="adj2" fmla="val 25000"/>
            </a:avLst>
          </a:prstGeom>
          <a:solidFill>
            <a:srgbClr val="D6ECEE"/>
          </a:solidFill>
          <a:ln w="9525" algn="ctr">
            <a:solidFill>
              <a:schemeClr val="hlink"/>
            </a:solidFill>
            <a:miter lim="800000"/>
          </a:ln>
          <a:effectLst>
            <a:prstShdw prst="shdw18" dist="17961" dir="13500000">
              <a:schemeClr val="hlink">
                <a:gamma/>
                <a:shade val="60000"/>
                <a:invGamma/>
              </a:schemeClr>
            </a:prstShdw>
          </a:effectLst>
        </p:spPr>
        <p:txBody>
          <a:bodyPr wrap="none" anchor="ctr"/>
          <a:lstStyle/>
          <a:p>
            <a:endParaRPr lang="zh-CN" altLang="en-US"/>
          </a:p>
        </p:txBody>
      </p:sp>
      <p:sp>
        <p:nvSpPr>
          <p:cNvPr id="1330208" name="AutoShape 32"/>
          <p:cNvSpPr>
            <a:spLocks noChangeArrowheads="1"/>
          </p:cNvSpPr>
          <p:nvPr/>
        </p:nvSpPr>
        <p:spPr bwMode="auto">
          <a:xfrm>
            <a:off x="3787775" y="5356610"/>
            <a:ext cx="225425" cy="215900"/>
          </a:xfrm>
          <a:prstGeom prst="downArrow">
            <a:avLst>
              <a:gd name="adj1" fmla="val 50000"/>
              <a:gd name="adj2" fmla="val 25000"/>
            </a:avLst>
          </a:prstGeom>
          <a:solidFill>
            <a:srgbClr val="D6ECEE"/>
          </a:solidFill>
          <a:ln w="9525" algn="ctr">
            <a:solidFill>
              <a:schemeClr val="hlink"/>
            </a:solidFill>
            <a:miter lim="800000"/>
          </a:ln>
          <a:effectLst>
            <a:prstShdw prst="shdw18" dist="17961" dir="13500000">
              <a:schemeClr val="hlink">
                <a:gamma/>
                <a:shade val="60000"/>
                <a:invGamma/>
              </a:schemeClr>
            </a:prstShdw>
          </a:effectLst>
        </p:spPr>
        <p:txBody>
          <a:bodyPr wrap="none" anchor="ctr"/>
          <a:lstStyle/>
          <a:p>
            <a:endParaRPr lang="zh-CN" altLang="en-US"/>
          </a:p>
        </p:txBody>
      </p:sp>
      <p:sp>
        <p:nvSpPr>
          <p:cNvPr id="1330209" name="AutoShape 33"/>
          <p:cNvSpPr>
            <a:spLocks noChangeArrowheads="1"/>
          </p:cNvSpPr>
          <p:nvPr/>
        </p:nvSpPr>
        <p:spPr bwMode="auto">
          <a:xfrm>
            <a:off x="3795713" y="6024947"/>
            <a:ext cx="225425" cy="215900"/>
          </a:xfrm>
          <a:prstGeom prst="downArrow">
            <a:avLst>
              <a:gd name="adj1" fmla="val 50000"/>
              <a:gd name="adj2" fmla="val 25000"/>
            </a:avLst>
          </a:prstGeom>
          <a:solidFill>
            <a:srgbClr val="D6ECEE"/>
          </a:solidFill>
          <a:ln w="9525" algn="ctr">
            <a:solidFill>
              <a:schemeClr val="hlink"/>
            </a:solidFill>
            <a:miter lim="800000"/>
          </a:ln>
          <a:effectLst>
            <a:prstShdw prst="shdw18" dist="17961" dir="13500000">
              <a:schemeClr val="hlink">
                <a:gamma/>
                <a:shade val="60000"/>
                <a:invGamma/>
              </a:schemeClr>
            </a:prstShdw>
          </a:effectLst>
        </p:spPr>
        <p:txBody>
          <a:bodyPr wrap="none" anchor="ctr"/>
          <a:lstStyle/>
          <a:p>
            <a:endParaRPr lang="zh-CN" altLang="en-US"/>
          </a:p>
        </p:txBody>
      </p:sp>
      <p:sp>
        <p:nvSpPr>
          <p:cNvPr id="1330210" name="AutoShape 34"/>
          <p:cNvSpPr/>
          <p:nvPr/>
        </p:nvSpPr>
        <p:spPr bwMode="auto">
          <a:xfrm>
            <a:off x="6621463" y="2575310"/>
            <a:ext cx="914400" cy="361950"/>
          </a:xfrm>
          <a:prstGeom prst="borderCallout1">
            <a:avLst>
              <a:gd name="adj1" fmla="val 31579"/>
              <a:gd name="adj2" fmla="val -8333"/>
              <a:gd name="adj3" fmla="val 86403"/>
              <a:gd name="adj4" fmla="val -203125"/>
            </a:avLst>
          </a:prstGeom>
          <a:solidFill>
            <a:schemeClr val="bg1"/>
          </a:solidFill>
          <a:ln w="9525" algn="ctr">
            <a:solidFill>
              <a:schemeClr val="tx1"/>
            </a:solidFill>
            <a:miter lim="800000"/>
          </a:ln>
          <a:effectLst>
            <a:outerShdw dist="107763" dir="2700000" algn="ctr" rotWithShape="0">
              <a:schemeClr val="bg2">
                <a:alpha val="50000"/>
              </a:schemeClr>
            </a:outerShdw>
          </a:effectLst>
        </p:spPr>
        <p:txBody>
          <a:bodyPr anchor="ctr"/>
          <a:lstStyle/>
          <a:p>
            <a:pPr algn="ctr"/>
            <a:r>
              <a:rPr lang="zh-CN" altLang="en-US" sz="1600" b="1">
                <a:latin typeface="Courier New" panose="02070309020205020404" pitchFamily="49" charset="0"/>
              </a:rPr>
              <a:t>文件</a:t>
            </a:r>
            <a:endParaRPr lang="zh-CN" altLang="en-US" sz="1600" b="1">
              <a:latin typeface="Courier New" panose="02070309020205020404" pitchFamily="49" charset="0"/>
            </a:endParaRPr>
          </a:p>
        </p:txBody>
      </p:sp>
      <p:sp>
        <p:nvSpPr>
          <p:cNvPr id="1330211" name="AutoShape 35"/>
          <p:cNvSpPr/>
          <p:nvPr/>
        </p:nvSpPr>
        <p:spPr bwMode="auto">
          <a:xfrm>
            <a:off x="6621463" y="4335847"/>
            <a:ext cx="914400" cy="361950"/>
          </a:xfrm>
          <a:prstGeom prst="borderCallout1">
            <a:avLst>
              <a:gd name="adj1" fmla="val 31579"/>
              <a:gd name="adj2" fmla="val -8333"/>
              <a:gd name="adj3" fmla="val 78509"/>
              <a:gd name="adj4" fmla="val -282639"/>
            </a:avLst>
          </a:prstGeom>
          <a:solidFill>
            <a:schemeClr val="bg1"/>
          </a:solidFill>
          <a:ln w="9525" algn="ctr">
            <a:solidFill>
              <a:srgbClr val="FF00FF"/>
            </a:solidFill>
            <a:miter lim="800000"/>
          </a:ln>
          <a:effectLst>
            <a:outerShdw dist="107763" dir="2700000" algn="ctr" rotWithShape="0">
              <a:schemeClr val="bg2">
                <a:alpha val="50000"/>
              </a:schemeClr>
            </a:outerShdw>
          </a:effectLst>
        </p:spPr>
        <p:txBody>
          <a:bodyPr anchor="ctr"/>
          <a:lstStyle/>
          <a:p>
            <a:pPr algn="ctr"/>
            <a:r>
              <a:rPr lang="zh-CN" altLang="en-US" sz="1600" b="1">
                <a:solidFill>
                  <a:srgbClr val="FF00FF"/>
                </a:solidFill>
                <a:latin typeface="Courier New" panose="02070309020205020404" pitchFamily="49" charset="0"/>
              </a:rPr>
              <a:t>字段</a:t>
            </a:r>
            <a:endParaRPr lang="zh-CN" altLang="en-US" sz="1600" b="1">
              <a:solidFill>
                <a:srgbClr val="FF00FF"/>
              </a:solidFill>
              <a:latin typeface="Courier New" panose="02070309020205020404" pitchFamily="49" charset="0"/>
            </a:endParaRPr>
          </a:p>
        </p:txBody>
      </p:sp>
      <p:sp>
        <p:nvSpPr>
          <p:cNvPr id="1330212" name="AutoShape 36"/>
          <p:cNvSpPr/>
          <p:nvPr/>
        </p:nvSpPr>
        <p:spPr bwMode="auto">
          <a:xfrm>
            <a:off x="6621463" y="4986722"/>
            <a:ext cx="914400" cy="361950"/>
          </a:xfrm>
          <a:prstGeom prst="borderCallout1">
            <a:avLst>
              <a:gd name="adj1" fmla="val 31579"/>
              <a:gd name="adj2" fmla="val -8333"/>
              <a:gd name="adj3" fmla="val 70616"/>
              <a:gd name="adj4" fmla="val -208333"/>
            </a:avLst>
          </a:prstGeom>
          <a:solidFill>
            <a:schemeClr val="bg1"/>
          </a:solidFill>
          <a:ln w="9525" algn="ctr">
            <a:solidFill>
              <a:srgbClr val="008000"/>
            </a:solidFill>
            <a:miter lim="800000"/>
          </a:ln>
          <a:effectLst>
            <a:outerShdw dist="107763" dir="2700000" algn="ctr" rotWithShape="0">
              <a:schemeClr val="bg2">
                <a:alpha val="50000"/>
              </a:schemeClr>
            </a:outerShdw>
          </a:effectLst>
        </p:spPr>
        <p:txBody>
          <a:bodyPr anchor="ctr"/>
          <a:lstStyle/>
          <a:p>
            <a:pPr algn="ctr"/>
            <a:r>
              <a:rPr lang="zh-CN" altLang="en-US" sz="1600" b="1">
                <a:solidFill>
                  <a:srgbClr val="008000"/>
                </a:solidFill>
                <a:latin typeface="Courier New" panose="02070309020205020404" pitchFamily="49" charset="0"/>
              </a:rPr>
              <a:t>字节</a:t>
            </a:r>
            <a:endParaRPr lang="zh-CN" altLang="en-US" sz="1600" b="1">
              <a:solidFill>
                <a:srgbClr val="008000"/>
              </a:solidFill>
              <a:latin typeface="Courier New" panose="02070309020205020404" pitchFamily="49" charset="0"/>
            </a:endParaRPr>
          </a:p>
        </p:txBody>
      </p:sp>
      <p:sp>
        <p:nvSpPr>
          <p:cNvPr id="1330213" name="AutoShape 37"/>
          <p:cNvSpPr/>
          <p:nvPr/>
        </p:nvSpPr>
        <p:spPr bwMode="auto">
          <a:xfrm>
            <a:off x="6621463" y="5636010"/>
            <a:ext cx="914400" cy="361950"/>
          </a:xfrm>
          <a:prstGeom prst="borderCallout1">
            <a:avLst>
              <a:gd name="adj1" fmla="val 31579"/>
              <a:gd name="adj2" fmla="val -8333"/>
              <a:gd name="adj3" fmla="val 71051"/>
              <a:gd name="adj4" fmla="val -250694"/>
            </a:avLst>
          </a:prstGeom>
          <a:solidFill>
            <a:schemeClr val="bg1"/>
          </a:solidFill>
          <a:ln w="9525" algn="ctr">
            <a:solidFill>
              <a:srgbClr val="9933FF"/>
            </a:solidFill>
            <a:miter lim="800000"/>
          </a:ln>
          <a:effectLst>
            <a:outerShdw dist="107763" dir="2700000" algn="ctr" rotWithShape="0">
              <a:schemeClr val="bg2">
                <a:alpha val="50000"/>
              </a:schemeClr>
            </a:outerShdw>
          </a:effectLst>
        </p:spPr>
        <p:txBody>
          <a:bodyPr anchor="ctr"/>
          <a:lstStyle/>
          <a:p>
            <a:pPr algn="ctr"/>
            <a:r>
              <a:rPr lang="zh-CN" altLang="en-US" sz="1600" b="1">
                <a:solidFill>
                  <a:srgbClr val="9933FF"/>
                </a:solidFill>
                <a:latin typeface="Courier New" panose="02070309020205020404" pitchFamily="49" charset="0"/>
              </a:rPr>
              <a:t>位</a:t>
            </a:r>
            <a:endParaRPr lang="zh-CN" altLang="en-US" sz="1600" b="1">
              <a:solidFill>
                <a:srgbClr val="9933FF"/>
              </a:solidFill>
              <a:latin typeface="Courier New" panose="02070309020205020404" pitchFamily="49" charset="0"/>
            </a:endParaRPr>
          </a:p>
        </p:txBody>
      </p:sp>
      <p:sp>
        <p:nvSpPr>
          <p:cNvPr id="1330214" name="AutoShape 38"/>
          <p:cNvSpPr/>
          <p:nvPr/>
        </p:nvSpPr>
        <p:spPr bwMode="auto">
          <a:xfrm>
            <a:off x="6621463" y="3526222"/>
            <a:ext cx="914400" cy="361950"/>
          </a:xfrm>
          <a:prstGeom prst="borderCallout1">
            <a:avLst>
              <a:gd name="adj1" fmla="val 31579"/>
              <a:gd name="adj2" fmla="val -8333"/>
              <a:gd name="adj3" fmla="val 60088"/>
              <a:gd name="adj4" fmla="val -105208"/>
            </a:avLst>
          </a:prstGeom>
          <a:solidFill>
            <a:schemeClr val="bg1"/>
          </a:solidFill>
          <a:ln w="9525" algn="ctr">
            <a:solidFill>
              <a:srgbClr val="3366FF"/>
            </a:solidFill>
            <a:miter lim="800000"/>
          </a:ln>
          <a:effectLst>
            <a:outerShdw dist="107763" dir="2700000" algn="ctr" rotWithShape="0">
              <a:schemeClr val="bg2">
                <a:alpha val="50000"/>
              </a:schemeClr>
            </a:outerShdw>
          </a:effectLst>
        </p:spPr>
        <p:txBody>
          <a:bodyPr anchor="ctr"/>
          <a:lstStyle/>
          <a:p>
            <a:pPr algn="ctr"/>
            <a:r>
              <a:rPr lang="zh-CN" altLang="en-US" sz="1600" b="1">
                <a:solidFill>
                  <a:srgbClr val="3366FF"/>
                </a:solidFill>
                <a:latin typeface="Courier New" panose="02070309020205020404" pitchFamily="49" charset="0"/>
              </a:rPr>
              <a:t>记录</a:t>
            </a:r>
            <a:endParaRPr lang="zh-CN" altLang="en-US" sz="1600" b="1">
              <a:solidFill>
                <a:srgbClr val="3366FF"/>
              </a:solidFill>
              <a:latin typeface="Courier New" panose="02070309020205020404" pitchFamily="49"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8370" name="Rectangle 2"/>
          <p:cNvSpPr>
            <a:spLocks noGrp="1" noChangeArrowheads="1"/>
          </p:cNvSpPr>
          <p:nvPr>
            <p:ph type="title"/>
          </p:nvPr>
        </p:nvSpPr>
        <p:spPr/>
        <p:txBody>
          <a:bodyPr>
            <a:normAutofit/>
          </a:bodyPr>
          <a:lstStyle/>
          <a:p>
            <a:r>
              <a:rPr lang="zh-CN" altLang="en-US" dirty="0"/>
              <a:t>文件的读写：缓冲文件系统</a:t>
            </a:r>
            <a:endParaRPr lang="zh-CN" altLang="en-US" dirty="0"/>
          </a:p>
        </p:txBody>
      </p:sp>
      <p:sp>
        <p:nvSpPr>
          <p:cNvPr id="1338371" name="Rectangle 3"/>
          <p:cNvSpPr>
            <a:spLocks noGrp="1" noChangeArrowheads="1"/>
          </p:cNvSpPr>
          <p:nvPr>
            <p:ph idx="1"/>
          </p:nvPr>
        </p:nvSpPr>
        <p:spPr>
          <a:xfrm>
            <a:off x="432000" y="1260000"/>
            <a:ext cx="8280000" cy="5350574"/>
          </a:xfrm>
        </p:spPr>
        <p:txBody>
          <a:bodyPr>
            <a:normAutofit lnSpcReduction="10000"/>
          </a:bodyPr>
          <a:lstStyle/>
          <a:p>
            <a:r>
              <a:rPr lang="zh-CN" altLang="en-US" dirty="0"/>
              <a:t>系统在内存中开辟一块缓冲区以便慢速的外设与其成块地进行数据交换。</a:t>
            </a:r>
            <a:endParaRPr lang="zh-CN" altLang="en-US" dirty="0"/>
          </a:p>
          <a:p>
            <a:endParaRPr lang="zh-CN" altLang="en-US" dirty="0"/>
          </a:p>
          <a:p>
            <a:endParaRPr lang="zh-CN" altLang="en-US" dirty="0"/>
          </a:p>
          <a:p>
            <a:endParaRPr lang="en-US" altLang="zh-CN" dirty="0"/>
          </a:p>
          <a:p>
            <a:endParaRPr lang="en-US" altLang="zh-CN" dirty="0"/>
          </a:p>
          <a:p>
            <a:r>
              <a:rPr lang="zh-CN" altLang="en-US" dirty="0"/>
              <a:t>向磁盘</a:t>
            </a:r>
            <a:r>
              <a:rPr lang="en-US" altLang="zh-CN" dirty="0"/>
              <a:t>(</a:t>
            </a:r>
            <a:r>
              <a:rPr lang="zh-CN" altLang="en-US" dirty="0"/>
              <a:t>文件</a:t>
            </a:r>
            <a:r>
              <a:rPr lang="en-US" altLang="zh-CN" dirty="0"/>
              <a:t>)</a:t>
            </a:r>
            <a:r>
              <a:rPr lang="zh-CN" altLang="en-US" dirty="0"/>
              <a:t>输出数据：</a:t>
            </a:r>
            <a:endParaRPr lang="zh-CN" altLang="en-US" dirty="0"/>
          </a:p>
          <a:p>
            <a:pPr lvl="1">
              <a:buNone/>
            </a:pPr>
            <a:r>
              <a:rPr lang="zh-CN" altLang="en-US" dirty="0"/>
              <a:t>数据</a:t>
            </a:r>
            <a:r>
              <a:rPr lang="en-US" altLang="en-US" dirty="0"/>
              <a:t>→</a:t>
            </a:r>
            <a:r>
              <a:rPr lang="zh-CN" altLang="en-US" dirty="0"/>
              <a:t>缓冲区，装满缓冲区后</a:t>
            </a:r>
            <a:r>
              <a:rPr lang="en-US" altLang="en-US" dirty="0"/>
              <a:t>→</a:t>
            </a:r>
            <a:r>
              <a:rPr lang="zh-CN" altLang="en-US" dirty="0"/>
              <a:t>磁盘文件。</a:t>
            </a:r>
            <a:endParaRPr lang="zh-CN" altLang="en-US" dirty="0"/>
          </a:p>
          <a:p>
            <a:r>
              <a:rPr lang="zh-CN" altLang="en-US" dirty="0"/>
              <a:t>从磁盘</a:t>
            </a:r>
            <a:r>
              <a:rPr lang="en-US" altLang="zh-CN" dirty="0"/>
              <a:t>(</a:t>
            </a:r>
            <a:r>
              <a:rPr lang="zh-CN" altLang="en-US" dirty="0"/>
              <a:t>文件</a:t>
            </a:r>
            <a:r>
              <a:rPr lang="en-US" altLang="zh-CN" dirty="0"/>
              <a:t>)</a:t>
            </a:r>
            <a:r>
              <a:rPr lang="zh-CN" altLang="en-US" dirty="0"/>
              <a:t>读入数据：</a:t>
            </a:r>
            <a:endParaRPr lang="zh-CN" altLang="en-US" dirty="0"/>
          </a:p>
          <a:p>
            <a:pPr lvl="1"/>
            <a:r>
              <a:rPr lang="zh-CN" altLang="en-US" dirty="0"/>
              <a:t>先一次性从磁盘文件将一批数据输入到缓冲区，</a:t>
            </a:r>
            <a:endParaRPr lang="zh-CN" altLang="en-US" dirty="0"/>
          </a:p>
          <a:p>
            <a:pPr lvl="1"/>
            <a:r>
              <a:rPr lang="zh-CN" altLang="en-US" dirty="0"/>
              <a:t>然后再从缓冲区逐个数据读入到变量。</a:t>
            </a:r>
            <a:endParaRPr lang="zh-CN" altLang="en-US" dirty="0"/>
          </a:p>
        </p:txBody>
      </p:sp>
      <p:sp>
        <p:nvSpPr>
          <p:cNvPr id="1338373" name="AutoShape 5"/>
          <p:cNvSpPr>
            <a:spLocks noChangeArrowheads="1"/>
          </p:cNvSpPr>
          <p:nvPr/>
        </p:nvSpPr>
        <p:spPr bwMode="auto">
          <a:xfrm rot="-5400000">
            <a:off x="3955099" y="1389549"/>
            <a:ext cx="496888" cy="3008313"/>
          </a:xfrm>
          <a:prstGeom prst="can">
            <a:avLst>
              <a:gd name="adj" fmla="val 46164"/>
            </a:avLst>
          </a:prstGeom>
          <a:solidFill>
            <a:srgbClr val="66FFFF"/>
          </a:solidFill>
          <a:ln w="9525">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8374" name="Group 6"/>
          <p:cNvGrpSpPr/>
          <p:nvPr/>
        </p:nvGrpSpPr>
        <p:grpSpPr bwMode="auto">
          <a:xfrm>
            <a:off x="905511" y="2386500"/>
            <a:ext cx="1035050" cy="1212850"/>
            <a:chOff x="2051" y="2598"/>
            <a:chExt cx="652" cy="764"/>
          </a:xfrm>
        </p:grpSpPr>
        <p:sp>
          <p:nvSpPr>
            <p:cNvPr id="1338375" name="AutoShape 7"/>
            <p:cNvSpPr>
              <a:spLocks noChangeArrowheads="1"/>
            </p:cNvSpPr>
            <p:nvPr/>
          </p:nvSpPr>
          <p:spPr bwMode="auto">
            <a:xfrm>
              <a:off x="2051" y="2598"/>
              <a:ext cx="652" cy="764"/>
            </a:xfrm>
            <a:prstGeom prst="flowChartDocument">
              <a:avLst/>
            </a:prstGeom>
            <a:solidFill>
              <a:srgbClr val="CCFF99"/>
            </a:solidFill>
            <a:ln w="9525" algn="ctr">
              <a:solidFill>
                <a:srgbClr val="008000"/>
              </a:solidFill>
              <a:miter lim="800000"/>
            </a:ln>
            <a:effectLst>
              <a:outerShdw dist="107763" dir="2700000" algn="ctr" rotWithShape="0">
                <a:schemeClr val="bg2">
                  <a:alpha val="50000"/>
                </a:schemeClr>
              </a:outerShdw>
            </a:effectLst>
          </p:spPr>
          <p:txBody>
            <a:bodyPr wrap="none" anchor="ctr"/>
            <a:lstStyle/>
            <a:p>
              <a:pPr algn="ctr"/>
              <a:endParaRPr lang="zh-CN" altLang="zh-CN" b="1">
                <a:solidFill>
                  <a:srgbClr val="008000"/>
                </a:solidFill>
                <a:latin typeface="Courier New" panose="02070309020205020404" pitchFamily="49" charset="0"/>
              </a:endParaRPr>
            </a:p>
          </p:txBody>
        </p:sp>
        <p:sp>
          <p:nvSpPr>
            <p:cNvPr id="1338376" name="Line 8"/>
            <p:cNvSpPr>
              <a:spLocks noChangeShapeType="1"/>
            </p:cNvSpPr>
            <p:nvPr/>
          </p:nvSpPr>
          <p:spPr bwMode="auto">
            <a:xfrm>
              <a:off x="2063" y="2692"/>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77" name="Line 9"/>
            <p:cNvSpPr>
              <a:spLocks noChangeShapeType="1"/>
            </p:cNvSpPr>
            <p:nvPr/>
          </p:nvSpPr>
          <p:spPr bwMode="auto">
            <a:xfrm>
              <a:off x="2063" y="2776"/>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78" name="Line 10"/>
            <p:cNvSpPr>
              <a:spLocks noChangeShapeType="1"/>
            </p:cNvSpPr>
            <p:nvPr/>
          </p:nvSpPr>
          <p:spPr bwMode="auto">
            <a:xfrm>
              <a:off x="2063" y="2860"/>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79" name="Line 11"/>
            <p:cNvSpPr>
              <a:spLocks noChangeShapeType="1"/>
            </p:cNvSpPr>
            <p:nvPr/>
          </p:nvSpPr>
          <p:spPr bwMode="auto">
            <a:xfrm>
              <a:off x="2063" y="2944"/>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80" name="Line 12"/>
            <p:cNvSpPr>
              <a:spLocks noChangeShapeType="1"/>
            </p:cNvSpPr>
            <p:nvPr/>
          </p:nvSpPr>
          <p:spPr bwMode="auto">
            <a:xfrm>
              <a:off x="2063" y="3028"/>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81" name="Line 13"/>
            <p:cNvSpPr>
              <a:spLocks noChangeShapeType="1"/>
            </p:cNvSpPr>
            <p:nvPr/>
          </p:nvSpPr>
          <p:spPr bwMode="auto">
            <a:xfrm>
              <a:off x="2063" y="3113"/>
              <a:ext cx="629" cy="0"/>
            </a:xfrm>
            <a:prstGeom prst="line">
              <a:avLst/>
            </a:prstGeom>
            <a:noFill/>
            <a:ln w="952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sp>
          <p:nvSpPr>
            <p:cNvPr id="1338382" name="Line 14"/>
            <p:cNvSpPr>
              <a:spLocks noChangeShapeType="1"/>
            </p:cNvSpPr>
            <p:nvPr/>
          </p:nvSpPr>
          <p:spPr bwMode="auto">
            <a:xfrm>
              <a:off x="2067" y="3195"/>
              <a:ext cx="300" cy="0"/>
            </a:xfrm>
            <a:prstGeom prst="line">
              <a:avLst/>
            </a:prstGeom>
            <a:noFill/>
            <a:ln w="9525">
              <a:solidFill>
                <a:srgbClr val="0080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p>
              <a:endParaRPr lang="zh-CN" altLang="en-US"/>
            </a:p>
          </p:txBody>
        </p:sp>
      </p:grpSp>
      <p:grpSp>
        <p:nvGrpSpPr>
          <p:cNvPr id="1338383" name="Group 15"/>
          <p:cNvGrpSpPr/>
          <p:nvPr/>
        </p:nvGrpSpPr>
        <p:grpSpPr bwMode="auto">
          <a:xfrm>
            <a:off x="6657024" y="2684950"/>
            <a:ext cx="1287462" cy="514350"/>
            <a:chOff x="3438" y="2762"/>
            <a:chExt cx="811" cy="324"/>
          </a:xfrm>
        </p:grpSpPr>
        <p:sp>
          <p:nvSpPr>
            <p:cNvPr id="1338384" name="AutoShape 16"/>
            <p:cNvSpPr>
              <a:spLocks noChangeArrowheads="1"/>
            </p:cNvSpPr>
            <p:nvPr/>
          </p:nvSpPr>
          <p:spPr bwMode="auto">
            <a:xfrm>
              <a:off x="3438" y="2762"/>
              <a:ext cx="811" cy="324"/>
            </a:xfrm>
            <a:prstGeom prst="flowChartMagneticDisk">
              <a:avLst/>
            </a:prstGeom>
            <a:solidFill>
              <a:schemeClr val="accent1"/>
            </a:solidFill>
            <a:ln w="9525">
              <a:solidFill>
                <a:srgbClr val="3366FF"/>
              </a:solidFill>
              <a:round/>
            </a:ln>
            <a:effectLst>
              <a:outerShdw dist="107763" dir="2700000" algn="ctr" rotWithShape="0">
                <a:schemeClr val="bg2">
                  <a:alpha val="50000"/>
                </a:schemeClr>
              </a:outerShdw>
            </a:effectLst>
          </p:spPr>
          <p:txBody>
            <a:bodyPr wrap="none" anchor="ctr"/>
            <a:lstStyle/>
            <a:p>
              <a:pPr algn="ctr"/>
              <a:endParaRPr lang="zh-CN" altLang="zh-CN" sz="1400" b="1">
                <a:solidFill>
                  <a:srgbClr val="3366FF"/>
                </a:solidFill>
                <a:latin typeface="Courier New" panose="02070309020205020404" pitchFamily="49" charset="0"/>
              </a:endParaRPr>
            </a:p>
          </p:txBody>
        </p:sp>
        <p:sp>
          <p:nvSpPr>
            <p:cNvPr id="1338385" name="AutoShape 17"/>
            <p:cNvSpPr>
              <a:spLocks noChangeArrowheads="1"/>
            </p:cNvSpPr>
            <p:nvPr/>
          </p:nvSpPr>
          <p:spPr bwMode="auto">
            <a:xfrm>
              <a:off x="3587" y="2904"/>
              <a:ext cx="82" cy="111"/>
            </a:xfrm>
            <a:prstGeom prst="foldedCorner">
              <a:avLst>
                <a:gd name="adj" fmla="val 12500"/>
              </a:avLst>
            </a:prstGeom>
            <a:solidFill>
              <a:schemeClr val="bg1"/>
            </a:solidFill>
            <a:ln w="9525">
              <a:solidFill>
                <a:schemeClr val="bg2"/>
              </a:solidFill>
              <a:round/>
            </a:ln>
            <a:effectLst>
              <a:outerShdw dist="35921" dir="2700000" algn="ctr" rotWithShape="0">
                <a:schemeClr val="bg2">
                  <a:alpha val="50000"/>
                </a:schemeClr>
              </a:outerShdw>
            </a:effectLst>
          </p:spPr>
          <p:txBody>
            <a:bodyPr wrap="none" anchor="ctr"/>
            <a:lstStyle/>
            <a:p>
              <a:endParaRPr lang="zh-CN" altLang="en-US"/>
            </a:p>
          </p:txBody>
        </p:sp>
        <p:sp>
          <p:nvSpPr>
            <p:cNvPr id="1338386" name="AutoShape 18"/>
            <p:cNvSpPr>
              <a:spLocks noChangeArrowheads="1"/>
            </p:cNvSpPr>
            <p:nvPr/>
          </p:nvSpPr>
          <p:spPr bwMode="auto">
            <a:xfrm>
              <a:off x="3732" y="2904"/>
              <a:ext cx="82" cy="111"/>
            </a:xfrm>
            <a:prstGeom prst="foldedCorner">
              <a:avLst>
                <a:gd name="adj" fmla="val 12500"/>
              </a:avLst>
            </a:prstGeom>
            <a:solidFill>
              <a:schemeClr val="bg1"/>
            </a:solidFill>
            <a:ln w="9525">
              <a:solidFill>
                <a:schemeClr val="bg2"/>
              </a:solidFill>
              <a:round/>
            </a:ln>
            <a:effectLst>
              <a:outerShdw dist="35921" dir="2700000" algn="ctr" rotWithShape="0">
                <a:schemeClr val="bg2">
                  <a:alpha val="50000"/>
                </a:schemeClr>
              </a:outerShdw>
            </a:effectLst>
          </p:spPr>
          <p:txBody>
            <a:bodyPr wrap="none" anchor="ctr"/>
            <a:lstStyle/>
            <a:p>
              <a:endParaRPr lang="zh-CN" altLang="en-US"/>
            </a:p>
          </p:txBody>
        </p:sp>
        <p:sp>
          <p:nvSpPr>
            <p:cNvPr id="1338387" name="AutoShape 19"/>
            <p:cNvSpPr>
              <a:spLocks noChangeArrowheads="1"/>
            </p:cNvSpPr>
            <p:nvPr/>
          </p:nvSpPr>
          <p:spPr bwMode="auto">
            <a:xfrm>
              <a:off x="3878" y="2904"/>
              <a:ext cx="82" cy="111"/>
            </a:xfrm>
            <a:prstGeom prst="foldedCorner">
              <a:avLst>
                <a:gd name="adj" fmla="val 12500"/>
              </a:avLst>
            </a:prstGeom>
            <a:solidFill>
              <a:schemeClr val="bg1"/>
            </a:solidFill>
            <a:ln w="9525">
              <a:solidFill>
                <a:schemeClr val="bg2"/>
              </a:solidFill>
              <a:round/>
            </a:ln>
            <a:effectLst>
              <a:outerShdw dist="35921" dir="2700000" algn="ctr" rotWithShape="0">
                <a:schemeClr val="bg2">
                  <a:alpha val="50000"/>
                </a:schemeClr>
              </a:outerShdw>
            </a:effectLst>
          </p:spPr>
          <p:txBody>
            <a:bodyPr wrap="none" anchor="ctr"/>
            <a:lstStyle/>
            <a:p>
              <a:endParaRPr lang="zh-CN" altLang="en-US"/>
            </a:p>
          </p:txBody>
        </p:sp>
        <p:sp>
          <p:nvSpPr>
            <p:cNvPr id="1338388" name="AutoShape 20"/>
            <p:cNvSpPr>
              <a:spLocks noChangeArrowheads="1"/>
            </p:cNvSpPr>
            <p:nvPr/>
          </p:nvSpPr>
          <p:spPr bwMode="auto">
            <a:xfrm>
              <a:off x="4024" y="2904"/>
              <a:ext cx="82" cy="111"/>
            </a:xfrm>
            <a:prstGeom prst="foldedCorner">
              <a:avLst>
                <a:gd name="adj" fmla="val 12500"/>
              </a:avLst>
            </a:prstGeom>
            <a:solidFill>
              <a:schemeClr val="bg1"/>
            </a:solidFill>
            <a:ln w="9525">
              <a:solidFill>
                <a:schemeClr val="bg2"/>
              </a:solidFill>
              <a:round/>
            </a:ln>
            <a:effectLst>
              <a:outerShdw dist="35921" dir="2700000" algn="ctr" rotWithShape="0">
                <a:schemeClr val="bg2">
                  <a:alpha val="50000"/>
                </a:schemeClr>
              </a:outerShdw>
            </a:effectLst>
          </p:spPr>
          <p:txBody>
            <a:bodyPr wrap="none" anchor="ctr"/>
            <a:lstStyle/>
            <a:p>
              <a:endParaRPr lang="zh-CN" altLang="en-US"/>
            </a:p>
          </p:txBody>
        </p:sp>
      </p:grpSp>
      <p:sp>
        <p:nvSpPr>
          <p:cNvPr id="1338389" name="Line 21"/>
          <p:cNvSpPr>
            <a:spLocks noChangeShapeType="1"/>
          </p:cNvSpPr>
          <p:nvPr/>
        </p:nvSpPr>
        <p:spPr bwMode="auto">
          <a:xfrm>
            <a:off x="2092961" y="2796075"/>
            <a:ext cx="739775" cy="0"/>
          </a:xfrm>
          <a:prstGeom prst="line">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390" name="Line 22"/>
          <p:cNvSpPr>
            <a:spLocks noChangeShapeType="1"/>
          </p:cNvSpPr>
          <p:nvPr/>
        </p:nvSpPr>
        <p:spPr bwMode="auto">
          <a:xfrm flipH="1">
            <a:off x="2092961" y="2981812"/>
            <a:ext cx="730250" cy="0"/>
          </a:xfrm>
          <a:prstGeom prst="line">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391" name="Line 23"/>
          <p:cNvSpPr>
            <a:spLocks noChangeShapeType="1"/>
          </p:cNvSpPr>
          <p:nvPr/>
        </p:nvSpPr>
        <p:spPr bwMode="auto">
          <a:xfrm>
            <a:off x="5723574" y="2797662"/>
            <a:ext cx="739775" cy="0"/>
          </a:xfrm>
          <a:prstGeom prst="line">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8392" name="Line 24"/>
          <p:cNvSpPr>
            <a:spLocks noChangeShapeType="1"/>
          </p:cNvSpPr>
          <p:nvPr/>
        </p:nvSpPr>
        <p:spPr bwMode="auto">
          <a:xfrm flipH="1">
            <a:off x="5723574" y="2983400"/>
            <a:ext cx="730250" cy="0"/>
          </a:xfrm>
          <a:prstGeom prst="line">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 name="文本框 1"/>
          <p:cNvSpPr txBox="1"/>
          <p:nvPr/>
        </p:nvSpPr>
        <p:spPr>
          <a:xfrm>
            <a:off x="3752137" y="2618930"/>
            <a:ext cx="902811" cy="523220"/>
          </a:xfrm>
          <a:prstGeom prst="rect">
            <a:avLst/>
          </a:prstGeom>
          <a:noFill/>
        </p:spPr>
        <p:txBody>
          <a:bodyPr wrap="none" rtlCol="0">
            <a:spAutoFit/>
          </a:bodyPr>
          <a:lstStyle/>
          <a:p>
            <a:r>
              <a:rPr lang="zh-CN" altLang="en-US" sz="2800" dirty="0"/>
              <a:t>缓存</a:t>
            </a:r>
            <a:endParaRPr lang="zh-CN" altLang="en-US" sz="2800" dirty="0"/>
          </a:p>
        </p:txBody>
      </p:sp>
      <p:sp>
        <p:nvSpPr>
          <p:cNvPr id="26" name="Text Box 21"/>
          <p:cNvSpPr txBox="1">
            <a:spLocks noChangeArrowheads="1"/>
          </p:cNvSpPr>
          <p:nvPr/>
        </p:nvSpPr>
        <p:spPr bwMode="auto">
          <a:xfrm>
            <a:off x="6568123" y="3230896"/>
            <a:ext cx="14652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66FF"/>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p>
            <a:pPr algn="ctr">
              <a:spcBef>
                <a:spcPct val="50000"/>
              </a:spcBef>
            </a:pPr>
            <a:r>
              <a:rPr lang="zh-CN" altLang="en-US" sz="2800" b="1" dirty="0">
                <a:solidFill>
                  <a:srgbClr val="3366FF"/>
                </a:solidFill>
              </a:rPr>
              <a:t>硬盘</a:t>
            </a:r>
            <a:endParaRPr lang="zh-CN" altLang="en-US" sz="2800" b="1" dirty="0">
              <a:solidFill>
                <a:srgbClr val="3366FF"/>
              </a:solidFill>
            </a:endParaRPr>
          </a:p>
        </p:txBody>
      </p:sp>
      <p:sp>
        <p:nvSpPr>
          <p:cNvPr id="27" name="Text Box 20"/>
          <p:cNvSpPr txBox="1">
            <a:spLocks noChangeArrowheads="1"/>
          </p:cNvSpPr>
          <p:nvPr/>
        </p:nvSpPr>
        <p:spPr bwMode="auto">
          <a:xfrm>
            <a:off x="674530" y="3599350"/>
            <a:ext cx="1465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66FF"/>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a:spAutoFit/>
          </a:bodyPr>
          <a:lstStyle/>
          <a:p>
            <a:pPr algn="ctr">
              <a:spcBef>
                <a:spcPct val="50000"/>
              </a:spcBef>
            </a:pPr>
            <a:r>
              <a:rPr lang="zh-CN" altLang="en-US" sz="2800" b="1" dirty="0">
                <a:solidFill>
                  <a:srgbClr val="008000"/>
                </a:solidFill>
              </a:rPr>
              <a:t>内存</a:t>
            </a:r>
            <a:endParaRPr lang="zh-CN" altLang="en-US" sz="2800" b="1" dirty="0">
              <a:solidFill>
                <a:srgbClr val="008000"/>
              </a:solidFill>
            </a:endParaRPr>
          </a:p>
        </p:txBody>
      </p:sp>
      <p:sp>
        <p:nvSpPr>
          <p:cNvPr id="28" name="Text Box 21"/>
          <p:cNvSpPr txBox="1">
            <a:spLocks noChangeArrowheads="1"/>
          </p:cNvSpPr>
          <p:nvPr/>
        </p:nvSpPr>
        <p:spPr bwMode="auto">
          <a:xfrm>
            <a:off x="6404050" y="2060601"/>
            <a:ext cx="179340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66FF"/>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square">
            <a:spAutoFit/>
          </a:bodyPr>
          <a:lstStyle/>
          <a:p>
            <a:pPr algn="ctr">
              <a:spcBef>
                <a:spcPct val="50000"/>
              </a:spcBef>
            </a:pPr>
            <a:r>
              <a:rPr lang="zh-CN" altLang="en-US" sz="2800" b="1" dirty="0">
                <a:solidFill>
                  <a:srgbClr val="3366FF"/>
                </a:solidFill>
              </a:rPr>
              <a:t>外储存器</a:t>
            </a:r>
            <a:endParaRPr lang="zh-CN" altLang="en-US" sz="2800" b="1" dirty="0">
              <a:solidFill>
                <a:srgbClr val="3366FF"/>
              </a:solidFill>
            </a:endParaRPr>
          </a:p>
        </p:txBody>
      </p:sp>
      <p:sp>
        <p:nvSpPr>
          <p:cNvPr id="3" name="文本框 2"/>
          <p:cNvSpPr txBox="1"/>
          <p:nvPr/>
        </p:nvSpPr>
        <p:spPr>
          <a:xfrm>
            <a:off x="2425725" y="3286243"/>
            <a:ext cx="4144596" cy="830997"/>
          </a:xfrm>
          <a:prstGeom prst="rect">
            <a:avLst/>
          </a:prstGeom>
          <a:noFill/>
        </p:spPr>
        <p:txBody>
          <a:bodyPr wrap="none" rtlCol="0">
            <a:spAutoFit/>
          </a:bodyPr>
          <a:lstStyle/>
          <a:p>
            <a:r>
              <a:rPr lang="zh-CN" altLang="en-US" sz="2400" dirty="0"/>
              <a:t>建立缓存：</a:t>
            </a:r>
            <a:r>
              <a:rPr lang="en-US" altLang="zh-CN" sz="2400" dirty="0" err="1">
                <a:solidFill>
                  <a:srgbClr val="FF0000"/>
                </a:solidFill>
              </a:rPr>
              <a:t>fopen</a:t>
            </a:r>
            <a:r>
              <a:rPr lang="en-US" altLang="zh-CN" sz="2400" dirty="0">
                <a:solidFill>
                  <a:srgbClr val="FF0000"/>
                </a:solidFill>
              </a:rPr>
              <a:t>() </a:t>
            </a:r>
            <a:r>
              <a:rPr lang="zh-CN" altLang="en-US" sz="2400" dirty="0"/>
              <a:t>“打开文件”</a:t>
            </a:r>
            <a:endParaRPr lang="en-US" altLang="zh-CN" sz="2400" dirty="0"/>
          </a:p>
          <a:p>
            <a:r>
              <a:rPr lang="zh-CN" altLang="en-US" sz="2400" dirty="0"/>
              <a:t>清空缓存：</a:t>
            </a:r>
            <a:r>
              <a:rPr lang="en-US" altLang="zh-CN" sz="2400" dirty="0" err="1">
                <a:solidFill>
                  <a:srgbClr val="FF0000"/>
                </a:solidFill>
              </a:rPr>
              <a:t>fclose</a:t>
            </a:r>
            <a:r>
              <a:rPr lang="en-US" altLang="zh-CN" sz="2400" dirty="0">
                <a:solidFill>
                  <a:srgbClr val="FF0000"/>
                </a:solidFill>
              </a:rPr>
              <a:t>() </a:t>
            </a:r>
            <a:r>
              <a:rPr lang="zh-CN" altLang="en-US" sz="2400" dirty="0"/>
              <a:t>“关闭文件”</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文件的打开与关闭</a:t>
            </a:r>
            <a:endParaRPr lang="en-US" dirty="0"/>
          </a:p>
        </p:txBody>
      </p:sp>
      <p:sp>
        <p:nvSpPr>
          <p:cNvPr id="3" name="内容占位符 2"/>
          <p:cNvSpPr>
            <a:spLocks noGrp="1"/>
          </p:cNvSpPr>
          <p:nvPr>
            <p:ph idx="1"/>
          </p:nvPr>
        </p:nvSpPr>
        <p:spPr/>
        <p:txBody>
          <a:bodyPr>
            <a:normAutofit/>
          </a:bodyPr>
          <a:lstStyle/>
          <a:p>
            <a:r>
              <a:rPr lang="zh-CN" altLang="en-US" sz="2400" dirty="0"/>
              <a:t>在对文件读写之前，应该“打开”该文件；在使用结束之后，应该“关闭”该文件</a:t>
            </a:r>
            <a:endParaRPr lang="en-US" altLang="zh-CN" sz="2400" dirty="0"/>
          </a:p>
          <a:p>
            <a:pPr lvl="1"/>
            <a:r>
              <a:rPr lang="zh-CN" altLang="en-US" sz="2000" dirty="0"/>
              <a:t>打开文件：为文件建立相应的信息区</a:t>
            </a:r>
            <a:r>
              <a:rPr lang="en-US" altLang="zh-CN" sz="2000" dirty="0"/>
              <a:t>(</a:t>
            </a:r>
            <a:r>
              <a:rPr lang="zh-CN" altLang="en-US" sz="2000" dirty="0"/>
              <a:t>用来存放有关文件的信息</a:t>
            </a:r>
            <a:r>
              <a:rPr lang="en-US" altLang="zh-CN" sz="2000" dirty="0"/>
              <a:t>)</a:t>
            </a:r>
            <a:r>
              <a:rPr lang="zh-CN" altLang="en-US" sz="2000" dirty="0"/>
              <a:t>和文件缓冲区</a:t>
            </a:r>
            <a:r>
              <a:rPr lang="en-US" altLang="zh-CN" sz="2000" dirty="0"/>
              <a:t>(</a:t>
            </a:r>
            <a:r>
              <a:rPr lang="zh-CN" altLang="en-US" sz="2000" dirty="0"/>
              <a:t>用来暂时存放输入输出的数据</a:t>
            </a:r>
            <a:r>
              <a:rPr lang="en-US" altLang="zh-CN" sz="2000" dirty="0"/>
              <a:t>)</a:t>
            </a:r>
            <a:r>
              <a:rPr lang="zh-CN" altLang="en-US" sz="2000" dirty="0"/>
              <a:t>，指定一个指针变量指向该文件，建立起指针变量与文件之间的联系</a:t>
            </a:r>
            <a:endParaRPr lang="zh-CN" altLang="en-US" sz="2000" dirty="0"/>
          </a:p>
          <a:p>
            <a:pPr lvl="1"/>
            <a:endParaRPr lang="en-US" altLang="zh-CN" sz="2000" dirty="0"/>
          </a:p>
          <a:p>
            <a:pPr lvl="1"/>
            <a:endParaRPr lang="en-US" altLang="zh-CN" sz="2000" dirty="0"/>
          </a:p>
          <a:p>
            <a:pPr lvl="1"/>
            <a:r>
              <a:rPr lang="zh-CN" altLang="en-US" sz="2000" dirty="0"/>
              <a:t>关闭文件清空缓存：撤销文件信息区和文件缓冲区，使文件指针变量不再指向该文件，显然就无法进行对文件的读写了</a:t>
            </a:r>
            <a:endParaRPr lang="zh-CN" altLang="en-US" sz="2000" dirty="0"/>
          </a:p>
          <a:p>
            <a:endParaRPr lang="en-US" dirty="0"/>
          </a:p>
        </p:txBody>
      </p:sp>
      <p:sp>
        <p:nvSpPr>
          <p:cNvPr id="6" name="矩形 5"/>
          <p:cNvSpPr/>
          <p:nvPr/>
        </p:nvSpPr>
        <p:spPr>
          <a:xfrm>
            <a:off x="465388" y="3121378"/>
            <a:ext cx="8809260" cy="523220"/>
          </a:xfrm>
          <a:prstGeom prst="rect">
            <a:avLst/>
          </a:prstGeom>
        </p:spPr>
        <p:txBody>
          <a:bodyPr wrap="square">
            <a:spAutoFit/>
          </a:bodyPr>
          <a:lstStyle/>
          <a:p>
            <a:r>
              <a:rPr lang="fr-FR" sz="2800" dirty="0"/>
              <a:t>FILE * </a:t>
            </a:r>
            <a:r>
              <a:rPr lang="fr-FR" sz="2800" dirty="0">
                <a:solidFill>
                  <a:srgbClr val="FF0000"/>
                </a:solidFill>
              </a:rPr>
              <a:t>fopen</a:t>
            </a:r>
            <a:r>
              <a:rPr lang="fr-FR" sz="2800" dirty="0"/>
              <a:t> ( const char * filename, const char * mode);</a:t>
            </a:r>
            <a:endParaRPr lang="en-US" sz="2800" dirty="0"/>
          </a:p>
        </p:txBody>
      </p:sp>
      <p:sp>
        <p:nvSpPr>
          <p:cNvPr id="8" name="矩形 7"/>
          <p:cNvSpPr/>
          <p:nvPr/>
        </p:nvSpPr>
        <p:spPr>
          <a:xfrm>
            <a:off x="2592676" y="4710689"/>
            <a:ext cx="3958648" cy="523220"/>
          </a:xfrm>
          <a:prstGeom prst="rect">
            <a:avLst/>
          </a:prstGeom>
        </p:spPr>
        <p:txBody>
          <a:bodyPr wrap="none">
            <a:spAutoFit/>
          </a:bodyPr>
          <a:lstStyle/>
          <a:p>
            <a:r>
              <a:rPr lang="en-US" sz="2800" dirty="0"/>
              <a:t>int </a:t>
            </a:r>
            <a:r>
              <a:rPr lang="en-US" sz="2800" dirty="0" err="1">
                <a:solidFill>
                  <a:srgbClr val="FF0000"/>
                </a:solidFill>
              </a:rPr>
              <a:t>fclose</a:t>
            </a:r>
            <a:r>
              <a:rPr lang="en-US" sz="2800" dirty="0"/>
              <a:t> ( FILE * stream );</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文件名 </a:t>
            </a:r>
            <a:r>
              <a:rPr lang="fr-FR" altLang="zh-CN" dirty="0"/>
              <a:t>char * filename</a:t>
            </a:r>
            <a:endParaRPr lang="zh-CN" altLang="en-US" dirty="0"/>
          </a:p>
        </p:txBody>
      </p:sp>
      <p:sp>
        <p:nvSpPr>
          <p:cNvPr id="2" name="内容占位符 1"/>
          <p:cNvSpPr>
            <a:spLocks noGrp="1"/>
          </p:cNvSpPr>
          <p:nvPr>
            <p:ph idx="1"/>
          </p:nvPr>
        </p:nvSpPr>
        <p:spPr>
          <a:xfrm>
            <a:off x="432000" y="1260000"/>
            <a:ext cx="8674348" cy="5040000"/>
          </a:xfrm>
        </p:spPr>
        <p:txBody>
          <a:bodyPr>
            <a:normAutofit/>
          </a:bodyPr>
          <a:lstStyle/>
          <a:p>
            <a:r>
              <a:rPr lang="zh-CN" altLang="en-US" dirty="0"/>
              <a:t>文件标识：文件路径</a:t>
            </a:r>
            <a:r>
              <a:rPr lang="en-US" altLang="zh-CN" dirty="0"/>
              <a:t>+</a:t>
            </a:r>
            <a:r>
              <a:rPr lang="zh-CN" altLang="en-US" dirty="0"/>
              <a:t>文件主干名</a:t>
            </a:r>
            <a:r>
              <a:rPr lang="en-US" altLang="zh-CN" dirty="0"/>
              <a:t>+</a:t>
            </a:r>
            <a:r>
              <a:rPr lang="zh-CN" altLang="en-US" dirty="0"/>
              <a:t>文件后缀</a:t>
            </a:r>
            <a:endParaRPr lang="en-US" altLang="zh-CN" dirty="0"/>
          </a:p>
          <a:p>
            <a:pPr lvl="1"/>
            <a:r>
              <a:rPr lang="zh-CN" altLang="en-US" dirty="0"/>
              <a:t>文件路径表示文件在外部存储设备中的位置</a:t>
            </a:r>
            <a:endParaRPr lang="en-US" altLang="zh-CN" dirty="0"/>
          </a:p>
          <a:p>
            <a:pPr lvl="1"/>
            <a:r>
              <a:rPr lang="zh-CN" altLang="en-US" dirty="0"/>
              <a:t>文件后缀用来表示文件的性质</a:t>
            </a:r>
            <a:endParaRPr lang="en-US" altLang="zh-CN" dirty="0"/>
          </a:p>
          <a:p>
            <a:endParaRPr lang="en-US" altLang="zh-CN" dirty="0"/>
          </a:p>
          <a:p>
            <a:endParaRPr lang="en-US" altLang="zh-CN" dirty="0"/>
          </a:p>
          <a:p>
            <a:pPr marL="0" indent="0">
              <a:buNone/>
            </a:pPr>
            <a:endParaRPr lang="fr-FR" altLang="zh-CN" sz="2800" dirty="0"/>
          </a:p>
          <a:p>
            <a:pPr marL="0" indent="0">
              <a:buNone/>
            </a:pPr>
            <a:r>
              <a:rPr lang="fr-FR" altLang="zh-CN" sz="2400" dirty="0"/>
              <a:t>FILE * </a:t>
            </a:r>
            <a:r>
              <a:rPr lang="fr-FR" altLang="zh-CN" sz="2400" dirty="0">
                <a:solidFill>
                  <a:srgbClr val="FF0000"/>
                </a:solidFill>
              </a:rPr>
              <a:t>fopen</a:t>
            </a:r>
            <a:r>
              <a:rPr lang="fr-FR" altLang="zh-CN" sz="2400" dirty="0"/>
              <a:t> (const char * </a:t>
            </a:r>
            <a:r>
              <a:rPr lang="fr-FR" altLang="zh-CN" sz="2400" dirty="0">
                <a:solidFill>
                  <a:srgbClr val="00B050"/>
                </a:solidFill>
              </a:rPr>
              <a:t>filename</a:t>
            </a:r>
            <a:r>
              <a:rPr lang="fr-FR" altLang="zh-CN" sz="2400" dirty="0"/>
              <a:t>, const char * mode);</a:t>
            </a:r>
            <a:endParaRPr lang="fr-FR" altLang="zh-CN" sz="2400" dirty="0"/>
          </a:p>
          <a:p>
            <a:r>
              <a:rPr lang="en-US" altLang="zh-CN" sz="1800" dirty="0">
                <a:solidFill>
                  <a:srgbClr val="00B050"/>
                </a:solidFill>
              </a:rPr>
              <a:t>filename</a:t>
            </a:r>
            <a:r>
              <a:rPr lang="zh-CN" altLang="en-US" sz="1800" dirty="0"/>
              <a:t>情况一：包含完整路径，如“</a:t>
            </a:r>
            <a:r>
              <a:rPr lang="en-US" altLang="zh-CN" sz="1800" dirty="0">
                <a:solidFill>
                  <a:srgbClr val="00B050"/>
                </a:solidFill>
              </a:rPr>
              <a:t>D:\\Temp\\test.txt</a:t>
            </a:r>
            <a:r>
              <a:rPr lang="zh-CN" altLang="en-US" sz="1800" dirty="0">
                <a:solidFill>
                  <a:srgbClr val="00B050"/>
                </a:solidFill>
              </a:rPr>
              <a:t>”</a:t>
            </a:r>
            <a:endParaRPr lang="en-US" altLang="zh-CN" sz="1800" dirty="0">
              <a:solidFill>
                <a:srgbClr val="00B050"/>
              </a:solidFill>
            </a:endParaRPr>
          </a:p>
          <a:p>
            <a:r>
              <a:rPr lang="en-US" altLang="zh-CN" sz="1800" dirty="0">
                <a:solidFill>
                  <a:srgbClr val="00B050"/>
                </a:solidFill>
              </a:rPr>
              <a:t>filename</a:t>
            </a:r>
            <a:r>
              <a:rPr lang="zh-CN" altLang="en-US" sz="1800" dirty="0"/>
              <a:t>情况二：不写完整路径，默认从代码文件所在路径查找，如</a:t>
            </a:r>
            <a:r>
              <a:rPr lang="zh-CN" altLang="en-US" sz="1800" dirty="0">
                <a:solidFill>
                  <a:srgbClr val="00B050"/>
                </a:solidFill>
              </a:rPr>
              <a:t>“</a:t>
            </a:r>
            <a:r>
              <a:rPr lang="en-US" altLang="zh-CN" sz="1800" dirty="0">
                <a:solidFill>
                  <a:srgbClr val="00B050"/>
                </a:solidFill>
              </a:rPr>
              <a:t>test.txt</a:t>
            </a:r>
            <a:r>
              <a:rPr lang="zh-CN" altLang="en-US" sz="1800" dirty="0">
                <a:solidFill>
                  <a:srgbClr val="00B050"/>
                </a:solidFill>
              </a:rPr>
              <a:t>”</a:t>
            </a:r>
            <a:endParaRPr lang="en-US" altLang="zh-CN" sz="2400" dirty="0">
              <a:solidFill>
                <a:srgbClr val="00B050"/>
              </a:solidFill>
            </a:endParaRPr>
          </a:p>
          <a:p>
            <a:pPr marL="0" indent="0">
              <a:buNone/>
            </a:pPr>
            <a:endParaRPr lang="en-US" altLang="zh-CN" dirty="0"/>
          </a:p>
          <a:p>
            <a:endParaRPr lang="en-US" altLang="zh-CN" dirty="0"/>
          </a:p>
        </p:txBody>
      </p:sp>
      <p:grpSp>
        <p:nvGrpSpPr>
          <p:cNvPr id="8" name="组合 7"/>
          <p:cNvGrpSpPr/>
          <p:nvPr/>
        </p:nvGrpSpPr>
        <p:grpSpPr>
          <a:xfrm>
            <a:off x="1354085" y="2841931"/>
            <a:ext cx="2850245" cy="1174138"/>
            <a:chOff x="1369709" y="3629370"/>
            <a:chExt cx="2850245" cy="1174138"/>
          </a:xfrm>
        </p:grpSpPr>
        <p:sp>
          <p:nvSpPr>
            <p:cNvPr id="6" name="文本框 2"/>
            <p:cNvSpPr txBox="1"/>
            <p:nvPr/>
          </p:nvSpPr>
          <p:spPr>
            <a:xfrm>
              <a:off x="1373237" y="3941734"/>
              <a:ext cx="2846717" cy="861774"/>
            </a:xfrm>
            <a:prstGeom prst="rect">
              <a:avLst/>
            </a:prstGeom>
            <a:noFill/>
          </p:spPr>
          <p:txBody>
            <a:bodyPr wrap="square" rtlCol="0">
              <a:spAutoFit/>
            </a:bodyPr>
            <a:lstStyle/>
            <a:p>
              <a:r>
                <a:rPr lang="en-US" altLang="zh-CN" u="sng" dirty="0">
                  <a:solidFill>
                    <a:srgbClr val="0070C0"/>
                  </a:solidFill>
                  <a:latin typeface="等线" panose="02010600030101010101" charset="-122"/>
                  <a:ea typeface="等线" panose="02010600030101010101" charset="-122"/>
                </a:rPr>
                <a:t>D:\CC\temp</a:t>
              </a:r>
              <a:r>
                <a:rPr lang="en-US" altLang="zh-CN" dirty="0">
                  <a:solidFill>
                    <a:srgbClr val="0070C0"/>
                  </a:solidFill>
                  <a:latin typeface="等线" panose="02010600030101010101" charset="-122"/>
                  <a:ea typeface="等线" panose="02010600030101010101" charset="-122"/>
                </a:rPr>
                <a:t>\</a:t>
              </a:r>
              <a:r>
                <a:rPr lang="en-US" altLang="zh-CN" u="sng" dirty="0">
                  <a:solidFill>
                    <a:srgbClr val="0070C0"/>
                  </a:solidFill>
                  <a:latin typeface="等线" panose="02010600030101010101" charset="-122"/>
                  <a:ea typeface="等线" panose="02010600030101010101" charset="-122"/>
                </a:rPr>
                <a:t>file1</a:t>
              </a:r>
              <a:r>
                <a:rPr lang="en-US" altLang="zh-CN" dirty="0">
                  <a:solidFill>
                    <a:srgbClr val="0070C0"/>
                  </a:solidFill>
                  <a:latin typeface="等线" panose="02010600030101010101" charset="-122"/>
                  <a:ea typeface="等线" panose="02010600030101010101" charset="-122"/>
                </a:rPr>
                <a:t>.</a:t>
              </a:r>
              <a:r>
                <a:rPr lang="en-US" altLang="zh-CN" u="sng" dirty="0">
                  <a:solidFill>
                    <a:srgbClr val="0070C0"/>
                  </a:solidFill>
                  <a:latin typeface="等线" panose="02010600030101010101" charset="-122"/>
                  <a:ea typeface="等线" panose="02010600030101010101" charset="-122"/>
                </a:rPr>
                <a:t>dat</a:t>
              </a:r>
              <a:endParaRPr lang="en-US" altLang="zh-CN" u="sng" dirty="0">
                <a:solidFill>
                  <a:srgbClr val="0070C0"/>
                </a:solidFill>
                <a:latin typeface="等线" panose="02010600030101010101" charset="-122"/>
                <a:ea typeface="等线" panose="02010600030101010101" charset="-122"/>
              </a:endParaRPr>
            </a:p>
            <a:p>
              <a:r>
                <a:rPr lang="en-US" altLang="zh-CN" dirty="0">
                  <a:solidFill>
                    <a:srgbClr val="0070C0"/>
                  </a:solidFill>
                  <a:latin typeface="等线" panose="02010600030101010101" charset="-122"/>
                  <a:ea typeface="等线" panose="02010600030101010101" charset="-122"/>
                </a:rPr>
                <a:t>        </a:t>
              </a:r>
              <a:r>
                <a:rPr lang="zh-CN" altLang="en-US" dirty="0">
                  <a:solidFill>
                    <a:srgbClr val="0070C0"/>
                  </a:solidFill>
                  <a:latin typeface="等线" panose="02010600030101010101" charset="-122"/>
                  <a:ea typeface="等线" panose="02010600030101010101" charset="-122"/>
                </a:rPr>
                <a:t>↓          ↓   ↓</a:t>
              </a:r>
              <a:endParaRPr lang="en-US" altLang="zh-CN" dirty="0">
                <a:solidFill>
                  <a:srgbClr val="0070C0"/>
                </a:solidFill>
                <a:latin typeface="等线" panose="02010600030101010101" charset="-122"/>
                <a:ea typeface="等线" panose="02010600030101010101" charset="-122"/>
              </a:endParaRPr>
            </a:p>
            <a:p>
              <a:r>
                <a:rPr lang="zh-CN" altLang="en-US" sz="1200" dirty="0">
                  <a:solidFill>
                    <a:srgbClr val="0070C0"/>
                  </a:solidFill>
                  <a:latin typeface="等线" panose="02010600030101010101" charset="-122"/>
                  <a:ea typeface="等线" panose="02010600030101010101" charset="-122"/>
                </a:rPr>
                <a:t>     文件路径  文件主干名  文件后缀</a:t>
              </a:r>
              <a:endParaRPr lang="zh-CN" altLang="en-US" sz="1200" dirty="0">
                <a:solidFill>
                  <a:srgbClr val="0070C0"/>
                </a:solidFill>
                <a:latin typeface="等线" panose="02010600030101010101" charset="-122"/>
                <a:ea typeface="等线" panose="02010600030101010101" charset="-122"/>
              </a:endParaRPr>
            </a:p>
          </p:txBody>
        </p:sp>
        <p:sp>
          <p:nvSpPr>
            <p:cNvPr id="5" name="TextBox 4"/>
            <p:cNvSpPr txBox="1"/>
            <p:nvPr/>
          </p:nvSpPr>
          <p:spPr>
            <a:xfrm>
              <a:off x="2027612" y="3653702"/>
              <a:ext cx="1286314" cy="323165"/>
            </a:xfrm>
            <a:prstGeom prst="rect">
              <a:avLst/>
            </a:prstGeom>
            <a:noFill/>
          </p:spPr>
          <p:txBody>
            <a:bodyPr wrap="none" rtlCol="0">
              <a:spAutoFit/>
            </a:bodyPr>
            <a:lstStyle/>
            <a:p>
              <a:r>
                <a:rPr lang="en-US" altLang="zh-CN" sz="1500" b="1" dirty="0">
                  <a:solidFill>
                    <a:srgbClr val="0070C0"/>
                  </a:solidFill>
                </a:rPr>
                <a:t>Windows</a:t>
              </a:r>
              <a:r>
                <a:rPr lang="zh-CN" altLang="en-US" sz="1500" b="1" dirty="0">
                  <a:solidFill>
                    <a:srgbClr val="0070C0"/>
                  </a:solidFill>
                </a:rPr>
                <a:t>平台</a:t>
              </a:r>
              <a:endParaRPr lang="zh-CN" altLang="en-US" sz="1500" b="1" dirty="0">
                <a:solidFill>
                  <a:srgbClr val="0070C0"/>
                </a:solidFill>
              </a:endParaRPr>
            </a:p>
          </p:txBody>
        </p:sp>
        <p:sp>
          <p:nvSpPr>
            <p:cNvPr id="4" name="矩形 3"/>
            <p:cNvSpPr/>
            <p:nvPr/>
          </p:nvSpPr>
          <p:spPr>
            <a:xfrm>
              <a:off x="1369709" y="3629370"/>
              <a:ext cx="2736303" cy="11498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5259889" y="2869187"/>
            <a:ext cx="2846717" cy="1188715"/>
            <a:chOff x="5161189" y="3614793"/>
            <a:chExt cx="2846717" cy="1188715"/>
          </a:xfrm>
        </p:grpSpPr>
        <p:sp>
          <p:nvSpPr>
            <p:cNvPr id="7" name="文本框 2"/>
            <p:cNvSpPr txBox="1"/>
            <p:nvPr/>
          </p:nvSpPr>
          <p:spPr>
            <a:xfrm>
              <a:off x="5161189" y="3972511"/>
              <a:ext cx="2846717" cy="830997"/>
            </a:xfrm>
            <a:prstGeom prst="rect">
              <a:avLst/>
            </a:prstGeom>
            <a:noFill/>
          </p:spPr>
          <p:txBody>
            <a:bodyPr wrap="square" rtlCol="0">
              <a:spAutoFit/>
            </a:bodyPr>
            <a:lstStyle/>
            <a:p>
              <a:r>
                <a:rPr lang="en-US" altLang="zh-CN" u="sng" dirty="0">
                  <a:solidFill>
                    <a:srgbClr val="E84C22"/>
                  </a:solidFill>
                  <a:latin typeface="等线" panose="02010600030101010101" charset="-122"/>
                  <a:ea typeface="等线" panose="02010600030101010101" charset="-122"/>
                </a:rPr>
                <a:t>/home/student/file1</a:t>
              </a:r>
              <a:r>
                <a:rPr lang="en-US" altLang="zh-CN" dirty="0">
                  <a:solidFill>
                    <a:srgbClr val="E84C22"/>
                  </a:solidFill>
                  <a:latin typeface="等线" panose="02010600030101010101" charset="-122"/>
                  <a:ea typeface="等线" panose="02010600030101010101" charset="-122"/>
                </a:rPr>
                <a:t>.</a:t>
              </a:r>
              <a:r>
                <a:rPr lang="en-US" altLang="zh-CN" u="sng" dirty="0">
                  <a:solidFill>
                    <a:srgbClr val="E84C22"/>
                  </a:solidFill>
                  <a:latin typeface="等线" panose="02010600030101010101" charset="-122"/>
                  <a:ea typeface="等线" panose="02010600030101010101" charset="-122"/>
                </a:rPr>
                <a:t>dat</a:t>
              </a:r>
              <a:endParaRPr lang="en-US" altLang="zh-CN" u="sng" dirty="0">
                <a:solidFill>
                  <a:srgbClr val="E84C22"/>
                </a:solidFill>
                <a:latin typeface="等线" panose="02010600030101010101" charset="-122"/>
                <a:ea typeface="等线" panose="02010600030101010101" charset="-122"/>
              </a:endParaRPr>
            </a:p>
            <a:p>
              <a:r>
                <a:rPr lang="en-US" altLang="zh-CN" dirty="0">
                  <a:solidFill>
                    <a:srgbClr val="E84C22"/>
                  </a:solidFill>
                  <a:latin typeface="等线" panose="02010600030101010101" charset="-122"/>
                  <a:ea typeface="等线" panose="02010600030101010101" charset="-122"/>
                </a:rPr>
                <a:t>          </a:t>
              </a:r>
              <a:r>
                <a:rPr lang="zh-CN" altLang="en-US" dirty="0">
                  <a:solidFill>
                    <a:srgbClr val="E84C22"/>
                  </a:solidFill>
                  <a:latin typeface="等线" panose="02010600030101010101" charset="-122"/>
                  <a:ea typeface="等线" panose="02010600030101010101" charset="-122"/>
                </a:rPr>
                <a:t>↓             ↓   ↓</a:t>
              </a:r>
              <a:endParaRPr lang="en-US" altLang="zh-CN" dirty="0">
                <a:solidFill>
                  <a:srgbClr val="E84C22"/>
                </a:solidFill>
                <a:latin typeface="等线" panose="02010600030101010101" charset="-122"/>
                <a:ea typeface="等线" panose="02010600030101010101" charset="-122"/>
              </a:endParaRPr>
            </a:p>
            <a:p>
              <a:r>
                <a:rPr lang="zh-CN" altLang="en-US" sz="1200" dirty="0">
                  <a:solidFill>
                    <a:srgbClr val="E84C22"/>
                  </a:solidFill>
                  <a:latin typeface="等线" panose="02010600030101010101" charset="-122"/>
                  <a:ea typeface="等线" panose="02010600030101010101" charset="-122"/>
                </a:rPr>
                <a:t>         文件路径    文件主干名  文件后缀</a:t>
              </a:r>
              <a:endParaRPr lang="zh-CN" altLang="en-US" sz="1200" dirty="0">
                <a:solidFill>
                  <a:srgbClr val="E84C22"/>
                </a:solidFill>
                <a:latin typeface="等线" panose="02010600030101010101" charset="-122"/>
                <a:ea typeface="等线" panose="02010600030101010101" charset="-122"/>
              </a:endParaRPr>
            </a:p>
          </p:txBody>
        </p:sp>
        <p:sp>
          <p:nvSpPr>
            <p:cNvPr id="9" name="TextBox 8"/>
            <p:cNvSpPr txBox="1"/>
            <p:nvPr/>
          </p:nvSpPr>
          <p:spPr>
            <a:xfrm>
              <a:off x="5919244" y="3625014"/>
              <a:ext cx="1016625" cy="323165"/>
            </a:xfrm>
            <a:prstGeom prst="rect">
              <a:avLst/>
            </a:prstGeom>
            <a:noFill/>
          </p:spPr>
          <p:txBody>
            <a:bodyPr wrap="none" rtlCol="0">
              <a:spAutoFit/>
            </a:bodyPr>
            <a:lstStyle/>
            <a:p>
              <a:r>
                <a:rPr lang="en-US" altLang="zh-CN" sz="1500" b="1" dirty="0">
                  <a:solidFill>
                    <a:srgbClr val="E84C22"/>
                  </a:solidFill>
                  <a:latin typeface="+mn-ea"/>
                </a:rPr>
                <a:t>Linux</a:t>
              </a:r>
              <a:r>
                <a:rPr lang="zh-CN" altLang="en-US" sz="1500" b="1" dirty="0">
                  <a:solidFill>
                    <a:srgbClr val="E84C22"/>
                  </a:solidFill>
                  <a:latin typeface="+mn-ea"/>
                </a:rPr>
                <a:t>平台</a:t>
              </a:r>
              <a:endParaRPr lang="zh-CN" altLang="en-US" sz="1500" b="1" dirty="0">
                <a:solidFill>
                  <a:srgbClr val="E84C22"/>
                </a:solidFill>
                <a:ea typeface="等线" panose="02010600030101010101" charset="-122"/>
              </a:endParaRPr>
            </a:p>
          </p:txBody>
        </p:sp>
        <p:sp>
          <p:nvSpPr>
            <p:cNvPr id="10" name="矩形 9"/>
            <p:cNvSpPr/>
            <p:nvPr/>
          </p:nvSpPr>
          <p:spPr>
            <a:xfrm>
              <a:off x="5164715" y="3614793"/>
              <a:ext cx="2732777" cy="11498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2466" name="Rectangle 2"/>
          <p:cNvSpPr>
            <a:spLocks noGrp="1" noChangeArrowheads="1"/>
          </p:cNvSpPr>
          <p:nvPr>
            <p:ph type="title"/>
          </p:nvPr>
        </p:nvSpPr>
        <p:spPr/>
        <p:txBody>
          <a:bodyPr/>
          <a:lstStyle/>
          <a:p>
            <a:r>
              <a:rPr lang="zh-CN" altLang="en-US" dirty="0">
                <a:latin typeface="华文新魏" panose="02010800040101010101" pitchFamily="2" charset="-122"/>
              </a:rPr>
              <a:t>文件使用方式 </a:t>
            </a:r>
            <a:r>
              <a:rPr lang="fr-FR" altLang="zh-CN" sz="4000" dirty="0"/>
              <a:t>const char * mode</a:t>
            </a:r>
            <a:endParaRPr lang="zh-CN" altLang="en-US" dirty="0">
              <a:latin typeface="华文新魏" panose="02010800040101010101" pitchFamily="2" charset="-122"/>
            </a:endParaRPr>
          </a:p>
        </p:txBody>
      </p:sp>
      <p:graphicFrame>
        <p:nvGraphicFramePr>
          <p:cNvPr id="6" name="表格 5"/>
          <p:cNvGraphicFramePr>
            <a:graphicFrameLocks noGrp="1"/>
          </p:cNvGraphicFramePr>
          <p:nvPr/>
        </p:nvGraphicFramePr>
        <p:xfrm>
          <a:off x="335487" y="1366196"/>
          <a:ext cx="8521849" cy="5312970"/>
        </p:xfrm>
        <a:graphic>
          <a:graphicData uri="http://schemas.openxmlformats.org/drawingml/2006/table">
            <a:tbl>
              <a:tblPr firstRow="1" bandRow="1"/>
              <a:tblGrid>
                <a:gridCol w="1354362"/>
                <a:gridCol w="3950227"/>
                <a:gridCol w="1467227"/>
                <a:gridCol w="1750033"/>
              </a:tblGrid>
              <a:tr h="369350">
                <a:tc>
                  <a:txBody>
                    <a:bodyPr/>
                    <a:lstStyle>
                      <a:lvl1pPr marL="0" algn="l" defTabSz="685800" rtl="0" eaLnBrk="1" latinLnBrk="0" hangingPunct="1">
                        <a:defRPr sz="1350" b="1" kern="1200">
                          <a:solidFill>
                            <a:schemeClr val="lt1"/>
                          </a:solidFill>
                          <a:latin typeface="等线" panose="02010600030101010101" charset="-122"/>
                        </a:defRPr>
                      </a:lvl1pPr>
                      <a:lvl2pPr marL="342900" algn="l" defTabSz="685800" rtl="0" eaLnBrk="1" latinLnBrk="0" hangingPunct="1">
                        <a:defRPr sz="1350" b="1" kern="1200">
                          <a:solidFill>
                            <a:schemeClr val="lt1"/>
                          </a:solidFill>
                          <a:latin typeface="等线" panose="02010600030101010101" charset="-122"/>
                        </a:defRPr>
                      </a:lvl2pPr>
                      <a:lvl3pPr marL="685800" algn="l" defTabSz="685800" rtl="0" eaLnBrk="1" latinLnBrk="0" hangingPunct="1">
                        <a:defRPr sz="1350" b="1" kern="1200">
                          <a:solidFill>
                            <a:schemeClr val="lt1"/>
                          </a:solidFill>
                          <a:latin typeface="等线" panose="02010600030101010101" charset="-122"/>
                        </a:defRPr>
                      </a:lvl3pPr>
                      <a:lvl4pPr marL="1028700" algn="l" defTabSz="685800" rtl="0" eaLnBrk="1" latinLnBrk="0" hangingPunct="1">
                        <a:defRPr sz="1350" b="1" kern="1200">
                          <a:solidFill>
                            <a:schemeClr val="lt1"/>
                          </a:solidFill>
                          <a:latin typeface="等线" panose="02010600030101010101" charset="-122"/>
                        </a:defRPr>
                      </a:lvl4pPr>
                      <a:lvl5pPr marL="1371600" algn="l" defTabSz="685800" rtl="0" eaLnBrk="1" latinLnBrk="0" hangingPunct="1">
                        <a:defRPr sz="1350" b="1" kern="1200">
                          <a:solidFill>
                            <a:schemeClr val="lt1"/>
                          </a:solidFill>
                          <a:latin typeface="等线" panose="02010600030101010101" charset="-122"/>
                        </a:defRPr>
                      </a:lvl5pPr>
                      <a:lvl6pPr marL="1714500" algn="l" defTabSz="685800" rtl="0" eaLnBrk="1" latinLnBrk="0" hangingPunct="1">
                        <a:defRPr sz="1350" b="1" kern="1200">
                          <a:solidFill>
                            <a:schemeClr val="lt1"/>
                          </a:solidFill>
                          <a:latin typeface="等线" panose="02010600030101010101" charset="-122"/>
                        </a:defRPr>
                      </a:lvl6pPr>
                      <a:lvl7pPr marL="2057400" algn="l" defTabSz="685800" rtl="0" eaLnBrk="1" latinLnBrk="0" hangingPunct="1">
                        <a:defRPr sz="1350" b="1" kern="1200">
                          <a:solidFill>
                            <a:schemeClr val="lt1"/>
                          </a:solidFill>
                          <a:latin typeface="等线" panose="02010600030101010101" charset="-122"/>
                        </a:defRPr>
                      </a:lvl7pPr>
                      <a:lvl8pPr marL="2400300" algn="l" defTabSz="685800" rtl="0" eaLnBrk="1" latinLnBrk="0" hangingPunct="1">
                        <a:defRPr sz="1350" b="1" kern="1200">
                          <a:solidFill>
                            <a:schemeClr val="lt1"/>
                          </a:solidFill>
                          <a:latin typeface="等线" panose="02010600030101010101" charset="-122"/>
                        </a:defRPr>
                      </a:lvl8pPr>
                      <a:lvl9pPr marL="2743200" algn="l" defTabSz="685800" rtl="0" eaLnBrk="1" latinLnBrk="0" hangingPunct="1">
                        <a:defRPr sz="1350" b="1" kern="1200">
                          <a:solidFill>
                            <a:schemeClr val="lt1"/>
                          </a:solidFill>
                          <a:latin typeface="等线" panose="02010600030101010101" charset="-122"/>
                        </a:defRPr>
                      </a:lvl9pPr>
                    </a:lstStyle>
                    <a:p>
                      <a:pPr algn="ctr" fontAlgn="ctr"/>
                      <a:r>
                        <a:rPr lang="zh-CN" altLang="en-US" sz="1600" u="none" strike="noStrike" dirty="0">
                          <a:effectLst/>
                        </a:rPr>
                        <a:t>使用方式</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tc>
                  <a:txBody>
                    <a:bodyPr/>
                    <a:lstStyle>
                      <a:lvl1pPr marL="0" algn="l" defTabSz="685800" rtl="0" eaLnBrk="1" latinLnBrk="0" hangingPunct="1">
                        <a:defRPr sz="1350" b="1" kern="1200">
                          <a:solidFill>
                            <a:schemeClr val="lt1"/>
                          </a:solidFill>
                          <a:latin typeface="等线" panose="02010600030101010101" charset="-122"/>
                        </a:defRPr>
                      </a:lvl1pPr>
                      <a:lvl2pPr marL="342900" algn="l" defTabSz="685800" rtl="0" eaLnBrk="1" latinLnBrk="0" hangingPunct="1">
                        <a:defRPr sz="1350" b="1" kern="1200">
                          <a:solidFill>
                            <a:schemeClr val="lt1"/>
                          </a:solidFill>
                          <a:latin typeface="等线" panose="02010600030101010101" charset="-122"/>
                        </a:defRPr>
                      </a:lvl2pPr>
                      <a:lvl3pPr marL="685800" algn="l" defTabSz="685800" rtl="0" eaLnBrk="1" latinLnBrk="0" hangingPunct="1">
                        <a:defRPr sz="1350" b="1" kern="1200">
                          <a:solidFill>
                            <a:schemeClr val="lt1"/>
                          </a:solidFill>
                          <a:latin typeface="等线" panose="02010600030101010101" charset="-122"/>
                        </a:defRPr>
                      </a:lvl3pPr>
                      <a:lvl4pPr marL="1028700" algn="l" defTabSz="685800" rtl="0" eaLnBrk="1" latinLnBrk="0" hangingPunct="1">
                        <a:defRPr sz="1350" b="1" kern="1200">
                          <a:solidFill>
                            <a:schemeClr val="lt1"/>
                          </a:solidFill>
                          <a:latin typeface="等线" panose="02010600030101010101" charset="-122"/>
                        </a:defRPr>
                      </a:lvl4pPr>
                      <a:lvl5pPr marL="1371600" algn="l" defTabSz="685800" rtl="0" eaLnBrk="1" latinLnBrk="0" hangingPunct="1">
                        <a:defRPr sz="1350" b="1" kern="1200">
                          <a:solidFill>
                            <a:schemeClr val="lt1"/>
                          </a:solidFill>
                          <a:latin typeface="等线" panose="02010600030101010101" charset="-122"/>
                        </a:defRPr>
                      </a:lvl5pPr>
                      <a:lvl6pPr marL="1714500" algn="l" defTabSz="685800" rtl="0" eaLnBrk="1" latinLnBrk="0" hangingPunct="1">
                        <a:defRPr sz="1350" b="1" kern="1200">
                          <a:solidFill>
                            <a:schemeClr val="lt1"/>
                          </a:solidFill>
                          <a:latin typeface="等线" panose="02010600030101010101" charset="-122"/>
                        </a:defRPr>
                      </a:lvl6pPr>
                      <a:lvl7pPr marL="2057400" algn="l" defTabSz="685800" rtl="0" eaLnBrk="1" latinLnBrk="0" hangingPunct="1">
                        <a:defRPr sz="1350" b="1" kern="1200">
                          <a:solidFill>
                            <a:schemeClr val="lt1"/>
                          </a:solidFill>
                          <a:latin typeface="等线" panose="02010600030101010101" charset="-122"/>
                        </a:defRPr>
                      </a:lvl7pPr>
                      <a:lvl8pPr marL="2400300" algn="l" defTabSz="685800" rtl="0" eaLnBrk="1" latinLnBrk="0" hangingPunct="1">
                        <a:defRPr sz="1350" b="1" kern="1200">
                          <a:solidFill>
                            <a:schemeClr val="lt1"/>
                          </a:solidFill>
                          <a:latin typeface="等线" panose="02010600030101010101" charset="-122"/>
                        </a:defRPr>
                      </a:lvl8pPr>
                      <a:lvl9pPr marL="2743200" algn="l" defTabSz="685800" rtl="0" eaLnBrk="1" latinLnBrk="0" hangingPunct="1">
                        <a:defRPr sz="1350" b="1" kern="1200">
                          <a:solidFill>
                            <a:schemeClr val="lt1"/>
                          </a:solidFill>
                          <a:latin typeface="等线" panose="02010600030101010101" charset="-122"/>
                        </a:defRPr>
                      </a:lvl9pPr>
                    </a:lstStyle>
                    <a:p>
                      <a:pPr algn="ctr" fontAlgn="ctr"/>
                      <a:r>
                        <a:rPr lang="zh-CN" altLang="en-US" sz="1600" u="none" strike="noStrike" dirty="0">
                          <a:effectLst/>
                        </a:rPr>
                        <a:t>含义</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tc>
                  <a:txBody>
                    <a:bodyPr/>
                    <a:lstStyle>
                      <a:lvl1pPr marL="0" algn="l" defTabSz="685800" rtl="0" eaLnBrk="1" latinLnBrk="0" hangingPunct="1">
                        <a:defRPr sz="1350" b="1" kern="1200">
                          <a:solidFill>
                            <a:schemeClr val="lt1"/>
                          </a:solidFill>
                          <a:latin typeface="等线" panose="02010600030101010101" charset="-122"/>
                        </a:defRPr>
                      </a:lvl1pPr>
                      <a:lvl2pPr marL="342900" algn="l" defTabSz="685800" rtl="0" eaLnBrk="1" latinLnBrk="0" hangingPunct="1">
                        <a:defRPr sz="1350" b="1" kern="1200">
                          <a:solidFill>
                            <a:schemeClr val="lt1"/>
                          </a:solidFill>
                          <a:latin typeface="等线" panose="02010600030101010101" charset="-122"/>
                        </a:defRPr>
                      </a:lvl2pPr>
                      <a:lvl3pPr marL="685800" algn="l" defTabSz="685800" rtl="0" eaLnBrk="1" latinLnBrk="0" hangingPunct="1">
                        <a:defRPr sz="1350" b="1" kern="1200">
                          <a:solidFill>
                            <a:schemeClr val="lt1"/>
                          </a:solidFill>
                          <a:latin typeface="等线" panose="02010600030101010101" charset="-122"/>
                        </a:defRPr>
                      </a:lvl3pPr>
                      <a:lvl4pPr marL="1028700" algn="l" defTabSz="685800" rtl="0" eaLnBrk="1" latinLnBrk="0" hangingPunct="1">
                        <a:defRPr sz="1350" b="1" kern="1200">
                          <a:solidFill>
                            <a:schemeClr val="lt1"/>
                          </a:solidFill>
                          <a:latin typeface="等线" panose="02010600030101010101" charset="-122"/>
                        </a:defRPr>
                      </a:lvl4pPr>
                      <a:lvl5pPr marL="1371600" algn="l" defTabSz="685800" rtl="0" eaLnBrk="1" latinLnBrk="0" hangingPunct="1">
                        <a:defRPr sz="1350" b="1" kern="1200">
                          <a:solidFill>
                            <a:schemeClr val="lt1"/>
                          </a:solidFill>
                          <a:latin typeface="等线" panose="02010600030101010101" charset="-122"/>
                        </a:defRPr>
                      </a:lvl5pPr>
                      <a:lvl6pPr marL="1714500" algn="l" defTabSz="685800" rtl="0" eaLnBrk="1" latinLnBrk="0" hangingPunct="1">
                        <a:defRPr sz="1350" b="1" kern="1200">
                          <a:solidFill>
                            <a:schemeClr val="lt1"/>
                          </a:solidFill>
                          <a:latin typeface="等线" panose="02010600030101010101" charset="-122"/>
                        </a:defRPr>
                      </a:lvl6pPr>
                      <a:lvl7pPr marL="2057400" algn="l" defTabSz="685800" rtl="0" eaLnBrk="1" latinLnBrk="0" hangingPunct="1">
                        <a:defRPr sz="1350" b="1" kern="1200">
                          <a:solidFill>
                            <a:schemeClr val="lt1"/>
                          </a:solidFill>
                          <a:latin typeface="等线" panose="02010600030101010101" charset="-122"/>
                        </a:defRPr>
                      </a:lvl7pPr>
                      <a:lvl8pPr marL="2400300" algn="l" defTabSz="685800" rtl="0" eaLnBrk="1" latinLnBrk="0" hangingPunct="1">
                        <a:defRPr sz="1350" b="1" kern="1200">
                          <a:solidFill>
                            <a:schemeClr val="lt1"/>
                          </a:solidFill>
                          <a:latin typeface="等线" panose="02010600030101010101" charset="-122"/>
                        </a:defRPr>
                      </a:lvl8pPr>
                      <a:lvl9pPr marL="2743200" algn="l" defTabSz="685800" rtl="0" eaLnBrk="1" latinLnBrk="0" hangingPunct="1">
                        <a:defRPr sz="1350" b="1" kern="1200">
                          <a:solidFill>
                            <a:schemeClr val="lt1"/>
                          </a:solidFill>
                          <a:latin typeface="等线" panose="02010600030101010101" charset="-122"/>
                        </a:defRPr>
                      </a:lvl9pPr>
                    </a:lstStyle>
                    <a:p>
                      <a:pPr algn="ctr" fontAlgn="ctr"/>
                      <a:r>
                        <a:rPr lang="zh-CN" altLang="en-US" sz="1600" u="none" strike="noStrike" dirty="0">
                          <a:effectLst/>
                        </a:rPr>
                        <a:t>若文件不存在</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tc>
                  <a:txBody>
                    <a:bodyPr/>
                    <a:lstStyle/>
                    <a:p>
                      <a:pPr marL="0" marR="0" indent="0" algn="ctr" defTabSz="685800" rtl="0" eaLnBrk="1" fontAlgn="ctr" latinLnBrk="0" hangingPunct="1">
                        <a:lnSpc>
                          <a:spcPct val="100000"/>
                        </a:lnSpc>
                        <a:spcBef>
                          <a:spcPts val="0"/>
                        </a:spcBef>
                        <a:spcAft>
                          <a:spcPts val="0"/>
                        </a:spcAft>
                        <a:buClrTx/>
                        <a:buSzTx/>
                        <a:buFontTx/>
                        <a:buNone/>
                        <a:defRPr/>
                      </a:pPr>
                      <a:r>
                        <a:rPr lang="zh-CN" altLang="en-US" sz="1600" b="1" u="none" strike="noStrike" kern="1200" dirty="0">
                          <a:solidFill>
                            <a:schemeClr val="lt1"/>
                          </a:solidFill>
                          <a:effectLst/>
                          <a:latin typeface="等线" panose="02010600030101010101" charset="-122"/>
                          <a:ea typeface="+mn-ea"/>
                          <a:cs typeface="+mn-cs"/>
                        </a:rPr>
                        <a:t>若文件存在</a:t>
                      </a:r>
                      <a:endParaRPr lang="zh-CN" altLang="en-US" sz="1600" b="1" u="none" strike="noStrike" kern="1200" dirty="0">
                        <a:solidFill>
                          <a:schemeClr val="lt1"/>
                        </a:solidFill>
                        <a:effectLst/>
                        <a:latin typeface="等线" panose="02010600030101010101" charset="-122"/>
                        <a:ea typeface="+mn-ea"/>
                        <a:cs typeface="+mn-cs"/>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solidFill>
                  </a:tcPr>
                </a:tc>
              </a:tr>
              <a:tr h="369350">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en-US" sz="1600" u="none" strike="noStrike" dirty="0">
                          <a:effectLst/>
                        </a:rPr>
                        <a:t>“r”（</a:t>
                      </a:r>
                      <a:r>
                        <a:rPr lang="zh-CN" altLang="en-US" sz="1600" u="none" strike="noStrike" dirty="0">
                          <a:effectLst/>
                        </a:rPr>
                        <a:t>只读）</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为了输入数据，打开一个已存在的文本文件</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出错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algn="l" fontAlgn="ctr"/>
                      <a:r>
                        <a:rPr lang="zh-CN" altLang="en-US" sz="1600" b="0" i="0" u="none" strike="noStrike" dirty="0">
                          <a:solidFill>
                            <a:srgbClr val="000000"/>
                          </a:solidFill>
                          <a:effectLst/>
                          <a:latin typeface="等线" panose="02010600030101010101" charset="-122"/>
                          <a:ea typeface="等线" panose="02010600030101010101" charset="-122"/>
                        </a:rPr>
                        <a:t>成功</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tr>
              <a:tr h="369350">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en-US" sz="1600" u="none" strike="noStrike" dirty="0">
                          <a:effectLst/>
                        </a:rPr>
                        <a:t>“w”（</a:t>
                      </a:r>
                      <a:r>
                        <a:rPr lang="zh-CN" altLang="en-US" sz="1600" u="none" strike="noStrike" dirty="0">
                          <a:effectLst/>
                        </a:rPr>
                        <a:t>只写）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为了输出数据，打开一个文本文件</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a:effectLst/>
                        </a:rPr>
                        <a:t>建立新文件</a:t>
                      </a:r>
                      <a:endParaRPr lang="zh-CN" altLang="en-US" sz="1600" b="0" i="0" u="none" strike="noStrike">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algn="l" fontAlgn="ctr"/>
                      <a:r>
                        <a:rPr lang="zh-CN" altLang="en-US" sz="1600" b="0" i="0" u="none" strike="noStrike" dirty="0">
                          <a:solidFill>
                            <a:srgbClr val="000000"/>
                          </a:solidFill>
                          <a:effectLst/>
                          <a:latin typeface="等线" panose="02010600030101010101" charset="-122"/>
                          <a:ea typeface="等线" panose="02010600030101010101" charset="-122"/>
                        </a:rPr>
                        <a:t>删除并重新建立</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r>
              <a:tr h="403111">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pt-BR" sz="1600" u="none" strike="noStrike" dirty="0">
                          <a:effectLst/>
                        </a:rPr>
                        <a:t>“a”（追加）</a:t>
                      </a:r>
                      <a:endParaRPr lang="pt-BR"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向文本文件尾添加数据</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a:effectLst/>
                        </a:rPr>
                        <a:t>出错</a:t>
                      </a:r>
                      <a:endParaRPr lang="zh-CN" altLang="en-US" sz="1600" b="0" i="0" u="none" strike="noStrike">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algn="l" fontAlgn="ctr"/>
                      <a:r>
                        <a:rPr lang="zh-CN" altLang="en-US" sz="1600" dirty="0">
                          <a:solidFill>
                            <a:schemeClr val="tx1"/>
                          </a:solidFill>
                        </a:rPr>
                        <a:t>文件读写位置标记移到文件末尾</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tr>
              <a:tr h="369350">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a:t>
                      </a:r>
                      <a:r>
                        <a:rPr lang="en-US" altLang="zh-CN" sz="1600" u="none" strike="noStrike" dirty="0" err="1">
                          <a:effectLst/>
                        </a:rPr>
                        <a:t>rb</a:t>
                      </a:r>
                      <a:r>
                        <a:rPr lang="en-US" altLang="zh-CN" sz="1600" u="none" strike="noStrike" dirty="0">
                          <a:effectLst/>
                        </a:rPr>
                        <a:t>”</a:t>
                      </a:r>
                      <a:r>
                        <a:rPr lang="zh-CN" altLang="en-US" sz="1600" u="none" strike="noStrike" dirty="0">
                          <a:effectLst/>
                        </a:rPr>
                        <a:t>（只读）</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为了输入数据，打开一个二进制文件</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出错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defRPr/>
                      </a:pPr>
                      <a:r>
                        <a:rPr lang="zh-CN" altLang="en-US" sz="1600" b="0" i="0" u="none" strike="noStrike" dirty="0">
                          <a:solidFill>
                            <a:srgbClr val="000000"/>
                          </a:solidFill>
                          <a:effectLst/>
                          <a:latin typeface="等线" panose="02010600030101010101" charset="-122"/>
                          <a:ea typeface="等线" panose="02010600030101010101" charset="-122"/>
                        </a:rPr>
                        <a:t>成功</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r>
              <a:tr h="369350">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a:t>
                      </a:r>
                      <a:r>
                        <a:rPr lang="en-US" altLang="zh-CN" sz="1600" u="none" strike="noStrike" dirty="0" err="1">
                          <a:effectLst/>
                        </a:rPr>
                        <a:t>wb</a:t>
                      </a:r>
                      <a:r>
                        <a:rPr lang="en-US" altLang="zh-CN" sz="1600" u="none" strike="noStrike" dirty="0">
                          <a:effectLst/>
                        </a:rPr>
                        <a:t>”</a:t>
                      </a:r>
                      <a:r>
                        <a:rPr lang="zh-CN" altLang="en-US" sz="1600" u="none" strike="noStrike" dirty="0">
                          <a:effectLst/>
                        </a:rPr>
                        <a:t>（只写）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为了输出数据，打开一个二进制文件</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a:effectLst/>
                        </a:rPr>
                        <a:t>建立新文件</a:t>
                      </a:r>
                      <a:endParaRPr lang="zh-CN" altLang="en-US" sz="1600" b="0" i="0" u="none" strike="noStrike">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defRPr/>
                      </a:pPr>
                      <a:r>
                        <a:rPr lang="zh-CN" altLang="en-US" sz="1600" b="0" i="0" u="none" strike="noStrike" dirty="0">
                          <a:solidFill>
                            <a:srgbClr val="000000"/>
                          </a:solidFill>
                          <a:effectLst/>
                          <a:latin typeface="等线" panose="02010600030101010101" charset="-122"/>
                          <a:ea typeface="等线" panose="02010600030101010101" charset="-122"/>
                        </a:rPr>
                        <a:t>删除并重新建立</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tr>
              <a:tr h="403111">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de-DE" sz="1600" u="none" strike="noStrike" dirty="0">
                          <a:effectLst/>
                        </a:rPr>
                        <a:t>“ab”（追加）</a:t>
                      </a:r>
                      <a:endParaRPr lang="de-DE"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向二进制文件尾添加数据</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出错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defRPr/>
                      </a:pPr>
                      <a:r>
                        <a:rPr lang="zh-CN" altLang="en-US" sz="1600" dirty="0">
                          <a:solidFill>
                            <a:schemeClr val="tx1"/>
                          </a:solidFill>
                        </a:rPr>
                        <a:t>文件读写位置标记移到文件末尾</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r>
              <a:tr h="369350">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en-US" sz="1600" u="none" strike="noStrike" dirty="0">
                          <a:effectLst/>
                        </a:rPr>
                        <a:t>“r+”（</a:t>
                      </a:r>
                      <a:r>
                        <a:rPr lang="zh-CN" altLang="en-US" sz="1600" u="none" strike="noStrike" dirty="0">
                          <a:effectLst/>
                        </a:rPr>
                        <a:t>读写）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为了读和写，打开一个文本文件</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a:effectLst/>
                        </a:rPr>
                        <a:t>出错</a:t>
                      </a:r>
                      <a:endParaRPr lang="zh-CN" altLang="en-US" sz="1600" b="0" i="0" u="none" strike="noStrike">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defRPr/>
                      </a:pPr>
                      <a:r>
                        <a:rPr lang="zh-CN" altLang="en-US" sz="1600" b="0" i="0" u="none" strike="noStrike" dirty="0">
                          <a:solidFill>
                            <a:srgbClr val="000000"/>
                          </a:solidFill>
                          <a:effectLst/>
                          <a:latin typeface="等线" panose="02010600030101010101" charset="-122"/>
                          <a:ea typeface="等线" panose="02010600030101010101" charset="-122"/>
                        </a:rPr>
                        <a:t>成功</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tr>
              <a:tr h="369350">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en-US" sz="1600" u="none" strike="noStrike" dirty="0">
                          <a:effectLst/>
                        </a:rPr>
                        <a:t>“w+”（</a:t>
                      </a:r>
                      <a:r>
                        <a:rPr lang="zh-CN" altLang="en-US" sz="1600" u="none" strike="noStrike" dirty="0">
                          <a:effectLst/>
                        </a:rPr>
                        <a:t>读写）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为了读和写，建立一个新的文本文件</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建立新文件</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defRPr/>
                      </a:pPr>
                      <a:r>
                        <a:rPr lang="zh-CN" altLang="en-US" sz="1600" b="0" i="0" u="none" strike="noStrike" dirty="0">
                          <a:solidFill>
                            <a:srgbClr val="000000"/>
                          </a:solidFill>
                          <a:effectLst/>
                          <a:latin typeface="等线" panose="02010600030101010101" charset="-122"/>
                          <a:ea typeface="等线" panose="02010600030101010101" charset="-122"/>
                        </a:rPr>
                        <a:t>删除并重新建立</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r>
              <a:tr h="403111">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en-US" sz="1600" u="none" strike="noStrike" dirty="0">
                          <a:effectLst/>
                        </a:rPr>
                        <a:t>“a+” (</a:t>
                      </a:r>
                      <a:r>
                        <a:rPr lang="zh-CN" altLang="en-US" sz="1600" u="none" strike="noStrike" dirty="0">
                          <a:effectLst/>
                        </a:rPr>
                        <a:t>读写）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a:effectLst/>
                        </a:rPr>
                        <a:t>为了读和写，打开一个文本文件</a:t>
                      </a:r>
                      <a:endParaRPr lang="zh-CN" altLang="en-US" sz="1600" b="0" i="0" u="none" strike="noStrike">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出错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defRPr/>
                      </a:pPr>
                      <a:r>
                        <a:rPr lang="zh-CN" altLang="en-US" sz="1600" dirty="0">
                          <a:solidFill>
                            <a:schemeClr val="tx1"/>
                          </a:solidFill>
                        </a:rPr>
                        <a:t>文件读写位置标记移到文件末尾</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tr>
              <a:tr h="369350">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a:t>
                      </a:r>
                      <a:r>
                        <a:rPr lang="en-US" altLang="zh-CN" sz="1600" u="none" strike="noStrike" dirty="0" err="1">
                          <a:effectLst/>
                        </a:rPr>
                        <a:t>rb</a:t>
                      </a:r>
                      <a:r>
                        <a:rPr lang="en-US" altLang="zh-CN" sz="1600" u="none" strike="noStrike" dirty="0">
                          <a:effectLst/>
                        </a:rPr>
                        <a:t>+”</a:t>
                      </a:r>
                      <a:r>
                        <a:rPr lang="zh-CN" altLang="en-US" sz="1600" u="none" strike="noStrike" dirty="0">
                          <a:effectLst/>
                        </a:rPr>
                        <a:t>（读写）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a:effectLst/>
                        </a:rPr>
                        <a:t>为了读和写，打开一个二进制文件</a:t>
                      </a:r>
                      <a:endParaRPr lang="zh-CN" altLang="en-US" sz="1600" b="0" i="0" u="none" strike="noStrike">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出错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defRPr/>
                      </a:pPr>
                      <a:r>
                        <a:rPr lang="zh-CN" altLang="en-US" sz="1600" b="0" i="0" u="none" strike="noStrike" dirty="0">
                          <a:solidFill>
                            <a:srgbClr val="000000"/>
                          </a:solidFill>
                          <a:effectLst/>
                          <a:latin typeface="等线" panose="02010600030101010101" charset="-122"/>
                          <a:ea typeface="等线" panose="02010600030101010101" charset="-122"/>
                        </a:rPr>
                        <a:t>成功</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r>
              <a:tr h="369350">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a:t>
                      </a:r>
                      <a:r>
                        <a:rPr lang="en-US" altLang="zh-CN" sz="1600" u="none" strike="noStrike" dirty="0" err="1">
                          <a:effectLst/>
                        </a:rPr>
                        <a:t>wb</a:t>
                      </a:r>
                      <a:r>
                        <a:rPr lang="en-US" altLang="zh-CN" sz="1600" u="none" strike="noStrike" dirty="0">
                          <a:effectLst/>
                        </a:rPr>
                        <a:t>+”</a:t>
                      </a:r>
                      <a:r>
                        <a:rPr lang="zh-CN" altLang="en-US" sz="1600" u="none" strike="noStrike" dirty="0">
                          <a:effectLst/>
                        </a:rPr>
                        <a:t>（读写）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a:effectLst/>
                        </a:rPr>
                        <a:t>为了读和写，建立一个新的二进制文件</a:t>
                      </a:r>
                      <a:endParaRPr lang="zh-CN" altLang="en-US" sz="1600" b="0" i="0" u="none" strike="noStrike">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建立新文件</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4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defRPr/>
                      </a:pPr>
                      <a:r>
                        <a:rPr lang="zh-CN" altLang="en-US" sz="1600" b="0" i="0" u="none" strike="noStrike" dirty="0">
                          <a:solidFill>
                            <a:srgbClr val="000000"/>
                          </a:solidFill>
                          <a:effectLst/>
                          <a:latin typeface="等线" panose="02010600030101010101" charset="-122"/>
                          <a:ea typeface="等线" panose="02010600030101010101" charset="-122"/>
                        </a:rPr>
                        <a:t>删除并重新建立</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40000"/>
                      </a:srgbClr>
                    </a:solidFill>
                  </a:tcPr>
                </a:tc>
              </a:tr>
              <a:tr h="403111">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en-US" sz="1600" u="none" strike="noStrike" dirty="0">
                          <a:effectLst/>
                        </a:rPr>
                        <a:t>“ab+”（</a:t>
                      </a:r>
                      <a:r>
                        <a:rPr lang="zh-CN" altLang="en-US" sz="1600" u="none" strike="noStrike" dirty="0">
                          <a:effectLst/>
                        </a:rPr>
                        <a:t>读写）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为读写打开一个二进制文件</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r>
                        <a:rPr lang="zh-CN" altLang="en-US" sz="1600" u="none" strike="noStrike" dirty="0">
                          <a:effectLst/>
                        </a:rPr>
                        <a:t>出错</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marL="0" marR="0" indent="0" algn="l" defTabSz="685800" rtl="0" eaLnBrk="1" fontAlgn="ctr" latinLnBrk="0" hangingPunct="1">
                        <a:lnSpc>
                          <a:spcPct val="100000"/>
                        </a:lnSpc>
                        <a:spcBef>
                          <a:spcPts val="0"/>
                        </a:spcBef>
                        <a:spcAft>
                          <a:spcPts val="0"/>
                        </a:spcAft>
                        <a:buClrTx/>
                        <a:buSzTx/>
                        <a:buFontTx/>
                        <a:buNone/>
                        <a:defRPr/>
                      </a:pPr>
                      <a:r>
                        <a:rPr lang="zh-CN" altLang="en-US" sz="1600" dirty="0">
                          <a:solidFill>
                            <a:schemeClr val="tx1"/>
                          </a:solidFill>
                        </a:rPr>
                        <a:t>文件读写位置标记移到文件末尾</a:t>
                      </a:r>
                      <a:endParaRPr lang="zh-CN" altLang="en-US" sz="16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r>
            </a:tbl>
          </a:graphicData>
        </a:graphic>
      </p:graphicFrame>
      <p:sp>
        <p:nvSpPr>
          <p:cNvPr id="7" name="MH_Desc_1"/>
          <p:cNvSpPr/>
          <p:nvPr>
            <p:custDataLst>
              <p:tags r:id="rId1"/>
            </p:custDataLst>
          </p:nvPr>
        </p:nvSpPr>
        <p:spPr>
          <a:xfrm>
            <a:off x="286664" y="1327211"/>
            <a:ext cx="8577637" cy="539094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cmpd="sng" algn="ctr">
            <a:solidFill>
              <a:srgbClr val="E84C22"/>
            </a:solidFill>
            <a:prstDash val="solid"/>
            <a:bevel/>
          </a:ln>
          <a:effectLst/>
        </p:spPr>
        <p:txBody>
          <a:bodyPr lIns="72000" tIns="72000" rIns="72000" bIns="72000" anchor="t">
            <a:noAutofit/>
          </a:bodyPr>
          <a:lstStyle/>
          <a:p>
            <a:pPr marL="0" marR="0" lvl="0" indent="0" algn="just" defTabSz="914400" eaLnBrk="1" fontAlgn="auto" latinLnBrk="0" hangingPunct="1">
              <a:spcBef>
                <a:spcPts val="0"/>
              </a:spcBef>
              <a:spcAft>
                <a:spcPts val="0"/>
              </a:spcAft>
              <a:buClrTx/>
              <a:buSzTx/>
              <a:buFontTx/>
              <a:buNone/>
              <a:defRPr/>
            </a:pPr>
            <a:endPar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4" name="矩形: 圆角 3"/>
          <p:cNvSpPr/>
          <p:nvPr/>
        </p:nvSpPr>
        <p:spPr>
          <a:xfrm>
            <a:off x="7078531" y="2113878"/>
            <a:ext cx="1586753" cy="33348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4274" name="Rectangle 2"/>
          <p:cNvSpPr>
            <a:spLocks noGrp="1" noChangeArrowheads="1"/>
          </p:cNvSpPr>
          <p:nvPr>
            <p:ph type="title"/>
          </p:nvPr>
        </p:nvSpPr>
        <p:spPr/>
        <p:txBody>
          <a:bodyPr/>
          <a:lstStyle/>
          <a:p>
            <a:r>
              <a:rPr lang="zh-CN" altLang="en-US" dirty="0">
                <a:latin typeface="华文新魏" panose="02010800040101010101" pitchFamily="2" charset="-122"/>
              </a:rPr>
              <a:t>文件的分类</a:t>
            </a:r>
            <a:endParaRPr lang="zh-CN" altLang="en-US" dirty="0">
              <a:latin typeface="华文新魏" panose="02010800040101010101" pitchFamily="2" charset="-122"/>
            </a:endParaRPr>
          </a:p>
        </p:txBody>
      </p:sp>
      <p:sp>
        <p:nvSpPr>
          <p:cNvPr id="1334275" name="Rectangle 3"/>
          <p:cNvSpPr>
            <a:spLocks noGrp="1" noChangeArrowheads="1"/>
          </p:cNvSpPr>
          <p:nvPr>
            <p:ph idx="1"/>
          </p:nvPr>
        </p:nvSpPr>
        <p:spPr/>
        <p:txBody>
          <a:bodyPr/>
          <a:lstStyle/>
          <a:p>
            <a:r>
              <a:rPr lang="zh-CN" altLang="en-US" dirty="0"/>
              <a:t>文件的分类</a:t>
            </a:r>
            <a:r>
              <a:rPr lang="zh-CN" altLang="en-US" sz="2400" dirty="0">
                <a:solidFill>
                  <a:srgbClr val="33CC33"/>
                </a:solidFill>
              </a:rPr>
              <a:t>（按存储形式分）</a:t>
            </a:r>
            <a:endParaRPr lang="zh-CN" altLang="en-US" sz="2400" dirty="0">
              <a:solidFill>
                <a:srgbClr val="33CC33"/>
              </a:solidFill>
            </a:endParaRPr>
          </a:p>
          <a:p>
            <a:pPr lvl="1"/>
            <a:r>
              <a:rPr lang="zh-CN" altLang="en-US" dirty="0"/>
              <a:t>文本文件</a:t>
            </a:r>
            <a:endParaRPr lang="zh-CN" altLang="en-US" dirty="0"/>
          </a:p>
          <a:p>
            <a:pPr lvl="2"/>
            <a:r>
              <a:rPr lang="zh-CN" altLang="en-US" dirty="0"/>
              <a:t>数据被作为字符，并以字符的二进制编码形式保存。</a:t>
            </a:r>
            <a:endParaRPr lang="zh-CN" altLang="en-US" dirty="0"/>
          </a:p>
          <a:p>
            <a:pPr lvl="2"/>
            <a:r>
              <a:rPr lang="zh-CN" altLang="en-US" dirty="0"/>
              <a:t>举例</a:t>
            </a:r>
            <a:endParaRPr lang="zh-CN" altLang="en-US" dirty="0"/>
          </a:p>
        </p:txBody>
      </p:sp>
      <p:sp>
        <p:nvSpPr>
          <p:cNvPr id="1334277" name="Rectangle 5"/>
          <p:cNvSpPr>
            <a:spLocks noChangeArrowheads="1"/>
          </p:cNvSpPr>
          <p:nvPr/>
        </p:nvSpPr>
        <p:spPr bwMode="auto">
          <a:xfrm>
            <a:off x="5349875" y="3184525"/>
            <a:ext cx="869950" cy="342900"/>
          </a:xfrm>
          <a:prstGeom prst="rect">
            <a:avLst/>
          </a:prstGeom>
          <a:solidFill>
            <a:schemeClr val="bg1"/>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600" b="1">
                <a:solidFill>
                  <a:srgbClr val="3333FF"/>
                </a:solidFill>
                <a:latin typeface="Courier New" panose="02070309020205020404" pitchFamily="49" charset="0"/>
              </a:rPr>
              <a:t>1234</a:t>
            </a:r>
            <a:endParaRPr kumimoji="1" lang="en-US" altLang="zh-CN" sz="1600" b="1">
              <a:solidFill>
                <a:srgbClr val="3333FF"/>
              </a:solidFill>
              <a:latin typeface="Courier New" panose="02070309020205020404" pitchFamily="49" charset="0"/>
            </a:endParaRPr>
          </a:p>
        </p:txBody>
      </p:sp>
      <p:sp>
        <p:nvSpPr>
          <p:cNvPr id="1334278" name="Rectangle 6"/>
          <p:cNvSpPr>
            <a:spLocks noChangeArrowheads="1"/>
          </p:cNvSpPr>
          <p:nvPr/>
        </p:nvSpPr>
        <p:spPr bwMode="auto">
          <a:xfrm>
            <a:off x="5089525" y="3932238"/>
            <a:ext cx="323850" cy="342900"/>
          </a:xfrm>
          <a:prstGeom prst="rect">
            <a:avLst/>
          </a:prstGeom>
          <a:solidFill>
            <a:srgbClr val="66FFFF"/>
          </a:solidFill>
          <a:ln w="9525" algn="ctr">
            <a:solidFill>
              <a:srgbClr val="99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400" b="1">
                <a:solidFill>
                  <a:srgbClr val="9933FF"/>
                </a:solidFill>
                <a:latin typeface="Courier New" panose="02070309020205020404" pitchFamily="49" charset="0"/>
              </a:rPr>
              <a:t>‘1’</a:t>
            </a:r>
            <a:endParaRPr kumimoji="1" lang="en-US" altLang="zh-CN" sz="1400" b="1">
              <a:solidFill>
                <a:srgbClr val="9933FF"/>
              </a:solidFill>
              <a:latin typeface="Courier New" panose="02070309020205020404" pitchFamily="49" charset="0"/>
            </a:endParaRPr>
          </a:p>
        </p:txBody>
      </p:sp>
      <p:sp>
        <p:nvSpPr>
          <p:cNvPr id="1334279" name="Rectangle 7"/>
          <p:cNvSpPr>
            <a:spLocks noChangeArrowheads="1"/>
          </p:cNvSpPr>
          <p:nvPr/>
        </p:nvSpPr>
        <p:spPr bwMode="auto">
          <a:xfrm>
            <a:off x="5461000" y="3932238"/>
            <a:ext cx="323850" cy="342900"/>
          </a:xfrm>
          <a:prstGeom prst="rect">
            <a:avLst/>
          </a:prstGeom>
          <a:solidFill>
            <a:srgbClr val="66FFFF"/>
          </a:solidFill>
          <a:ln w="9525" algn="ctr">
            <a:solidFill>
              <a:srgbClr val="99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400" b="1">
                <a:solidFill>
                  <a:srgbClr val="9933FF"/>
                </a:solidFill>
                <a:latin typeface="Courier New" panose="02070309020205020404" pitchFamily="49" charset="0"/>
              </a:rPr>
              <a:t>‘2’</a:t>
            </a:r>
            <a:endParaRPr kumimoji="1" lang="en-US" altLang="zh-CN" sz="1400" b="1">
              <a:solidFill>
                <a:srgbClr val="9933FF"/>
              </a:solidFill>
              <a:latin typeface="Courier New" panose="02070309020205020404" pitchFamily="49" charset="0"/>
            </a:endParaRPr>
          </a:p>
        </p:txBody>
      </p:sp>
      <p:sp>
        <p:nvSpPr>
          <p:cNvPr id="1334280" name="Rectangle 8"/>
          <p:cNvSpPr>
            <a:spLocks noChangeArrowheads="1"/>
          </p:cNvSpPr>
          <p:nvPr/>
        </p:nvSpPr>
        <p:spPr bwMode="auto">
          <a:xfrm>
            <a:off x="5832475" y="3932238"/>
            <a:ext cx="323850" cy="342900"/>
          </a:xfrm>
          <a:prstGeom prst="rect">
            <a:avLst/>
          </a:prstGeom>
          <a:solidFill>
            <a:srgbClr val="66FFFF"/>
          </a:solidFill>
          <a:ln w="9525" algn="ctr">
            <a:solidFill>
              <a:srgbClr val="99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400" b="1">
                <a:solidFill>
                  <a:srgbClr val="9933FF"/>
                </a:solidFill>
                <a:latin typeface="Courier New" panose="02070309020205020404" pitchFamily="49" charset="0"/>
              </a:rPr>
              <a:t>‘3’</a:t>
            </a:r>
            <a:endParaRPr kumimoji="1" lang="en-US" altLang="zh-CN" sz="1400" b="1">
              <a:solidFill>
                <a:srgbClr val="9933FF"/>
              </a:solidFill>
              <a:latin typeface="Courier New" panose="02070309020205020404" pitchFamily="49" charset="0"/>
            </a:endParaRPr>
          </a:p>
        </p:txBody>
      </p:sp>
      <p:sp>
        <p:nvSpPr>
          <p:cNvPr id="1334281" name="Rectangle 9"/>
          <p:cNvSpPr>
            <a:spLocks noChangeArrowheads="1"/>
          </p:cNvSpPr>
          <p:nvPr/>
        </p:nvSpPr>
        <p:spPr bwMode="auto">
          <a:xfrm>
            <a:off x="6203950" y="3932238"/>
            <a:ext cx="323850" cy="342900"/>
          </a:xfrm>
          <a:prstGeom prst="rect">
            <a:avLst/>
          </a:prstGeom>
          <a:solidFill>
            <a:srgbClr val="66FFFF"/>
          </a:solidFill>
          <a:ln w="9525" algn="ctr">
            <a:solidFill>
              <a:srgbClr val="99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400" b="1">
                <a:solidFill>
                  <a:srgbClr val="9933FF"/>
                </a:solidFill>
                <a:latin typeface="Courier New" panose="02070309020205020404" pitchFamily="49" charset="0"/>
              </a:rPr>
              <a:t>‘4’</a:t>
            </a:r>
            <a:endParaRPr kumimoji="1" lang="en-US" altLang="zh-CN" sz="1400" b="1">
              <a:solidFill>
                <a:srgbClr val="9933FF"/>
              </a:solidFill>
              <a:latin typeface="Courier New" panose="02070309020205020404" pitchFamily="49" charset="0"/>
            </a:endParaRPr>
          </a:p>
        </p:txBody>
      </p:sp>
      <p:sp>
        <p:nvSpPr>
          <p:cNvPr id="1334282" name="AutoShape 10"/>
          <p:cNvSpPr>
            <a:spLocks noChangeArrowheads="1"/>
          </p:cNvSpPr>
          <p:nvPr/>
        </p:nvSpPr>
        <p:spPr bwMode="auto">
          <a:xfrm>
            <a:off x="5695950" y="3602038"/>
            <a:ext cx="225425" cy="215900"/>
          </a:xfrm>
          <a:prstGeom prst="downArrow">
            <a:avLst>
              <a:gd name="adj1" fmla="val 50000"/>
              <a:gd name="adj2" fmla="val 25000"/>
            </a:avLst>
          </a:prstGeom>
          <a:solidFill>
            <a:srgbClr val="D6ECEE"/>
          </a:solidFill>
          <a:ln w="9525" algn="ctr">
            <a:solidFill>
              <a:schemeClr val="hlink"/>
            </a:solidFill>
            <a:miter lim="800000"/>
          </a:ln>
          <a:effectLst>
            <a:prstShdw prst="shdw18" dist="17961" dir="13500000">
              <a:schemeClr val="hlink">
                <a:gamma/>
                <a:shade val="60000"/>
                <a:invGamma/>
              </a:schemeClr>
            </a:prstShdw>
          </a:effectLst>
        </p:spPr>
        <p:txBody>
          <a:bodyPr wrap="none" anchor="ctr"/>
          <a:lstStyle/>
          <a:p>
            <a:endParaRPr lang="zh-CN" altLang="en-US"/>
          </a:p>
        </p:txBody>
      </p:sp>
      <p:sp>
        <p:nvSpPr>
          <p:cNvPr id="1334283" name="Text Box 11"/>
          <p:cNvSpPr txBox="1">
            <a:spLocks noChangeArrowheads="1"/>
          </p:cNvSpPr>
          <p:nvPr/>
        </p:nvSpPr>
        <p:spPr bwMode="auto">
          <a:xfrm>
            <a:off x="4135438" y="3135313"/>
            <a:ext cx="1049337"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lnSpc>
                <a:spcPct val="120000"/>
              </a:lnSpc>
              <a:spcBef>
                <a:spcPct val="50000"/>
              </a:spcBef>
              <a:spcAft>
                <a:spcPts val="825"/>
              </a:spcAft>
            </a:pPr>
            <a:r>
              <a:rPr kumimoji="1" lang="zh-CN" altLang="en-US" sz="1600" b="1">
                <a:solidFill>
                  <a:srgbClr val="3333FF"/>
                </a:solidFill>
                <a:latin typeface="Times New Roman" panose="02020603050405020304" pitchFamily="18" charset="0"/>
              </a:rPr>
              <a:t>整数</a:t>
            </a:r>
            <a:endParaRPr kumimoji="1" lang="zh-CN" altLang="en-US" sz="1600" b="1">
              <a:solidFill>
                <a:srgbClr val="3333FF"/>
              </a:solidFill>
              <a:latin typeface="Times New Roman" panose="02020603050405020304" pitchFamily="18" charset="0"/>
            </a:endParaRPr>
          </a:p>
        </p:txBody>
      </p:sp>
      <p:sp>
        <p:nvSpPr>
          <p:cNvPr id="1334284" name="Text Box 12"/>
          <p:cNvSpPr txBox="1">
            <a:spLocks noChangeArrowheads="1"/>
          </p:cNvSpPr>
          <p:nvPr/>
        </p:nvSpPr>
        <p:spPr bwMode="auto">
          <a:xfrm>
            <a:off x="1460500" y="4232275"/>
            <a:ext cx="3471863"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lnSpc>
                <a:spcPct val="120000"/>
              </a:lnSpc>
              <a:spcBef>
                <a:spcPct val="50000"/>
              </a:spcBef>
              <a:spcAft>
                <a:spcPts val="825"/>
              </a:spcAft>
            </a:pPr>
            <a:r>
              <a:rPr kumimoji="1" lang="zh-CN" altLang="en-US" sz="1600" b="1">
                <a:solidFill>
                  <a:srgbClr val="9933FF"/>
                </a:solidFill>
                <a:latin typeface="Times New Roman" panose="02020603050405020304" pitchFamily="18" charset="0"/>
              </a:rPr>
              <a:t>把</a:t>
            </a:r>
            <a:r>
              <a:rPr kumimoji="1" lang="en-US" altLang="zh-CN" sz="1600" b="1">
                <a:solidFill>
                  <a:srgbClr val="9933FF"/>
                </a:solidFill>
                <a:latin typeface="Times New Roman" panose="02020603050405020304" pitchFamily="18" charset="0"/>
              </a:rPr>
              <a:t>4</a:t>
            </a:r>
            <a:r>
              <a:rPr kumimoji="1" lang="zh-CN" altLang="en-US" sz="1600" b="1">
                <a:solidFill>
                  <a:srgbClr val="9933FF"/>
                </a:solidFill>
                <a:latin typeface="Times New Roman" panose="02020603050405020304" pitchFamily="18" charset="0"/>
              </a:rPr>
              <a:t>个字符的二进制编码写入文件中</a:t>
            </a:r>
            <a:endParaRPr kumimoji="1" lang="zh-CN" altLang="en-US" sz="1600" b="1">
              <a:solidFill>
                <a:srgbClr val="9933FF"/>
              </a:solidFill>
              <a:latin typeface="Times New Roman" panose="02020603050405020304" pitchFamily="18" charset="0"/>
            </a:endParaRPr>
          </a:p>
        </p:txBody>
      </p:sp>
      <p:sp>
        <p:nvSpPr>
          <p:cNvPr id="1334285" name="Rectangle 13"/>
          <p:cNvSpPr>
            <a:spLocks noChangeArrowheads="1"/>
          </p:cNvSpPr>
          <p:nvPr/>
        </p:nvSpPr>
        <p:spPr bwMode="auto">
          <a:xfrm>
            <a:off x="3536352" y="4693379"/>
            <a:ext cx="4557320" cy="342900"/>
          </a:xfrm>
          <a:prstGeom prst="rect">
            <a:avLst/>
          </a:prstGeom>
          <a:solidFill>
            <a:srgbClr val="66FFFF"/>
          </a:solidFill>
          <a:ln w="9525" algn="ctr">
            <a:solidFill>
              <a:srgbClr val="99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600" b="1" dirty="0">
                <a:solidFill>
                  <a:srgbClr val="9933FF"/>
                </a:solidFill>
                <a:latin typeface="Courier New" panose="02070309020205020404" pitchFamily="49" charset="0"/>
              </a:rPr>
              <a:t>00110001 00110010 00110011 00110100</a:t>
            </a:r>
            <a:endParaRPr kumimoji="1" lang="en-US" altLang="zh-CN" sz="1600" b="1" dirty="0">
              <a:solidFill>
                <a:srgbClr val="9933FF"/>
              </a:solidFill>
              <a:latin typeface="Courier New" panose="02070309020205020404" pitchFamily="49" charset="0"/>
            </a:endParaRPr>
          </a:p>
        </p:txBody>
      </p:sp>
      <p:sp>
        <p:nvSpPr>
          <p:cNvPr id="1334286" name="AutoShape 14"/>
          <p:cNvSpPr>
            <a:spLocks noChangeArrowheads="1"/>
          </p:cNvSpPr>
          <p:nvPr/>
        </p:nvSpPr>
        <p:spPr bwMode="auto">
          <a:xfrm>
            <a:off x="5702300" y="4370388"/>
            <a:ext cx="225425" cy="215900"/>
          </a:xfrm>
          <a:prstGeom prst="downArrow">
            <a:avLst>
              <a:gd name="adj1" fmla="val 50000"/>
              <a:gd name="adj2" fmla="val 25000"/>
            </a:avLst>
          </a:prstGeom>
          <a:solidFill>
            <a:srgbClr val="D6ECEE"/>
          </a:solidFill>
          <a:ln w="9525" algn="ctr">
            <a:solidFill>
              <a:schemeClr val="hlink"/>
            </a:solidFill>
            <a:miter lim="800000"/>
          </a:ln>
          <a:effectLst>
            <a:prstShdw prst="shdw18" dist="17961" dir="13500000">
              <a:schemeClr val="hlink">
                <a:gamma/>
                <a:shade val="60000"/>
                <a:invGamma/>
              </a:schemeClr>
            </a:prstShdw>
          </a:effectLst>
        </p:spPr>
        <p:txBody>
          <a:bodyPr wrap="none" anchor="ctr"/>
          <a:lstStyle/>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6322" name="Rectangle 2"/>
          <p:cNvSpPr>
            <a:spLocks noGrp="1" noChangeArrowheads="1"/>
          </p:cNvSpPr>
          <p:nvPr>
            <p:ph type="title"/>
          </p:nvPr>
        </p:nvSpPr>
        <p:spPr/>
        <p:txBody>
          <a:bodyPr/>
          <a:lstStyle/>
          <a:p>
            <a:r>
              <a:rPr lang="zh-CN" altLang="en-US" dirty="0">
                <a:latin typeface="华文新魏" panose="02010800040101010101" pitchFamily="2" charset="-122"/>
              </a:rPr>
              <a:t>文件的分类</a:t>
            </a:r>
            <a:endParaRPr lang="zh-CN" altLang="en-US" dirty="0">
              <a:latin typeface="华文新魏" panose="02010800040101010101" pitchFamily="2" charset="-122"/>
            </a:endParaRPr>
          </a:p>
        </p:txBody>
      </p:sp>
      <p:sp>
        <p:nvSpPr>
          <p:cNvPr id="1336323" name="Rectangle 3"/>
          <p:cNvSpPr>
            <a:spLocks noGrp="1" noChangeArrowheads="1"/>
          </p:cNvSpPr>
          <p:nvPr>
            <p:ph idx="1"/>
          </p:nvPr>
        </p:nvSpPr>
        <p:spPr/>
        <p:txBody>
          <a:bodyPr/>
          <a:lstStyle/>
          <a:p>
            <a:r>
              <a:rPr lang="zh-CN" altLang="en-US" dirty="0"/>
              <a:t>文件的分类</a:t>
            </a:r>
            <a:r>
              <a:rPr lang="zh-CN" altLang="en-US" sz="2400" dirty="0">
                <a:solidFill>
                  <a:srgbClr val="33CC33"/>
                </a:solidFill>
              </a:rPr>
              <a:t>（按存储形式分）</a:t>
            </a:r>
            <a:endParaRPr lang="zh-CN" altLang="en-US" sz="2400" dirty="0">
              <a:solidFill>
                <a:srgbClr val="33CC33"/>
              </a:solidFill>
            </a:endParaRPr>
          </a:p>
          <a:p>
            <a:pPr lvl="1"/>
            <a:r>
              <a:rPr lang="zh-CN" altLang="en-US" dirty="0"/>
              <a:t>二进制文件</a:t>
            </a:r>
            <a:endParaRPr lang="zh-CN" altLang="en-US" dirty="0"/>
          </a:p>
          <a:p>
            <a:pPr lvl="2"/>
            <a:r>
              <a:rPr lang="zh-CN" altLang="en-US" dirty="0"/>
              <a:t>以数据在内存中的二进制形式保存。</a:t>
            </a:r>
            <a:endParaRPr lang="zh-CN" altLang="en-US" dirty="0"/>
          </a:p>
          <a:p>
            <a:pPr lvl="2"/>
            <a:r>
              <a:rPr lang="zh-CN" altLang="en-US" dirty="0"/>
              <a:t>举例</a:t>
            </a:r>
            <a:endParaRPr lang="zh-CN" altLang="en-US" dirty="0"/>
          </a:p>
        </p:txBody>
      </p:sp>
      <p:grpSp>
        <p:nvGrpSpPr>
          <p:cNvPr id="2" name="组合 1"/>
          <p:cNvGrpSpPr/>
          <p:nvPr/>
        </p:nvGrpSpPr>
        <p:grpSpPr>
          <a:xfrm>
            <a:off x="1379538" y="3230563"/>
            <a:ext cx="5591997" cy="1248486"/>
            <a:chOff x="1379538" y="3230563"/>
            <a:chExt cx="5591997" cy="1248486"/>
          </a:xfrm>
        </p:grpSpPr>
        <p:sp>
          <p:nvSpPr>
            <p:cNvPr id="1336325" name="Rectangle 5"/>
            <p:cNvSpPr>
              <a:spLocks noChangeArrowheads="1"/>
            </p:cNvSpPr>
            <p:nvPr/>
          </p:nvSpPr>
          <p:spPr bwMode="auto">
            <a:xfrm>
              <a:off x="5281613" y="3279775"/>
              <a:ext cx="869950" cy="342900"/>
            </a:xfrm>
            <a:prstGeom prst="rect">
              <a:avLst/>
            </a:prstGeom>
            <a:solidFill>
              <a:schemeClr val="bg1"/>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600" b="1">
                  <a:solidFill>
                    <a:srgbClr val="3333FF"/>
                  </a:solidFill>
                  <a:latin typeface="Courier New" panose="02070309020205020404" pitchFamily="49" charset="0"/>
                </a:rPr>
                <a:t>1234</a:t>
              </a:r>
              <a:endParaRPr kumimoji="1" lang="en-US" altLang="zh-CN" sz="1600" b="1">
                <a:solidFill>
                  <a:srgbClr val="3333FF"/>
                </a:solidFill>
                <a:latin typeface="Courier New" panose="02070309020205020404" pitchFamily="49" charset="0"/>
              </a:endParaRPr>
            </a:p>
          </p:txBody>
        </p:sp>
        <p:sp>
          <p:nvSpPr>
            <p:cNvPr id="1336326" name="AutoShape 6"/>
            <p:cNvSpPr>
              <a:spLocks noChangeArrowheads="1"/>
            </p:cNvSpPr>
            <p:nvPr/>
          </p:nvSpPr>
          <p:spPr bwMode="auto">
            <a:xfrm>
              <a:off x="5627688" y="3763963"/>
              <a:ext cx="225425" cy="215900"/>
            </a:xfrm>
            <a:prstGeom prst="downArrow">
              <a:avLst>
                <a:gd name="adj1" fmla="val 50000"/>
                <a:gd name="adj2" fmla="val 25000"/>
              </a:avLst>
            </a:prstGeom>
            <a:solidFill>
              <a:srgbClr val="D6ECEE"/>
            </a:solidFill>
            <a:ln w="9525" algn="ctr">
              <a:solidFill>
                <a:schemeClr val="hlink"/>
              </a:solidFill>
              <a:miter lim="800000"/>
            </a:ln>
            <a:effectLst>
              <a:prstShdw prst="shdw18" dist="17961" dir="13500000">
                <a:schemeClr val="hlink">
                  <a:gamma/>
                  <a:shade val="60000"/>
                  <a:invGamma/>
                </a:schemeClr>
              </a:prstShdw>
            </a:effectLst>
          </p:spPr>
          <p:txBody>
            <a:bodyPr wrap="none" anchor="ctr"/>
            <a:lstStyle/>
            <a:p>
              <a:endParaRPr lang="zh-CN" altLang="en-US"/>
            </a:p>
          </p:txBody>
        </p:sp>
        <p:sp>
          <p:nvSpPr>
            <p:cNvPr id="1336327" name="Text Box 7"/>
            <p:cNvSpPr txBox="1">
              <a:spLocks noChangeArrowheads="1"/>
            </p:cNvSpPr>
            <p:nvPr/>
          </p:nvSpPr>
          <p:spPr bwMode="auto">
            <a:xfrm>
              <a:off x="4067175" y="3230563"/>
              <a:ext cx="1049338"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lnSpc>
                  <a:spcPct val="120000"/>
                </a:lnSpc>
                <a:spcBef>
                  <a:spcPct val="50000"/>
                </a:spcBef>
                <a:spcAft>
                  <a:spcPts val="825"/>
                </a:spcAft>
              </a:pPr>
              <a:r>
                <a:rPr kumimoji="1" lang="zh-CN" altLang="en-US" sz="1600" b="1">
                  <a:solidFill>
                    <a:srgbClr val="3333FF"/>
                  </a:solidFill>
                  <a:latin typeface="Times New Roman" panose="02020603050405020304" pitchFamily="18" charset="0"/>
                </a:rPr>
                <a:t>整数</a:t>
              </a:r>
              <a:endParaRPr kumimoji="1" lang="zh-CN" altLang="en-US" sz="1600" b="1">
                <a:solidFill>
                  <a:srgbClr val="3333FF"/>
                </a:solidFill>
                <a:latin typeface="Times New Roman" panose="02020603050405020304" pitchFamily="18" charset="0"/>
              </a:endParaRPr>
            </a:p>
          </p:txBody>
        </p:sp>
        <p:sp>
          <p:nvSpPr>
            <p:cNvPr id="1336328" name="Rectangle 8"/>
            <p:cNvSpPr>
              <a:spLocks noChangeArrowheads="1"/>
            </p:cNvSpPr>
            <p:nvPr/>
          </p:nvSpPr>
          <p:spPr bwMode="auto">
            <a:xfrm>
              <a:off x="4647304" y="4136149"/>
              <a:ext cx="2324231" cy="342900"/>
            </a:xfrm>
            <a:prstGeom prst="rect">
              <a:avLst/>
            </a:prstGeom>
            <a:solidFill>
              <a:srgbClr val="66FFFF"/>
            </a:solidFill>
            <a:ln w="9525" algn="ctr">
              <a:solidFill>
                <a:srgbClr val="99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20000"/>
                </a:lnSpc>
                <a:spcBef>
                  <a:spcPts val="825"/>
                </a:spcBef>
                <a:spcAft>
                  <a:spcPts val="825"/>
                </a:spcAft>
              </a:pPr>
              <a:r>
                <a:rPr kumimoji="1" lang="en-US" altLang="zh-CN" sz="1600" b="1" dirty="0">
                  <a:solidFill>
                    <a:srgbClr val="9933FF"/>
                  </a:solidFill>
                  <a:latin typeface="Courier New" panose="02070309020205020404" pitchFamily="49" charset="0"/>
                </a:rPr>
                <a:t>00000100 11010010</a:t>
              </a:r>
              <a:endParaRPr kumimoji="1" lang="en-US" altLang="zh-CN" sz="1600" b="1" dirty="0">
                <a:solidFill>
                  <a:srgbClr val="9933FF"/>
                </a:solidFill>
                <a:latin typeface="Courier New" panose="02070309020205020404" pitchFamily="49" charset="0"/>
              </a:endParaRPr>
            </a:p>
          </p:txBody>
        </p:sp>
        <p:sp>
          <p:nvSpPr>
            <p:cNvPr id="1336329" name="Text Box 9"/>
            <p:cNvSpPr txBox="1">
              <a:spLocks noChangeArrowheads="1"/>
            </p:cNvSpPr>
            <p:nvPr/>
          </p:nvSpPr>
          <p:spPr bwMode="auto">
            <a:xfrm>
              <a:off x="1379538" y="3632200"/>
              <a:ext cx="3471862"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lnSpc>
                  <a:spcPct val="120000"/>
                </a:lnSpc>
                <a:spcBef>
                  <a:spcPct val="50000"/>
                </a:spcBef>
                <a:spcAft>
                  <a:spcPts val="825"/>
                </a:spcAft>
              </a:pPr>
              <a:r>
                <a:rPr kumimoji="1" lang="zh-CN" altLang="en-US" sz="1600" b="1">
                  <a:solidFill>
                    <a:srgbClr val="9933FF"/>
                  </a:solidFill>
                  <a:latin typeface="Times New Roman" panose="02020603050405020304" pitchFamily="18" charset="0"/>
                </a:rPr>
                <a:t>把值</a:t>
              </a:r>
              <a:r>
                <a:rPr kumimoji="1" lang="en-US" altLang="zh-CN" sz="1600" b="1">
                  <a:solidFill>
                    <a:srgbClr val="9933FF"/>
                  </a:solidFill>
                  <a:latin typeface="Times New Roman" panose="02020603050405020304" pitchFamily="18" charset="0"/>
                </a:rPr>
                <a:t>1234</a:t>
              </a:r>
              <a:r>
                <a:rPr kumimoji="1" lang="zh-CN" altLang="en-US" sz="1600" b="1">
                  <a:solidFill>
                    <a:srgbClr val="9933FF"/>
                  </a:solidFill>
                  <a:latin typeface="Times New Roman" panose="02020603050405020304" pitchFamily="18" charset="0"/>
                </a:rPr>
                <a:t>的二进制编码写入文件中</a:t>
              </a:r>
              <a:endParaRPr kumimoji="1" lang="zh-CN" altLang="en-US" sz="1600" b="1">
                <a:solidFill>
                  <a:srgbClr val="9933FF"/>
                </a:solidFill>
                <a:latin typeface="Times New Roman" panose="02020603050405020304" pitchFamily="18" charset="0"/>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6562" name="Rectangle 2"/>
          <p:cNvSpPr>
            <a:spLocks noGrp="1" noChangeArrowheads="1"/>
          </p:cNvSpPr>
          <p:nvPr>
            <p:ph type="title"/>
          </p:nvPr>
        </p:nvSpPr>
        <p:spPr/>
        <p:txBody>
          <a:bodyPr/>
          <a:lstStyle/>
          <a:p>
            <a:r>
              <a:rPr lang="en-US" altLang="zh-CN" dirty="0" err="1">
                <a:latin typeface="华文新魏" panose="02010800040101010101" pitchFamily="2" charset="-122"/>
              </a:rPr>
              <a:t>fopen</a:t>
            </a:r>
            <a:r>
              <a:rPr lang="en-US" altLang="zh-CN" dirty="0">
                <a:latin typeface="华文新魏" panose="02010800040101010101" pitchFamily="2" charset="-122"/>
              </a:rPr>
              <a:t>( )</a:t>
            </a:r>
            <a:r>
              <a:rPr lang="zh-CN" altLang="en-US" dirty="0">
                <a:latin typeface="华文新魏" panose="02010800040101010101" pitchFamily="2" charset="-122"/>
              </a:rPr>
              <a:t>举例</a:t>
            </a:r>
            <a:endParaRPr lang="zh-CN" altLang="en-US" dirty="0">
              <a:latin typeface="华文新魏" panose="02010800040101010101" pitchFamily="2" charset="-122"/>
            </a:endParaRPr>
          </a:p>
        </p:txBody>
      </p:sp>
      <p:sp>
        <p:nvSpPr>
          <p:cNvPr id="1346563" name="Rectangle 3"/>
          <p:cNvSpPr>
            <a:spLocks noGrp="1" noChangeArrowheads="1"/>
          </p:cNvSpPr>
          <p:nvPr>
            <p:ph idx="1"/>
          </p:nvPr>
        </p:nvSpPr>
        <p:spPr/>
        <p:txBody>
          <a:bodyPr/>
          <a:lstStyle/>
          <a:p>
            <a:r>
              <a:rPr lang="zh-CN" altLang="en-US" dirty="0"/>
              <a:t>打开文件</a:t>
            </a:r>
            <a:endParaRPr lang="zh-CN" altLang="en-US" sz="2400" dirty="0">
              <a:solidFill>
                <a:srgbClr val="33CC33"/>
              </a:solidFill>
            </a:endParaRPr>
          </a:p>
          <a:p>
            <a:pPr lvl="1"/>
            <a:r>
              <a:rPr lang="zh-CN" altLang="en-US" dirty="0"/>
              <a:t>举例</a:t>
            </a:r>
            <a:endParaRPr lang="zh-CN" altLang="en-US" dirty="0"/>
          </a:p>
          <a:p>
            <a:pPr lvl="2"/>
            <a:endParaRPr lang="zh-CN" altLang="en-US" dirty="0"/>
          </a:p>
          <a:p>
            <a:pPr lvl="2"/>
            <a:endParaRPr lang="zh-CN" altLang="en-US" dirty="0"/>
          </a:p>
          <a:p>
            <a:pPr lvl="2"/>
            <a:r>
              <a:rPr lang="zh-CN" altLang="en-US" dirty="0"/>
              <a:t>其意义是在当前目录下打开文件</a:t>
            </a:r>
            <a:r>
              <a:rPr lang="en-US" altLang="zh-CN" dirty="0"/>
              <a:t>filea.dat</a:t>
            </a:r>
            <a:r>
              <a:rPr lang="zh-CN" altLang="en-US" dirty="0"/>
              <a:t>，文件的使用方式为“只读”，并使</a:t>
            </a:r>
            <a:r>
              <a:rPr lang="en-US" altLang="zh-CN" dirty="0" err="1"/>
              <a:t>fp</a:t>
            </a:r>
            <a:r>
              <a:rPr lang="zh-CN" altLang="en-US" dirty="0"/>
              <a:t>指向该文件。 </a:t>
            </a:r>
            <a:endParaRPr lang="zh-CN" altLang="en-US" dirty="0"/>
          </a:p>
          <a:p>
            <a:pPr lvl="1"/>
            <a:r>
              <a:rPr lang="zh-CN" altLang="en-US" dirty="0"/>
              <a:t>举例</a:t>
            </a:r>
            <a:endParaRPr lang="zh-CN" altLang="en-US" dirty="0"/>
          </a:p>
          <a:p>
            <a:pPr lvl="2"/>
            <a:endParaRPr lang="zh-CN" altLang="en-US" dirty="0"/>
          </a:p>
          <a:p>
            <a:pPr lvl="2"/>
            <a:endParaRPr lang="zh-CN" altLang="en-US" dirty="0"/>
          </a:p>
          <a:p>
            <a:pPr lvl="2"/>
            <a:r>
              <a:rPr lang="zh-CN" altLang="en-US" dirty="0"/>
              <a:t>其意义是打开</a:t>
            </a:r>
            <a:r>
              <a:rPr lang="en-US" altLang="zh-CN" dirty="0"/>
              <a:t>c</a:t>
            </a:r>
            <a:r>
              <a:rPr lang="zh-CN" altLang="en-US" dirty="0"/>
              <a:t>盘根目录下的文件</a:t>
            </a:r>
            <a:r>
              <a:rPr lang="en-US" altLang="zh-CN" dirty="0"/>
              <a:t>fileabc.dat</a:t>
            </a:r>
            <a:r>
              <a:rPr lang="zh-CN" altLang="en-US" dirty="0"/>
              <a:t>，这是一个二进制文件，只允许按二进制方式进行读操作。</a:t>
            </a:r>
            <a:endParaRPr lang="zh-CN" altLang="en-US" dirty="0"/>
          </a:p>
          <a:p>
            <a:pPr lvl="2"/>
            <a:r>
              <a:rPr lang="zh-CN" altLang="en-US" dirty="0"/>
              <a:t>两个反斜线“</a:t>
            </a:r>
            <a:r>
              <a:rPr lang="en-US" altLang="zh-CN" dirty="0"/>
              <a:t>\\”</a:t>
            </a:r>
            <a:r>
              <a:rPr lang="zh-CN" altLang="en-US" dirty="0"/>
              <a:t>中的第一个表示转义字符，第二个表示根目录。</a:t>
            </a:r>
            <a:endParaRPr lang="zh-CN" altLang="en-US" dirty="0"/>
          </a:p>
          <a:p>
            <a:pPr lvl="2"/>
            <a:endParaRPr lang="en-US" altLang="zh-CN" dirty="0"/>
          </a:p>
        </p:txBody>
      </p:sp>
      <p:sp>
        <p:nvSpPr>
          <p:cNvPr id="1346565" name="Text Box 5"/>
          <p:cNvSpPr txBox="1">
            <a:spLocks noChangeArrowheads="1"/>
          </p:cNvSpPr>
          <p:nvPr/>
        </p:nvSpPr>
        <p:spPr bwMode="auto">
          <a:xfrm>
            <a:off x="2099492" y="2214978"/>
            <a:ext cx="5237162" cy="590550"/>
          </a:xfrm>
          <a:prstGeom prst="rect">
            <a:avLst/>
          </a:prstGeom>
          <a:solidFill>
            <a:schemeClr val="bg1"/>
          </a:solidFill>
          <a:ln w="9525" algn="ctr">
            <a:solidFill>
              <a:schemeClr val="hlink"/>
            </a:solidFill>
            <a:miter lim="800000"/>
          </a:ln>
          <a:effectLst>
            <a:outerShdw dist="107763" dir="2700000" algn="ctr" rotWithShape="0">
              <a:schemeClr val="bg2">
                <a:alpha val="50000"/>
              </a:schemeClr>
            </a:outerShdw>
          </a:effectLst>
        </p:spPr>
        <p:txBody>
          <a:bodyPr>
            <a:spAutoFit/>
          </a:bodyPr>
          <a:lstStyle/>
          <a:p>
            <a:r>
              <a:rPr kumimoji="1" lang="en-US" altLang="zh-CN" sz="1600" b="1" dirty="0">
                <a:latin typeface="Courier New" panose="02070309020205020404" pitchFamily="49" charset="0"/>
              </a:rPr>
              <a:t>FILE *</a:t>
            </a:r>
            <a:r>
              <a:rPr kumimoji="1" lang="en-US" altLang="zh-CN" sz="1600" b="1" dirty="0" err="1">
                <a:latin typeface="Courier New" panose="02070309020205020404" pitchFamily="49" charset="0"/>
              </a:rPr>
              <a:t>fp</a:t>
            </a:r>
            <a:r>
              <a:rPr kumimoji="1" lang="en-US" altLang="zh-CN" sz="1600" b="1" dirty="0">
                <a:latin typeface="Courier New" panose="02070309020205020404" pitchFamily="49" charset="0"/>
              </a:rPr>
              <a:t>;</a:t>
            </a:r>
            <a:endParaRPr kumimoji="1" lang="en-US" altLang="zh-CN" sz="1600" b="1" dirty="0">
              <a:latin typeface="Courier New" panose="02070309020205020404" pitchFamily="49" charset="0"/>
            </a:endParaRPr>
          </a:p>
          <a:p>
            <a:r>
              <a:rPr kumimoji="1" lang="en-US" altLang="zh-CN" sz="1600" b="1" dirty="0" err="1">
                <a:latin typeface="Courier New" panose="02070309020205020404" pitchFamily="49" charset="0"/>
              </a:rPr>
              <a:t>fp</a:t>
            </a:r>
            <a:r>
              <a:rPr kumimoji="1" lang="en-US" altLang="zh-CN" sz="1600" b="1" dirty="0">
                <a:latin typeface="Courier New" panose="02070309020205020404" pitchFamily="49" charset="0"/>
              </a:rPr>
              <a:t> = </a:t>
            </a:r>
            <a:r>
              <a:rPr kumimoji="1" lang="en-US" altLang="zh-CN" sz="1600" b="1" dirty="0" err="1">
                <a:latin typeface="Courier New" panose="02070309020205020404" pitchFamily="49" charset="0"/>
              </a:rPr>
              <a:t>fopen</a:t>
            </a:r>
            <a:r>
              <a:rPr kumimoji="1" lang="en-US" altLang="zh-CN" sz="1600" b="1" dirty="0">
                <a:latin typeface="Courier New" panose="02070309020205020404" pitchFamily="49" charset="0"/>
              </a:rPr>
              <a:t>("filea.dat", "r"); </a:t>
            </a:r>
            <a:endParaRPr kumimoji="1" lang="en-US" altLang="zh-CN" sz="1600" b="1" dirty="0">
              <a:latin typeface="Courier New" panose="02070309020205020404" pitchFamily="49" charset="0"/>
            </a:endParaRPr>
          </a:p>
        </p:txBody>
      </p:sp>
      <p:sp>
        <p:nvSpPr>
          <p:cNvPr id="1346566" name="Text Box 6"/>
          <p:cNvSpPr txBox="1">
            <a:spLocks noChangeArrowheads="1"/>
          </p:cNvSpPr>
          <p:nvPr/>
        </p:nvSpPr>
        <p:spPr bwMode="auto">
          <a:xfrm>
            <a:off x="2099492" y="3902550"/>
            <a:ext cx="5237162" cy="590550"/>
          </a:xfrm>
          <a:prstGeom prst="rect">
            <a:avLst/>
          </a:prstGeom>
          <a:solidFill>
            <a:schemeClr val="bg1"/>
          </a:solidFill>
          <a:ln w="9525" algn="ctr">
            <a:solidFill>
              <a:schemeClr val="hlink"/>
            </a:solidFill>
            <a:miter lim="800000"/>
          </a:ln>
          <a:effectLst>
            <a:outerShdw dist="107763" dir="2700000" algn="ctr" rotWithShape="0">
              <a:schemeClr val="bg2">
                <a:alpha val="50000"/>
              </a:schemeClr>
            </a:outerShdw>
          </a:effectLst>
        </p:spPr>
        <p:txBody>
          <a:bodyPr>
            <a:spAutoFit/>
          </a:bodyPr>
          <a:lstStyle/>
          <a:p>
            <a:r>
              <a:rPr kumimoji="1" lang="en-US" altLang="zh-CN" sz="1600" b="1" dirty="0">
                <a:latin typeface="Courier New" panose="02070309020205020404" pitchFamily="49" charset="0"/>
              </a:rPr>
              <a:t>FILE *</a:t>
            </a:r>
            <a:r>
              <a:rPr kumimoji="1" lang="en-US" altLang="zh-CN" sz="1600" b="1" dirty="0" err="1">
                <a:latin typeface="Courier New" panose="02070309020205020404" pitchFamily="49" charset="0"/>
              </a:rPr>
              <a:t>fpabc</a:t>
            </a:r>
            <a:r>
              <a:rPr kumimoji="1" lang="en-US" altLang="zh-CN" sz="1600" b="1" dirty="0">
                <a:latin typeface="Courier New" panose="02070309020205020404" pitchFamily="49" charset="0"/>
              </a:rPr>
              <a:t>;</a:t>
            </a:r>
            <a:endParaRPr kumimoji="1" lang="en-US" altLang="zh-CN" sz="1600" b="1" dirty="0">
              <a:latin typeface="Courier New" panose="02070309020205020404" pitchFamily="49" charset="0"/>
            </a:endParaRPr>
          </a:p>
          <a:p>
            <a:r>
              <a:rPr kumimoji="1" lang="en-US" altLang="zh-CN" sz="1600" b="1" dirty="0" err="1">
                <a:latin typeface="Courier New" panose="02070309020205020404" pitchFamily="49" charset="0"/>
              </a:rPr>
              <a:t>fpabc</a:t>
            </a:r>
            <a:r>
              <a:rPr kumimoji="1" lang="en-US" altLang="zh-CN" sz="1600" b="1" dirty="0">
                <a:latin typeface="Courier New" panose="02070309020205020404" pitchFamily="49" charset="0"/>
              </a:rPr>
              <a:t> = </a:t>
            </a:r>
            <a:r>
              <a:rPr kumimoji="1" lang="en-US" altLang="zh-CN" sz="1600" b="1" dirty="0" err="1">
                <a:latin typeface="Courier New" panose="02070309020205020404" pitchFamily="49" charset="0"/>
              </a:rPr>
              <a:t>fopen</a:t>
            </a:r>
            <a:r>
              <a:rPr kumimoji="1" lang="en-US" altLang="zh-CN" sz="1600" b="1" dirty="0">
                <a:latin typeface="Courier New" panose="02070309020205020404" pitchFamily="49" charset="0"/>
              </a:rPr>
              <a:t>(“c:\\fileabc.dat", "</a:t>
            </a:r>
            <a:r>
              <a:rPr kumimoji="1" lang="en-US" altLang="zh-CN" sz="1600" b="1" dirty="0" err="1">
                <a:latin typeface="Courier New" panose="02070309020205020404" pitchFamily="49" charset="0"/>
              </a:rPr>
              <a:t>rb</a:t>
            </a:r>
            <a:r>
              <a:rPr kumimoji="1" lang="en-US" altLang="zh-CN" sz="1600" b="1" dirty="0">
                <a:latin typeface="Courier New" panose="02070309020205020404" pitchFamily="49" charset="0"/>
              </a:rPr>
              <a:t>"); </a:t>
            </a:r>
            <a:endParaRPr kumimoji="1" lang="en-US" altLang="zh-CN" sz="1600" b="1" dirty="0">
              <a:latin typeface="Courier New" panose="02070309020205020404"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fopen</a:t>
            </a:r>
            <a:r>
              <a:rPr lang="zh-CN" altLang="en-US" dirty="0"/>
              <a:t>与</a:t>
            </a:r>
            <a:r>
              <a:rPr lang="en-US" altLang="zh-CN" dirty="0" err="1"/>
              <a:t>fclose</a:t>
            </a:r>
            <a:r>
              <a:rPr lang="zh-CN" altLang="en-US" dirty="0"/>
              <a:t>的返回值</a:t>
            </a:r>
            <a:endParaRPr lang="en-US" dirty="0"/>
          </a:p>
        </p:txBody>
      </p:sp>
      <p:sp>
        <p:nvSpPr>
          <p:cNvPr id="6" name="矩形 5"/>
          <p:cNvSpPr/>
          <p:nvPr/>
        </p:nvSpPr>
        <p:spPr>
          <a:xfrm>
            <a:off x="470766" y="1540004"/>
            <a:ext cx="8809260" cy="523220"/>
          </a:xfrm>
          <a:prstGeom prst="rect">
            <a:avLst/>
          </a:prstGeom>
        </p:spPr>
        <p:txBody>
          <a:bodyPr wrap="square">
            <a:spAutoFit/>
          </a:bodyPr>
          <a:lstStyle/>
          <a:p>
            <a:r>
              <a:rPr lang="fr-FR" sz="2800">
                <a:solidFill>
                  <a:srgbClr val="00B050"/>
                </a:solidFill>
              </a:rPr>
              <a:t>FILE * </a:t>
            </a:r>
            <a:r>
              <a:rPr lang="fr-FR" sz="2800">
                <a:solidFill>
                  <a:srgbClr val="FF0000"/>
                </a:solidFill>
              </a:rPr>
              <a:t>fopen</a:t>
            </a:r>
            <a:r>
              <a:rPr lang="fr-FR" sz="2800"/>
              <a:t> ( const char * filename, const char * mode);</a:t>
            </a:r>
            <a:endParaRPr lang="en-US" sz="2800" dirty="0"/>
          </a:p>
        </p:txBody>
      </p:sp>
      <p:sp>
        <p:nvSpPr>
          <p:cNvPr id="8" name="矩形 7"/>
          <p:cNvSpPr/>
          <p:nvPr/>
        </p:nvSpPr>
        <p:spPr>
          <a:xfrm>
            <a:off x="2555024" y="3871593"/>
            <a:ext cx="3958648" cy="523220"/>
          </a:xfrm>
          <a:prstGeom prst="rect">
            <a:avLst/>
          </a:prstGeom>
        </p:spPr>
        <p:txBody>
          <a:bodyPr wrap="none">
            <a:spAutoFit/>
          </a:bodyPr>
          <a:lstStyle/>
          <a:p>
            <a:r>
              <a:rPr lang="en-US" sz="2800" dirty="0"/>
              <a:t>int </a:t>
            </a:r>
            <a:r>
              <a:rPr lang="en-US" sz="2800" dirty="0" err="1">
                <a:solidFill>
                  <a:srgbClr val="FF0000"/>
                </a:solidFill>
              </a:rPr>
              <a:t>fclose</a:t>
            </a:r>
            <a:r>
              <a:rPr lang="en-US" sz="2800" dirty="0"/>
              <a:t> ( FILE * stream );</a:t>
            </a:r>
            <a:endParaRPr lang="en-US" sz="2800" dirty="0"/>
          </a:p>
        </p:txBody>
      </p:sp>
      <p:sp>
        <p:nvSpPr>
          <p:cNvPr id="7" name="文本框 6"/>
          <p:cNvSpPr txBox="1"/>
          <p:nvPr/>
        </p:nvSpPr>
        <p:spPr>
          <a:xfrm>
            <a:off x="544606" y="2221829"/>
            <a:ext cx="8524090" cy="1430456"/>
          </a:xfrm>
          <a:prstGeom prst="rect">
            <a:avLst/>
          </a:prstGeom>
          <a:noFill/>
        </p:spPr>
        <p:txBody>
          <a:bodyPr wrap="square">
            <a:spAutoFit/>
          </a:bodyPr>
          <a:lstStyle/>
          <a:p>
            <a:pPr lvl="0" algn="just">
              <a:lnSpc>
                <a:spcPct val="150000"/>
              </a:lnSpc>
              <a:defRPr/>
            </a:pPr>
            <a:r>
              <a:rPr lang="en-US" altLang="zh-CN" sz="2000" kern="0" dirty="0">
                <a:solidFill>
                  <a:prstClr val="black"/>
                </a:solidFill>
                <a:latin typeface="等线" panose="02010600030101010101" charset="-122"/>
                <a:ea typeface="等线" panose="02010600030101010101" charset="-122"/>
              </a:rPr>
              <a:t>FILE</a:t>
            </a:r>
            <a:r>
              <a:rPr lang="zh-CN" altLang="en-US" sz="2000" kern="0" dirty="0">
                <a:solidFill>
                  <a:prstClr val="black"/>
                </a:solidFill>
                <a:latin typeface="等线" panose="02010600030101010101" charset="-122"/>
                <a:ea typeface="等线" panose="02010600030101010101" charset="-122"/>
              </a:rPr>
              <a:t>是文件指针</a:t>
            </a:r>
            <a:endParaRPr lang="en-US" altLang="zh-CN" sz="2000" kern="0" dirty="0">
              <a:solidFill>
                <a:prstClr val="black"/>
              </a:solidFill>
              <a:latin typeface="等线" panose="02010600030101010101" charset="-122"/>
              <a:ea typeface="等线" panose="02010600030101010101" charset="-122"/>
            </a:endParaRPr>
          </a:p>
          <a:p>
            <a:pPr lvl="0" algn="just">
              <a:lnSpc>
                <a:spcPct val="150000"/>
              </a:lnSpc>
              <a:defRPr/>
            </a:pPr>
            <a:r>
              <a:rPr lang="zh-CN" altLang="en-US" sz="2000" dirty="0"/>
              <a:t>如果不能实现“打开”的任务，</a:t>
            </a:r>
            <a:r>
              <a:rPr lang="en-US" altLang="zh-CN" sz="2000" dirty="0" err="1"/>
              <a:t>fopen</a:t>
            </a:r>
            <a:r>
              <a:rPr lang="zh-CN" altLang="en-US" sz="2000" dirty="0"/>
              <a:t>函数将会带回一个空指针值</a:t>
            </a:r>
            <a:r>
              <a:rPr lang="en-US" altLang="zh-CN" sz="2000" dirty="0"/>
              <a:t>NULL</a:t>
            </a:r>
            <a:endParaRPr lang="en-US" altLang="zh-CN" sz="2000" dirty="0"/>
          </a:p>
          <a:p>
            <a:pPr lvl="0" algn="just">
              <a:lnSpc>
                <a:spcPct val="150000"/>
              </a:lnSpc>
              <a:defRPr/>
            </a:pPr>
            <a:r>
              <a:rPr kumimoji="0" lang="zh-CN" altLang="en-US" sz="20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思考：什么情况下</a:t>
            </a:r>
            <a:r>
              <a:rPr lang="zh-CN" altLang="en-US" sz="2000" kern="0" dirty="0">
                <a:solidFill>
                  <a:prstClr val="black"/>
                </a:solidFill>
                <a:latin typeface="等线" panose="02010600030101010101" charset="-122"/>
                <a:ea typeface="等线" panose="02010600030101010101" charset="-122"/>
              </a:rPr>
              <a:t>会不能打开呢？</a:t>
            </a:r>
            <a:endParaRPr kumimoji="0" lang="en-US" altLang="zh-CN" sz="20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9" name="文本框 8"/>
          <p:cNvSpPr txBox="1"/>
          <p:nvPr/>
        </p:nvSpPr>
        <p:spPr>
          <a:xfrm>
            <a:off x="-294492" y="4671665"/>
            <a:ext cx="6636123" cy="646331"/>
          </a:xfrm>
          <a:prstGeom prst="rect">
            <a:avLst/>
          </a:prstGeom>
          <a:noFill/>
        </p:spPr>
        <p:txBody>
          <a:bodyPr wrap="square">
            <a:spAutoFit/>
          </a:bodyPr>
          <a:lstStyle/>
          <a:p>
            <a:pPr lvl="2"/>
            <a:r>
              <a:rPr lang="zh-CN" altLang="en-US" b="1" dirty="0">
                <a:solidFill>
                  <a:srgbClr val="FF0000"/>
                </a:solidFill>
              </a:rPr>
              <a:t>操作正常返回</a:t>
            </a:r>
            <a:r>
              <a:rPr lang="en-US" altLang="zh-CN" b="1" dirty="0">
                <a:solidFill>
                  <a:srgbClr val="FF0000"/>
                </a:solidFill>
              </a:rPr>
              <a:t>0</a:t>
            </a:r>
            <a:r>
              <a:rPr lang="zh-CN" altLang="en-US" dirty="0"/>
              <a:t>，否则返回</a:t>
            </a:r>
            <a:r>
              <a:rPr lang="en-US" altLang="zh-CN" dirty="0"/>
              <a:t>EOF</a:t>
            </a:r>
            <a:r>
              <a:rPr lang="zh-CN" altLang="en-US" dirty="0"/>
              <a:t>（是在</a:t>
            </a:r>
            <a:r>
              <a:rPr lang="en-US" altLang="zh-CN" dirty="0" err="1"/>
              <a:t>stdio.h</a:t>
            </a:r>
            <a:r>
              <a:rPr lang="zh-CN" altLang="en-US" dirty="0"/>
              <a:t>文件中定义的符号常量，值为</a:t>
            </a:r>
            <a:r>
              <a:rPr lang="en-US" altLang="zh-CN" dirty="0"/>
              <a:t>-1</a:t>
            </a:r>
            <a:r>
              <a:rPr lang="zh-CN" altLang="en-US" dirty="0"/>
              <a:t>）。</a:t>
            </a:r>
            <a:endParaRPr lang="zh-CN" altLang="en-US" dirty="0"/>
          </a:p>
        </p:txBody>
      </p:sp>
      <p:sp>
        <p:nvSpPr>
          <p:cNvPr id="10" name="AutoShape 6"/>
          <p:cNvSpPr>
            <a:spLocks noChangeArrowheads="1"/>
          </p:cNvSpPr>
          <p:nvPr/>
        </p:nvSpPr>
        <p:spPr bwMode="auto">
          <a:xfrm>
            <a:off x="4301564" y="5317996"/>
            <a:ext cx="3602038" cy="1106487"/>
          </a:xfrm>
          <a:prstGeom prst="wedgeRectCallout">
            <a:avLst>
              <a:gd name="adj1" fmla="val -69325"/>
              <a:gd name="adj2" fmla="val -61334"/>
            </a:avLst>
          </a:prstGeom>
          <a:solidFill>
            <a:schemeClr val="bg1"/>
          </a:solidFill>
          <a:ln w="9525">
            <a:solidFill>
              <a:srgbClr val="FF00FF"/>
            </a:solidFill>
            <a:miter lim="800000"/>
          </a:ln>
          <a:effectLst>
            <a:outerShdw dist="107763" dir="2700000" algn="ctr" rotWithShape="0">
              <a:schemeClr val="bg2">
                <a:alpha val="50000"/>
              </a:schemeClr>
            </a:outerShdw>
          </a:effectLst>
        </p:spPr>
        <p:txBody>
          <a:bodyPr/>
          <a:lstStyle/>
          <a:p>
            <a:r>
              <a:rPr lang="zh-CN" altLang="en-US" sz="1600" b="1">
                <a:solidFill>
                  <a:srgbClr val="FF00FF"/>
                </a:solidFill>
              </a:rPr>
              <a:t>如果不关闭文件，将会丢失数据，并且一个</a:t>
            </a:r>
            <a:r>
              <a:rPr lang="en-US" altLang="zh-CN" sz="1600" b="1">
                <a:solidFill>
                  <a:srgbClr val="FF00FF"/>
                </a:solidFill>
              </a:rPr>
              <a:t>C</a:t>
            </a:r>
            <a:r>
              <a:rPr lang="zh-CN" altLang="en-US" sz="1600" b="1">
                <a:solidFill>
                  <a:srgbClr val="FF00FF"/>
                </a:solidFill>
              </a:rPr>
              <a:t>程序能同时打开的文件数有限，应该养成在使用完文件后关闭文件的习惯。</a:t>
            </a:r>
            <a:endParaRPr lang="zh-CN" altLang="en-US" sz="1600" b="1">
              <a:solidFill>
                <a:srgbClr val="FF00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0658" name="Rectangle 2"/>
          <p:cNvSpPr>
            <a:spLocks noGrp="1" noChangeArrowheads="1"/>
          </p:cNvSpPr>
          <p:nvPr>
            <p:ph type="title"/>
          </p:nvPr>
        </p:nvSpPr>
        <p:spPr/>
        <p:txBody>
          <a:bodyPr/>
          <a:lstStyle/>
          <a:p>
            <a:r>
              <a:rPr lang="zh-CN" altLang="en-US">
                <a:latin typeface="华文新魏" panose="02010800040101010101" pitchFamily="2" charset="-122"/>
              </a:rPr>
              <a:t>文件操作</a:t>
            </a:r>
            <a:endParaRPr lang="zh-CN" altLang="en-US">
              <a:latin typeface="华文新魏" panose="02010800040101010101" pitchFamily="2" charset="-122"/>
            </a:endParaRPr>
          </a:p>
        </p:txBody>
      </p:sp>
      <p:sp>
        <p:nvSpPr>
          <p:cNvPr id="1350659" name="Rectangle 3"/>
          <p:cNvSpPr>
            <a:spLocks noGrp="1" noChangeArrowheads="1"/>
          </p:cNvSpPr>
          <p:nvPr>
            <p:ph idx="1"/>
          </p:nvPr>
        </p:nvSpPr>
        <p:spPr/>
        <p:txBody>
          <a:bodyPr/>
          <a:lstStyle/>
          <a:p>
            <a:r>
              <a:rPr lang="zh-CN" altLang="en-US"/>
              <a:t>文件操作的一般步骤</a:t>
            </a:r>
            <a:endParaRPr lang="zh-CN" altLang="en-US" sz="2400">
              <a:solidFill>
                <a:srgbClr val="33CC33"/>
              </a:solidFill>
            </a:endParaRPr>
          </a:p>
          <a:p>
            <a:pPr lvl="1"/>
            <a:endParaRPr lang="zh-CN" altLang="en-US"/>
          </a:p>
          <a:p>
            <a:pPr lvl="2"/>
            <a:endParaRPr lang="en-US" altLang="zh-CN"/>
          </a:p>
        </p:txBody>
      </p:sp>
      <p:sp>
        <p:nvSpPr>
          <p:cNvPr id="1350661" name="Text Box 5"/>
          <p:cNvSpPr txBox="1">
            <a:spLocks noChangeArrowheads="1"/>
          </p:cNvSpPr>
          <p:nvPr/>
        </p:nvSpPr>
        <p:spPr bwMode="auto">
          <a:xfrm>
            <a:off x="1582738" y="2095500"/>
            <a:ext cx="5319712" cy="4221163"/>
          </a:xfrm>
          <a:prstGeom prst="rect">
            <a:avLst/>
          </a:prstGeom>
          <a:solidFill>
            <a:schemeClr val="bg1"/>
          </a:solidFill>
          <a:ln w="9525" algn="ctr">
            <a:solidFill>
              <a:schemeClr val="hlink"/>
            </a:solidFill>
            <a:miter lim="800000"/>
          </a:ln>
          <a:effectLst>
            <a:outerShdw dist="107763" dir="2700000" algn="ctr" rotWithShape="0">
              <a:schemeClr val="bg2">
                <a:alpha val="50000"/>
              </a:schemeClr>
            </a:outerShdw>
          </a:effectLst>
        </p:spPr>
        <p:txBody>
          <a:bodyPr>
            <a:spAutoFit/>
          </a:bodyPr>
          <a:lstStyle/>
          <a:p>
            <a:r>
              <a:rPr kumimoji="1" lang="en-US" altLang="zh-CN" b="1">
                <a:latin typeface="Courier New" panose="02070309020205020404" pitchFamily="49" charset="0"/>
              </a:rPr>
              <a:t>/* </a:t>
            </a:r>
            <a:r>
              <a:rPr kumimoji="1" lang="zh-CN" altLang="en-US" b="1">
                <a:latin typeface="Courier New" panose="02070309020205020404" pitchFamily="49" charset="0"/>
              </a:rPr>
              <a:t>定义声明文件指针 *</a:t>
            </a:r>
            <a:r>
              <a:rPr kumimoji="1" lang="en-US" altLang="zh-CN" b="1">
                <a:latin typeface="Courier New" panose="02070309020205020404" pitchFamily="49" charset="0"/>
              </a:rPr>
              <a:t>/</a:t>
            </a:r>
            <a:endParaRPr kumimoji="1" lang="en-US" altLang="zh-CN" b="1">
              <a:latin typeface="Courier New" panose="02070309020205020404" pitchFamily="49" charset="0"/>
            </a:endParaRPr>
          </a:p>
          <a:p>
            <a:r>
              <a:rPr kumimoji="1" lang="en-US" altLang="zh-CN" b="1">
                <a:solidFill>
                  <a:srgbClr val="FF00FF"/>
                </a:solidFill>
                <a:latin typeface="Courier New" panose="02070309020205020404" pitchFamily="49" charset="0"/>
              </a:rPr>
              <a:t>FILE *fp;</a:t>
            </a:r>
            <a:endParaRPr kumimoji="1" lang="en-US" altLang="zh-CN" b="1">
              <a:solidFill>
                <a:srgbClr val="FF00FF"/>
              </a:solidFill>
              <a:latin typeface="Courier New" panose="02070309020205020404" pitchFamily="49" charset="0"/>
            </a:endParaRPr>
          </a:p>
          <a:p>
            <a:endParaRPr kumimoji="1" lang="en-US" altLang="zh-CN" b="1">
              <a:solidFill>
                <a:srgbClr val="FF00FF"/>
              </a:solidFill>
              <a:latin typeface="Courier New" panose="02070309020205020404" pitchFamily="49" charset="0"/>
            </a:endParaRPr>
          </a:p>
          <a:p>
            <a:r>
              <a:rPr kumimoji="1" lang="en-US" altLang="zh-CN" b="1">
                <a:latin typeface="Courier New" panose="02070309020205020404" pitchFamily="49" charset="0"/>
              </a:rPr>
              <a:t>/* </a:t>
            </a:r>
            <a:r>
              <a:rPr kumimoji="1" lang="zh-CN" altLang="en-US" b="1">
                <a:latin typeface="Courier New" panose="02070309020205020404" pitchFamily="49" charset="0"/>
              </a:rPr>
              <a:t>打开文件 *</a:t>
            </a:r>
            <a:r>
              <a:rPr kumimoji="1" lang="en-US" altLang="zh-CN" b="1">
                <a:latin typeface="Courier New" panose="02070309020205020404" pitchFamily="49" charset="0"/>
              </a:rPr>
              <a:t>/</a:t>
            </a:r>
            <a:endParaRPr kumimoji="1" lang="en-US" altLang="zh-CN" b="1">
              <a:latin typeface="Courier New" panose="02070309020205020404" pitchFamily="49" charset="0"/>
            </a:endParaRPr>
          </a:p>
          <a:p>
            <a:r>
              <a:rPr kumimoji="1" lang="en-US" altLang="zh-CN" b="1">
                <a:solidFill>
                  <a:schemeClr val="hlink"/>
                </a:solidFill>
                <a:latin typeface="Courier New" panose="02070309020205020404" pitchFamily="49" charset="0"/>
              </a:rPr>
              <a:t>fp = fopen("</a:t>
            </a:r>
            <a:r>
              <a:rPr kumimoji="1" lang="zh-CN" altLang="en-US" b="1">
                <a:solidFill>
                  <a:schemeClr val="hlink"/>
                </a:solidFill>
                <a:latin typeface="Courier New" panose="02070309020205020404" pitchFamily="49" charset="0"/>
              </a:rPr>
              <a:t>文件名</a:t>
            </a:r>
            <a:r>
              <a:rPr kumimoji="1" lang="en-US" altLang="zh-CN" b="1">
                <a:solidFill>
                  <a:schemeClr val="hlink"/>
                </a:solidFill>
                <a:latin typeface="Courier New" panose="02070309020205020404" pitchFamily="49" charset="0"/>
              </a:rPr>
              <a:t>", "r");</a:t>
            </a:r>
            <a:r>
              <a:rPr kumimoji="1" lang="en-US" altLang="zh-CN" b="1">
                <a:latin typeface="Courier New" panose="02070309020205020404" pitchFamily="49" charset="0"/>
              </a:rPr>
              <a:t> </a:t>
            </a:r>
            <a:endParaRPr kumimoji="1" lang="en-US" altLang="zh-CN" b="1">
              <a:latin typeface="Courier New" panose="02070309020205020404" pitchFamily="49" charset="0"/>
            </a:endParaRPr>
          </a:p>
          <a:p>
            <a:endParaRPr kumimoji="1" lang="en-US" altLang="zh-CN" b="1">
              <a:latin typeface="Courier New" panose="02070309020205020404" pitchFamily="49" charset="0"/>
            </a:endParaRPr>
          </a:p>
          <a:p>
            <a:r>
              <a:rPr kumimoji="1" lang="en-US" altLang="zh-CN" b="1">
                <a:latin typeface="Courier New" panose="02070309020205020404" pitchFamily="49" charset="0"/>
              </a:rPr>
              <a:t>/* </a:t>
            </a:r>
            <a:r>
              <a:rPr kumimoji="1" lang="zh-CN" altLang="en-US" b="1">
                <a:latin typeface="Courier New" panose="02070309020205020404" pitchFamily="49" charset="0"/>
              </a:rPr>
              <a:t>判断是否打开文件 *</a:t>
            </a:r>
            <a:r>
              <a:rPr kumimoji="1" lang="en-US" altLang="zh-CN" b="1">
                <a:latin typeface="Courier New" panose="02070309020205020404" pitchFamily="49" charset="0"/>
              </a:rPr>
              <a:t>/</a:t>
            </a:r>
            <a:endParaRPr kumimoji="1" lang="en-US" altLang="zh-CN" b="1">
              <a:latin typeface="Courier New" panose="02070309020205020404" pitchFamily="49" charset="0"/>
            </a:endParaRPr>
          </a:p>
          <a:p>
            <a:r>
              <a:rPr kumimoji="1" lang="en-US" altLang="zh-CN" b="1">
                <a:solidFill>
                  <a:schemeClr val="hlink"/>
                </a:solidFill>
                <a:latin typeface="Courier New" panose="02070309020205020404" pitchFamily="49" charset="0"/>
              </a:rPr>
              <a:t>if (fp == NULL) { </a:t>
            </a:r>
            <a:endParaRPr kumimoji="1" lang="en-US" altLang="zh-CN" b="1">
              <a:solidFill>
                <a:schemeClr val="hlink"/>
              </a:solidFill>
              <a:latin typeface="Courier New" panose="02070309020205020404" pitchFamily="49" charset="0"/>
            </a:endParaRPr>
          </a:p>
          <a:p>
            <a:r>
              <a:rPr kumimoji="1" lang="en-US" altLang="zh-CN" b="1">
                <a:solidFill>
                  <a:schemeClr val="hlink"/>
                </a:solidFill>
                <a:latin typeface="Courier New" panose="02070309020205020404" pitchFamily="49" charset="0"/>
              </a:rPr>
              <a:t>  /* </a:t>
            </a:r>
            <a:r>
              <a:rPr kumimoji="1" lang="zh-CN" altLang="en-US" b="1">
                <a:solidFill>
                  <a:schemeClr val="hlink"/>
                </a:solidFill>
                <a:latin typeface="Courier New" panose="02070309020205020404" pitchFamily="49" charset="0"/>
              </a:rPr>
              <a:t>当文件打开失败时的处理 *</a:t>
            </a:r>
            <a:r>
              <a:rPr kumimoji="1" lang="en-US" altLang="zh-CN" b="1">
                <a:solidFill>
                  <a:schemeClr val="hlink"/>
                </a:solidFill>
                <a:latin typeface="Courier New" panose="02070309020205020404" pitchFamily="49" charset="0"/>
              </a:rPr>
              <a:t>/ </a:t>
            </a:r>
            <a:endParaRPr kumimoji="1" lang="en-US" altLang="zh-CN" b="1">
              <a:solidFill>
                <a:schemeClr val="hlink"/>
              </a:solidFill>
              <a:latin typeface="Courier New" panose="02070309020205020404" pitchFamily="49" charset="0"/>
            </a:endParaRPr>
          </a:p>
          <a:p>
            <a:r>
              <a:rPr kumimoji="1" lang="en-US" altLang="zh-CN" b="1">
                <a:solidFill>
                  <a:schemeClr val="hlink"/>
                </a:solidFill>
                <a:latin typeface="Courier New" panose="02070309020205020404" pitchFamily="49" charset="0"/>
              </a:rPr>
              <a:t>} </a:t>
            </a:r>
            <a:endParaRPr kumimoji="1" lang="en-US" altLang="zh-CN" b="1">
              <a:solidFill>
                <a:schemeClr val="hlink"/>
              </a:solidFill>
              <a:latin typeface="Courier New" panose="02070309020205020404" pitchFamily="49" charset="0"/>
            </a:endParaRPr>
          </a:p>
          <a:p>
            <a:endParaRPr kumimoji="1" lang="en-US" altLang="zh-CN" b="1">
              <a:solidFill>
                <a:schemeClr val="hlink"/>
              </a:solidFill>
              <a:latin typeface="Courier New" panose="02070309020205020404" pitchFamily="49" charset="0"/>
            </a:endParaRPr>
          </a:p>
          <a:p>
            <a:r>
              <a:rPr kumimoji="1" lang="en-US" altLang="zh-CN" b="1">
                <a:latin typeface="Courier New" panose="02070309020205020404" pitchFamily="49" charset="0"/>
              </a:rPr>
              <a:t>/* </a:t>
            </a:r>
            <a:r>
              <a:rPr kumimoji="1" lang="zh-CN" altLang="en-US" b="1">
                <a:latin typeface="Courier New" panose="02070309020205020404" pitchFamily="49" charset="0"/>
              </a:rPr>
              <a:t>对文件进行读写操作 *</a:t>
            </a:r>
            <a:r>
              <a:rPr kumimoji="1" lang="en-US" altLang="zh-CN" b="1">
                <a:latin typeface="Courier New" panose="02070309020205020404" pitchFamily="49" charset="0"/>
              </a:rPr>
              <a:t>/ </a:t>
            </a:r>
            <a:endParaRPr kumimoji="1" lang="en-US" altLang="zh-CN" b="1">
              <a:latin typeface="Courier New" panose="02070309020205020404" pitchFamily="49" charset="0"/>
            </a:endParaRPr>
          </a:p>
          <a:p>
            <a:endParaRPr kumimoji="1" lang="en-US" altLang="zh-CN" b="1">
              <a:latin typeface="Courier New" panose="02070309020205020404" pitchFamily="49" charset="0"/>
            </a:endParaRPr>
          </a:p>
          <a:p>
            <a:r>
              <a:rPr kumimoji="1" lang="en-US" altLang="zh-CN" b="1">
                <a:latin typeface="Courier New" panose="02070309020205020404" pitchFamily="49" charset="0"/>
              </a:rPr>
              <a:t>/* </a:t>
            </a:r>
            <a:r>
              <a:rPr kumimoji="1" lang="zh-CN" altLang="en-US" b="1">
                <a:latin typeface="Courier New" panose="02070309020205020404" pitchFamily="49" charset="0"/>
              </a:rPr>
              <a:t>关闭文件 *</a:t>
            </a:r>
            <a:r>
              <a:rPr kumimoji="1" lang="en-US" altLang="zh-CN" b="1">
                <a:latin typeface="Courier New" panose="02070309020205020404" pitchFamily="49" charset="0"/>
              </a:rPr>
              <a:t>/</a:t>
            </a:r>
            <a:endParaRPr kumimoji="1" lang="en-US" altLang="zh-CN" b="1">
              <a:latin typeface="Courier New" panose="02070309020205020404" pitchFamily="49" charset="0"/>
            </a:endParaRPr>
          </a:p>
          <a:p>
            <a:r>
              <a:rPr kumimoji="1" lang="en-US" altLang="zh-CN" b="1">
                <a:solidFill>
                  <a:srgbClr val="33CC33"/>
                </a:solidFill>
                <a:latin typeface="Courier New" panose="02070309020205020404" pitchFamily="49" charset="0"/>
              </a:rPr>
              <a:t>fclose(fp);</a:t>
            </a:r>
            <a:endParaRPr kumimoji="1" lang="en-US" altLang="zh-CN" b="1">
              <a:solidFill>
                <a:srgbClr val="33CC33"/>
              </a:solidFill>
              <a:latin typeface="Courier New" panose="020703090202050204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0418" name="Rectangle 2"/>
          <p:cNvSpPr>
            <a:spLocks noGrp="1" noChangeArrowheads="1"/>
          </p:cNvSpPr>
          <p:nvPr>
            <p:ph type="title"/>
          </p:nvPr>
        </p:nvSpPr>
        <p:spPr/>
        <p:txBody>
          <a:bodyPr/>
          <a:lstStyle/>
          <a:p>
            <a:r>
              <a:rPr lang="zh-CN" altLang="en-US" dirty="0">
                <a:latin typeface="华文新魏" panose="02010800040101010101" pitchFamily="2" charset="-122"/>
              </a:rPr>
              <a:t>文件指针 </a:t>
            </a:r>
            <a:r>
              <a:rPr lang="en-US" altLang="zh-CN" dirty="0"/>
              <a:t>FILE * </a:t>
            </a:r>
            <a:endParaRPr lang="zh-CN" altLang="en-US" dirty="0">
              <a:latin typeface="华文新魏" panose="02010800040101010101" pitchFamily="2" charset="-122"/>
            </a:endParaRPr>
          </a:p>
        </p:txBody>
      </p:sp>
      <p:sp>
        <p:nvSpPr>
          <p:cNvPr id="1340419" name="Rectangle 3"/>
          <p:cNvSpPr>
            <a:spLocks noGrp="1" noChangeArrowheads="1"/>
          </p:cNvSpPr>
          <p:nvPr>
            <p:ph idx="1"/>
          </p:nvPr>
        </p:nvSpPr>
        <p:spPr>
          <a:xfrm>
            <a:off x="432000" y="1342962"/>
            <a:ext cx="8280000" cy="5040000"/>
          </a:xfrm>
        </p:spPr>
        <p:txBody>
          <a:bodyPr>
            <a:normAutofit/>
          </a:bodyPr>
          <a:lstStyle/>
          <a:p>
            <a:r>
              <a:rPr lang="zh-CN" altLang="en-US" sz="2400" dirty="0"/>
              <a:t>文件信息结构体</a:t>
            </a:r>
            <a:endParaRPr lang="en-US" altLang="zh-CN" sz="2400" dirty="0"/>
          </a:p>
          <a:p>
            <a:pPr lvl="1"/>
            <a:r>
              <a:rPr lang="zh-CN" altLang="en-US" sz="2000" dirty="0"/>
              <a:t>每个被使用的文件都在内存中开辟一存储区存放其相关信息（如文件的名字、文件状态及文件当前读写位置等）</a:t>
            </a:r>
            <a:endParaRPr lang="en-US" altLang="zh-CN" sz="2000" dirty="0"/>
          </a:p>
          <a:p>
            <a:pPr lvl="1"/>
            <a:r>
              <a:rPr lang="zh-CN" altLang="en-US" sz="2000" dirty="0"/>
              <a:t>这些信息用一个结构体变量保存，该</a:t>
            </a:r>
            <a:r>
              <a:rPr lang="zh-CN" altLang="en-US" sz="2000" dirty="0">
                <a:solidFill>
                  <a:srgbClr val="FF00FF"/>
                </a:solidFill>
              </a:rPr>
              <a:t>结构体类型</a:t>
            </a:r>
            <a:r>
              <a:rPr lang="zh-CN" altLang="en-US" sz="2000" dirty="0"/>
              <a:t>的名字是 </a:t>
            </a:r>
            <a:r>
              <a:rPr lang="en-US" altLang="zh-CN" sz="2000" dirty="0">
                <a:solidFill>
                  <a:srgbClr val="FF00FF"/>
                </a:solidFill>
              </a:rPr>
              <a:t>FILE</a:t>
            </a:r>
            <a:r>
              <a:rPr lang="zh-CN" altLang="en-US" sz="2000" dirty="0">
                <a:solidFill>
                  <a:srgbClr val="FF00FF"/>
                </a:solidFill>
              </a:rPr>
              <a:t>，</a:t>
            </a:r>
            <a:r>
              <a:rPr lang="zh-CN" altLang="en-US" sz="2000" dirty="0"/>
              <a:t>由系统声明</a:t>
            </a:r>
            <a:endParaRPr lang="en-US" altLang="zh-CN" sz="2000" dirty="0"/>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81776" y="3169855"/>
            <a:ext cx="5836835" cy="36881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367998"/>
            <a:ext cx="7886700" cy="5301361"/>
          </a:xfrm>
        </p:spPr>
        <p:txBody>
          <a:bodyPr>
            <a:normAutofit/>
          </a:bodyPr>
          <a:lstStyle/>
          <a:p>
            <a:r>
              <a:rPr lang="zh-CN" altLang="en-US" sz="2000" dirty="0"/>
              <a:t>输入输出是数据传送过程，数据如流水一样从一处流向另一处，因此常将输入输出形象地称为流</a:t>
            </a:r>
            <a:r>
              <a:rPr lang="en-US" altLang="zh-CN" sz="2000" dirty="0"/>
              <a:t>(stream)</a:t>
            </a:r>
            <a:r>
              <a:rPr lang="zh-CN" altLang="en-US" sz="2000" dirty="0"/>
              <a:t>，即</a:t>
            </a:r>
            <a:r>
              <a:rPr lang="zh-CN" altLang="en-US" sz="2000" dirty="0">
                <a:solidFill>
                  <a:srgbClr val="FF0000"/>
                </a:solidFill>
              </a:rPr>
              <a:t>数据流</a:t>
            </a:r>
            <a:r>
              <a:rPr lang="zh-CN" altLang="en-US" sz="2000" dirty="0"/>
              <a:t>。流表示了信息从源到目的端的流动。</a:t>
            </a:r>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p:txBody>
      </p:sp>
      <p:sp>
        <p:nvSpPr>
          <p:cNvPr id="3" name="标题 2"/>
          <p:cNvSpPr>
            <a:spLocks noGrp="1"/>
          </p:cNvSpPr>
          <p:nvPr>
            <p:ph type="title"/>
          </p:nvPr>
        </p:nvSpPr>
        <p:spPr/>
        <p:txBody>
          <a:bodyPr/>
          <a:lstStyle/>
          <a:p>
            <a:r>
              <a:rPr lang="zh-CN" altLang="en-US" dirty="0"/>
              <a:t>文件的读写：数据流</a:t>
            </a:r>
            <a:endParaRPr lang="zh-CN" altLang="en-US" dirty="0"/>
          </a:p>
        </p:txBody>
      </p:sp>
      <p:sp>
        <p:nvSpPr>
          <p:cNvPr id="4" name="Rectangle 65"/>
          <p:cNvSpPr>
            <a:spLocks noChangeArrowheads="1"/>
          </p:cNvSpPr>
          <p:nvPr/>
        </p:nvSpPr>
        <p:spPr bwMode="auto">
          <a:xfrm>
            <a:off x="1117958" y="2512571"/>
            <a:ext cx="642938"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Rectangle 66"/>
          <p:cNvSpPr>
            <a:spLocks noChangeArrowheads="1"/>
          </p:cNvSpPr>
          <p:nvPr/>
        </p:nvSpPr>
        <p:spPr bwMode="auto">
          <a:xfrm>
            <a:off x="1754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7"/>
          <p:cNvSpPr>
            <a:spLocks noChangeArrowheads="1"/>
          </p:cNvSpPr>
          <p:nvPr/>
        </p:nvSpPr>
        <p:spPr bwMode="auto">
          <a:xfrm>
            <a:off x="2389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8"/>
          <p:cNvSpPr>
            <a:spLocks noChangeArrowheads="1"/>
          </p:cNvSpPr>
          <p:nvPr/>
        </p:nvSpPr>
        <p:spPr bwMode="auto">
          <a:xfrm>
            <a:off x="3024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9"/>
          <p:cNvSpPr>
            <a:spLocks noChangeArrowheads="1"/>
          </p:cNvSpPr>
          <p:nvPr/>
        </p:nvSpPr>
        <p:spPr bwMode="auto">
          <a:xfrm>
            <a:off x="3659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70"/>
          <p:cNvSpPr>
            <a:spLocks noChangeArrowheads="1"/>
          </p:cNvSpPr>
          <p:nvPr/>
        </p:nvSpPr>
        <p:spPr bwMode="auto">
          <a:xfrm>
            <a:off x="4294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71"/>
          <p:cNvSpPr>
            <a:spLocks noChangeArrowheads="1"/>
          </p:cNvSpPr>
          <p:nvPr/>
        </p:nvSpPr>
        <p:spPr bwMode="auto">
          <a:xfrm>
            <a:off x="4929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72"/>
          <p:cNvSpPr>
            <a:spLocks noChangeArrowheads="1"/>
          </p:cNvSpPr>
          <p:nvPr/>
        </p:nvSpPr>
        <p:spPr bwMode="auto">
          <a:xfrm>
            <a:off x="5564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73"/>
          <p:cNvSpPr>
            <a:spLocks noChangeArrowheads="1"/>
          </p:cNvSpPr>
          <p:nvPr/>
        </p:nvSpPr>
        <p:spPr bwMode="auto">
          <a:xfrm>
            <a:off x="6199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74"/>
          <p:cNvSpPr>
            <a:spLocks noChangeArrowheads="1"/>
          </p:cNvSpPr>
          <p:nvPr/>
        </p:nvSpPr>
        <p:spPr bwMode="auto">
          <a:xfrm>
            <a:off x="6834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75"/>
          <p:cNvSpPr>
            <a:spLocks noChangeArrowheads="1"/>
          </p:cNvSpPr>
          <p:nvPr/>
        </p:nvSpPr>
        <p:spPr bwMode="auto">
          <a:xfrm>
            <a:off x="7469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箭头: 下 14"/>
          <p:cNvSpPr/>
          <p:nvPr/>
        </p:nvSpPr>
        <p:spPr>
          <a:xfrm rot="10800000">
            <a:off x="3184842" y="2885987"/>
            <a:ext cx="322344" cy="443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639830" y="3384251"/>
            <a:ext cx="1515287" cy="461665"/>
          </a:xfrm>
          <a:prstGeom prst="rect">
            <a:avLst/>
          </a:prstGeom>
          <a:noFill/>
        </p:spPr>
        <p:txBody>
          <a:bodyPr wrap="none" rtlCol="0">
            <a:spAutoFit/>
          </a:bodyPr>
          <a:lstStyle/>
          <a:p>
            <a:r>
              <a:rPr lang="en-US" altLang="zh-CN" sz="2400" b="1" dirty="0"/>
              <a:t>char * _</a:t>
            </a:r>
            <a:r>
              <a:rPr lang="en-US" altLang="zh-CN" sz="2400" b="1" dirty="0" err="1"/>
              <a:t>ptr</a:t>
            </a:r>
            <a:endParaRPr lang="zh-CN" altLang="en-US" sz="2400" b="1" dirty="0"/>
          </a:p>
        </p:txBody>
      </p:sp>
      <p:cxnSp>
        <p:nvCxnSpPr>
          <p:cNvPr id="18" name="直接箭头连接符 17"/>
          <p:cNvCxnSpPr/>
          <p:nvPr/>
        </p:nvCxnSpPr>
        <p:spPr>
          <a:xfrm>
            <a:off x="3618242" y="3161527"/>
            <a:ext cx="19955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5664995" y="2784033"/>
            <a:ext cx="2339102" cy="830997"/>
          </a:xfrm>
          <a:prstGeom prst="rect">
            <a:avLst/>
          </a:prstGeom>
          <a:noFill/>
        </p:spPr>
        <p:txBody>
          <a:bodyPr wrap="none" rtlCol="0">
            <a:spAutoFit/>
          </a:bodyPr>
          <a:lstStyle/>
          <a:p>
            <a:r>
              <a:rPr lang="zh-CN" altLang="en-US" sz="2400" dirty="0"/>
              <a:t>读完</a:t>
            </a:r>
            <a:r>
              <a:rPr lang="en-US" altLang="zh-CN" sz="2400" dirty="0"/>
              <a:t>/</a:t>
            </a:r>
            <a:r>
              <a:rPr lang="zh-CN" altLang="en-US" sz="2400" dirty="0"/>
              <a:t>写完数据</a:t>
            </a:r>
            <a:endParaRPr lang="en-US" altLang="zh-CN" sz="2400" dirty="0"/>
          </a:p>
          <a:p>
            <a:r>
              <a:rPr lang="zh-CN" altLang="en-US" sz="2400" dirty="0"/>
              <a:t>指针自动向后流</a:t>
            </a:r>
            <a:endParaRPr lang="zh-CN" altLang="en-US" sz="2400" dirty="0"/>
          </a:p>
        </p:txBody>
      </p:sp>
      <p:pic>
        <p:nvPicPr>
          <p:cNvPr id="2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12043" y="3909690"/>
            <a:ext cx="4719914" cy="2982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367998"/>
            <a:ext cx="7886700" cy="5301361"/>
          </a:xfrm>
        </p:spPr>
        <p:txBody>
          <a:bodyPr>
            <a:normAutofit/>
          </a:bodyPr>
          <a:lstStyle/>
          <a:p>
            <a:r>
              <a:rPr lang="zh-CN" altLang="en-US" sz="2000" dirty="0"/>
              <a:t>输入输出是数据传送过程，数据如流水一样从一处流向另一处，因此常将输入输出形象地称为流</a:t>
            </a:r>
            <a:r>
              <a:rPr lang="en-US" altLang="zh-CN" sz="2000" dirty="0"/>
              <a:t>(stream)</a:t>
            </a:r>
            <a:r>
              <a:rPr lang="zh-CN" altLang="en-US" sz="2000" dirty="0"/>
              <a:t>，即</a:t>
            </a:r>
            <a:r>
              <a:rPr lang="zh-CN" altLang="en-US" sz="2000" dirty="0">
                <a:solidFill>
                  <a:srgbClr val="FF0000"/>
                </a:solidFill>
              </a:rPr>
              <a:t>数据流</a:t>
            </a:r>
            <a:r>
              <a:rPr lang="zh-CN" altLang="en-US" sz="2000" dirty="0"/>
              <a:t>。流表示了信息从源到目的端的流动。</a:t>
            </a:r>
            <a:endParaRPr lang="en-US" altLang="zh-CN" sz="2000" dirty="0"/>
          </a:p>
          <a:p>
            <a:endParaRPr lang="en-US" altLang="zh-CN" sz="2000" dirty="0"/>
          </a:p>
          <a:p>
            <a:endParaRPr lang="en-US" altLang="zh-CN" sz="2000" dirty="0"/>
          </a:p>
          <a:p>
            <a:endParaRPr lang="en-US" altLang="zh-CN" sz="2000" dirty="0"/>
          </a:p>
          <a:p>
            <a:endParaRPr lang="en-US" altLang="zh-CN" sz="2000" dirty="0"/>
          </a:p>
          <a:p>
            <a:r>
              <a:rPr lang="zh-CN" altLang="en-US" sz="2000" dirty="0"/>
              <a:t>为了简化用户对输入输出设备的操作，使用户不必去区分各种输入输出设备之间的区别，</a:t>
            </a:r>
            <a:r>
              <a:rPr lang="zh-CN" altLang="en-US" sz="2000" dirty="0">
                <a:solidFill>
                  <a:srgbClr val="FF0000"/>
                </a:solidFill>
              </a:rPr>
              <a:t>操作系统把各种设备都统一作为文件来处理</a:t>
            </a:r>
            <a:r>
              <a:rPr lang="zh-CN" altLang="en-US" sz="2000" dirty="0"/>
              <a:t>。程序中可以使用</a:t>
            </a:r>
            <a:r>
              <a:rPr lang="en-US" altLang="zh-CN" sz="2000" dirty="0"/>
              <a:t>3</a:t>
            </a:r>
            <a:r>
              <a:rPr lang="zh-CN" altLang="en-US" sz="2000" dirty="0"/>
              <a:t>个标准的流文件</a:t>
            </a:r>
            <a:r>
              <a:rPr lang="en-US" altLang="zh-CN" sz="2000" dirty="0"/>
              <a:t>——</a:t>
            </a:r>
            <a:r>
              <a:rPr lang="zh-CN" altLang="en-US" sz="2000" dirty="0">
                <a:solidFill>
                  <a:srgbClr val="FF0000"/>
                </a:solidFill>
              </a:rPr>
              <a:t>标准输入流（</a:t>
            </a:r>
            <a:r>
              <a:rPr lang="en-US" altLang="zh-CN" sz="2000" dirty="0">
                <a:solidFill>
                  <a:srgbClr val="FF0000"/>
                </a:solidFill>
              </a:rPr>
              <a:t>stdin</a:t>
            </a:r>
            <a:r>
              <a:rPr lang="zh-CN" altLang="en-US" sz="2000" dirty="0">
                <a:solidFill>
                  <a:srgbClr val="FF0000"/>
                </a:solidFill>
              </a:rPr>
              <a:t>）、标准输出流（</a:t>
            </a:r>
            <a:r>
              <a:rPr lang="en-US" altLang="zh-CN" sz="2000" dirty="0" err="1">
                <a:solidFill>
                  <a:srgbClr val="FF0000"/>
                </a:solidFill>
              </a:rPr>
              <a:t>stdout</a:t>
            </a:r>
            <a:r>
              <a:rPr lang="zh-CN" altLang="en-US" sz="2000" dirty="0">
                <a:solidFill>
                  <a:srgbClr val="FF0000"/>
                </a:solidFill>
              </a:rPr>
              <a:t>）和标准出错输出流（</a:t>
            </a:r>
            <a:r>
              <a:rPr lang="en-US" altLang="zh-CN" sz="2000" dirty="0">
                <a:solidFill>
                  <a:srgbClr val="FF0000"/>
                </a:solidFill>
              </a:rPr>
              <a:t>stderr</a:t>
            </a:r>
            <a:r>
              <a:rPr lang="zh-CN" altLang="en-US" sz="2000" dirty="0">
                <a:solidFill>
                  <a:srgbClr val="FF0000"/>
                </a:solidFill>
              </a:rPr>
              <a:t>）</a:t>
            </a:r>
            <a:r>
              <a:rPr lang="zh-CN" altLang="en-US" sz="2000" dirty="0"/>
              <a:t>。程序开始运行时系统会自动打开这</a:t>
            </a:r>
            <a:r>
              <a:rPr lang="en-US" altLang="zh-CN" sz="2000" dirty="0"/>
              <a:t>3</a:t>
            </a:r>
            <a:r>
              <a:rPr lang="zh-CN" altLang="en-US" sz="2000" dirty="0"/>
              <a:t>个标准流文件（都可以作为</a:t>
            </a:r>
            <a:r>
              <a:rPr lang="en-US" altLang="zh-CN" sz="2000" dirty="0"/>
              <a:t>FILE *</a:t>
            </a:r>
            <a:r>
              <a:rPr lang="zh-CN" altLang="en-US" sz="2000" dirty="0"/>
              <a:t>使用）</a:t>
            </a:r>
            <a:endParaRPr lang="en-US" altLang="zh-CN" sz="2000" dirty="0"/>
          </a:p>
        </p:txBody>
      </p:sp>
      <p:sp>
        <p:nvSpPr>
          <p:cNvPr id="3" name="标题 2"/>
          <p:cNvSpPr>
            <a:spLocks noGrp="1"/>
          </p:cNvSpPr>
          <p:nvPr>
            <p:ph type="title"/>
          </p:nvPr>
        </p:nvSpPr>
        <p:spPr/>
        <p:txBody>
          <a:bodyPr/>
          <a:lstStyle/>
          <a:p>
            <a:r>
              <a:rPr lang="zh-CN" altLang="en-US" dirty="0"/>
              <a:t>文件的读写：数据流</a:t>
            </a:r>
            <a:endParaRPr lang="zh-CN" altLang="en-US" dirty="0"/>
          </a:p>
        </p:txBody>
      </p:sp>
      <p:sp>
        <p:nvSpPr>
          <p:cNvPr id="4" name="Rectangle 65"/>
          <p:cNvSpPr>
            <a:spLocks noChangeArrowheads="1"/>
          </p:cNvSpPr>
          <p:nvPr/>
        </p:nvSpPr>
        <p:spPr bwMode="auto">
          <a:xfrm>
            <a:off x="1117958" y="2512571"/>
            <a:ext cx="642938"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Rectangle 66"/>
          <p:cNvSpPr>
            <a:spLocks noChangeArrowheads="1"/>
          </p:cNvSpPr>
          <p:nvPr/>
        </p:nvSpPr>
        <p:spPr bwMode="auto">
          <a:xfrm>
            <a:off x="1754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7"/>
          <p:cNvSpPr>
            <a:spLocks noChangeArrowheads="1"/>
          </p:cNvSpPr>
          <p:nvPr/>
        </p:nvSpPr>
        <p:spPr bwMode="auto">
          <a:xfrm>
            <a:off x="2389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8"/>
          <p:cNvSpPr>
            <a:spLocks noChangeArrowheads="1"/>
          </p:cNvSpPr>
          <p:nvPr/>
        </p:nvSpPr>
        <p:spPr bwMode="auto">
          <a:xfrm>
            <a:off x="3024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9"/>
          <p:cNvSpPr>
            <a:spLocks noChangeArrowheads="1"/>
          </p:cNvSpPr>
          <p:nvPr/>
        </p:nvSpPr>
        <p:spPr bwMode="auto">
          <a:xfrm>
            <a:off x="3659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70"/>
          <p:cNvSpPr>
            <a:spLocks noChangeArrowheads="1"/>
          </p:cNvSpPr>
          <p:nvPr/>
        </p:nvSpPr>
        <p:spPr bwMode="auto">
          <a:xfrm>
            <a:off x="4294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71"/>
          <p:cNvSpPr>
            <a:spLocks noChangeArrowheads="1"/>
          </p:cNvSpPr>
          <p:nvPr/>
        </p:nvSpPr>
        <p:spPr bwMode="auto">
          <a:xfrm>
            <a:off x="4929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72"/>
          <p:cNvSpPr>
            <a:spLocks noChangeArrowheads="1"/>
          </p:cNvSpPr>
          <p:nvPr/>
        </p:nvSpPr>
        <p:spPr bwMode="auto">
          <a:xfrm>
            <a:off x="5564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73"/>
          <p:cNvSpPr>
            <a:spLocks noChangeArrowheads="1"/>
          </p:cNvSpPr>
          <p:nvPr/>
        </p:nvSpPr>
        <p:spPr bwMode="auto">
          <a:xfrm>
            <a:off x="6199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74"/>
          <p:cNvSpPr>
            <a:spLocks noChangeArrowheads="1"/>
          </p:cNvSpPr>
          <p:nvPr/>
        </p:nvSpPr>
        <p:spPr bwMode="auto">
          <a:xfrm>
            <a:off x="6834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75"/>
          <p:cNvSpPr>
            <a:spLocks noChangeArrowheads="1"/>
          </p:cNvSpPr>
          <p:nvPr/>
        </p:nvSpPr>
        <p:spPr bwMode="auto">
          <a:xfrm>
            <a:off x="7469546" y="2512571"/>
            <a:ext cx="642937" cy="271462"/>
          </a:xfrm>
          <a:prstGeom prst="rect">
            <a:avLst/>
          </a:prstGeom>
          <a:solidFill>
            <a:srgbClr val="CCFFFF"/>
          </a:solidFill>
          <a:ln w="9525" algn="ctr">
            <a:solidFill>
              <a:srgbClr val="3333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箭头: 下 14"/>
          <p:cNvSpPr/>
          <p:nvPr/>
        </p:nvSpPr>
        <p:spPr>
          <a:xfrm rot="10800000">
            <a:off x="3184842" y="2885987"/>
            <a:ext cx="322344" cy="443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639830" y="3384251"/>
            <a:ext cx="1515287" cy="461665"/>
          </a:xfrm>
          <a:prstGeom prst="rect">
            <a:avLst/>
          </a:prstGeom>
          <a:noFill/>
        </p:spPr>
        <p:txBody>
          <a:bodyPr wrap="none" rtlCol="0">
            <a:spAutoFit/>
          </a:bodyPr>
          <a:lstStyle/>
          <a:p>
            <a:r>
              <a:rPr lang="en-US" altLang="zh-CN" sz="2400" b="1" dirty="0"/>
              <a:t>char * _</a:t>
            </a:r>
            <a:r>
              <a:rPr lang="en-US" altLang="zh-CN" sz="2400" b="1" dirty="0" err="1"/>
              <a:t>ptr</a:t>
            </a:r>
            <a:endParaRPr lang="zh-CN" altLang="en-US" sz="2400" b="1" dirty="0"/>
          </a:p>
        </p:txBody>
      </p:sp>
      <p:cxnSp>
        <p:nvCxnSpPr>
          <p:cNvPr id="18" name="直接箭头连接符 17"/>
          <p:cNvCxnSpPr/>
          <p:nvPr/>
        </p:nvCxnSpPr>
        <p:spPr>
          <a:xfrm>
            <a:off x="3618242" y="3161527"/>
            <a:ext cx="199554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5664995" y="2784033"/>
            <a:ext cx="2339102" cy="830997"/>
          </a:xfrm>
          <a:prstGeom prst="rect">
            <a:avLst/>
          </a:prstGeom>
          <a:noFill/>
        </p:spPr>
        <p:txBody>
          <a:bodyPr wrap="none" rtlCol="0">
            <a:spAutoFit/>
          </a:bodyPr>
          <a:lstStyle/>
          <a:p>
            <a:r>
              <a:rPr lang="zh-CN" altLang="en-US" sz="2400" dirty="0"/>
              <a:t>读完</a:t>
            </a:r>
            <a:r>
              <a:rPr lang="en-US" altLang="zh-CN" sz="2400" dirty="0"/>
              <a:t>/</a:t>
            </a:r>
            <a:r>
              <a:rPr lang="zh-CN" altLang="en-US" sz="2400" dirty="0"/>
              <a:t>写完数据</a:t>
            </a:r>
            <a:endParaRPr lang="en-US" altLang="zh-CN" sz="2400" dirty="0"/>
          </a:p>
          <a:p>
            <a:r>
              <a:rPr lang="zh-CN" altLang="en-US" sz="2400" dirty="0"/>
              <a:t>指针自动向后流</a:t>
            </a:r>
            <a:endParaRPr lang="zh-CN" altLang="en-US" sz="2400" dirty="0"/>
          </a:p>
        </p:txBody>
      </p:sp>
      <p:sp>
        <p:nvSpPr>
          <p:cNvPr id="23" name="文本框 22"/>
          <p:cNvSpPr txBox="1"/>
          <p:nvPr/>
        </p:nvSpPr>
        <p:spPr>
          <a:xfrm>
            <a:off x="1504475" y="6165609"/>
            <a:ext cx="6509820" cy="461665"/>
          </a:xfrm>
          <a:prstGeom prst="rect">
            <a:avLst/>
          </a:prstGeom>
          <a:noFill/>
        </p:spPr>
        <p:txBody>
          <a:bodyPr wrap="square">
            <a:spAutoFit/>
          </a:bodyPr>
          <a:lstStyle/>
          <a:p>
            <a:r>
              <a:rPr lang="zh-CN" altLang="en-US" sz="2400" dirty="0"/>
              <a:t>思考：</a:t>
            </a:r>
            <a:r>
              <a:rPr lang="nn-NO" altLang="zh-CN" sz="2400" dirty="0"/>
              <a:t>freopen(“data1.in”,“r”,stdin); </a:t>
            </a:r>
            <a:r>
              <a:rPr lang="zh-CN" altLang="en-US" sz="2400" dirty="0"/>
              <a:t>在做什么？</a:t>
            </a:r>
            <a:endParaRPr kumimoji="0" lang="zh-CN" altLang="en-US" sz="2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56802" name="Rectangle 2"/>
          <p:cNvSpPr>
            <a:spLocks noGrp="1" noChangeArrowheads="1"/>
          </p:cNvSpPr>
          <p:nvPr>
            <p:ph type="title"/>
          </p:nvPr>
        </p:nvSpPr>
        <p:spPr/>
        <p:txBody>
          <a:bodyPr/>
          <a:lstStyle/>
          <a:p>
            <a:r>
              <a:rPr lang="zh-CN" altLang="en-US">
                <a:latin typeface="华文新魏" panose="02010800040101010101" pitchFamily="2" charset="-122"/>
              </a:rPr>
              <a:t>字符的读写</a:t>
            </a:r>
            <a:endParaRPr lang="zh-CN" altLang="en-US">
              <a:latin typeface="华文新魏" panose="02010800040101010101" pitchFamily="2" charset="-122"/>
            </a:endParaRPr>
          </a:p>
        </p:txBody>
      </p:sp>
      <p:sp>
        <p:nvSpPr>
          <p:cNvPr id="1356803" name="Rectangle 3"/>
          <p:cNvSpPr>
            <a:spLocks noGrp="1" noChangeArrowheads="1"/>
          </p:cNvSpPr>
          <p:nvPr>
            <p:ph idx="1"/>
          </p:nvPr>
        </p:nvSpPr>
        <p:spPr/>
        <p:txBody>
          <a:bodyPr/>
          <a:lstStyle/>
          <a:p>
            <a:r>
              <a:rPr lang="zh-CN" altLang="en-US"/>
              <a:t>文件位置指针</a:t>
            </a:r>
            <a:endParaRPr lang="zh-CN" altLang="en-US"/>
          </a:p>
          <a:p>
            <a:pPr lvl="1"/>
            <a:r>
              <a:rPr lang="zh-CN" altLang="en-US"/>
              <a:t>文件型数据结构中，用文件位置指针指向当前对文件进行读写操作的位置。</a:t>
            </a:r>
            <a:endParaRPr lang="zh-CN" altLang="en-US"/>
          </a:p>
          <a:p>
            <a:pPr lvl="2"/>
            <a:r>
              <a:rPr lang="zh-CN" altLang="en-US"/>
              <a:t>在文件打开时，该指针总是指向文件的第一个字节。读写文件时，每读写一个字符后，该位置指针的值会自动加</a:t>
            </a:r>
            <a:r>
              <a:rPr lang="en-US" altLang="zh-CN"/>
              <a:t>1</a:t>
            </a:r>
            <a:r>
              <a:rPr lang="zh-CN" altLang="en-US"/>
              <a:t>，指向下一个字符。</a:t>
            </a:r>
            <a:endParaRPr lang="zh-CN" altLang="en-US"/>
          </a:p>
          <a:p>
            <a:pPr lvl="2"/>
            <a:r>
              <a:rPr lang="zh-CN" altLang="en-US"/>
              <a:t>改变位置指针的值，也就改变了下一次读写操作在文件中执行时的位置。</a:t>
            </a:r>
            <a:endParaRPr lang="zh-CN" altLang="en-US"/>
          </a:p>
        </p:txBody>
      </p:sp>
      <p:sp>
        <p:nvSpPr>
          <p:cNvPr id="1356805" name="AutoShape 5"/>
          <p:cNvSpPr>
            <a:spLocks noChangeArrowheads="1"/>
          </p:cNvSpPr>
          <p:nvPr/>
        </p:nvSpPr>
        <p:spPr bwMode="auto">
          <a:xfrm>
            <a:off x="2820988" y="4086225"/>
            <a:ext cx="1285875" cy="2265363"/>
          </a:xfrm>
          <a:prstGeom prst="foldedCorner">
            <a:avLst>
              <a:gd name="adj" fmla="val 6972"/>
            </a:avLst>
          </a:prstGeom>
          <a:solidFill>
            <a:schemeClr val="bg1"/>
          </a:solidFill>
          <a:ln w="9525">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06" name="Rectangle 6"/>
          <p:cNvSpPr>
            <a:spLocks noChangeArrowheads="1"/>
          </p:cNvSpPr>
          <p:nvPr/>
        </p:nvSpPr>
        <p:spPr bwMode="auto">
          <a:xfrm>
            <a:off x="2898775" y="4173538"/>
            <a:ext cx="1119188" cy="165100"/>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07" name="Rectangle 7"/>
          <p:cNvSpPr>
            <a:spLocks noChangeArrowheads="1"/>
          </p:cNvSpPr>
          <p:nvPr/>
        </p:nvSpPr>
        <p:spPr bwMode="auto">
          <a:xfrm>
            <a:off x="2898775" y="4389438"/>
            <a:ext cx="1119188" cy="165100"/>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08" name="Rectangle 8"/>
          <p:cNvSpPr>
            <a:spLocks noChangeArrowheads="1"/>
          </p:cNvSpPr>
          <p:nvPr/>
        </p:nvSpPr>
        <p:spPr bwMode="auto">
          <a:xfrm>
            <a:off x="2898775" y="4605338"/>
            <a:ext cx="1119188" cy="165100"/>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09" name="Rectangle 9"/>
          <p:cNvSpPr>
            <a:spLocks noChangeArrowheads="1"/>
          </p:cNvSpPr>
          <p:nvPr/>
        </p:nvSpPr>
        <p:spPr bwMode="auto">
          <a:xfrm>
            <a:off x="2898775" y="4821238"/>
            <a:ext cx="1119188" cy="165100"/>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0" name="Rectangle 10"/>
          <p:cNvSpPr>
            <a:spLocks noChangeArrowheads="1"/>
          </p:cNvSpPr>
          <p:nvPr/>
        </p:nvSpPr>
        <p:spPr bwMode="auto">
          <a:xfrm>
            <a:off x="2898775" y="5037138"/>
            <a:ext cx="1119188" cy="165100"/>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1" name="Rectangle 11"/>
          <p:cNvSpPr>
            <a:spLocks noChangeArrowheads="1"/>
          </p:cNvSpPr>
          <p:nvPr/>
        </p:nvSpPr>
        <p:spPr bwMode="auto">
          <a:xfrm>
            <a:off x="2898775" y="5253038"/>
            <a:ext cx="1119188" cy="165100"/>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2" name="Rectangle 12"/>
          <p:cNvSpPr>
            <a:spLocks noChangeArrowheads="1"/>
          </p:cNvSpPr>
          <p:nvPr/>
        </p:nvSpPr>
        <p:spPr bwMode="auto">
          <a:xfrm>
            <a:off x="2898775" y="5468938"/>
            <a:ext cx="1119188" cy="165100"/>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3" name="Rectangle 13"/>
          <p:cNvSpPr>
            <a:spLocks noChangeArrowheads="1"/>
          </p:cNvSpPr>
          <p:nvPr/>
        </p:nvSpPr>
        <p:spPr bwMode="auto">
          <a:xfrm>
            <a:off x="2898775" y="5684838"/>
            <a:ext cx="1119188" cy="165100"/>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4" name="Rectangle 14"/>
          <p:cNvSpPr>
            <a:spLocks noChangeArrowheads="1"/>
          </p:cNvSpPr>
          <p:nvPr/>
        </p:nvSpPr>
        <p:spPr bwMode="auto">
          <a:xfrm>
            <a:off x="2898775" y="5900738"/>
            <a:ext cx="1119188" cy="165100"/>
          </a:xfrm>
          <a:prstGeom prst="rect">
            <a:avLst/>
          </a:prstGeom>
          <a:solidFill>
            <a:srgbClr val="CCFFFF"/>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6815" name="Line 15"/>
          <p:cNvSpPr>
            <a:spLocks noChangeShapeType="1"/>
          </p:cNvSpPr>
          <p:nvPr/>
        </p:nvSpPr>
        <p:spPr bwMode="auto">
          <a:xfrm flipH="1">
            <a:off x="4132263" y="4689475"/>
            <a:ext cx="536575" cy="0"/>
          </a:xfrm>
          <a:prstGeom prst="line">
            <a:avLst/>
          </a:prstGeom>
          <a:noFill/>
          <a:ln w="38100">
            <a:solidFill>
              <a:srgbClr val="9933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6816" name="Text Box 16"/>
          <p:cNvSpPr txBox="1">
            <a:spLocks noChangeArrowheads="1"/>
          </p:cNvSpPr>
          <p:nvPr/>
        </p:nvSpPr>
        <p:spPr bwMode="auto">
          <a:xfrm>
            <a:off x="4699000" y="4473575"/>
            <a:ext cx="1741488"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spcAft>
                <a:spcPts val="825"/>
              </a:spcAft>
            </a:pPr>
            <a:r>
              <a:rPr kumimoji="1" lang="zh-CN" altLang="en-US" sz="1600" b="1">
                <a:solidFill>
                  <a:srgbClr val="9933FF"/>
                </a:solidFill>
                <a:latin typeface="Times New Roman" panose="02020603050405020304" pitchFamily="18" charset="0"/>
              </a:rPr>
              <a:t>文件位置指针</a:t>
            </a:r>
            <a:endParaRPr kumimoji="1" lang="zh-CN" altLang="en-US" sz="1600" b="1">
              <a:solidFill>
                <a:srgbClr val="9933FF"/>
              </a:solidFill>
              <a:latin typeface="Times New Roman" panose="02020603050405020304" pitchFamily="18"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0418" name="Rectangle 2"/>
          <p:cNvSpPr>
            <a:spLocks noGrp="1" noChangeArrowheads="1"/>
          </p:cNvSpPr>
          <p:nvPr>
            <p:ph type="title"/>
          </p:nvPr>
        </p:nvSpPr>
        <p:spPr/>
        <p:txBody>
          <a:bodyPr/>
          <a:lstStyle/>
          <a:p>
            <a:r>
              <a:rPr lang="zh-CN" altLang="en-US" dirty="0">
                <a:latin typeface="华文新魏" panose="02010800040101010101" pitchFamily="2" charset="-122"/>
              </a:rPr>
              <a:t>文件指针 </a:t>
            </a:r>
            <a:r>
              <a:rPr lang="en-US" altLang="zh-CN" dirty="0"/>
              <a:t>FILE * </a:t>
            </a:r>
            <a:endParaRPr lang="zh-CN" altLang="en-US" dirty="0">
              <a:latin typeface="华文新魏" panose="02010800040101010101" pitchFamily="2" charset="-122"/>
            </a:endParaRPr>
          </a:p>
        </p:txBody>
      </p:sp>
      <p:sp>
        <p:nvSpPr>
          <p:cNvPr id="1340419" name="Rectangle 3"/>
          <p:cNvSpPr>
            <a:spLocks noGrp="1" noChangeArrowheads="1"/>
          </p:cNvSpPr>
          <p:nvPr>
            <p:ph idx="1"/>
          </p:nvPr>
        </p:nvSpPr>
        <p:spPr>
          <a:xfrm>
            <a:off x="432000" y="1342962"/>
            <a:ext cx="8280000" cy="5040000"/>
          </a:xfrm>
        </p:spPr>
        <p:txBody>
          <a:bodyPr>
            <a:normAutofit fontScale="92500" lnSpcReduction="10000"/>
          </a:bodyPr>
          <a:lstStyle/>
          <a:p>
            <a:r>
              <a:rPr lang="zh-CN" altLang="en-US" sz="2400" dirty="0"/>
              <a:t>文件信息结构体</a:t>
            </a:r>
            <a:endParaRPr lang="en-US" altLang="zh-CN" sz="2400" dirty="0"/>
          </a:p>
          <a:p>
            <a:pPr lvl="1"/>
            <a:r>
              <a:rPr lang="zh-CN" altLang="en-US" sz="2000" dirty="0"/>
              <a:t>每个被使用的文件都在内存中开辟一存储区存放其相关信息（如文件的名字、文件状态及文件当前读写位置等）</a:t>
            </a:r>
            <a:endParaRPr lang="en-US" altLang="zh-CN" sz="2000" dirty="0"/>
          </a:p>
          <a:p>
            <a:pPr lvl="1"/>
            <a:r>
              <a:rPr lang="zh-CN" altLang="en-US" sz="2000" dirty="0"/>
              <a:t>这些信息用一个结构体变量保存，该</a:t>
            </a:r>
            <a:r>
              <a:rPr lang="zh-CN" altLang="en-US" sz="2000" dirty="0">
                <a:solidFill>
                  <a:srgbClr val="FF00FF"/>
                </a:solidFill>
              </a:rPr>
              <a:t>结构体类型</a:t>
            </a:r>
            <a:r>
              <a:rPr lang="zh-CN" altLang="en-US" sz="2000" dirty="0"/>
              <a:t>的名字是 </a:t>
            </a:r>
            <a:r>
              <a:rPr lang="en-US" altLang="zh-CN" sz="2000" dirty="0">
                <a:solidFill>
                  <a:srgbClr val="FF00FF"/>
                </a:solidFill>
              </a:rPr>
              <a:t>FILE</a:t>
            </a:r>
            <a:r>
              <a:rPr lang="zh-CN" altLang="en-US" sz="2000" dirty="0">
                <a:solidFill>
                  <a:srgbClr val="FF00FF"/>
                </a:solidFill>
              </a:rPr>
              <a:t>，</a:t>
            </a:r>
            <a:r>
              <a:rPr lang="zh-CN" altLang="en-US" sz="2000" dirty="0"/>
              <a:t>由系统声明</a:t>
            </a:r>
            <a:endParaRPr lang="en-US" altLang="zh-CN" sz="2000" dirty="0"/>
          </a:p>
          <a:p>
            <a:r>
              <a:rPr lang="zh-CN" altLang="en-US" sz="2400" dirty="0"/>
              <a:t>文件指针</a:t>
            </a:r>
            <a:r>
              <a:rPr lang="zh-CN" altLang="en-US" sz="2000" dirty="0">
                <a:solidFill>
                  <a:srgbClr val="33CC33"/>
                </a:solidFill>
              </a:rPr>
              <a:t>（指向文件的指针）</a:t>
            </a:r>
            <a:endParaRPr lang="zh-CN" altLang="en-US" sz="2000" dirty="0">
              <a:solidFill>
                <a:srgbClr val="33CC33"/>
              </a:solidFill>
            </a:endParaRPr>
          </a:p>
          <a:p>
            <a:pPr lvl="1"/>
            <a:r>
              <a:rPr lang="zh-CN" altLang="en-US" sz="2000" dirty="0"/>
              <a:t>程序通过 </a:t>
            </a:r>
            <a:r>
              <a:rPr lang="en-US" altLang="zh-CN" sz="2000" dirty="0"/>
              <a:t>FILE</a:t>
            </a:r>
            <a:r>
              <a:rPr lang="zh-CN" altLang="en-US" sz="2000" dirty="0"/>
              <a:t>类型指针建立和文件的联系</a:t>
            </a:r>
            <a:endParaRPr lang="en-US" altLang="zh-CN" sz="2000" dirty="0"/>
          </a:p>
          <a:p>
            <a:pPr marL="397510" lvl="1" indent="0">
              <a:buNone/>
            </a:pPr>
            <a:r>
              <a:rPr lang="zh-CN" altLang="en-US" sz="2000" dirty="0"/>
              <a:t>进行关于文件的一切操作</a:t>
            </a:r>
            <a:endParaRPr lang="en-US" altLang="zh-CN" sz="2000" dirty="0"/>
          </a:p>
          <a:p>
            <a:pPr lvl="1"/>
            <a:r>
              <a:rPr lang="zh-CN" altLang="en-US" sz="2000" dirty="0"/>
              <a:t>定义形式：</a:t>
            </a:r>
            <a:endParaRPr lang="zh-CN" altLang="en-US" sz="2000" dirty="0"/>
          </a:p>
          <a:p>
            <a:pPr lvl="2">
              <a:buFont typeface="Wingdings" panose="05000000000000000000" pitchFamily="2" charset="2"/>
              <a:buNone/>
            </a:pPr>
            <a:r>
              <a:rPr lang="en-US" altLang="zh-CN" sz="1800" dirty="0">
                <a:solidFill>
                  <a:srgbClr val="FF0000"/>
                </a:solidFill>
              </a:rPr>
              <a:t>FILE *</a:t>
            </a:r>
            <a:r>
              <a:rPr lang="zh-CN" altLang="en-US" sz="1800" dirty="0">
                <a:solidFill>
                  <a:srgbClr val="FF0000"/>
                </a:solidFill>
              </a:rPr>
              <a:t>指针变量名</a:t>
            </a:r>
            <a:r>
              <a:rPr lang="en-US" altLang="zh-CN" sz="1800" dirty="0">
                <a:solidFill>
                  <a:srgbClr val="FF0000"/>
                </a:solidFill>
              </a:rPr>
              <a:t>;</a:t>
            </a:r>
            <a:r>
              <a:rPr lang="en-US" altLang="zh-CN" sz="1800" dirty="0"/>
              <a:t> </a:t>
            </a:r>
            <a:endParaRPr lang="en-US" altLang="zh-CN" sz="1800" dirty="0"/>
          </a:p>
          <a:p>
            <a:pPr lvl="1"/>
            <a:r>
              <a:rPr lang="zh-CN" altLang="en-US" sz="2000" dirty="0"/>
              <a:t>举例：</a:t>
            </a:r>
            <a:endParaRPr lang="zh-CN" altLang="en-US" sz="2000" dirty="0"/>
          </a:p>
          <a:p>
            <a:pPr lvl="2"/>
            <a:endParaRPr lang="en-US" altLang="zh-CN" sz="1800" dirty="0"/>
          </a:p>
          <a:p>
            <a:pPr lvl="2"/>
            <a:r>
              <a:rPr lang="zh-CN" altLang="en-US" sz="1800" dirty="0"/>
              <a:t>定义了一个结构体</a:t>
            </a:r>
            <a:r>
              <a:rPr lang="en-US" altLang="zh-CN" sz="1800" dirty="0"/>
              <a:t>FILE</a:t>
            </a:r>
            <a:r>
              <a:rPr lang="zh-CN" altLang="en-US" sz="1800" dirty="0"/>
              <a:t>类型的指针变量：</a:t>
            </a:r>
            <a:r>
              <a:rPr lang="en-US" altLang="zh-CN" sz="1800" dirty="0" err="1"/>
              <a:t>fp</a:t>
            </a:r>
            <a:r>
              <a:rPr lang="zh-CN" altLang="en-US" sz="1800" dirty="0"/>
              <a:t>。</a:t>
            </a:r>
            <a:endParaRPr lang="en-US" altLang="zh-CN" sz="1800" dirty="0"/>
          </a:p>
          <a:p>
            <a:pPr lvl="2"/>
            <a:r>
              <a:rPr lang="zh-CN" altLang="en-US" sz="1800" dirty="0"/>
              <a:t>可以使</a:t>
            </a:r>
            <a:r>
              <a:rPr lang="en-US" altLang="zh-CN" sz="1800" dirty="0" err="1"/>
              <a:t>fp</a:t>
            </a:r>
            <a:r>
              <a:rPr lang="zh-CN" altLang="en-US" sz="1800" dirty="0"/>
              <a:t>指向某一个文件的文件信息区，通过该文件信息区中的信息就能够访问该文件。也就是说，通过文件指针变量能够找到与它关联的文件。</a:t>
            </a:r>
            <a:endParaRPr lang="zh-CN" altLang="en-US" sz="1800" dirty="0"/>
          </a:p>
        </p:txBody>
      </p:sp>
      <p:sp>
        <p:nvSpPr>
          <p:cNvPr id="1340422" name="Text Box 6"/>
          <p:cNvSpPr txBox="1">
            <a:spLocks noChangeArrowheads="1"/>
          </p:cNvSpPr>
          <p:nvPr/>
        </p:nvSpPr>
        <p:spPr bwMode="auto">
          <a:xfrm>
            <a:off x="1955044" y="4735290"/>
            <a:ext cx="2323993" cy="357021"/>
          </a:xfrm>
          <a:prstGeom prst="rect">
            <a:avLst/>
          </a:prstGeom>
          <a:solidFill>
            <a:schemeClr val="bg1"/>
          </a:solidFill>
          <a:ln w="9525" algn="ctr">
            <a:solidFill>
              <a:schemeClr val="hlink"/>
            </a:solidFill>
            <a:miter lim="800000"/>
          </a:ln>
          <a:effectLst>
            <a:outerShdw dist="107763" dir="2700000" algn="ctr" rotWithShape="0">
              <a:schemeClr val="bg2">
                <a:alpha val="50000"/>
              </a:schemeClr>
            </a:outerShdw>
          </a:effectLst>
        </p:spPr>
        <p:txBody>
          <a:bodyPr wrap="square">
            <a:spAutoFit/>
          </a:bodyPr>
          <a:lstStyle/>
          <a:p>
            <a:pPr>
              <a:lnSpc>
                <a:spcPct val="110000"/>
              </a:lnSpc>
            </a:pPr>
            <a:r>
              <a:rPr kumimoji="1" lang="en-US" altLang="zh-CN" sz="1600" b="1" dirty="0">
                <a:latin typeface="Courier New" panose="02070309020205020404" pitchFamily="49" charset="0"/>
              </a:rPr>
              <a:t>FILE *fp1, *fp2;</a:t>
            </a:r>
            <a:endParaRPr kumimoji="1" lang="en-US" altLang="zh-CN" sz="1600" b="1" dirty="0">
              <a:latin typeface="Courier New" panose="02070309020205020404" pitchFamily="49" charset="0"/>
            </a:endParaRPr>
          </a:p>
        </p:txBody>
      </p:sp>
      <p:pic>
        <p:nvPicPr>
          <p:cNvPr id="2" name="图片 1"/>
          <p:cNvPicPr>
            <a:picLocks noChangeAspect="1"/>
          </p:cNvPicPr>
          <p:nvPr/>
        </p:nvPicPr>
        <p:blipFill>
          <a:blip r:embed="rId1"/>
          <a:stretch>
            <a:fillRect/>
          </a:stretch>
        </p:blipFill>
        <p:spPr>
          <a:xfrm>
            <a:off x="6029143" y="2684128"/>
            <a:ext cx="2656225" cy="28309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5" name="Rectangle 3"/>
          <p:cNvSpPr>
            <a:spLocks noChangeArrowheads="1"/>
          </p:cNvSpPr>
          <p:nvPr/>
        </p:nvSpPr>
        <p:spPr bwMode="auto">
          <a:xfrm>
            <a:off x="323850" y="1557338"/>
            <a:ext cx="8423275" cy="46799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lgn="ctr" eaLnBrk="0" hangingPunct="0">
              <a:spcBef>
                <a:spcPct val="50000"/>
              </a:spcBef>
              <a:defRPr b="1">
                <a:solidFill>
                  <a:schemeClr val="tx1"/>
                </a:solidFill>
                <a:latin typeface="Garamond" panose="02020404030301010803" pitchFamily="18" charset="0"/>
                <a:ea typeface="宋体" panose="02010600030101010101" pitchFamily="2" charset="-122"/>
              </a:defRPr>
            </a:lvl1pPr>
            <a:lvl2pPr marL="742950" indent="-285750" algn="ctr" eaLnBrk="0" hangingPunct="0">
              <a:spcBef>
                <a:spcPct val="50000"/>
              </a:spcBef>
              <a:defRPr b="1">
                <a:solidFill>
                  <a:schemeClr val="tx1"/>
                </a:solidFill>
                <a:latin typeface="Garamond" panose="02020404030301010803" pitchFamily="18" charset="0"/>
                <a:ea typeface="宋体" panose="02010600030101010101" pitchFamily="2" charset="-122"/>
              </a:defRPr>
            </a:lvl2pPr>
            <a:lvl3pPr marL="11430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3pPr>
            <a:lvl4pPr marL="16002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4pPr>
            <a:lvl5pPr marL="20574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5pPr>
            <a:lvl6pPr marL="25146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6pPr>
            <a:lvl7pPr marL="29718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7pPr>
            <a:lvl8pPr marL="34290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8pPr>
            <a:lvl9pPr marL="38862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9pPr>
          </a:lstStyle>
          <a:p>
            <a:pPr algn="l" eaLnBrk="1" hangingPunct="1">
              <a:spcBef>
                <a:spcPct val="0"/>
              </a:spcBef>
            </a:pPr>
            <a:endParaRPr lang="en-US" altLang="en-US" sz="2400" b="0">
              <a:latin typeface="Times New Roman" panose="02020603050405020304" pitchFamily="18" charset="0"/>
            </a:endParaRPr>
          </a:p>
        </p:txBody>
      </p:sp>
      <p:sp>
        <p:nvSpPr>
          <p:cNvPr id="41988" name="Rectangle 4"/>
          <p:cNvSpPr>
            <a:spLocks noChangeArrowheads="1"/>
          </p:cNvSpPr>
          <p:nvPr/>
        </p:nvSpPr>
        <p:spPr bwMode="auto">
          <a:xfrm>
            <a:off x="560278" y="1117362"/>
            <a:ext cx="8424863" cy="651236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lgn="ctr" eaLnBrk="0" hangingPunct="0">
              <a:spcBef>
                <a:spcPct val="50000"/>
              </a:spcBef>
              <a:defRPr b="1">
                <a:solidFill>
                  <a:schemeClr val="tx1"/>
                </a:solidFill>
                <a:latin typeface="Garamond" panose="02020404030301010803" pitchFamily="18" charset="0"/>
                <a:ea typeface="宋体" panose="02010600030101010101" pitchFamily="2" charset="-122"/>
              </a:defRPr>
            </a:lvl1pPr>
            <a:lvl2pPr marL="742950" indent="-285750" algn="ctr" eaLnBrk="0" hangingPunct="0">
              <a:spcBef>
                <a:spcPct val="50000"/>
              </a:spcBef>
              <a:defRPr b="1">
                <a:solidFill>
                  <a:schemeClr val="tx1"/>
                </a:solidFill>
                <a:latin typeface="Garamond" panose="02020404030301010803" pitchFamily="18" charset="0"/>
                <a:ea typeface="宋体" panose="02010600030101010101" pitchFamily="2" charset="-122"/>
              </a:defRPr>
            </a:lvl2pPr>
            <a:lvl3pPr marL="11430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3pPr>
            <a:lvl4pPr marL="16002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4pPr>
            <a:lvl5pPr marL="20574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5pPr>
            <a:lvl6pPr marL="25146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6pPr>
            <a:lvl7pPr marL="29718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7pPr>
            <a:lvl8pPr marL="34290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8pPr>
            <a:lvl9pPr marL="38862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9pPr>
          </a:lstStyle>
          <a:p>
            <a:pPr algn="l" eaLnBrk="1" hangingPunct="1">
              <a:lnSpc>
                <a:spcPct val="125000"/>
              </a:lnSpc>
              <a:spcBef>
                <a:spcPct val="0"/>
              </a:spcBef>
            </a:pPr>
            <a:r>
              <a:rPr kumimoji="1" lang="zh-CN" altLang="en-US" sz="2400" u="sng" dirty="0">
                <a:solidFill>
                  <a:srgbClr val="CC0000"/>
                </a:solidFill>
                <a:latin typeface="Times New Roman" panose="02020603050405020304" pitchFamily="18" charset="0"/>
              </a:rPr>
              <a:t>分类                  函数名       功能                              	</a:t>
            </a:r>
            <a:endParaRPr kumimoji="1" lang="zh-CN" altLang="en-US" sz="2400" u="sng" dirty="0">
              <a:solidFill>
                <a:srgbClr val="CC0000"/>
              </a:solidFill>
              <a:latin typeface="Times New Roman" panose="02020603050405020304" pitchFamily="18" charset="0"/>
            </a:endParaRPr>
          </a:p>
          <a:p>
            <a:pPr algn="l" eaLnBrk="1" hangingPunct="1">
              <a:lnSpc>
                <a:spcPct val="125000"/>
              </a:lnSpc>
              <a:spcBef>
                <a:spcPct val="0"/>
              </a:spcBef>
            </a:pPr>
            <a:r>
              <a:rPr kumimoji="1" lang="en-US" altLang="zh-CN" sz="2400" dirty="0">
                <a:latin typeface="Times New Roman" panose="02020603050405020304" pitchFamily="18" charset="0"/>
              </a:rPr>
              <a:t>1. </a:t>
            </a:r>
            <a:r>
              <a:rPr kumimoji="1" lang="zh-CN" altLang="en-US" sz="2400" dirty="0">
                <a:latin typeface="Times New Roman" panose="02020603050405020304" pitchFamily="18" charset="0"/>
              </a:rPr>
              <a:t>文本文件    </a:t>
            </a:r>
            <a:r>
              <a:rPr kumimoji="1" lang="en-US" altLang="zh-CN" sz="2400" dirty="0" err="1">
                <a:latin typeface="Times New Roman" panose="02020603050405020304" pitchFamily="18" charset="0"/>
              </a:rPr>
              <a:t>fscanf</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从指定文件按格式输入数据</a:t>
            </a:r>
            <a:endParaRPr kumimoji="1" lang="zh-CN" altLang="en-US" sz="2400" dirty="0">
              <a:latin typeface="Times New Roman" panose="02020603050405020304" pitchFamily="18" charset="0"/>
            </a:endParaRPr>
          </a:p>
          <a:p>
            <a:pPr algn="l" eaLnBrk="1" hangingPunct="1">
              <a:lnSpc>
                <a:spcPct val="125000"/>
              </a:lnSpc>
              <a:spcBef>
                <a:spcPct val="0"/>
              </a:spcBef>
            </a:pPr>
            <a:r>
              <a:rPr kumimoji="1" lang="zh-CN" altLang="en-US" sz="2400" dirty="0">
                <a:latin typeface="Times New Roman" panose="02020603050405020304" pitchFamily="18" charset="0"/>
              </a:rPr>
              <a:t>读写</a:t>
            </a: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fprintf</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按指定格式将数据写到指定文件中</a:t>
            </a:r>
            <a:endParaRPr kumimoji="1" lang="en-US" altLang="zh-CN" sz="2400" dirty="0">
              <a:latin typeface="Times New Roman" panose="02020603050405020304" pitchFamily="18" charset="0"/>
            </a:endParaRPr>
          </a:p>
          <a:p>
            <a:pPr algn="l" eaLnBrk="1" hangingPunct="1">
              <a:lnSpc>
                <a:spcPct val="125000"/>
              </a:lnSpc>
              <a:spcBef>
                <a:spcPct val="0"/>
              </a:spcBef>
            </a:pPr>
            <a:r>
              <a:rPr kumimoji="1" lang="zh-CN" altLang="en-US" sz="2400" dirty="0">
                <a:latin typeface="Times New Roman" panose="02020603050405020304" pitchFamily="18" charset="0"/>
              </a:rPr>
              <a:t>                        </a:t>
            </a:r>
            <a:r>
              <a:rPr kumimoji="1" lang="en-US" altLang="zh-CN" sz="2400" dirty="0" err="1">
                <a:latin typeface="Times New Roman" panose="02020603050405020304" pitchFamily="18" charset="0"/>
              </a:rPr>
              <a:t>fgets</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从指定文件读取字符串</a:t>
            </a:r>
            <a:endParaRPr kumimoji="1" lang="zh-CN" altLang="en-US" sz="2400" dirty="0">
              <a:latin typeface="Times New Roman" panose="02020603050405020304" pitchFamily="18" charset="0"/>
            </a:endParaRPr>
          </a:p>
          <a:p>
            <a:pPr algn="l" eaLnBrk="1" hangingPunct="1">
              <a:lnSpc>
                <a:spcPct val="125000"/>
              </a:lnSpc>
              <a:spcBef>
                <a:spcPct val="0"/>
              </a:spcBef>
            </a:pP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fputs</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把字符串输出到指定文件</a:t>
            </a:r>
            <a:endParaRPr kumimoji="1" lang="en-US" altLang="zh-CN" sz="2400" dirty="0">
              <a:latin typeface="Times New Roman" panose="02020603050405020304" pitchFamily="18" charset="0"/>
            </a:endParaRPr>
          </a:p>
          <a:p>
            <a:pPr algn="l" eaLnBrk="1" hangingPunct="1">
              <a:lnSpc>
                <a:spcPct val="125000"/>
              </a:lnSpc>
              <a:spcBef>
                <a:spcPct val="0"/>
              </a:spcBef>
            </a:pP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fgetc</a:t>
            </a:r>
            <a:r>
              <a:rPr kumimoji="1" lang="en-US" altLang="zh-CN" sz="2400" dirty="0">
                <a:latin typeface="Times New Roman" panose="02020603050405020304" pitchFamily="18" charset="0"/>
              </a:rPr>
              <a:t>(),</a:t>
            </a:r>
            <a:r>
              <a:rPr kumimoji="1" lang="en-US" altLang="zh-CN" sz="2400" dirty="0" err="1">
                <a:latin typeface="Times New Roman" panose="02020603050405020304" pitchFamily="18" charset="0"/>
              </a:rPr>
              <a:t>getc</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从指定文件取得一个字符          </a:t>
            </a:r>
            <a:endParaRPr kumimoji="1" lang="zh-CN" altLang="en-US" sz="2400" dirty="0">
              <a:latin typeface="Times New Roman" panose="02020603050405020304" pitchFamily="18" charset="0"/>
            </a:endParaRPr>
          </a:p>
          <a:p>
            <a:pPr algn="l" eaLnBrk="1" hangingPunct="1">
              <a:lnSpc>
                <a:spcPct val="125000"/>
              </a:lnSpc>
              <a:spcBef>
                <a:spcPct val="0"/>
              </a:spcBef>
            </a:pPr>
            <a:r>
              <a:rPr kumimoji="1" lang="zh-CN" altLang="en-US" sz="2400" dirty="0">
                <a:latin typeface="Times New Roman" panose="02020603050405020304" pitchFamily="18" charset="0"/>
              </a:rPr>
              <a:t>                        </a:t>
            </a:r>
            <a:r>
              <a:rPr kumimoji="1" lang="en-US" altLang="zh-CN" sz="2400" dirty="0" err="1">
                <a:latin typeface="Times New Roman" panose="02020603050405020304" pitchFamily="18" charset="0"/>
              </a:rPr>
              <a:t>fputc</a:t>
            </a:r>
            <a:r>
              <a:rPr kumimoji="1" lang="en-US" altLang="zh-CN" sz="2400" dirty="0">
                <a:latin typeface="Times New Roman" panose="02020603050405020304" pitchFamily="18" charset="0"/>
              </a:rPr>
              <a:t>(),</a:t>
            </a:r>
            <a:r>
              <a:rPr kumimoji="1" lang="en-US" altLang="zh-CN" sz="2400" dirty="0" err="1">
                <a:latin typeface="Times New Roman" panose="02020603050405020304" pitchFamily="18" charset="0"/>
              </a:rPr>
              <a:t>putc</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把字符输出到指定文件</a:t>
            </a:r>
            <a:endParaRPr kumimoji="1" lang="zh-CN" altLang="en-US" sz="2400" dirty="0">
              <a:latin typeface="Times New Roman" panose="02020603050405020304" pitchFamily="18" charset="0"/>
            </a:endParaRPr>
          </a:p>
          <a:p>
            <a:pPr algn="l" eaLnBrk="1" hangingPunct="1">
              <a:lnSpc>
                <a:spcPct val="125000"/>
              </a:lnSpc>
              <a:spcBef>
                <a:spcPct val="0"/>
              </a:spcBef>
            </a:pPr>
            <a:endParaRPr kumimoji="1" lang="en-US" altLang="zh-CN" sz="2400" dirty="0">
              <a:latin typeface="Times New Roman" panose="02020603050405020304" pitchFamily="18" charset="0"/>
            </a:endParaRPr>
          </a:p>
          <a:p>
            <a:pPr algn="l" eaLnBrk="1" hangingPunct="1">
              <a:lnSpc>
                <a:spcPct val="125000"/>
              </a:lnSpc>
              <a:spcBef>
                <a:spcPct val="0"/>
              </a:spcBef>
            </a:pPr>
            <a:r>
              <a:rPr kumimoji="1" lang="en-US" altLang="zh-CN" sz="2400" dirty="0">
                <a:latin typeface="Times New Roman" panose="02020603050405020304" pitchFamily="18" charset="0"/>
              </a:rPr>
              <a:t>2. </a:t>
            </a:r>
            <a:r>
              <a:rPr kumimoji="1" lang="zh-CN" altLang="en-US" sz="2400" dirty="0">
                <a:latin typeface="Times New Roman" panose="02020603050405020304" pitchFamily="18" charset="0"/>
              </a:rPr>
              <a:t>二进制</a:t>
            </a: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fread</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从指定文件中读取数据项</a:t>
            </a:r>
            <a:endParaRPr kumimoji="1" lang="en-US" altLang="zh-CN" sz="2400" dirty="0">
              <a:latin typeface="Times New Roman" panose="02020603050405020304" pitchFamily="18" charset="0"/>
            </a:endParaRPr>
          </a:p>
          <a:p>
            <a:pPr algn="l" eaLnBrk="1" hangingPunct="1">
              <a:lnSpc>
                <a:spcPct val="125000"/>
              </a:lnSpc>
              <a:spcBef>
                <a:spcPct val="0"/>
              </a:spcBef>
            </a:pPr>
            <a:r>
              <a:rPr kumimoji="1" lang="zh-CN" altLang="en-US" sz="2400" dirty="0">
                <a:latin typeface="Times New Roman" panose="02020603050405020304" pitchFamily="18" charset="0"/>
              </a:rPr>
              <a:t>文件</a:t>
            </a:r>
            <a:r>
              <a:rPr kumimoji="1" lang="en-US" altLang="zh-CN" sz="2400" dirty="0">
                <a:latin typeface="Times New Roman" panose="02020603050405020304" pitchFamily="18" charset="0"/>
              </a:rPr>
              <a:t>		</a:t>
            </a:r>
            <a:r>
              <a:rPr kumimoji="1" lang="en-US" altLang="zh-CN" sz="2400" dirty="0" err="1">
                <a:latin typeface="Times New Roman" panose="02020603050405020304" pitchFamily="18" charset="0"/>
              </a:rPr>
              <a:t>fwrite</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把数据项写到指定文件中</a:t>
            </a:r>
            <a:endParaRPr kumimoji="1" lang="zh-CN" altLang="en-US" sz="2400" dirty="0">
              <a:latin typeface="Times New Roman" panose="02020603050405020304" pitchFamily="18" charset="0"/>
            </a:endParaRPr>
          </a:p>
          <a:p>
            <a:pPr algn="l" eaLnBrk="1" hangingPunct="1">
              <a:lnSpc>
                <a:spcPct val="125000"/>
              </a:lnSpc>
              <a:spcBef>
                <a:spcPct val="0"/>
              </a:spcBef>
            </a:pPr>
            <a:r>
              <a:rPr kumimoji="1" lang="zh-CN" altLang="en-US" sz="2400" dirty="0">
                <a:latin typeface="Times New Roman" panose="02020603050405020304" pitchFamily="18" charset="0"/>
              </a:rPr>
              <a:t>读写</a:t>
            </a:r>
            <a:endParaRPr kumimoji="1" lang="en-US" altLang="zh-CN" sz="2400" dirty="0">
              <a:latin typeface="Times New Roman" panose="02020603050405020304" pitchFamily="18" charset="0"/>
            </a:endParaRPr>
          </a:p>
          <a:p>
            <a:pPr algn="l" eaLnBrk="1" hangingPunct="1">
              <a:lnSpc>
                <a:spcPct val="125000"/>
              </a:lnSpc>
              <a:spcBef>
                <a:spcPct val="0"/>
              </a:spcBef>
            </a:pPr>
            <a:r>
              <a:rPr kumimoji="1" lang="en-US" altLang="zh-CN" sz="2400" dirty="0">
                <a:latin typeface="Times New Roman" panose="02020603050405020304" pitchFamily="18" charset="0"/>
              </a:rPr>
              <a:t>		</a:t>
            </a:r>
            <a:endParaRPr kumimoji="1" lang="zh-CN" altLang="en-US" sz="2400" dirty="0">
              <a:latin typeface="Times New Roman" panose="02020603050405020304" pitchFamily="18" charset="0"/>
            </a:endParaRPr>
          </a:p>
          <a:p>
            <a:pPr algn="l" eaLnBrk="1" hangingPunct="1">
              <a:lnSpc>
                <a:spcPct val="125000"/>
              </a:lnSpc>
              <a:spcBef>
                <a:spcPct val="0"/>
              </a:spcBef>
            </a:pPr>
            <a:endParaRPr kumimoji="1" lang="zh-CN" altLang="en-US" sz="2400" dirty="0">
              <a:latin typeface="Times New Roman" panose="02020603050405020304" pitchFamily="18" charset="0"/>
            </a:endParaRPr>
          </a:p>
          <a:p>
            <a:pPr algn="l" eaLnBrk="1" hangingPunct="1">
              <a:lnSpc>
                <a:spcPct val="125000"/>
              </a:lnSpc>
              <a:spcBef>
                <a:spcPct val="0"/>
              </a:spcBef>
            </a:pPr>
            <a:endParaRPr kumimoji="1" lang="zh-CN" altLang="en-US" sz="2400" dirty="0">
              <a:latin typeface="Times New Roman" panose="02020603050405020304" pitchFamily="18" charset="0"/>
            </a:endParaRPr>
          </a:p>
        </p:txBody>
      </p:sp>
      <p:sp>
        <p:nvSpPr>
          <p:cNvPr id="5" name="标题 4"/>
          <p:cNvSpPr>
            <a:spLocks noGrp="1"/>
          </p:cNvSpPr>
          <p:nvPr>
            <p:ph type="title"/>
          </p:nvPr>
        </p:nvSpPr>
        <p:spPr/>
        <p:txBody>
          <a:bodyPr>
            <a:normAutofit/>
          </a:bodyPr>
          <a:lstStyle/>
          <a:p>
            <a:r>
              <a:rPr lang="zh-CN" altLang="en-US" dirty="0"/>
              <a:t>文件读写操作函数一览表</a:t>
            </a:r>
            <a:endParaRPr 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文本文件读写库函数</a:t>
            </a:r>
            <a:endParaRPr lang="zh-CN" altLang="en-US" dirty="0"/>
          </a:p>
        </p:txBody>
      </p:sp>
      <p:sp>
        <p:nvSpPr>
          <p:cNvPr id="2" name="内容占位符 1"/>
          <p:cNvSpPr>
            <a:spLocks noGrp="1"/>
          </p:cNvSpPr>
          <p:nvPr>
            <p:ph idx="1"/>
          </p:nvPr>
        </p:nvSpPr>
        <p:spPr/>
        <p:txBody>
          <a:bodyPr>
            <a:normAutofit/>
          </a:bodyPr>
          <a:lstStyle/>
          <a:p>
            <a:endParaRPr lang="en-US" altLang="zh-CN" sz="2400" dirty="0"/>
          </a:p>
          <a:p>
            <a:endParaRPr lang="en-US" altLang="zh-CN" sz="2400" dirty="0"/>
          </a:p>
          <a:p>
            <a:endParaRPr lang="en-US" altLang="zh-CN" sz="2400" dirty="0"/>
          </a:p>
          <a:p>
            <a:endParaRPr lang="en-US" altLang="zh-CN" sz="2400" dirty="0"/>
          </a:p>
          <a:p>
            <a:endParaRPr lang="en-US" altLang="zh-CN" sz="2400" dirty="0"/>
          </a:p>
        </p:txBody>
      </p:sp>
      <p:graphicFrame>
        <p:nvGraphicFramePr>
          <p:cNvPr id="4" name="表格 3"/>
          <p:cNvGraphicFramePr>
            <a:graphicFrameLocks noGrp="1"/>
          </p:cNvGraphicFramePr>
          <p:nvPr/>
        </p:nvGraphicFramePr>
        <p:xfrm>
          <a:off x="142551" y="3536580"/>
          <a:ext cx="8882309" cy="2456661"/>
        </p:xfrm>
        <a:graphic>
          <a:graphicData uri="http://schemas.openxmlformats.org/drawingml/2006/table">
            <a:tbl>
              <a:tblPr firstRow="1" bandRow="1"/>
              <a:tblGrid>
                <a:gridCol w="1838237"/>
                <a:gridCol w="3106800"/>
                <a:gridCol w="3937272"/>
              </a:tblGrid>
              <a:tr h="360040">
                <a:tc>
                  <a:txBody>
                    <a:bodyPr/>
                    <a:lstStyle>
                      <a:lvl1pPr marL="0" algn="l" defTabSz="685800" rtl="0" eaLnBrk="1" latinLnBrk="0" hangingPunct="1">
                        <a:defRPr sz="1350" b="1" kern="1200">
                          <a:solidFill>
                            <a:schemeClr val="lt1"/>
                          </a:solidFill>
                          <a:latin typeface="等线" panose="02010600030101010101" charset="-122"/>
                        </a:defRPr>
                      </a:lvl1pPr>
                      <a:lvl2pPr marL="342900" algn="l" defTabSz="685800" rtl="0" eaLnBrk="1" latinLnBrk="0" hangingPunct="1">
                        <a:defRPr sz="1350" b="1" kern="1200">
                          <a:solidFill>
                            <a:schemeClr val="lt1"/>
                          </a:solidFill>
                          <a:latin typeface="等线" panose="02010600030101010101" charset="-122"/>
                        </a:defRPr>
                      </a:lvl2pPr>
                      <a:lvl3pPr marL="685800" algn="l" defTabSz="685800" rtl="0" eaLnBrk="1" latinLnBrk="0" hangingPunct="1">
                        <a:defRPr sz="1350" b="1" kern="1200">
                          <a:solidFill>
                            <a:schemeClr val="lt1"/>
                          </a:solidFill>
                          <a:latin typeface="等线" panose="02010600030101010101" charset="-122"/>
                        </a:defRPr>
                      </a:lvl3pPr>
                      <a:lvl4pPr marL="1028700" algn="l" defTabSz="685800" rtl="0" eaLnBrk="1" latinLnBrk="0" hangingPunct="1">
                        <a:defRPr sz="1350" b="1" kern="1200">
                          <a:solidFill>
                            <a:schemeClr val="lt1"/>
                          </a:solidFill>
                          <a:latin typeface="等线" panose="02010600030101010101" charset="-122"/>
                        </a:defRPr>
                      </a:lvl4pPr>
                      <a:lvl5pPr marL="1371600" algn="l" defTabSz="685800" rtl="0" eaLnBrk="1" latinLnBrk="0" hangingPunct="1">
                        <a:defRPr sz="1350" b="1" kern="1200">
                          <a:solidFill>
                            <a:schemeClr val="lt1"/>
                          </a:solidFill>
                          <a:latin typeface="等线" panose="02010600030101010101" charset="-122"/>
                        </a:defRPr>
                      </a:lvl5pPr>
                      <a:lvl6pPr marL="1714500" algn="l" defTabSz="685800" rtl="0" eaLnBrk="1" latinLnBrk="0" hangingPunct="1">
                        <a:defRPr sz="1350" b="1" kern="1200">
                          <a:solidFill>
                            <a:schemeClr val="lt1"/>
                          </a:solidFill>
                          <a:latin typeface="等线" panose="02010600030101010101" charset="-122"/>
                        </a:defRPr>
                      </a:lvl6pPr>
                      <a:lvl7pPr marL="2057400" algn="l" defTabSz="685800" rtl="0" eaLnBrk="1" latinLnBrk="0" hangingPunct="1">
                        <a:defRPr sz="1350" b="1" kern="1200">
                          <a:solidFill>
                            <a:schemeClr val="lt1"/>
                          </a:solidFill>
                          <a:latin typeface="等线" panose="02010600030101010101" charset="-122"/>
                        </a:defRPr>
                      </a:lvl7pPr>
                      <a:lvl8pPr marL="2400300" algn="l" defTabSz="685800" rtl="0" eaLnBrk="1" latinLnBrk="0" hangingPunct="1">
                        <a:defRPr sz="1350" b="1" kern="1200">
                          <a:solidFill>
                            <a:schemeClr val="lt1"/>
                          </a:solidFill>
                          <a:latin typeface="等线" panose="02010600030101010101" charset="-122"/>
                        </a:defRPr>
                      </a:lvl8pPr>
                      <a:lvl9pPr marL="2743200" algn="l" defTabSz="685800" rtl="0" eaLnBrk="1" latinLnBrk="0" hangingPunct="1">
                        <a:defRPr sz="1350" b="1" kern="1200">
                          <a:solidFill>
                            <a:schemeClr val="lt1"/>
                          </a:solidFill>
                          <a:latin typeface="等线" panose="02010600030101010101" charset="-122"/>
                        </a:defRPr>
                      </a:lvl9pPr>
                    </a:lstStyle>
                    <a:p>
                      <a:pPr algn="ctr" fontAlgn="ctr">
                        <a:lnSpc>
                          <a:spcPct val="100000"/>
                        </a:lnSpc>
                      </a:pPr>
                      <a:r>
                        <a:rPr lang="zh-CN" altLang="en-US" sz="1800" u="none" strike="noStrike" dirty="0">
                          <a:effectLst/>
                        </a:rPr>
                        <a:t>函数调用形式</a:t>
                      </a:r>
                      <a:endParaRPr lang="zh-CN" altLang="en-US" sz="18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solidFill>
                  </a:tcPr>
                </a:tc>
                <a:tc>
                  <a:txBody>
                    <a:bodyPr/>
                    <a:lstStyle>
                      <a:lvl1pPr marL="0" algn="l" defTabSz="685800" rtl="0" eaLnBrk="1" latinLnBrk="0" hangingPunct="1">
                        <a:defRPr sz="1350" b="1" kern="1200">
                          <a:solidFill>
                            <a:schemeClr val="lt1"/>
                          </a:solidFill>
                          <a:latin typeface="等线" panose="02010600030101010101" charset="-122"/>
                        </a:defRPr>
                      </a:lvl1pPr>
                      <a:lvl2pPr marL="342900" algn="l" defTabSz="685800" rtl="0" eaLnBrk="1" latinLnBrk="0" hangingPunct="1">
                        <a:defRPr sz="1350" b="1" kern="1200">
                          <a:solidFill>
                            <a:schemeClr val="lt1"/>
                          </a:solidFill>
                          <a:latin typeface="等线" panose="02010600030101010101" charset="-122"/>
                        </a:defRPr>
                      </a:lvl2pPr>
                      <a:lvl3pPr marL="685800" algn="l" defTabSz="685800" rtl="0" eaLnBrk="1" latinLnBrk="0" hangingPunct="1">
                        <a:defRPr sz="1350" b="1" kern="1200">
                          <a:solidFill>
                            <a:schemeClr val="lt1"/>
                          </a:solidFill>
                          <a:latin typeface="等线" panose="02010600030101010101" charset="-122"/>
                        </a:defRPr>
                      </a:lvl3pPr>
                      <a:lvl4pPr marL="1028700" algn="l" defTabSz="685800" rtl="0" eaLnBrk="1" latinLnBrk="0" hangingPunct="1">
                        <a:defRPr sz="1350" b="1" kern="1200">
                          <a:solidFill>
                            <a:schemeClr val="lt1"/>
                          </a:solidFill>
                          <a:latin typeface="等线" panose="02010600030101010101" charset="-122"/>
                        </a:defRPr>
                      </a:lvl4pPr>
                      <a:lvl5pPr marL="1371600" algn="l" defTabSz="685800" rtl="0" eaLnBrk="1" latinLnBrk="0" hangingPunct="1">
                        <a:defRPr sz="1350" b="1" kern="1200">
                          <a:solidFill>
                            <a:schemeClr val="lt1"/>
                          </a:solidFill>
                          <a:latin typeface="等线" panose="02010600030101010101" charset="-122"/>
                        </a:defRPr>
                      </a:lvl5pPr>
                      <a:lvl6pPr marL="1714500" algn="l" defTabSz="685800" rtl="0" eaLnBrk="1" latinLnBrk="0" hangingPunct="1">
                        <a:defRPr sz="1350" b="1" kern="1200">
                          <a:solidFill>
                            <a:schemeClr val="lt1"/>
                          </a:solidFill>
                          <a:latin typeface="等线" panose="02010600030101010101" charset="-122"/>
                        </a:defRPr>
                      </a:lvl6pPr>
                      <a:lvl7pPr marL="2057400" algn="l" defTabSz="685800" rtl="0" eaLnBrk="1" latinLnBrk="0" hangingPunct="1">
                        <a:defRPr sz="1350" b="1" kern="1200">
                          <a:solidFill>
                            <a:schemeClr val="lt1"/>
                          </a:solidFill>
                          <a:latin typeface="等线" panose="02010600030101010101" charset="-122"/>
                        </a:defRPr>
                      </a:lvl7pPr>
                      <a:lvl8pPr marL="2400300" algn="l" defTabSz="685800" rtl="0" eaLnBrk="1" latinLnBrk="0" hangingPunct="1">
                        <a:defRPr sz="1350" b="1" kern="1200">
                          <a:solidFill>
                            <a:schemeClr val="lt1"/>
                          </a:solidFill>
                          <a:latin typeface="等线" panose="02010600030101010101" charset="-122"/>
                        </a:defRPr>
                      </a:lvl8pPr>
                      <a:lvl9pPr marL="2743200" algn="l" defTabSz="685800" rtl="0" eaLnBrk="1" latinLnBrk="0" hangingPunct="1">
                        <a:defRPr sz="1350" b="1" kern="1200">
                          <a:solidFill>
                            <a:schemeClr val="lt1"/>
                          </a:solidFill>
                          <a:latin typeface="等线" panose="02010600030101010101" charset="-122"/>
                        </a:defRPr>
                      </a:lvl9pPr>
                    </a:lstStyle>
                    <a:p>
                      <a:pPr algn="ctr" fontAlgn="ctr">
                        <a:lnSpc>
                          <a:spcPct val="100000"/>
                        </a:lnSpc>
                      </a:pPr>
                      <a:r>
                        <a:rPr lang="zh-CN" altLang="en-US" sz="1800" u="none" strike="noStrike" dirty="0">
                          <a:effectLst/>
                        </a:rPr>
                        <a:t>功能</a:t>
                      </a:r>
                      <a:endParaRPr lang="zh-CN" altLang="en-US" sz="18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tc>
                  <a:txBody>
                    <a:bodyPr/>
                    <a:lstStyle>
                      <a:lvl1pPr marL="0" algn="l" defTabSz="685800" rtl="0" eaLnBrk="1" latinLnBrk="0" hangingPunct="1">
                        <a:defRPr sz="1350" b="1" kern="1200">
                          <a:solidFill>
                            <a:schemeClr val="lt1"/>
                          </a:solidFill>
                          <a:latin typeface="等线" panose="02010600030101010101" charset="-122"/>
                        </a:defRPr>
                      </a:lvl1pPr>
                      <a:lvl2pPr marL="342900" algn="l" defTabSz="685800" rtl="0" eaLnBrk="1" latinLnBrk="0" hangingPunct="1">
                        <a:defRPr sz="1350" b="1" kern="1200">
                          <a:solidFill>
                            <a:schemeClr val="lt1"/>
                          </a:solidFill>
                          <a:latin typeface="等线" panose="02010600030101010101" charset="-122"/>
                        </a:defRPr>
                      </a:lvl2pPr>
                      <a:lvl3pPr marL="685800" algn="l" defTabSz="685800" rtl="0" eaLnBrk="1" latinLnBrk="0" hangingPunct="1">
                        <a:defRPr sz="1350" b="1" kern="1200">
                          <a:solidFill>
                            <a:schemeClr val="lt1"/>
                          </a:solidFill>
                          <a:latin typeface="等线" panose="02010600030101010101" charset="-122"/>
                        </a:defRPr>
                      </a:lvl3pPr>
                      <a:lvl4pPr marL="1028700" algn="l" defTabSz="685800" rtl="0" eaLnBrk="1" latinLnBrk="0" hangingPunct="1">
                        <a:defRPr sz="1350" b="1" kern="1200">
                          <a:solidFill>
                            <a:schemeClr val="lt1"/>
                          </a:solidFill>
                          <a:latin typeface="等线" panose="02010600030101010101" charset="-122"/>
                        </a:defRPr>
                      </a:lvl4pPr>
                      <a:lvl5pPr marL="1371600" algn="l" defTabSz="685800" rtl="0" eaLnBrk="1" latinLnBrk="0" hangingPunct="1">
                        <a:defRPr sz="1350" b="1" kern="1200">
                          <a:solidFill>
                            <a:schemeClr val="lt1"/>
                          </a:solidFill>
                          <a:latin typeface="等线" panose="02010600030101010101" charset="-122"/>
                        </a:defRPr>
                      </a:lvl5pPr>
                      <a:lvl6pPr marL="1714500" algn="l" defTabSz="685800" rtl="0" eaLnBrk="1" latinLnBrk="0" hangingPunct="1">
                        <a:defRPr sz="1350" b="1" kern="1200">
                          <a:solidFill>
                            <a:schemeClr val="lt1"/>
                          </a:solidFill>
                          <a:latin typeface="等线" panose="02010600030101010101" charset="-122"/>
                        </a:defRPr>
                      </a:lvl6pPr>
                      <a:lvl7pPr marL="2057400" algn="l" defTabSz="685800" rtl="0" eaLnBrk="1" latinLnBrk="0" hangingPunct="1">
                        <a:defRPr sz="1350" b="1" kern="1200">
                          <a:solidFill>
                            <a:schemeClr val="lt1"/>
                          </a:solidFill>
                          <a:latin typeface="等线" panose="02010600030101010101" charset="-122"/>
                        </a:defRPr>
                      </a:lvl7pPr>
                      <a:lvl8pPr marL="2400300" algn="l" defTabSz="685800" rtl="0" eaLnBrk="1" latinLnBrk="0" hangingPunct="1">
                        <a:defRPr sz="1350" b="1" kern="1200">
                          <a:solidFill>
                            <a:schemeClr val="lt1"/>
                          </a:solidFill>
                          <a:latin typeface="等线" panose="02010600030101010101" charset="-122"/>
                        </a:defRPr>
                      </a:lvl8pPr>
                      <a:lvl9pPr marL="2743200" algn="l" defTabSz="685800" rtl="0" eaLnBrk="1" latinLnBrk="0" hangingPunct="1">
                        <a:defRPr sz="1350" b="1" kern="1200">
                          <a:solidFill>
                            <a:schemeClr val="lt1"/>
                          </a:solidFill>
                          <a:latin typeface="等线" panose="02010600030101010101" charset="-122"/>
                        </a:defRPr>
                      </a:lvl9pPr>
                    </a:lstStyle>
                    <a:p>
                      <a:pPr algn="ctr" fontAlgn="ctr">
                        <a:lnSpc>
                          <a:spcPct val="100000"/>
                        </a:lnSpc>
                      </a:pPr>
                      <a:r>
                        <a:rPr lang="zh-CN" altLang="en-US" sz="1800" u="none" strike="noStrike" dirty="0">
                          <a:effectLst/>
                        </a:rPr>
                        <a:t>返回值</a:t>
                      </a:r>
                      <a:endParaRPr lang="zh-CN" altLang="en-US" sz="18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84C22"/>
                    </a:solidFill>
                  </a:tcPr>
                </a:tc>
              </a:tr>
              <a:tr h="360040">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ctr" fontAlgn="ctr">
                        <a:lnSpc>
                          <a:spcPct val="100000"/>
                        </a:lnSpc>
                      </a:pPr>
                      <a:r>
                        <a:rPr lang="en-US" sz="2000" u="none" strike="noStrike" dirty="0" err="1">
                          <a:effectLst/>
                        </a:rPr>
                        <a:t>fgetc</a:t>
                      </a:r>
                      <a:r>
                        <a:rPr lang="en-US" sz="2000" u="none" strike="noStrike" dirty="0">
                          <a:effectLst/>
                        </a:rPr>
                        <a:t>(</a:t>
                      </a:r>
                      <a:r>
                        <a:rPr lang="en-US" sz="2000" u="none" strike="noStrike" dirty="0" err="1">
                          <a:effectLst/>
                        </a:rPr>
                        <a:t>fp</a:t>
                      </a:r>
                      <a:r>
                        <a:rPr lang="en-US" sz="2000" u="none" strike="noStrike" dirty="0">
                          <a:effectLst/>
                        </a:rPr>
                        <a:t>)</a:t>
                      </a:r>
                      <a:endParaRPr lang="en-US" sz="20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lnSpc>
                          <a:spcPct val="100000"/>
                        </a:lnSpc>
                      </a:pPr>
                      <a:r>
                        <a:rPr lang="zh-CN" altLang="en-US" sz="1100" u="none" strike="noStrike" dirty="0">
                          <a:effectLst/>
                        </a:rPr>
                        <a:t>从</a:t>
                      </a:r>
                      <a:r>
                        <a:rPr lang="en-US" altLang="zh-CN" sz="1100" u="none" strike="noStrike" dirty="0" err="1">
                          <a:effectLst/>
                        </a:rPr>
                        <a:t>fp</a:t>
                      </a:r>
                      <a:r>
                        <a:rPr lang="zh-CN" altLang="en-US" sz="1100" u="none" strike="noStrike" dirty="0">
                          <a:effectLst/>
                        </a:rPr>
                        <a:t>指向的文件读入一个字符</a:t>
                      </a:r>
                      <a:endParaRPr lang="zh-CN" altLang="en-US" sz="11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lnSpc>
                          <a:spcPct val="100000"/>
                        </a:lnSpc>
                      </a:pPr>
                      <a:r>
                        <a:rPr lang="zh-CN" altLang="en-US" sz="1100" u="none" strike="noStrike" dirty="0">
                          <a:effectLst/>
                        </a:rPr>
                        <a:t>读成功，带回所读的字符，失败则返回文件结束标志</a:t>
                      </a:r>
                      <a:r>
                        <a:rPr lang="en-US" altLang="zh-CN" sz="1100" u="none" strike="noStrike" dirty="0">
                          <a:effectLst/>
                        </a:rPr>
                        <a:t>EOF(</a:t>
                      </a:r>
                      <a:r>
                        <a:rPr lang="zh-CN" altLang="en-US" sz="1100" u="none" strike="noStrike" dirty="0">
                          <a:effectLst/>
                        </a:rPr>
                        <a:t>即</a:t>
                      </a:r>
                      <a:r>
                        <a:rPr lang="en-US" altLang="zh-CN" sz="1100" u="none" strike="noStrike" dirty="0">
                          <a:effectLst/>
                        </a:rPr>
                        <a:t>-1)</a:t>
                      </a:r>
                      <a:endParaRPr lang="en-US" altLang="zh-CN" sz="11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r>
              <a:tr h="360040">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ctr" fontAlgn="ctr">
                        <a:lnSpc>
                          <a:spcPct val="100000"/>
                        </a:lnSpc>
                      </a:pPr>
                      <a:r>
                        <a:rPr lang="en-US" sz="2000" u="none" strike="noStrike" dirty="0" err="1">
                          <a:effectLst/>
                        </a:rPr>
                        <a:t>fputc</a:t>
                      </a:r>
                      <a:r>
                        <a:rPr lang="en-US" sz="2000" u="none" strike="noStrike" dirty="0">
                          <a:effectLst/>
                        </a:rPr>
                        <a:t>(</a:t>
                      </a:r>
                      <a:r>
                        <a:rPr lang="en-US" sz="2000" u="none" strike="noStrike" dirty="0" err="1">
                          <a:effectLst/>
                        </a:rPr>
                        <a:t>ch,fp</a:t>
                      </a:r>
                      <a:r>
                        <a:rPr lang="en-US" sz="2000" u="none" strike="noStrike" dirty="0">
                          <a:effectLst/>
                        </a:rPr>
                        <a:t>)</a:t>
                      </a:r>
                      <a:endParaRPr lang="en-US" sz="20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lnSpc>
                          <a:spcPct val="100000"/>
                        </a:lnSpc>
                      </a:pPr>
                      <a:r>
                        <a:rPr lang="zh-CN" altLang="en-US" sz="1100" u="none" strike="noStrike" dirty="0">
                          <a:effectLst/>
                        </a:rPr>
                        <a:t>把字符</a:t>
                      </a:r>
                      <a:r>
                        <a:rPr lang="en-US" altLang="zh-CN" sz="1100" u="none" strike="noStrike" dirty="0" err="1">
                          <a:effectLst/>
                        </a:rPr>
                        <a:t>ch</a:t>
                      </a:r>
                      <a:r>
                        <a:rPr lang="zh-CN" altLang="en-US" sz="1100" u="none" strike="noStrike" dirty="0">
                          <a:effectLst/>
                        </a:rPr>
                        <a:t>写到文件指针变量</a:t>
                      </a:r>
                      <a:r>
                        <a:rPr lang="en-US" altLang="zh-CN" sz="1100" u="none" strike="noStrike" dirty="0" err="1">
                          <a:effectLst/>
                        </a:rPr>
                        <a:t>fp</a:t>
                      </a:r>
                      <a:r>
                        <a:rPr lang="zh-CN" altLang="en-US" sz="1100" u="none" strike="noStrike" dirty="0">
                          <a:effectLst/>
                        </a:rPr>
                        <a:t>所指向的文件中</a:t>
                      </a:r>
                      <a:endParaRPr lang="zh-CN" altLang="en-US" sz="11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l" fontAlgn="ctr">
                        <a:lnSpc>
                          <a:spcPct val="100000"/>
                        </a:lnSpc>
                      </a:pPr>
                      <a:r>
                        <a:rPr lang="zh-CN" altLang="en-US" sz="1100" u="none" strike="noStrike" dirty="0">
                          <a:effectLst/>
                        </a:rPr>
                        <a:t>写成功，返回值就是输出的字符；写失败，则返回</a:t>
                      </a:r>
                      <a:r>
                        <a:rPr lang="en-US" altLang="zh-CN" sz="1100" u="none" strike="noStrike" dirty="0">
                          <a:effectLst/>
                        </a:rPr>
                        <a:t>EOF</a:t>
                      </a:r>
                      <a:r>
                        <a:rPr lang="zh-CN" altLang="en-US" sz="1100" u="none" strike="noStrike" dirty="0">
                          <a:effectLst/>
                        </a:rPr>
                        <a:t>（即</a:t>
                      </a:r>
                      <a:r>
                        <a:rPr lang="en-US" altLang="zh-CN" sz="1100" u="none" strike="noStrike" dirty="0">
                          <a:effectLst/>
                        </a:rPr>
                        <a:t>-1</a:t>
                      </a:r>
                      <a:r>
                        <a:rPr lang="zh-CN" altLang="en-US" sz="1100" u="none" strike="noStrike" dirty="0">
                          <a:effectLst/>
                        </a:rPr>
                        <a:t>）</a:t>
                      </a:r>
                      <a:endParaRPr lang="zh-CN" altLang="en-US" sz="11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r>
              <a:tr h="864096">
                <a:tc>
                  <a:txBody>
                    <a:bodyPr/>
                    <a:lstStyle/>
                    <a:p>
                      <a:pPr algn="ctr" fontAlgn="ctr"/>
                      <a:r>
                        <a:rPr lang="en-US" sz="2000" u="none" strike="noStrike" kern="1200" dirty="0" err="1">
                          <a:solidFill>
                            <a:schemeClr val="dk1"/>
                          </a:solidFill>
                          <a:effectLst/>
                          <a:latin typeface="等线" panose="02010600030101010101" charset="-122"/>
                          <a:ea typeface="+mn-ea"/>
                          <a:cs typeface="+mn-cs"/>
                        </a:rPr>
                        <a:t>fgets</a:t>
                      </a:r>
                      <a:r>
                        <a:rPr lang="en-US" sz="2000" u="none" strike="noStrike" kern="1200" dirty="0">
                          <a:solidFill>
                            <a:schemeClr val="dk1"/>
                          </a:solidFill>
                          <a:effectLst/>
                          <a:latin typeface="等线" panose="02010600030101010101" charset="-122"/>
                          <a:ea typeface="+mn-ea"/>
                          <a:cs typeface="+mn-cs"/>
                        </a:rPr>
                        <a:t>(</a:t>
                      </a:r>
                      <a:r>
                        <a:rPr lang="en-US" sz="2000" u="none" strike="noStrike" kern="1200" dirty="0" err="1">
                          <a:solidFill>
                            <a:schemeClr val="dk1"/>
                          </a:solidFill>
                          <a:effectLst/>
                          <a:latin typeface="等线" panose="02010600030101010101" charset="-122"/>
                          <a:ea typeface="+mn-ea"/>
                          <a:cs typeface="+mn-cs"/>
                        </a:rPr>
                        <a:t>str,n,fp</a:t>
                      </a:r>
                      <a:r>
                        <a:rPr lang="en-US" sz="2000" u="none" strike="noStrike" kern="1200" dirty="0">
                          <a:solidFill>
                            <a:schemeClr val="dk1"/>
                          </a:solidFill>
                          <a:effectLst/>
                          <a:latin typeface="等线" panose="02010600030101010101" charset="-122"/>
                          <a:ea typeface="+mn-ea"/>
                          <a:cs typeface="+mn-cs"/>
                        </a:rPr>
                        <a:t>)</a:t>
                      </a:r>
                      <a:endParaRPr lang="en-US" sz="2000" u="none" strike="noStrike" kern="1200" dirty="0">
                        <a:solidFill>
                          <a:schemeClr val="dk1"/>
                        </a:solidFill>
                        <a:effectLst/>
                        <a:latin typeface="等线" panose="02010600030101010101" charset="-122"/>
                        <a:ea typeface="+mn-ea"/>
                        <a:cs typeface="+mn-cs"/>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l" fontAlgn="ctr">
                        <a:lnSpc>
                          <a:spcPct val="150000"/>
                        </a:lnSpc>
                      </a:pPr>
                      <a:r>
                        <a:rPr lang="zh-CN" altLang="en-US" sz="1100" u="none" strike="noStrike" kern="1200" dirty="0">
                          <a:solidFill>
                            <a:schemeClr val="dk1"/>
                          </a:solidFill>
                          <a:effectLst/>
                          <a:latin typeface="等线" panose="02010600030101010101" charset="-122"/>
                          <a:ea typeface="+mn-ea"/>
                          <a:cs typeface="+mn-cs"/>
                        </a:rPr>
                        <a:t>从</a:t>
                      </a:r>
                      <a:r>
                        <a:rPr lang="en-US" altLang="zh-CN" sz="1100" u="none" strike="noStrike" kern="1200" dirty="0" err="1">
                          <a:solidFill>
                            <a:schemeClr val="dk1"/>
                          </a:solidFill>
                          <a:effectLst/>
                          <a:latin typeface="等线" panose="02010600030101010101" charset="-122"/>
                          <a:ea typeface="+mn-ea"/>
                          <a:cs typeface="+mn-cs"/>
                        </a:rPr>
                        <a:t>fp</a:t>
                      </a:r>
                      <a:r>
                        <a:rPr lang="zh-CN" altLang="en-US" sz="1100" u="none" strike="noStrike" kern="1200" dirty="0">
                          <a:solidFill>
                            <a:schemeClr val="dk1"/>
                          </a:solidFill>
                          <a:effectLst/>
                          <a:latin typeface="等线" panose="02010600030101010101" charset="-122"/>
                          <a:ea typeface="+mn-ea"/>
                          <a:cs typeface="+mn-cs"/>
                        </a:rPr>
                        <a:t>指向的文件读入一个长度为</a:t>
                      </a:r>
                      <a:r>
                        <a:rPr lang="en-US" altLang="zh-CN" sz="1100" u="none" strike="noStrike" kern="1200" dirty="0">
                          <a:solidFill>
                            <a:schemeClr val="dk1"/>
                          </a:solidFill>
                          <a:effectLst/>
                          <a:latin typeface="等线" panose="02010600030101010101" charset="-122"/>
                          <a:ea typeface="+mn-ea"/>
                          <a:cs typeface="+mn-cs"/>
                        </a:rPr>
                        <a:t>(n-1)</a:t>
                      </a:r>
                      <a:r>
                        <a:rPr lang="zh-CN" altLang="en-US" sz="1100" u="none" strike="noStrike" kern="1200" dirty="0">
                          <a:solidFill>
                            <a:schemeClr val="dk1"/>
                          </a:solidFill>
                          <a:effectLst/>
                          <a:latin typeface="等线" panose="02010600030101010101" charset="-122"/>
                          <a:ea typeface="+mn-ea"/>
                          <a:cs typeface="+mn-cs"/>
                        </a:rPr>
                        <a:t>的字符串，存放到字符数组</a:t>
                      </a:r>
                      <a:r>
                        <a:rPr lang="en-US" altLang="zh-CN" sz="1100" u="none" strike="noStrike" kern="1200" dirty="0" err="1">
                          <a:solidFill>
                            <a:schemeClr val="dk1"/>
                          </a:solidFill>
                          <a:effectLst/>
                          <a:latin typeface="等线" panose="02010600030101010101" charset="-122"/>
                          <a:ea typeface="+mn-ea"/>
                          <a:cs typeface="+mn-cs"/>
                        </a:rPr>
                        <a:t>str</a:t>
                      </a:r>
                      <a:r>
                        <a:rPr lang="zh-CN" altLang="en-US" sz="1100" u="none" strike="noStrike" kern="1200" dirty="0">
                          <a:solidFill>
                            <a:schemeClr val="dk1"/>
                          </a:solidFill>
                          <a:effectLst/>
                          <a:latin typeface="等线" panose="02010600030101010101" charset="-122"/>
                          <a:ea typeface="+mn-ea"/>
                          <a:cs typeface="+mn-cs"/>
                        </a:rPr>
                        <a:t>中，</a:t>
                      </a:r>
                      <a:r>
                        <a:rPr lang="zh-CN" altLang="en-US" sz="1100" dirty="0">
                          <a:solidFill>
                            <a:schemeClr val="tx1"/>
                          </a:solidFill>
                        </a:rPr>
                        <a:t>在最后加一个</a:t>
                      </a:r>
                      <a:r>
                        <a:rPr lang="en-US" altLang="zh-CN" sz="1100" dirty="0">
                          <a:solidFill>
                            <a:schemeClr val="tx1"/>
                          </a:solidFill>
                        </a:rPr>
                        <a:t>′\0′</a:t>
                      </a:r>
                      <a:endParaRPr lang="zh-CN" altLang="en-US" sz="1100" u="none" strike="noStrike" kern="1200" dirty="0">
                        <a:solidFill>
                          <a:schemeClr val="dk1"/>
                        </a:solidFill>
                        <a:effectLst/>
                        <a:latin typeface="等线" panose="02010600030101010101" charset="-122"/>
                        <a:ea typeface="+mn-ea"/>
                        <a:cs typeface="+mn-cs"/>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l" fontAlgn="ctr">
                        <a:lnSpc>
                          <a:spcPct val="150000"/>
                        </a:lnSpc>
                      </a:pPr>
                      <a:r>
                        <a:rPr lang="zh-CN" altLang="en-US" sz="1100" u="none" strike="noStrike" kern="1200" dirty="0">
                          <a:solidFill>
                            <a:schemeClr val="dk1"/>
                          </a:solidFill>
                          <a:effectLst/>
                          <a:latin typeface="等线" panose="02010600030101010101" charset="-122"/>
                          <a:ea typeface="+mn-ea"/>
                          <a:cs typeface="+mn-cs"/>
                        </a:rPr>
                        <a:t>读成功，返回地址</a:t>
                      </a:r>
                      <a:r>
                        <a:rPr lang="en-US" altLang="zh-CN" sz="1100" u="none" strike="noStrike" kern="1200" dirty="0" err="1">
                          <a:solidFill>
                            <a:schemeClr val="dk1"/>
                          </a:solidFill>
                          <a:effectLst/>
                          <a:latin typeface="等线" panose="02010600030101010101" charset="-122"/>
                          <a:ea typeface="+mn-ea"/>
                          <a:cs typeface="+mn-cs"/>
                        </a:rPr>
                        <a:t>str</a:t>
                      </a:r>
                      <a:r>
                        <a:rPr lang="zh-CN" altLang="en-US" sz="1100" u="none" strike="noStrike" kern="1200" dirty="0">
                          <a:solidFill>
                            <a:schemeClr val="dk1"/>
                          </a:solidFill>
                          <a:effectLst/>
                          <a:latin typeface="等线" panose="02010600030101010101" charset="-122"/>
                          <a:ea typeface="+mn-ea"/>
                          <a:cs typeface="+mn-cs"/>
                        </a:rPr>
                        <a:t>，失败则返回</a:t>
                      </a:r>
                      <a:r>
                        <a:rPr lang="en-US" altLang="zh-CN" sz="1100" u="none" strike="noStrike" kern="1200" dirty="0">
                          <a:solidFill>
                            <a:schemeClr val="dk1"/>
                          </a:solidFill>
                          <a:effectLst/>
                          <a:latin typeface="等线" panose="02010600030101010101" charset="-122"/>
                          <a:ea typeface="+mn-ea"/>
                          <a:cs typeface="+mn-cs"/>
                        </a:rPr>
                        <a:t>NULL</a:t>
                      </a:r>
                      <a:r>
                        <a:rPr lang="zh-CN" altLang="en-US" sz="1100" u="none" strike="noStrike" kern="1200" dirty="0">
                          <a:solidFill>
                            <a:schemeClr val="dk1"/>
                          </a:solidFill>
                          <a:effectLst/>
                          <a:latin typeface="等线" panose="02010600030101010101" charset="-122"/>
                          <a:ea typeface="+mn-ea"/>
                          <a:cs typeface="+mn-cs"/>
                        </a:rPr>
                        <a:t>。</a:t>
                      </a:r>
                      <a:r>
                        <a:rPr lang="zh-CN" altLang="en-US" sz="1100" dirty="0">
                          <a:solidFill>
                            <a:schemeClr val="tx1"/>
                          </a:solidFill>
                        </a:rPr>
                        <a:t>在读完</a:t>
                      </a:r>
                      <a:r>
                        <a:rPr lang="en-US" altLang="zh-CN" sz="1100" dirty="0">
                          <a:solidFill>
                            <a:schemeClr val="tx1"/>
                          </a:solidFill>
                        </a:rPr>
                        <a:t>n</a:t>
                      </a:r>
                      <a:r>
                        <a:rPr lang="zh-CN" altLang="en-US" sz="1100" dirty="0">
                          <a:solidFill>
                            <a:schemeClr val="tx1"/>
                          </a:solidFill>
                        </a:rPr>
                        <a:t>－</a:t>
                      </a:r>
                      <a:r>
                        <a:rPr lang="en-US" altLang="zh-CN" sz="1100" dirty="0">
                          <a:solidFill>
                            <a:schemeClr val="tx1"/>
                          </a:solidFill>
                        </a:rPr>
                        <a:t>1</a:t>
                      </a:r>
                      <a:r>
                        <a:rPr lang="zh-CN" altLang="en-US" sz="1100" dirty="0">
                          <a:solidFill>
                            <a:schemeClr val="tx1"/>
                          </a:solidFill>
                        </a:rPr>
                        <a:t>个字符之前遇到换行符</a:t>
                      </a:r>
                      <a:r>
                        <a:rPr lang="en-US" altLang="zh-CN" sz="1100" dirty="0">
                          <a:solidFill>
                            <a:schemeClr val="tx1"/>
                          </a:solidFill>
                        </a:rPr>
                        <a:t>\n</a:t>
                      </a:r>
                      <a:r>
                        <a:rPr lang="zh-CN" altLang="en-US" sz="1100" dirty="0">
                          <a:solidFill>
                            <a:schemeClr val="tx1"/>
                          </a:solidFill>
                        </a:rPr>
                        <a:t>或文件结束符</a:t>
                      </a:r>
                      <a:r>
                        <a:rPr lang="en-US" altLang="zh-CN" sz="1100" dirty="0">
                          <a:solidFill>
                            <a:schemeClr val="tx1"/>
                          </a:solidFill>
                        </a:rPr>
                        <a:t>EOF</a:t>
                      </a:r>
                      <a:r>
                        <a:rPr lang="zh-CN" altLang="en-US" sz="1100" dirty="0">
                          <a:solidFill>
                            <a:schemeClr val="tx1"/>
                          </a:solidFill>
                        </a:rPr>
                        <a:t>，读入即结束。与</a:t>
                      </a:r>
                      <a:r>
                        <a:rPr lang="en-US" altLang="zh-CN" sz="1100" dirty="0">
                          <a:solidFill>
                            <a:schemeClr val="tx1"/>
                          </a:solidFill>
                        </a:rPr>
                        <a:t>gets</a:t>
                      </a:r>
                      <a:r>
                        <a:rPr lang="zh-CN" altLang="en-US" sz="1100" dirty="0">
                          <a:solidFill>
                            <a:schemeClr val="tx1"/>
                          </a:solidFill>
                        </a:rPr>
                        <a:t>不同，</a:t>
                      </a:r>
                      <a:r>
                        <a:rPr lang="en-US" altLang="zh-CN" sz="1100" dirty="0" err="1">
                          <a:solidFill>
                            <a:schemeClr val="tx1"/>
                          </a:solidFill>
                        </a:rPr>
                        <a:t>fgets</a:t>
                      </a:r>
                      <a:r>
                        <a:rPr lang="zh-CN" altLang="en-US" sz="1100" dirty="0">
                          <a:solidFill>
                            <a:schemeClr val="tx1"/>
                          </a:solidFill>
                        </a:rPr>
                        <a:t>将所遇到的换行符</a:t>
                      </a:r>
                      <a:r>
                        <a:rPr lang="en-US" altLang="zh-CN" sz="1100" dirty="0">
                          <a:solidFill>
                            <a:schemeClr val="tx1"/>
                          </a:solidFill>
                        </a:rPr>
                        <a:t>\n</a:t>
                      </a:r>
                      <a:r>
                        <a:rPr lang="zh-CN" altLang="en-US" sz="1100" dirty="0">
                          <a:solidFill>
                            <a:schemeClr val="tx1"/>
                          </a:solidFill>
                        </a:rPr>
                        <a:t>也作为一个字符读入。</a:t>
                      </a:r>
                      <a:endParaRPr lang="en-US" altLang="zh-CN" sz="1100" u="none" strike="noStrike" kern="1200" dirty="0">
                        <a:solidFill>
                          <a:schemeClr val="dk1"/>
                        </a:solidFill>
                        <a:effectLst/>
                        <a:latin typeface="等线" panose="02010600030101010101" charset="-122"/>
                        <a:ea typeface="+mn-ea"/>
                        <a:cs typeface="+mn-cs"/>
                      </a:endParaRPr>
                    </a:p>
                  </a:txBody>
                  <a:tcPr marL="9525" marR="9525" marT="9525"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r>
              <a:tr h="360040">
                <a:tc>
                  <a:txBody>
                    <a:bodyPr/>
                    <a:lstStyle/>
                    <a:p>
                      <a:pPr algn="ctr" fontAlgn="ctr"/>
                      <a:r>
                        <a:rPr lang="en-US" sz="2000" u="none" strike="noStrike" kern="1200" dirty="0" err="1">
                          <a:solidFill>
                            <a:schemeClr val="dk1"/>
                          </a:solidFill>
                          <a:effectLst/>
                          <a:latin typeface="等线" panose="02010600030101010101" charset="-122"/>
                          <a:ea typeface="+mn-ea"/>
                          <a:cs typeface="+mn-cs"/>
                        </a:rPr>
                        <a:t>fputs</a:t>
                      </a:r>
                      <a:r>
                        <a:rPr lang="en-US" sz="2000" u="none" strike="noStrike" kern="1200" dirty="0">
                          <a:solidFill>
                            <a:schemeClr val="dk1"/>
                          </a:solidFill>
                          <a:effectLst/>
                          <a:latin typeface="等线" panose="02010600030101010101" charset="-122"/>
                          <a:ea typeface="+mn-ea"/>
                          <a:cs typeface="+mn-cs"/>
                        </a:rPr>
                        <a:t>(</a:t>
                      </a:r>
                      <a:r>
                        <a:rPr lang="en-US" sz="2000" u="none" strike="noStrike" kern="1200" dirty="0" err="1">
                          <a:solidFill>
                            <a:schemeClr val="dk1"/>
                          </a:solidFill>
                          <a:effectLst/>
                          <a:latin typeface="等线" panose="02010600030101010101" charset="-122"/>
                          <a:ea typeface="+mn-ea"/>
                          <a:cs typeface="+mn-cs"/>
                        </a:rPr>
                        <a:t>str,fp</a:t>
                      </a:r>
                      <a:r>
                        <a:rPr lang="en-US" sz="2000" u="none" strike="noStrike" kern="1200" dirty="0">
                          <a:solidFill>
                            <a:schemeClr val="dk1"/>
                          </a:solidFill>
                          <a:effectLst/>
                          <a:latin typeface="等线" panose="02010600030101010101" charset="-122"/>
                          <a:ea typeface="+mn-ea"/>
                          <a:cs typeface="+mn-cs"/>
                        </a:rPr>
                        <a:t>)</a:t>
                      </a:r>
                      <a:endParaRPr lang="en-US" sz="2000" u="none" strike="noStrike" kern="1200" dirty="0">
                        <a:solidFill>
                          <a:schemeClr val="dk1"/>
                        </a:solidFill>
                        <a:effectLst/>
                        <a:latin typeface="等线" panose="02010600030101010101" charset="-122"/>
                        <a:ea typeface="+mn-ea"/>
                        <a:cs typeface="+mn-cs"/>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algn="l" fontAlgn="ctr">
                        <a:lnSpc>
                          <a:spcPct val="150000"/>
                        </a:lnSpc>
                      </a:pPr>
                      <a:r>
                        <a:rPr lang="zh-CN" altLang="en-US" sz="1100" u="none" strike="noStrike" kern="1200" dirty="0">
                          <a:solidFill>
                            <a:schemeClr val="dk1"/>
                          </a:solidFill>
                          <a:effectLst/>
                          <a:latin typeface="等线" panose="02010600030101010101" charset="-122"/>
                          <a:ea typeface="+mn-ea"/>
                          <a:cs typeface="+mn-cs"/>
                        </a:rPr>
                        <a:t>把</a:t>
                      </a:r>
                      <a:r>
                        <a:rPr lang="en-US" altLang="zh-CN" sz="1100" u="none" strike="noStrike" kern="1200" dirty="0" err="1">
                          <a:solidFill>
                            <a:schemeClr val="dk1"/>
                          </a:solidFill>
                          <a:effectLst/>
                          <a:latin typeface="等线" panose="02010600030101010101" charset="-122"/>
                          <a:ea typeface="+mn-ea"/>
                          <a:cs typeface="+mn-cs"/>
                        </a:rPr>
                        <a:t>str</a:t>
                      </a:r>
                      <a:r>
                        <a:rPr lang="zh-CN" altLang="en-US" sz="1100" u="none" strike="noStrike" kern="1200" dirty="0">
                          <a:solidFill>
                            <a:schemeClr val="dk1"/>
                          </a:solidFill>
                          <a:effectLst/>
                          <a:latin typeface="等线" panose="02010600030101010101" charset="-122"/>
                          <a:ea typeface="+mn-ea"/>
                          <a:cs typeface="+mn-cs"/>
                        </a:rPr>
                        <a:t>所指向的字符串写到文件指针变量</a:t>
                      </a:r>
                      <a:r>
                        <a:rPr lang="en-US" altLang="zh-CN" sz="1100" u="none" strike="noStrike" kern="1200" dirty="0" err="1">
                          <a:solidFill>
                            <a:schemeClr val="dk1"/>
                          </a:solidFill>
                          <a:effectLst/>
                          <a:latin typeface="等线" panose="02010600030101010101" charset="-122"/>
                          <a:ea typeface="+mn-ea"/>
                          <a:cs typeface="+mn-cs"/>
                        </a:rPr>
                        <a:t>fp</a:t>
                      </a:r>
                      <a:r>
                        <a:rPr lang="zh-CN" altLang="en-US" sz="1100" u="none" strike="noStrike" kern="1200" dirty="0">
                          <a:solidFill>
                            <a:schemeClr val="dk1"/>
                          </a:solidFill>
                          <a:effectLst/>
                          <a:latin typeface="等线" panose="02010600030101010101" charset="-122"/>
                          <a:ea typeface="+mn-ea"/>
                          <a:cs typeface="+mn-cs"/>
                        </a:rPr>
                        <a:t>所指向的文件中</a:t>
                      </a:r>
                      <a:endParaRPr lang="zh-CN" altLang="en-US" sz="1100" u="none" strike="noStrike" kern="1200" dirty="0">
                        <a:solidFill>
                          <a:schemeClr val="dk1"/>
                        </a:solidFill>
                        <a:effectLst/>
                        <a:latin typeface="等线" panose="02010600030101010101" charset="-122"/>
                        <a:ea typeface="+mn-ea"/>
                        <a:cs typeface="+mn-cs"/>
                      </a:endParaRP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c>
                  <a:txBody>
                    <a:bodyPr/>
                    <a:lstStyle/>
                    <a:p>
                      <a:pPr algn="l" fontAlgn="ctr">
                        <a:lnSpc>
                          <a:spcPct val="150000"/>
                        </a:lnSpc>
                      </a:pPr>
                      <a:r>
                        <a:rPr lang="zh-CN" altLang="en-US" sz="1100" u="none" strike="noStrike" dirty="0">
                          <a:effectLst/>
                        </a:rPr>
                        <a:t>写</a:t>
                      </a:r>
                      <a:r>
                        <a:rPr lang="zh-CN" altLang="en-US" sz="1100" u="none" strike="noStrike" kern="1200" dirty="0">
                          <a:solidFill>
                            <a:schemeClr val="dk1"/>
                          </a:solidFill>
                          <a:effectLst/>
                          <a:latin typeface="等线" panose="02010600030101010101" charset="-122"/>
                          <a:ea typeface="+mn-ea"/>
                          <a:cs typeface="+mn-cs"/>
                        </a:rPr>
                        <a:t>成功，返回</a:t>
                      </a:r>
                      <a:r>
                        <a:rPr lang="en-US" altLang="zh-CN" sz="1100" u="none" strike="noStrike" kern="1200" dirty="0">
                          <a:solidFill>
                            <a:schemeClr val="dk1"/>
                          </a:solidFill>
                          <a:effectLst/>
                          <a:latin typeface="等线" panose="02010600030101010101" charset="-122"/>
                          <a:ea typeface="+mn-ea"/>
                          <a:cs typeface="+mn-cs"/>
                        </a:rPr>
                        <a:t>0</a:t>
                      </a:r>
                      <a:r>
                        <a:rPr lang="zh-CN" altLang="en-US" sz="1100" u="none" strike="noStrike" kern="1200" dirty="0">
                          <a:solidFill>
                            <a:schemeClr val="dk1"/>
                          </a:solidFill>
                          <a:effectLst/>
                          <a:latin typeface="等线" panose="02010600030101010101" charset="-122"/>
                          <a:ea typeface="+mn-ea"/>
                          <a:cs typeface="+mn-cs"/>
                        </a:rPr>
                        <a:t>；写</a:t>
                      </a:r>
                      <a:r>
                        <a:rPr lang="zh-CN" altLang="en-US" sz="1100" u="none" strike="noStrike" dirty="0">
                          <a:effectLst/>
                        </a:rPr>
                        <a:t>失败，则返回</a:t>
                      </a:r>
                      <a:r>
                        <a:rPr lang="en-US" altLang="zh-CN" sz="1100" u="none" strike="noStrike" dirty="0">
                          <a:effectLst/>
                        </a:rPr>
                        <a:t>EOF</a:t>
                      </a:r>
                      <a:r>
                        <a:rPr lang="zh-CN" altLang="en-US" sz="1100" u="none" strike="noStrike" dirty="0">
                          <a:effectLst/>
                        </a:rPr>
                        <a:t>（即</a:t>
                      </a:r>
                      <a:r>
                        <a:rPr lang="en-US" altLang="zh-CN" sz="1100" u="none" strike="noStrike" dirty="0">
                          <a:effectLst/>
                        </a:rPr>
                        <a:t>-1</a:t>
                      </a:r>
                      <a:r>
                        <a:rPr lang="zh-CN" altLang="en-US" sz="1100" u="none" strike="noStrike" dirty="0">
                          <a:effectLst/>
                        </a:rPr>
                        <a:t>）</a:t>
                      </a:r>
                      <a:endParaRPr lang="zh-CN" altLang="en-US" sz="1100" u="none" strike="noStrike" kern="1200" dirty="0">
                        <a:solidFill>
                          <a:schemeClr val="dk1"/>
                        </a:solidFill>
                        <a:effectLst/>
                        <a:latin typeface="等线" panose="02010600030101010101" charset="-122"/>
                        <a:ea typeface="+mn-ea"/>
                        <a:cs typeface="+mn-cs"/>
                      </a:endParaRPr>
                    </a:p>
                  </a:txBody>
                  <a:tcPr marL="9525" marR="9525" marT="9525"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84C22">
                        <a:tint val="20000"/>
                      </a:srgbClr>
                    </a:solidFill>
                  </a:tcPr>
                </a:tc>
              </a:tr>
            </a:tbl>
          </a:graphicData>
        </a:graphic>
      </p:graphicFrame>
      <p:sp>
        <p:nvSpPr>
          <p:cNvPr id="7" name="矩形 6"/>
          <p:cNvSpPr/>
          <p:nvPr/>
        </p:nvSpPr>
        <p:spPr>
          <a:xfrm>
            <a:off x="142551" y="1368051"/>
            <a:ext cx="8882309" cy="714243"/>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8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accent5"/>
                </a:solidFill>
                <a:effectLst/>
                <a:uLnTx/>
                <a:uFillTx/>
                <a:latin typeface="等线" panose="02010600030101010101" charset="-122"/>
                <a:ea typeface="等线" panose="02010600030101010101" charset="-122"/>
                <a:cs typeface="+mn-cs"/>
              </a:rPr>
              <a:t> </a:t>
            </a:r>
            <a:r>
              <a:rPr kumimoji="0" lang="en-US" altLang="zh-CN" sz="2400" b="1" i="0" u="none" strike="noStrike" kern="0" cap="none" spc="0" normalizeH="0" baseline="0" noProof="0" dirty="0" err="1">
                <a:ln>
                  <a:noFill/>
                </a:ln>
                <a:solidFill>
                  <a:schemeClr val="accent5"/>
                </a:solidFill>
                <a:effectLst/>
                <a:uLnTx/>
                <a:uFillTx/>
                <a:latin typeface="等线" panose="02010600030101010101" charset="-122"/>
                <a:ea typeface="等线" panose="02010600030101010101" charset="-122"/>
                <a:cs typeface="+mn-cs"/>
              </a:rPr>
              <a:t>f</a:t>
            </a:r>
            <a:r>
              <a:rPr kumimoji="0" lang="en-US" altLang="zh-CN" sz="2400" b="0" i="0" u="none" strike="noStrike" kern="0" cap="none" spc="0" normalizeH="0" baseline="0" noProof="0" dirty="0" err="1">
                <a:ln>
                  <a:noFill/>
                </a:ln>
                <a:solidFill>
                  <a:prstClr val="white"/>
                </a:solidFill>
                <a:effectLst/>
                <a:uLnTx/>
                <a:uFillTx/>
                <a:latin typeface="等线" panose="02010600030101010101" charset="-122"/>
                <a:ea typeface="等线" panose="02010600030101010101" charset="-122"/>
                <a:cs typeface="+mn-cs"/>
              </a:rPr>
              <a:t>printf</a:t>
            </a:r>
            <a:r>
              <a:rPr kumimoji="0" lang="en-US" altLang="zh-CN"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kumimoji="0" lang="zh-CN" altLang="en-US" sz="2400" b="1" i="0" u="none" strike="noStrike" kern="0" cap="none" spc="0" normalizeH="0" baseline="0" noProof="0" dirty="0">
                <a:ln>
                  <a:noFill/>
                </a:ln>
                <a:solidFill>
                  <a:schemeClr val="accent5"/>
                </a:solidFill>
                <a:effectLst/>
                <a:uLnTx/>
                <a:uFillTx/>
                <a:latin typeface="等线" panose="02010600030101010101" charset="-122"/>
                <a:ea typeface="等线" panose="02010600030101010101" charset="-122"/>
                <a:cs typeface="+mn-cs"/>
              </a:rPr>
              <a:t>文件指针</a:t>
            </a:r>
            <a:r>
              <a:rPr kumimoji="0" lang="en-US" altLang="zh-CN"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 </a:t>
            </a:r>
            <a:r>
              <a:rPr kumimoji="0" lang="zh-CN" altLang="en-US"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格式字符串</a:t>
            </a:r>
            <a:r>
              <a:rPr kumimoji="0" lang="en-US" altLang="zh-CN"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 </a:t>
            </a:r>
            <a:r>
              <a:rPr kumimoji="0" lang="zh-CN" altLang="en-US"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输出表列</a:t>
            </a:r>
            <a:r>
              <a:rPr kumimoji="0" lang="en-US" altLang="zh-CN"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endParaRPr kumimoji="0" lang="en-US" altLang="zh-CN"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矩形 7"/>
          <p:cNvSpPr/>
          <p:nvPr/>
        </p:nvSpPr>
        <p:spPr>
          <a:xfrm>
            <a:off x="142552" y="2416370"/>
            <a:ext cx="8882309" cy="604790"/>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accent5"/>
                </a:solidFill>
                <a:effectLst/>
                <a:uLnTx/>
                <a:uFillTx/>
                <a:latin typeface="等线" panose="02010600030101010101" charset="-122"/>
                <a:ea typeface="等线" panose="02010600030101010101" charset="-122"/>
                <a:cs typeface="+mn-cs"/>
              </a:rPr>
              <a:t> </a:t>
            </a:r>
            <a:r>
              <a:rPr kumimoji="0" lang="en-US" altLang="zh-CN" sz="2400" b="1" i="0" u="none" strike="noStrike" kern="0" cap="none" spc="0" normalizeH="0" baseline="0" noProof="0" dirty="0" err="1">
                <a:ln>
                  <a:noFill/>
                </a:ln>
                <a:solidFill>
                  <a:schemeClr val="accent5"/>
                </a:solidFill>
                <a:effectLst/>
                <a:uLnTx/>
                <a:uFillTx/>
                <a:latin typeface="等线" panose="02010600030101010101" charset="-122"/>
                <a:ea typeface="等线" panose="02010600030101010101" charset="-122"/>
                <a:cs typeface="+mn-cs"/>
              </a:rPr>
              <a:t>f</a:t>
            </a:r>
            <a:r>
              <a:rPr kumimoji="0" lang="en-US" altLang="zh-CN" sz="2400" b="0" i="0" u="none" strike="noStrike" kern="0" cap="none" spc="0" normalizeH="0" baseline="0" noProof="0" dirty="0" err="1">
                <a:ln>
                  <a:noFill/>
                </a:ln>
                <a:solidFill>
                  <a:prstClr val="white"/>
                </a:solidFill>
                <a:effectLst/>
                <a:uLnTx/>
                <a:uFillTx/>
                <a:latin typeface="等线" panose="02010600030101010101" charset="-122"/>
                <a:ea typeface="等线" panose="02010600030101010101" charset="-122"/>
                <a:cs typeface="+mn-cs"/>
              </a:rPr>
              <a:t>scanf</a:t>
            </a:r>
            <a:r>
              <a:rPr kumimoji="0" lang="en-US" altLang="zh-CN"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kumimoji="0" lang="zh-CN" altLang="en-US" sz="2400" b="1" i="0" u="none" strike="noStrike" kern="0" cap="none" spc="0" normalizeH="0" baseline="0" noProof="0" dirty="0">
                <a:ln>
                  <a:noFill/>
                </a:ln>
                <a:solidFill>
                  <a:schemeClr val="accent5"/>
                </a:solidFill>
                <a:effectLst/>
                <a:uLnTx/>
                <a:uFillTx/>
                <a:latin typeface="等线" panose="02010600030101010101" charset="-122"/>
                <a:ea typeface="等线" panose="02010600030101010101" charset="-122"/>
                <a:cs typeface="+mn-cs"/>
              </a:rPr>
              <a:t>文件指针</a:t>
            </a:r>
            <a:r>
              <a:rPr kumimoji="0" lang="en-US" altLang="zh-CN"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 </a:t>
            </a:r>
            <a:r>
              <a:rPr kumimoji="0" lang="zh-CN" altLang="en-US"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格式字符串</a:t>
            </a:r>
            <a:r>
              <a:rPr kumimoji="0" lang="en-US" altLang="zh-CN"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 </a:t>
            </a:r>
            <a:r>
              <a:rPr kumimoji="0" lang="zh-CN" altLang="en-US"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输出表列</a:t>
            </a:r>
            <a:r>
              <a:rPr kumimoji="0" lang="en-US" altLang="zh-CN"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endParaRPr kumimoji="0" lang="en-US" altLang="zh-CN" sz="24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TextBox 9"/>
          <p:cNvSpPr txBox="1"/>
          <p:nvPr/>
        </p:nvSpPr>
        <p:spPr>
          <a:xfrm>
            <a:off x="95870" y="6188378"/>
            <a:ext cx="8952259" cy="369332"/>
          </a:xfrm>
          <a:prstGeom prst="rect">
            <a:avLst/>
          </a:prstGeom>
          <a:noFill/>
        </p:spPr>
        <p:txBody>
          <a:bodyPr wrap="none" rtlCol="0">
            <a:spAutoFit/>
          </a:bodyPr>
          <a:lstStyle/>
          <a:p>
            <a:r>
              <a:rPr lang="zh-CN" altLang="en-US" dirty="0">
                <a:solidFill>
                  <a:srgbClr val="FF0000"/>
                </a:solidFill>
              </a:rPr>
              <a:t>注：</a:t>
            </a:r>
            <a:r>
              <a:rPr lang="en-US" altLang="zh-CN" dirty="0" err="1">
                <a:solidFill>
                  <a:srgbClr val="FF0000"/>
                </a:solidFill>
              </a:rPr>
              <a:t>fgetc</a:t>
            </a:r>
            <a:r>
              <a:rPr lang="en-US" altLang="zh-CN" dirty="0">
                <a:solidFill>
                  <a:srgbClr val="FF0000"/>
                </a:solidFill>
              </a:rPr>
              <a:t>/</a:t>
            </a:r>
            <a:r>
              <a:rPr lang="en-US" altLang="zh-CN" dirty="0" err="1">
                <a:solidFill>
                  <a:srgbClr val="FF0000"/>
                </a:solidFill>
              </a:rPr>
              <a:t>fputc</a:t>
            </a:r>
            <a:r>
              <a:rPr lang="en-US" altLang="zh-CN" dirty="0">
                <a:solidFill>
                  <a:srgbClr val="FF0000"/>
                </a:solidFill>
              </a:rPr>
              <a:t>, </a:t>
            </a:r>
            <a:r>
              <a:rPr lang="en-US" altLang="zh-CN" dirty="0" err="1">
                <a:solidFill>
                  <a:srgbClr val="FF0000"/>
                </a:solidFill>
              </a:rPr>
              <a:t>fgets</a:t>
            </a:r>
            <a:r>
              <a:rPr lang="en-US" altLang="zh-CN" dirty="0">
                <a:solidFill>
                  <a:srgbClr val="FF0000"/>
                </a:solidFill>
              </a:rPr>
              <a:t>/</a:t>
            </a:r>
            <a:r>
              <a:rPr lang="en-US" altLang="zh-CN" dirty="0" err="1">
                <a:solidFill>
                  <a:srgbClr val="FF0000"/>
                </a:solidFill>
              </a:rPr>
              <a:t>fputs</a:t>
            </a:r>
            <a:r>
              <a:rPr lang="en-US" altLang="zh-CN" dirty="0">
                <a:solidFill>
                  <a:srgbClr val="FF0000"/>
                </a:solidFill>
              </a:rPr>
              <a:t>, </a:t>
            </a:r>
            <a:r>
              <a:rPr lang="en-US" altLang="zh-CN" dirty="0" err="1">
                <a:solidFill>
                  <a:srgbClr val="FF0000"/>
                </a:solidFill>
              </a:rPr>
              <a:t>fscanf</a:t>
            </a:r>
            <a:r>
              <a:rPr lang="en-US" altLang="zh-CN" dirty="0">
                <a:solidFill>
                  <a:srgbClr val="FF0000"/>
                </a:solidFill>
              </a:rPr>
              <a:t>/</a:t>
            </a:r>
            <a:r>
              <a:rPr lang="en-US" altLang="zh-CN" dirty="0" err="1">
                <a:solidFill>
                  <a:srgbClr val="FF0000"/>
                </a:solidFill>
              </a:rPr>
              <a:t>fprintf</a:t>
            </a:r>
            <a:r>
              <a:rPr lang="zh-CN" altLang="en-US" dirty="0">
                <a:solidFill>
                  <a:srgbClr val="FF0000"/>
                </a:solidFill>
              </a:rPr>
              <a:t>这几个函数，均是按</a:t>
            </a:r>
            <a:r>
              <a:rPr lang="en-US" altLang="zh-CN" dirty="0">
                <a:solidFill>
                  <a:srgbClr val="FF0000"/>
                </a:solidFill>
              </a:rPr>
              <a:t>ASCII</a:t>
            </a:r>
            <a:r>
              <a:rPr lang="zh-CN" altLang="en-US" dirty="0">
                <a:solidFill>
                  <a:srgbClr val="FF0000"/>
                </a:solidFill>
              </a:rPr>
              <a:t>码方式进行输入输出。</a:t>
            </a:r>
            <a:endParaRPr lang="zh-CN" altLang="en-US" dirty="0">
              <a:solidFill>
                <a:srgbClr val="FF0000"/>
              </a:solidFill>
            </a:endParaRPr>
          </a:p>
        </p:txBody>
      </p:sp>
      <p:sp>
        <p:nvSpPr>
          <p:cNvPr id="9" name="矩形 8"/>
          <p:cNvSpPr/>
          <p:nvPr/>
        </p:nvSpPr>
        <p:spPr>
          <a:xfrm>
            <a:off x="142551" y="3021159"/>
            <a:ext cx="8882309" cy="368755"/>
          </a:xfrm>
          <a:prstGeom prst="rect">
            <a:avLst/>
          </a:prstGeom>
          <a:solidFill>
            <a:srgbClr val="E84C22">
              <a:lumMod val="20000"/>
              <a:lumOff val="80000"/>
            </a:srgbClr>
          </a:solidFill>
        </p:spPr>
        <p:txBody>
          <a:bodyPr wrap="square" lIns="36000" rIns="36000">
            <a:spAutoFit/>
          </a:bodyPr>
          <a:lstStyle/>
          <a:p>
            <a:pPr marR="0" lvl="0" defTabSz="914400" eaLnBrk="1" fontAlgn="auto" latinLnBrk="0" hangingPunct="1">
              <a:lnSpc>
                <a:spcPct val="120000"/>
              </a:lnSpc>
              <a:spcBef>
                <a:spcPts val="0"/>
              </a:spcBef>
              <a:spcAft>
                <a:spcPts val="0"/>
              </a:spcAft>
              <a:buClrTx/>
              <a:buSzTx/>
              <a:buFontTx/>
              <a:buNone/>
              <a:defRPr/>
            </a:pPr>
            <a:r>
              <a:rPr lang="zh-CN" altLang="en-US" sz="1600" kern="0" noProof="0" dirty="0">
                <a:solidFill>
                  <a:prstClr val="black"/>
                </a:solidFill>
                <a:latin typeface="等线" panose="02010600030101010101" charset="-122"/>
                <a:ea typeface="等线" panose="02010600030101010101" charset="-122"/>
              </a:rPr>
              <a:t>若执行成功，则返回读入的参数个数；执行失败，则返回</a:t>
            </a:r>
            <a:r>
              <a:rPr lang="en-US" altLang="zh-CN" sz="1600" kern="0" noProof="0" dirty="0">
                <a:solidFill>
                  <a:prstClr val="black"/>
                </a:solidFill>
                <a:latin typeface="等线" panose="02010600030101010101" charset="-122"/>
                <a:ea typeface="等线" panose="02010600030101010101" charset="-122"/>
              </a:rPr>
              <a:t>EOF</a:t>
            </a:r>
            <a:r>
              <a:rPr lang="zh-CN" altLang="en-US" sz="1600" kern="0" dirty="0">
                <a:solidFill>
                  <a:prstClr val="black"/>
                </a:solidFill>
                <a:latin typeface="等线" panose="02010600030101010101" charset="-122"/>
                <a:ea typeface="等线" panose="02010600030101010101" charset="-122"/>
              </a:rPr>
              <a:t>。</a:t>
            </a:r>
            <a:endParaRPr kumimoji="0" lang="zh-CN" altLang="en-US" sz="16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endParaRPr>
          </a:p>
        </p:txBody>
      </p:sp>
      <p:sp>
        <p:nvSpPr>
          <p:cNvPr id="14" name="矩形 13"/>
          <p:cNvSpPr/>
          <p:nvPr/>
        </p:nvSpPr>
        <p:spPr>
          <a:xfrm>
            <a:off x="130842" y="1909215"/>
            <a:ext cx="8894018" cy="368755"/>
          </a:xfrm>
          <a:prstGeom prst="rect">
            <a:avLst/>
          </a:prstGeom>
          <a:solidFill>
            <a:srgbClr val="E84C22">
              <a:lumMod val="20000"/>
              <a:lumOff val="80000"/>
            </a:srgbClr>
          </a:solidFill>
        </p:spPr>
        <p:txBody>
          <a:bodyPr wrap="square" lIns="36000" rIns="36000">
            <a:spAutoFit/>
          </a:bodyPr>
          <a:lstStyle/>
          <a:p>
            <a:pPr lvl="0">
              <a:lnSpc>
                <a:spcPct val="120000"/>
              </a:lnSpc>
              <a:defRPr/>
            </a:pPr>
            <a:r>
              <a:rPr lang="zh-CN" altLang="en-US" sz="1600" kern="0" dirty="0">
                <a:solidFill>
                  <a:prstClr val="black"/>
                </a:solidFill>
                <a:latin typeface="等线" panose="02010600030101010101" charset="-122"/>
                <a:ea typeface="等线" panose="02010600030101010101" charset="-122"/>
              </a:rPr>
              <a:t>若执行成功，则返回写入字符的个数，否则返回一个负数。</a:t>
            </a:r>
            <a:endParaRPr lang="zh-CN" altLang="en-US" sz="1600" kern="0" dirty="0">
              <a:solidFill>
                <a:prstClr val="black"/>
              </a:solidFill>
              <a:latin typeface="等线" panose="02010600030101010101" charset="-122"/>
              <a:ea typeface="等线" panose="02010600030101010101" charset="-122"/>
            </a:endParaRPr>
          </a:p>
        </p:txBody>
      </p:sp>
      <p:sp>
        <p:nvSpPr>
          <p:cNvPr id="11" name="TextBox 10"/>
          <p:cNvSpPr txBox="1"/>
          <p:nvPr/>
        </p:nvSpPr>
        <p:spPr>
          <a:xfrm>
            <a:off x="6169511" y="174001"/>
            <a:ext cx="2786230" cy="369332"/>
          </a:xfrm>
          <a:prstGeom prst="rect">
            <a:avLst/>
          </a:prstGeom>
          <a:noFill/>
        </p:spPr>
        <p:txBody>
          <a:bodyPr wrap="square">
            <a:spAutoFit/>
          </a:bodyPr>
          <a:lstStyle/>
          <a:p>
            <a:r>
              <a:rPr lang="en-US" altLang="zh-CN" b="0" i="0" dirty="0">
                <a:solidFill>
                  <a:srgbClr val="333333"/>
                </a:solidFill>
                <a:effectLst/>
                <a:latin typeface="Helvetica Neue"/>
              </a:rPr>
              <a:t> </a:t>
            </a:r>
            <a:r>
              <a:rPr lang="en-US" altLang="zh-CN" b="1" i="0" dirty="0">
                <a:solidFill>
                  <a:srgbClr val="333333"/>
                </a:solidFill>
                <a:effectLst/>
                <a:latin typeface="Helvetica Neue"/>
              </a:rPr>
              <a:t>int </a:t>
            </a:r>
            <a:r>
              <a:rPr lang="en-US" altLang="zh-CN" b="1" i="0" dirty="0" err="1">
                <a:solidFill>
                  <a:srgbClr val="333333"/>
                </a:solidFill>
                <a:effectLst/>
                <a:latin typeface="Helvetica Neue"/>
              </a:rPr>
              <a:t>fgetc</a:t>
            </a:r>
            <a:r>
              <a:rPr lang="en-US" altLang="zh-CN" b="1" i="0" dirty="0">
                <a:solidFill>
                  <a:srgbClr val="333333"/>
                </a:solidFill>
                <a:effectLst/>
                <a:latin typeface="Helvetica Neue"/>
              </a:rPr>
              <a:t>(FILE *stream)</a:t>
            </a:r>
            <a:r>
              <a:rPr lang="en-US" altLang="zh-CN" b="0" i="0" dirty="0">
                <a:solidFill>
                  <a:srgbClr val="333333"/>
                </a:solidFill>
                <a:effectLst/>
                <a:latin typeface="Helvetica Neue"/>
              </a:rPr>
              <a:t> </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二进制文件读写库函数</a:t>
            </a:r>
            <a:endParaRPr lang="zh-CN" altLang="en-US" dirty="0"/>
          </a:p>
        </p:txBody>
      </p:sp>
      <p:sp>
        <p:nvSpPr>
          <p:cNvPr id="2" name="内容占位符 1"/>
          <p:cNvSpPr>
            <a:spLocks noGrp="1"/>
          </p:cNvSpPr>
          <p:nvPr>
            <p:ph idx="1"/>
          </p:nvPr>
        </p:nvSpPr>
        <p:spPr/>
        <p:txBody>
          <a:bodyPr>
            <a:normAutofit/>
          </a:bodyPr>
          <a:lstStyle/>
          <a:p>
            <a:r>
              <a:rPr lang="zh-CN" altLang="en-US" sz="2000" dirty="0"/>
              <a:t>用</a:t>
            </a:r>
            <a:r>
              <a:rPr lang="en-US" altLang="zh-CN" sz="2000" dirty="0" err="1">
                <a:solidFill>
                  <a:srgbClr val="FF0000"/>
                </a:solidFill>
              </a:rPr>
              <a:t>fread</a:t>
            </a:r>
            <a:r>
              <a:rPr lang="zh-CN" altLang="en-US" sz="2000" dirty="0"/>
              <a:t>函数从文件中读一个数据块，用</a:t>
            </a:r>
            <a:r>
              <a:rPr lang="en-US" altLang="zh-CN" sz="2000" dirty="0" err="1">
                <a:solidFill>
                  <a:srgbClr val="FF0000"/>
                </a:solidFill>
              </a:rPr>
              <a:t>fwrite</a:t>
            </a:r>
            <a:r>
              <a:rPr lang="zh-CN" altLang="en-US" sz="2000" dirty="0"/>
              <a:t>函数向文件写一个数据块。在读写时是以二进制形式进行的。</a:t>
            </a:r>
            <a:endParaRPr lang="en-US" altLang="zh-CN" sz="2000" dirty="0"/>
          </a:p>
          <a:p>
            <a:r>
              <a:rPr lang="zh-CN" altLang="en-US" sz="2000" dirty="0"/>
              <a:t>在向磁盘写数据时，直接将内存中一组数据原封不动、不加转换地复制到磁盘文件上；在读入时，将磁盘文件中若干字节的内容批量读入内存。在内存与磁盘频繁交换数据的情况下，最好用</a:t>
            </a:r>
            <a:r>
              <a:rPr lang="en-US" altLang="zh-CN" sz="2000" dirty="0" err="1"/>
              <a:t>fread</a:t>
            </a:r>
            <a:r>
              <a:rPr lang="en-US" altLang="zh-CN" sz="2000" dirty="0"/>
              <a:t>()</a:t>
            </a:r>
            <a:r>
              <a:rPr lang="zh-CN" altLang="en-US" sz="2000" dirty="0"/>
              <a:t>和</a:t>
            </a:r>
            <a:r>
              <a:rPr lang="en-US" altLang="zh-CN" sz="2000" dirty="0" err="1"/>
              <a:t>fwrite</a:t>
            </a:r>
            <a:r>
              <a:rPr lang="en-US" altLang="zh-CN" sz="2000" dirty="0"/>
              <a:t>()</a:t>
            </a:r>
            <a:r>
              <a:rPr lang="zh-CN" altLang="en-US" sz="2000" dirty="0"/>
              <a:t>函数</a:t>
            </a:r>
            <a:endParaRPr lang="zh-CN" altLang="en-US" sz="2000" dirty="0"/>
          </a:p>
        </p:txBody>
      </p:sp>
      <p:sp>
        <p:nvSpPr>
          <p:cNvPr id="4" name="矩形 3"/>
          <p:cNvSpPr/>
          <p:nvPr/>
        </p:nvSpPr>
        <p:spPr>
          <a:xfrm>
            <a:off x="237187" y="3589561"/>
            <a:ext cx="2767827" cy="330712"/>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defRPr/>
            </a:pPr>
            <a:r>
              <a:rPr kumimoji="0" lang="en-US" altLang="zh-CN" sz="1500" b="0" i="0" u="none" strike="noStrike" kern="0" cap="none" spc="0" normalizeH="0" baseline="0" noProof="0" dirty="0" err="1">
                <a:ln>
                  <a:noFill/>
                </a:ln>
                <a:solidFill>
                  <a:prstClr val="white"/>
                </a:solidFill>
                <a:effectLst/>
                <a:uLnTx/>
                <a:uFillTx/>
                <a:latin typeface="等线" panose="02010600030101010101" charset="-122"/>
                <a:ea typeface="等线" panose="02010600030101010101" charset="-122"/>
                <a:cs typeface="+mn-cs"/>
              </a:rPr>
              <a:t>fread</a:t>
            </a:r>
            <a:r>
              <a:rPr kumimoji="0" lang="en-US" altLang="zh-CN" sz="15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(buffer, size, count, </a:t>
            </a:r>
            <a:r>
              <a:rPr kumimoji="0" lang="en-US" altLang="zh-CN" sz="1500" b="0" i="0" u="none" strike="noStrike" kern="0" cap="none" spc="0" normalizeH="0" baseline="0" noProof="0" dirty="0" err="1">
                <a:ln>
                  <a:noFill/>
                </a:ln>
                <a:solidFill>
                  <a:prstClr val="white"/>
                </a:solidFill>
                <a:effectLst/>
                <a:uLnTx/>
                <a:uFillTx/>
                <a:latin typeface="等线" panose="02010600030101010101" charset="-122"/>
                <a:ea typeface="等线" panose="02010600030101010101" charset="-122"/>
                <a:cs typeface="+mn-cs"/>
              </a:rPr>
              <a:t>fp</a:t>
            </a:r>
            <a:r>
              <a:rPr kumimoji="0" lang="en-US" altLang="zh-CN" sz="15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endParaRPr kumimoji="0" lang="en-US" altLang="zh-CN" sz="15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 name="圆角矩形 4"/>
          <p:cNvSpPr/>
          <p:nvPr/>
        </p:nvSpPr>
        <p:spPr>
          <a:xfrm>
            <a:off x="304275" y="5345880"/>
            <a:ext cx="8602717" cy="1080120"/>
          </a:xfrm>
          <a:prstGeom prst="roundRect">
            <a:avLst>
              <a:gd name="adj" fmla="val 8070"/>
            </a:avLst>
          </a:prstGeom>
          <a:solidFill>
            <a:sysClr val="window" lastClr="FFFFFF"/>
          </a:solidFill>
          <a:ln w="12700" cap="flat" cmpd="sng" algn="ctr">
            <a:solidFill>
              <a:srgbClr val="E84C22"/>
            </a:solidFill>
            <a:prstDash val="solid"/>
            <a:miter lim="800000"/>
          </a:ln>
          <a:effectLst/>
        </p:spPr>
        <p:txBody>
          <a:bodyPr rtlCol="0" anchor="ctr"/>
          <a:lstStyle/>
          <a:p>
            <a:pPr marL="0" marR="0" lvl="0" indent="0" algn="just" defTabSz="914400" eaLnBrk="1" fontAlgn="auto" latinLnBrk="0" hangingPunct="1">
              <a:lnSpc>
                <a:spcPct val="150000"/>
              </a:lnSpc>
              <a:spcBef>
                <a:spcPts val="0"/>
              </a:spcBef>
              <a:spcAft>
                <a:spcPts val="0"/>
              </a:spcAft>
              <a:buClrTx/>
              <a:buSzTx/>
              <a:buFontTx/>
              <a:buNone/>
              <a:defRPr/>
            </a:pPr>
            <a:r>
              <a:rPr kumimoji="0" lang="en-US" altLang="zh-CN" sz="15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float f[10];</a:t>
            </a:r>
            <a:endParaRPr kumimoji="0" lang="en-US" altLang="zh-CN" sz="15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endParaRPr>
          </a:p>
          <a:p>
            <a:pPr marL="0" marR="0" lvl="0" indent="0" algn="just" defTabSz="914400" eaLnBrk="1" fontAlgn="auto" latinLnBrk="0" hangingPunct="1">
              <a:lnSpc>
                <a:spcPct val="150000"/>
              </a:lnSpc>
              <a:spcBef>
                <a:spcPts val="0"/>
              </a:spcBef>
              <a:spcAft>
                <a:spcPts val="0"/>
              </a:spcAft>
              <a:buClrTx/>
              <a:buSzTx/>
              <a:buFontTx/>
              <a:buNone/>
              <a:defRPr/>
            </a:pPr>
            <a:r>
              <a:rPr kumimoji="0" lang="en-US" altLang="zh-CN" sz="15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rPr>
              <a:t>fread</a:t>
            </a:r>
            <a:r>
              <a:rPr kumimoji="0" lang="en-US" altLang="zh-CN" sz="15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(f,4,10,fp);	</a:t>
            </a:r>
            <a:r>
              <a:rPr kumimoji="0" lang="en-US" altLang="zh-CN" sz="15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rPr>
              <a:t>//</a:t>
            </a:r>
            <a:r>
              <a:rPr kumimoji="0" lang="zh-CN" altLang="en-US" sz="15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rPr>
              <a:t>从</a:t>
            </a:r>
            <a:r>
              <a:rPr kumimoji="0" lang="en-US" altLang="zh-CN" sz="1500" b="0" i="0" u="none" strike="noStrike" kern="0" cap="none" spc="0" normalizeH="0" baseline="0" noProof="0" dirty="0" err="1">
                <a:ln>
                  <a:noFill/>
                </a:ln>
                <a:solidFill>
                  <a:srgbClr val="008000"/>
                </a:solidFill>
                <a:effectLst/>
                <a:uLnTx/>
                <a:uFillTx/>
                <a:latin typeface="等线" panose="02010600030101010101" charset="-122"/>
                <a:ea typeface="等线" panose="02010600030101010101" charset="-122"/>
              </a:rPr>
              <a:t>fp</a:t>
            </a:r>
            <a:r>
              <a:rPr kumimoji="0" lang="zh-CN" altLang="en-US" sz="15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rPr>
              <a:t>所指向的文件读入</a:t>
            </a:r>
            <a:r>
              <a:rPr kumimoji="0" lang="en-US" altLang="zh-CN" sz="15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rPr>
              <a:t>10</a:t>
            </a:r>
            <a:r>
              <a:rPr kumimoji="0" lang="zh-CN" altLang="en-US" sz="15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rPr>
              <a:t>个</a:t>
            </a:r>
            <a:r>
              <a:rPr kumimoji="0" lang="en-US" altLang="zh-CN" sz="15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rPr>
              <a:t>4</a:t>
            </a:r>
            <a:r>
              <a:rPr kumimoji="0" lang="zh-CN" altLang="en-US" sz="15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rPr>
              <a:t>个字节的数据，存储到数组</a:t>
            </a:r>
            <a:r>
              <a:rPr kumimoji="0" lang="en-US" altLang="zh-CN" sz="15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rPr>
              <a:t>f</a:t>
            </a:r>
            <a:r>
              <a:rPr kumimoji="0" lang="zh-CN" altLang="en-US" sz="15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rPr>
              <a:t>中</a:t>
            </a:r>
            <a:endParaRPr kumimoji="0" lang="en-US" altLang="zh-CN" sz="15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endParaRPr>
          </a:p>
          <a:p>
            <a:pPr lvl="0" algn="just">
              <a:lnSpc>
                <a:spcPct val="150000"/>
              </a:lnSpc>
              <a:defRPr/>
            </a:pPr>
            <a:r>
              <a:rPr lang="en-US" altLang="zh-CN" sz="1500" kern="0" dirty="0" err="1">
                <a:solidFill>
                  <a:prstClr val="black"/>
                </a:solidFill>
                <a:latin typeface="等线" panose="02010600030101010101" charset="-122"/>
                <a:ea typeface="等线" panose="02010600030101010101" charset="-122"/>
              </a:rPr>
              <a:t>fwrite</a:t>
            </a:r>
            <a:r>
              <a:rPr lang="en-US" altLang="zh-CN" sz="1500" kern="0" dirty="0">
                <a:solidFill>
                  <a:prstClr val="black"/>
                </a:solidFill>
                <a:latin typeface="等线" panose="02010600030101010101" charset="-122"/>
                <a:ea typeface="等线" panose="02010600030101010101" charset="-122"/>
              </a:rPr>
              <a:t>(f, 4, 10, </a:t>
            </a:r>
            <a:r>
              <a:rPr lang="en-US" altLang="zh-CN" sz="1500" kern="0" dirty="0" err="1">
                <a:solidFill>
                  <a:prstClr val="black"/>
                </a:solidFill>
                <a:latin typeface="等线" panose="02010600030101010101" charset="-122"/>
                <a:ea typeface="等线" panose="02010600030101010101" charset="-122"/>
              </a:rPr>
              <a:t>fp</a:t>
            </a:r>
            <a:r>
              <a:rPr lang="en-US" altLang="zh-CN" sz="1500" kern="0" dirty="0">
                <a:solidFill>
                  <a:prstClr val="black"/>
                </a:solidFill>
                <a:latin typeface="等线" panose="02010600030101010101" charset="-122"/>
                <a:ea typeface="等线" panose="02010600030101010101" charset="-122"/>
              </a:rPr>
              <a:t>);        </a:t>
            </a:r>
            <a:r>
              <a:rPr lang="en-US" altLang="zh-CN" sz="1500" kern="0" dirty="0">
                <a:solidFill>
                  <a:srgbClr val="008000"/>
                </a:solidFill>
                <a:latin typeface="等线" panose="02010600030101010101" charset="-122"/>
                <a:ea typeface="等线" panose="02010600030101010101" charset="-122"/>
              </a:rPr>
              <a:t>//</a:t>
            </a:r>
            <a:r>
              <a:rPr lang="zh-CN" altLang="en-US" sz="1500" kern="0" dirty="0">
                <a:solidFill>
                  <a:srgbClr val="008000"/>
                </a:solidFill>
                <a:latin typeface="等线" panose="02010600030101010101" charset="-122"/>
                <a:ea typeface="等线" panose="02010600030101010101" charset="-122"/>
              </a:rPr>
              <a:t>向</a:t>
            </a:r>
            <a:r>
              <a:rPr lang="en-US" altLang="zh-CN" sz="1500" kern="0" dirty="0" err="1">
                <a:solidFill>
                  <a:srgbClr val="008000"/>
                </a:solidFill>
                <a:latin typeface="等线" panose="02010600030101010101" charset="-122"/>
                <a:ea typeface="等线" panose="02010600030101010101" charset="-122"/>
              </a:rPr>
              <a:t>fp</a:t>
            </a:r>
            <a:r>
              <a:rPr lang="zh-CN" altLang="en-US" sz="1500" kern="0" dirty="0">
                <a:solidFill>
                  <a:srgbClr val="008000"/>
                </a:solidFill>
                <a:latin typeface="等线" panose="02010600030101010101" charset="-122"/>
                <a:ea typeface="等线" panose="02010600030101010101" charset="-122"/>
              </a:rPr>
              <a:t>所指向的文件写入</a:t>
            </a:r>
            <a:r>
              <a:rPr lang="en-US" altLang="zh-CN" sz="1500" kern="0" dirty="0">
                <a:solidFill>
                  <a:srgbClr val="008000"/>
                </a:solidFill>
                <a:latin typeface="等线" panose="02010600030101010101" charset="-122"/>
                <a:ea typeface="等线" panose="02010600030101010101" charset="-122"/>
              </a:rPr>
              <a:t>10</a:t>
            </a:r>
            <a:r>
              <a:rPr lang="zh-CN" altLang="en-US" sz="1500" kern="0" dirty="0">
                <a:solidFill>
                  <a:srgbClr val="008000"/>
                </a:solidFill>
                <a:latin typeface="等线" panose="02010600030101010101" charset="-122"/>
                <a:ea typeface="等线" panose="02010600030101010101" charset="-122"/>
              </a:rPr>
              <a:t>个</a:t>
            </a:r>
            <a:r>
              <a:rPr lang="en-US" altLang="zh-CN" sz="1500" kern="0" dirty="0">
                <a:solidFill>
                  <a:srgbClr val="008000"/>
                </a:solidFill>
                <a:latin typeface="等线" panose="02010600030101010101" charset="-122"/>
                <a:ea typeface="等线" panose="02010600030101010101" charset="-122"/>
              </a:rPr>
              <a:t>4</a:t>
            </a:r>
            <a:r>
              <a:rPr lang="zh-CN" altLang="en-US" sz="1500" kern="0" dirty="0">
                <a:solidFill>
                  <a:srgbClr val="008000"/>
                </a:solidFill>
                <a:latin typeface="等线" panose="02010600030101010101" charset="-122"/>
                <a:ea typeface="等线" panose="02010600030101010101" charset="-122"/>
              </a:rPr>
              <a:t>个字节的数据，数据来源于数组</a:t>
            </a:r>
            <a:r>
              <a:rPr lang="en-US" altLang="zh-CN" sz="1500" kern="0" dirty="0">
                <a:solidFill>
                  <a:srgbClr val="008000"/>
                </a:solidFill>
                <a:latin typeface="等线" panose="02010600030101010101" charset="-122"/>
                <a:ea typeface="等线" panose="02010600030101010101" charset="-122"/>
              </a:rPr>
              <a:t>f</a:t>
            </a:r>
            <a:endParaRPr kumimoji="0" lang="en-US" altLang="zh-CN" sz="15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endParaRPr>
          </a:p>
        </p:txBody>
      </p:sp>
      <p:sp>
        <p:nvSpPr>
          <p:cNvPr id="6" name="矩形 5"/>
          <p:cNvSpPr/>
          <p:nvPr/>
        </p:nvSpPr>
        <p:spPr>
          <a:xfrm>
            <a:off x="234947" y="4085592"/>
            <a:ext cx="2767828" cy="330712"/>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defRPr/>
            </a:pPr>
            <a:r>
              <a:rPr kumimoji="0" lang="en-US" altLang="zh-CN" sz="1500" b="0" i="0" u="none" strike="noStrike" kern="0" cap="none" spc="0" normalizeH="0" baseline="0" noProof="0" dirty="0" err="1">
                <a:ln>
                  <a:noFill/>
                </a:ln>
                <a:solidFill>
                  <a:prstClr val="white"/>
                </a:solidFill>
                <a:effectLst/>
                <a:uLnTx/>
                <a:uFillTx/>
                <a:latin typeface="等线" panose="02010600030101010101" charset="-122"/>
                <a:ea typeface="等线" panose="02010600030101010101" charset="-122"/>
                <a:cs typeface="+mn-cs"/>
              </a:rPr>
              <a:t>fwrite</a:t>
            </a:r>
            <a:r>
              <a:rPr kumimoji="0" lang="en-US" altLang="zh-CN" sz="15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(buffer, size, count, </a:t>
            </a:r>
            <a:r>
              <a:rPr kumimoji="0" lang="en-US" altLang="zh-CN" sz="1500" b="0" i="0" u="none" strike="noStrike" kern="0" cap="none" spc="0" normalizeH="0" baseline="0" noProof="0" dirty="0" err="1">
                <a:ln>
                  <a:noFill/>
                </a:ln>
                <a:solidFill>
                  <a:prstClr val="white"/>
                </a:solidFill>
                <a:effectLst/>
                <a:uLnTx/>
                <a:uFillTx/>
                <a:latin typeface="等线" panose="02010600030101010101" charset="-122"/>
                <a:ea typeface="等线" panose="02010600030101010101" charset="-122"/>
                <a:cs typeface="+mn-cs"/>
              </a:rPr>
              <a:t>fp</a:t>
            </a:r>
            <a:r>
              <a:rPr kumimoji="0" lang="en-US" altLang="zh-CN" sz="15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endParaRPr kumimoji="0" lang="en-US" altLang="zh-CN" sz="15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3113029" y="3589561"/>
            <a:ext cx="5793963" cy="1626856"/>
          </a:xfrm>
          <a:prstGeom prst="rect">
            <a:avLst/>
          </a:prstGeom>
          <a:solidFill>
            <a:srgbClr val="E84C22">
              <a:lumMod val="20000"/>
              <a:lumOff val="80000"/>
            </a:srgbClr>
          </a:solidFill>
        </p:spPr>
        <p:txBody>
          <a:bodyPr wrap="square" lIns="72000" rIns="72000">
            <a:spAutoFit/>
          </a:bodyPr>
          <a:lstStyle/>
          <a:p>
            <a:pPr marL="894080" marR="0" lvl="0" indent="-894080" defTabSz="91440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buffer： </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	</a:t>
            </a:r>
            <a:r>
              <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是一个地址。对fread，它是用来存放从文件读入的数据的存储区的地址。对fwrite，是要把此地址开始的存储区中的数据向文件输出（以上指的是起始地址）。</a:t>
            </a:r>
            <a:endPar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endParaRPr>
          </a:p>
          <a:p>
            <a:pPr marL="0" marR="0" lvl="0" indent="0" defTabSz="91440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size： </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	</a:t>
            </a:r>
            <a:r>
              <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要读写的</a:t>
            </a:r>
            <a:r>
              <a:rPr lang="zh-CN" altLang="en-US" sz="1400" kern="0" dirty="0">
                <a:solidFill>
                  <a:prstClr val="black"/>
                </a:solidFill>
                <a:latin typeface="等线" panose="02010600030101010101" charset="-122"/>
                <a:ea typeface="等线" panose="02010600030101010101" charset="-122"/>
              </a:rPr>
              <a:t>单位</a:t>
            </a:r>
            <a:r>
              <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字节数。</a:t>
            </a:r>
            <a:endPar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endParaRPr>
          </a:p>
          <a:p>
            <a:pPr marL="0" marR="0" lvl="0" indent="0" defTabSz="91440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count： </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	</a:t>
            </a:r>
            <a:r>
              <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要读写多少个数据项(每个数据项长度为size)。</a:t>
            </a:r>
            <a:endPar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endParaRPr>
          </a:p>
          <a:p>
            <a:pPr marL="0" marR="0" lvl="0" indent="0" defTabSz="91440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fp： </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	</a:t>
            </a:r>
            <a:r>
              <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rPr>
              <a:t>FILE类型指针。</a:t>
            </a:r>
            <a:endParaRPr kumimoji="0" lang="zh-CN" altLang="en-US"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endParaRPr>
          </a:p>
        </p:txBody>
      </p:sp>
      <p:sp>
        <p:nvSpPr>
          <p:cNvPr id="8" name="矩形 7"/>
          <p:cNvSpPr/>
          <p:nvPr/>
        </p:nvSpPr>
        <p:spPr>
          <a:xfrm>
            <a:off x="234947" y="4514686"/>
            <a:ext cx="2770067" cy="701731"/>
          </a:xfrm>
          <a:prstGeom prst="rect">
            <a:avLst/>
          </a:prstGeom>
          <a:solidFill>
            <a:srgbClr val="E84C22">
              <a:lumMod val="20000"/>
              <a:lumOff val="80000"/>
            </a:srgbClr>
          </a:solidFill>
        </p:spPr>
        <p:txBody>
          <a:bodyPr wrap="square" lIns="36000" rIns="36000">
            <a:spAutoFit/>
          </a:bodyPr>
          <a:lstStyle/>
          <a:p>
            <a:pPr marR="0" lvl="0" defTabSz="914400" eaLnBrk="1" fontAlgn="auto" latinLnBrk="0" hangingPunct="1">
              <a:lnSpc>
                <a:spcPct val="120000"/>
              </a:lnSpc>
              <a:spcBef>
                <a:spcPts val="0"/>
              </a:spcBef>
              <a:spcAft>
                <a:spcPts val="0"/>
              </a:spcAft>
              <a:buClrTx/>
              <a:buSzTx/>
              <a:buFontTx/>
              <a:buNone/>
              <a:defRPr/>
            </a:pPr>
            <a:r>
              <a:rPr lang="zh-CN" altLang="en-US" sz="1100" kern="0" dirty="0">
                <a:solidFill>
                  <a:prstClr val="black"/>
                </a:solidFill>
                <a:latin typeface="等线" panose="02010600030101010101" charset="-122"/>
                <a:ea typeface="等线" panose="02010600030101010101" charset="-122"/>
              </a:rPr>
              <a:t>两个函数的返回值是实际读取</a:t>
            </a:r>
            <a:r>
              <a:rPr lang="en-US" altLang="zh-CN" sz="1100" kern="0" dirty="0">
                <a:solidFill>
                  <a:prstClr val="black"/>
                </a:solidFill>
                <a:latin typeface="等线" panose="02010600030101010101" charset="-122"/>
                <a:ea typeface="等线" panose="02010600030101010101" charset="-122"/>
              </a:rPr>
              <a:t>/</a:t>
            </a:r>
            <a:r>
              <a:rPr lang="zh-CN" altLang="en-US" sz="1100" kern="0" dirty="0">
                <a:solidFill>
                  <a:prstClr val="black"/>
                </a:solidFill>
                <a:latin typeface="等线" panose="02010600030101010101" charset="-122"/>
                <a:ea typeface="等线" panose="02010600030101010101" charset="-122"/>
              </a:rPr>
              <a:t>写入的</a:t>
            </a:r>
            <a:r>
              <a:rPr lang="en-US" altLang="zh-CN" sz="1100" kern="0" dirty="0">
                <a:solidFill>
                  <a:prstClr val="black"/>
                </a:solidFill>
                <a:latin typeface="等线" panose="02010600030101010101" charset="-122"/>
                <a:ea typeface="等线" panose="02010600030101010101" charset="-122"/>
              </a:rPr>
              <a:t>count</a:t>
            </a:r>
            <a:r>
              <a:rPr lang="zh-CN" altLang="en-US" sz="1100" kern="0" dirty="0">
                <a:solidFill>
                  <a:prstClr val="black"/>
                </a:solidFill>
                <a:latin typeface="等线" panose="02010600030101010101" charset="-122"/>
                <a:ea typeface="等线" panose="02010600030101010101" charset="-122"/>
              </a:rPr>
              <a:t>数目。返回值小于指定的</a:t>
            </a:r>
            <a:r>
              <a:rPr lang="en-US" altLang="zh-CN" sz="1100" kern="0" dirty="0">
                <a:solidFill>
                  <a:prstClr val="black"/>
                </a:solidFill>
                <a:latin typeface="等线" panose="02010600030101010101" charset="-122"/>
                <a:ea typeface="等线" panose="02010600030101010101" charset="-122"/>
              </a:rPr>
              <a:t>count</a:t>
            </a:r>
            <a:r>
              <a:rPr lang="zh-CN" altLang="en-US" sz="1100" kern="0" dirty="0">
                <a:solidFill>
                  <a:prstClr val="black"/>
                </a:solidFill>
                <a:latin typeface="等线" panose="02010600030101010101" charset="-122"/>
                <a:ea typeface="等线" panose="02010600030101010101" charset="-122"/>
              </a:rPr>
              <a:t>值，则代表错误发生。</a:t>
            </a:r>
            <a:endParaRPr kumimoji="0" lang="zh-CN" altLang="en-US" sz="11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1" name="Rectangle 3"/>
          <p:cNvSpPr>
            <a:spLocks noChangeArrowheads="1"/>
          </p:cNvSpPr>
          <p:nvPr/>
        </p:nvSpPr>
        <p:spPr bwMode="auto">
          <a:xfrm>
            <a:off x="323850" y="1557338"/>
            <a:ext cx="8423275" cy="46799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lvl1pPr algn="ctr" eaLnBrk="0" hangingPunct="0">
              <a:spcBef>
                <a:spcPct val="50000"/>
              </a:spcBef>
              <a:defRPr b="1">
                <a:solidFill>
                  <a:schemeClr val="tx1"/>
                </a:solidFill>
                <a:latin typeface="Garamond" panose="02020404030301010803" pitchFamily="18" charset="0"/>
                <a:ea typeface="宋体" panose="02010600030101010101" pitchFamily="2" charset="-122"/>
              </a:defRPr>
            </a:lvl1pPr>
            <a:lvl2pPr marL="742950" indent="-285750" algn="ctr" eaLnBrk="0" hangingPunct="0">
              <a:spcBef>
                <a:spcPct val="50000"/>
              </a:spcBef>
              <a:defRPr b="1">
                <a:solidFill>
                  <a:schemeClr val="tx1"/>
                </a:solidFill>
                <a:latin typeface="Garamond" panose="02020404030301010803" pitchFamily="18" charset="0"/>
                <a:ea typeface="宋体" panose="02010600030101010101" pitchFamily="2" charset="-122"/>
              </a:defRPr>
            </a:lvl2pPr>
            <a:lvl3pPr marL="11430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3pPr>
            <a:lvl4pPr marL="16002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4pPr>
            <a:lvl5pPr marL="20574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5pPr>
            <a:lvl6pPr marL="25146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6pPr>
            <a:lvl7pPr marL="29718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7pPr>
            <a:lvl8pPr marL="34290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8pPr>
            <a:lvl9pPr marL="38862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9pPr>
          </a:lstStyle>
          <a:p>
            <a:pPr algn="l" eaLnBrk="1" hangingPunct="1">
              <a:spcBef>
                <a:spcPct val="0"/>
              </a:spcBef>
            </a:pPr>
            <a:endParaRPr lang="en-US" altLang="en-US" sz="2400" b="0">
              <a:latin typeface="Times New Roman" panose="02020603050405020304" pitchFamily="18" charset="0"/>
            </a:endParaRPr>
          </a:p>
        </p:txBody>
      </p:sp>
      <p:sp>
        <p:nvSpPr>
          <p:cNvPr id="40964" name="Rectangle 4"/>
          <p:cNvSpPr>
            <a:spLocks noChangeArrowheads="1"/>
          </p:cNvSpPr>
          <p:nvPr/>
        </p:nvSpPr>
        <p:spPr bwMode="auto">
          <a:xfrm>
            <a:off x="250825" y="1412875"/>
            <a:ext cx="8424863" cy="447357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lgn="ctr" eaLnBrk="0" hangingPunct="0">
              <a:spcBef>
                <a:spcPct val="50000"/>
              </a:spcBef>
              <a:defRPr b="1">
                <a:solidFill>
                  <a:schemeClr val="tx1"/>
                </a:solidFill>
                <a:latin typeface="Garamond" panose="02020404030301010803" pitchFamily="18" charset="0"/>
                <a:ea typeface="宋体" panose="02010600030101010101" pitchFamily="2" charset="-122"/>
              </a:defRPr>
            </a:lvl1pPr>
            <a:lvl2pPr marL="742950" indent="-285750" algn="ctr" eaLnBrk="0" hangingPunct="0">
              <a:spcBef>
                <a:spcPct val="50000"/>
              </a:spcBef>
              <a:defRPr b="1">
                <a:solidFill>
                  <a:schemeClr val="tx1"/>
                </a:solidFill>
                <a:latin typeface="Garamond" panose="02020404030301010803" pitchFamily="18" charset="0"/>
                <a:ea typeface="宋体" panose="02010600030101010101" pitchFamily="2" charset="-122"/>
              </a:defRPr>
            </a:lvl2pPr>
            <a:lvl3pPr marL="11430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3pPr>
            <a:lvl4pPr marL="16002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4pPr>
            <a:lvl5pPr marL="2057400" indent="-228600" algn="ctr" eaLnBrk="0" hangingPunct="0">
              <a:spcBef>
                <a:spcPct val="50000"/>
              </a:spcBef>
              <a:defRPr b="1">
                <a:solidFill>
                  <a:schemeClr val="tx1"/>
                </a:solidFill>
                <a:latin typeface="Garamond" panose="02020404030301010803" pitchFamily="18" charset="0"/>
                <a:ea typeface="宋体" panose="02010600030101010101" pitchFamily="2" charset="-122"/>
              </a:defRPr>
            </a:lvl5pPr>
            <a:lvl6pPr marL="25146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6pPr>
            <a:lvl7pPr marL="29718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7pPr>
            <a:lvl8pPr marL="34290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8pPr>
            <a:lvl9pPr marL="3886200" indent="-228600" algn="ctr" eaLnBrk="0" fontAlgn="base" hangingPunct="0">
              <a:spcBef>
                <a:spcPct val="50000"/>
              </a:spcBef>
              <a:spcAft>
                <a:spcPct val="0"/>
              </a:spcAft>
              <a:defRPr b="1">
                <a:solidFill>
                  <a:schemeClr val="tx1"/>
                </a:solidFill>
                <a:latin typeface="Garamond" panose="02020404030301010803" pitchFamily="18" charset="0"/>
                <a:ea typeface="宋体" panose="02010600030101010101" pitchFamily="2" charset="-122"/>
              </a:defRPr>
            </a:lvl9pPr>
          </a:lstStyle>
          <a:p>
            <a:pPr algn="l" eaLnBrk="1" hangingPunct="1">
              <a:lnSpc>
                <a:spcPct val="120000"/>
              </a:lnSpc>
              <a:spcBef>
                <a:spcPct val="0"/>
              </a:spcBef>
            </a:pPr>
            <a:r>
              <a:rPr kumimoji="1" lang="zh-CN" altLang="en-US" sz="2400" u="sng" dirty="0">
                <a:solidFill>
                  <a:srgbClr val="CC0000"/>
                </a:solidFill>
                <a:latin typeface="Times New Roman" panose="02020603050405020304" pitchFamily="18" charset="0"/>
              </a:rPr>
              <a:t>分类                  函数名       功能                              	</a:t>
            </a:r>
            <a:endParaRPr kumimoji="1" lang="zh-CN" altLang="en-US" sz="2400" u="sng" dirty="0">
              <a:solidFill>
                <a:srgbClr val="CC0000"/>
              </a:solidFill>
              <a:latin typeface="Times New Roman" panose="02020603050405020304" pitchFamily="18" charset="0"/>
            </a:endParaRPr>
          </a:p>
          <a:p>
            <a:pPr algn="l" eaLnBrk="1" hangingPunct="1">
              <a:lnSpc>
                <a:spcPct val="120000"/>
              </a:lnSpc>
              <a:spcBef>
                <a:spcPct val="0"/>
              </a:spcBef>
            </a:pPr>
            <a:r>
              <a:rPr kumimoji="1" lang="zh-CN" altLang="en-US" sz="2400" dirty="0">
                <a:latin typeface="Times New Roman" panose="02020603050405020304" pitchFamily="18" charset="0"/>
              </a:rPr>
              <a:t>打开文件         </a:t>
            </a:r>
            <a:r>
              <a:rPr kumimoji="1" lang="en-US" altLang="zh-CN" sz="2400" dirty="0" err="1">
                <a:latin typeface="Times New Roman" panose="02020603050405020304" pitchFamily="18" charset="0"/>
              </a:rPr>
              <a:t>fopen</a:t>
            </a: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打开文件          </a:t>
            </a:r>
            <a:endParaRPr kumimoji="1" lang="zh-CN" altLang="en-US" sz="2400" dirty="0">
              <a:latin typeface="Times New Roman" panose="02020603050405020304" pitchFamily="18" charset="0"/>
            </a:endParaRPr>
          </a:p>
          <a:p>
            <a:pPr algn="l" eaLnBrk="1" hangingPunct="1">
              <a:lnSpc>
                <a:spcPct val="120000"/>
              </a:lnSpc>
              <a:spcBef>
                <a:spcPct val="0"/>
              </a:spcBef>
            </a:pPr>
            <a:r>
              <a:rPr kumimoji="1" lang="zh-CN" altLang="en-US" sz="2400" dirty="0">
                <a:latin typeface="Times New Roman" panose="02020603050405020304" pitchFamily="18" charset="0"/>
              </a:rPr>
              <a:t>关闭文件         </a:t>
            </a:r>
            <a:r>
              <a:rPr kumimoji="1" lang="en-US" altLang="zh-CN" sz="2400" dirty="0" err="1">
                <a:latin typeface="Times New Roman" panose="02020603050405020304" pitchFamily="18" charset="0"/>
              </a:rPr>
              <a:t>fclose</a:t>
            </a:r>
            <a:r>
              <a:rPr kumimoji="1" lang="en-US" altLang="zh-CN" sz="2400" dirty="0">
                <a:latin typeface="Times New Roman" panose="02020603050405020304" pitchFamily="18" charset="0"/>
              </a:rPr>
              <a:t>()       </a:t>
            </a:r>
            <a:r>
              <a:rPr kumimoji="1" lang="zh-CN" altLang="en-US" sz="2400" dirty="0">
                <a:latin typeface="Times New Roman" panose="02020603050405020304" pitchFamily="18" charset="0"/>
              </a:rPr>
              <a:t>关闭文件</a:t>
            </a:r>
            <a:endParaRPr kumimoji="1" lang="zh-CN" altLang="en-US" sz="2400" dirty="0">
              <a:latin typeface="Times New Roman" panose="02020603050405020304" pitchFamily="18" charset="0"/>
            </a:endParaRPr>
          </a:p>
          <a:p>
            <a:pPr algn="l" eaLnBrk="1" hangingPunct="1">
              <a:lnSpc>
                <a:spcPct val="120000"/>
              </a:lnSpc>
              <a:spcBef>
                <a:spcPct val="0"/>
              </a:spcBef>
            </a:pPr>
            <a:r>
              <a:rPr kumimoji="1" lang="zh-CN" altLang="en-US" sz="2400" dirty="0">
                <a:solidFill>
                  <a:schemeClr val="bg1">
                    <a:lumMod val="85000"/>
                  </a:schemeClr>
                </a:solidFill>
                <a:latin typeface="Times New Roman" panose="02020603050405020304" pitchFamily="18" charset="0"/>
              </a:rPr>
              <a:t>文件定位         </a:t>
            </a:r>
            <a:r>
              <a:rPr kumimoji="1" lang="en-US" altLang="zh-CN" sz="2400" dirty="0" err="1">
                <a:solidFill>
                  <a:schemeClr val="bg1">
                    <a:lumMod val="85000"/>
                  </a:schemeClr>
                </a:solidFill>
                <a:latin typeface="Times New Roman" panose="02020603050405020304" pitchFamily="18" charset="0"/>
              </a:rPr>
              <a:t>fseek</a:t>
            </a:r>
            <a:r>
              <a:rPr kumimoji="1" lang="en-US" altLang="zh-CN" sz="2400" dirty="0">
                <a:solidFill>
                  <a:schemeClr val="bg1">
                    <a:lumMod val="85000"/>
                  </a:schemeClr>
                </a:solidFill>
                <a:latin typeface="Times New Roman" panose="02020603050405020304" pitchFamily="18" charset="0"/>
              </a:rPr>
              <a:t>()        </a:t>
            </a:r>
            <a:r>
              <a:rPr kumimoji="1" lang="zh-CN" altLang="en-US" sz="2400" dirty="0">
                <a:solidFill>
                  <a:schemeClr val="bg1">
                    <a:lumMod val="85000"/>
                  </a:schemeClr>
                </a:solidFill>
                <a:latin typeface="Times New Roman" panose="02020603050405020304" pitchFamily="18" charset="0"/>
              </a:rPr>
              <a:t>改变文件位置指针的位置</a:t>
            </a:r>
            <a:endParaRPr kumimoji="1" lang="zh-CN" altLang="en-US" sz="2400" dirty="0">
              <a:solidFill>
                <a:schemeClr val="bg1">
                  <a:lumMod val="85000"/>
                </a:schemeClr>
              </a:solidFill>
              <a:latin typeface="Times New Roman" panose="02020603050405020304" pitchFamily="18" charset="0"/>
            </a:endParaRPr>
          </a:p>
          <a:p>
            <a:pPr algn="l" eaLnBrk="1" hangingPunct="1">
              <a:lnSpc>
                <a:spcPct val="120000"/>
              </a:lnSpc>
              <a:spcBef>
                <a:spcPct val="0"/>
              </a:spcBef>
            </a:pPr>
            <a:r>
              <a:rPr kumimoji="1" lang="zh-CN" altLang="en-US" sz="2400" dirty="0">
                <a:solidFill>
                  <a:schemeClr val="bg1">
                    <a:lumMod val="85000"/>
                  </a:schemeClr>
                </a:solidFill>
                <a:latin typeface="Times New Roman" panose="02020603050405020304" pitchFamily="18" charset="0"/>
              </a:rPr>
              <a:t>                         </a:t>
            </a:r>
            <a:r>
              <a:rPr kumimoji="1" lang="en-US" altLang="zh-CN" sz="2400" dirty="0">
                <a:solidFill>
                  <a:schemeClr val="bg1">
                    <a:lumMod val="85000"/>
                  </a:schemeClr>
                </a:solidFill>
                <a:latin typeface="Times New Roman" panose="02020603050405020304" pitchFamily="18" charset="0"/>
              </a:rPr>
              <a:t>rewind()    </a:t>
            </a:r>
            <a:r>
              <a:rPr kumimoji="1" lang="zh-CN" altLang="en-US" sz="2400" dirty="0">
                <a:solidFill>
                  <a:schemeClr val="bg1">
                    <a:lumMod val="85000"/>
                  </a:schemeClr>
                </a:solidFill>
                <a:latin typeface="Times New Roman" panose="02020603050405020304" pitchFamily="18" charset="0"/>
              </a:rPr>
              <a:t>使文件位置指针重新至于文件开头</a:t>
            </a:r>
            <a:endParaRPr kumimoji="1" lang="zh-CN" altLang="en-US" sz="2400" dirty="0">
              <a:solidFill>
                <a:schemeClr val="bg1">
                  <a:lumMod val="85000"/>
                </a:schemeClr>
              </a:solidFill>
              <a:latin typeface="Times New Roman" panose="02020603050405020304" pitchFamily="18" charset="0"/>
            </a:endParaRPr>
          </a:p>
          <a:p>
            <a:pPr algn="l" eaLnBrk="1" hangingPunct="1">
              <a:lnSpc>
                <a:spcPct val="120000"/>
              </a:lnSpc>
              <a:spcBef>
                <a:spcPct val="0"/>
              </a:spcBef>
            </a:pPr>
            <a:r>
              <a:rPr lang="zh-CN" altLang="en-US" sz="2400" dirty="0">
                <a:solidFill>
                  <a:schemeClr val="bg1">
                    <a:lumMod val="85000"/>
                  </a:schemeClr>
                </a:solidFill>
                <a:latin typeface="Times New Roman" panose="02020603050405020304" pitchFamily="18" charset="0"/>
              </a:rPr>
              <a:t>                         </a:t>
            </a:r>
            <a:r>
              <a:rPr lang="en-US" altLang="zh-CN" sz="2400" dirty="0" err="1">
                <a:solidFill>
                  <a:schemeClr val="bg1">
                    <a:lumMod val="85000"/>
                  </a:schemeClr>
                </a:solidFill>
                <a:latin typeface="Times New Roman" panose="02020603050405020304" pitchFamily="18" charset="0"/>
              </a:rPr>
              <a:t>ftell</a:t>
            </a:r>
            <a:r>
              <a:rPr lang="en-US" altLang="zh-CN" sz="2400" dirty="0">
                <a:solidFill>
                  <a:schemeClr val="bg1">
                    <a:lumMod val="85000"/>
                  </a:schemeClr>
                </a:solidFill>
                <a:latin typeface="Times New Roman" panose="02020603050405020304" pitchFamily="18" charset="0"/>
              </a:rPr>
              <a:t>()         </a:t>
            </a:r>
            <a:r>
              <a:rPr lang="zh-CN" altLang="en-US" sz="2400" dirty="0">
                <a:solidFill>
                  <a:schemeClr val="bg1">
                    <a:lumMod val="85000"/>
                  </a:schemeClr>
                </a:solidFill>
                <a:latin typeface="Times New Roman" panose="02020603050405020304" pitchFamily="18" charset="0"/>
              </a:rPr>
              <a:t>返回文件位置指针的当前值</a:t>
            </a:r>
            <a:endParaRPr lang="zh-CN" altLang="en-US" sz="2400" dirty="0">
              <a:solidFill>
                <a:schemeClr val="bg1">
                  <a:lumMod val="85000"/>
                </a:schemeClr>
              </a:solidFill>
              <a:latin typeface="Times New Roman" panose="02020603050405020304" pitchFamily="18" charset="0"/>
            </a:endParaRPr>
          </a:p>
          <a:p>
            <a:pPr algn="l" eaLnBrk="1" hangingPunct="1">
              <a:lnSpc>
                <a:spcPct val="120000"/>
              </a:lnSpc>
              <a:spcBef>
                <a:spcPct val="0"/>
              </a:spcBef>
            </a:pPr>
            <a:r>
              <a:rPr lang="zh-CN" altLang="en-US" sz="2400" dirty="0">
                <a:latin typeface="Times New Roman" panose="02020603050405020304" pitchFamily="18" charset="0"/>
              </a:rPr>
              <a:t>文件状态        </a:t>
            </a:r>
            <a:r>
              <a:rPr lang="en-US" altLang="zh-CN" sz="2400" dirty="0" err="1">
                <a:latin typeface="Times New Roman" panose="02020603050405020304" pitchFamily="18" charset="0"/>
              </a:rPr>
              <a:t>feof</a:t>
            </a:r>
            <a:r>
              <a:rPr lang="en-US" altLang="zh-CN" sz="2400" dirty="0">
                <a:latin typeface="Times New Roman" panose="02020603050405020304" pitchFamily="18" charset="0"/>
              </a:rPr>
              <a:t>()          </a:t>
            </a:r>
            <a:r>
              <a:rPr lang="zh-CN" altLang="en-US" sz="2400" dirty="0">
                <a:latin typeface="Times New Roman" panose="02020603050405020304" pitchFamily="18" charset="0"/>
              </a:rPr>
              <a:t>若到文件末尾，函数值为真</a:t>
            </a:r>
            <a:endParaRPr lang="zh-CN" altLang="en-US" sz="2400" dirty="0">
              <a:latin typeface="Times New Roman" panose="02020603050405020304" pitchFamily="18" charset="0"/>
            </a:endParaRPr>
          </a:p>
          <a:p>
            <a:pPr algn="l" eaLnBrk="1" hangingPunct="1">
              <a:lnSpc>
                <a:spcPct val="120000"/>
              </a:lnSpc>
              <a:spcBef>
                <a:spcPct val="0"/>
              </a:spcBef>
            </a:pPr>
            <a:r>
              <a:rPr lang="zh-CN" altLang="en-US" sz="2400" dirty="0">
                <a:latin typeface="Times New Roman" panose="02020603050405020304" pitchFamily="18" charset="0"/>
              </a:rPr>
              <a:t>                        </a:t>
            </a:r>
            <a:r>
              <a:rPr lang="en-US" altLang="zh-CN" sz="2400" dirty="0" err="1">
                <a:latin typeface="Times New Roman" panose="02020603050405020304" pitchFamily="18" charset="0"/>
              </a:rPr>
              <a:t>ferror</a:t>
            </a:r>
            <a:r>
              <a:rPr lang="en-US" altLang="zh-CN" sz="2400" dirty="0">
                <a:latin typeface="Times New Roman" panose="02020603050405020304" pitchFamily="18" charset="0"/>
              </a:rPr>
              <a:t>()      </a:t>
            </a:r>
            <a:r>
              <a:rPr lang="zh-CN" altLang="en-US" sz="2400" dirty="0">
                <a:latin typeface="Times New Roman" panose="02020603050405020304" pitchFamily="18" charset="0"/>
              </a:rPr>
              <a:t>若对文件操作出错，函数值为真</a:t>
            </a:r>
            <a:endParaRPr lang="zh-CN" altLang="en-US" sz="2400" dirty="0">
              <a:latin typeface="Times New Roman" panose="02020603050405020304" pitchFamily="18" charset="0"/>
            </a:endParaRPr>
          </a:p>
          <a:p>
            <a:pPr algn="l" eaLnBrk="1" hangingPunct="1">
              <a:lnSpc>
                <a:spcPct val="120000"/>
              </a:lnSpc>
              <a:spcBef>
                <a:spcPct val="0"/>
              </a:spcBef>
            </a:pPr>
            <a:r>
              <a:rPr lang="zh-CN" altLang="en-US" sz="2400" dirty="0">
                <a:latin typeface="Times New Roman" panose="02020603050405020304" pitchFamily="18" charset="0"/>
              </a:rPr>
              <a:t>                        </a:t>
            </a:r>
            <a:r>
              <a:rPr lang="en-US" altLang="zh-CN" sz="2400" dirty="0" err="1">
                <a:latin typeface="Times New Roman" panose="02020603050405020304" pitchFamily="18" charset="0"/>
              </a:rPr>
              <a:t>clearerr</a:t>
            </a:r>
            <a:r>
              <a:rPr lang="en-US" altLang="zh-CN" sz="2400" dirty="0">
                <a:latin typeface="Times New Roman" panose="02020603050405020304" pitchFamily="18" charset="0"/>
              </a:rPr>
              <a:t>()   </a:t>
            </a:r>
            <a:r>
              <a:rPr lang="zh-CN" altLang="en-US" sz="2400" dirty="0">
                <a:latin typeface="Times New Roman" panose="02020603050405020304" pitchFamily="18" charset="0"/>
              </a:rPr>
              <a:t>使</a:t>
            </a:r>
            <a:r>
              <a:rPr lang="en-US" altLang="zh-CN" sz="2400" dirty="0" err="1">
                <a:latin typeface="Times New Roman" panose="02020603050405020304" pitchFamily="18" charset="0"/>
              </a:rPr>
              <a:t>ferror</a:t>
            </a:r>
            <a:r>
              <a:rPr lang="zh-CN" altLang="en-US" sz="2400" dirty="0">
                <a:latin typeface="Times New Roman" panose="02020603050405020304" pitchFamily="18" charset="0"/>
              </a:rPr>
              <a:t>和</a:t>
            </a:r>
            <a:r>
              <a:rPr lang="en-US" altLang="zh-CN" sz="2400" dirty="0" err="1">
                <a:latin typeface="Times New Roman" panose="02020603050405020304" pitchFamily="18" charset="0"/>
              </a:rPr>
              <a:t>feof</a:t>
            </a:r>
            <a:r>
              <a:rPr lang="en-US" altLang="zh-CN" sz="2400" dirty="0">
                <a:latin typeface="Times New Roman" panose="02020603050405020304" pitchFamily="18" charset="0"/>
              </a:rPr>
              <a:t>()</a:t>
            </a:r>
            <a:r>
              <a:rPr lang="zh-CN" altLang="en-US" sz="2400" dirty="0">
                <a:latin typeface="Times New Roman" panose="02020603050405020304" pitchFamily="18" charset="0"/>
              </a:rPr>
              <a:t>函数值置零</a:t>
            </a:r>
            <a:endParaRPr lang="zh-CN" altLang="en-US" sz="2400" dirty="0">
              <a:latin typeface="Times New Roman" panose="02020603050405020304" pitchFamily="18" charset="0"/>
            </a:endParaRPr>
          </a:p>
          <a:p>
            <a:pPr algn="l" eaLnBrk="1" hangingPunct="1">
              <a:lnSpc>
                <a:spcPct val="120000"/>
              </a:lnSpc>
              <a:spcBef>
                <a:spcPct val="0"/>
              </a:spcBef>
            </a:pPr>
            <a:endParaRPr kumimoji="1" lang="zh-CN" altLang="en-US" sz="2400" dirty="0">
              <a:latin typeface="Times New Roman" panose="02020603050405020304" pitchFamily="18" charset="0"/>
            </a:endParaRPr>
          </a:p>
        </p:txBody>
      </p:sp>
      <p:sp>
        <p:nvSpPr>
          <p:cNvPr id="2" name="标题 1"/>
          <p:cNvSpPr>
            <a:spLocks noGrp="1"/>
          </p:cNvSpPr>
          <p:nvPr>
            <p:ph type="title"/>
          </p:nvPr>
        </p:nvSpPr>
        <p:spPr/>
        <p:txBody>
          <a:bodyPr>
            <a:normAutofit/>
          </a:bodyPr>
          <a:lstStyle/>
          <a:p>
            <a:r>
              <a:rPr lang="zh-CN" altLang="en-US" dirty="0"/>
              <a:t>文件其他操作函数一览表</a:t>
            </a:r>
            <a:endParaRPr 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如何完成下面任务？</a:t>
            </a:r>
            <a:endParaRPr lang="zh-CN" altLang="en-US" dirty="0"/>
          </a:p>
        </p:txBody>
      </p:sp>
      <p:sp>
        <p:nvSpPr>
          <p:cNvPr id="3" name="内容占位符 2"/>
          <p:cNvSpPr>
            <a:spLocks noGrp="1"/>
          </p:cNvSpPr>
          <p:nvPr>
            <p:ph idx="1"/>
          </p:nvPr>
        </p:nvSpPr>
        <p:spPr>
          <a:xfrm>
            <a:off x="432000" y="1844936"/>
            <a:ext cx="8280000" cy="4455063"/>
          </a:xfrm>
        </p:spPr>
        <p:txBody>
          <a:bodyPr>
            <a:normAutofit/>
          </a:bodyPr>
          <a:lstStyle/>
          <a:p>
            <a:pPr marL="514350" indent="-514350">
              <a:buFont typeface="+mj-lt"/>
              <a:buAutoNum type="arabicPeriod"/>
            </a:pPr>
            <a:r>
              <a:rPr lang="zh-CN" altLang="en-US" sz="3200" dirty="0"/>
              <a:t>将结构体数组中的学生信息存入到文件中</a:t>
            </a:r>
            <a:endParaRPr lang="en-US" altLang="zh-CN" sz="3200" dirty="0"/>
          </a:p>
          <a:p>
            <a:pPr marL="514350" indent="-514350">
              <a:buFont typeface="+mj-lt"/>
              <a:buAutoNum type="arabicPeriod"/>
            </a:pPr>
            <a:r>
              <a:rPr lang="zh-CN" altLang="en-US" sz="3200" dirty="0"/>
              <a:t>将文件中的学生信息读入到结构体数组</a:t>
            </a:r>
            <a:endParaRPr lang="en-US" altLang="zh-CN" sz="3200" dirty="0"/>
          </a:p>
          <a:p>
            <a:pPr marL="514350" indent="-514350">
              <a:buFont typeface="+mj-lt"/>
              <a:buAutoNum type="arabicPeriod"/>
            </a:pPr>
            <a:r>
              <a:rPr lang="zh-CN" altLang="en-US" sz="3200" dirty="0"/>
              <a:t>命令行实现文件的复制</a:t>
            </a:r>
            <a:endParaRPr lang="en-US" altLang="zh-CN" sz="3200" dirty="0"/>
          </a:p>
          <a:p>
            <a:pPr marL="514350" indent="-514350">
              <a:buFont typeface="+mj-lt"/>
              <a:buAutoNum type="arabicPeriod"/>
            </a:pPr>
            <a:endParaRPr lang="zh-CN" altLang="en-US" sz="3200" dirty="0"/>
          </a:p>
        </p:txBody>
      </p:sp>
      <p:sp>
        <p:nvSpPr>
          <p:cNvPr id="4" name="文本框 3"/>
          <p:cNvSpPr txBox="1"/>
          <p:nvPr/>
        </p:nvSpPr>
        <p:spPr>
          <a:xfrm>
            <a:off x="3275704" y="4372984"/>
            <a:ext cx="2492990" cy="646331"/>
          </a:xfrm>
          <a:prstGeom prst="rect">
            <a:avLst/>
          </a:prstGeom>
          <a:noFill/>
        </p:spPr>
        <p:txBody>
          <a:bodyPr wrap="none" rtlCol="0">
            <a:spAutoFit/>
          </a:bodyPr>
          <a:lstStyle/>
          <a:p>
            <a:r>
              <a:rPr lang="zh-CN" altLang="en-US" sz="3600" dirty="0"/>
              <a:t>文件操作！</a:t>
            </a:r>
            <a:endParaRPr lang="zh-CN" altLang="en-US" sz="3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94270"/>
            <a:ext cx="8280000" cy="683692"/>
          </a:xfrm>
        </p:spPr>
        <p:txBody>
          <a:bodyPr>
            <a:normAutofit/>
          </a:bodyPr>
          <a:lstStyle/>
          <a:p>
            <a:r>
              <a:rPr lang="en-US" altLang="zh-CN" dirty="0"/>
              <a:t>1. </a:t>
            </a:r>
            <a:r>
              <a:rPr lang="zh-CN" altLang="en-US" dirty="0"/>
              <a:t>将学生信息输出到文件</a:t>
            </a:r>
            <a:endParaRPr lang="zh-CN" altLang="en-US" dirty="0"/>
          </a:p>
        </p:txBody>
      </p:sp>
      <p:sp>
        <p:nvSpPr>
          <p:cNvPr id="3" name="内容占位符 2"/>
          <p:cNvSpPr>
            <a:spLocks noGrp="1"/>
          </p:cNvSpPr>
          <p:nvPr>
            <p:ph idx="1"/>
          </p:nvPr>
        </p:nvSpPr>
        <p:spPr>
          <a:xfrm>
            <a:off x="432000" y="1328569"/>
            <a:ext cx="8280000" cy="5142737"/>
          </a:xfrm>
          <a:solidFill>
            <a:schemeClr val="tx1"/>
          </a:solidFill>
        </p:spPr>
        <p:txBody>
          <a:bodyPr>
            <a:normAutofit/>
          </a:bodyPr>
          <a:lstStyle/>
          <a:p>
            <a:pPr>
              <a:spcBef>
                <a:spcPts val="0"/>
              </a:spcBef>
              <a:buFont typeface="+mj-lt"/>
              <a:buAutoNum type="arabicPeriod"/>
            </a:pPr>
            <a:r>
              <a:rPr lang="en-US" altLang="zh-CN" sz="1800" b="0" dirty="0">
                <a:solidFill>
                  <a:srgbClr val="C586C0"/>
                </a:solidFill>
                <a:effectLst/>
                <a:latin typeface="Consolas" panose="020B0609020204030204" pitchFamily="49" charset="0"/>
              </a:rPr>
              <a:t>#include</a:t>
            </a:r>
            <a:r>
              <a:rPr lang="en-US" altLang="zh-CN" sz="1800" b="0" dirty="0">
                <a:solidFill>
                  <a:srgbClr val="569CD6"/>
                </a:solidFill>
                <a:effectLst/>
                <a:latin typeface="Consolas" panose="020B0609020204030204" pitchFamily="49" charset="0"/>
              </a:rPr>
              <a:t> </a:t>
            </a:r>
            <a:r>
              <a:rPr lang="en-US" altLang="zh-CN" sz="1800" b="0" dirty="0">
                <a:solidFill>
                  <a:srgbClr val="CE9178"/>
                </a:solidFill>
                <a:effectLst/>
                <a:latin typeface="Consolas" panose="020B0609020204030204" pitchFamily="49" charset="0"/>
              </a:rPr>
              <a:t>&lt;</a:t>
            </a:r>
            <a:r>
              <a:rPr lang="en-US" altLang="zh-CN" sz="1800" b="0" dirty="0" err="1">
                <a:solidFill>
                  <a:srgbClr val="CE9178"/>
                </a:solidFill>
                <a:effectLst/>
                <a:latin typeface="Consolas" panose="020B0609020204030204" pitchFamily="49" charset="0"/>
              </a:rPr>
              <a:t>stdio.h</a:t>
            </a:r>
            <a:r>
              <a:rPr lang="en-US" altLang="zh-CN" sz="1800" b="0" dirty="0">
                <a:solidFill>
                  <a:srgbClr val="CE9178"/>
                </a:solidFill>
                <a:effectLst/>
                <a:latin typeface="Consolas" panose="020B0609020204030204" pitchFamily="49" charset="0"/>
              </a:rPr>
              <a:t>&gt;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586C0"/>
                </a:solidFill>
                <a:effectLst/>
                <a:latin typeface="Consolas" panose="020B0609020204030204" pitchFamily="49" charset="0"/>
              </a:rPr>
              <a:t>#include</a:t>
            </a:r>
            <a:r>
              <a:rPr lang="en-US" altLang="zh-CN" sz="1800" b="0" dirty="0">
                <a:solidFill>
                  <a:srgbClr val="569CD6"/>
                </a:solidFill>
                <a:effectLst/>
                <a:latin typeface="Consolas" panose="020B0609020204030204" pitchFamily="49" charset="0"/>
              </a:rPr>
              <a:t> </a:t>
            </a:r>
            <a:r>
              <a:rPr lang="en-US" altLang="zh-CN" sz="1800" b="0" dirty="0">
                <a:solidFill>
                  <a:srgbClr val="CE9178"/>
                </a:solidFill>
                <a:effectLst/>
                <a:latin typeface="Consolas" panose="020B0609020204030204" pitchFamily="49" charset="0"/>
              </a:rPr>
              <a:t>&lt;</a:t>
            </a:r>
            <a:r>
              <a:rPr lang="en-US" altLang="zh-CN" sz="1800" b="0" dirty="0" err="1">
                <a:solidFill>
                  <a:srgbClr val="CE9178"/>
                </a:solidFill>
                <a:effectLst/>
                <a:latin typeface="Consolas" panose="020B0609020204030204" pitchFamily="49" charset="0"/>
              </a:rPr>
              <a:t>stdlib.h</a:t>
            </a:r>
            <a:r>
              <a:rPr lang="en-US" altLang="zh-CN" sz="1800" b="0" dirty="0">
                <a:solidFill>
                  <a:srgbClr val="CE9178"/>
                </a:solidFill>
                <a:effectLst/>
                <a:latin typeface="Consolas" panose="020B0609020204030204" pitchFamily="49" charset="0"/>
              </a:rPr>
              <a:t>&gt;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569CD6"/>
                </a:solidFill>
                <a:effectLst/>
                <a:latin typeface="Consolas" panose="020B0609020204030204" pitchFamily="49" charset="0"/>
              </a:rPr>
              <a:t>typedef</a:t>
            </a: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struct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int</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sno</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char</a:t>
            </a:r>
            <a:r>
              <a:rPr lang="en-US" altLang="zh-CN" sz="1800" b="0" dirty="0">
                <a:solidFill>
                  <a:srgbClr val="CCCCCC"/>
                </a:solidFill>
                <a:effectLst/>
                <a:latin typeface="Consolas" panose="020B0609020204030204" pitchFamily="49" charset="0"/>
              </a:rPr>
              <a:t> </a:t>
            </a:r>
            <a:r>
              <a:rPr lang="en-US" altLang="zh-CN" sz="1800" b="0" dirty="0">
                <a:solidFill>
                  <a:srgbClr val="9CDCFE"/>
                </a:solidFill>
                <a:effectLst/>
                <a:latin typeface="Consolas" panose="020B0609020204030204" pitchFamily="49" charset="0"/>
              </a:rPr>
              <a:t>name</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10</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char</a:t>
            </a:r>
            <a:r>
              <a:rPr lang="en-US" altLang="zh-CN" sz="1800" b="0" dirty="0">
                <a:solidFill>
                  <a:srgbClr val="CCCCCC"/>
                </a:solidFill>
                <a:effectLst/>
                <a:latin typeface="Consolas" panose="020B0609020204030204" pitchFamily="49" charset="0"/>
              </a:rPr>
              <a:t> </a:t>
            </a:r>
            <a:r>
              <a:rPr lang="en-US" altLang="zh-CN" sz="1800" b="0" dirty="0">
                <a:solidFill>
                  <a:srgbClr val="9CDCFE"/>
                </a:solidFill>
                <a:effectLst/>
                <a:latin typeface="Consolas" panose="020B0609020204030204" pitchFamily="49" charset="0"/>
              </a:rPr>
              <a:t>sex</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int</a:t>
            </a:r>
            <a:r>
              <a:rPr lang="en-US" altLang="zh-CN" sz="1800" b="0" dirty="0">
                <a:solidFill>
                  <a:srgbClr val="CCCCCC"/>
                </a:solidFill>
                <a:effectLst/>
                <a:latin typeface="Consolas" panose="020B0609020204030204" pitchFamily="49" charset="0"/>
              </a:rPr>
              <a:t> </a:t>
            </a:r>
            <a:r>
              <a:rPr lang="en-US" altLang="zh-CN" sz="1800" b="0" dirty="0">
                <a:solidFill>
                  <a:srgbClr val="9CDCFE"/>
                </a:solidFill>
                <a:effectLst/>
                <a:latin typeface="Consolas" panose="020B0609020204030204" pitchFamily="49" charset="0"/>
              </a:rPr>
              <a:t>age</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4EC9B0"/>
                </a:solidFill>
                <a:effectLst/>
                <a:latin typeface="Consolas" panose="020B0609020204030204" pitchFamily="49" charset="0"/>
              </a:rPr>
              <a:t>Student</a:t>
            </a:r>
            <a:r>
              <a:rPr lang="en-US" altLang="zh-CN" sz="1800" b="0" dirty="0">
                <a:solidFill>
                  <a:srgbClr val="CCCCCC"/>
                </a:solidFill>
                <a:effectLst/>
                <a:latin typeface="Consolas" panose="020B0609020204030204" pitchFamily="49" charset="0"/>
              </a:rPr>
              <a:t>;</a:t>
            </a:r>
            <a:r>
              <a:rPr lang="en-US" altLang="zh-CN" sz="1800" b="0" dirty="0">
                <a:solidFill>
                  <a:srgbClr val="6A9955"/>
                </a:solidFill>
                <a:effectLst/>
                <a:latin typeface="Consolas" panose="020B0609020204030204" pitchFamily="49" charset="0"/>
              </a:rPr>
              <a:t> // </a:t>
            </a:r>
            <a:r>
              <a:rPr lang="zh-CN" altLang="en-US" sz="1800" b="0" dirty="0">
                <a:solidFill>
                  <a:srgbClr val="6A9955"/>
                </a:solidFill>
                <a:effectLst/>
                <a:latin typeface="Consolas" panose="020B0609020204030204" pitchFamily="49" charset="0"/>
              </a:rPr>
              <a:t>学生数据类型</a:t>
            </a:r>
            <a:endParaRPr lang="zh-CN" altLang="en-US"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569CD6"/>
                </a:solidFill>
                <a:effectLst/>
                <a:latin typeface="Consolas" panose="020B0609020204030204" pitchFamily="49" charset="0"/>
              </a:rPr>
              <a:t>int</a:t>
            </a:r>
            <a:r>
              <a:rPr lang="en-US" altLang="zh-CN" sz="1800" b="0" dirty="0">
                <a:solidFill>
                  <a:srgbClr val="CCCCCC"/>
                </a:solidFill>
                <a:effectLst/>
                <a:latin typeface="Consolas" panose="020B0609020204030204" pitchFamily="49" charset="0"/>
              </a:rPr>
              <a:t> </a:t>
            </a:r>
            <a:r>
              <a:rPr lang="en-US" altLang="zh-CN" sz="1800" b="0" dirty="0">
                <a:solidFill>
                  <a:srgbClr val="DCDCAA"/>
                </a:solidFill>
                <a:effectLst/>
                <a:latin typeface="Consolas" panose="020B0609020204030204" pitchFamily="49" charset="0"/>
              </a:rPr>
              <a:t>main</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4EC9B0"/>
                </a:solidFill>
                <a:effectLst/>
                <a:latin typeface="Consolas" panose="020B0609020204030204" pitchFamily="49" charset="0"/>
              </a:rPr>
              <a:t>Student</a:t>
            </a:r>
            <a:r>
              <a:rPr lang="en-US" altLang="zh-CN" sz="1800" b="0" dirty="0">
                <a:solidFill>
                  <a:srgbClr val="CCCCCC"/>
                </a:solidFill>
                <a:effectLst/>
                <a:latin typeface="Consolas" panose="020B0609020204030204" pitchFamily="49" charset="0"/>
              </a:rPr>
              <a:t> </a:t>
            </a:r>
            <a:r>
              <a:rPr lang="en-US" altLang="zh-CN" sz="1800" b="0" dirty="0">
                <a:solidFill>
                  <a:srgbClr val="9CDCFE"/>
                </a:solidFill>
                <a:effectLst/>
                <a:latin typeface="Consolas" panose="020B0609020204030204" pitchFamily="49" charset="0"/>
              </a:rPr>
              <a:t>stud</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2</a:t>
            </a:r>
            <a:r>
              <a:rPr lang="en-US" altLang="zh-CN" sz="1800" b="0" dirty="0">
                <a:solidFill>
                  <a:srgbClr val="CCCCCC"/>
                </a:solidFill>
                <a:effectLst/>
                <a:latin typeface="Consolas" panose="020B0609020204030204" pitchFamily="49" charset="0"/>
              </a:rPr>
              <a:t>] </a:t>
            </a:r>
            <a:r>
              <a:rPr lang="en-US" altLang="zh-CN" sz="1800" b="0" dirty="0">
                <a:solidFill>
                  <a:srgbClr val="D4D4D4"/>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2021123456</a:t>
            </a:r>
            <a:r>
              <a:rPr lang="en-US" altLang="zh-CN" sz="1800" b="0" dirty="0">
                <a:solidFill>
                  <a:srgbClr val="CCCCCC"/>
                </a:solidFill>
                <a:effectLst/>
                <a:latin typeface="Consolas" panose="020B0609020204030204" pitchFamily="49" charset="0"/>
              </a:rPr>
              <a:t>, </a:t>
            </a:r>
            <a:r>
              <a:rPr lang="en-US" altLang="zh-CN" sz="1800" b="0" dirty="0">
                <a:solidFill>
                  <a:srgbClr val="CE9178"/>
                </a:solidFill>
                <a:effectLst/>
                <a:latin typeface="Consolas" panose="020B0609020204030204" pitchFamily="49" charset="0"/>
              </a:rPr>
              <a:t>"Zhang </a:t>
            </a:r>
            <a:r>
              <a:rPr lang="en-US" altLang="zh-CN" sz="1800" b="0" dirty="0" err="1">
                <a:solidFill>
                  <a:srgbClr val="CE9178"/>
                </a:solidFill>
                <a:effectLst/>
                <a:latin typeface="Consolas" panose="020B0609020204030204" pitchFamily="49" charset="0"/>
              </a:rPr>
              <a:t>san</a:t>
            </a:r>
            <a:r>
              <a:rPr lang="en-US" altLang="zh-CN" sz="1800" b="0" dirty="0">
                <a:solidFill>
                  <a:srgbClr val="CE9178"/>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 </a:t>
            </a:r>
            <a:r>
              <a:rPr lang="en-US" altLang="zh-CN" sz="1800" b="0" dirty="0">
                <a:solidFill>
                  <a:srgbClr val="CE9178"/>
                </a:solidFill>
                <a:effectLst/>
                <a:latin typeface="Consolas" panose="020B0609020204030204" pitchFamily="49" charset="0"/>
              </a:rPr>
              <a:t>'F'</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18</a:t>
            </a:r>
            <a:r>
              <a:rPr lang="en-US" altLang="zh-CN" sz="1800" b="0" dirty="0">
                <a:solidFill>
                  <a:srgbClr val="CCCCCC"/>
                </a:solidFill>
                <a:effectLst/>
                <a:latin typeface="Consolas" panose="020B0609020204030204" pitchFamily="49" charset="0"/>
              </a:rPr>
              <a:t>}, </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2021654321</a:t>
            </a:r>
            <a:r>
              <a:rPr lang="en-US" altLang="zh-CN" sz="1800" b="0" dirty="0">
                <a:solidFill>
                  <a:srgbClr val="CCCCCC"/>
                </a:solidFill>
                <a:effectLst/>
                <a:latin typeface="Consolas" panose="020B0609020204030204" pitchFamily="49" charset="0"/>
              </a:rPr>
              <a:t>, </a:t>
            </a:r>
            <a:r>
              <a:rPr lang="en-US" altLang="zh-CN" sz="1800" b="0" dirty="0">
                <a:solidFill>
                  <a:srgbClr val="CE9178"/>
                </a:solidFill>
                <a:effectLst/>
                <a:latin typeface="Consolas" panose="020B0609020204030204" pitchFamily="49" charset="0"/>
              </a:rPr>
              <a:t>"Li </a:t>
            </a:r>
            <a:r>
              <a:rPr lang="en-US" altLang="zh-CN" sz="1800" b="0" dirty="0" err="1">
                <a:solidFill>
                  <a:srgbClr val="CE9178"/>
                </a:solidFill>
                <a:effectLst/>
                <a:latin typeface="Consolas" panose="020B0609020204030204" pitchFamily="49" charset="0"/>
              </a:rPr>
              <a:t>si</a:t>
            </a:r>
            <a:r>
              <a:rPr lang="en-US" altLang="zh-CN" sz="1800" b="0" dirty="0">
                <a:solidFill>
                  <a:srgbClr val="CE9178"/>
                </a:solidFill>
                <a:effectLst/>
                <a:latin typeface="Consolas" panose="020B0609020204030204" pitchFamily="49" charset="0"/>
              </a:rPr>
              <a:t>"</a:t>
            </a:r>
            <a:r>
              <a:rPr lang="en-US" altLang="zh-CN" sz="1800" b="0" dirty="0">
                <a:solidFill>
                  <a:srgbClr val="CCCCCC"/>
                </a:solidFill>
                <a:effectLst/>
                <a:latin typeface="Consolas" panose="020B0609020204030204" pitchFamily="49" charset="0"/>
              </a:rPr>
              <a:t>, </a:t>
            </a:r>
            <a:r>
              <a:rPr lang="en-US" altLang="zh-CN" sz="1800" b="0" dirty="0">
                <a:solidFill>
                  <a:srgbClr val="CE9178"/>
                </a:solidFill>
                <a:effectLst/>
                <a:latin typeface="Consolas" panose="020B0609020204030204" pitchFamily="49" charset="0"/>
              </a:rPr>
              <a:t>'M'</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19</a:t>
            </a:r>
            <a:r>
              <a:rPr lang="en-US" altLang="zh-CN" sz="1800" b="0" dirty="0">
                <a:solidFill>
                  <a:srgbClr val="CCCCCC"/>
                </a:solidFill>
                <a:effectLst/>
                <a:latin typeface="Consolas" panose="020B0609020204030204" pitchFamily="49" charset="0"/>
              </a:rPr>
              <a:t>}};</a:t>
            </a:r>
            <a:r>
              <a:rPr lang="en-US" altLang="zh-CN" sz="1800" b="0" dirty="0">
                <a:solidFill>
                  <a:srgbClr val="6A9955"/>
                </a:solidFill>
                <a:effectLst/>
                <a:latin typeface="Consolas" panose="020B0609020204030204" pitchFamily="49" charset="0"/>
              </a:rPr>
              <a:t>  //</a:t>
            </a:r>
            <a:r>
              <a:rPr lang="zh-CN" altLang="en-US" sz="1800" b="0" dirty="0">
                <a:solidFill>
                  <a:srgbClr val="6A9955"/>
                </a:solidFill>
                <a:effectLst/>
                <a:latin typeface="Consolas" panose="020B0609020204030204" pitchFamily="49" charset="0"/>
              </a:rPr>
              <a:t>学生信息</a:t>
            </a:r>
            <a:endParaRPr lang="zh-CN" altLang="en-US" sz="1800" b="0" dirty="0">
              <a:solidFill>
                <a:srgbClr val="CCCCCC"/>
              </a:solidFill>
              <a:effectLst/>
              <a:latin typeface="Consolas" panose="020B0609020204030204" pitchFamily="49" charset="0"/>
            </a:endParaRPr>
          </a:p>
          <a:p>
            <a:pPr>
              <a:spcBef>
                <a:spcPts val="0"/>
              </a:spcBef>
              <a:buFont typeface="+mj-lt"/>
              <a:buAutoNum type="arabicPeriod"/>
            </a:pPr>
            <a:r>
              <a:rPr lang="zh-CN" altLang="en-US" sz="1800" b="0" dirty="0">
                <a:solidFill>
                  <a:srgbClr val="CCCCCC"/>
                </a:solidFill>
                <a:effectLst/>
                <a:latin typeface="Consolas" panose="020B0609020204030204" pitchFamily="49" charset="0"/>
              </a:rPr>
              <a:t>    </a:t>
            </a:r>
            <a:endParaRPr lang="zh-CN" altLang="en-US" sz="1800" b="0" dirty="0">
              <a:solidFill>
                <a:srgbClr val="CCCCCC"/>
              </a:solidFill>
              <a:effectLst/>
              <a:latin typeface="Consolas" panose="020B0609020204030204" pitchFamily="49" charset="0"/>
            </a:endParaRPr>
          </a:p>
          <a:p>
            <a:pPr>
              <a:spcBef>
                <a:spcPts val="0"/>
              </a:spcBef>
              <a:buFont typeface="+mj-lt"/>
              <a:buAutoNum type="arabicPeriod"/>
            </a:pPr>
            <a:r>
              <a:rPr lang="zh-CN" altLang="en-US" sz="1800" b="0" dirty="0">
                <a:solidFill>
                  <a:srgbClr val="6A9955"/>
                </a:solidFill>
                <a:effectLst/>
                <a:latin typeface="Consolas" panose="020B0609020204030204" pitchFamily="49" charset="0"/>
              </a:rPr>
              <a:t>    </a:t>
            </a:r>
            <a:r>
              <a:rPr lang="en-US" altLang="zh-CN" sz="1800" b="0" dirty="0">
                <a:solidFill>
                  <a:srgbClr val="6A9955"/>
                </a:solidFill>
                <a:effectLst/>
                <a:latin typeface="Consolas" panose="020B0609020204030204" pitchFamily="49" charset="0"/>
              </a:rPr>
              <a:t>//===TODO:</a:t>
            </a:r>
            <a:r>
              <a:rPr lang="zh-CN" altLang="en-US" sz="1800" b="0" dirty="0">
                <a:solidFill>
                  <a:srgbClr val="6A9955"/>
                </a:solidFill>
                <a:effectLst/>
                <a:latin typeface="Consolas" panose="020B0609020204030204" pitchFamily="49" charset="0"/>
              </a:rPr>
              <a:t>补充文件存储代码将学生信息存入文件</a:t>
            </a:r>
            <a:r>
              <a:rPr lang="en-US" altLang="zh-CN" sz="1800" b="0" dirty="0">
                <a:solidFill>
                  <a:srgbClr val="6A9955"/>
                </a:solidFill>
                <a:effectLst/>
                <a:latin typeface="Consolas" panose="020B0609020204030204" pitchFamily="49" charset="0"/>
              </a:rPr>
              <a:t>===//</a:t>
            </a:r>
            <a:endParaRPr lang="zh-CN" altLang="en-US" sz="1800" b="0" dirty="0">
              <a:solidFill>
                <a:srgbClr val="CCCCCC"/>
              </a:solidFill>
              <a:effectLst/>
              <a:latin typeface="Consolas" panose="020B0609020204030204" pitchFamily="49" charset="0"/>
            </a:endParaRPr>
          </a:p>
          <a:p>
            <a:pPr>
              <a:spcBef>
                <a:spcPts val="0"/>
              </a:spcBef>
              <a:buFont typeface="+mj-lt"/>
              <a:buAutoNum type="arabicPeriod"/>
            </a:pPr>
            <a:br>
              <a:rPr lang="zh-CN" altLang="en-US" sz="1800" b="0" dirty="0">
                <a:solidFill>
                  <a:srgbClr val="CCCCCC"/>
                </a:solidFill>
                <a:effectLst/>
                <a:latin typeface="Consolas" panose="020B0609020204030204" pitchFamily="49" charset="0"/>
              </a:rPr>
            </a:br>
            <a:r>
              <a:rPr lang="zh-CN" altLang="en-US" sz="1800" b="0" dirty="0">
                <a:solidFill>
                  <a:srgbClr val="CCCCCC"/>
                </a:solidFill>
                <a:effectLst/>
                <a:latin typeface="Consolas" panose="020B0609020204030204" pitchFamily="49" charset="0"/>
              </a:rPr>
              <a:t>    </a:t>
            </a:r>
            <a:r>
              <a:rPr lang="en-US" altLang="zh-CN" sz="1800" b="0" dirty="0">
                <a:solidFill>
                  <a:srgbClr val="C586C0"/>
                </a:solidFill>
                <a:effectLst/>
                <a:latin typeface="Consolas" panose="020B0609020204030204" pitchFamily="49" charset="0"/>
              </a:rPr>
              <a:t>return</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0</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p:txBody>
      </p:sp>
      <p:sp>
        <p:nvSpPr>
          <p:cNvPr id="4" name="文本框 3"/>
          <p:cNvSpPr txBox="1"/>
          <p:nvPr/>
        </p:nvSpPr>
        <p:spPr>
          <a:xfrm>
            <a:off x="3665220" y="6009641"/>
            <a:ext cx="5109091" cy="461665"/>
          </a:xfrm>
          <a:prstGeom prst="rect">
            <a:avLst/>
          </a:prstGeom>
          <a:noFill/>
        </p:spPr>
        <p:txBody>
          <a:bodyPr wrap="none" rtlCol="0">
            <a:spAutoFit/>
          </a:bodyPr>
          <a:lstStyle/>
          <a:p>
            <a:r>
              <a:rPr lang="zh-CN" altLang="en-US" sz="2400" dirty="0">
                <a:solidFill>
                  <a:srgbClr val="FF0000"/>
                </a:solidFill>
              </a:rPr>
              <a:t>思考：怎样存才能比较容易读回来？</a:t>
            </a:r>
            <a:endParaRPr lang="zh-CN" altLang="en-US" sz="2400" dirty="0">
              <a:solidFill>
                <a:srgbClr val="FF0000"/>
              </a:solidFill>
            </a:endParaRPr>
          </a:p>
        </p:txBody>
      </p:sp>
      <p:sp>
        <p:nvSpPr>
          <p:cNvPr id="5" name="左大括号 4"/>
          <p:cNvSpPr/>
          <p:nvPr/>
        </p:nvSpPr>
        <p:spPr>
          <a:xfrm>
            <a:off x="6294120" y="1562100"/>
            <a:ext cx="205740" cy="777240"/>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p:cNvSpPr txBox="1"/>
          <p:nvPr/>
        </p:nvSpPr>
        <p:spPr>
          <a:xfrm>
            <a:off x="6568440" y="1411493"/>
            <a:ext cx="1415772" cy="461665"/>
          </a:xfrm>
          <a:prstGeom prst="rect">
            <a:avLst/>
          </a:prstGeom>
          <a:noFill/>
        </p:spPr>
        <p:txBody>
          <a:bodyPr wrap="none" rtlCol="0">
            <a:spAutoFit/>
          </a:bodyPr>
          <a:lstStyle/>
          <a:p>
            <a:r>
              <a:rPr lang="zh-CN" altLang="en-US" sz="2400" dirty="0">
                <a:solidFill>
                  <a:srgbClr val="FF0000"/>
                </a:solidFill>
              </a:rPr>
              <a:t>文本文件</a:t>
            </a:r>
            <a:endParaRPr lang="zh-CN" altLang="en-US" sz="2400" dirty="0">
              <a:solidFill>
                <a:srgbClr val="FF0000"/>
              </a:solidFill>
            </a:endParaRPr>
          </a:p>
        </p:txBody>
      </p:sp>
      <p:sp>
        <p:nvSpPr>
          <p:cNvPr id="7" name="文本框 6"/>
          <p:cNvSpPr txBox="1"/>
          <p:nvPr/>
        </p:nvSpPr>
        <p:spPr>
          <a:xfrm>
            <a:off x="6568440" y="2023765"/>
            <a:ext cx="1723549" cy="461665"/>
          </a:xfrm>
          <a:prstGeom prst="rect">
            <a:avLst/>
          </a:prstGeom>
          <a:noFill/>
        </p:spPr>
        <p:txBody>
          <a:bodyPr wrap="none" rtlCol="0">
            <a:spAutoFit/>
          </a:bodyPr>
          <a:lstStyle/>
          <a:p>
            <a:r>
              <a:rPr lang="zh-CN" altLang="en-US" sz="2400" dirty="0">
                <a:solidFill>
                  <a:srgbClr val="FF0000"/>
                </a:solidFill>
              </a:rPr>
              <a:t>二进制文件</a:t>
            </a:r>
            <a:endParaRPr lang="zh-CN" altLang="en-US" sz="2400"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示例代码：写入文本文件</a:t>
            </a:r>
            <a:endParaRPr lang="zh-CN" altLang="en-US" dirty="0"/>
          </a:p>
        </p:txBody>
      </p:sp>
      <p:sp>
        <p:nvSpPr>
          <p:cNvPr id="3" name="内容占位符 2"/>
          <p:cNvSpPr>
            <a:spLocks noGrp="1"/>
          </p:cNvSpPr>
          <p:nvPr>
            <p:ph idx="1"/>
          </p:nvPr>
        </p:nvSpPr>
        <p:spPr>
          <a:xfrm>
            <a:off x="114300" y="1386000"/>
            <a:ext cx="8915400" cy="5040000"/>
          </a:xfrm>
          <a:solidFill>
            <a:schemeClr val="tx1"/>
          </a:solidFill>
        </p:spPr>
        <p:txBody>
          <a:bodyPr>
            <a:normAutofit fontScale="85000" lnSpcReduction="20000"/>
          </a:bodyPr>
          <a:lstStyle/>
          <a:p>
            <a:pPr marL="514350" indent="-514350">
              <a:spcBef>
                <a:spcPts val="600"/>
              </a:spcBef>
              <a:buFont typeface="+mj-lt"/>
              <a:buAutoNum type="arabicPeriod"/>
            </a:pPr>
            <a:r>
              <a:rPr lang="zh-CN" altLang="en-US" b="0" dirty="0">
                <a:solidFill>
                  <a:srgbClr val="6A9955"/>
                </a:solidFill>
                <a:effectLst/>
                <a:latin typeface="Consolas" panose="020B0609020204030204" pitchFamily="49" charset="0"/>
              </a:rPr>
              <a:t>    </a:t>
            </a:r>
            <a:r>
              <a:rPr lang="en-US" altLang="zh-CN" b="0" dirty="0">
                <a:solidFill>
                  <a:srgbClr val="6A9955"/>
                </a:solidFill>
                <a:effectLst/>
                <a:latin typeface="Consolas" panose="020B0609020204030204" pitchFamily="49" charset="0"/>
              </a:rPr>
              <a:t>//===</a:t>
            </a:r>
            <a:r>
              <a:rPr lang="zh-CN" altLang="en-US" b="0" dirty="0">
                <a:solidFill>
                  <a:srgbClr val="6A9955"/>
                </a:solidFill>
                <a:effectLst/>
                <a:latin typeface="Consolas" panose="020B0609020204030204" pitchFamily="49" charset="0"/>
              </a:rPr>
              <a:t>补充文件存储代码将学生信息存入文件</a:t>
            </a:r>
            <a:r>
              <a:rPr lang="en-US" altLang="zh-CN" b="0" dirty="0">
                <a:solidFill>
                  <a:srgbClr val="6A9955"/>
                </a:solidFill>
                <a:effectLst/>
                <a:latin typeface="Consolas" panose="020B0609020204030204" pitchFamily="49" charset="0"/>
              </a:rPr>
              <a:t>===//</a:t>
            </a:r>
            <a:endParaRPr lang="zh-CN" altLang="en-US" b="0" dirty="0">
              <a:solidFill>
                <a:srgbClr val="CCCCCC"/>
              </a:solidFill>
              <a:effectLst/>
              <a:latin typeface="Consolas" panose="020B0609020204030204" pitchFamily="49" charset="0"/>
            </a:endParaRPr>
          </a:p>
          <a:p>
            <a:pPr marL="514350" indent="-514350">
              <a:spcBef>
                <a:spcPts val="600"/>
              </a:spcBef>
              <a:buFont typeface="+mj-lt"/>
              <a:buAutoNum type="arabicPeriod"/>
            </a:pPr>
            <a:r>
              <a:rPr lang="zh-CN" altLang="en-US"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FILE</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fp</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60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if</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fp</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fopen</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"C:</a:t>
            </a:r>
            <a:r>
              <a:rPr lang="en-US" altLang="zh-CN" b="0" dirty="0">
                <a:solidFill>
                  <a:srgbClr val="D7BA7D"/>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Temp</a:t>
            </a:r>
            <a:r>
              <a:rPr lang="en-US" altLang="zh-CN" b="0" dirty="0">
                <a:solidFill>
                  <a:srgbClr val="D7BA7D"/>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data.txt"</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"w"</a:t>
            </a:r>
            <a:r>
              <a:rPr lang="en-US" altLang="zh-CN" b="0" dirty="0">
                <a:solidFill>
                  <a:srgbClr val="CCCCCC"/>
                </a:solidFill>
                <a:effectLst/>
                <a:latin typeface="Consolas" panose="020B0609020204030204" pitchFamily="49" charset="0"/>
              </a:rPr>
              <a:t>))</a:t>
            </a:r>
            <a:r>
              <a:rPr lang="en-US" altLang="zh-CN" b="0" dirty="0">
                <a:solidFill>
                  <a:srgbClr val="D4D4D4"/>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NULL</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60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fprintf</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fp</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"2</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60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for</a:t>
            </a:r>
            <a:r>
              <a:rPr lang="en-US" altLang="zh-CN" b="0" dirty="0">
                <a:solidFill>
                  <a:srgbClr val="CCCCCC"/>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&lt;</a:t>
            </a:r>
            <a:r>
              <a:rPr lang="en-US" altLang="zh-CN" b="0" dirty="0">
                <a:solidFill>
                  <a:srgbClr val="B5CEA8"/>
                </a:solidFill>
                <a:effectLst/>
                <a:latin typeface="Consolas" panose="020B0609020204030204" pitchFamily="49" charset="0"/>
              </a:rPr>
              <a:t>2</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i</a:t>
            </a:r>
            <a:r>
              <a:rPr lang="en-US" altLang="zh-CN" b="0" dirty="0">
                <a:solidFill>
                  <a:srgbClr val="D4D4D4"/>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60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fprintf</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fp</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514350" indent="-514350">
              <a:spcBef>
                <a:spcPts val="600"/>
              </a:spcBef>
              <a:buFont typeface="+mj-lt"/>
              <a:buAutoNum type="arabicPeriod"/>
            </a:pPr>
            <a:r>
              <a:rPr lang="en-US" altLang="zh-CN" b="0" dirty="0">
                <a:solidFill>
                  <a:srgbClr val="DCDCAA"/>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fprintf</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fp</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%d</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stud</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sno</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60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fprintf</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fp</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%s</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stud</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name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60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fprintf</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fp</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%c</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stud</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sex</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60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fprintf</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fp</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%d</a:t>
            </a:r>
            <a:r>
              <a:rPr lang="en-US" altLang="zh-CN" b="0" dirty="0">
                <a:solidFill>
                  <a:srgbClr val="D7BA7D"/>
                </a:solidFill>
                <a:effectLst/>
                <a:latin typeface="Consolas" panose="020B0609020204030204" pitchFamily="49" charset="0"/>
              </a:rPr>
              <a:t>\n</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stud</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i</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age</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600"/>
              </a:spcBef>
              <a:buFont typeface="+mj-lt"/>
              <a:buAutoNum type="arabicPeriod"/>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514350" indent="-514350">
              <a:spcBef>
                <a:spcPts val="600"/>
              </a:spcBef>
              <a:buFont typeface="+mj-lt"/>
              <a:buAutoNum type="arabicPeriod"/>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514350" indent="-514350">
              <a:spcBef>
                <a:spcPts val="600"/>
              </a:spcBef>
              <a:buFont typeface="+mj-lt"/>
              <a:buAutoNum type="arabicPeriod"/>
            </a:pP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示例代码：写入二进制文件</a:t>
            </a:r>
            <a:endParaRPr lang="zh-CN" altLang="en-US" dirty="0"/>
          </a:p>
        </p:txBody>
      </p:sp>
      <p:sp>
        <p:nvSpPr>
          <p:cNvPr id="3" name="内容占位符 2"/>
          <p:cNvSpPr>
            <a:spLocks noGrp="1"/>
          </p:cNvSpPr>
          <p:nvPr>
            <p:ph idx="1"/>
          </p:nvPr>
        </p:nvSpPr>
        <p:spPr>
          <a:xfrm>
            <a:off x="114300" y="1386000"/>
            <a:ext cx="8915400" cy="5040000"/>
          </a:xfrm>
          <a:solidFill>
            <a:schemeClr val="tx1"/>
          </a:solidFill>
        </p:spPr>
        <p:txBody>
          <a:bodyPr>
            <a:normAutofit/>
          </a:bodyPr>
          <a:lstStyle/>
          <a:p>
            <a:pPr marL="514350" indent="-514350">
              <a:spcBef>
                <a:spcPts val="600"/>
              </a:spcBef>
              <a:buFont typeface="+mj-lt"/>
              <a:buAutoNum type="arabicPeriod"/>
            </a:pPr>
            <a:r>
              <a:rPr lang="zh-CN" altLang="en-US" sz="2400" b="0" dirty="0">
                <a:solidFill>
                  <a:srgbClr val="6A9955"/>
                </a:solidFill>
                <a:effectLst/>
                <a:latin typeface="Consolas" panose="020B0609020204030204" pitchFamily="49" charset="0"/>
              </a:rPr>
              <a:t>    </a:t>
            </a:r>
            <a:r>
              <a:rPr lang="en-US" altLang="zh-CN" sz="2400" b="0" dirty="0">
                <a:solidFill>
                  <a:srgbClr val="6A9955"/>
                </a:solidFill>
                <a:effectLst/>
                <a:latin typeface="Consolas" panose="020B0609020204030204" pitchFamily="49" charset="0"/>
              </a:rPr>
              <a:t>//===</a:t>
            </a:r>
            <a:r>
              <a:rPr lang="zh-CN" altLang="en-US" sz="2400" b="0" dirty="0">
                <a:solidFill>
                  <a:srgbClr val="6A9955"/>
                </a:solidFill>
                <a:effectLst/>
                <a:latin typeface="Consolas" panose="020B0609020204030204" pitchFamily="49" charset="0"/>
              </a:rPr>
              <a:t>补充文件存储代码将学生信息存入文件</a:t>
            </a:r>
            <a:r>
              <a:rPr lang="en-US" altLang="zh-CN" sz="2400" b="0" dirty="0">
                <a:solidFill>
                  <a:srgbClr val="6A9955"/>
                </a:solidFill>
                <a:effectLst/>
                <a:latin typeface="Consolas" panose="020B0609020204030204" pitchFamily="49" charset="0"/>
              </a:rPr>
              <a:t>===//</a:t>
            </a:r>
            <a:endParaRPr lang="zh-CN" altLang="en-US" sz="2400" b="0" dirty="0">
              <a:solidFill>
                <a:srgbClr val="CCCCCC"/>
              </a:solidFill>
              <a:effectLst/>
              <a:latin typeface="Consolas" panose="020B0609020204030204" pitchFamily="49" charset="0"/>
            </a:endParaRPr>
          </a:p>
          <a:p>
            <a:pPr marL="457200" indent="-457200">
              <a:buFont typeface="+mj-lt"/>
              <a:buAutoNum type="arabicPeriod"/>
            </a:pPr>
            <a:r>
              <a:rPr lang="zh-CN" altLang="en-US" sz="2400" b="0" dirty="0">
                <a:solidFill>
                  <a:srgbClr val="CCCCCC"/>
                </a:solidFill>
                <a:effectLst/>
                <a:latin typeface="Consolas" panose="020B0609020204030204" pitchFamily="49" charset="0"/>
              </a:rPr>
              <a:t>    </a:t>
            </a:r>
            <a:r>
              <a:rPr lang="en-US" altLang="zh-CN" sz="2400" b="0" dirty="0">
                <a:solidFill>
                  <a:srgbClr val="4EC9B0"/>
                </a:solidFill>
                <a:effectLst/>
                <a:latin typeface="Consolas" panose="020B0609020204030204" pitchFamily="49" charset="0"/>
              </a:rPr>
              <a:t>FILE</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457200" indent="-457200">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a:solidFill>
                  <a:srgbClr val="C586C0"/>
                </a:solidFill>
                <a:effectLst/>
                <a:latin typeface="Consolas" panose="020B0609020204030204" pitchFamily="49" charset="0"/>
              </a:rPr>
              <a:t>if</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fopen</a:t>
            </a:r>
            <a:r>
              <a:rPr lang="en-US" altLang="zh-CN" sz="2400" b="0" dirty="0">
                <a:solidFill>
                  <a:srgbClr val="CCCCCC"/>
                </a:solidFill>
                <a:effectLst/>
                <a:latin typeface="Consolas" panose="020B0609020204030204" pitchFamily="49" charset="0"/>
              </a:rPr>
              <a:t>(</a:t>
            </a:r>
            <a:r>
              <a:rPr lang="en-US" altLang="zh-CN" sz="2400" b="0" dirty="0">
                <a:solidFill>
                  <a:srgbClr val="CE9178"/>
                </a:solidFill>
                <a:effectLst/>
                <a:latin typeface="Consolas" panose="020B0609020204030204" pitchFamily="49" charset="0"/>
              </a:rPr>
              <a:t>"C:</a:t>
            </a:r>
            <a:r>
              <a:rPr lang="en-US" altLang="zh-CN" sz="2400" b="0" dirty="0">
                <a:solidFill>
                  <a:srgbClr val="D7BA7D"/>
                </a:solidFill>
                <a:effectLst/>
                <a:latin typeface="Consolas" panose="020B0609020204030204" pitchFamily="49" charset="0"/>
              </a:rPr>
              <a:t>\\</a:t>
            </a:r>
            <a:r>
              <a:rPr lang="en-US" altLang="zh-CN" sz="2400" b="0" dirty="0">
                <a:solidFill>
                  <a:srgbClr val="CE9178"/>
                </a:solidFill>
                <a:effectLst/>
                <a:latin typeface="Consolas" panose="020B0609020204030204" pitchFamily="49" charset="0"/>
              </a:rPr>
              <a:t>Temp</a:t>
            </a:r>
            <a:r>
              <a:rPr lang="en-US" altLang="zh-CN" sz="2400" b="0" dirty="0">
                <a:solidFill>
                  <a:srgbClr val="D7BA7D"/>
                </a:solidFill>
                <a:effectLst/>
                <a:latin typeface="Consolas" panose="020B0609020204030204" pitchFamily="49" charset="0"/>
              </a:rPr>
              <a:t>\\</a:t>
            </a:r>
            <a:r>
              <a:rPr lang="en-US" altLang="zh-CN" sz="2400" b="0" dirty="0">
                <a:solidFill>
                  <a:srgbClr val="CE9178"/>
                </a:solidFill>
                <a:effectLst/>
                <a:latin typeface="Consolas" panose="020B0609020204030204" pitchFamily="49" charset="0"/>
              </a:rPr>
              <a:t>data.bin"</a:t>
            </a:r>
            <a:r>
              <a:rPr lang="en-US" altLang="zh-CN" sz="2400" b="0" dirty="0">
                <a:solidFill>
                  <a:srgbClr val="CCCCCC"/>
                </a:solidFill>
                <a:effectLst/>
                <a:latin typeface="Consolas" panose="020B0609020204030204" pitchFamily="49" charset="0"/>
              </a:rPr>
              <a:t>, </a:t>
            </a:r>
            <a:r>
              <a:rPr lang="en-US" altLang="zh-CN" sz="2400" b="0" dirty="0">
                <a:solidFill>
                  <a:srgbClr val="CE9178"/>
                </a:solidFill>
                <a:effectLst/>
                <a:latin typeface="Consolas" panose="020B0609020204030204" pitchFamily="49" charset="0"/>
              </a:rPr>
              <a:t>"</a:t>
            </a:r>
            <a:r>
              <a:rPr lang="en-US" altLang="zh-CN" sz="2400" b="0" dirty="0" err="1">
                <a:solidFill>
                  <a:srgbClr val="CE9178"/>
                </a:solidFill>
                <a:effectLst/>
                <a:latin typeface="Consolas" panose="020B0609020204030204" pitchFamily="49" charset="0"/>
              </a:rPr>
              <a:t>wb</a:t>
            </a:r>
            <a:r>
              <a:rPr lang="en-US" altLang="zh-CN" sz="2400" b="0" dirty="0">
                <a:solidFill>
                  <a:srgbClr val="CE9178"/>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a:t>
            </a:r>
            <a:r>
              <a:rPr lang="en-US" altLang="zh-CN" sz="2400" b="0" dirty="0">
                <a:solidFill>
                  <a:srgbClr val="D4D4D4"/>
                </a:solidFill>
                <a:effectLst/>
                <a:latin typeface="Consolas" panose="020B0609020204030204" pitchFamily="49" charset="0"/>
              </a:rPr>
              <a:t>!=</a:t>
            </a:r>
            <a:r>
              <a:rPr lang="en-US" altLang="zh-CN" sz="2400" b="0" dirty="0">
                <a:solidFill>
                  <a:srgbClr val="569CD6"/>
                </a:solidFill>
                <a:effectLst/>
                <a:latin typeface="Consolas" panose="020B0609020204030204" pitchFamily="49" charset="0"/>
              </a:rPr>
              <a:t>NULL</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457200" indent="-457200">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a:solidFill>
                  <a:srgbClr val="569CD6"/>
                </a:solidFill>
                <a:effectLst/>
                <a:latin typeface="Consolas" panose="020B0609020204030204" pitchFamily="49" charset="0"/>
              </a:rPr>
              <a:t>int</a:t>
            </a:r>
            <a:r>
              <a:rPr lang="en-US" altLang="zh-CN" sz="2400" b="0" dirty="0">
                <a:solidFill>
                  <a:srgbClr val="CCCCCC"/>
                </a:solidFill>
                <a:effectLst/>
                <a:latin typeface="Consolas" panose="020B0609020204030204" pitchFamily="49" charset="0"/>
              </a:rPr>
              <a:t> </a:t>
            </a:r>
            <a:r>
              <a:rPr lang="en-US" altLang="zh-CN" sz="2400" b="0" dirty="0">
                <a:solidFill>
                  <a:srgbClr val="9CDCFE"/>
                </a:solidFill>
                <a:effectLst/>
                <a:latin typeface="Consolas" panose="020B0609020204030204" pitchFamily="49" charset="0"/>
              </a:rPr>
              <a:t>n</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 </a:t>
            </a:r>
            <a:r>
              <a:rPr lang="en-US" altLang="zh-CN" sz="2400" b="0" dirty="0">
                <a:solidFill>
                  <a:srgbClr val="B5CEA8"/>
                </a:solidFill>
                <a:effectLst/>
                <a:latin typeface="Consolas" panose="020B0609020204030204" pitchFamily="49" charset="0"/>
              </a:rPr>
              <a:t>2</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457200" indent="-457200">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fwrite</a:t>
            </a:r>
            <a:r>
              <a:rPr lang="en-US" altLang="zh-CN" sz="2400" b="0" dirty="0">
                <a:solidFill>
                  <a:srgbClr val="CCCCCC"/>
                </a:solidFill>
                <a:effectLst/>
                <a:latin typeface="Consolas" panose="020B0609020204030204" pitchFamily="49" charset="0"/>
              </a:rPr>
              <a:t>(</a:t>
            </a:r>
            <a:r>
              <a:rPr lang="en-US" altLang="zh-CN" sz="2400" b="0" dirty="0">
                <a:solidFill>
                  <a:srgbClr val="D4D4D4"/>
                </a:solidFill>
                <a:effectLst/>
                <a:latin typeface="Consolas" panose="020B0609020204030204" pitchFamily="49" charset="0"/>
              </a:rPr>
              <a:t>&amp;</a:t>
            </a:r>
            <a:r>
              <a:rPr lang="en-US" altLang="zh-CN" sz="2400" b="0" dirty="0">
                <a:solidFill>
                  <a:srgbClr val="9CDCFE"/>
                </a:solidFill>
                <a:effectLst/>
                <a:latin typeface="Consolas" panose="020B0609020204030204" pitchFamily="49" charset="0"/>
              </a:rPr>
              <a:t>n</a:t>
            </a:r>
            <a:r>
              <a:rPr lang="en-US" altLang="zh-CN" sz="2400" b="0" dirty="0">
                <a:solidFill>
                  <a:srgbClr val="CCCCCC"/>
                </a:solidFill>
                <a:effectLst/>
                <a:latin typeface="Consolas" panose="020B0609020204030204" pitchFamily="49" charset="0"/>
              </a:rPr>
              <a:t>, </a:t>
            </a:r>
            <a:r>
              <a:rPr lang="en-US" altLang="zh-CN" sz="2400" b="0" dirty="0">
                <a:solidFill>
                  <a:srgbClr val="B5CEA8"/>
                </a:solidFill>
                <a:effectLst/>
                <a:latin typeface="Consolas" panose="020B0609020204030204" pitchFamily="49" charset="0"/>
              </a:rPr>
              <a:t>4</a:t>
            </a:r>
            <a:r>
              <a:rPr lang="en-US" altLang="zh-CN" sz="2400" b="0" dirty="0">
                <a:solidFill>
                  <a:srgbClr val="CCCCCC"/>
                </a:solidFill>
                <a:effectLst/>
                <a:latin typeface="Consolas" panose="020B0609020204030204" pitchFamily="49" charset="0"/>
              </a:rPr>
              <a:t>, </a:t>
            </a:r>
            <a:r>
              <a:rPr lang="en-US" altLang="zh-CN" sz="2400" b="0" dirty="0">
                <a:solidFill>
                  <a:srgbClr val="B5CEA8"/>
                </a:solidFill>
                <a:effectLst/>
                <a:latin typeface="Consolas" panose="020B0609020204030204" pitchFamily="49" charset="0"/>
              </a:rPr>
              <a:t>1</a:t>
            </a:r>
            <a:r>
              <a:rPr lang="en-US" altLang="zh-CN" sz="2400" b="0" dirty="0">
                <a:solidFill>
                  <a:srgbClr val="CCCCCC"/>
                </a:solidFill>
                <a:effectLst/>
                <a:latin typeface="Consolas" panose="020B0609020204030204" pitchFamily="49" charset="0"/>
              </a:rPr>
              <a:t>, </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457200" indent="-457200">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fwrite</a:t>
            </a:r>
            <a:r>
              <a:rPr lang="en-US" altLang="zh-CN" sz="2400" b="0" dirty="0">
                <a:solidFill>
                  <a:srgbClr val="CCCCCC"/>
                </a:solidFill>
                <a:effectLst/>
                <a:latin typeface="Consolas" panose="020B0609020204030204" pitchFamily="49" charset="0"/>
              </a:rPr>
              <a:t>(</a:t>
            </a:r>
            <a:r>
              <a:rPr lang="en-US" altLang="zh-CN" sz="2400" b="0" dirty="0">
                <a:solidFill>
                  <a:srgbClr val="9CDCFE"/>
                </a:solidFill>
                <a:effectLst/>
                <a:latin typeface="Consolas" panose="020B0609020204030204" pitchFamily="49" charset="0"/>
              </a:rPr>
              <a:t>stud</a:t>
            </a:r>
            <a:r>
              <a:rPr lang="en-US" altLang="zh-CN" sz="2400" b="0" dirty="0">
                <a:solidFill>
                  <a:srgbClr val="CCCCCC"/>
                </a:solidFill>
                <a:effectLst/>
                <a:latin typeface="Consolas" panose="020B0609020204030204" pitchFamily="49" charset="0"/>
              </a:rPr>
              <a:t>, </a:t>
            </a:r>
            <a:r>
              <a:rPr lang="en-US" altLang="zh-CN" sz="2400" b="0" dirty="0" err="1">
                <a:solidFill>
                  <a:srgbClr val="569CD6"/>
                </a:solidFill>
                <a:effectLst/>
                <a:latin typeface="Consolas" panose="020B0609020204030204" pitchFamily="49" charset="0"/>
              </a:rPr>
              <a:t>sizeof</a:t>
            </a:r>
            <a:r>
              <a:rPr lang="en-US" altLang="zh-CN" sz="2400" b="0" dirty="0">
                <a:solidFill>
                  <a:srgbClr val="CCCCCC"/>
                </a:solidFill>
                <a:effectLst/>
                <a:latin typeface="Consolas" panose="020B0609020204030204" pitchFamily="49" charset="0"/>
              </a:rPr>
              <a:t>(</a:t>
            </a:r>
            <a:r>
              <a:rPr lang="en-US" altLang="zh-CN" sz="2400" b="0" dirty="0">
                <a:solidFill>
                  <a:srgbClr val="4EC9B0"/>
                </a:solidFill>
                <a:effectLst/>
                <a:latin typeface="Consolas" panose="020B0609020204030204" pitchFamily="49" charset="0"/>
              </a:rPr>
              <a:t>Student</a:t>
            </a:r>
            <a:r>
              <a:rPr lang="en-US" altLang="zh-CN" sz="2400" b="0" dirty="0">
                <a:solidFill>
                  <a:srgbClr val="CCCCCC"/>
                </a:solidFill>
                <a:effectLst/>
                <a:latin typeface="Consolas" panose="020B0609020204030204" pitchFamily="49" charset="0"/>
              </a:rPr>
              <a:t>), </a:t>
            </a:r>
            <a:r>
              <a:rPr lang="en-US" altLang="zh-CN" sz="2400" b="0" dirty="0">
                <a:solidFill>
                  <a:srgbClr val="9CDCFE"/>
                </a:solidFill>
                <a:effectLst/>
                <a:latin typeface="Consolas" panose="020B0609020204030204" pitchFamily="49" charset="0"/>
              </a:rPr>
              <a:t>n</a:t>
            </a:r>
            <a:r>
              <a:rPr lang="en-US" altLang="zh-CN" sz="2400" b="0" dirty="0">
                <a:solidFill>
                  <a:srgbClr val="CCCCCC"/>
                </a:solidFill>
                <a:effectLst/>
                <a:latin typeface="Consolas" panose="020B0609020204030204" pitchFamily="49" charset="0"/>
              </a:rPr>
              <a:t>, </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457200" indent="-457200">
              <a:buFont typeface="+mj-lt"/>
              <a:buAutoNum type="arabicPeriod"/>
            </a:pPr>
            <a:r>
              <a:rPr lang="en-US" altLang="zh-CN" sz="2400" b="0" dirty="0">
                <a:solidFill>
                  <a:srgbClr val="CCCCCC"/>
                </a:solidFill>
                <a:effectLst/>
                <a:latin typeface="Consolas" panose="020B0609020204030204" pitchFamily="49" charset="0"/>
              </a:rPr>
              <a:t>    }</a:t>
            </a:r>
            <a:endParaRPr lang="en-US" altLang="zh-CN" sz="2400" b="0" dirty="0">
              <a:solidFill>
                <a:srgbClr val="CCCCCC"/>
              </a:solidFill>
              <a:effectLst/>
              <a:latin typeface="Consolas" panose="020B0609020204030204" pitchFamily="49" charset="0"/>
            </a:endParaRPr>
          </a:p>
          <a:p>
            <a:pPr marL="514350" indent="-514350">
              <a:spcBef>
                <a:spcPts val="600"/>
              </a:spcBef>
              <a:buFont typeface="+mj-lt"/>
              <a:buAutoNum type="arabicPeriod"/>
            </a:pPr>
            <a:endParaRPr lang="zh-CN" alt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00" y="494270"/>
            <a:ext cx="8280000" cy="683692"/>
          </a:xfrm>
        </p:spPr>
        <p:txBody>
          <a:bodyPr>
            <a:normAutofit/>
          </a:bodyPr>
          <a:lstStyle/>
          <a:p>
            <a:r>
              <a:rPr lang="en-US" altLang="zh-CN" dirty="0"/>
              <a:t>2. </a:t>
            </a:r>
            <a:r>
              <a:rPr lang="zh-CN" altLang="en-US" dirty="0"/>
              <a:t>将学生信息从文件输入</a:t>
            </a:r>
            <a:endParaRPr lang="zh-CN" altLang="en-US" dirty="0"/>
          </a:p>
        </p:txBody>
      </p:sp>
      <p:sp>
        <p:nvSpPr>
          <p:cNvPr id="3" name="内容占位符 2"/>
          <p:cNvSpPr>
            <a:spLocks noGrp="1"/>
          </p:cNvSpPr>
          <p:nvPr>
            <p:ph idx="1"/>
          </p:nvPr>
        </p:nvSpPr>
        <p:spPr>
          <a:xfrm>
            <a:off x="432000" y="1328569"/>
            <a:ext cx="8280000" cy="5142737"/>
          </a:xfrm>
          <a:solidFill>
            <a:schemeClr val="tx1"/>
          </a:solidFill>
        </p:spPr>
        <p:txBody>
          <a:bodyPr>
            <a:normAutofit/>
          </a:bodyPr>
          <a:lstStyle/>
          <a:p>
            <a:pPr>
              <a:spcBef>
                <a:spcPts val="0"/>
              </a:spcBef>
              <a:buFont typeface="+mj-lt"/>
              <a:buAutoNum type="arabicPeriod"/>
            </a:pPr>
            <a:r>
              <a:rPr lang="en-US" altLang="zh-CN" sz="1800" b="0" dirty="0">
                <a:solidFill>
                  <a:srgbClr val="C586C0"/>
                </a:solidFill>
                <a:effectLst/>
                <a:latin typeface="Consolas" panose="020B0609020204030204" pitchFamily="49" charset="0"/>
              </a:rPr>
              <a:t>#include</a:t>
            </a:r>
            <a:r>
              <a:rPr lang="en-US" altLang="zh-CN" sz="1800" b="0" dirty="0">
                <a:solidFill>
                  <a:srgbClr val="569CD6"/>
                </a:solidFill>
                <a:effectLst/>
                <a:latin typeface="Consolas" panose="020B0609020204030204" pitchFamily="49" charset="0"/>
              </a:rPr>
              <a:t> </a:t>
            </a:r>
            <a:r>
              <a:rPr lang="en-US" altLang="zh-CN" sz="1800" b="0" dirty="0">
                <a:solidFill>
                  <a:srgbClr val="CE9178"/>
                </a:solidFill>
                <a:effectLst/>
                <a:latin typeface="Consolas" panose="020B0609020204030204" pitchFamily="49" charset="0"/>
              </a:rPr>
              <a:t>&lt;</a:t>
            </a:r>
            <a:r>
              <a:rPr lang="en-US" altLang="zh-CN" sz="1800" b="0" dirty="0" err="1">
                <a:solidFill>
                  <a:srgbClr val="CE9178"/>
                </a:solidFill>
                <a:effectLst/>
                <a:latin typeface="Consolas" panose="020B0609020204030204" pitchFamily="49" charset="0"/>
              </a:rPr>
              <a:t>stdio.h</a:t>
            </a:r>
            <a:r>
              <a:rPr lang="en-US" altLang="zh-CN" sz="1800" b="0" dirty="0">
                <a:solidFill>
                  <a:srgbClr val="CE9178"/>
                </a:solidFill>
                <a:effectLst/>
                <a:latin typeface="Consolas" panose="020B0609020204030204" pitchFamily="49" charset="0"/>
              </a:rPr>
              <a:t>&gt;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586C0"/>
                </a:solidFill>
                <a:effectLst/>
                <a:latin typeface="Consolas" panose="020B0609020204030204" pitchFamily="49" charset="0"/>
              </a:rPr>
              <a:t>#include</a:t>
            </a:r>
            <a:r>
              <a:rPr lang="en-US" altLang="zh-CN" sz="1800" b="0" dirty="0">
                <a:solidFill>
                  <a:srgbClr val="569CD6"/>
                </a:solidFill>
                <a:effectLst/>
                <a:latin typeface="Consolas" panose="020B0609020204030204" pitchFamily="49" charset="0"/>
              </a:rPr>
              <a:t> </a:t>
            </a:r>
            <a:r>
              <a:rPr lang="en-US" altLang="zh-CN" sz="1800" b="0" dirty="0">
                <a:solidFill>
                  <a:srgbClr val="CE9178"/>
                </a:solidFill>
                <a:effectLst/>
                <a:latin typeface="Consolas" panose="020B0609020204030204" pitchFamily="49" charset="0"/>
              </a:rPr>
              <a:t>&lt;</a:t>
            </a:r>
            <a:r>
              <a:rPr lang="en-US" altLang="zh-CN" sz="1800" b="0" dirty="0" err="1">
                <a:solidFill>
                  <a:srgbClr val="CE9178"/>
                </a:solidFill>
                <a:effectLst/>
                <a:latin typeface="Consolas" panose="020B0609020204030204" pitchFamily="49" charset="0"/>
              </a:rPr>
              <a:t>stdlib.h</a:t>
            </a:r>
            <a:r>
              <a:rPr lang="en-US" altLang="zh-CN" sz="1800" b="0" dirty="0">
                <a:solidFill>
                  <a:srgbClr val="CE9178"/>
                </a:solidFill>
                <a:effectLst/>
                <a:latin typeface="Consolas" panose="020B0609020204030204" pitchFamily="49" charset="0"/>
              </a:rPr>
              <a:t>&gt;</a:t>
            </a:r>
            <a:endParaRPr lang="en-US" altLang="zh-CN" sz="1800" b="0" dirty="0">
              <a:solidFill>
                <a:srgbClr val="CE9178"/>
              </a:solidFill>
              <a:effectLst/>
              <a:latin typeface="Consolas" panose="020B0609020204030204" pitchFamily="49" charset="0"/>
            </a:endParaRPr>
          </a:p>
          <a:p>
            <a:pPr>
              <a:spcBef>
                <a:spcPts val="0"/>
              </a:spcBef>
              <a:buFont typeface="+mj-lt"/>
              <a:buAutoNum type="arabicPeriod"/>
            </a:pPr>
            <a:r>
              <a:rPr lang="en-US" altLang="zh-CN" sz="1800" b="0" dirty="0">
                <a:solidFill>
                  <a:srgbClr val="C586C0"/>
                </a:solidFill>
                <a:effectLst/>
                <a:latin typeface="Consolas" panose="020B0609020204030204" pitchFamily="49" charset="0"/>
              </a:rPr>
              <a:t>#include</a:t>
            </a:r>
            <a:r>
              <a:rPr lang="en-US" altLang="zh-CN" sz="1800" b="0" dirty="0">
                <a:solidFill>
                  <a:srgbClr val="569CD6"/>
                </a:solidFill>
                <a:effectLst/>
                <a:latin typeface="Consolas" panose="020B0609020204030204" pitchFamily="49" charset="0"/>
              </a:rPr>
              <a:t> </a:t>
            </a:r>
            <a:r>
              <a:rPr lang="en-US" altLang="zh-CN" sz="1800" b="0" dirty="0">
                <a:solidFill>
                  <a:srgbClr val="CE9178"/>
                </a:solidFill>
                <a:effectLst/>
                <a:latin typeface="Consolas" panose="020B0609020204030204" pitchFamily="49" charset="0"/>
              </a:rPr>
              <a:t>&lt;</a:t>
            </a:r>
            <a:r>
              <a:rPr lang="en-US" altLang="zh-CN" sz="1800" b="0" dirty="0" err="1">
                <a:solidFill>
                  <a:srgbClr val="CE9178"/>
                </a:solidFill>
                <a:effectLst/>
                <a:latin typeface="Consolas" panose="020B0609020204030204" pitchFamily="49" charset="0"/>
              </a:rPr>
              <a:t>string.h</a:t>
            </a:r>
            <a:r>
              <a:rPr lang="en-US" altLang="zh-CN" sz="1800" b="0" dirty="0">
                <a:solidFill>
                  <a:srgbClr val="CE9178"/>
                </a:solidFill>
                <a:effectLst/>
                <a:latin typeface="Consolas" panose="020B0609020204030204" pitchFamily="49" charset="0"/>
              </a:rPr>
              <a:t>&gt;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569CD6"/>
                </a:solidFill>
                <a:effectLst/>
                <a:latin typeface="Consolas" panose="020B0609020204030204" pitchFamily="49" charset="0"/>
              </a:rPr>
              <a:t>typedef</a:t>
            </a: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struct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int</a:t>
            </a:r>
            <a:r>
              <a:rPr lang="en-US" altLang="zh-CN" sz="1800" b="0" dirty="0">
                <a:solidFill>
                  <a:srgbClr val="CCCCCC"/>
                </a:solidFill>
                <a:effectLst/>
                <a:latin typeface="Consolas" panose="020B0609020204030204" pitchFamily="49" charset="0"/>
              </a:rPr>
              <a:t> </a:t>
            </a:r>
            <a:r>
              <a:rPr lang="en-US" altLang="zh-CN" sz="1800" b="0" dirty="0" err="1">
                <a:solidFill>
                  <a:srgbClr val="9CDCFE"/>
                </a:solidFill>
                <a:effectLst/>
                <a:latin typeface="Consolas" panose="020B0609020204030204" pitchFamily="49" charset="0"/>
              </a:rPr>
              <a:t>sno</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char</a:t>
            </a:r>
            <a:r>
              <a:rPr lang="en-US" altLang="zh-CN" sz="1800" b="0" dirty="0">
                <a:solidFill>
                  <a:srgbClr val="CCCCCC"/>
                </a:solidFill>
                <a:effectLst/>
                <a:latin typeface="Consolas" panose="020B0609020204030204" pitchFamily="49" charset="0"/>
              </a:rPr>
              <a:t> </a:t>
            </a:r>
            <a:r>
              <a:rPr lang="en-US" altLang="zh-CN" sz="1800" b="0" dirty="0">
                <a:solidFill>
                  <a:srgbClr val="9CDCFE"/>
                </a:solidFill>
                <a:effectLst/>
                <a:latin typeface="Consolas" panose="020B0609020204030204" pitchFamily="49" charset="0"/>
              </a:rPr>
              <a:t>name</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10</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char</a:t>
            </a:r>
            <a:r>
              <a:rPr lang="en-US" altLang="zh-CN" sz="1800" b="0" dirty="0">
                <a:solidFill>
                  <a:srgbClr val="CCCCCC"/>
                </a:solidFill>
                <a:effectLst/>
                <a:latin typeface="Consolas" panose="020B0609020204030204" pitchFamily="49" charset="0"/>
              </a:rPr>
              <a:t> </a:t>
            </a:r>
            <a:r>
              <a:rPr lang="en-US" altLang="zh-CN" sz="1800" b="0" dirty="0">
                <a:solidFill>
                  <a:srgbClr val="9CDCFE"/>
                </a:solidFill>
                <a:effectLst/>
                <a:latin typeface="Consolas" panose="020B0609020204030204" pitchFamily="49" charset="0"/>
              </a:rPr>
              <a:t>sex</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569CD6"/>
                </a:solidFill>
                <a:effectLst/>
                <a:latin typeface="Consolas" panose="020B0609020204030204" pitchFamily="49" charset="0"/>
              </a:rPr>
              <a:t>int</a:t>
            </a:r>
            <a:r>
              <a:rPr lang="en-US" altLang="zh-CN" sz="1800" b="0" dirty="0">
                <a:solidFill>
                  <a:srgbClr val="CCCCCC"/>
                </a:solidFill>
                <a:effectLst/>
                <a:latin typeface="Consolas" panose="020B0609020204030204" pitchFamily="49" charset="0"/>
              </a:rPr>
              <a:t> </a:t>
            </a:r>
            <a:r>
              <a:rPr lang="en-US" altLang="zh-CN" sz="1800" b="0" dirty="0">
                <a:solidFill>
                  <a:srgbClr val="9CDCFE"/>
                </a:solidFill>
                <a:effectLst/>
                <a:latin typeface="Consolas" panose="020B0609020204030204" pitchFamily="49" charset="0"/>
              </a:rPr>
              <a:t>age</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4EC9B0"/>
                </a:solidFill>
                <a:effectLst/>
                <a:latin typeface="Consolas" panose="020B0609020204030204" pitchFamily="49" charset="0"/>
              </a:rPr>
              <a:t>Student</a:t>
            </a:r>
            <a:r>
              <a:rPr lang="en-US" altLang="zh-CN" sz="1800" b="0" dirty="0">
                <a:solidFill>
                  <a:srgbClr val="CCCCCC"/>
                </a:solidFill>
                <a:effectLst/>
                <a:latin typeface="Consolas" panose="020B0609020204030204" pitchFamily="49" charset="0"/>
              </a:rPr>
              <a:t>;</a:t>
            </a:r>
            <a:r>
              <a:rPr lang="en-US" altLang="zh-CN" sz="1800" b="0" dirty="0">
                <a:solidFill>
                  <a:srgbClr val="6A9955"/>
                </a:solidFill>
                <a:effectLst/>
                <a:latin typeface="Consolas" panose="020B0609020204030204" pitchFamily="49" charset="0"/>
              </a:rPr>
              <a:t> // </a:t>
            </a:r>
            <a:r>
              <a:rPr lang="zh-CN" altLang="en-US" sz="1800" b="0" dirty="0">
                <a:solidFill>
                  <a:srgbClr val="6A9955"/>
                </a:solidFill>
                <a:effectLst/>
                <a:latin typeface="Consolas" panose="020B0609020204030204" pitchFamily="49" charset="0"/>
              </a:rPr>
              <a:t>学生数据类型</a:t>
            </a:r>
            <a:endParaRPr lang="zh-CN" altLang="en-US"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569CD6"/>
                </a:solidFill>
                <a:effectLst/>
                <a:latin typeface="Consolas" panose="020B0609020204030204" pitchFamily="49" charset="0"/>
              </a:rPr>
              <a:t>int</a:t>
            </a:r>
            <a:r>
              <a:rPr lang="en-US" altLang="zh-CN" sz="1800" b="0" dirty="0">
                <a:solidFill>
                  <a:srgbClr val="CCCCCC"/>
                </a:solidFill>
                <a:effectLst/>
                <a:latin typeface="Consolas" panose="020B0609020204030204" pitchFamily="49" charset="0"/>
              </a:rPr>
              <a:t> </a:t>
            </a:r>
            <a:r>
              <a:rPr lang="en-US" altLang="zh-CN" sz="1800" b="0" dirty="0">
                <a:solidFill>
                  <a:srgbClr val="DCDCAA"/>
                </a:solidFill>
                <a:effectLst/>
                <a:latin typeface="Consolas" panose="020B0609020204030204" pitchFamily="49" charset="0"/>
              </a:rPr>
              <a:t>main</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    </a:t>
            </a:r>
            <a:r>
              <a:rPr lang="en-US" altLang="zh-CN" sz="1800" b="0" dirty="0">
                <a:solidFill>
                  <a:srgbClr val="4EC9B0"/>
                </a:solidFill>
                <a:effectLst/>
                <a:latin typeface="Consolas" panose="020B0609020204030204" pitchFamily="49" charset="0"/>
              </a:rPr>
              <a:t>Student</a:t>
            </a:r>
            <a:r>
              <a:rPr lang="en-US" altLang="zh-CN" sz="1800" b="0" dirty="0">
                <a:solidFill>
                  <a:srgbClr val="CCCCCC"/>
                </a:solidFill>
                <a:effectLst/>
                <a:latin typeface="Consolas" panose="020B0609020204030204" pitchFamily="49" charset="0"/>
              </a:rPr>
              <a:t> </a:t>
            </a:r>
            <a:r>
              <a:rPr lang="en-US" altLang="zh-CN" sz="1800" b="0" dirty="0">
                <a:solidFill>
                  <a:srgbClr val="9CDCFE"/>
                </a:solidFill>
                <a:effectLst/>
                <a:latin typeface="Consolas" panose="020B0609020204030204" pitchFamily="49" charset="0"/>
              </a:rPr>
              <a:t>stud</a:t>
            </a:r>
            <a:r>
              <a:rPr lang="en-US" altLang="zh-CN" sz="1800" b="0" dirty="0">
                <a:solidFill>
                  <a:srgbClr val="CCCCCC"/>
                </a:solidFill>
                <a:effectLst/>
                <a:latin typeface="Consolas" panose="020B0609020204030204" pitchFamily="49" charset="0"/>
              </a:rPr>
              <a:t>[</a:t>
            </a:r>
            <a:r>
              <a:rPr lang="en-US" altLang="zh-CN" sz="1800" b="0" dirty="0">
                <a:solidFill>
                  <a:srgbClr val="B5CEA8"/>
                </a:solidFill>
                <a:effectLst/>
                <a:latin typeface="Consolas" panose="020B0609020204030204" pitchFamily="49" charset="0"/>
              </a:rPr>
              <a:t>2</a:t>
            </a:r>
            <a:r>
              <a:rPr lang="en-US" altLang="zh-CN" sz="1800" b="0" dirty="0">
                <a:solidFill>
                  <a:srgbClr val="CCCCCC"/>
                </a:solidFill>
                <a:effectLst/>
                <a:latin typeface="Consolas" panose="020B0609020204030204" pitchFamily="49" charset="0"/>
              </a:rPr>
              <a:t>];</a:t>
            </a:r>
            <a:r>
              <a:rPr lang="en-US" altLang="zh-CN" sz="1800" b="0" dirty="0">
                <a:solidFill>
                  <a:srgbClr val="6A9955"/>
                </a:solidFill>
                <a:effectLst/>
                <a:latin typeface="Consolas" panose="020B0609020204030204" pitchFamily="49" charset="0"/>
              </a:rPr>
              <a:t>  //</a:t>
            </a:r>
            <a:r>
              <a:rPr lang="zh-CN" altLang="en-US" sz="1800" b="0" dirty="0">
                <a:solidFill>
                  <a:srgbClr val="6A9955"/>
                </a:solidFill>
                <a:effectLst/>
                <a:latin typeface="Consolas" panose="020B0609020204030204" pitchFamily="49" charset="0"/>
              </a:rPr>
              <a:t>学生信息</a:t>
            </a:r>
            <a:endParaRPr lang="zh-CN" altLang="en-US" sz="1800" b="0" dirty="0">
              <a:solidFill>
                <a:srgbClr val="CCCCCC"/>
              </a:solidFill>
              <a:effectLst/>
              <a:latin typeface="Consolas" panose="020B0609020204030204" pitchFamily="49" charset="0"/>
            </a:endParaRPr>
          </a:p>
          <a:p>
            <a:pPr>
              <a:spcBef>
                <a:spcPts val="0"/>
              </a:spcBef>
              <a:buFont typeface="+mj-lt"/>
              <a:buAutoNum type="arabicPeriod"/>
            </a:pPr>
            <a:r>
              <a:rPr lang="zh-CN" altLang="en-US" sz="1800" b="0" dirty="0">
                <a:solidFill>
                  <a:srgbClr val="CCCCCC"/>
                </a:solidFill>
                <a:effectLst/>
                <a:latin typeface="Consolas" panose="020B0609020204030204" pitchFamily="49" charset="0"/>
              </a:rPr>
              <a:t>    </a:t>
            </a:r>
            <a:endParaRPr lang="zh-CN" altLang="en-US" sz="1800" b="0" dirty="0">
              <a:solidFill>
                <a:srgbClr val="CCCCCC"/>
              </a:solidFill>
              <a:effectLst/>
              <a:latin typeface="Consolas" panose="020B0609020204030204" pitchFamily="49" charset="0"/>
            </a:endParaRPr>
          </a:p>
          <a:p>
            <a:pPr>
              <a:spcBef>
                <a:spcPts val="0"/>
              </a:spcBef>
              <a:buFont typeface="+mj-lt"/>
              <a:buAutoNum type="arabicPeriod"/>
            </a:pPr>
            <a:r>
              <a:rPr lang="zh-CN" altLang="en-US" sz="1800" b="0" dirty="0">
                <a:solidFill>
                  <a:srgbClr val="6A9955"/>
                </a:solidFill>
                <a:effectLst/>
                <a:latin typeface="Consolas" panose="020B0609020204030204" pitchFamily="49" charset="0"/>
              </a:rPr>
              <a:t>    </a:t>
            </a:r>
            <a:r>
              <a:rPr lang="en-US" altLang="zh-CN" sz="1800" b="0" dirty="0">
                <a:solidFill>
                  <a:srgbClr val="6A9955"/>
                </a:solidFill>
                <a:effectLst/>
                <a:latin typeface="Consolas" panose="020B0609020204030204" pitchFamily="49" charset="0"/>
              </a:rPr>
              <a:t>//===TODO:</a:t>
            </a:r>
            <a:r>
              <a:rPr lang="zh-CN" altLang="en-US" sz="1800" b="0" dirty="0">
                <a:solidFill>
                  <a:srgbClr val="6A9955"/>
                </a:solidFill>
                <a:effectLst/>
                <a:latin typeface="Consolas" panose="020B0609020204030204" pitchFamily="49" charset="0"/>
              </a:rPr>
              <a:t>补充文件读入代码将学生信息存入</a:t>
            </a:r>
            <a:r>
              <a:rPr lang="en-US" altLang="zh-CN" sz="1800" b="0" dirty="0">
                <a:solidFill>
                  <a:srgbClr val="6A9955"/>
                </a:solidFill>
                <a:effectLst/>
                <a:latin typeface="Consolas" panose="020B0609020204030204" pitchFamily="49" charset="0"/>
              </a:rPr>
              <a:t>stud</a:t>
            </a:r>
            <a:r>
              <a:rPr lang="zh-CN" altLang="en-US" sz="1800" b="0" dirty="0">
                <a:solidFill>
                  <a:srgbClr val="6A9955"/>
                </a:solidFill>
                <a:effectLst/>
                <a:latin typeface="Consolas" panose="020B0609020204030204" pitchFamily="49" charset="0"/>
              </a:rPr>
              <a:t>结构体</a:t>
            </a:r>
            <a:r>
              <a:rPr lang="en-US" altLang="zh-CN" sz="1800" b="0" dirty="0">
                <a:solidFill>
                  <a:srgbClr val="6A9955"/>
                </a:solidFill>
                <a:effectLst/>
                <a:latin typeface="Consolas" panose="020B0609020204030204" pitchFamily="49" charset="0"/>
              </a:rPr>
              <a:t>===//</a:t>
            </a:r>
            <a:endParaRPr lang="zh-CN" altLang="en-US" sz="1800" b="0" dirty="0">
              <a:solidFill>
                <a:srgbClr val="CCCCCC"/>
              </a:solidFill>
              <a:effectLst/>
              <a:latin typeface="Consolas" panose="020B0609020204030204" pitchFamily="49" charset="0"/>
            </a:endParaRPr>
          </a:p>
          <a:p>
            <a:pPr>
              <a:spcBef>
                <a:spcPts val="0"/>
              </a:spcBef>
              <a:buFont typeface="+mj-lt"/>
              <a:buAutoNum type="arabicPeriod"/>
            </a:pPr>
            <a:br>
              <a:rPr lang="zh-CN" altLang="en-US" sz="1800" b="0" dirty="0">
                <a:solidFill>
                  <a:srgbClr val="CCCCCC"/>
                </a:solidFill>
                <a:effectLst/>
                <a:latin typeface="Consolas" panose="020B0609020204030204" pitchFamily="49" charset="0"/>
              </a:rPr>
            </a:br>
            <a:r>
              <a:rPr lang="zh-CN" altLang="en-US" sz="1800" b="0" dirty="0">
                <a:solidFill>
                  <a:srgbClr val="CCCCCC"/>
                </a:solidFill>
                <a:effectLst/>
                <a:latin typeface="Consolas" panose="020B0609020204030204" pitchFamily="49" charset="0"/>
              </a:rPr>
              <a:t>    </a:t>
            </a:r>
            <a:r>
              <a:rPr lang="en-US" altLang="zh-CN" sz="1800" b="0" dirty="0">
                <a:solidFill>
                  <a:srgbClr val="C586C0"/>
                </a:solidFill>
                <a:effectLst/>
                <a:latin typeface="Consolas" panose="020B0609020204030204" pitchFamily="49" charset="0"/>
              </a:rPr>
              <a:t>return</a:t>
            </a:r>
            <a:r>
              <a:rPr lang="en-US" altLang="zh-CN" sz="1800" b="0" dirty="0">
                <a:solidFill>
                  <a:srgbClr val="CCCCCC"/>
                </a:solidFill>
                <a:effectLst/>
                <a:latin typeface="Consolas" panose="020B0609020204030204" pitchFamily="49" charset="0"/>
              </a:rPr>
              <a:t> </a:t>
            </a:r>
            <a:r>
              <a:rPr lang="en-US" altLang="zh-CN" sz="1800" b="0" dirty="0">
                <a:solidFill>
                  <a:srgbClr val="B5CEA8"/>
                </a:solidFill>
                <a:effectLst/>
                <a:latin typeface="Consolas" panose="020B0609020204030204" pitchFamily="49" charset="0"/>
              </a:rPr>
              <a:t>0</a:t>
            </a: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a:p>
            <a:pPr>
              <a:spcBef>
                <a:spcPts val="0"/>
              </a:spcBef>
              <a:buFont typeface="+mj-lt"/>
              <a:buAutoNum type="arabicPeriod"/>
            </a:pPr>
            <a:r>
              <a:rPr lang="en-US" altLang="zh-CN" sz="1800" b="0" dirty="0">
                <a:solidFill>
                  <a:srgbClr val="CCCCCC"/>
                </a:solidFill>
                <a:effectLst/>
                <a:latin typeface="Consolas" panose="020B0609020204030204" pitchFamily="49" charset="0"/>
              </a:rPr>
              <a:t>}</a:t>
            </a:r>
            <a:endParaRPr lang="en-US" altLang="zh-CN" sz="1800" b="0" dirty="0">
              <a:solidFill>
                <a:srgbClr val="CCCCCC"/>
              </a:solidFill>
              <a:effectLst/>
              <a:latin typeface="Consolas" panose="020B0609020204030204" pitchFamily="49" charset="0"/>
            </a:endParaRPr>
          </a:p>
        </p:txBody>
      </p:sp>
      <p:sp>
        <p:nvSpPr>
          <p:cNvPr id="5" name="左大括号 4"/>
          <p:cNvSpPr/>
          <p:nvPr/>
        </p:nvSpPr>
        <p:spPr>
          <a:xfrm>
            <a:off x="6294120" y="1562100"/>
            <a:ext cx="205740" cy="777240"/>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p:cNvSpPr txBox="1"/>
          <p:nvPr/>
        </p:nvSpPr>
        <p:spPr>
          <a:xfrm>
            <a:off x="6568440" y="1411493"/>
            <a:ext cx="1415772" cy="461665"/>
          </a:xfrm>
          <a:prstGeom prst="rect">
            <a:avLst/>
          </a:prstGeom>
          <a:noFill/>
        </p:spPr>
        <p:txBody>
          <a:bodyPr wrap="none" rtlCol="0">
            <a:spAutoFit/>
          </a:bodyPr>
          <a:lstStyle/>
          <a:p>
            <a:r>
              <a:rPr lang="zh-CN" altLang="en-US" sz="2400" dirty="0">
                <a:solidFill>
                  <a:srgbClr val="FF0000"/>
                </a:solidFill>
              </a:rPr>
              <a:t>文本文件</a:t>
            </a:r>
            <a:endParaRPr lang="zh-CN" altLang="en-US" sz="2400" dirty="0">
              <a:solidFill>
                <a:srgbClr val="FF0000"/>
              </a:solidFill>
            </a:endParaRPr>
          </a:p>
        </p:txBody>
      </p:sp>
      <p:sp>
        <p:nvSpPr>
          <p:cNvPr id="7" name="文本框 6"/>
          <p:cNvSpPr txBox="1"/>
          <p:nvPr/>
        </p:nvSpPr>
        <p:spPr>
          <a:xfrm>
            <a:off x="6568440" y="2023765"/>
            <a:ext cx="1723549" cy="461665"/>
          </a:xfrm>
          <a:prstGeom prst="rect">
            <a:avLst/>
          </a:prstGeom>
          <a:noFill/>
        </p:spPr>
        <p:txBody>
          <a:bodyPr wrap="none" rtlCol="0">
            <a:spAutoFit/>
          </a:bodyPr>
          <a:lstStyle/>
          <a:p>
            <a:r>
              <a:rPr lang="zh-CN" altLang="en-US" sz="2400" dirty="0">
                <a:solidFill>
                  <a:srgbClr val="FF0000"/>
                </a:solidFill>
              </a:rPr>
              <a:t>二进制文件</a:t>
            </a:r>
            <a:endParaRPr lang="zh-CN" altLang="en-US" sz="2400"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示例代码：文本文件输入</a:t>
            </a:r>
            <a:endParaRPr lang="zh-CN" altLang="en-US" dirty="0"/>
          </a:p>
        </p:txBody>
      </p:sp>
      <p:sp>
        <p:nvSpPr>
          <p:cNvPr id="3" name="内容占位符 2"/>
          <p:cNvSpPr>
            <a:spLocks noGrp="1"/>
          </p:cNvSpPr>
          <p:nvPr>
            <p:ph idx="1"/>
          </p:nvPr>
        </p:nvSpPr>
        <p:spPr>
          <a:xfrm>
            <a:off x="432000" y="1260000"/>
            <a:ext cx="8529120" cy="4858860"/>
          </a:xfrm>
          <a:solidFill>
            <a:schemeClr val="tx1"/>
          </a:solidFill>
        </p:spPr>
        <p:txBody>
          <a:bodyPr>
            <a:normAutofit fontScale="85000" lnSpcReduction="10000"/>
          </a:bodyPr>
          <a:lstStyle/>
          <a:p>
            <a:pPr marL="514350" indent="-514350">
              <a:lnSpc>
                <a:spcPct val="120000"/>
              </a:lnSpc>
              <a:spcBef>
                <a:spcPts val="0"/>
              </a:spcBef>
              <a:buFont typeface="+mj-lt"/>
              <a:buAutoNum type="arabicPeriod"/>
            </a:pPr>
            <a:r>
              <a:rPr lang="en-US" altLang="zh-CN" sz="2400" b="0" dirty="0">
                <a:solidFill>
                  <a:srgbClr val="4EC9B0"/>
                </a:solidFill>
                <a:effectLst/>
                <a:latin typeface="Consolas" panose="020B0609020204030204" pitchFamily="49" charset="0"/>
              </a:rPr>
              <a:t>    FILE</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a:solidFill>
                  <a:srgbClr val="C586C0"/>
                </a:solidFill>
                <a:effectLst/>
                <a:latin typeface="Consolas" panose="020B0609020204030204" pitchFamily="49" charset="0"/>
              </a:rPr>
              <a:t>if</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D4D4D4"/>
                </a:solidFill>
                <a:effectLst/>
                <a:latin typeface="Consolas" panose="020B0609020204030204" pitchFamily="49" charset="0"/>
              </a:rPr>
              <a:t>=</a:t>
            </a:r>
            <a:r>
              <a:rPr lang="en-US" altLang="zh-CN" sz="2400" b="0" dirty="0" err="1">
                <a:solidFill>
                  <a:srgbClr val="DCDCAA"/>
                </a:solidFill>
                <a:effectLst/>
                <a:latin typeface="Consolas" panose="020B0609020204030204" pitchFamily="49" charset="0"/>
              </a:rPr>
              <a:t>fopen</a:t>
            </a:r>
            <a:r>
              <a:rPr lang="en-US" altLang="zh-CN" sz="2400" b="0" dirty="0">
                <a:solidFill>
                  <a:srgbClr val="CCCCCC"/>
                </a:solidFill>
                <a:effectLst/>
                <a:latin typeface="Consolas" panose="020B0609020204030204" pitchFamily="49" charset="0"/>
              </a:rPr>
              <a:t>(</a:t>
            </a:r>
            <a:r>
              <a:rPr lang="en-US" altLang="zh-CN" sz="2400" b="0" dirty="0">
                <a:solidFill>
                  <a:srgbClr val="CE9178"/>
                </a:solidFill>
                <a:effectLst/>
                <a:latin typeface="Consolas" panose="020B0609020204030204" pitchFamily="49" charset="0"/>
              </a:rPr>
              <a:t>"C:</a:t>
            </a:r>
            <a:r>
              <a:rPr lang="en-US" altLang="zh-CN" sz="2400" b="0" dirty="0">
                <a:solidFill>
                  <a:srgbClr val="D7BA7D"/>
                </a:solidFill>
                <a:effectLst/>
                <a:latin typeface="Consolas" panose="020B0609020204030204" pitchFamily="49" charset="0"/>
              </a:rPr>
              <a:t>\\</a:t>
            </a:r>
            <a:r>
              <a:rPr lang="en-US" altLang="zh-CN" sz="2400" b="0" dirty="0">
                <a:solidFill>
                  <a:srgbClr val="CE9178"/>
                </a:solidFill>
                <a:effectLst/>
                <a:latin typeface="Consolas" panose="020B0609020204030204" pitchFamily="49" charset="0"/>
              </a:rPr>
              <a:t>Temp</a:t>
            </a:r>
            <a:r>
              <a:rPr lang="en-US" altLang="zh-CN" sz="2400" b="0" dirty="0">
                <a:solidFill>
                  <a:srgbClr val="D7BA7D"/>
                </a:solidFill>
                <a:effectLst/>
                <a:latin typeface="Consolas" panose="020B0609020204030204" pitchFamily="49" charset="0"/>
              </a:rPr>
              <a:t>\\</a:t>
            </a:r>
            <a:r>
              <a:rPr lang="en-US" altLang="zh-CN" sz="2400" b="0" dirty="0">
                <a:solidFill>
                  <a:srgbClr val="CE9178"/>
                </a:solidFill>
                <a:effectLst/>
                <a:latin typeface="Consolas" panose="020B0609020204030204" pitchFamily="49" charset="0"/>
              </a:rPr>
              <a:t>data.txt"</a:t>
            </a:r>
            <a:r>
              <a:rPr lang="en-US" altLang="zh-CN" sz="2400" b="0" dirty="0">
                <a:solidFill>
                  <a:srgbClr val="CCCCCC"/>
                </a:solidFill>
                <a:effectLst/>
                <a:latin typeface="Consolas" panose="020B0609020204030204" pitchFamily="49" charset="0"/>
              </a:rPr>
              <a:t>, </a:t>
            </a:r>
            <a:r>
              <a:rPr lang="en-US" altLang="zh-CN" sz="2400" b="0" dirty="0">
                <a:solidFill>
                  <a:srgbClr val="CE9178"/>
                </a:solidFill>
                <a:effectLst/>
                <a:latin typeface="Consolas" panose="020B0609020204030204" pitchFamily="49" charset="0"/>
              </a:rPr>
              <a:t>"r"</a:t>
            </a:r>
            <a:r>
              <a:rPr lang="en-US" altLang="zh-CN" sz="2400" b="0" dirty="0">
                <a:solidFill>
                  <a:srgbClr val="CCCCCC"/>
                </a:solidFill>
                <a:effectLst/>
                <a:latin typeface="Consolas" panose="020B0609020204030204" pitchFamily="49" charset="0"/>
              </a:rPr>
              <a:t>))</a:t>
            </a:r>
            <a:r>
              <a:rPr lang="en-US" altLang="zh-CN" sz="2400" b="0" dirty="0">
                <a:solidFill>
                  <a:srgbClr val="D4D4D4"/>
                </a:solidFill>
                <a:effectLst/>
                <a:latin typeface="Consolas" panose="020B0609020204030204" pitchFamily="49" charset="0"/>
              </a:rPr>
              <a:t>!=</a:t>
            </a:r>
            <a:r>
              <a:rPr lang="en-US" altLang="zh-CN" sz="2400" b="0" dirty="0">
                <a:solidFill>
                  <a:srgbClr val="569CD6"/>
                </a:solidFill>
                <a:effectLst/>
                <a:latin typeface="Consolas" panose="020B0609020204030204" pitchFamily="49" charset="0"/>
              </a:rPr>
              <a:t>NULL</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a:solidFill>
                  <a:srgbClr val="569CD6"/>
                </a:solidFill>
                <a:effectLst/>
                <a:latin typeface="Consolas" panose="020B0609020204030204" pitchFamily="49" charset="0"/>
              </a:rPr>
              <a:t>int</a:t>
            </a:r>
            <a:r>
              <a:rPr lang="en-US" altLang="zh-CN" sz="2400" b="0" dirty="0">
                <a:solidFill>
                  <a:srgbClr val="CCCCCC"/>
                </a:solidFill>
                <a:effectLst/>
                <a:latin typeface="Consolas" panose="020B0609020204030204" pitchFamily="49" charset="0"/>
              </a:rPr>
              <a:t> </a:t>
            </a:r>
            <a:r>
              <a:rPr lang="en-US" altLang="zh-CN" sz="2400" b="0" dirty="0">
                <a:solidFill>
                  <a:srgbClr val="9CDCFE"/>
                </a:solidFill>
                <a:effectLst/>
                <a:latin typeface="Consolas" panose="020B0609020204030204" pitchFamily="49" charset="0"/>
              </a:rPr>
              <a:t>n</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fscanf</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 </a:t>
            </a:r>
            <a:r>
              <a:rPr lang="en-US" altLang="zh-CN" sz="2400" b="0" dirty="0">
                <a:solidFill>
                  <a:srgbClr val="CE9178"/>
                </a:solidFill>
                <a:effectLst/>
                <a:latin typeface="Consolas" panose="020B0609020204030204" pitchFamily="49" charset="0"/>
              </a:rPr>
              <a:t>"</a:t>
            </a:r>
            <a:r>
              <a:rPr lang="en-US" altLang="zh-CN" sz="2400" b="0" dirty="0">
                <a:solidFill>
                  <a:srgbClr val="9CDCFE"/>
                </a:solidFill>
                <a:effectLst/>
                <a:latin typeface="Consolas" panose="020B0609020204030204" pitchFamily="49" charset="0"/>
              </a:rPr>
              <a:t>%d</a:t>
            </a:r>
            <a:r>
              <a:rPr lang="en-US" altLang="zh-CN" sz="2400" b="0" dirty="0">
                <a:solidFill>
                  <a:srgbClr val="CE9178"/>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&amp;</a:t>
            </a:r>
            <a:r>
              <a:rPr lang="en-US" altLang="zh-CN" sz="2400" b="0" dirty="0">
                <a:solidFill>
                  <a:srgbClr val="9CDCFE"/>
                </a:solidFill>
                <a:effectLst/>
                <a:latin typeface="Consolas" panose="020B0609020204030204" pitchFamily="49" charset="0"/>
              </a:rPr>
              <a:t>n</a:t>
            </a: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fgetc</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fgetc</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 </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a:solidFill>
                  <a:srgbClr val="C586C0"/>
                </a:solidFill>
                <a:effectLst/>
                <a:latin typeface="Consolas" panose="020B0609020204030204" pitchFamily="49" charset="0"/>
              </a:rPr>
              <a:t>for</a:t>
            </a:r>
            <a:r>
              <a:rPr lang="en-US" altLang="zh-CN" sz="2400" b="0" dirty="0">
                <a:solidFill>
                  <a:srgbClr val="CCCCCC"/>
                </a:solidFill>
                <a:effectLst/>
                <a:latin typeface="Consolas" panose="020B0609020204030204" pitchFamily="49" charset="0"/>
              </a:rPr>
              <a:t>(</a:t>
            </a:r>
            <a:r>
              <a:rPr lang="en-US" altLang="zh-CN" sz="2400" b="0" dirty="0">
                <a:solidFill>
                  <a:srgbClr val="569CD6"/>
                </a:solidFill>
                <a:effectLst/>
                <a:latin typeface="Consolas" panose="020B0609020204030204" pitchFamily="49" charset="0"/>
              </a:rPr>
              <a:t>int</a:t>
            </a:r>
            <a:r>
              <a:rPr lang="en-US" altLang="zh-CN" sz="2400" b="0" dirty="0">
                <a:solidFill>
                  <a:srgbClr val="CCCCCC"/>
                </a:solidFill>
                <a:effectLst/>
                <a:latin typeface="Consolas" panose="020B0609020204030204" pitchFamily="49" charset="0"/>
              </a:rPr>
              <a:t> </a:t>
            </a:r>
            <a:r>
              <a:rPr lang="en-US" altLang="zh-CN" sz="2400" b="0" dirty="0" err="1">
                <a:solidFill>
                  <a:srgbClr val="9CDCFE"/>
                </a:solidFill>
                <a:effectLst/>
                <a:latin typeface="Consolas" panose="020B0609020204030204" pitchFamily="49" charset="0"/>
              </a:rPr>
              <a:t>i</a:t>
            </a:r>
            <a:r>
              <a:rPr lang="en-US" altLang="zh-CN" sz="2400" b="0" dirty="0">
                <a:solidFill>
                  <a:srgbClr val="D4D4D4"/>
                </a:solidFill>
                <a:effectLst/>
                <a:latin typeface="Consolas" panose="020B0609020204030204" pitchFamily="49" charset="0"/>
              </a:rPr>
              <a:t>=</a:t>
            </a:r>
            <a:r>
              <a:rPr lang="en-US" altLang="zh-CN" sz="2400" b="0" dirty="0">
                <a:solidFill>
                  <a:srgbClr val="B5CEA8"/>
                </a:solidFill>
                <a:effectLst/>
                <a:latin typeface="Consolas" panose="020B0609020204030204" pitchFamily="49" charset="0"/>
              </a:rPr>
              <a:t>0</a:t>
            </a:r>
            <a:r>
              <a:rPr lang="en-US" altLang="zh-CN" sz="2400" b="0" dirty="0">
                <a:solidFill>
                  <a:srgbClr val="CCCCCC"/>
                </a:solidFill>
                <a:effectLst/>
                <a:latin typeface="Consolas" panose="020B0609020204030204" pitchFamily="49" charset="0"/>
              </a:rPr>
              <a:t>;</a:t>
            </a:r>
            <a:r>
              <a:rPr lang="en-US" altLang="zh-CN" sz="2400" b="0" dirty="0">
                <a:solidFill>
                  <a:srgbClr val="9CDCFE"/>
                </a:solidFill>
                <a:effectLst/>
                <a:latin typeface="Consolas" panose="020B0609020204030204" pitchFamily="49" charset="0"/>
              </a:rPr>
              <a:t>i</a:t>
            </a:r>
            <a:r>
              <a:rPr lang="en-US" altLang="zh-CN" sz="2400" b="0" dirty="0">
                <a:solidFill>
                  <a:srgbClr val="D4D4D4"/>
                </a:solidFill>
                <a:effectLst/>
                <a:latin typeface="Consolas" panose="020B0609020204030204" pitchFamily="49" charset="0"/>
              </a:rPr>
              <a:t>&lt;</a:t>
            </a:r>
            <a:r>
              <a:rPr lang="en-US" altLang="zh-CN" sz="2400" b="0" dirty="0" err="1">
                <a:solidFill>
                  <a:srgbClr val="9CDCFE"/>
                </a:solidFill>
                <a:effectLst/>
                <a:latin typeface="Consolas" panose="020B0609020204030204" pitchFamily="49" charset="0"/>
              </a:rPr>
              <a:t>n</a:t>
            </a:r>
            <a:r>
              <a:rPr lang="en-US" altLang="zh-CN" sz="2400" b="0" dirty="0" err="1">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i</a:t>
            </a:r>
            <a:r>
              <a:rPr lang="en-US" altLang="zh-CN" sz="2400" b="0" dirty="0">
                <a:solidFill>
                  <a:srgbClr val="D4D4D4"/>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a:solidFill>
                  <a:srgbClr val="4EC9B0"/>
                </a:solidFill>
                <a:effectLst/>
                <a:latin typeface="Consolas" panose="020B0609020204030204" pitchFamily="49" charset="0"/>
              </a:rPr>
              <a:t>Student</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stu</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&amp;</a:t>
            </a:r>
            <a:r>
              <a:rPr lang="en-US" altLang="zh-CN" sz="2400" b="0" dirty="0">
                <a:solidFill>
                  <a:srgbClr val="9CDCFE"/>
                </a:solidFill>
                <a:effectLst/>
                <a:latin typeface="Consolas" panose="020B0609020204030204" pitchFamily="49" charset="0"/>
              </a:rPr>
              <a:t>stud</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i</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fscanf</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 </a:t>
            </a:r>
            <a:r>
              <a:rPr lang="en-US" altLang="zh-CN" sz="2400" b="0" dirty="0">
                <a:solidFill>
                  <a:srgbClr val="CE9178"/>
                </a:solidFill>
                <a:effectLst/>
                <a:latin typeface="Consolas" panose="020B0609020204030204" pitchFamily="49" charset="0"/>
              </a:rPr>
              <a:t>"</a:t>
            </a:r>
            <a:r>
              <a:rPr lang="en-US" altLang="zh-CN" sz="2400" b="0" dirty="0">
                <a:solidFill>
                  <a:srgbClr val="9CDCFE"/>
                </a:solidFill>
                <a:effectLst/>
                <a:latin typeface="Consolas" panose="020B0609020204030204" pitchFamily="49" charset="0"/>
              </a:rPr>
              <a:t>%d</a:t>
            </a:r>
            <a:r>
              <a:rPr lang="en-US" altLang="zh-CN" sz="2400" b="0" dirty="0">
                <a:solidFill>
                  <a:srgbClr val="CE9178"/>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&amp;</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stu</a:t>
            </a:r>
            <a:r>
              <a:rPr lang="en-US" altLang="zh-CN" sz="2400" b="0" dirty="0">
                <a:solidFill>
                  <a:srgbClr val="CCCCCC"/>
                </a:solidFill>
                <a:effectLst/>
                <a:latin typeface="Consolas" panose="020B0609020204030204" pitchFamily="49" charset="0"/>
              </a:rPr>
              <a:t>-&gt;</a:t>
            </a:r>
            <a:r>
              <a:rPr lang="en-US" altLang="zh-CN" sz="2400" b="0" dirty="0" err="1">
                <a:solidFill>
                  <a:srgbClr val="9CDCFE"/>
                </a:solidFill>
                <a:effectLst/>
                <a:latin typeface="Consolas" panose="020B0609020204030204" pitchFamily="49" charset="0"/>
              </a:rPr>
              <a:t>sno</a:t>
            </a: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fgetc</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 </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fgets</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stu</a:t>
            </a:r>
            <a:r>
              <a:rPr lang="en-US" altLang="zh-CN" sz="2400" b="0" dirty="0">
                <a:solidFill>
                  <a:srgbClr val="CCCCCC"/>
                </a:solidFill>
                <a:effectLst/>
                <a:latin typeface="Consolas" panose="020B0609020204030204" pitchFamily="49" charset="0"/>
              </a:rPr>
              <a:t>-&gt;</a:t>
            </a:r>
            <a:r>
              <a:rPr lang="en-US" altLang="zh-CN" sz="2400" b="0" dirty="0">
                <a:solidFill>
                  <a:srgbClr val="9CDCFE"/>
                </a:solidFill>
                <a:effectLst/>
                <a:latin typeface="Consolas" panose="020B0609020204030204" pitchFamily="49" charset="0"/>
              </a:rPr>
              <a:t>name</a:t>
            </a:r>
            <a:r>
              <a:rPr lang="en-US" altLang="zh-CN" sz="2400" b="0" dirty="0">
                <a:solidFill>
                  <a:srgbClr val="CCCCCC"/>
                </a:solidFill>
                <a:effectLst/>
                <a:latin typeface="Consolas" panose="020B0609020204030204" pitchFamily="49" charset="0"/>
              </a:rPr>
              <a:t>, </a:t>
            </a:r>
            <a:r>
              <a:rPr lang="en-US" altLang="zh-CN" sz="2400" b="0" dirty="0">
                <a:solidFill>
                  <a:srgbClr val="B5CEA8"/>
                </a:solidFill>
                <a:effectLst/>
                <a:latin typeface="Consolas" panose="020B0609020204030204" pitchFamily="49" charset="0"/>
              </a:rPr>
              <a:t>10</a:t>
            </a:r>
            <a:r>
              <a:rPr lang="en-US" altLang="zh-CN" sz="2400" b="0" dirty="0">
                <a:solidFill>
                  <a:srgbClr val="CCCCCC"/>
                </a:solidFill>
                <a:effectLst/>
                <a:latin typeface="Consolas" panose="020B0609020204030204" pitchFamily="49" charset="0"/>
              </a:rPr>
              <a:t>, </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 </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fgetc</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err="1">
                <a:solidFill>
                  <a:srgbClr val="9CDCFE"/>
                </a:solidFill>
                <a:effectLst/>
                <a:latin typeface="Consolas" panose="020B0609020204030204" pitchFamily="49" charset="0"/>
              </a:rPr>
              <a:t>stu</a:t>
            </a:r>
            <a:r>
              <a:rPr lang="en-US" altLang="zh-CN" sz="2400" b="0" dirty="0">
                <a:solidFill>
                  <a:srgbClr val="CCCCCC"/>
                </a:solidFill>
                <a:effectLst/>
                <a:latin typeface="Consolas" panose="020B0609020204030204" pitchFamily="49" charset="0"/>
              </a:rPr>
              <a:t>-&gt;</a:t>
            </a:r>
            <a:r>
              <a:rPr lang="en-US" altLang="zh-CN" sz="2400" b="0" dirty="0">
                <a:solidFill>
                  <a:srgbClr val="9CDCFE"/>
                </a:solidFill>
                <a:effectLst/>
                <a:latin typeface="Consolas" panose="020B0609020204030204" pitchFamily="49" charset="0"/>
              </a:rPr>
              <a:t>sex</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 (</a:t>
            </a:r>
            <a:r>
              <a:rPr lang="en-US" altLang="zh-CN" sz="2400" b="0" dirty="0">
                <a:solidFill>
                  <a:srgbClr val="569CD6"/>
                </a:solidFill>
                <a:effectLst/>
                <a:latin typeface="Consolas" panose="020B0609020204030204" pitchFamily="49" charset="0"/>
              </a:rPr>
              <a:t>char</a:t>
            </a:r>
            <a:r>
              <a:rPr lang="en-US" altLang="zh-CN" sz="2400" b="0" dirty="0">
                <a:solidFill>
                  <a:srgbClr val="CCCCCC"/>
                </a:solidFill>
                <a:effectLst/>
                <a:latin typeface="Consolas" panose="020B0609020204030204" pitchFamily="49" charset="0"/>
              </a:rPr>
              <a:t>)</a:t>
            </a:r>
            <a:r>
              <a:rPr lang="en-US" altLang="zh-CN" sz="2400" b="0" dirty="0" err="1">
                <a:solidFill>
                  <a:srgbClr val="DCDCAA"/>
                </a:solidFill>
                <a:effectLst/>
                <a:latin typeface="Consolas" panose="020B0609020204030204" pitchFamily="49" charset="0"/>
              </a:rPr>
              <a:t>fgetc</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 </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fscanf</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 </a:t>
            </a:r>
            <a:r>
              <a:rPr lang="en-US" altLang="zh-CN" sz="2400" b="0" dirty="0">
                <a:solidFill>
                  <a:srgbClr val="CE9178"/>
                </a:solidFill>
                <a:effectLst/>
                <a:latin typeface="Consolas" panose="020B0609020204030204" pitchFamily="49" charset="0"/>
              </a:rPr>
              <a:t>"</a:t>
            </a:r>
            <a:r>
              <a:rPr lang="en-US" altLang="zh-CN" sz="2400" b="0" dirty="0">
                <a:solidFill>
                  <a:srgbClr val="9CDCFE"/>
                </a:solidFill>
                <a:effectLst/>
                <a:latin typeface="Consolas" panose="020B0609020204030204" pitchFamily="49" charset="0"/>
              </a:rPr>
              <a:t>%d</a:t>
            </a:r>
            <a:r>
              <a:rPr lang="en-US" altLang="zh-CN" sz="2400" b="0" dirty="0">
                <a:solidFill>
                  <a:srgbClr val="CE9178"/>
                </a:solidFill>
                <a:effectLst/>
                <a:latin typeface="Consolas" panose="020B0609020204030204" pitchFamily="49" charset="0"/>
              </a:rPr>
              <a:t>"</a:t>
            </a:r>
            <a:r>
              <a:rPr lang="en-US" altLang="zh-CN" sz="2400" b="0" dirty="0">
                <a:solidFill>
                  <a:srgbClr val="CCCCCC"/>
                </a:solidFill>
                <a:effectLst/>
                <a:latin typeface="Consolas" panose="020B0609020204030204" pitchFamily="49" charset="0"/>
              </a:rPr>
              <a:t>, </a:t>
            </a:r>
            <a:r>
              <a:rPr lang="en-US" altLang="zh-CN" sz="2400" b="0" dirty="0">
                <a:solidFill>
                  <a:srgbClr val="D4D4D4"/>
                </a:solidFill>
                <a:effectLst/>
                <a:latin typeface="Consolas" panose="020B0609020204030204" pitchFamily="49" charset="0"/>
              </a:rPr>
              <a:t>&amp;</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stu</a:t>
            </a:r>
            <a:r>
              <a:rPr lang="en-US" altLang="zh-CN" sz="2400" b="0" dirty="0">
                <a:solidFill>
                  <a:srgbClr val="CCCCCC"/>
                </a:solidFill>
                <a:effectLst/>
                <a:latin typeface="Consolas" panose="020B0609020204030204" pitchFamily="49" charset="0"/>
              </a:rPr>
              <a:t>-&gt;</a:t>
            </a:r>
            <a:r>
              <a:rPr lang="en-US" altLang="zh-CN" sz="2400" b="0" dirty="0">
                <a:solidFill>
                  <a:srgbClr val="9CDCFE"/>
                </a:solidFill>
                <a:effectLst/>
                <a:latin typeface="Consolas" panose="020B0609020204030204" pitchFamily="49" charset="0"/>
              </a:rPr>
              <a:t>age</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r>
              <a:rPr lang="en-US" altLang="zh-CN" sz="2400" b="0" dirty="0" err="1">
                <a:solidFill>
                  <a:srgbClr val="DCDCAA"/>
                </a:solidFill>
                <a:effectLst/>
                <a:latin typeface="Consolas" panose="020B0609020204030204" pitchFamily="49" charset="0"/>
              </a:rPr>
              <a:t>fgetc</a:t>
            </a:r>
            <a:r>
              <a:rPr lang="en-US" altLang="zh-CN" sz="2400" b="0" dirty="0">
                <a:solidFill>
                  <a:srgbClr val="CCCCCC"/>
                </a:solidFill>
                <a:effectLst/>
                <a:latin typeface="Consolas" panose="020B0609020204030204" pitchFamily="49" charset="0"/>
              </a:rPr>
              <a:t>(</a:t>
            </a:r>
            <a:r>
              <a:rPr lang="en-US" altLang="zh-CN" sz="2400" b="0" dirty="0" err="1">
                <a:solidFill>
                  <a:srgbClr val="9CDCFE"/>
                </a:solidFill>
                <a:effectLst/>
                <a:latin typeface="Consolas" panose="020B0609020204030204" pitchFamily="49" charset="0"/>
              </a:rPr>
              <a:t>fp</a:t>
            </a:r>
            <a:r>
              <a:rPr lang="en-US" altLang="zh-CN" sz="2400" b="0" dirty="0">
                <a:solidFill>
                  <a:srgbClr val="CCCCCC"/>
                </a:solidFill>
                <a:effectLst/>
                <a:latin typeface="Consolas" panose="020B0609020204030204" pitchFamily="49" charset="0"/>
              </a:rPr>
              <a:t>);</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endParaRPr lang="en-US" altLang="zh-CN" sz="2400" b="0" dirty="0">
              <a:solidFill>
                <a:srgbClr val="CCCCCC"/>
              </a:solidFill>
              <a:effectLst/>
              <a:latin typeface="Consolas" panose="020B0609020204030204" pitchFamily="49" charset="0"/>
            </a:endParaRPr>
          </a:p>
          <a:p>
            <a:pPr marL="514350" indent="-514350">
              <a:lnSpc>
                <a:spcPct val="120000"/>
              </a:lnSpc>
              <a:spcBef>
                <a:spcPts val="0"/>
              </a:spcBef>
              <a:buFont typeface="+mj-lt"/>
              <a:buAutoNum type="arabicPeriod"/>
            </a:pPr>
            <a:r>
              <a:rPr lang="en-US" altLang="zh-CN" sz="2400" b="0" dirty="0">
                <a:solidFill>
                  <a:srgbClr val="CCCCCC"/>
                </a:solidFill>
                <a:effectLst/>
                <a:latin typeface="Consolas" panose="020B0609020204030204" pitchFamily="49" charset="0"/>
              </a:rPr>
              <a:t>    }</a:t>
            </a:r>
            <a:endParaRPr lang="zh-CN" alt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40560" y="0"/>
            <a:ext cx="8280000" cy="6896100"/>
          </a:xfrm>
          <a:solidFill>
            <a:schemeClr val="tx1"/>
          </a:solidFill>
        </p:spPr>
        <p:txBody>
          <a:bodyPr>
            <a:normAutofit fontScale="92500" lnSpcReduction="10000"/>
          </a:bodyPr>
          <a:lstStyle/>
          <a:p>
            <a:pPr marL="514350" indent="-514350">
              <a:spcBef>
                <a:spcPts val="0"/>
              </a:spcBef>
              <a:buFont typeface="+mj-lt"/>
              <a:buAutoNum type="arabicPeriod"/>
            </a:pPr>
            <a:r>
              <a:rPr lang="en-US" altLang="zh-CN" sz="2000" b="0" dirty="0">
                <a:solidFill>
                  <a:srgbClr val="569CD6"/>
                </a:solidFill>
                <a:effectLst/>
                <a:latin typeface="Consolas" panose="020B0609020204030204" pitchFamily="49" charset="0"/>
              </a:rPr>
              <a:t>void</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readline</a:t>
            </a:r>
            <a:r>
              <a:rPr lang="en-US" altLang="zh-CN" sz="2000" b="0" dirty="0">
                <a:solidFill>
                  <a:srgbClr val="CCCCCC"/>
                </a:solidFill>
                <a:effectLst/>
                <a:latin typeface="Consolas" panose="020B0609020204030204" pitchFamily="49" charset="0"/>
              </a:rPr>
              <a:t>(</a:t>
            </a:r>
            <a:r>
              <a:rPr lang="en-US" altLang="zh-CN" sz="2000" b="0" dirty="0">
                <a:solidFill>
                  <a:srgbClr val="4EC9B0"/>
                </a:solidFill>
                <a:effectLst/>
                <a:latin typeface="Consolas" panose="020B0609020204030204" pitchFamily="49" charset="0"/>
              </a:rPr>
              <a:t>FILE</a:t>
            </a:r>
            <a:r>
              <a:rPr lang="en-US" altLang="zh-CN" sz="2000" b="0" dirty="0">
                <a:solidFill>
                  <a:srgbClr val="569CD6"/>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n</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char</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s</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fgets</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s</a:t>
            </a:r>
            <a:r>
              <a:rPr lang="en-US" altLang="zh-CN" sz="2000" b="0" dirty="0">
                <a:solidFill>
                  <a:srgbClr val="CCCCCC"/>
                </a:solidFill>
                <a:effectLst/>
                <a:latin typeface="Consolas" panose="020B0609020204030204" pitchFamily="49" charset="0"/>
              </a:rPr>
              <a:t>, </a:t>
            </a:r>
            <a:r>
              <a:rPr lang="en-US" altLang="zh-CN" sz="2000" b="0" dirty="0">
                <a:solidFill>
                  <a:srgbClr val="B5CEA8"/>
                </a:solidFill>
                <a:effectLst/>
                <a:latin typeface="Consolas" panose="020B0609020204030204" pitchFamily="49" charset="0"/>
              </a:rPr>
              <a:t>10</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len</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strlen</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s</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C586C0"/>
                </a:solidFill>
                <a:effectLst/>
                <a:latin typeface="Consolas" panose="020B0609020204030204" pitchFamily="49" charset="0"/>
              </a:rPr>
              <a:t>if</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s</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len</a:t>
            </a:r>
            <a:r>
              <a:rPr lang="en-US" altLang="zh-CN" sz="2000" b="0" dirty="0">
                <a:solidFill>
                  <a:srgbClr val="D4D4D4"/>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1</a:t>
            </a:r>
            <a:r>
              <a:rPr lang="en-US" altLang="zh-CN" sz="2000" b="0" dirty="0">
                <a:solidFill>
                  <a:srgbClr val="CCCCCC"/>
                </a:solidFill>
                <a:effectLst/>
                <a:latin typeface="Consolas" panose="020B0609020204030204" pitchFamily="49" charset="0"/>
              </a:rPr>
              <a:t>]</a:t>
            </a:r>
            <a:r>
              <a:rPr lang="en-US" altLang="zh-CN" sz="2000" b="0" dirty="0">
                <a:solidFill>
                  <a:srgbClr val="D4D4D4"/>
                </a:solidFill>
                <a:effectLst/>
                <a:latin typeface="Consolas" panose="020B0609020204030204" pitchFamily="49" charset="0"/>
              </a:rPr>
              <a:t>==</a:t>
            </a:r>
            <a:r>
              <a:rPr lang="en-US" altLang="zh-CN" sz="2000" b="0" dirty="0">
                <a:solidFill>
                  <a:srgbClr val="CE9178"/>
                </a:solidFill>
                <a:effectLst/>
                <a:latin typeface="Consolas" panose="020B0609020204030204" pitchFamily="49" charset="0"/>
              </a:rPr>
              <a:t>'</a:t>
            </a:r>
            <a:r>
              <a:rPr lang="en-US" altLang="zh-CN" sz="2000" b="0" dirty="0">
                <a:solidFill>
                  <a:srgbClr val="D7BA7D"/>
                </a:solidFill>
                <a:effectLst/>
                <a:latin typeface="Consolas" panose="020B0609020204030204" pitchFamily="49" charset="0"/>
              </a:rPr>
              <a:t>\n</a:t>
            </a:r>
            <a:r>
              <a:rPr lang="en-US" altLang="zh-CN" sz="2000" b="0" dirty="0">
                <a:solidFill>
                  <a:srgbClr val="CE9178"/>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len</a:t>
            </a:r>
            <a:r>
              <a:rPr lang="en-US" altLang="zh-CN" sz="2000" b="0" dirty="0">
                <a:solidFill>
                  <a:srgbClr val="D4D4D4"/>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1</a:t>
            </a:r>
            <a:r>
              <a:rPr lang="en-US" altLang="zh-CN" sz="2000" b="0" dirty="0">
                <a:solidFill>
                  <a:srgbClr val="CCCCCC"/>
                </a:solidFill>
                <a:effectLst/>
                <a:latin typeface="Consolas" panose="020B0609020204030204" pitchFamily="49" charset="0"/>
              </a:rPr>
              <a:t>]</a:t>
            </a:r>
            <a:r>
              <a:rPr lang="en-US" altLang="zh-CN" sz="2000" b="0" dirty="0">
                <a:solidFill>
                  <a:srgbClr val="D4D4D4"/>
                </a:solidFill>
                <a:effectLst/>
                <a:latin typeface="Consolas" panose="020B0609020204030204" pitchFamily="49" charset="0"/>
              </a:rPr>
              <a:t>=</a:t>
            </a:r>
            <a:r>
              <a:rPr lang="en-US" altLang="zh-CN" sz="2000" b="0" dirty="0">
                <a:solidFill>
                  <a:srgbClr val="CE9178"/>
                </a:solidFill>
                <a:effectLst/>
                <a:latin typeface="Consolas" panose="020B0609020204030204" pitchFamily="49" charset="0"/>
              </a:rPr>
              <a:t>'</a:t>
            </a:r>
            <a:r>
              <a:rPr lang="en-US" altLang="zh-CN" sz="2000" b="0" dirty="0">
                <a:solidFill>
                  <a:srgbClr val="D7BA7D"/>
                </a:solidFill>
                <a:effectLst/>
                <a:latin typeface="Consolas" panose="020B0609020204030204" pitchFamily="49" charset="0"/>
              </a:rPr>
              <a:t>\0</a:t>
            </a:r>
            <a:r>
              <a:rPr lang="en-US" altLang="zh-CN" sz="2000" b="0" dirty="0">
                <a:solidFill>
                  <a:srgbClr val="CE9178"/>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C586C0"/>
                </a:solidFill>
                <a:effectLst/>
                <a:latin typeface="Consolas" panose="020B0609020204030204" pitchFamily="49" charset="0"/>
              </a:rPr>
              <a:t>else</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fgetc</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DCDCAA"/>
                </a:solidFill>
                <a:effectLst/>
                <a:latin typeface="Consolas" panose="020B0609020204030204" pitchFamily="49" charset="0"/>
              </a:rPr>
              <a:t>main</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latin typeface="Consolas" panose="020B0609020204030204" pitchFamily="49" charset="0"/>
              </a:rPr>
              <a:t>Student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stud</a:t>
            </a:r>
            <a:r>
              <a:rPr lang="en-US" altLang="zh-CN" sz="2000" b="0" dirty="0">
                <a:solidFill>
                  <a:srgbClr val="CCCCCC"/>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2</a:t>
            </a:r>
            <a:r>
              <a:rPr lang="en-US" altLang="zh-CN" sz="2000" b="0" dirty="0">
                <a:solidFill>
                  <a:srgbClr val="CCCCCC"/>
                </a:solidFill>
                <a:effectLst/>
                <a:latin typeface="Consolas" panose="020B0609020204030204" pitchFamily="49" charset="0"/>
              </a:rPr>
              <a:t>];</a:t>
            </a:r>
            <a:r>
              <a:rPr lang="en-US" altLang="zh-CN" sz="2000" b="0" dirty="0">
                <a:solidFill>
                  <a:srgbClr val="6A9955"/>
                </a:solidFill>
                <a:effectLst/>
                <a:latin typeface="Consolas" panose="020B0609020204030204" pitchFamily="49" charset="0"/>
              </a:rPr>
              <a:t>  //</a:t>
            </a:r>
            <a:r>
              <a:rPr lang="zh-CN" altLang="en-US" sz="2000" b="0" dirty="0">
                <a:solidFill>
                  <a:srgbClr val="6A9955"/>
                </a:solidFill>
                <a:effectLst/>
                <a:latin typeface="Consolas" panose="020B0609020204030204" pitchFamily="49" charset="0"/>
              </a:rPr>
              <a:t>学生信息</a:t>
            </a:r>
            <a:endParaRPr lang="zh-CN" altLang="en-US"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zh-CN" altLang="en-US" sz="2000" b="0" dirty="0">
                <a:solidFill>
                  <a:srgbClr val="CCCCCC"/>
                </a:solidFill>
                <a:effectLst/>
                <a:latin typeface="Consolas" panose="020B0609020204030204" pitchFamily="49" charset="0"/>
              </a:rPr>
              <a:t>    </a:t>
            </a:r>
            <a:r>
              <a:rPr lang="en-US" altLang="zh-CN" sz="2000" b="0" dirty="0">
                <a:solidFill>
                  <a:srgbClr val="4EC9B0"/>
                </a:solidFill>
                <a:effectLst/>
                <a:latin typeface="Consolas" panose="020B0609020204030204" pitchFamily="49" charset="0"/>
              </a:rPr>
              <a:t>FILE</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C586C0"/>
                </a:solidFill>
                <a:effectLst/>
                <a:latin typeface="Consolas" panose="020B0609020204030204" pitchFamily="49" charset="0"/>
              </a:rPr>
              <a:t>if</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D4D4D4"/>
                </a:solidFill>
                <a:effectLst/>
                <a:latin typeface="Consolas" panose="020B0609020204030204" pitchFamily="49" charset="0"/>
              </a:rPr>
              <a:t>=</a:t>
            </a:r>
            <a:r>
              <a:rPr lang="en-US" altLang="zh-CN" sz="2000" b="0" dirty="0" err="1">
                <a:solidFill>
                  <a:srgbClr val="DCDCAA"/>
                </a:solidFill>
                <a:effectLst/>
                <a:latin typeface="Consolas" panose="020B0609020204030204" pitchFamily="49" charset="0"/>
              </a:rPr>
              <a:t>fopen</a:t>
            </a:r>
            <a:r>
              <a:rPr lang="en-US" altLang="zh-CN" sz="2000" b="0" dirty="0">
                <a:solidFill>
                  <a:srgbClr val="CCCCCC"/>
                </a:solidFill>
                <a:effectLst/>
                <a:latin typeface="Consolas" panose="020B0609020204030204" pitchFamily="49" charset="0"/>
              </a:rPr>
              <a:t>(</a:t>
            </a:r>
            <a:r>
              <a:rPr lang="en-US" altLang="zh-CN" sz="2000" b="0" dirty="0">
                <a:solidFill>
                  <a:srgbClr val="CE9178"/>
                </a:solidFill>
                <a:effectLst/>
                <a:latin typeface="Consolas" panose="020B0609020204030204" pitchFamily="49" charset="0"/>
              </a:rPr>
              <a:t>"C:</a:t>
            </a:r>
            <a:r>
              <a:rPr lang="en-US" altLang="zh-CN" sz="2000" b="0" dirty="0">
                <a:solidFill>
                  <a:srgbClr val="D7BA7D"/>
                </a:solidFill>
                <a:effectLst/>
                <a:latin typeface="Consolas" panose="020B0609020204030204" pitchFamily="49" charset="0"/>
              </a:rPr>
              <a:t>\\</a:t>
            </a:r>
            <a:r>
              <a:rPr lang="en-US" altLang="zh-CN" sz="2000" b="0" dirty="0">
                <a:solidFill>
                  <a:srgbClr val="CE9178"/>
                </a:solidFill>
                <a:effectLst/>
                <a:latin typeface="Consolas" panose="020B0609020204030204" pitchFamily="49" charset="0"/>
              </a:rPr>
              <a:t>Temp</a:t>
            </a:r>
            <a:r>
              <a:rPr lang="en-US" altLang="zh-CN" sz="2000" b="0" dirty="0">
                <a:solidFill>
                  <a:srgbClr val="D7BA7D"/>
                </a:solidFill>
                <a:effectLst/>
                <a:latin typeface="Consolas" panose="020B0609020204030204" pitchFamily="49" charset="0"/>
              </a:rPr>
              <a:t>\\</a:t>
            </a:r>
            <a:r>
              <a:rPr lang="en-US" altLang="zh-CN" sz="2000" b="0" dirty="0">
                <a:solidFill>
                  <a:srgbClr val="CE9178"/>
                </a:solidFill>
                <a:effectLst/>
                <a:latin typeface="Consolas" panose="020B0609020204030204" pitchFamily="49" charset="0"/>
              </a:rPr>
              <a:t>data.txt"</a:t>
            </a:r>
            <a:r>
              <a:rPr lang="en-US" altLang="zh-CN" sz="2000" b="0" dirty="0">
                <a:solidFill>
                  <a:srgbClr val="CCCCCC"/>
                </a:solidFill>
                <a:effectLst/>
                <a:latin typeface="Consolas" panose="020B0609020204030204" pitchFamily="49" charset="0"/>
              </a:rPr>
              <a:t>, </a:t>
            </a:r>
            <a:r>
              <a:rPr lang="en-US" altLang="zh-CN" sz="2000" b="0" dirty="0">
                <a:solidFill>
                  <a:srgbClr val="CE9178"/>
                </a:solidFill>
                <a:effectLst/>
                <a:latin typeface="Consolas" panose="020B0609020204030204" pitchFamily="49" charset="0"/>
              </a:rPr>
              <a:t>"r"</a:t>
            </a:r>
            <a:r>
              <a:rPr lang="en-US" altLang="zh-CN" sz="2000" b="0" dirty="0">
                <a:solidFill>
                  <a:srgbClr val="CCCCCC"/>
                </a:solidFill>
                <a:effectLst/>
                <a:latin typeface="Consolas" panose="020B0609020204030204" pitchFamily="49" charset="0"/>
              </a:rPr>
              <a:t>))</a:t>
            </a:r>
            <a:r>
              <a:rPr lang="en-US" altLang="zh-CN" sz="2000" b="0" dirty="0">
                <a:solidFill>
                  <a:srgbClr val="D4D4D4"/>
                </a:solidFill>
                <a:effectLst/>
                <a:latin typeface="Consolas" panose="020B0609020204030204" pitchFamily="49" charset="0"/>
              </a:rPr>
              <a:t>!=</a:t>
            </a:r>
            <a:r>
              <a:rPr lang="en-US" altLang="zh-CN" sz="2000" b="0" dirty="0">
                <a:solidFill>
                  <a:srgbClr val="569CD6"/>
                </a:solidFill>
                <a:effectLst/>
                <a:latin typeface="Consolas" panose="020B0609020204030204" pitchFamily="49" charset="0"/>
              </a:rPr>
              <a:t>NULL</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a:solidFill>
                  <a:srgbClr val="9CDCFE"/>
                </a:solidFill>
                <a:effectLst/>
                <a:latin typeface="Consolas" panose="020B0609020204030204" pitchFamily="49" charset="0"/>
              </a:rPr>
              <a:t>n</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fscanf</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 </a:t>
            </a:r>
            <a:r>
              <a:rPr lang="en-US" altLang="zh-CN" sz="2000" b="0" dirty="0">
                <a:solidFill>
                  <a:srgbClr val="CE9178"/>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&amp;</a:t>
            </a:r>
            <a:r>
              <a:rPr lang="en-US" altLang="zh-CN" sz="2000" b="0" dirty="0">
                <a:solidFill>
                  <a:srgbClr val="9CDCFE"/>
                </a:solidFill>
                <a:effectLst/>
                <a:latin typeface="Consolas" panose="020B0609020204030204" pitchFamily="49" charset="0"/>
              </a:rPr>
              <a:t>n</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fgetc</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fgetc</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C586C0"/>
                </a:solidFill>
                <a:effectLst/>
                <a:latin typeface="Consolas" panose="020B0609020204030204" pitchFamily="49" charset="0"/>
              </a:rPr>
              <a:t>for</a:t>
            </a:r>
            <a:r>
              <a:rPr lang="en-US" altLang="zh-CN" sz="2000" b="0" dirty="0">
                <a:solidFill>
                  <a:srgbClr val="CCCCCC"/>
                </a:solidFill>
                <a:effectLst/>
                <a:latin typeface="Consolas" panose="020B0609020204030204" pitchFamily="49" charset="0"/>
              </a:rPr>
              <a:t>(</a:t>
            </a:r>
            <a:r>
              <a:rPr lang="en-US" altLang="zh-CN" sz="2000" b="0" dirty="0">
                <a:solidFill>
                  <a:srgbClr val="569CD6"/>
                </a:solidFill>
                <a:effectLst/>
                <a:latin typeface="Consolas" panose="020B0609020204030204" pitchFamily="49" charset="0"/>
              </a:rPr>
              <a:t>int</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i</a:t>
            </a:r>
            <a:r>
              <a:rPr lang="en-US" altLang="zh-CN" sz="2000" b="0" dirty="0">
                <a:solidFill>
                  <a:srgbClr val="D4D4D4"/>
                </a:solidFill>
                <a:effectLst/>
                <a:latin typeface="Consolas" panose="020B0609020204030204" pitchFamily="49" charset="0"/>
              </a:rPr>
              <a:t>=</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i</a:t>
            </a:r>
            <a:r>
              <a:rPr lang="en-US" altLang="zh-CN" sz="2000" b="0" dirty="0">
                <a:solidFill>
                  <a:srgbClr val="D4D4D4"/>
                </a:solidFill>
                <a:effectLst/>
                <a:latin typeface="Consolas" panose="020B0609020204030204" pitchFamily="49" charset="0"/>
              </a:rPr>
              <a:t>&lt;</a:t>
            </a:r>
            <a:r>
              <a:rPr lang="en-US" altLang="zh-CN" sz="2000" b="0" dirty="0" err="1">
                <a:solidFill>
                  <a:srgbClr val="9CDCFE"/>
                </a:solidFill>
                <a:effectLst/>
                <a:latin typeface="Consolas" panose="020B0609020204030204" pitchFamily="49" charset="0"/>
              </a:rPr>
              <a:t>n</a:t>
            </a:r>
            <a:r>
              <a:rPr lang="en-US" altLang="zh-CN" sz="2000" b="0" dirty="0" err="1">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i</a:t>
            </a:r>
            <a:r>
              <a:rPr lang="en-US" altLang="zh-CN" sz="2000" b="0" dirty="0">
                <a:solidFill>
                  <a:srgbClr val="D4D4D4"/>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4EC9B0"/>
                </a:solidFill>
                <a:effectLst/>
                <a:latin typeface="Consolas" panose="020B0609020204030204" pitchFamily="49" charset="0"/>
              </a:rPr>
              <a:t>Student</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stu</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&amp;</a:t>
            </a:r>
            <a:r>
              <a:rPr lang="en-US" altLang="zh-CN" sz="2000" b="0" dirty="0">
                <a:solidFill>
                  <a:srgbClr val="9CDCFE"/>
                </a:solidFill>
                <a:effectLst/>
                <a:latin typeface="Consolas" panose="020B0609020204030204" pitchFamily="49" charset="0"/>
              </a:rPr>
              <a:t>stud</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i</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fscanf</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 </a:t>
            </a:r>
            <a:r>
              <a:rPr lang="en-US" altLang="zh-CN" sz="2000" b="0" dirty="0">
                <a:solidFill>
                  <a:srgbClr val="CE9178"/>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&amp;</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stu</a:t>
            </a:r>
            <a:r>
              <a:rPr lang="en-US" altLang="zh-CN" sz="2000" b="0" dirty="0">
                <a:solidFill>
                  <a:srgbClr val="CCCCCC"/>
                </a:solidFill>
                <a:effectLst/>
                <a:latin typeface="Consolas" panose="020B0609020204030204" pitchFamily="49" charset="0"/>
              </a:rPr>
              <a:t>-&gt;</a:t>
            </a:r>
            <a:r>
              <a:rPr lang="en-US" altLang="zh-CN" sz="2000" b="0" dirty="0" err="1">
                <a:solidFill>
                  <a:srgbClr val="9CDCFE"/>
                </a:solidFill>
                <a:effectLst/>
                <a:latin typeface="Consolas" panose="020B0609020204030204" pitchFamily="49" charset="0"/>
              </a:rPr>
              <a:t>sno</a:t>
            </a: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fgetc</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readline</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 </a:t>
            </a:r>
            <a:r>
              <a:rPr lang="en-US" altLang="zh-CN" sz="2000" b="0" dirty="0">
                <a:solidFill>
                  <a:srgbClr val="B5CEA8"/>
                </a:solidFill>
                <a:effectLst/>
                <a:latin typeface="Consolas" panose="020B0609020204030204" pitchFamily="49" charset="0"/>
              </a:rPr>
              <a:t>10</a:t>
            </a: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stu</a:t>
            </a:r>
            <a:r>
              <a:rPr lang="en-US" altLang="zh-CN" sz="2000" b="0" dirty="0">
                <a:solidFill>
                  <a:srgbClr val="CCCCCC"/>
                </a:solidFill>
                <a:effectLst/>
                <a:latin typeface="Consolas" panose="020B0609020204030204" pitchFamily="49" charset="0"/>
              </a:rPr>
              <a:t>-&gt;</a:t>
            </a:r>
            <a:r>
              <a:rPr lang="en-US" altLang="zh-CN" sz="2000" b="0" dirty="0">
                <a:solidFill>
                  <a:srgbClr val="9CDCFE"/>
                </a:solidFill>
                <a:effectLst/>
                <a:latin typeface="Consolas" panose="020B0609020204030204" pitchFamily="49" charset="0"/>
              </a:rPr>
              <a:t>name</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9CDCFE"/>
                </a:solidFill>
                <a:effectLst/>
                <a:latin typeface="Consolas" panose="020B0609020204030204" pitchFamily="49" charset="0"/>
              </a:rPr>
              <a:t>stu</a:t>
            </a:r>
            <a:r>
              <a:rPr lang="en-US" altLang="zh-CN" sz="2000" b="0" dirty="0">
                <a:solidFill>
                  <a:srgbClr val="CCCCCC"/>
                </a:solidFill>
                <a:effectLst/>
                <a:latin typeface="Consolas" panose="020B0609020204030204" pitchFamily="49" charset="0"/>
              </a:rPr>
              <a:t>-&gt;</a:t>
            </a:r>
            <a:r>
              <a:rPr lang="en-US" altLang="zh-CN" sz="2000" b="0" dirty="0">
                <a:solidFill>
                  <a:srgbClr val="9CDCFE"/>
                </a:solidFill>
                <a:effectLst/>
                <a:latin typeface="Consolas" panose="020B0609020204030204" pitchFamily="49" charset="0"/>
              </a:rPr>
              <a:t>sex</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569CD6"/>
                </a:solidFill>
                <a:effectLst/>
                <a:latin typeface="Consolas" panose="020B0609020204030204" pitchFamily="49" charset="0"/>
              </a:rPr>
              <a:t>char</a:t>
            </a:r>
            <a:r>
              <a:rPr lang="en-US" altLang="zh-CN" sz="2000" b="0" dirty="0">
                <a:solidFill>
                  <a:srgbClr val="CCCCCC"/>
                </a:solidFill>
                <a:effectLst/>
                <a:latin typeface="Consolas" panose="020B0609020204030204" pitchFamily="49" charset="0"/>
              </a:rPr>
              <a:t>)</a:t>
            </a:r>
            <a:r>
              <a:rPr lang="en-US" altLang="zh-CN" sz="2000" b="0" dirty="0" err="1">
                <a:solidFill>
                  <a:srgbClr val="DCDCAA"/>
                </a:solidFill>
                <a:effectLst/>
                <a:latin typeface="Consolas" panose="020B0609020204030204" pitchFamily="49" charset="0"/>
              </a:rPr>
              <a:t>fgetc</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fscanf</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 </a:t>
            </a:r>
            <a:r>
              <a:rPr lang="en-US" altLang="zh-CN" sz="2000" b="0" dirty="0">
                <a:solidFill>
                  <a:srgbClr val="CE9178"/>
                </a:solidFill>
                <a:effectLst/>
                <a:latin typeface="Consolas" panose="020B0609020204030204" pitchFamily="49" charset="0"/>
              </a:rPr>
              <a:t>"</a:t>
            </a:r>
            <a:r>
              <a:rPr lang="en-US" altLang="zh-CN" sz="2000" b="0" dirty="0">
                <a:solidFill>
                  <a:srgbClr val="9CDCFE"/>
                </a:solidFill>
                <a:effectLst/>
                <a:latin typeface="Consolas" panose="020B0609020204030204" pitchFamily="49" charset="0"/>
              </a:rPr>
              <a:t>%d</a:t>
            </a:r>
            <a:r>
              <a:rPr lang="en-US" altLang="zh-CN" sz="2000" b="0" dirty="0">
                <a:solidFill>
                  <a:srgbClr val="CE9178"/>
                </a:solidFill>
                <a:effectLst/>
                <a:latin typeface="Consolas" panose="020B0609020204030204" pitchFamily="49" charset="0"/>
              </a:rPr>
              <a:t>"</a:t>
            </a:r>
            <a:r>
              <a:rPr lang="en-US" altLang="zh-CN" sz="2000" b="0" dirty="0">
                <a:solidFill>
                  <a:srgbClr val="CCCCCC"/>
                </a:solidFill>
                <a:effectLst/>
                <a:latin typeface="Consolas" panose="020B0609020204030204" pitchFamily="49" charset="0"/>
              </a:rPr>
              <a:t>, </a:t>
            </a:r>
            <a:r>
              <a:rPr lang="en-US" altLang="zh-CN" sz="2000" b="0" dirty="0">
                <a:solidFill>
                  <a:srgbClr val="D4D4D4"/>
                </a:solidFill>
                <a:effectLst/>
                <a:latin typeface="Consolas" panose="020B0609020204030204" pitchFamily="49" charset="0"/>
              </a:rPr>
              <a:t>&amp;</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stu</a:t>
            </a:r>
            <a:r>
              <a:rPr lang="en-US" altLang="zh-CN" sz="2000" b="0" dirty="0">
                <a:solidFill>
                  <a:srgbClr val="CCCCCC"/>
                </a:solidFill>
                <a:effectLst/>
                <a:latin typeface="Consolas" panose="020B0609020204030204" pitchFamily="49" charset="0"/>
              </a:rPr>
              <a:t>-&gt;</a:t>
            </a:r>
            <a:r>
              <a:rPr lang="en-US" altLang="zh-CN" sz="2000" b="0" dirty="0">
                <a:solidFill>
                  <a:srgbClr val="9CDCFE"/>
                </a:solidFill>
                <a:effectLst/>
                <a:latin typeface="Consolas" panose="020B0609020204030204" pitchFamily="49" charset="0"/>
              </a:rPr>
              <a:t>age</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err="1">
                <a:solidFill>
                  <a:srgbClr val="DCDCAA"/>
                </a:solidFill>
                <a:effectLst/>
                <a:latin typeface="Consolas" panose="020B0609020204030204" pitchFamily="49" charset="0"/>
              </a:rPr>
              <a:t>fgetc</a:t>
            </a:r>
            <a:r>
              <a:rPr lang="en-US" altLang="zh-CN" sz="2000" b="0" dirty="0">
                <a:solidFill>
                  <a:srgbClr val="CCCCCC"/>
                </a:solidFill>
                <a:effectLst/>
                <a:latin typeface="Consolas" panose="020B0609020204030204" pitchFamily="49" charset="0"/>
              </a:rPr>
              <a:t>(</a:t>
            </a:r>
            <a:r>
              <a:rPr lang="en-US" altLang="zh-CN" sz="2000" b="0" dirty="0" err="1">
                <a:solidFill>
                  <a:srgbClr val="9CDCFE"/>
                </a:solidFill>
                <a:effectLst/>
                <a:latin typeface="Consolas" panose="020B0609020204030204" pitchFamily="49" charset="0"/>
              </a:rPr>
              <a:t>fp</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    </a:t>
            </a:r>
            <a:r>
              <a:rPr lang="en-US" altLang="zh-CN" sz="2000" b="0" dirty="0">
                <a:solidFill>
                  <a:srgbClr val="C586C0"/>
                </a:solidFill>
                <a:effectLst/>
                <a:latin typeface="Consolas" panose="020B0609020204030204" pitchFamily="49" charset="0"/>
              </a:rPr>
              <a:t>return</a:t>
            </a:r>
            <a:r>
              <a:rPr lang="en-US" altLang="zh-CN" sz="2000" b="0" dirty="0">
                <a:solidFill>
                  <a:srgbClr val="CCCCCC"/>
                </a:solidFill>
                <a:effectLst/>
                <a:latin typeface="Consolas" panose="020B0609020204030204" pitchFamily="49" charset="0"/>
              </a:rPr>
              <a:t> </a:t>
            </a:r>
            <a:r>
              <a:rPr lang="en-US" altLang="zh-CN" sz="2000" b="0" dirty="0">
                <a:solidFill>
                  <a:srgbClr val="B5CEA8"/>
                </a:solidFill>
                <a:effectLst/>
                <a:latin typeface="Consolas" panose="020B0609020204030204" pitchFamily="49" charset="0"/>
              </a:rPr>
              <a:t>0</a:t>
            </a: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sz="2000" b="0" dirty="0">
                <a:solidFill>
                  <a:srgbClr val="CCCCCC"/>
                </a:solidFill>
                <a:effectLst/>
                <a:latin typeface="Consolas" panose="020B0609020204030204" pitchFamily="49" charset="0"/>
              </a:rPr>
              <a:t>}</a:t>
            </a:r>
            <a:endParaRPr lang="en-US" altLang="zh-CN" sz="2000" b="0" dirty="0">
              <a:solidFill>
                <a:srgbClr val="CCCCCC"/>
              </a:solidFill>
              <a:effectLst/>
              <a:latin typeface="Consolas" panose="020B0609020204030204" pitchFamily="49" charset="0"/>
            </a:endParaRPr>
          </a:p>
          <a:p>
            <a:pPr marL="514350" indent="-514350">
              <a:spcBef>
                <a:spcPts val="0"/>
              </a:spcBef>
              <a:buFont typeface="+mj-lt"/>
              <a:buAutoNum type="arabicPeriod"/>
            </a:pPr>
            <a:endParaRPr lang="zh-CN" alt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示例代码：二进制文件输入</a:t>
            </a:r>
            <a:endParaRPr lang="zh-CN" altLang="en-US" dirty="0"/>
          </a:p>
        </p:txBody>
      </p:sp>
      <p:sp>
        <p:nvSpPr>
          <p:cNvPr id="3" name="内容占位符 2"/>
          <p:cNvSpPr>
            <a:spLocks noGrp="1"/>
          </p:cNvSpPr>
          <p:nvPr>
            <p:ph idx="1"/>
          </p:nvPr>
        </p:nvSpPr>
        <p:spPr>
          <a:xfrm>
            <a:off x="175260" y="1260000"/>
            <a:ext cx="8740140" cy="5040000"/>
          </a:xfrm>
          <a:solidFill>
            <a:schemeClr val="tx1"/>
          </a:solidFill>
        </p:spPr>
        <p:txBody>
          <a:bodyPr>
            <a:normAutofit fontScale="92500"/>
          </a:bodyPr>
          <a:lstStyle/>
          <a:p>
            <a:pPr marL="514350" indent="-514350">
              <a:spcBef>
                <a:spcPts val="0"/>
              </a:spcBef>
              <a:buFont typeface="+mj-lt"/>
              <a:buAutoNum type="arabicPeriod"/>
            </a:pP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DCDCAA"/>
                </a:solidFill>
                <a:effectLst/>
                <a:latin typeface="Consolas" panose="020B0609020204030204" pitchFamily="49" charset="0"/>
              </a:rPr>
              <a:t>main</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stud</a:t>
            </a:r>
            <a:r>
              <a:rPr lang="en-US" altLang="zh-CN" b="0" dirty="0">
                <a:solidFill>
                  <a:srgbClr val="CCCCCC"/>
                </a:solidFill>
                <a:effectLst/>
                <a:latin typeface="Consolas" panose="020B0609020204030204" pitchFamily="49" charset="0"/>
              </a:rPr>
              <a:t>[</a:t>
            </a:r>
            <a:r>
              <a:rPr lang="en-US" altLang="zh-CN" b="0" dirty="0">
                <a:solidFill>
                  <a:srgbClr val="B5CEA8"/>
                </a:solidFill>
                <a:effectLst/>
                <a:latin typeface="Consolas" panose="020B0609020204030204" pitchFamily="49" charset="0"/>
              </a:rPr>
              <a:t>2</a:t>
            </a:r>
            <a:r>
              <a:rPr lang="en-US" altLang="zh-CN" b="0" dirty="0">
                <a:solidFill>
                  <a:srgbClr val="CCCCCC"/>
                </a:solidFill>
                <a:effectLst/>
                <a:latin typeface="Consolas" panose="020B0609020204030204" pitchFamily="49" charset="0"/>
              </a:rPr>
              <a:t>];</a:t>
            </a:r>
            <a:r>
              <a:rPr lang="en-US" altLang="zh-CN" b="0" dirty="0">
                <a:solidFill>
                  <a:srgbClr val="6A9955"/>
                </a:solidFill>
                <a:effectLst/>
                <a:latin typeface="Consolas" panose="020B0609020204030204" pitchFamily="49" charset="0"/>
              </a:rPr>
              <a:t>  //</a:t>
            </a:r>
            <a:r>
              <a:rPr lang="zh-CN" altLang="en-US" b="0" dirty="0">
                <a:solidFill>
                  <a:srgbClr val="6A9955"/>
                </a:solidFill>
                <a:effectLst/>
                <a:latin typeface="Consolas" panose="020B0609020204030204" pitchFamily="49" charset="0"/>
              </a:rPr>
              <a:t>学生信息</a:t>
            </a:r>
            <a:endParaRPr lang="zh-CN" altLang="en-US" b="0" dirty="0">
              <a:solidFill>
                <a:srgbClr val="CCCCCC"/>
              </a:solidFill>
              <a:effectLst/>
              <a:latin typeface="Consolas" panose="020B0609020204030204" pitchFamily="49" charset="0"/>
            </a:endParaRPr>
          </a:p>
          <a:p>
            <a:pPr marL="514350" indent="-514350">
              <a:spcBef>
                <a:spcPts val="0"/>
              </a:spcBef>
              <a:buFont typeface="+mj-lt"/>
              <a:buAutoNum type="arabicPeriod"/>
            </a:pPr>
            <a:r>
              <a:rPr lang="zh-CN" altLang="en-US" b="0" dirty="0">
                <a:solidFill>
                  <a:srgbClr val="CCCCCC"/>
                </a:solidFill>
                <a:effectLst/>
                <a:latin typeface="Consolas" panose="020B0609020204030204" pitchFamily="49" charset="0"/>
              </a:rPr>
              <a:t>    </a:t>
            </a:r>
            <a:r>
              <a:rPr lang="en-US" altLang="zh-CN" b="0" dirty="0">
                <a:solidFill>
                  <a:srgbClr val="4EC9B0"/>
                </a:solidFill>
                <a:effectLst/>
                <a:latin typeface="Consolas" panose="020B0609020204030204" pitchFamily="49" charset="0"/>
              </a:rPr>
              <a:t>FILE</a:t>
            </a:r>
            <a:r>
              <a:rPr lang="en-US" altLang="zh-CN" b="0" dirty="0">
                <a:solidFill>
                  <a:srgbClr val="CCCCCC"/>
                </a:solidFill>
                <a:effectLst/>
                <a:latin typeface="Consolas" panose="020B0609020204030204" pitchFamily="49" charset="0"/>
              </a:rPr>
              <a:t> </a:t>
            </a:r>
            <a:r>
              <a:rPr lang="en-US" altLang="zh-CN" b="0" dirty="0">
                <a:solidFill>
                  <a:srgbClr val="D4D4D4"/>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fp</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if</a:t>
            </a:r>
            <a:r>
              <a:rPr lang="en-US" altLang="zh-CN" b="0" dirty="0">
                <a:solidFill>
                  <a:srgbClr val="CCCCCC"/>
                </a:solidFill>
                <a:effectLst/>
                <a:latin typeface="Consolas" panose="020B0609020204030204" pitchFamily="49" charset="0"/>
              </a:rPr>
              <a:t>((</a:t>
            </a:r>
            <a:r>
              <a:rPr lang="en-US" altLang="zh-CN" b="0" dirty="0" err="1">
                <a:solidFill>
                  <a:srgbClr val="9CDCFE"/>
                </a:solidFill>
                <a:effectLst/>
                <a:latin typeface="Consolas" panose="020B0609020204030204" pitchFamily="49" charset="0"/>
              </a:rPr>
              <a:t>fp</a:t>
            </a:r>
            <a:r>
              <a:rPr lang="en-US" altLang="zh-CN" b="0" dirty="0">
                <a:solidFill>
                  <a:srgbClr val="D4D4D4"/>
                </a:solidFill>
                <a:effectLst/>
                <a:latin typeface="Consolas" panose="020B0609020204030204" pitchFamily="49" charset="0"/>
              </a:rPr>
              <a:t>=</a:t>
            </a:r>
            <a:r>
              <a:rPr lang="en-US" altLang="zh-CN" b="0" dirty="0" err="1">
                <a:solidFill>
                  <a:srgbClr val="DCDCAA"/>
                </a:solidFill>
                <a:effectLst/>
                <a:latin typeface="Consolas" panose="020B0609020204030204" pitchFamily="49" charset="0"/>
              </a:rPr>
              <a:t>fopen</a:t>
            </a:r>
            <a:r>
              <a:rPr lang="en-US" altLang="zh-CN" b="0" dirty="0">
                <a:solidFill>
                  <a:srgbClr val="CCCCCC"/>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"C:</a:t>
            </a:r>
            <a:r>
              <a:rPr lang="en-US" altLang="zh-CN" b="0" dirty="0">
                <a:solidFill>
                  <a:srgbClr val="D7BA7D"/>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Temp</a:t>
            </a:r>
            <a:r>
              <a:rPr lang="en-US" altLang="zh-CN" b="0" dirty="0">
                <a:solidFill>
                  <a:srgbClr val="D7BA7D"/>
                </a:solidFill>
                <a:effectLst/>
                <a:latin typeface="Consolas" panose="020B0609020204030204" pitchFamily="49" charset="0"/>
              </a:rPr>
              <a:t>\\</a:t>
            </a:r>
            <a:r>
              <a:rPr lang="en-US" altLang="zh-CN" b="0" dirty="0">
                <a:solidFill>
                  <a:srgbClr val="CE9178"/>
                </a:solidFill>
                <a:effectLst/>
                <a:latin typeface="Consolas" panose="020B0609020204030204" pitchFamily="49" charset="0"/>
              </a:rPr>
              <a:t>data.bin"</a:t>
            </a:r>
            <a:r>
              <a:rPr lang="en-US" altLang="zh-CN" b="0" dirty="0">
                <a:solidFill>
                  <a:srgbClr val="CCCCCC"/>
                </a:solidFill>
                <a:effectLst/>
                <a:latin typeface="Consolas" panose="020B0609020204030204" pitchFamily="49" charset="0"/>
              </a:rPr>
              <a:t>, </a:t>
            </a:r>
            <a:r>
              <a:rPr lang="en-US" altLang="zh-CN" b="0" dirty="0">
                <a:solidFill>
                  <a:srgbClr val="CE9178"/>
                </a:solidFill>
                <a:effectLst/>
                <a:latin typeface="Consolas" panose="020B0609020204030204" pitchFamily="49" charset="0"/>
              </a:rPr>
              <a:t>"</a:t>
            </a:r>
            <a:r>
              <a:rPr lang="en-US" altLang="zh-CN" b="0" dirty="0" err="1">
                <a:solidFill>
                  <a:srgbClr val="CE9178"/>
                </a:solidFill>
                <a:effectLst/>
                <a:latin typeface="Consolas" panose="020B0609020204030204" pitchFamily="49" charset="0"/>
              </a:rPr>
              <a:t>rb</a:t>
            </a:r>
            <a:r>
              <a:rPr lang="en-US" altLang="zh-CN" b="0" dirty="0">
                <a:solidFill>
                  <a:srgbClr val="CE9178"/>
                </a:solidFill>
                <a:effectLst/>
                <a:latin typeface="Consolas" panose="020B0609020204030204" pitchFamily="49" charset="0"/>
              </a:rPr>
              <a:t>"</a:t>
            </a:r>
            <a:r>
              <a:rPr lang="en-US" altLang="zh-CN" b="0" dirty="0">
                <a:solidFill>
                  <a:srgbClr val="CCCCCC"/>
                </a:solidFill>
                <a:effectLst/>
                <a:latin typeface="Consolas" panose="020B0609020204030204" pitchFamily="49" charset="0"/>
              </a:rPr>
              <a:t>))</a:t>
            </a:r>
            <a:r>
              <a:rPr lang="en-US" altLang="zh-CN" b="0" dirty="0">
                <a:solidFill>
                  <a:srgbClr val="D4D4D4"/>
                </a:solidFill>
                <a:effectLst/>
                <a:latin typeface="Consolas" panose="020B0609020204030204" pitchFamily="49" charset="0"/>
              </a:rPr>
              <a:t>!=</a:t>
            </a:r>
            <a:r>
              <a:rPr lang="en-US" altLang="zh-CN" b="0" dirty="0">
                <a:solidFill>
                  <a:srgbClr val="569CD6"/>
                </a:solidFill>
                <a:effectLst/>
                <a:latin typeface="Consolas" panose="020B0609020204030204" pitchFamily="49" charset="0"/>
              </a:rPr>
              <a:t>NULL</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569CD6"/>
                </a:solidFill>
                <a:effectLst/>
                <a:latin typeface="Consolas" panose="020B0609020204030204" pitchFamily="49" charset="0"/>
              </a:rPr>
              <a:t>int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fread</a:t>
            </a:r>
            <a:r>
              <a:rPr lang="en-US" altLang="zh-CN" b="0" dirty="0">
                <a:solidFill>
                  <a:srgbClr val="CCCCCC"/>
                </a:solidFill>
                <a:effectLst/>
                <a:latin typeface="Consolas" panose="020B0609020204030204" pitchFamily="49" charset="0"/>
              </a:rPr>
              <a:t>(</a:t>
            </a:r>
            <a:r>
              <a:rPr lang="en-US" altLang="zh-CN" b="0" dirty="0">
                <a:solidFill>
                  <a:srgbClr val="D4D4D4"/>
                </a:solidFill>
                <a:effectLst/>
                <a:latin typeface="Consolas" panose="020B0609020204030204" pitchFamily="49" charset="0"/>
              </a:rPr>
              <a:t>&amp;</a:t>
            </a:r>
            <a:r>
              <a:rPr lang="en-US" altLang="zh-CN" b="0" dirty="0">
                <a:solidFill>
                  <a:srgbClr val="9CDCFE"/>
                </a:solidFill>
                <a:effectLst/>
                <a:latin typeface="Consolas" panose="020B0609020204030204" pitchFamily="49" charset="0"/>
              </a:rPr>
              <a:t>n</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4</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1</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fp</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err="1">
                <a:solidFill>
                  <a:srgbClr val="DCDCAA"/>
                </a:solidFill>
                <a:effectLst/>
                <a:latin typeface="Consolas" panose="020B0609020204030204" pitchFamily="49" charset="0"/>
              </a:rPr>
              <a:t>fread</a:t>
            </a:r>
            <a:r>
              <a:rPr lang="en-US" altLang="zh-CN" b="0" dirty="0">
                <a:solidFill>
                  <a:srgbClr val="CCCCCC"/>
                </a:solidFill>
                <a:effectLst/>
                <a:latin typeface="Consolas" panose="020B0609020204030204" pitchFamily="49" charset="0"/>
              </a:rPr>
              <a:t>(</a:t>
            </a:r>
            <a:r>
              <a:rPr lang="en-US" altLang="zh-CN" b="0" dirty="0">
                <a:solidFill>
                  <a:srgbClr val="9CDCFE"/>
                </a:solidFill>
                <a:effectLst/>
                <a:latin typeface="Consolas" panose="020B0609020204030204" pitchFamily="49" charset="0"/>
              </a:rPr>
              <a:t>stud</a:t>
            </a:r>
            <a:r>
              <a:rPr lang="en-US" altLang="zh-CN" b="0" dirty="0">
                <a:solidFill>
                  <a:srgbClr val="CCCCCC"/>
                </a:solidFill>
                <a:effectLst/>
                <a:latin typeface="Consolas" panose="020B0609020204030204" pitchFamily="49" charset="0"/>
              </a:rPr>
              <a:t>, </a:t>
            </a:r>
            <a:r>
              <a:rPr lang="en-US" altLang="zh-CN" b="0" dirty="0" err="1">
                <a:solidFill>
                  <a:srgbClr val="569CD6"/>
                </a:solidFill>
                <a:effectLst/>
                <a:latin typeface="Consolas" panose="020B0609020204030204" pitchFamily="49" charset="0"/>
              </a:rPr>
              <a:t>sizeof</a:t>
            </a:r>
            <a:r>
              <a:rPr lang="en-US" altLang="zh-CN" b="0" dirty="0">
                <a:solidFill>
                  <a:srgbClr val="CCCCCC"/>
                </a:solidFill>
                <a:effectLst/>
                <a:latin typeface="Consolas" panose="020B0609020204030204" pitchFamily="49" charset="0"/>
              </a:rPr>
              <a:t>(</a:t>
            </a:r>
            <a:r>
              <a:rPr lang="en-US" altLang="zh-CN" b="0" dirty="0">
                <a:solidFill>
                  <a:srgbClr val="4EC9B0"/>
                </a:solidFill>
                <a:effectLst/>
                <a:latin typeface="Consolas" panose="020B0609020204030204" pitchFamily="49" charset="0"/>
              </a:rPr>
              <a:t>Student</a:t>
            </a:r>
            <a:r>
              <a:rPr lang="en-US" altLang="zh-CN" b="0" dirty="0">
                <a:solidFill>
                  <a:srgbClr val="CCCCCC"/>
                </a:solidFill>
                <a:effectLst/>
                <a:latin typeface="Consolas" panose="020B0609020204030204" pitchFamily="49" charset="0"/>
              </a:rPr>
              <a:t>), </a:t>
            </a:r>
            <a:r>
              <a:rPr lang="en-US" altLang="zh-CN" b="0" dirty="0">
                <a:solidFill>
                  <a:srgbClr val="9CDCFE"/>
                </a:solidFill>
                <a:effectLst/>
                <a:latin typeface="Consolas" panose="020B0609020204030204" pitchFamily="49" charset="0"/>
              </a:rPr>
              <a:t>n</a:t>
            </a:r>
            <a:r>
              <a:rPr lang="en-US" altLang="zh-CN" b="0" dirty="0">
                <a:solidFill>
                  <a:srgbClr val="CCCCCC"/>
                </a:solidFill>
                <a:effectLst/>
                <a:latin typeface="Consolas" panose="020B0609020204030204" pitchFamily="49" charset="0"/>
              </a:rPr>
              <a:t>, </a:t>
            </a:r>
            <a:r>
              <a:rPr lang="en-US" altLang="zh-CN" b="0" dirty="0" err="1">
                <a:solidFill>
                  <a:srgbClr val="9CDCFE"/>
                </a:solidFill>
                <a:effectLst/>
                <a:latin typeface="Consolas" panose="020B0609020204030204" pitchFamily="49" charset="0"/>
              </a:rPr>
              <a:t>fp</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b="0" dirty="0">
                <a:solidFill>
                  <a:srgbClr val="CCCCCC"/>
                </a:solidFill>
                <a:effectLst/>
                <a:latin typeface="Consolas" panose="020B0609020204030204" pitchFamily="49" charset="0"/>
              </a:rPr>
              <a:t>    }</a:t>
            </a:r>
            <a:endParaRPr lang="en-US" altLang="zh-CN"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b="0" dirty="0">
                <a:solidFill>
                  <a:srgbClr val="CCCCCC"/>
                </a:solidFill>
                <a:effectLst/>
                <a:latin typeface="Consolas" panose="020B0609020204030204" pitchFamily="49" charset="0"/>
              </a:rPr>
              <a:t>    </a:t>
            </a:r>
            <a:r>
              <a:rPr lang="en-US" altLang="zh-CN" b="0" dirty="0">
                <a:solidFill>
                  <a:srgbClr val="C586C0"/>
                </a:solidFill>
                <a:effectLst/>
                <a:latin typeface="Consolas" panose="020B0609020204030204" pitchFamily="49" charset="0"/>
              </a:rPr>
              <a:t>return</a:t>
            </a:r>
            <a:r>
              <a:rPr lang="en-US" altLang="zh-CN" b="0" dirty="0">
                <a:solidFill>
                  <a:srgbClr val="CCCCCC"/>
                </a:solidFill>
                <a:effectLst/>
                <a:latin typeface="Consolas" panose="020B0609020204030204" pitchFamily="49" charset="0"/>
              </a:rPr>
              <a:t> </a:t>
            </a:r>
            <a:r>
              <a:rPr lang="en-US" altLang="zh-CN" b="0" dirty="0">
                <a:solidFill>
                  <a:srgbClr val="B5CEA8"/>
                </a:solidFill>
                <a:effectLst/>
                <a:latin typeface="Consolas" panose="020B0609020204030204" pitchFamily="49" charset="0"/>
              </a:rPr>
              <a:t>0</a:t>
            </a: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0"/>
              </a:spcBef>
              <a:buFont typeface="+mj-lt"/>
              <a:buAutoNum type="arabicPeriod"/>
            </a:pPr>
            <a:r>
              <a:rPr lang="en-US" altLang="zh-CN" b="0" dirty="0">
                <a:solidFill>
                  <a:srgbClr val="CCCCCC"/>
                </a:solidFill>
                <a:effectLst/>
                <a:latin typeface="Consolas" panose="020B0609020204030204" pitchFamily="49" charset="0"/>
              </a:rPr>
              <a:t>}</a:t>
            </a:r>
            <a:endParaRPr lang="en-US" altLang="zh-CN" b="0" dirty="0">
              <a:solidFill>
                <a:srgbClr val="CCCCCC"/>
              </a:solidFill>
              <a:effectLst/>
              <a:latin typeface="Consolas" panose="020B0609020204030204" pitchFamily="49" charset="0"/>
            </a:endParaRPr>
          </a:p>
          <a:p>
            <a:pPr marL="514350" indent="-514350">
              <a:spcBef>
                <a:spcPts val="0"/>
              </a:spcBef>
              <a:buFont typeface="+mj-lt"/>
              <a:buAutoNum type="arabicPeriod"/>
            </a:pP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2569" y="5401621"/>
            <a:ext cx="8197081" cy="12677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569" y="3873388"/>
            <a:ext cx="8197081" cy="9957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标题 2"/>
          <p:cNvSpPr>
            <a:spLocks noGrp="1"/>
          </p:cNvSpPr>
          <p:nvPr>
            <p:ph type="title"/>
          </p:nvPr>
        </p:nvSpPr>
        <p:spPr/>
        <p:txBody>
          <a:bodyPr/>
          <a:lstStyle/>
          <a:p>
            <a:r>
              <a:rPr lang="zh-CN" altLang="en-US" dirty="0"/>
              <a:t>顺序读写数据文件</a:t>
            </a:r>
            <a:endParaRPr lang="zh-CN" altLang="en-US" dirty="0"/>
          </a:p>
        </p:txBody>
      </p:sp>
      <p:sp>
        <p:nvSpPr>
          <p:cNvPr id="2" name="内容占位符 1"/>
          <p:cNvSpPr>
            <a:spLocks noGrp="1"/>
          </p:cNvSpPr>
          <p:nvPr>
            <p:ph idx="1"/>
          </p:nvPr>
        </p:nvSpPr>
        <p:spPr/>
        <p:txBody>
          <a:bodyPr>
            <a:normAutofit/>
          </a:bodyPr>
          <a:lstStyle/>
          <a:p>
            <a:r>
              <a:rPr lang="zh-CN" altLang="en-US" sz="2000" dirty="0"/>
              <a:t>示例：以二进制形式进行存储的文件和以</a:t>
            </a:r>
            <a:r>
              <a:rPr lang="en-US" altLang="zh-CN" sz="2000" dirty="0"/>
              <a:t>ASCII</a:t>
            </a:r>
            <a:r>
              <a:rPr lang="zh-CN" altLang="en-US" sz="2000" dirty="0"/>
              <a:t>码形式存储文件</a:t>
            </a:r>
            <a:endParaRPr lang="zh-CN" altLang="en-US" sz="2000" dirty="0"/>
          </a:p>
        </p:txBody>
      </p:sp>
      <p:sp>
        <p:nvSpPr>
          <p:cNvPr id="4" name="矩形 3"/>
          <p:cNvSpPr/>
          <p:nvPr/>
        </p:nvSpPr>
        <p:spPr>
          <a:xfrm>
            <a:off x="3167254" y="1657519"/>
            <a:ext cx="1664960" cy="1569660"/>
          </a:xfrm>
          <a:prstGeom prst="rect">
            <a:avLst/>
          </a:prstGeom>
          <a:ln w="12700">
            <a:solidFill>
              <a:schemeClr val="tx1"/>
            </a:solidFill>
          </a:ln>
        </p:spPr>
        <p:txBody>
          <a:bodyPr wrap="square">
            <a:spAutoFit/>
          </a:bodyPr>
          <a:lstStyle/>
          <a:p>
            <a:r>
              <a:rPr lang="en-US" altLang="zh-CN" sz="1600" dirty="0" err="1"/>
              <a:t>typedef</a:t>
            </a:r>
            <a:r>
              <a:rPr lang="en-US" altLang="zh-CN" sz="1600" dirty="0"/>
              <a:t> </a:t>
            </a:r>
            <a:r>
              <a:rPr lang="en-US" altLang="zh-CN" sz="1600" dirty="0" err="1"/>
              <a:t>struct</a:t>
            </a:r>
            <a:r>
              <a:rPr lang="en-US" altLang="zh-CN" sz="1600" dirty="0"/>
              <a:t> {</a:t>
            </a:r>
            <a:endParaRPr lang="en-US" altLang="zh-CN" sz="1600" dirty="0"/>
          </a:p>
          <a:p>
            <a:r>
              <a:rPr lang="en-US" altLang="zh-CN" sz="1600" dirty="0"/>
              <a:t>    </a:t>
            </a:r>
            <a:r>
              <a:rPr lang="en-US" altLang="zh-CN" sz="1600" dirty="0" err="1"/>
              <a:t>int</a:t>
            </a:r>
            <a:r>
              <a:rPr lang="en-US" altLang="zh-CN" sz="1600" dirty="0"/>
              <a:t> </a:t>
            </a:r>
            <a:r>
              <a:rPr lang="en-US" altLang="zh-CN" sz="1600" dirty="0" err="1"/>
              <a:t>sno</a:t>
            </a:r>
            <a:r>
              <a:rPr lang="en-US" altLang="zh-CN" sz="1600" dirty="0"/>
              <a:t>;</a:t>
            </a:r>
            <a:endParaRPr lang="en-US" altLang="zh-CN" sz="1600" dirty="0"/>
          </a:p>
          <a:p>
            <a:r>
              <a:rPr lang="en-US" altLang="zh-CN" sz="1600" dirty="0"/>
              <a:t>    char name[10];</a:t>
            </a:r>
            <a:endParaRPr lang="en-US" altLang="zh-CN" sz="1600" dirty="0"/>
          </a:p>
          <a:p>
            <a:r>
              <a:rPr lang="en-US" altLang="zh-CN" sz="1600" dirty="0"/>
              <a:t>    char sex;</a:t>
            </a:r>
            <a:endParaRPr lang="en-US" altLang="zh-CN" sz="1600" dirty="0"/>
          </a:p>
          <a:p>
            <a:r>
              <a:rPr lang="en-US" altLang="zh-CN" sz="1600" dirty="0"/>
              <a:t>    </a:t>
            </a:r>
            <a:r>
              <a:rPr lang="en-US" altLang="zh-CN" sz="1600" dirty="0" err="1"/>
              <a:t>int</a:t>
            </a:r>
            <a:r>
              <a:rPr lang="en-US" altLang="zh-CN" sz="1600" dirty="0"/>
              <a:t> age;</a:t>
            </a:r>
            <a:endParaRPr lang="en-US" altLang="zh-CN" sz="1600" dirty="0"/>
          </a:p>
          <a:p>
            <a:r>
              <a:rPr lang="en-US" altLang="zh-CN" sz="1600" dirty="0"/>
              <a:t>} Student;</a:t>
            </a:r>
            <a:endParaRPr lang="en-US" altLang="zh-CN" sz="1600" dirty="0"/>
          </a:p>
        </p:txBody>
      </p:sp>
      <p:graphicFrame>
        <p:nvGraphicFramePr>
          <p:cNvPr id="5" name="表格 4"/>
          <p:cNvGraphicFramePr>
            <a:graphicFrameLocks noGrp="1"/>
          </p:cNvGraphicFramePr>
          <p:nvPr/>
        </p:nvGraphicFramePr>
        <p:xfrm>
          <a:off x="5070072" y="1740494"/>
          <a:ext cx="3883997" cy="1335387"/>
        </p:xfrm>
        <a:graphic>
          <a:graphicData uri="http://schemas.openxmlformats.org/drawingml/2006/table">
            <a:tbl>
              <a:tblPr/>
              <a:tblGrid>
                <a:gridCol w="1328392"/>
                <a:gridCol w="1131013"/>
                <a:gridCol w="567614"/>
                <a:gridCol w="856978"/>
              </a:tblGrid>
              <a:tr h="445129">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ctr"/>
                      <a:r>
                        <a:rPr lang="en-US" altLang="zh-CN" sz="1600" b="1" dirty="0" err="1"/>
                        <a:t>sno</a:t>
                      </a:r>
                      <a:endParaRPr lang="zh-CN" alt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ctr"/>
                      <a:r>
                        <a:rPr lang="en-US" altLang="zh-CN" sz="1600" b="1" dirty="0"/>
                        <a:t>name</a:t>
                      </a:r>
                      <a:endParaRPr lang="zh-CN" alt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ctr"/>
                      <a:r>
                        <a:rPr lang="en-US" altLang="zh-CN" sz="1600" b="1" dirty="0"/>
                        <a:t>sex</a:t>
                      </a:r>
                      <a:endParaRPr lang="zh-CN" alt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1" dirty="0"/>
                        <a:t>age</a:t>
                      </a:r>
                      <a:endParaRPr lang="zh-CN" altLang="en-US" sz="16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45129">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ctr"/>
                      <a:r>
                        <a:rPr lang="en-US" altLang="zh-CN" sz="1600" dirty="0"/>
                        <a:t>2021123456</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ctr"/>
                      <a:r>
                        <a:rPr lang="en-US" altLang="zh-CN" sz="1600" dirty="0" err="1"/>
                        <a:t>ZhangSan</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lvl1pPr marL="0" algn="l" defTabSz="685800" rtl="0" eaLnBrk="1" latinLnBrk="0" hangingPunct="1">
                        <a:defRPr sz="1350" kern="1200">
                          <a:solidFill>
                            <a:schemeClr val="dk1"/>
                          </a:solidFill>
                          <a:latin typeface="等线" panose="02010600030101010101" charset="-122"/>
                        </a:defRPr>
                      </a:lvl1pPr>
                      <a:lvl2pPr marL="342900" algn="l" defTabSz="685800" rtl="0" eaLnBrk="1" latinLnBrk="0" hangingPunct="1">
                        <a:defRPr sz="1350" kern="1200">
                          <a:solidFill>
                            <a:schemeClr val="dk1"/>
                          </a:solidFill>
                          <a:latin typeface="等线" panose="02010600030101010101" charset="-122"/>
                        </a:defRPr>
                      </a:lvl2pPr>
                      <a:lvl3pPr marL="685800" algn="l" defTabSz="685800" rtl="0" eaLnBrk="1" latinLnBrk="0" hangingPunct="1">
                        <a:defRPr sz="1350" kern="1200">
                          <a:solidFill>
                            <a:schemeClr val="dk1"/>
                          </a:solidFill>
                          <a:latin typeface="等线" panose="02010600030101010101" charset="-122"/>
                        </a:defRPr>
                      </a:lvl3pPr>
                      <a:lvl4pPr marL="1028700" algn="l" defTabSz="685800" rtl="0" eaLnBrk="1" latinLnBrk="0" hangingPunct="1">
                        <a:defRPr sz="1350" kern="1200">
                          <a:solidFill>
                            <a:schemeClr val="dk1"/>
                          </a:solidFill>
                          <a:latin typeface="等线" panose="02010600030101010101" charset="-122"/>
                        </a:defRPr>
                      </a:lvl4pPr>
                      <a:lvl5pPr marL="1371600" algn="l" defTabSz="685800" rtl="0" eaLnBrk="1" latinLnBrk="0" hangingPunct="1">
                        <a:defRPr sz="1350" kern="1200">
                          <a:solidFill>
                            <a:schemeClr val="dk1"/>
                          </a:solidFill>
                          <a:latin typeface="等线" panose="02010600030101010101" charset="-122"/>
                        </a:defRPr>
                      </a:lvl5pPr>
                      <a:lvl6pPr marL="1714500" algn="l" defTabSz="685800" rtl="0" eaLnBrk="1" latinLnBrk="0" hangingPunct="1">
                        <a:defRPr sz="1350" kern="1200">
                          <a:solidFill>
                            <a:schemeClr val="dk1"/>
                          </a:solidFill>
                          <a:latin typeface="等线" panose="02010600030101010101" charset="-122"/>
                        </a:defRPr>
                      </a:lvl6pPr>
                      <a:lvl7pPr marL="2057400" algn="l" defTabSz="685800" rtl="0" eaLnBrk="1" latinLnBrk="0" hangingPunct="1">
                        <a:defRPr sz="1350" kern="1200">
                          <a:solidFill>
                            <a:schemeClr val="dk1"/>
                          </a:solidFill>
                          <a:latin typeface="等线" panose="02010600030101010101" charset="-122"/>
                        </a:defRPr>
                      </a:lvl7pPr>
                      <a:lvl8pPr marL="2400300" algn="l" defTabSz="685800" rtl="0" eaLnBrk="1" latinLnBrk="0" hangingPunct="1">
                        <a:defRPr sz="1350" kern="1200">
                          <a:solidFill>
                            <a:schemeClr val="dk1"/>
                          </a:solidFill>
                          <a:latin typeface="等线" panose="02010600030101010101" charset="-122"/>
                        </a:defRPr>
                      </a:lvl8pPr>
                      <a:lvl9pPr marL="2743200" algn="l" defTabSz="685800" rtl="0" eaLnBrk="1" latinLnBrk="0" hangingPunct="1">
                        <a:defRPr sz="1350" kern="1200">
                          <a:solidFill>
                            <a:schemeClr val="dk1"/>
                          </a:solidFill>
                          <a:latin typeface="等线" panose="02010600030101010101" charset="-122"/>
                        </a:defRPr>
                      </a:lvl9pPr>
                    </a:lstStyle>
                    <a:p>
                      <a:pPr algn="ctr"/>
                      <a:r>
                        <a:rPr lang="en-US" altLang="zh-CN" sz="1600" dirty="0"/>
                        <a:t>F</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ctr"/>
                      <a:r>
                        <a:rPr lang="en-US" altLang="zh-CN" sz="1600" dirty="0"/>
                        <a:t>18</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r>
              <a:tr h="445129">
                <a:tc>
                  <a:txBody>
                    <a:bodyPr/>
                    <a:lstStyle/>
                    <a:p>
                      <a:pPr algn="ctr"/>
                      <a:r>
                        <a:rPr lang="en-US" altLang="zh-CN" sz="1600" dirty="0"/>
                        <a:t>2021654321</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ctr"/>
                      <a:r>
                        <a:rPr lang="en-US" altLang="zh-CN" sz="1600" dirty="0" err="1"/>
                        <a:t>LiSi</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ctr"/>
                      <a:r>
                        <a:rPr lang="en-US" altLang="zh-CN" sz="1600" dirty="0"/>
                        <a:t>M</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c>
                  <a:txBody>
                    <a:bodyPr/>
                    <a:lstStyle/>
                    <a:p>
                      <a:pPr algn="ctr"/>
                      <a:r>
                        <a:rPr lang="en-US" altLang="zh-CN" sz="1600" dirty="0"/>
                        <a:t>19</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84C22">
                        <a:tint val="20000"/>
                      </a:srgbClr>
                    </a:solidFill>
                  </a:tcPr>
                </a:tc>
              </a:tr>
            </a:tbl>
          </a:graphicData>
        </a:graphic>
      </p:graphicFrame>
      <p:sp>
        <p:nvSpPr>
          <p:cNvPr id="6" name="线形标注 1 5"/>
          <p:cNvSpPr/>
          <p:nvPr/>
        </p:nvSpPr>
        <p:spPr>
          <a:xfrm>
            <a:off x="2840364" y="3356992"/>
            <a:ext cx="3248463" cy="360040"/>
          </a:xfrm>
          <a:prstGeom prst="borderCallout1">
            <a:avLst>
              <a:gd name="adj1" fmla="val 51521"/>
              <a:gd name="adj2" fmla="val -365"/>
              <a:gd name="adj3" fmla="val 205221"/>
              <a:gd name="adj4" fmla="val -32418"/>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0000"/>
                </a:solidFill>
              </a:rPr>
              <a:t>(7877E580)</a:t>
            </a:r>
            <a:r>
              <a:rPr lang="en-US" altLang="zh-CN" baseline="-25000" dirty="0">
                <a:solidFill>
                  <a:srgbClr val="FF0000"/>
                </a:solidFill>
              </a:rPr>
              <a:t>H</a:t>
            </a:r>
            <a:r>
              <a:rPr lang="en-US" altLang="zh-CN" dirty="0">
                <a:solidFill>
                  <a:srgbClr val="FF0000"/>
                </a:solidFill>
              </a:rPr>
              <a:t> = (2021123456)D</a:t>
            </a:r>
            <a:endParaRPr lang="zh-CN" altLang="en-US" dirty="0">
              <a:solidFill>
                <a:srgbClr val="FF0000"/>
              </a:solidFill>
            </a:endParaRPr>
          </a:p>
        </p:txBody>
      </p:sp>
      <p:sp>
        <p:nvSpPr>
          <p:cNvPr id="7" name="矩形 6"/>
          <p:cNvSpPr/>
          <p:nvPr/>
        </p:nvSpPr>
        <p:spPr>
          <a:xfrm>
            <a:off x="1296665" y="4122000"/>
            <a:ext cx="1080120" cy="198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376785" y="4122000"/>
            <a:ext cx="2128540"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444208" y="4122000"/>
            <a:ext cx="1440160"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432569" y="3563724"/>
            <a:ext cx="1058880" cy="323165"/>
          </a:xfrm>
          <a:prstGeom prst="rect">
            <a:avLst/>
          </a:prstGeom>
          <a:noFill/>
        </p:spPr>
        <p:txBody>
          <a:bodyPr wrap="none" rtlCol="0">
            <a:spAutoFit/>
          </a:bodyPr>
          <a:lstStyle/>
          <a:p>
            <a:r>
              <a:rPr lang="en-US" altLang="zh-CN" sz="1500" dirty="0" err="1"/>
              <a:t>student.bin</a:t>
            </a:r>
            <a:endParaRPr lang="zh-CN" altLang="en-US" sz="1500" dirty="0"/>
          </a:p>
        </p:txBody>
      </p:sp>
      <p:sp>
        <p:nvSpPr>
          <p:cNvPr id="14" name="TextBox 13"/>
          <p:cNvSpPr txBox="1"/>
          <p:nvPr/>
        </p:nvSpPr>
        <p:spPr>
          <a:xfrm>
            <a:off x="416776" y="5085184"/>
            <a:ext cx="1020792" cy="323165"/>
          </a:xfrm>
          <a:prstGeom prst="rect">
            <a:avLst/>
          </a:prstGeom>
          <a:noFill/>
        </p:spPr>
        <p:txBody>
          <a:bodyPr wrap="none" rtlCol="0">
            <a:spAutoFit/>
          </a:bodyPr>
          <a:lstStyle/>
          <a:p>
            <a:r>
              <a:rPr lang="en-US" altLang="zh-CN" sz="1500" dirty="0"/>
              <a:t>student.txt</a:t>
            </a:r>
            <a:endParaRPr lang="zh-CN" altLang="en-US" sz="1500" dirty="0"/>
          </a:p>
        </p:txBody>
      </p:sp>
      <p:sp>
        <p:nvSpPr>
          <p:cNvPr id="17" name="矩形 16"/>
          <p:cNvSpPr/>
          <p:nvPr/>
        </p:nvSpPr>
        <p:spPr>
          <a:xfrm>
            <a:off x="1331640" y="5661248"/>
            <a:ext cx="2632596" cy="198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315668" y="5661248"/>
            <a:ext cx="1264444"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331640" y="5949280"/>
            <a:ext cx="760388"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5724128" y="5661248"/>
            <a:ext cx="1840508" cy="198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7700044" y="5661248"/>
            <a:ext cx="904404"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5724128" y="5949280"/>
            <a:ext cx="544364" cy="198000"/>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748264" y="2020511"/>
            <a:ext cx="2176921" cy="923330"/>
          </a:xfrm>
          <a:prstGeom prst="rect">
            <a:avLst/>
          </a:prstGeom>
          <a:noFill/>
        </p:spPr>
        <p:txBody>
          <a:bodyPr wrap="square" rtlCol="0">
            <a:spAutoFit/>
          </a:bodyPr>
          <a:lstStyle/>
          <a:p>
            <a:r>
              <a:rPr lang="zh-CN" altLang="en-US" dirty="0">
                <a:solidFill>
                  <a:srgbClr val="FF0000"/>
                </a:solidFill>
              </a:rPr>
              <a:t>注：可在</a:t>
            </a:r>
            <a:r>
              <a:rPr lang="en-US" altLang="zh-CN" dirty="0" err="1">
                <a:solidFill>
                  <a:srgbClr val="FF0000"/>
                </a:solidFill>
              </a:rPr>
              <a:t>vscode</a:t>
            </a:r>
            <a:r>
              <a:rPr lang="zh-CN" altLang="en-US" dirty="0">
                <a:solidFill>
                  <a:srgbClr val="FF0000"/>
                </a:solidFill>
              </a:rPr>
              <a:t>中安装</a:t>
            </a:r>
            <a:r>
              <a:rPr lang="en-US" altLang="zh-CN" dirty="0" err="1">
                <a:solidFill>
                  <a:srgbClr val="FF0000"/>
                </a:solidFill>
              </a:rPr>
              <a:t>HexEditor</a:t>
            </a:r>
            <a:r>
              <a:rPr lang="zh-CN" altLang="en-US" dirty="0">
                <a:solidFill>
                  <a:srgbClr val="FF0000"/>
                </a:solidFill>
              </a:rPr>
              <a:t>插件</a:t>
            </a:r>
            <a:endParaRPr lang="en-US" altLang="zh-CN" dirty="0">
              <a:solidFill>
                <a:srgbClr val="FF0000"/>
              </a:solidFill>
            </a:endParaRPr>
          </a:p>
          <a:p>
            <a:r>
              <a:rPr lang="zh-CN" altLang="en-US" dirty="0">
                <a:solidFill>
                  <a:srgbClr val="FF0000"/>
                </a:solidFill>
              </a:rPr>
              <a:t>查看二进制文件。</a:t>
            </a:r>
            <a:endParaRPr lang="zh-CN" altLang="en-US" dirty="0">
              <a:solidFill>
                <a:srgbClr val="FF0000"/>
              </a:solidFill>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sz="1800" dirty="0"/>
              <a:t>例</a:t>
            </a:r>
            <a:r>
              <a:rPr lang="en-US" altLang="zh-CN" sz="1800" dirty="0"/>
              <a:t>14-1</a:t>
            </a:r>
            <a:r>
              <a:rPr lang="zh-CN" altLang="en-US" sz="1800" dirty="0"/>
              <a:t>：内存数据写入数据文件和文本文件</a:t>
            </a:r>
            <a:endParaRPr lang="zh-CN" altLang="en-US" sz="1800" dirty="0"/>
          </a:p>
        </p:txBody>
      </p:sp>
      <p:sp>
        <p:nvSpPr>
          <p:cNvPr id="3" name="标题 2"/>
          <p:cNvSpPr>
            <a:spLocks noGrp="1"/>
          </p:cNvSpPr>
          <p:nvPr>
            <p:ph type="title"/>
          </p:nvPr>
        </p:nvSpPr>
        <p:spPr/>
        <p:txBody>
          <a:bodyPr/>
          <a:lstStyle/>
          <a:p>
            <a:r>
              <a:rPr lang="zh-CN" altLang="en-US" dirty="0"/>
              <a:t>文件</a:t>
            </a:r>
            <a:endParaRPr lang="zh-CN" altLang="en-US" dirty="0"/>
          </a:p>
        </p:txBody>
      </p:sp>
      <p:sp>
        <p:nvSpPr>
          <p:cNvPr id="4" name="矩形 3"/>
          <p:cNvSpPr/>
          <p:nvPr/>
        </p:nvSpPr>
        <p:spPr>
          <a:xfrm>
            <a:off x="514906" y="1595021"/>
            <a:ext cx="6858000" cy="5262979"/>
          </a:xfrm>
          <a:prstGeom prst="rect">
            <a:avLst/>
          </a:prstGeom>
        </p:spPr>
        <p:txBody>
          <a:bodyPr wrap="square">
            <a:spAutoFit/>
          </a:bodyPr>
          <a:lstStyle/>
          <a:p>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main()</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FILE *</a:t>
            </a:r>
            <a:r>
              <a:rPr lang="en-US" sz="1400" dirty="0" err="1">
                <a:solidFill>
                  <a:srgbClr val="000000"/>
                </a:solidFill>
                <a:latin typeface="Consolas" panose="020B0609020204030204" pitchFamily="49" charset="0"/>
              </a:rPr>
              <a:t>fpt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fpb</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Student stud[</a:t>
            </a:r>
            <a:r>
              <a:rPr lang="en-US" sz="1400" dirty="0">
                <a:solidFill>
                  <a:srgbClr val="098658"/>
                </a:solidFill>
                <a:latin typeface="Consolas" panose="020B0609020204030204" pitchFamily="49" charset="0"/>
              </a:rPr>
              <a:t>2</a:t>
            </a:r>
            <a:r>
              <a:rPr lang="en-US" sz="1400" dirty="0">
                <a:solidFill>
                  <a:srgbClr val="000000"/>
                </a:solidFill>
                <a:latin typeface="Consolas" panose="020B0609020204030204" pitchFamily="49" charset="0"/>
              </a:rPr>
              <a:t>] = {{</a:t>
            </a:r>
            <a:r>
              <a:rPr lang="en-US" sz="1400" dirty="0">
                <a:solidFill>
                  <a:srgbClr val="098658"/>
                </a:solidFill>
                <a:latin typeface="Consolas" panose="020B0609020204030204" pitchFamily="49" charset="0"/>
              </a:rPr>
              <a:t>2021123456</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"Zhang </a:t>
            </a:r>
            <a:r>
              <a:rPr lang="en-US" sz="1400" dirty="0" err="1">
                <a:solidFill>
                  <a:srgbClr val="A31515"/>
                </a:solidFill>
                <a:latin typeface="Consolas" panose="020B0609020204030204" pitchFamily="49" charset="0"/>
              </a:rPr>
              <a:t>san</a:t>
            </a:r>
            <a:r>
              <a:rPr lang="en-US" sz="1400" dirty="0">
                <a:solidFill>
                  <a:srgbClr val="A31515"/>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'F'</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18</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2021654321</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"Li </a:t>
            </a:r>
            <a:r>
              <a:rPr lang="en-US" sz="1400" dirty="0" err="1">
                <a:solidFill>
                  <a:srgbClr val="A31515"/>
                </a:solidFill>
                <a:latin typeface="Consolas" panose="020B0609020204030204" pitchFamily="49" charset="0"/>
              </a:rPr>
              <a:t>si</a:t>
            </a:r>
            <a:r>
              <a:rPr lang="en-US" sz="1400" dirty="0">
                <a:solidFill>
                  <a:srgbClr val="A31515"/>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'M'</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19</a:t>
            </a:r>
            <a:r>
              <a:rPr lang="en-US" sz="1400" dirty="0">
                <a:solidFill>
                  <a:srgbClr val="000000"/>
                </a:solidFill>
                <a:latin typeface="Consolas" panose="020B0609020204030204" pitchFamily="49" charset="0"/>
              </a:rPr>
              <a:t>}};</a:t>
            </a:r>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fpt</a:t>
            </a:r>
            <a:r>
              <a:rPr lang="en-US" sz="1400" dirty="0">
                <a:solidFill>
                  <a:srgbClr val="000000"/>
                </a:solidFill>
                <a:latin typeface="Consolas" panose="020B0609020204030204" pitchFamily="49" charset="0"/>
              </a:rPr>
              <a:t> = </a:t>
            </a:r>
            <a:r>
              <a:rPr lang="en-US" sz="1400" dirty="0" err="1">
                <a:solidFill>
                  <a:srgbClr val="000000"/>
                </a:solidFill>
                <a:latin typeface="Consolas" panose="020B0609020204030204" pitchFamily="49" charset="0"/>
              </a:rPr>
              <a:t>fopen</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"student.txt"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"w"</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NULL</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以读写方式创建文本文件</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"can create file\n"</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exit(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if</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fpb</a:t>
            </a:r>
            <a:r>
              <a:rPr lang="en-US" sz="1400" dirty="0">
                <a:solidFill>
                  <a:srgbClr val="000000"/>
                </a:solidFill>
                <a:latin typeface="Consolas" panose="020B0609020204030204" pitchFamily="49" charset="0"/>
              </a:rPr>
              <a:t> = </a:t>
            </a:r>
            <a:r>
              <a:rPr lang="en-US" sz="1400" dirty="0" err="1">
                <a:solidFill>
                  <a:srgbClr val="000000"/>
                </a:solidFill>
                <a:latin typeface="Consolas" panose="020B0609020204030204" pitchFamily="49" charset="0"/>
              </a:rPr>
              <a:t>fopen</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student.bin</a:t>
            </a:r>
            <a:r>
              <a:rPr lang="en-US" sz="1400" dirty="0">
                <a:solidFill>
                  <a:srgbClr val="A31515"/>
                </a:solidFill>
                <a:latin typeface="Consolas" panose="020B0609020204030204" pitchFamily="49" charset="0"/>
              </a:rPr>
              <a: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wb</a:t>
            </a:r>
            <a:r>
              <a:rPr lang="en-US" sz="1400" dirty="0">
                <a:solidFill>
                  <a:srgbClr val="A31515"/>
                </a:solidFill>
                <a:latin typeface="Consolas" panose="020B0609020204030204" pitchFamily="49" charset="0"/>
              </a:rPr>
              <a:t>"</a:t>
            </a:r>
            <a:r>
              <a:rPr lang="en-US" sz="1400" dirty="0">
                <a:solidFill>
                  <a:srgbClr val="000000"/>
                </a:solidFill>
                <a:latin typeface="Consolas" panose="020B0609020204030204" pitchFamily="49" charset="0"/>
              </a:rPr>
              <a:t>)) == </a:t>
            </a:r>
            <a:r>
              <a:rPr lang="en-US" sz="1400" dirty="0">
                <a:solidFill>
                  <a:srgbClr val="0000FF"/>
                </a:solidFill>
                <a:latin typeface="Consolas" panose="020B0609020204030204" pitchFamily="49" charset="0"/>
              </a:rPr>
              <a:t>NULL</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以读写方式打开二进制文件</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"cannot open file\n"</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exit(</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"%d\n"</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sizeof</a:t>
            </a:r>
            <a:r>
              <a:rPr lang="en-US" sz="1400" dirty="0">
                <a:solidFill>
                  <a:srgbClr val="000000"/>
                </a:solidFill>
                <a:latin typeface="Consolas" panose="020B0609020204030204" pitchFamily="49" charset="0"/>
              </a:rPr>
              <a:t>(Student));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fwrite</a:t>
            </a:r>
            <a:r>
              <a:rPr lang="en-US" sz="1400" dirty="0">
                <a:solidFill>
                  <a:srgbClr val="000000"/>
                </a:solidFill>
                <a:latin typeface="Consolas" panose="020B0609020204030204" pitchFamily="49" charset="0"/>
              </a:rPr>
              <a:t>(stud, </a:t>
            </a:r>
            <a:r>
              <a:rPr lang="en-US" sz="1400" dirty="0" err="1">
                <a:solidFill>
                  <a:srgbClr val="0000FF"/>
                </a:solidFill>
                <a:latin typeface="Consolas" panose="020B0609020204030204" pitchFamily="49" charset="0"/>
              </a:rPr>
              <a:t>sizeof</a:t>
            </a:r>
            <a:r>
              <a:rPr lang="en-US" sz="1400" dirty="0">
                <a:solidFill>
                  <a:srgbClr val="000000"/>
                </a:solidFill>
                <a:latin typeface="Consolas" panose="020B0609020204030204" pitchFamily="49" charset="0"/>
              </a:rPr>
              <a:t>(Student), </a:t>
            </a:r>
            <a:r>
              <a:rPr lang="en-US" sz="1400" dirty="0">
                <a:solidFill>
                  <a:srgbClr val="098658"/>
                </a:solidFill>
                <a:latin typeface="Consolas" panose="020B0609020204030204" pitchFamily="49" charset="0"/>
              </a:rPr>
              <a:t>2</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fpb</a:t>
            </a:r>
            <a:r>
              <a:rPr lang="en-US" sz="1400" dirty="0">
                <a:solidFill>
                  <a:srgbClr val="000000"/>
                </a:solidFill>
                <a:latin typeface="Consolas" panose="020B0609020204030204" pitchFamily="49" charset="0"/>
              </a:rPr>
              <a:t>);</a:t>
            </a:r>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for</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&lt; </a:t>
            </a:r>
            <a:r>
              <a:rPr lang="en-US" sz="1400" dirty="0">
                <a:solidFill>
                  <a:srgbClr val="098658"/>
                </a:solidFill>
                <a:latin typeface="Consolas" panose="020B0609020204030204" pitchFamily="49" charset="0"/>
              </a:rPr>
              <a:t>2</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fprintf</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fpt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"%d %s %c %d\n"</a:t>
            </a:r>
            <a:r>
              <a:rPr lang="en-US" sz="1400" dirty="0">
                <a:solidFill>
                  <a:srgbClr val="000000"/>
                </a:solidFill>
                <a:latin typeface="Consolas" panose="020B0609020204030204" pitchFamily="49" charset="0"/>
              </a:rPr>
              <a:t>, stud[</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sno</a:t>
            </a:r>
            <a:r>
              <a:rPr lang="en-US" sz="1400" dirty="0">
                <a:solidFill>
                  <a:srgbClr val="000000"/>
                </a:solidFill>
                <a:latin typeface="Consolas" panose="020B0609020204030204" pitchFamily="49" charset="0"/>
              </a:rPr>
              <a:t>, stud[</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].name, </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stud[</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].sex, stud[</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].age);</a:t>
            </a:r>
            <a:br>
              <a:rPr lang="en-US" sz="1400" dirty="0">
                <a:solidFill>
                  <a:srgbClr val="000000"/>
                </a:solidFill>
                <a:latin typeface="Consolas" panose="020B0609020204030204" pitchFamily="49" charset="0"/>
              </a:rPr>
            </a:b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fclose</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fpt</a:t>
            </a:r>
            <a:r>
              <a:rPr lang="en-US" sz="1400" dirty="0">
                <a:solidFill>
                  <a:srgbClr val="000000"/>
                </a:solidFill>
                <a:latin typeface="Consolas" panose="020B0609020204030204" pitchFamily="49" charset="0"/>
              </a:rPr>
              <a:t>);</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关闭读文件</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fclose</a:t>
            </a:r>
            <a:r>
              <a:rPr lang="en-US" sz="1400" dirty="0">
                <a:solidFill>
                  <a:srgbClr val="000000"/>
                </a:solidFill>
                <a:latin typeface="Consolas" panose="020B0609020204030204" pitchFamily="49" charset="0"/>
              </a:rPr>
              <a:t>(</a:t>
            </a:r>
            <a:r>
              <a:rPr lang="en-US" sz="1400" dirty="0" err="1">
                <a:solidFill>
                  <a:srgbClr val="000000"/>
                </a:solidFill>
                <a:latin typeface="Consolas" panose="020B0609020204030204" pitchFamily="49" charset="0"/>
              </a:rPr>
              <a:t>fpb</a:t>
            </a:r>
            <a:r>
              <a:rPr lang="en-US" sz="1400" dirty="0">
                <a:solidFill>
                  <a:srgbClr val="000000"/>
                </a:solidFill>
                <a:latin typeface="Consolas" panose="020B0609020204030204" pitchFamily="49" charset="0"/>
              </a:rPr>
              <a:t>);</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关闭写文件</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a:t>
            </a:r>
            <a:endParaRPr lang="en-US" sz="3200" b="0" dirty="0">
              <a:solidFill>
                <a:srgbClr val="000000"/>
              </a:solidFill>
              <a:effectLst/>
              <a:latin typeface="Consolas" panose="020B0609020204030204" pitchFamily="49" charset="0"/>
            </a:endParaRPr>
          </a:p>
        </p:txBody>
      </p:sp>
      <p:sp>
        <p:nvSpPr>
          <p:cNvPr id="5" name="矩形 4"/>
          <p:cNvSpPr/>
          <p:nvPr/>
        </p:nvSpPr>
        <p:spPr>
          <a:xfrm>
            <a:off x="5868890" y="2708434"/>
            <a:ext cx="2979275" cy="2554545"/>
          </a:xfrm>
          <a:prstGeom prst="rect">
            <a:avLst/>
          </a:prstGeom>
          <a:solidFill>
            <a:schemeClr val="bg1">
              <a:lumMod val="75000"/>
            </a:schemeClr>
          </a:solidFill>
        </p:spPr>
        <p:txBody>
          <a:bodyPr wrap="square">
            <a:spAutoFit/>
          </a:bodyPr>
          <a:lstStyle/>
          <a:p>
            <a:r>
              <a:rPr lang="en-US" sz="1600" dirty="0">
                <a:solidFill>
                  <a:srgbClr val="008000"/>
                </a:solidFill>
                <a:latin typeface="Consolas" panose="020B0609020204030204" pitchFamily="49" charset="0"/>
              </a:rPr>
              <a:t>// write files</a:t>
            </a:r>
            <a:endParaRPr lang="en-US"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#include </a:t>
            </a:r>
            <a:r>
              <a:rPr lang="en-US" sz="1600" dirty="0">
                <a:solidFill>
                  <a:srgbClr val="A31515"/>
                </a:solidFill>
                <a:latin typeface="Consolas" panose="020B0609020204030204" pitchFamily="49" charset="0"/>
              </a:rPr>
              <a:t>&lt;</a:t>
            </a:r>
            <a:r>
              <a:rPr lang="en-US" sz="1600" dirty="0" err="1">
                <a:solidFill>
                  <a:srgbClr val="A31515"/>
                </a:solidFill>
                <a:latin typeface="Consolas" panose="020B0609020204030204" pitchFamily="49" charset="0"/>
              </a:rPr>
              <a:t>stdio.h</a:t>
            </a:r>
            <a:r>
              <a:rPr lang="en-US" sz="1600" dirty="0">
                <a:solidFill>
                  <a:srgbClr val="A31515"/>
                </a:solidFill>
                <a:latin typeface="Consolas" panose="020B0609020204030204" pitchFamily="49" charset="0"/>
              </a:rPr>
              <a:t>&gt;</a:t>
            </a:r>
            <a:endParaRPr lang="en-US"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#include </a:t>
            </a:r>
            <a:r>
              <a:rPr lang="en-US" sz="1600" dirty="0">
                <a:solidFill>
                  <a:srgbClr val="A31515"/>
                </a:solidFill>
                <a:latin typeface="Consolas" panose="020B0609020204030204" pitchFamily="49" charset="0"/>
              </a:rPr>
              <a:t>&lt;</a:t>
            </a:r>
            <a:r>
              <a:rPr lang="en-US" sz="1600" dirty="0" err="1">
                <a:solidFill>
                  <a:srgbClr val="A31515"/>
                </a:solidFill>
                <a:latin typeface="Consolas" panose="020B0609020204030204" pitchFamily="49" charset="0"/>
              </a:rPr>
              <a:t>stdlib.h</a:t>
            </a:r>
            <a:r>
              <a:rPr lang="en-US" sz="1600" dirty="0">
                <a:solidFill>
                  <a:srgbClr val="A31515"/>
                </a:solidFill>
                <a:latin typeface="Consolas" panose="020B0609020204030204" pitchFamily="49" charset="0"/>
              </a:rPr>
              <a:t>&gt;</a:t>
            </a: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typedef</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struct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sno</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char</a:t>
            </a:r>
            <a:r>
              <a:rPr lang="en-US" sz="1600" dirty="0">
                <a:solidFill>
                  <a:srgbClr val="000000"/>
                </a:solidFill>
                <a:latin typeface="Consolas" panose="020B0609020204030204" pitchFamily="49" charset="0"/>
              </a:rPr>
              <a:t> name[</a:t>
            </a:r>
            <a:r>
              <a:rPr lang="en-US" sz="1600" dirty="0">
                <a:solidFill>
                  <a:srgbClr val="098658"/>
                </a:solidFill>
                <a:latin typeface="Consolas" panose="020B0609020204030204" pitchFamily="49" charset="0"/>
              </a:rPr>
              <a:t>10</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char</a:t>
            </a:r>
            <a:r>
              <a:rPr lang="en-US" sz="1600" dirty="0">
                <a:solidFill>
                  <a:srgbClr val="000000"/>
                </a:solidFill>
                <a:latin typeface="Consolas" panose="020B0609020204030204" pitchFamily="49" charset="0"/>
              </a:rPr>
              <a:t> sex;</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age;</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Student;</a:t>
            </a:r>
            <a:r>
              <a:rPr lang="en-US" sz="1600" dirty="0">
                <a:solidFill>
                  <a:srgbClr val="008000"/>
                </a:solidFill>
                <a:latin typeface="Consolas" panose="020B0609020204030204" pitchFamily="49" charset="0"/>
              </a:rPr>
              <a:t> // </a:t>
            </a:r>
            <a:r>
              <a:rPr lang="zh-CN" altLang="en-US" sz="1600" dirty="0">
                <a:solidFill>
                  <a:srgbClr val="008000"/>
                </a:solidFill>
                <a:latin typeface="Consolas" panose="020B0609020204030204" pitchFamily="49" charset="0"/>
              </a:rPr>
              <a:t>学生数据类型</a:t>
            </a:r>
            <a:endParaRPr lang="zh-CN" altLang="en-US" sz="2800" dirty="0">
              <a:solidFill>
                <a:srgbClr val="000000"/>
              </a:solidFill>
              <a:latin typeface="Consolas" panose="020B0609020204030204" pitchFamily="49"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顺序读数据文件</a:t>
            </a:r>
            <a:endParaRPr lang="zh-CN" altLang="en-US" dirty="0"/>
          </a:p>
        </p:txBody>
      </p:sp>
      <p:sp>
        <p:nvSpPr>
          <p:cNvPr id="6" name="矩形 5"/>
          <p:cNvSpPr/>
          <p:nvPr/>
        </p:nvSpPr>
        <p:spPr>
          <a:xfrm>
            <a:off x="639192" y="1817028"/>
            <a:ext cx="7611923" cy="5170646"/>
          </a:xfrm>
          <a:prstGeom prst="rect">
            <a:avLst/>
          </a:prstGeom>
        </p:spPr>
        <p:txBody>
          <a:bodyPr wrap="square">
            <a:spAutoFit/>
          </a:bodyPr>
          <a:lstStyle/>
          <a:p>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main()</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FILE *</a:t>
            </a:r>
            <a:r>
              <a:rPr lang="en-US" dirty="0" err="1">
                <a:solidFill>
                  <a:srgbClr val="000000"/>
                </a:solidFill>
                <a:latin typeface="Consolas" panose="020B0609020204030204" pitchFamily="49" charset="0"/>
              </a:rPr>
              <a:t>fpt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fpb</a:t>
            </a:r>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Student stud[</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fpb</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fopen</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student.bin</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rb</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NULL</a:t>
            </a:r>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 </a:t>
            </a:r>
            <a:r>
              <a:rPr lang="zh-CN" altLang="en-US" dirty="0">
                <a:solidFill>
                  <a:srgbClr val="008000"/>
                </a:solidFill>
                <a:latin typeface="Consolas" panose="020B0609020204030204" pitchFamily="49" charset="0"/>
              </a:rPr>
              <a:t>以读写方式打开二进制文件</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printf</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"cannot open file\n"</a:t>
            </a:r>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exit(</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fread</a:t>
            </a:r>
            <a:r>
              <a:rPr lang="en-US" dirty="0">
                <a:solidFill>
                  <a:srgbClr val="000000"/>
                </a:solidFill>
                <a:latin typeface="Consolas" panose="020B0609020204030204" pitchFamily="49" charset="0"/>
              </a:rPr>
              <a:t>(stud, </a:t>
            </a:r>
            <a:r>
              <a:rPr lang="en-US" dirty="0" err="1">
                <a:solidFill>
                  <a:srgbClr val="0000FF"/>
                </a:solidFill>
                <a:latin typeface="Consolas" panose="020B0609020204030204" pitchFamily="49" charset="0"/>
              </a:rPr>
              <a:t>sizeof</a:t>
            </a:r>
            <a:r>
              <a:rPr lang="en-US" dirty="0">
                <a:solidFill>
                  <a:srgbClr val="000000"/>
                </a:solidFill>
                <a:latin typeface="Consolas" panose="020B0609020204030204" pitchFamily="49" charset="0"/>
              </a:rPr>
              <a:t>(Student), </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fpb</a:t>
            </a:r>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for</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&lt; </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fprintf</a:t>
            </a:r>
            <a:r>
              <a:rPr lang="en-US" dirty="0">
                <a:solidFill>
                  <a:srgbClr val="000000"/>
                </a:solidFill>
                <a:latin typeface="Consolas" panose="020B0609020204030204" pitchFamily="49" charset="0"/>
              </a:rPr>
              <a:t>(</a:t>
            </a:r>
            <a:r>
              <a:rPr lang="en-US" dirty="0" err="1">
                <a:solidFill>
                  <a:srgbClr val="FF0000"/>
                </a:solidFill>
                <a:latin typeface="Consolas" panose="020B0609020204030204" pitchFamily="49" charset="0"/>
              </a:rPr>
              <a:t>stdout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"%d %s %c %d\n"</a:t>
            </a:r>
            <a:r>
              <a:rPr lang="en-US" dirty="0">
                <a:solidFill>
                  <a:srgbClr val="000000"/>
                </a:solidFill>
                <a:latin typeface="Consolas" panose="020B0609020204030204" pitchFamily="49" charset="0"/>
              </a:rPr>
              <a:t>, stud[</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sno</a:t>
            </a:r>
            <a:r>
              <a:rPr lang="en-US" dirty="0">
                <a:solidFill>
                  <a:srgbClr val="000000"/>
                </a:solidFill>
                <a:latin typeface="Consolas" panose="020B0609020204030204" pitchFamily="49" charset="0"/>
              </a:rPr>
              <a:t>, </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stud[</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].name, stud[</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].sex, stud[</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].age);</a:t>
            </a: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fclose</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fpb</a:t>
            </a:r>
            <a:r>
              <a:rPr lang="en-US" dirty="0">
                <a:solidFill>
                  <a:srgbClr val="000000"/>
                </a:solidFill>
                <a:latin typeface="Consolas" panose="020B0609020204030204" pitchFamily="49" charset="0"/>
              </a:rPr>
              <a:t>);</a:t>
            </a:r>
            <a:r>
              <a:rPr lang="en-US" dirty="0">
                <a:solidFill>
                  <a:srgbClr val="008000"/>
                </a:solidFill>
                <a:latin typeface="Consolas" panose="020B0609020204030204" pitchFamily="49" charset="0"/>
              </a:rPr>
              <a:t> // </a:t>
            </a:r>
            <a:r>
              <a:rPr lang="zh-CN" altLang="en-US" dirty="0">
                <a:solidFill>
                  <a:srgbClr val="008000"/>
                </a:solidFill>
                <a:latin typeface="Consolas" panose="020B0609020204030204" pitchFamily="49" charset="0"/>
              </a:rPr>
              <a:t>关闭写文件</a:t>
            </a:r>
            <a:endParaRPr lang="zh-CN" altLang="en-US" dirty="0">
              <a:solidFill>
                <a:srgbClr val="000000"/>
              </a:solidFill>
              <a:latin typeface="Consolas" panose="020B0609020204030204" pitchFamily="49" charset="0"/>
            </a:endParaRPr>
          </a:p>
          <a:p>
            <a:r>
              <a:rPr lang="zh-CN" alt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a:t>
            </a:r>
            <a:br>
              <a:rPr lang="en-US" sz="2400" dirty="0">
                <a:solidFill>
                  <a:srgbClr val="000000"/>
                </a:solidFill>
                <a:latin typeface="Consolas" panose="020B0609020204030204" pitchFamily="49" charset="0"/>
              </a:rPr>
            </a:br>
            <a:endParaRPr lang="en-US" sz="2400" b="0" dirty="0">
              <a:solidFill>
                <a:srgbClr val="000000"/>
              </a:solidFill>
              <a:effectLst/>
              <a:latin typeface="Consolas" panose="020B0609020204030204" pitchFamily="49" charset="0"/>
            </a:endParaRPr>
          </a:p>
        </p:txBody>
      </p:sp>
      <p:sp>
        <p:nvSpPr>
          <p:cNvPr id="7" name="矩形 6"/>
          <p:cNvSpPr/>
          <p:nvPr/>
        </p:nvSpPr>
        <p:spPr>
          <a:xfrm>
            <a:off x="5970772" y="196094"/>
            <a:ext cx="3079247" cy="2308324"/>
          </a:xfrm>
          <a:prstGeom prst="rect">
            <a:avLst/>
          </a:prstGeom>
          <a:solidFill>
            <a:schemeClr val="bg1">
              <a:lumMod val="75000"/>
            </a:schemeClr>
          </a:solidFill>
        </p:spPr>
        <p:txBody>
          <a:bodyPr wrap="square">
            <a:spAutoFit/>
          </a:bodyPr>
          <a:lstStyle/>
          <a:p>
            <a:r>
              <a:rPr lang="en-US" sz="1600" dirty="0">
                <a:solidFill>
                  <a:srgbClr val="0000FF"/>
                </a:solidFill>
                <a:latin typeface="Consolas" panose="020B0609020204030204" pitchFamily="49" charset="0"/>
              </a:rPr>
              <a:t>#include </a:t>
            </a:r>
            <a:r>
              <a:rPr lang="en-US" sz="1600" dirty="0">
                <a:solidFill>
                  <a:srgbClr val="A31515"/>
                </a:solidFill>
                <a:latin typeface="Consolas" panose="020B0609020204030204" pitchFamily="49" charset="0"/>
              </a:rPr>
              <a:t>&lt;</a:t>
            </a:r>
            <a:r>
              <a:rPr lang="en-US" sz="1600" dirty="0" err="1">
                <a:solidFill>
                  <a:srgbClr val="A31515"/>
                </a:solidFill>
                <a:latin typeface="Consolas" panose="020B0609020204030204" pitchFamily="49" charset="0"/>
              </a:rPr>
              <a:t>stdio.h</a:t>
            </a:r>
            <a:r>
              <a:rPr lang="en-US" sz="1600" dirty="0">
                <a:solidFill>
                  <a:srgbClr val="A31515"/>
                </a:solidFill>
                <a:latin typeface="Consolas" panose="020B0609020204030204" pitchFamily="49" charset="0"/>
              </a:rPr>
              <a:t>&gt;</a:t>
            </a:r>
            <a:endParaRPr lang="en-US"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#include </a:t>
            </a:r>
            <a:r>
              <a:rPr lang="en-US" sz="1600" dirty="0">
                <a:solidFill>
                  <a:srgbClr val="A31515"/>
                </a:solidFill>
                <a:latin typeface="Consolas" panose="020B0609020204030204" pitchFamily="49" charset="0"/>
              </a:rPr>
              <a:t>&lt;</a:t>
            </a:r>
            <a:r>
              <a:rPr lang="en-US" sz="1600" dirty="0" err="1">
                <a:solidFill>
                  <a:srgbClr val="A31515"/>
                </a:solidFill>
                <a:latin typeface="Consolas" panose="020B0609020204030204" pitchFamily="49" charset="0"/>
              </a:rPr>
              <a:t>stdlib.h</a:t>
            </a:r>
            <a:r>
              <a:rPr lang="en-US" sz="1600" dirty="0">
                <a:solidFill>
                  <a:srgbClr val="A31515"/>
                </a:solidFill>
                <a:latin typeface="Consolas" panose="020B0609020204030204" pitchFamily="49" charset="0"/>
              </a:rPr>
              <a:t>&gt;</a:t>
            </a: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typedef</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struct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sno</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char</a:t>
            </a:r>
            <a:r>
              <a:rPr lang="en-US" sz="1600" dirty="0">
                <a:solidFill>
                  <a:srgbClr val="000000"/>
                </a:solidFill>
                <a:latin typeface="Consolas" panose="020B0609020204030204" pitchFamily="49" charset="0"/>
              </a:rPr>
              <a:t> name[</a:t>
            </a:r>
            <a:r>
              <a:rPr lang="en-US" sz="1600" dirty="0">
                <a:solidFill>
                  <a:srgbClr val="098658"/>
                </a:solidFill>
                <a:latin typeface="Consolas" panose="020B0609020204030204" pitchFamily="49" charset="0"/>
              </a:rPr>
              <a:t>10</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char</a:t>
            </a:r>
            <a:r>
              <a:rPr lang="en-US" sz="1600" dirty="0">
                <a:solidFill>
                  <a:srgbClr val="000000"/>
                </a:solidFill>
                <a:latin typeface="Consolas" panose="020B0609020204030204" pitchFamily="49" charset="0"/>
              </a:rPr>
              <a:t> sex;</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age;</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Student;</a:t>
            </a:r>
            <a:r>
              <a:rPr lang="en-US" sz="1600" dirty="0">
                <a:solidFill>
                  <a:srgbClr val="008000"/>
                </a:solidFill>
                <a:latin typeface="Consolas" panose="020B0609020204030204" pitchFamily="49" charset="0"/>
              </a:rPr>
              <a:t> // </a:t>
            </a:r>
            <a:r>
              <a:rPr lang="zh-CN" altLang="en-US" sz="1600" dirty="0">
                <a:solidFill>
                  <a:srgbClr val="008000"/>
                </a:solidFill>
                <a:latin typeface="Consolas" panose="020B0609020204030204" pitchFamily="49" charset="0"/>
              </a:rPr>
              <a:t>学生数据类型</a:t>
            </a:r>
            <a:endParaRPr lang="zh-CN" altLang="en-US" sz="2800" dirty="0">
              <a:solidFill>
                <a:srgbClr val="000000"/>
              </a:solidFill>
              <a:latin typeface="Consolas" panose="020B0609020204030204" pitchFamily="49" charset="0"/>
            </a:endParaRPr>
          </a:p>
        </p:txBody>
      </p:sp>
      <p:sp>
        <p:nvSpPr>
          <p:cNvPr id="2" name="内容占位符 1"/>
          <p:cNvSpPr>
            <a:spLocks noGrp="1"/>
          </p:cNvSpPr>
          <p:nvPr>
            <p:ph idx="1"/>
          </p:nvPr>
        </p:nvSpPr>
        <p:spPr/>
        <p:txBody>
          <a:bodyPr>
            <a:normAutofit/>
          </a:bodyPr>
          <a:lstStyle/>
          <a:p>
            <a:r>
              <a:rPr lang="zh-CN" altLang="en-US" sz="2000" dirty="0"/>
              <a:t>例</a:t>
            </a:r>
            <a:r>
              <a:rPr lang="en-US" altLang="zh-CN" sz="2000" dirty="0"/>
              <a:t>14-2</a:t>
            </a:r>
            <a:r>
              <a:rPr lang="zh-CN" altLang="en-US" sz="2000" dirty="0"/>
              <a:t>：读入数据文件并将读入结果输出到屏幕</a:t>
            </a:r>
            <a:endParaRPr lang="zh-CN" altLang="en-US" sz="2000"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4000" b="1" i="0" dirty="0">
                <a:effectLst/>
                <a:latin typeface="Lato" panose="020F0502020204030203" pitchFamily="34" charset="0"/>
              </a:rPr>
              <a:t>#228. </a:t>
            </a:r>
            <a:r>
              <a:rPr lang="zh-CN" altLang="en-US" sz="4000" b="1" i="0" dirty="0">
                <a:effectLst/>
                <a:latin typeface="Lato" panose="020F0502020204030203" pitchFamily="34" charset="0"/>
              </a:rPr>
              <a:t>图书管理系统</a:t>
            </a:r>
            <a:r>
              <a:rPr lang="en-US" altLang="zh-CN" sz="4000" b="1" i="0" dirty="0">
                <a:effectLst/>
                <a:latin typeface="Lato" panose="020F0502020204030203" pitchFamily="34" charset="0"/>
              </a:rPr>
              <a:t>—</a:t>
            </a:r>
            <a:r>
              <a:rPr lang="zh-CN" altLang="en-US" sz="4000" b="1" i="0" dirty="0">
                <a:effectLst/>
                <a:latin typeface="Lato" panose="020F0502020204030203" pitchFamily="34" charset="0"/>
              </a:rPr>
              <a:t>数据读入</a:t>
            </a:r>
            <a:endParaRPr lang="zh-CN" altLang="en-US" sz="4000" b="1" i="0" dirty="0">
              <a:effectLst/>
              <a:latin typeface="Lato" panose="020F0502020204030203" pitchFamily="34" charset="0"/>
            </a:endParaRPr>
          </a:p>
        </p:txBody>
      </p:sp>
      <p:sp>
        <p:nvSpPr>
          <p:cNvPr id="3" name="标题 2"/>
          <p:cNvSpPr>
            <a:spLocks noGrp="1"/>
          </p:cNvSpPr>
          <p:nvPr>
            <p:ph type="title"/>
          </p:nvPr>
        </p:nvSpPr>
        <p:spPr/>
        <p:txBody>
          <a:bodyPr/>
          <a:lstStyle/>
          <a:p>
            <a:r>
              <a:rPr lang="zh-CN" altLang="en-US" dirty="0"/>
              <a:t>练习：</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946" name="Rectangle 2"/>
          <p:cNvSpPr>
            <a:spLocks noGrp="1" noChangeArrowheads="1"/>
          </p:cNvSpPr>
          <p:nvPr>
            <p:ph type="title"/>
          </p:nvPr>
        </p:nvSpPr>
        <p:spPr/>
        <p:txBody>
          <a:bodyPr/>
          <a:lstStyle/>
          <a:p>
            <a:r>
              <a:rPr lang="zh-CN" altLang="en-US" dirty="0">
                <a:latin typeface="华文新魏" panose="02010800040101010101" pitchFamily="2" charset="-122"/>
              </a:rPr>
              <a:t>例：</a:t>
            </a:r>
            <a:r>
              <a:rPr lang="zh-CN" altLang="en-US" sz="4000" dirty="0">
                <a:latin typeface="华文新魏" panose="02010800040101010101" pitchFamily="2" charset="-122"/>
              </a:rPr>
              <a:t>文本文件的复制</a:t>
            </a:r>
            <a:endParaRPr lang="zh-CN" altLang="en-US" dirty="0">
              <a:latin typeface="华文新魏" panose="02010800040101010101" pitchFamily="2" charset="-122"/>
            </a:endParaRPr>
          </a:p>
        </p:txBody>
      </p:sp>
      <p:sp>
        <p:nvSpPr>
          <p:cNvPr id="1362947" name="Rectangle 3"/>
          <p:cNvSpPr>
            <a:spLocks noGrp="1" noChangeArrowheads="1"/>
          </p:cNvSpPr>
          <p:nvPr>
            <p:ph idx="1"/>
          </p:nvPr>
        </p:nvSpPr>
        <p:spPr>
          <a:xfrm>
            <a:off x="432000" y="1017520"/>
            <a:ext cx="8280000" cy="781864"/>
          </a:xfrm>
        </p:spPr>
        <p:txBody>
          <a:bodyPr/>
          <a:lstStyle/>
          <a:p>
            <a:pPr marL="302260" lvl="1" indent="0">
              <a:buNone/>
            </a:pPr>
            <a:r>
              <a:rPr lang="zh-CN" altLang="en-US" sz="1800" dirty="0"/>
              <a:t>打开“</a:t>
            </a:r>
            <a:r>
              <a:rPr lang="en-US" altLang="zh-CN" sz="1800" dirty="0"/>
              <a:t>student.txt”</a:t>
            </a:r>
            <a:r>
              <a:rPr lang="zh-CN" altLang="en-US" sz="1800" dirty="0"/>
              <a:t>文件，然后将其复制到“</a:t>
            </a:r>
            <a:r>
              <a:rPr lang="en-US" altLang="zh-CN" sz="1800" dirty="0"/>
              <a:t>stud_copy.txt”</a:t>
            </a:r>
            <a:endParaRPr lang="zh-CN" altLang="en-US" sz="1800" dirty="0"/>
          </a:p>
        </p:txBody>
      </p:sp>
      <p:sp>
        <p:nvSpPr>
          <p:cNvPr id="2" name="矩形 1"/>
          <p:cNvSpPr/>
          <p:nvPr/>
        </p:nvSpPr>
        <p:spPr>
          <a:xfrm>
            <a:off x="713910" y="1408452"/>
            <a:ext cx="8079569" cy="5262979"/>
          </a:xfrm>
          <a:prstGeom prst="rect">
            <a:avLst/>
          </a:prstGeom>
        </p:spPr>
        <p:txBody>
          <a:bodyPr wrap="square">
            <a:spAutoFit/>
          </a:bodyPr>
          <a:lstStyle/>
          <a:p>
            <a:r>
              <a:rPr lang="en-US" sz="1600" dirty="0">
                <a:solidFill>
                  <a:srgbClr val="0000FF"/>
                </a:solidFill>
                <a:latin typeface="Consolas" panose="020B0609020204030204" pitchFamily="49" charset="0"/>
              </a:rPr>
              <a:t>#include </a:t>
            </a:r>
            <a:r>
              <a:rPr lang="en-US" sz="1600" dirty="0">
                <a:solidFill>
                  <a:srgbClr val="A31515"/>
                </a:solidFill>
                <a:latin typeface="Consolas" panose="020B0609020204030204" pitchFamily="49" charset="0"/>
              </a:rPr>
              <a:t>&lt;</a:t>
            </a:r>
            <a:r>
              <a:rPr lang="en-US" sz="1600" dirty="0" err="1">
                <a:solidFill>
                  <a:srgbClr val="A31515"/>
                </a:solidFill>
                <a:latin typeface="Consolas" panose="020B0609020204030204" pitchFamily="49" charset="0"/>
              </a:rPr>
              <a:t>stdio.h</a:t>
            </a:r>
            <a:r>
              <a:rPr lang="en-US" sz="1600" dirty="0">
                <a:solidFill>
                  <a:srgbClr val="A31515"/>
                </a:solidFill>
                <a:latin typeface="Consolas" panose="020B0609020204030204" pitchFamily="49" charset="0"/>
              </a:rPr>
              <a:t>&gt;</a:t>
            </a:r>
            <a:endParaRPr lang="en-US"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#include </a:t>
            </a:r>
            <a:r>
              <a:rPr lang="en-US" sz="1600" dirty="0">
                <a:solidFill>
                  <a:srgbClr val="A31515"/>
                </a:solidFill>
                <a:latin typeface="Consolas" panose="020B0609020204030204" pitchFamily="49" charset="0"/>
              </a:rPr>
              <a:t>&lt;</a:t>
            </a:r>
            <a:r>
              <a:rPr lang="en-US" sz="1600" dirty="0" err="1">
                <a:solidFill>
                  <a:srgbClr val="A31515"/>
                </a:solidFill>
                <a:latin typeface="Consolas" panose="020B0609020204030204" pitchFamily="49" charset="0"/>
              </a:rPr>
              <a:t>stdlib.h</a:t>
            </a:r>
            <a:r>
              <a:rPr lang="en-US" sz="1600" dirty="0">
                <a:solidFill>
                  <a:srgbClr val="A31515"/>
                </a:solidFill>
                <a:latin typeface="Consolas" panose="020B0609020204030204" pitchFamily="49" charset="0"/>
              </a:rPr>
              <a:t>&gt;</a:t>
            </a:r>
            <a:br>
              <a:rPr lang="en-US" sz="1600" dirty="0">
                <a:solidFill>
                  <a:srgbClr val="000000"/>
                </a:solidFill>
                <a:latin typeface="Consolas" panose="020B0609020204030204" pitchFamily="49" charset="0"/>
              </a:rPr>
            </a:b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main()</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FILE *</a:t>
            </a:r>
            <a:r>
              <a:rPr lang="en-US" sz="1600" dirty="0" err="1">
                <a:solidFill>
                  <a:srgbClr val="000000"/>
                </a:solidFill>
                <a:latin typeface="Consolas" panose="020B0609020204030204" pitchFamily="49" charset="0"/>
              </a:rPr>
              <a:t>infp</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outfp</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int </a:t>
            </a:r>
            <a:r>
              <a:rPr lang="en-US" sz="1600" dirty="0" err="1">
                <a:solidFill>
                  <a:srgbClr val="000000"/>
                </a:solidFill>
                <a:latin typeface="Consolas" panose="020B0609020204030204" pitchFamily="49" charset="0"/>
              </a:rPr>
              <a:t>ch</a:t>
            </a:r>
            <a:r>
              <a:rPr lang="en-US" sz="1600" dirty="0">
                <a:solidFill>
                  <a:srgbClr val="000000"/>
                </a:solidFill>
                <a:latin typeface="Consolas" panose="020B0609020204030204" pitchFamily="49" charset="0"/>
              </a:rPr>
              <a:t>;</a:t>
            </a: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infp</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fopen</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"student.txt"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"r"</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NULL</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printf</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"Cannot open input file.\n"</a:t>
            </a:r>
            <a:r>
              <a:rPr lang="en-US" sz="1600" dirty="0">
                <a:solidFill>
                  <a:srgbClr val="000000"/>
                </a:solidFill>
                <a:latin typeface="Consolas" panose="020B0609020204030204" pitchFamily="49" charset="0"/>
              </a:rPr>
              <a:t>); exit(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outfp</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fopen</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"stud_copy.txt"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"w"</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NULL</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printf</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"Cannot open output file.\n"</a:t>
            </a:r>
            <a:r>
              <a:rPr lang="en-US" sz="1600" dirty="0">
                <a:solidFill>
                  <a:srgbClr val="000000"/>
                </a:solidFill>
                <a:latin typeface="Consolas" panose="020B0609020204030204" pitchFamily="49" charset="0"/>
              </a:rPr>
              <a:t>); exit(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while</a:t>
            </a:r>
            <a:r>
              <a:rPr lang="en-US" sz="1600" dirty="0">
                <a:solidFill>
                  <a:srgbClr val="000000"/>
                </a:solidFill>
                <a:latin typeface="Consolas" panose="020B0609020204030204" pitchFamily="49" charset="0"/>
              </a:rPr>
              <a:t> (!</a:t>
            </a:r>
            <a:r>
              <a:rPr lang="en-US" sz="1600" dirty="0" err="1">
                <a:solidFill>
                  <a:srgbClr val="FF0000"/>
                </a:solidFill>
                <a:latin typeface="Consolas" panose="020B0609020204030204" pitchFamily="49" charset="0"/>
              </a:rPr>
              <a:t>feof</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infp</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if</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ch</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fgetc</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infp</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EOF</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fputc</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ch</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outfp</a:t>
            </a:r>
            <a:r>
              <a:rPr lang="en-US" sz="1600" dirty="0">
                <a:solidFill>
                  <a:srgbClr val="000000"/>
                </a:solidFill>
                <a:latin typeface="Consolas" panose="020B0609020204030204" pitchFamily="49" charset="0"/>
              </a:rPr>
              <a:t>);</a:t>
            </a: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fclose</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infp</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fclose</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outfp</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endParaRPr lang="en-US" sz="2800" b="0" dirty="0">
              <a:solidFill>
                <a:srgbClr val="000000"/>
              </a:solidFill>
              <a:effectLst/>
              <a:latin typeface="Consolas" panose="020B0609020204030204"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9762" name="Rectangle 2"/>
          <p:cNvSpPr>
            <a:spLocks noGrp="1" noRot="1" noChangeArrowheads="1"/>
          </p:cNvSpPr>
          <p:nvPr>
            <p:ph type="title"/>
          </p:nvPr>
        </p:nvSpPr>
        <p:spPr/>
        <p:txBody>
          <a:bodyPr/>
          <a:lstStyle/>
          <a:p>
            <a:pPr eaLnBrk="1" hangingPunct="1">
              <a:defRPr/>
            </a:pPr>
            <a:r>
              <a:rPr lang="en-US" altLang="zh-CN" dirty="0">
                <a:cs typeface="+mj-cs"/>
              </a:rPr>
              <a:t>main</a:t>
            </a:r>
            <a:r>
              <a:rPr lang="zh-CN" altLang="en-US" dirty="0">
                <a:cs typeface="+mj-cs"/>
              </a:rPr>
              <a:t>函数的形参</a:t>
            </a:r>
            <a:endParaRPr lang="zh-CN" altLang="en-US" dirty="0">
              <a:cs typeface="+mj-cs"/>
            </a:endParaRPr>
          </a:p>
        </p:txBody>
      </p:sp>
      <p:sp>
        <p:nvSpPr>
          <p:cNvPr id="629763" name="Rectangle 3"/>
          <p:cNvSpPr>
            <a:spLocks noGrp="1" noChangeArrowheads="1"/>
          </p:cNvSpPr>
          <p:nvPr>
            <p:ph idx="1"/>
          </p:nvPr>
        </p:nvSpPr>
        <p:spPr/>
        <p:txBody>
          <a:bodyPr/>
          <a:lstStyle/>
          <a:p>
            <a:pPr eaLnBrk="1" hangingPunct="1">
              <a:buFont typeface="Wingdings" panose="05000000000000000000" pitchFamily="2" charset="2"/>
              <a:buNone/>
              <a:defRPr/>
            </a:pPr>
            <a:r>
              <a:rPr lang="en-US" altLang="zh-CN" sz="3600" b="0" dirty="0"/>
              <a:t>	</a:t>
            </a:r>
            <a:r>
              <a:rPr lang="en-US" altLang="zh-CN" sz="3600" b="0" dirty="0" err="1"/>
              <a:t>int</a:t>
            </a:r>
            <a:r>
              <a:rPr lang="en-US" altLang="zh-CN" sz="3600" b="0" dirty="0"/>
              <a:t> main( </a:t>
            </a:r>
            <a:r>
              <a:rPr lang="en-US" altLang="zh-CN" sz="3600" b="0" dirty="0" err="1"/>
              <a:t>int</a:t>
            </a:r>
            <a:r>
              <a:rPr lang="en-US" altLang="zh-CN" sz="3600" b="0" dirty="0"/>
              <a:t> </a:t>
            </a:r>
            <a:r>
              <a:rPr lang="en-US" altLang="zh-CN" sz="3600" b="0" dirty="0" err="1"/>
              <a:t>argc</a:t>
            </a:r>
            <a:r>
              <a:rPr lang="en-US" altLang="zh-CN" sz="3600" b="0" dirty="0"/>
              <a:t>, char *</a:t>
            </a:r>
            <a:r>
              <a:rPr lang="en-US" altLang="zh-CN" sz="3600" b="0" dirty="0" err="1"/>
              <a:t>argv</a:t>
            </a:r>
            <a:r>
              <a:rPr lang="en-US" altLang="zh-CN" sz="3600" b="0" dirty="0"/>
              <a:t>[ ] )</a:t>
            </a:r>
            <a:endParaRPr lang="en-US" altLang="zh-CN" sz="3600" b="0" dirty="0"/>
          </a:p>
          <a:p>
            <a:pPr eaLnBrk="1" hangingPunct="1">
              <a:defRPr/>
            </a:pPr>
            <a:r>
              <a:rPr lang="zh-CN" altLang="en-US" sz="2800" dirty="0"/>
              <a:t>其中：</a:t>
            </a:r>
            <a:endParaRPr lang="zh-CN" altLang="en-US" sz="2800" dirty="0"/>
          </a:p>
          <a:p>
            <a:pPr lvl="1" eaLnBrk="1" hangingPunct="1">
              <a:defRPr/>
            </a:pPr>
            <a:r>
              <a:rPr lang="en-US" altLang="zh-CN" sz="2400" dirty="0" err="1"/>
              <a:t>argc</a:t>
            </a:r>
            <a:r>
              <a:rPr lang="zh-CN" altLang="en-US" sz="2400" dirty="0"/>
              <a:t>：表示调用</a:t>
            </a:r>
            <a:r>
              <a:rPr lang="en-US" altLang="zh-CN" sz="2400" dirty="0"/>
              <a:t>main</a:t>
            </a:r>
            <a:r>
              <a:rPr lang="zh-CN" altLang="en-US" sz="2400" dirty="0"/>
              <a:t>时的参数个数；</a:t>
            </a:r>
            <a:endParaRPr lang="zh-CN" altLang="en-US" sz="2400" dirty="0"/>
          </a:p>
          <a:p>
            <a:pPr lvl="1" eaLnBrk="1" hangingPunct="1">
              <a:defRPr/>
            </a:pPr>
            <a:r>
              <a:rPr lang="en-US" altLang="zh-CN" sz="2400" dirty="0" err="1"/>
              <a:t>argv</a:t>
            </a:r>
            <a:r>
              <a:rPr lang="zh-CN" altLang="en-US" sz="2400" dirty="0"/>
              <a:t>：是一个指向字符数组的指针数组变量；</a:t>
            </a:r>
            <a:endParaRPr lang="zh-CN" altLang="en-US" sz="2400" dirty="0"/>
          </a:p>
          <a:p>
            <a:pPr lvl="1" eaLnBrk="1" hangingPunct="1">
              <a:defRPr/>
            </a:pPr>
            <a:r>
              <a:rPr lang="en-US" altLang="zh-CN" sz="2400" dirty="0"/>
              <a:t>main</a:t>
            </a:r>
            <a:r>
              <a:rPr lang="zh-CN" altLang="en-US" sz="2400" dirty="0"/>
              <a:t>形参名习惯用</a:t>
            </a:r>
            <a:r>
              <a:rPr lang="en-US" altLang="zh-CN" sz="2400" dirty="0" err="1"/>
              <a:t>argv</a:t>
            </a:r>
            <a:r>
              <a:rPr lang="zh-CN" altLang="en-US" sz="2400" dirty="0"/>
              <a:t>和</a:t>
            </a:r>
            <a:r>
              <a:rPr lang="en-US" altLang="zh-CN" sz="2400" dirty="0" err="1"/>
              <a:t>argc</a:t>
            </a:r>
            <a:r>
              <a:rPr lang="zh-CN" altLang="en-US" sz="2400" dirty="0"/>
              <a:t>，实际上可以取任意合法的函数形参名。</a:t>
            </a:r>
            <a:endParaRPr lang="zh-CN" altLang="en-US" sz="2400"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0786" name="Rectangle 2"/>
          <p:cNvSpPr>
            <a:spLocks noGrp="1" noRot="1" noChangeArrowheads="1"/>
          </p:cNvSpPr>
          <p:nvPr>
            <p:ph type="title"/>
          </p:nvPr>
        </p:nvSpPr>
        <p:spPr/>
        <p:txBody>
          <a:bodyPr/>
          <a:lstStyle/>
          <a:p>
            <a:pPr eaLnBrk="1" hangingPunct="1">
              <a:defRPr/>
            </a:pPr>
            <a:r>
              <a:rPr lang="en-US" altLang="zh-CN" dirty="0"/>
              <a:t>main</a:t>
            </a:r>
            <a:r>
              <a:rPr lang="zh-CN" altLang="en-US" dirty="0"/>
              <a:t>函数的形参</a:t>
            </a:r>
            <a:endParaRPr lang="zh-CN" altLang="en-US" dirty="0"/>
          </a:p>
        </p:txBody>
      </p:sp>
      <p:sp>
        <p:nvSpPr>
          <p:cNvPr id="630787" name="Rectangle 3"/>
          <p:cNvSpPr>
            <a:spLocks noGrp="1" noChangeArrowheads="1"/>
          </p:cNvSpPr>
          <p:nvPr>
            <p:ph idx="1"/>
          </p:nvPr>
        </p:nvSpPr>
        <p:spPr/>
        <p:txBody>
          <a:bodyPr>
            <a:normAutofit/>
          </a:bodyPr>
          <a:lstStyle/>
          <a:p>
            <a:pPr eaLnBrk="1" hangingPunct="1">
              <a:defRPr/>
            </a:pPr>
            <a:r>
              <a:rPr lang="en-US" altLang="zh-CN" sz="2800" dirty="0"/>
              <a:t>main</a:t>
            </a:r>
            <a:r>
              <a:rPr lang="zh-CN" altLang="en-US" sz="2800" dirty="0"/>
              <a:t>函数的调用形式：</a:t>
            </a:r>
            <a:endParaRPr lang="zh-CN" altLang="en-US" sz="2800" dirty="0"/>
          </a:p>
          <a:p>
            <a:pPr eaLnBrk="1" hangingPunct="1">
              <a:defRPr/>
            </a:pPr>
            <a:r>
              <a:rPr lang="zh-CN" altLang="en-US" sz="2800" dirty="0"/>
              <a:t>命令名  参数</a:t>
            </a:r>
            <a:r>
              <a:rPr lang="en-US" altLang="zh-CN" sz="2800" dirty="0"/>
              <a:t>1  </a:t>
            </a:r>
            <a:r>
              <a:rPr lang="zh-CN" altLang="en-US" sz="2800" dirty="0"/>
              <a:t>参数</a:t>
            </a:r>
            <a:r>
              <a:rPr lang="en-US" altLang="zh-CN" sz="2800" dirty="0"/>
              <a:t>2  </a:t>
            </a:r>
            <a:r>
              <a:rPr lang="en-US" altLang="zh-CN" sz="2800" dirty="0">
                <a:latin typeface="Arial" panose="020B0604020202020204" pitchFamily="34" charset="0"/>
              </a:rPr>
              <a:t>……</a:t>
            </a:r>
            <a:r>
              <a:rPr lang="en-US" altLang="zh-CN" sz="2800" dirty="0"/>
              <a:t>  </a:t>
            </a:r>
            <a:r>
              <a:rPr lang="zh-CN" altLang="en-US" sz="2800" dirty="0"/>
              <a:t>参数</a:t>
            </a:r>
            <a:r>
              <a:rPr lang="en-US" altLang="zh-CN" sz="2800" dirty="0"/>
              <a:t>n</a:t>
            </a:r>
            <a:endParaRPr lang="en-US" altLang="zh-CN" sz="2800" dirty="0"/>
          </a:p>
          <a:p>
            <a:pPr eaLnBrk="1" hangingPunct="1">
              <a:defRPr/>
            </a:pPr>
            <a:r>
              <a:rPr lang="zh-CN" altLang="en-US" sz="2800" dirty="0"/>
              <a:t>其中：</a:t>
            </a:r>
            <a:endParaRPr lang="zh-CN" altLang="en-US" sz="2800" dirty="0"/>
          </a:p>
          <a:p>
            <a:pPr lvl="1" eaLnBrk="1" hangingPunct="1">
              <a:defRPr/>
            </a:pPr>
            <a:r>
              <a:rPr lang="zh-CN" altLang="en-US" sz="2400" dirty="0"/>
              <a:t>命令名：经过编译、链接得到的可执行文件的文件名，一般是（</a:t>
            </a:r>
            <a:r>
              <a:rPr lang="en-US" altLang="zh-CN" sz="2400" dirty="0"/>
              <a:t>.EXE</a:t>
            </a:r>
            <a:r>
              <a:rPr lang="zh-CN" altLang="en-US" sz="2400" dirty="0"/>
              <a:t>或</a:t>
            </a:r>
            <a:r>
              <a:rPr lang="en-US" altLang="zh-CN" sz="2400" dirty="0"/>
              <a:t>.COM</a:t>
            </a:r>
            <a:r>
              <a:rPr lang="zh-CN" altLang="en-US" sz="2400" dirty="0"/>
              <a:t>）文件。</a:t>
            </a:r>
            <a:endParaRPr lang="zh-CN" altLang="en-US" sz="2400" dirty="0"/>
          </a:p>
          <a:p>
            <a:pPr lvl="1" eaLnBrk="1" hangingPunct="1">
              <a:defRPr/>
            </a:pPr>
            <a:r>
              <a:rPr lang="zh-CN" altLang="en-US" sz="2400" dirty="0"/>
              <a:t>参数</a:t>
            </a:r>
            <a:r>
              <a:rPr lang="en-US" altLang="zh-CN" sz="2400" dirty="0"/>
              <a:t>1</a:t>
            </a:r>
            <a:r>
              <a:rPr lang="en-US" altLang="zh-CN" sz="2400" dirty="0">
                <a:latin typeface="Arial" panose="020B0604020202020204" pitchFamily="34" charset="0"/>
              </a:rPr>
              <a:t>……</a:t>
            </a:r>
            <a:r>
              <a:rPr lang="zh-CN" altLang="en-US" sz="2400" dirty="0"/>
              <a:t>参数</a:t>
            </a:r>
            <a:r>
              <a:rPr lang="en-US" altLang="zh-CN" sz="2400" dirty="0"/>
              <a:t>n</a:t>
            </a:r>
            <a:r>
              <a:rPr lang="zh-CN" altLang="en-US" sz="2400" dirty="0"/>
              <a:t>：用空格分隔，它们是一些字符串。</a:t>
            </a:r>
            <a:endParaRPr lang="zh-CN" altLang="en-US" sz="2400"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1810" name="Rectangle 2"/>
          <p:cNvSpPr>
            <a:spLocks noGrp="1" noRot="1" noChangeArrowheads="1"/>
          </p:cNvSpPr>
          <p:nvPr>
            <p:ph type="title"/>
          </p:nvPr>
        </p:nvSpPr>
        <p:spPr>
          <a:xfrm>
            <a:off x="268427" y="432000"/>
            <a:ext cx="8280000" cy="683692"/>
          </a:xfrm>
        </p:spPr>
        <p:txBody>
          <a:bodyPr/>
          <a:lstStyle/>
          <a:p>
            <a:pPr eaLnBrk="1" hangingPunct="1">
              <a:defRPr/>
            </a:pPr>
            <a:r>
              <a:rPr lang="zh-CN" altLang="en-US" sz="3600" dirty="0"/>
              <a:t>带参数的方式调用</a:t>
            </a:r>
            <a:r>
              <a:rPr lang="en-US" altLang="zh-CN" sz="3600" dirty="0"/>
              <a:t>C</a:t>
            </a:r>
            <a:r>
              <a:rPr lang="zh-CN" altLang="en-US" sz="3600" dirty="0"/>
              <a:t>程序</a:t>
            </a:r>
            <a:endParaRPr lang="zh-CN" altLang="en-US" sz="3600" dirty="0"/>
          </a:p>
        </p:txBody>
      </p:sp>
      <p:sp>
        <p:nvSpPr>
          <p:cNvPr id="631811" name="Rectangle 3"/>
          <p:cNvSpPr>
            <a:spLocks noGrp="1" noChangeArrowheads="1"/>
          </p:cNvSpPr>
          <p:nvPr>
            <p:ph idx="1"/>
          </p:nvPr>
        </p:nvSpPr>
        <p:spPr>
          <a:xfrm>
            <a:off x="268427" y="1371600"/>
            <a:ext cx="5462522" cy="4114800"/>
          </a:xfrm>
          <a:ln>
            <a:solidFill>
              <a:schemeClr val="tx1"/>
            </a:solidFill>
            <a:miter lim="800000"/>
          </a:ln>
        </p:spPr>
        <p:txBody>
          <a:bodyPr>
            <a:normAutofit fontScale="92500"/>
          </a:bodyPr>
          <a:lstStyle/>
          <a:p>
            <a:pPr marL="0" indent="0">
              <a:spcBef>
                <a:spcPts val="0"/>
              </a:spcBef>
              <a:buNone/>
            </a:pPr>
            <a:r>
              <a:rPr lang="en-US" sz="2400" dirty="0">
                <a:solidFill>
                  <a:srgbClr val="0000FF"/>
                </a:solidFill>
                <a:latin typeface="Consolas" panose="020B0609020204030204" pitchFamily="49" charset="0"/>
              </a:rPr>
              <a:t>#include </a:t>
            </a:r>
            <a:r>
              <a:rPr lang="en-US" sz="2400" dirty="0">
                <a:solidFill>
                  <a:srgbClr val="A31515"/>
                </a:solidFill>
                <a:latin typeface="Consolas" panose="020B0609020204030204" pitchFamily="49" charset="0"/>
              </a:rPr>
              <a:t>&lt;</a:t>
            </a:r>
            <a:r>
              <a:rPr lang="en-US" sz="2400" dirty="0" err="1">
                <a:solidFill>
                  <a:srgbClr val="A31515"/>
                </a:solidFill>
                <a:latin typeface="Consolas" panose="020B0609020204030204" pitchFamily="49" charset="0"/>
              </a:rPr>
              <a:t>stdio.h</a:t>
            </a:r>
            <a:r>
              <a:rPr lang="en-US" sz="2400" dirty="0">
                <a:solidFill>
                  <a:srgbClr val="A31515"/>
                </a:solidFill>
                <a:latin typeface="Consolas" panose="020B0609020204030204" pitchFamily="49" charset="0"/>
              </a:rPr>
              <a:t>&gt;</a:t>
            </a:r>
            <a:br>
              <a:rPr lang="en-US" sz="2400" dirty="0">
                <a:solidFill>
                  <a:srgbClr val="000000"/>
                </a:solidFill>
                <a:latin typeface="Consolas" panose="020B0609020204030204" pitchFamily="49" charset="0"/>
              </a:rPr>
            </a:b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main(</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argc</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char</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a:t>
            </a:r>
            <a:r>
              <a:rPr lang="en-US" sz="2400" dirty="0" err="1">
                <a:solidFill>
                  <a:srgbClr val="000000"/>
                </a:solidFill>
                <a:latin typeface="Consolas" panose="020B0609020204030204" pitchFamily="49" charset="0"/>
              </a:rPr>
              <a:t>argv</a:t>
            </a:r>
            <a:r>
              <a:rPr lang="en-US" sz="2400" dirty="0">
                <a:solidFill>
                  <a:srgbClr val="000000"/>
                </a:solidFill>
                <a:latin typeface="Consolas" panose="020B0609020204030204" pitchFamily="49" charset="0"/>
              </a:rPr>
              <a:t>[])</a:t>
            </a:r>
            <a:endParaRPr lang="en-US" sz="2400" dirty="0">
              <a:solidFill>
                <a:srgbClr val="000000"/>
              </a:solidFill>
              <a:latin typeface="Consolas" panose="020B0609020204030204" pitchFamily="49" charset="0"/>
            </a:endParaRPr>
          </a:p>
          <a:p>
            <a:pPr marL="0" indent="0">
              <a:spcBef>
                <a:spcPts val="0"/>
              </a:spcBef>
              <a:buNone/>
            </a:pPr>
            <a:r>
              <a:rPr lang="en-US" sz="2400" dirty="0">
                <a:solidFill>
                  <a:srgbClr val="000000"/>
                </a:solidFill>
                <a:latin typeface="Consolas" panose="020B0609020204030204" pitchFamily="49" charset="0"/>
              </a:rPr>
              <a:t>{</a:t>
            </a:r>
            <a:endParaRPr lang="en-US" sz="2400" dirty="0">
              <a:solidFill>
                <a:srgbClr val="000000"/>
              </a:solidFill>
              <a:latin typeface="Consolas" panose="020B0609020204030204" pitchFamily="49" charset="0"/>
            </a:endParaRPr>
          </a:p>
          <a:p>
            <a:pPr marL="0" indent="0">
              <a:spcBef>
                <a:spcPts val="0"/>
              </a:spcBef>
              <a:buNone/>
            </a:pP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while</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argc</a:t>
            </a:r>
            <a:r>
              <a:rPr lang="en-US" sz="2400" dirty="0">
                <a:solidFill>
                  <a:srgbClr val="000000"/>
                </a:solidFill>
                <a:latin typeface="Consolas" panose="020B0609020204030204" pitchFamily="49" charset="0"/>
              </a:rPr>
              <a:t> &gt; </a:t>
            </a:r>
            <a:r>
              <a:rPr lang="en-US" sz="2400" dirty="0">
                <a:solidFill>
                  <a:srgbClr val="098658"/>
                </a:solidFill>
                <a:latin typeface="Consolas" panose="020B0609020204030204" pitchFamily="49" charset="0"/>
              </a:rPr>
              <a:t>1</a:t>
            </a:r>
            <a:r>
              <a:rPr lang="en-US" sz="2400" dirty="0">
                <a:solidFill>
                  <a:srgbClr val="000000"/>
                </a:solidFill>
                <a:latin typeface="Consolas" panose="020B0609020204030204" pitchFamily="49" charset="0"/>
              </a:rPr>
              <a:t> )</a:t>
            </a:r>
            <a:endParaRPr lang="en-US" sz="2400" dirty="0">
              <a:solidFill>
                <a:srgbClr val="000000"/>
              </a:solidFill>
              <a:latin typeface="Consolas" panose="020B0609020204030204" pitchFamily="49" charset="0"/>
            </a:endParaRPr>
          </a:p>
          <a:p>
            <a:pPr marL="0" indent="0">
              <a:spcBef>
                <a:spcPts val="0"/>
              </a:spcBef>
              <a:buNone/>
            </a:pPr>
            <a:r>
              <a:rPr lang="en-US" sz="2400" dirty="0">
                <a:solidFill>
                  <a:srgbClr val="000000"/>
                </a:solidFill>
                <a:latin typeface="Consolas" panose="020B0609020204030204" pitchFamily="49" charset="0"/>
              </a:rPr>
              <a:t>    {</a:t>
            </a:r>
            <a:endParaRPr lang="en-US" sz="2400" dirty="0">
              <a:solidFill>
                <a:srgbClr val="000000"/>
              </a:solidFill>
              <a:latin typeface="Consolas" panose="020B0609020204030204" pitchFamily="49" charset="0"/>
            </a:endParaRPr>
          </a:p>
          <a:p>
            <a:pPr marL="0" indent="0">
              <a:spcBef>
                <a:spcPts val="0"/>
              </a:spcBef>
              <a:buNone/>
            </a:pP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argv</a:t>
            </a:r>
            <a:r>
              <a:rPr lang="en-US" sz="2400" dirty="0">
                <a:solidFill>
                  <a:srgbClr val="000000"/>
                </a:solidFill>
                <a:latin typeface="Consolas" panose="020B0609020204030204" pitchFamily="49" charset="0"/>
              </a:rPr>
              <a:t>;</a:t>
            </a:r>
            <a:endParaRPr lang="en-US" sz="2400" dirty="0">
              <a:solidFill>
                <a:srgbClr val="000000"/>
              </a:solidFill>
              <a:latin typeface="Consolas" panose="020B0609020204030204" pitchFamily="49" charset="0"/>
            </a:endParaRPr>
          </a:p>
          <a:p>
            <a:pPr marL="0" indent="0">
              <a:spcBef>
                <a:spcPts val="0"/>
              </a:spcBef>
              <a:buNone/>
            </a:pP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printf</a:t>
            </a:r>
            <a:r>
              <a:rPr lang="en-US" sz="2400" dirty="0">
                <a:solidFill>
                  <a:srgbClr val="000000"/>
                </a:solidFill>
                <a:latin typeface="Consolas" panose="020B0609020204030204" pitchFamily="49" charset="0"/>
              </a:rPr>
              <a:t>( </a:t>
            </a:r>
            <a:r>
              <a:rPr lang="en-US" sz="2400" dirty="0">
                <a:solidFill>
                  <a:srgbClr val="A31515"/>
                </a:solidFill>
                <a:latin typeface="Consolas" panose="020B0609020204030204" pitchFamily="49" charset="0"/>
              </a:rPr>
              <a:t>"%s\n"</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argv</a:t>
            </a:r>
            <a:r>
              <a:rPr lang="en-US" sz="2400" dirty="0">
                <a:solidFill>
                  <a:srgbClr val="000000"/>
                </a:solidFill>
                <a:latin typeface="Consolas" panose="020B0609020204030204" pitchFamily="49" charset="0"/>
              </a:rPr>
              <a:t> );</a:t>
            </a:r>
            <a:endParaRPr lang="en-US" sz="2400" dirty="0">
              <a:solidFill>
                <a:srgbClr val="000000"/>
              </a:solidFill>
              <a:latin typeface="Consolas" panose="020B0609020204030204" pitchFamily="49" charset="0"/>
            </a:endParaRPr>
          </a:p>
          <a:p>
            <a:pPr marL="0" indent="0">
              <a:spcBef>
                <a:spcPts val="0"/>
              </a:spcBef>
              <a:buNone/>
            </a:pP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argc</a:t>
            </a:r>
            <a:r>
              <a:rPr lang="en-US" sz="2400" dirty="0">
                <a:solidFill>
                  <a:srgbClr val="000000"/>
                </a:solidFill>
                <a:latin typeface="Consolas" panose="020B0609020204030204" pitchFamily="49" charset="0"/>
              </a:rPr>
              <a:t>;</a:t>
            </a:r>
            <a:endParaRPr lang="en-US" sz="2400" dirty="0">
              <a:solidFill>
                <a:srgbClr val="000000"/>
              </a:solidFill>
              <a:latin typeface="Consolas" panose="020B0609020204030204" pitchFamily="49" charset="0"/>
            </a:endParaRPr>
          </a:p>
          <a:p>
            <a:pPr marL="0" indent="0">
              <a:spcBef>
                <a:spcPts val="0"/>
              </a:spcBef>
              <a:buNone/>
            </a:pPr>
            <a:r>
              <a:rPr lang="en-US" sz="2400" dirty="0">
                <a:solidFill>
                  <a:srgbClr val="000000"/>
                </a:solidFill>
                <a:latin typeface="Consolas" panose="020B0609020204030204" pitchFamily="49" charset="0"/>
              </a:rPr>
              <a:t>    }</a:t>
            </a:r>
            <a:endParaRPr lang="en-US" sz="2400" dirty="0">
              <a:solidFill>
                <a:srgbClr val="000000"/>
              </a:solidFill>
              <a:latin typeface="Consolas" panose="020B0609020204030204" pitchFamily="49" charset="0"/>
            </a:endParaRPr>
          </a:p>
          <a:p>
            <a:pPr marL="0" indent="0">
              <a:spcBef>
                <a:spcPts val="0"/>
              </a:spcBef>
              <a:buNone/>
            </a:pP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return</a:t>
            </a:r>
            <a:r>
              <a:rPr lang="en-US" sz="2400" dirty="0">
                <a:solidFill>
                  <a:srgbClr val="000000"/>
                </a:solidFill>
                <a:latin typeface="Consolas" panose="020B0609020204030204" pitchFamily="49" charset="0"/>
              </a:rPr>
              <a:t> </a:t>
            </a:r>
            <a:r>
              <a:rPr lang="en-US" sz="2400" dirty="0">
                <a:solidFill>
                  <a:srgbClr val="098658"/>
                </a:solidFill>
                <a:latin typeface="Consolas" panose="020B0609020204030204" pitchFamily="49" charset="0"/>
              </a:rPr>
              <a:t>0</a:t>
            </a:r>
            <a:r>
              <a:rPr lang="en-US" sz="2400" dirty="0">
                <a:solidFill>
                  <a:srgbClr val="000000"/>
                </a:solidFill>
                <a:latin typeface="Consolas" panose="020B0609020204030204" pitchFamily="49" charset="0"/>
              </a:rPr>
              <a:t>;</a:t>
            </a:r>
            <a:endParaRPr lang="en-US" sz="2400" dirty="0">
              <a:solidFill>
                <a:srgbClr val="000000"/>
              </a:solidFill>
              <a:latin typeface="Consolas" panose="020B0609020204030204" pitchFamily="49" charset="0"/>
            </a:endParaRPr>
          </a:p>
          <a:p>
            <a:pPr marL="0" indent="0">
              <a:spcBef>
                <a:spcPts val="0"/>
              </a:spcBef>
              <a:buNone/>
            </a:pPr>
            <a:r>
              <a:rPr lang="en-US" sz="2400" dirty="0">
                <a:solidFill>
                  <a:srgbClr val="000000"/>
                </a:solidFill>
                <a:latin typeface="Consolas" panose="020B0609020204030204" pitchFamily="49" charset="0"/>
              </a:rPr>
              <a:t>}</a:t>
            </a:r>
            <a:endParaRPr lang="en-US" sz="2400" dirty="0">
              <a:solidFill>
                <a:srgbClr val="000000"/>
              </a:solidFill>
              <a:latin typeface="Consolas" panose="020B0609020204030204" pitchFamily="49" charset="0"/>
            </a:endParaRPr>
          </a:p>
          <a:p>
            <a:pPr eaLnBrk="1" hangingPunct="1">
              <a:lnSpc>
                <a:spcPct val="90000"/>
              </a:lnSpc>
              <a:spcBef>
                <a:spcPts val="0"/>
              </a:spcBef>
              <a:buFont typeface="Wingdings" panose="05000000000000000000" charset="0"/>
              <a:buNone/>
              <a:defRPr/>
            </a:pPr>
            <a:endParaRPr lang="en-US" altLang="zh-CN" sz="3200" dirty="0"/>
          </a:p>
        </p:txBody>
      </p:sp>
      <p:sp>
        <p:nvSpPr>
          <p:cNvPr id="58372" name="Rectangle 4"/>
          <p:cNvSpPr>
            <a:spLocks noChangeArrowheads="1"/>
          </p:cNvSpPr>
          <p:nvPr/>
        </p:nvSpPr>
        <p:spPr bwMode="auto">
          <a:xfrm>
            <a:off x="5847907" y="1371600"/>
            <a:ext cx="3027665" cy="4114800"/>
          </a:xfrm>
          <a:prstGeom prst="rect">
            <a:avLst/>
          </a:prstGeom>
          <a:noFill/>
          <a:ln w="9525">
            <a:solidFill>
              <a:schemeClr val="tx1"/>
            </a:solidFill>
            <a:miter lim="800000"/>
          </a:ln>
          <a:extLst>
            <a:ext uri="{909E8E84-426E-40DD-AFC4-6F175D3DCCD1}">
              <a14:hiddenFill xmlns:a14="http://schemas.microsoft.com/office/drawing/2010/main">
                <a:solidFill>
                  <a:schemeClr val="accent1"/>
                </a:solidFill>
              </a14:hiddenFill>
            </a:ext>
          </a:extLst>
        </p:spPr>
        <p:txBody>
          <a:bodyPr/>
          <a:lstStyle>
            <a:lvl1pPr marL="342900" indent="-342900">
              <a:spcBef>
                <a:spcPct val="20000"/>
              </a:spcBef>
              <a:buClr>
                <a:schemeClr val="hlink"/>
              </a:buClr>
              <a:buSzPct val="70000"/>
              <a:buFont typeface="Wingdings" panose="05000000000000000000" pitchFamily="2" charset="2"/>
              <a:buChar char="n"/>
              <a:defRPr sz="3200" b="1">
                <a:solidFill>
                  <a:schemeClr val="tx1"/>
                </a:solidFill>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n"/>
              <a:defRPr sz="2800" b="1">
                <a:solidFill>
                  <a:schemeClr val="tx1"/>
                </a:solidFill>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buChar char="n"/>
              <a:defRPr sz="2400" b="1">
                <a:solidFill>
                  <a:schemeClr val="tx1"/>
                </a:solidFill>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n"/>
              <a:defRPr sz="2000" b="1">
                <a:solidFill>
                  <a:schemeClr val="tx1"/>
                </a:solidFill>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buChar char="n"/>
              <a:defRPr sz="2000" b="1">
                <a:solidFill>
                  <a:schemeClr val="tx1"/>
                </a:solidFill>
                <a:latin typeface="Garamond" panose="02020404030301010803"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Char char="n"/>
              <a:defRPr sz="2000" b="1">
                <a:solidFill>
                  <a:schemeClr val="tx1"/>
                </a:solidFill>
                <a:latin typeface="Garamond" panose="02020404030301010803"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Char char="n"/>
              <a:defRPr sz="2000" b="1">
                <a:solidFill>
                  <a:schemeClr val="tx1"/>
                </a:solidFill>
                <a:latin typeface="Garamond" panose="02020404030301010803"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Char char="n"/>
              <a:defRPr sz="2000" b="1">
                <a:solidFill>
                  <a:schemeClr val="tx1"/>
                </a:solidFill>
                <a:latin typeface="Garamond" panose="02020404030301010803"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Char char="n"/>
              <a:defRPr sz="2000" b="1">
                <a:solidFill>
                  <a:schemeClr val="tx1"/>
                </a:solidFill>
                <a:latin typeface="Garamond" panose="02020404030301010803" pitchFamily="18" charset="0"/>
                <a:ea typeface="宋体" panose="02010600030101010101" pitchFamily="2" charset="-122"/>
              </a:defRPr>
            </a:lvl9pPr>
          </a:lstStyle>
          <a:p>
            <a:pPr eaLnBrk="1" hangingPunct="1">
              <a:spcBef>
                <a:spcPct val="0"/>
              </a:spcBef>
              <a:buClr>
                <a:schemeClr val="bg2"/>
              </a:buClr>
              <a:buSzTx/>
              <a:buFont typeface="Monotype Sorts" charset="2"/>
              <a:buNone/>
            </a:pPr>
            <a:r>
              <a:rPr kumimoji="1" lang="zh-CN" altLang="en-US" sz="2400" b="0" dirty="0">
                <a:latin typeface="Times New Roman" panose="02020603050405020304" pitchFamily="18" charset="0"/>
              </a:rPr>
              <a:t>在命令行下调用可执行文件：</a:t>
            </a:r>
            <a:endParaRPr kumimoji="1" lang="zh-CN" altLang="en-US" sz="2400" b="0" dirty="0">
              <a:latin typeface="Times New Roman" panose="02020603050405020304" pitchFamily="18" charset="0"/>
            </a:endParaRPr>
          </a:p>
          <a:p>
            <a:pPr eaLnBrk="1" hangingPunct="1">
              <a:spcBef>
                <a:spcPct val="0"/>
              </a:spcBef>
              <a:buClr>
                <a:schemeClr val="bg2"/>
              </a:buClr>
              <a:buSzTx/>
              <a:buFont typeface="Monotype Sorts" charset="2"/>
              <a:buNone/>
            </a:pPr>
            <a:endParaRPr kumimoji="1" lang="zh-CN" altLang="en-US" sz="2400" b="0" dirty="0">
              <a:latin typeface="Times New Roman" panose="02020603050405020304" pitchFamily="18" charset="0"/>
            </a:endParaRPr>
          </a:p>
          <a:p>
            <a:pPr eaLnBrk="1" hangingPunct="1">
              <a:spcBef>
                <a:spcPct val="0"/>
              </a:spcBef>
              <a:buClr>
                <a:schemeClr val="bg2"/>
              </a:buClr>
              <a:buSzTx/>
              <a:buFont typeface="Monotype Sorts" charset="2"/>
              <a:buNone/>
            </a:pPr>
            <a:r>
              <a:rPr kumimoji="1" lang="en-US" altLang="zh-CN" sz="2400" dirty="0">
                <a:latin typeface="Times New Roman" panose="02020603050405020304" pitchFamily="18" charset="0"/>
              </a:rPr>
              <a:t>&gt;a.exe China Beijing</a:t>
            </a:r>
            <a:endParaRPr kumimoji="1" lang="en-US" altLang="zh-CN" sz="2400" dirty="0">
              <a:latin typeface="Times New Roman" panose="02020603050405020304" pitchFamily="18" charset="0"/>
            </a:endParaRPr>
          </a:p>
          <a:p>
            <a:pPr eaLnBrk="1" hangingPunct="1">
              <a:spcBef>
                <a:spcPct val="0"/>
              </a:spcBef>
              <a:buClr>
                <a:schemeClr val="bg2"/>
              </a:buClr>
              <a:buSzTx/>
              <a:buFont typeface="Monotype Sorts" charset="2"/>
              <a:buNone/>
            </a:pPr>
            <a:endParaRPr kumimoji="1" lang="en-US" altLang="zh-CN" sz="2400" dirty="0">
              <a:latin typeface="Times New Roman" panose="02020603050405020304" pitchFamily="18" charset="0"/>
            </a:endParaRPr>
          </a:p>
          <a:p>
            <a:pPr eaLnBrk="1" hangingPunct="1">
              <a:spcBef>
                <a:spcPct val="0"/>
              </a:spcBef>
              <a:buClr>
                <a:schemeClr val="bg2"/>
              </a:buClr>
              <a:buSzTx/>
              <a:buFont typeface="Monotype Sorts" charset="2"/>
              <a:buNone/>
            </a:pPr>
            <a:r>
              <a:rPr kumimoji="1" lang="zh-CN" altLang="en-US" sz="2400" b="0" dirty="0">
                <a:latin typeface="Times New Roman" panose="02020603050405020304" pitchFamily="18" charset="0"/>
              </a:rPr>
              <a:t>执行结果：</a:t>
            </a:r>
            <a:endParaRPr kumimoji="1" lang="zh-CN" altLang="en-US" sz="2400" b="0" dirty="0">
              <a:latin typeface="Times New Roman" panose="02020603050405020304" pitchFamily="18" charset="0"/>
            </a:endParaRPr>
          </a:p>
          <a:p>
            <a:pPr eaLnBrk="1" hangingPunct="1">
              <a:spcBef>
                <a:spcPct val="0"/>
              </a:spcBef>
              <a:buClr>
                <a:schemeClr val="bg2"/>
              </a:buClr>
              <a:buSzTx/>
              <a:buFont typeface="Monotype Sorts" charset="2"/>
              <a:buNone/>
            </a:pPr>
            <a:endParaRPr kumimoji="1" lang="zh-CN" altLang="en-US" sz="2400" b="0" dirty="0">
              <a:latin typeface="Times New Roman" panose="02020603050405020304" pitchFamily="18" charset="0"/>
            </a:endParaRPr>
          </a:p>
          <a:p>
            <a:pPr eaLnBrk="1" hangingPunct="1">
              <a:spcBef>
                <a:spcPct val="0"/>
              </a:spcBef>
              <a:buClr>
                <a:schemeClr val="bg2"/>
              </a:buClr>
              <a:buSzTx/>
              <a:buFont typeface="Monotype Sorts" charset="2"/>
              <a:buNone/>
            </a:pPr>
            <a:r>
              <a:rPr kumimoji="1" lang="en-US" altLang="zh-CN" sz="2400" b="0" dirty="0">
                <a:latin typeface="Times New Roman" panose="02020603050405020304" pitchFamily="18" charset="0"/>
              </a:rPr>
              <a:t>China</a:t>
            </a:r>
            <a:endParaRPr kumimoji="1" lang="en-US" altLang="zh-CN" sz="2400" b="0" dirty="0">
              <a:latin typeface="Times New Roman" panose="02020603050405020304" pitchFamily="18" charset="0"/>
            </a:endParaRPr>
          </a:p>
          <a:p>
            <a:pPr eaLnBrk="1" hangingPunct="1">
              <a:spcBef>
                <a:spcPct val="0"/>
              </a:spcBef>
              <a:buClr>
                <a:schemeClr val="bg2"/>
              </a:buClr>
              <a:buSzTx/>
              <a:buFont typeface="Monotype Sorts" charset="2"/>
              <a:buNone/>
            </a:pPr>
            <a:r>
              <a:rPr kumimoji="1" lang="en-US" altLang="zh-CN" sz="2400" b="0" dirty="0">
                <a:latin typeface="Times New Roman" panose="02020603050405020304" pitchFamily="18" charset="0"/>
              </a:rPr>
              <a:t>Beijing</a:t>
            </a:r>
            <a:endParaRPr kumimoji="1" lang="en-US" altLang="zh-CN" sz="2400" b="0"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7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文件部分选学内容</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2706" name="Rectangle 2"/>
          <p:cNvSpPr>
            <a:spLocks noGrp="1" noChangeArrowheads="1"/>
          </p:cNvSpPr>
          <p:nvPr>
            <p:ph type="title"/>
          </p:nvPr>
        </p:nvSpPr>
        <p:spPr/>
        <p:txBody>
          <a:bodyPr/>
          <a:lstStyle/>
          <a:p>
            <a:r>
              <a:rPr lang="zh-CN" altLang="en-US" dirty="0">
                <a:latin typeface="华文新魏" panose="02010800040101010101" pitchFamily="2" charset="-122"/>
              </a:rPr>
              <a:t>文件的读写</a:t>
            </a:r>
            <a:endParaRPr lang="zh-CN" altLang="en-US" dirty="0">
              <a:latin typeface="华文新魏" panose="02010800040101010101" pitchFamily="2" charset="-122"/>
            </a:endParaRPr>
          </a:p>
        </p:txBody>
      </p:sp>
      <p:sp>
        <p:nvSpPr>
          <p:cNvPr id="1352707" name="Rectangle 3"/>
          <p:cNvSpPr>
            <a:spLocks noGrp="1" noChangeArrowheads="1"/>
          </p:cNvSpPr>
          <p:nvPr>
            <p:ph idx="1"/>
          </p:nvPr>
        </p:nvSpPr>
        <p:spPr/>
        <p:txBody>
          <a:bodyPr/>
          <a:lstStyle/>
          <a:p>
            <a:r>
              <a:rPr lang="en-US" altLang="zh-CN" dirty="0"/>
              <a:t>C</a:t>
            </a:r>
            <a:r>
              <a:rPr lang="zh-CN" altLang="en-US" dirty="0"/>
              <a:t>语言支持两种读写文件的方式</a:t>
            </a:r>
            <a:endParaRPr lang="zh-CN" altLang="en-US" dirty="0"/>
          </a:p>
          <a:p>
            <a:pPr lvl="1"/>
            <a:r>
              <a:rPr lang="zh-CN" altLang="en-US" dirty="0"/>
              <a:t>顺序读写</a:t>
            </a:r>
            <a:endParaRPr lang="zh-CN" altLang="en-US" sz="2000" dirty="0">
              <a:solidFill>
                <a:srgbClr val="33CC33"/>
              </a:solidFill>
            </a:endParaRPr>
          </a:p>
          <a:p>
            <a:pPr lvl="2"/>
            <a:r>
              <a:rPr lang="zh-CN" altLang="en-US" dirty="0"/>
              <a:t>从文件中一个接一个地读写数据，仅当读写了前一个数据后，才能读写下一个数据。</a:t>
            </a:r>
            <a:endParaRPr lang="zh-CN" altLang="en-US" dirty="0"/>
          </a:p>
          <a:p>
            <a:pPr lvl="2"/>
            <a:r>
              <a:rPr lang="zh-CN" altLang="en-US" dirty="0"/>
              <a:t>在读写数据后，文件位置指针自动跳到下一个读写位置。</a:t>
            </a:r>
            <a:endParaRPr lang="zh-CN" altLang="en-US" dirty="0"/>
          </a:p>
          <a:p>
            <a:pPr lvl="2"/>
            <a:r>
              <a:rPr lang="zh-CN" altLang="en-US" dirty="0"/>
              <a:t>标准输入输出只能进行顺序读写。</a:t>
            </a:r>
            <a:endParaRPr lang="zh-CN" altLang="en-US" dirty="0"/>
          </a:p>
          <a:p>
            <a:pPr lvl="1"/>
            <a:r>
              <a:rPr lang="zh-CN" altLang="en-US" dirty="0"/>
              <a:t>随机读写</a:t>
            </a:r>
            <a:r>
              <a:rPr lang="zh-CN" altLang="en-US" dirty="0">
                <a:solidFill>
                  <a:srgbClr val="FF0000"/>
                </a:solidFill>
                <a:latin typeface="华文新魏" panose="02010800040101010101" pitchFamily="2" charset="-122"/>
              </a:rPr>
              <a:t>（选学内容）</a:t>
            </a:r>
            <a:endParaRPr lang="zh-CN" altLang="en-US" dirty="0">
              <a:solidFill>
                <a:srgbClr val="FF0000"/>
              </a:solidFill>
            </a:endParaRPr>
          </a:p>
          <a:p>
            <a:pPr lvl="2"/>
            <a:r>
              <a:rPr lang="zh-CN" altLang="en-US" dirty="0"/>
              <a:t>从文件中读写数据时可不考虑数据在文件中的位置，可以在文件的任何位置读写。</a:t>
            </a:r>
            <a:endParaRPr lang="zh-CN" altLang="en-US" dirty="0"/>
          </a:p>
          <a:p>
            <a:pPr lvl="2"/>
            <a:r>
              <a:rPr lang="zh-CN" altLang="en-US" dirty="0"/>
              <a:t>在读写数据前，需要将</a:t>
            </a:r>
            <a:r>
              <a:rPr lang="zh-CN" altLang="en-US" dirty="0">
                <a:solidFill>
                  <a:srgbClr val="FF00FF"/>
                </a:solidFill>
              </a:rPr>
              <a:t>文件位置指针</a:t>
            </a:r>
            <a:r>
              <a:rPr lang="zh-CN" altLang="en-US" dirty="0"/>
              <a:t>移到读写位置。</a:t>
            </a:r>
            <a:endParaRPr lang="zh-CN" altLang="en-US" dirty="0"/>
          </a:p>
          <a:p>
            <a:pPr lvl="2"/>
            <a:r>
              <a:rPr lang="zh-CN" altLang="en-US" dirty="0"/>
              <a:t>当文件以读或写方式打开，文件位置指针设置在文件头，若文件以附加方式打开，位置设置在文件末尾。</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对文件进行顺序读写比较容易理解和操作，但有时效率不高</a:t>
            </a:r>
            <a:endParaRPr lang="en-US" altLang="zh-CN" dirty="0"/>
          </a:p>
          <a:p>
            <a:r>
              <a:rPr lang="zh-CN" altLang="en-US" dirty="0"/>
              <a:t>随机访问不是按数据在文件中的物理位置次序进行读写，而是可以对任何位置上的数据进行访问，比顺序访问效率高</a:t>
            </a:r>
            <a:endParaRPr lang="en-US" altLang="zh-CN" dirty="0"/>
          </a:p>
          <a:p>
            <a:r>
              <a:rPr lang="zh-CN" altLang="en-US" dirty="0"/>
              <a:t>随机读写时，需要先将</a:t>
            </a:r>
            <a:r>
              <a:rPr lang="zh-CN" altLang="en-US" dirty="0">
                <a:solidFill>
                  <a:srgbClr val="0070C0"/>
                </a:solidFill>
              </a:rPr>
              <a:t>文件位置标记</a:t>
            </a:r>
            <a:r>
              <a:rPr lang="zh-CN" altLang="en-US" dirty="0"/>
              <a:t>定位在目标访问位置上，然后再进行读写。</a:t>
            </a:r>
            <a:endParaRPr lang="zh-CN" altLang="en-US" dirty="0"/>
          </a:p>
        </p:txBody>
      </p:sp>
      <p:sp>
        <p:nvSpPr>
          <p:cNvPr id="3" name="标题 2"/>
          <p:cNvSpPr>
            <a:spLocks noGrp="1"/>
          </p:cNvSpPr>
          <p:nvPr>
            <p:ph type="title"/>
          </p:nvPr>
        </p:nvSpPr>
        <p:spPr/>
        <p:txBody>
          <a:bodyPr/>
          <a:lstStyle/>
          <a:p>
            <a:r>
              <a:rPr lang="zh-CN" altLang="en-US" dirty="0"/>
              <a:t>随机读写数据文件</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文件位置标记</a:t>
            </a:r>
            <a:endParaRPr lang="zh-CN" altLang="en-US" dirty="0"/>
          </a:p>
        </p:txBody>
      </p:sp>
      <p:sp>
        <p:nvSpPr>
          <p:cNvPr id="7" name="MH_Desc_1"/>
          <p:cNvSpPr/>
          <p:nvPr>
            <p:custDataLst>
              <p:tags r:id="rId1"/>
            </p:custDataLst>
          </p:nvPr>
        </p:nvSpPr>
        <p:spPr>
          <a:xfrm>
            <a:off x="50103" y="1382470"/>
            <a:ext cx="8914385" cy="528689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cmpd="sng" algn="ctr">
            <a:solidFill>
              <a:srgbClr val="E84C22"/>
            </a:solidFill>
            <a:prstDash val="solid"/>
            <a:bevel/>
          </a:ln>
          <a:effectLst/>
        </p:spPr>
        <p:txBody>
          <a:bodyPr lIns="72000" tIns="72000" rIns="72000" bIns="72000" anchor="t">
            <a:noAutofit/>
          </a:bodyPr>
          <a:lstStyle/>
          <a:p>
            <a:pPr marL="0" marR="0" lvl="0" indent="0" algn="just" defTabSz="914400" eaLnBrk="1" fontAlgn="auto" latinLnBrk="0" hangingPunct="1">
              <a:lnSpc>
                <a:spcPct val="12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为了对读写进行控制，系统为每个文件设置了一个</a:t>
            </a:r>
            <a:r>
              <a:rPr kumimoji="0" lang="zh-CN" altLang="en-US" sz="1800" b="1" i="0" u="none" strike="noStrike" kern="0" cap="none" spc="0" normalizeH="0" baseline="0" noProof="0" dirty="0">
                <a:ln>
                  <a:noFill/>
                </a:ln>
                <a:solidFill>
                  <a:srgbClr val="0070C0"/>
                </a:solidFill>
                <a:effectLst/>
                <a:uLnTx/>
                <a:uFillTx/>
                <a:latin typeface="等线" panose="02010600030101010101" charset="-122"/>
                <a:ea typeface="等线" panose="02010600030101010101" charset="-122"/>
                <a:cs typeface="+mn-cs"/>
              </a:rPr>
              <a:t>文件位置标记</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，用来指示“接下来要</a:t>
            </a:r>
            <a:b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b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读写的下一个字符的位置”。一般情况下，在对字符文件进行顺序读写时，文件位置标记指向文件开头。对文件进行读</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写操作，读</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写完</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1</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个字符后，文件位置标记顺序向后移一个位置，在下一次执行读</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写操作时，就将位置标记指向的字符进行读出或写入。依此类推，直到遇文件尾，此时文件位置标记在最后一个数据之后。</a:t>
            </a: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2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2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2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2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20000"/>
              </a:lnSpc>
              <a:spcBef>
                <a:spcPts val="60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对流式文件既可以进行顺序读写，也可以进行随机读写。关键在于控制文件的位置标记。如果文件位置标记是按字节位置顺序移动的，就是顺序读写。如果能将文件位置标记按需要移动到任意位置，就可以实现随机读写。</a:t>
            </a:r>
            <a:endPar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20000"/>
              </a:lnSpc>
              <a:spcBef>
                <a:spcPts val="120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所谓随机读写，是指读写完上一个字符（字节）后，不一定要读写其后续字符（字节），而可以读写文件中任意位置上所需要的字符（字节）。即对文件读写数据的顺序和数据在文件中的物理顺序一般是不一致的。可以在任何位置写入数据，在任何位置读取数据。</a:t>
            </a: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293" y="3212976"/>
            <a:ext cx="8285163"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文件位置标记的定位</a:t>
            </a:r>
            <a:endParaRPr lang="zh-CN" altLang="en-US" dirty="0"/>
          </a:p>
        </p:txBody>
      </p:sp>
      <p:sp>
        <p:nvSpPr>
          <p:cNvPr id="4" name="MH_Desc_1"/>
          <p:cNvSpPr/>
          <p:nvPr>
            <p:custDataLst>
              <p:tags r:id="rId1"/>
            </p:custDataLst>
          </p:nvPr>
        </p:nvSpPr>
        <p:spPr>
          <a:xfrm>
            <a:off x="122111" y="1412776"/>
            <a:ext cx="8914385" cy="528689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cmpd="sng" algn="ctr">
            <a:solidFill>
              <a:srgbClr val="E84C22"/>
            </a:solidFill>
            <a:prstDash val="solid"/>
            <a:bevel/>
          </a:ln>
          <a:effectLst/>
        </p:spPr>
        <p:txBody>
          <a:bodyPr lIns="72000" tIns="72000" rIns="72000" bIns="72000" anchor="t">
            <a:noAutofit/>
          </a:bodyPr>
          <a:lstStyle/>
          <a:p>
            <a:pPr marL="0" marR="0" lvl="0" indent="0" algn="just" defTabSz="914400" eaLnBrk="1" fontAlgn="auto" latinLnBrk="0" hangingPunct="1">
              <a:lnSpc>
                <a:spcPct val="15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(1) </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用</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rewind</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函数使文件位置标记指向文件开头</a:t>
            </a: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307975" algn="just" defTabSz="914400" eaLnBrk="1" fontAlgn="auto" latinLnBrk="0" hangingPunct="1">
              <a:lnSpc>
                <a:spcPct val="15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rewind</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函数的作用是使文件位置标记重新返回文件的开头，此函数没有返回值。</a:t>
            </a:r>
            <a:endPar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(2) </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用</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fseek</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函数改变文件位置标记</a:t>
            </a: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307975" algn="just" defTabSz="914400" eaLnBrk="1" fontAlgn="auto" latinLnBrk="0" hangingPunct="1">
              <a:lnSpc>
                <a:spcPct val="150000"/>
              </a:lnSpc>
              <a:spcBef>
                <a:spcPts val="0"/>
              </a:spcBef>
              <a:spcAft>
                <a:spcPts val="0"/>
              </a:spcAft>
              <a:buClrTx/>
              <a:buSzTx/>
              <a:buFontTx/>
              <a:buNone/>
              <a:defRPr/>
            </a:pP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fseek</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函数一般用于二进制文件。</a:t>
            </a: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1200"/>
              </a:spcBef>
              <a:spcAft>
                <a:spcPts val="0"/>
              </a:spcAft>
              <a:buClrTx/>
              <a:buSzTx/>
              <a:buFontTx/>
              <a:buNone/>
              <a:defRPr/>
            </a:pP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(3) </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用</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ftell</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函数测定文件位置标记的当前位置</a:t>
            </a: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5" name="矩形 4"/>
          <p:cNvSpPr/>
          <p:nvPr/>
        </p:nvSpPr>
        <p:spPr>
          <a:xfrm>
            <a:off x="4861541" y="1507946"/>
            <a:ext cx="2014715" cy="408886"/>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rewind(</a:t>
            </a:r>
            <a:r>
              <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文件指针</a:t>
            </a: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endPar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矩形 5"/>
          <p:cNvSpPr/>
          <p:nvPr/>
        </p:nvSpPr>
        <p:spPr>
          <a:xfrm>
            <a:off x="420387" y="2732082"/>
            <a:ext cx="3863582" cy="408886"/>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err="1">
                <a:ln>
                  <a:noFill/>
                </a:ln>
                <a:solidFill>
                  <a:prstClr val="white"/>
                </a:solidFill>
                <a:effectLst/>
                <a:uLnTx/>
                <a:uFillTx/>
                <a:latin typeface="等线" panose="02010600030101010101" charset="-122"/>
                <a:ea typeface="等线" panose="02010600030101010101" charset="-122"/>
                <a:cs typeface="+mn-cs"/>
              </a:rPr>
              <a:t>fseek</a:t>
            </a: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文件类型指针</a:t>
            </a: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 </a:t>
            </a:r>
            <a:r>
              <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位移量</a:t>
            </a: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 </a:t>
            </a:r>
            <a:r>
              <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起始点</a:t>
            </a:r>
            <a:r>
              <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endParaRPr kumimoji="0" lang="en-US" altLang="zh-CN"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4355976" y="2633078"/>
            <a:ext cx="4176464" cy="867930"/>
          </a:xfrm>
          <a:prstGeom prst="rect">
            <a:avLst/>
          </a:prstGeom>
          <a:solidFill>
            <a:srgbClr val="E84C22">
              <a:lumMod val="20000"/>
              <a:lumOff val="80000"/>
            </a:srgbClr>
          </a:solidFill>
        </p:spPr>
        <p:txBody>
          <a:bodyPr wrap="square" lIns="72000" rIns="72000">
            <a:spAutoFit/>
          </a:bodyPr>
          <a:lstStyle/>
          <a:p>
            <a:pPr>
              <a:lnSpc>
                <a:spcPct val="120000"/>
              </a:lnSpc>
            </a:pPr>
            <a:r>
              <a:rPr lang="zh-CN" altLang="en-US" sz="1400" kern="0" dirty="0">
                <a:solidFill>
                  <a:prstClr val="black"/>
                </a:solidFill>
                <a:latin typeface="等线" panose="02010600030101010101" charset="-122"/>
                <a:ea typeface="等线" panose="02010600030101010101" charset="-122"/>
              </a:rPr>
              <a:t>起始点：</a:t>
            </a:r>
            <a:r>
              <a:rPr lang="en-US" altLang="zh-CN" sz="1400" kern="0" dirty="0">
                <a:solidFill>
                  <a:prstClr val="black"/>
                </a:solidFill>
                <a:latin typeface="等线" panose="02010600030101010101" charset="-122"/>
                <a:ea typeface="等线" panose="02010600030101010101" charset="-122"/>
              </a:rPr>
              <a:t>0</a:t>
            </a:r>
            <a:r>
              <a:rPr lang="zh-CN" altLang="en-US" sz="1400" kern="0" dirty="0">
                <a:solidFill>
                  <a:prstClr val="black"/>
                </a:solidFill>
                <a:latin typeface="等线" panose="02010600030101010101" charset="-122"/>
                <a:ea typeface="等线" panose="02010600030101010101" charset="-122"/>
              </a:rPr>
              <a:t>代表“文件开始位置”，</a:t>
            </a:r>
            <a:r>
              <a:rPr lang="en-US" altLang="zh-CN" sz="1400" kern="0" dirty="0">
                <a:solidFill>
                  <a:prstClr val="black"/>
                </a:solidFill>
                <a:latin typeface="等线" panose="02010600030101010101" charset="-122"/>
                <a:ea typeface="等线" panose="02010600030101010101" charset="-122"/>
              </a:rPr>
              <a:t>1</a:t>
            </a:r>
            <a:r>
              <a:rPr lang="zh-CN" altLang="en-US" sz="1400" kern="0" dirty="0">
                <a:solidFill>
                  <a:prstClr val="black"/>
                </a:solidFill>
                <a:latin typeface="等线" panose="02010600030101010101" charset="-122"/>
                <a:ea typeface="等线" panose="02010600030101010101" charset="-122"/>
              </a:rPr>
              <a:t>代表“当前位置”， </a:t>
            </a:r>
            <a:endParaRPr lang="en-US" altLang="zh-CN" sz="1400" kern="0" dirty="0">
              <a:solidFill>
                <a:prstClr val="black"/>
              </a:solidFill>
              <a:latin typeface="等线" panose="02010600030101010101" charset="-122"/>
              <a:ea typeface="等线" panose="02010600030101010101" charset="-122"/>
            </a:endParaRPr>
          </a:p>
          <a:p>
            <a:pPr>
              <a:lnSpc>
                <a:spcPct val="120000"/>
              </a:lnSpc>
            </a:pPr>
            <a:r>
              <a:rPr lang="en-US" altLang="zh-CN" sz="1400" kern="0" dirty="0">
                <a:solidFill>
                  <a:prstClr val="black"/>
                </a:solidFill>
                <a:latin typeface="等线" panose="02010600030101010101" charset="-122"/>
                <a:ea typeface="等线" panose="02010600030101010101" charset="-122"/>
              </a:rPr>
              <a:t>              2</a:t>
            </a:r>
            <a:r>
              <a:rPr lang="zh-CN" altLang="en-US" sz="1400" kern="0" dirty="0">
                <a:solidFill>
                  <a:prstClr val="black"/>
                </a:solidFill>
                <a:latin typeface="等线" panose="02010600030101010101" charset="-122"/>
                <a:ea typeface="等线" panose="02010600030101010101" charset="-122"/>
              </a:rPr>
              <a:t>代表“文件末尾位置”</a:t>
            </a:r>
            <a:endParaRPr lang="en-US" altLang="zh-CN" sz="1400" kern="0" dirty="0">
              <a:solidFill>
                <a:prstClr val="black"/>
              </a:solidFill>
              <a:latin typeface="等线" panose="02010600030101010101" charset="-122"/>
              <a:ea typeface="等线" panose="02010600030101010101" charset="-122"/>
            </a:endParaRPr>
          </a:p>
          <a:p>
            <a:pPr>
              <a:lnSpc>
                <a:spcPct val="120000"/>
              </a:lnSpc>
            </a:pPr>
            <a:r>
              <a:rPr lang="zh-CN" altLang="en-US" sz="1400" kern="0" dirty="0">
                <a:solidFill>
                  <a:prstClr val="black"/>
                </a:solidFill>
                <a:latin typeface="等线" panose="02010600030101010101" charset="-122"/>
                <a:ea typeface="等线" panose="02010600030101010101" charset="-122"/>
              </a:rPr>
              <a:t>位移量：以“起始点”为基点，向前移动的字节数</a:t>
            </a:r>
            <a:endParaRPr lang="zh-CN" altLang="en-US" sz="1400" kern="0" dirty="0">
              <a:solidFill>
                <a:prstClr val="black"/>
              </a:solidFill>
              <a:latin typeface="等线" panose="02010600030101010101" charset="-122"/>
              <a:ea typeface="等线" panose="02010600030101010101" charset="-122"/>
            </a:endParaRPr>
          </a:p>
        </p:txBody>
      </p:sp>
      <p:sp>
        <p:nvSpPr>
          <p:cNvPr id="8" name="圆角矩形 7"/>
          <p:cNvSpPr/>
          <p:nvPr/>
        </p:nvSpPr>
        <p:spPr>
          <a:xfrm>
            <a:off x="420387" y="3573016"/>
            <a:ext cx="8112053" cy="826571"/>
          </a:xfrm>
          <a:prstGeom prst="roundRect">
            <a:avLst>
              <a:gd name="adj" fmla="val 8070"/>
            </a:avLst>
          </a:prstGeom>
          <a:solidFill>
            <a:sysClr val="window" lastClr="FFFFFF"/>
          </a:solidFill>
          <a:ln w="12700" cap="flat" cmpd="sng" algn="ctr">
            <a:solidFill>
              <a:srgbClr val="E84C22"/>
            </a:solidFill>
            <a:prstDash val="solid"/>
            <a:miter lim="800000"/>
          </a:ln>
          <a:effectLst/>
        </p:spPr>
        <p:txBody>
          <a:bodyPr rtlCol="0" anchor="ctr"/>
          <a:lstStyle/>
          <a:p>
            <a:pPr marL="0" marR="0" lvl="0" indent="0" algn="just" defTabSz="914400" eaLnBrk="1" fontAlgn="auto" latinLnBrk="0" hangingPunct="1">
              <a:lnSpc>
                <a:spcPct val="120000"/>
              </a:lnSpc>
              <a:spcBef>
                <a:spcPts val="0"/>
              </a:spcBef>
              <a:spcAft>
                <a:spcPts val="0"/>
              </a:spcAft>
              <a:buClrTx/>
              <a:buSzTx/>
              <a:buFontTx/>
              <a:buNone/>
              <a:defRPr/>
            </a:pPr>
            <a:r>
              <a:rPr kumimoji="0" lang="en-US" altLang="zh-CN" sz="14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fseek</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 (fp,100L,0);		</a:t>
            </a:r>
            <a:r>
              <a:rPr kumimoji="0" lang="en-US" altLang="zh-CN"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a:t>
            </a:r>
            <a:r>
              <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将文件位置标记向前移到离文件开头</a:t>
            </a:r>
            <a:r>
              <a:rPr kumimoji="0" lang="en-US" altLang="zh-CN"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100</a:t>
            </a:r>
            <a:r>
              <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个字节处</a:t>
            </a:r>
            <a:endPar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20000"/>
              </a:lnSpc>
              <a:spcBef>
                <a:spcPts val="0"/>
              </a:spcBef>
              <a:spcAft>
                <a:spcPts val="0"/>
              </a:spcAft>
              <a:buClrTx/>
              <a:buSzTx/>
              <a:buFontTx/>
              <a:buNone/>
              <a:defRPr/>
            </a:pPr>
            <a:r>
              <a:rPr kumimoji="0" lang="en-US" altLang="zh-CN" sz="14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fseek</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 (fp,50L,1); 		</a:t>
            </a:r>
            <a:r>
              <a:rPr kumimoji="0" lang="en-US" altLang="zh-CN"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a:t>
            </a:r>
            <a:r>
              <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将文件位置标记向前移到离当前位置</a:t>
            </a:r>
            <a:r>
              <a:rPr kumimoji="0" lang="en-US" altLang="zh-CN"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50</a:t>
            </a:r>
            <a:r>
              <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个字节处</a:t>
            </a:r>
            <a:endPar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20000"/>
              </a:lnSpc>
              <a:spcBef>
                <a:spcPts val="0"/>
              </a:spcBef>
              <a:spcAft>
                <a:spcPts val="0"/>
              </a:spcAft>
              <a:buClrTx/>
              <a:buSzTx/>
              <a:buFontTx/>
              <a:buNone/>
              <a:defRPr/>
            </a:pPr>
            <a:r>
              <a:rPr kumimoji="0" lang="en-US" altLang="zh-CN" sz="14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fseek</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 (fp,-10L,2);		</a:t>
            </a:r>
            <a:r>
              <a:rPr kumimoji="0" lang="en-US" altLang="zh-CN"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a:t>
            </a:r>
            <a:r>
              <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将文件位置标记从文件末尾处向后退</a:t>
            </a:r>
            <a:r>
              <a:rPr kumimoji="0" lang="en-US" altLang="zh-CN"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10</a:t>
            </a:r>
            <a:r>
              <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个字节</a:t>
            </a:r>
            <a:endPar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endParaRPr>
          </a:p>
        </p:txBody>
      </p:sp>
      <p:sp>
        <p:nvSpPr>
          <p:cNvPr id="9" name="圆角矩形 8"/>
          <p:cNvSpPr/>
          <p:nvPr/>
        </p:nvSpPr>
        <p:spPr>
          <a:xfrm>
            <a:off x="420385" y="5877272"/>
            <a:ext cx="8112055" cy="653048"/>
          </a:xfrm>
          <a:prstGeom prst="roundRect">
            <a:avLst>
              <a:gd name="adj" fmla="val 8070"/>
            </a:avLst>
          </a:prstGeom>
          <a:solidFill>
            <a:sysClr val="window" lastClr="FFFFFF"/>
          </a:solidFill>
          <a:ln w="12700" cap="flat" cmpd="sng" algn="ctr">
            <a:solidFill>
              <a:srgbClr val="E84C22"/>
            </a:solidFill>
            <a:prstDash val="solid"/>
            <a:miter lim="800000"/>
          </a:ln>
          <a:effectLst/>
        </p:spPr>
        <p:txBody>
          <a:bodyPr rtlCol="0" anchor="ctr"/>
          <a:lstStyle/>
          <a:p>
            <a:pPr marL="0" marR="0" lvl="0" indent="0" algn="just" defTabSz="914400" eaLnBrk="1" fontAlgn="auto" latinLnBrk="0" hangingPunct="1">
              <a:lnSpc>
                <a:spcPct val="120000"/>
              </a:lnSpc>
              <a:spcBef>
                <a:spcPts val="0"/>
              </a:spcBef>
              <a:spcAft>
                <a:spcPts val="0"/>
              </a:spcAft>
              <a:buClrTx/>
              <a:buSzTx/>
              <a:buFontTx/>
              <a:buNone/>
              <a:defRPr/>
            </a:pPr>
            <a:r>
              <a:rPr kumimoji="0" lang="en-US" altLang="zh-CN" sz="14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i</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en-US" altLang="zh-CN" sz="14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ftell</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en-US" altLang="zh-CN" sz="14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fp</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			 </a:t>
            </a:r>
            <a:r>
              <a:rPr kumimoji="0" lang="en-US" altLang="zh-CN"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a:t>
            </a:r>
            <a:r>
              <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变量</a:t>
            </a:r>
            <a:r>
              <a:rPr kumimoji="0" lang="en-US" altLang="zh-CN" sz="1400" b="0" i="0" u="none" strike="noStrike" kern="0" cap="none" spc="0" normalizeH="0" baseline="0" noProof="0" dirty="0" err="1">
                <a:ln>
                  <a:noFill/>
                </a:ln>
                <a:solidFill>
                  <a:srgbClr val="008000"/>
                </a:solidFill>
                <a:effectLst/>
                <a:uLnTx/>
                <a:uFillTx/>
                <a:latin typeface="等线" panose="02010600030101010101" charset="-122"/>
                <a:ea typeface="等线" panose="02010600030101010101" charset="-122"/>
                <a:cs typeface="+mn-cs"/>
              </a:rPr>
              <a:t>i</a:t>
            </a:r>
            <a:r>
              <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存放文件当前</a:t>
            </a:r>
            <a:r>
              <a:rPr lang="zh-CN" altLang="en-US" sz="1400" kern="0" dirty="0">
                <a:solidFill>
                  <a:srgbClr val="008000"/>
                </a:solidFill>
                <a:latin typeface="等线" panose="02010600030101010101" charset="-122"/>
                <a:ea typeface="等线" panose="02010600030101010101" charset="-122"/>
              </a:rPr>
              <a:t>读写</a:t>
            </a:r>
            <a:r>
              <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位置</a:t>
            </a:r>
            <a:endPar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2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if(</a:t>
            </a:r>
            <a:r>
              <a:rPr kumimoji="0" lang="en-US" altLang="zh-CN" sz="14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i</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==-1L) </a:t>
            </a:r>
            <a:r>
              <a:rPr kumimoji="0" lang="en-US" altLang="zh-CN" sz="14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printf</a:t>
            </a:r>
            <a:r>
              <a:rPr kumimoji="0" lang="en-US" altLang="zh-CN" sz="14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(″error\n″); 	</a:t>
            </a:r>
            <a:r>
              <a:rPr kumimoji="0" lang="en-US" altLang="zh-CN"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a:t>
            </a:r>
            <a:r>
              <a:rPr kumimoji="0" lang="zh-CN" altLang="en-US"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如果调用函数时出错，输出</a:t>
            </a:r>
            <a:r>
              <a:rPr kumimoji="0" lang="en-US" altLang="zh-CN"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rPr>
              <a:t>″error″</a:t>
            </a:r>
            <a:endParaRPr kumimoji="0" lang="en-US" altLang="zh-CN" sz="1400" b="0" i="0" u="none" strike="noStrike" kern="0" cap="none" spc="0" normalizeH="0" baseline="0" noProof="0" dirty="0">
              <a:ln>
                <a:noFill/>
              </a:ln>
              <a:solidFill>
                <a:srgbClr val="008000"/>
              </a:solidFill>
              <a:effectLst/>
              <a:uLnTx/>
              <a:uFillTx/>
              <a:latin typeface="等线" panose="02010600030101010101" charset="-122"/>
              <a:ea typeface="等线" panose="02010600030101010101" charset="-122"/>
              <a:cs typeface="+mn-cs"/>
            </a:endParaRPr>
          </a:p>
        </p:txBody>
      </p:sp>
      <p:sp>
        <p:nvSpPr>
          <p:cNvPr id="10" name="矩形 9"/>
          <p:cNvSpPr/>
          <p:nvPr/>
        </p:nvSpPr>
        <p:spPr>
          <a:xfrm>
            <a:off x="338400" y="4941168"/>
            <a:ext cx="8338056" cy="923330"/>
          </a:xfrm>
          <a:prstGeom prst="rect">
            <a:avLst/>
          </a:prstGeom>
        </p:spPr>
        <p:txBody>
          <a:bodyPr wrap="square">
            <a:spAutoFit/>
          </a:bodyPr>
          <a:lstStyle/>
          <a:p>
            <a:pPr algn="just">
              <a:lnSpc>
                <a:spcPct val="150000"/>
              </a:lnSpc>
              <a:defRPr/>
            </a:pPr>
            <a:r>
              <a:rPr lang="en-US" altLang="zh-CN" dirty="0" err="1">
                <a:solidFill>
                  <a:prstClr val="black"/>
                </a:solidFill>
                <a:latin typeface="等线" panose="02010600030101010101" charset="-122"/>
                <a:ea typeface="等线" panose="02010600030101010101" charset="-122"/>
              </a:rPr>
              <a:t>ftell</a:t>
            </a:r>
            <a:r>
              <a:rPr lang="zh-CN" altLang="en-US" dirty="0">
                <a:solidFill>
                  <a:prstClr val="black"/>
                </a:solidFill>
                <a:latin typeface="等线" panose="02010600030101010101" charset="-122"/>
                <a:ea typeface="等线" panose="02010600030101010101" charset="-122"/>
              </a:rPr>
              <a:t>函数的作用是得到流式文件中文件位置标记的当前位置，用相对于文件开头的位移量来表示。若调用函数时出错（如不存在</a:t>
            </a:r>
            <a:r>
              <a:rPr lang="en-US" altLang="zh-CN" dirty="0" err="1">
                <a:solidFill>
                  <a:prstClr val="black"/>
                </a:solidFill>
                <a:latin typeface="等线" panose="02010600030101010101" charset="-122"/>
                <a:ea typeface="等线" panose="02010600030101010101" charset="-122"/>
              </a:rPr>
              <a:t>fp</a:t>
            </a:r>
            <a:r>
              <a:rPr lang="zh-CN" altLang="en-US" dirty="0">
                <a:solidFill>
                  <a:prstClr val="black"/>
                </a:solidFill>
                <a:latin typeface="等线" panose="02010600030101010101" charset="-122"/>
                <a:ea typeface="等线" panose="02010600030101010101" charset="-122"/>
              </a:rPr>
              <a:t>指向的文件），返回值为</a:t>
            </a:r>
            <a:r>
              <a:rPr lang="en-US" altLang="zh-CN" dirty="0">
                <a:solidFill>
                  <a:prstClr val="black"/>
                </a:solidFill>
                <a:latin typeface="等线" panose="02010600030101010101" charset="-122"/>
                <a:ea typeface="等线" panose="02010600030101010101" charset="-122"/>
              </a:rPr>
              <a:t>-1L</a:t>
            </a:r>
            <a:r>
              <a:rPr lang="zh-CN" altLang="en-US" dirty="0">
                <a:solidFill>
                  <a:prstClr val="black"/>
                </a:solidFill>
                <a:latin typeface="等线" panose="02010600030101010101" charset="-122"/>
                <a:ea typeface="等线" panose="02010600030101010101" charset="-122"/>
              </a:rPr>
              <a:t>。</a:t>
            </a:r>
            <a:endParaRPr lang="zh-CN" altLang="en-US" dirty="0">
              <a:solidFill>
                <a:prstClr val="black"/>
              </a:solidFill>
              <a:latin typeface="等线" panose="02010600030101010101" charset="-122"/>
              <a:ea typeface="等线" panose="02010600030101010101" charset="-122"/>
            </a:endParaRPr>
          </a:p>
        </p:txBody>
      </p:sp>
      <p:pic>
        <p:nvPicPr>
          <p:cNvPr id="2" name="图片 1"/>
          <p:cNvPicPr>
            <a:picLocks noChangeAspect="1"/>
          </p:cNvPicPr>
          <p:nvPr/>
        </p:nvPicPr>
        <p:blipFill>
          <a:blip r:embed="rId2"/>
          <a:stretch>
            <a:fillRect/>
          </a:stretch>
        </p:blipFill>
        <p:spPr>
          <a:xfrm>
            <a:off x="5540362" y="409125"/>
            <a:ext cx="3292284" cy="91951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227" y="1018038"/>
            <a:ext cx="8280000" cy="5040000"/>
          </a:xfrm>
        </p:spPr>
        <p:txBody>
          <a:bodyPr/>
          <a:lstStyle/>
          <a:p>
            <a:r>
              <a:rPr lang="zh-CN" altLang="en-US" sz="2000" dirty="0"/>
              <a:t>示例</a:t>
            </a:r>
            <a:r>
              <a:rPr lang="en-US" altLang="zh-CN" sz="2000" dirty="0"/>
              <a:t>14-04</a:t>
            </a:r>
            <a:r>
              <a:rPr lang="zh-CN" altLang="en-US" sz="2000" dirty="0"/>
              <a:t>：向磁盘文件中写入</a:t>
            </a:r>
            <a:r>
              <a:rPr lang="en-US" altLang="zh-CN" sz="2000" dirty="0"/>
              <a:t>2</a:t>
            </a:r>
            <a:r>
              <a:rPr lang="zh-CN" altLang="en-US" sz="2000" dirty="0"/>
              <a:t>个学生的数据，逆序读取学生信息。</a:t>
            </a:r>
            <a:endParaRPr lang="zh-CN" altLang="en-US" sz="2000" dirty="0"/>
          </a:p>
          <a:p>
            <a:endParaRPr lang="zh-CN" altLang="en-US" dirty="0"/>
          </a:p>
        </p:txBody>
      </p:sp>
      <p:sp>
        <p:nvSpPr>
          <p:cNvPr id="3" name="标题 2"/>
          <p:cNvSpPr>
            <a:spLocks noGrp="1"/>
          </p:cNvSpPr>
          <p:nvPr>
            <p:ph type="title"/>
          </p:nvPr>
        </p:nvSpPr>
        <p:spPr>
          <a:xfrm>
            <a:off x="428227" y="334346"/>
            <a:ext cx="8280000" cy="683692"/>
          </a:xfrm>
        </p:spPr>
        <p:txBody>
          <a:bodyPr/>
          <a:lstStyle/>
          <a:p>
            <a:r>
              <a:rPr lang="zh-CN" altLang="en-US" dirty="0"/>
              <a:t>随机读写数据文件</a:t>
            </a:r>
            <a:endParaRPr lang="zh-CN" altLang="en-US" dirty="0"/>
          </a:p>
        </p:txBody>
      </p:sp>
      <p:sp>
        <p:nvSpPr>
          <p:cNvPr id="5" name="圆角矩形 4"/>
          <p:cNvSpPr/>
          <p:nvPr/>
        </p:nvSpPr>
        <p:spPr>
          <a:xfrm>
            <a:off x="171025" y="1485194"/>
            <a:ext cx="8544748" cy="5372806"/>
          </a:xfrm>
          <a:prstGeom prst="roundRect">
            <a:avLst>
              <a:gd name="adj" fmla="val 1628"/>
            </a:avLst>
          </a:prstGeom>
          <a:solidFill>
            <a:sysClr val="window" lastClr="FFFFFF"/>
          </a:solidFill>
          <a:ln w="12700" cap="flat" cmpd="sng" algn="ctr">
            <a:solidFill>
              <a:srgbClr val="E84C22"/>
            </a:solidFill>
            <a:prstDash val="solid"/>
            <a:miter lim="800000"/>
          </a:ln>
          <a:effectLst/>
        </p:spPr>
        <p:txBody>
          <a:bodyPr rtlCol="0" anchor="t"/>
          <a:lstStyle/>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#include&lt;</a:t>
            </a:r>
            <a:r>
              <a:rPr lang="en-US" altLang="zh-CN" sz="1200" dirty="0" err="1">
                <a:latin typeface="Courier New" panose="02070309020205020404" pitchFamily="49" charset="0"/>
                <a:cs typeface="Courier New" panose="02070309020205020404" pitchFamily="49" charset="0"/>
              </a:rPr>
              <a:t>stdio.h</a:t>
            </a:r>
            <a:r>
              <a:rPr lang="en-US" altLang="zh-CN" sz="1200" dirty="0">
                <a:latin typeface="Courier New" panose="02070309020205020404" pitchFamily="49" charset="0"/>
                <a:cs typeface="Courier New" panose="02070309020205020404" pitchFamily="49" charset="0"/>
              </a:rPr>
              <a:t>&gt;</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#include &lt;</a:t>
            </a:r>
            <a:r>
              <a:rPr lang="en-US" altLang="zh-CN" sz="1200" dirty="0" err="1">
                <a:latin typeface="Courier New" panose="02070309020205020404" pitchFamily="49" charset="0"/>
                <a:cs typeface="Courier New" panose="02070309020205020404" pitchFamily="49" charset="0"/>
              </a:rPr>
              <a:t>stdlib.h</a:t>
            </a:r>
            <a:r>
              <a:rPr lang="en-US" altLang="zh-CN" sz="1200" dirty="0">
                <a:latin typeface="Courier New" panose="02070309020205020404" pitchFamily="49" charset="0"/>
                <a:cs typeface="Courier New" panose="02070309020205020404" pitchFamily="49" charset="0"/>
              </a:rPr>
              <a:t>&gt;</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typedef struct { int </a:t>
            </a:r>
            <a:r>
              <a:rPr lang="en-US" altLang="zh-CN" sz="1200" dirty="0" err="1">
                <a:latin typeface="Courier New" panose="02070309020205020404" pitchFamily="49" charset="0"/>
                <a:cs typeface="Courier New" panose="02070309020205020404" pitchFamily="49" charset="0"/>
              </a:rPr>
              <a:t>sno</a:t>
            </a:r>
            <a:r>
              <a:rPr lang="en-US" altLang="zh-CN" sz="1200" dirty="0">
                <a:latin typeface="Courier New" panose="02070309020205020404" pitchFamily="49" charset="0"/>
                <a:cs typeface="Courier New" panose="02070309020205020404" pitchFamily="49" charset="0"/>
              </a:rPr>
              <a:t>; char name[10]; char sex; int age; } Student; </a:t>
            </a:r>
            <a:r>
              <a:rPr lang="en-US" altLang="zh-CN" sz="1200" dirty="0">
                <a:solidFill>
                  <a:srgbClr val="008000"/>
                </a:solidFill>
              </a:rPr>
              <a:t>//</a:t>
            </a:r>
            <a:r>
              <a:rPr lang="zh-CN" altLang="en-US" sz="1200" dirty="0">
                <a:solidFill>
                  <a:srgbClr val="008000"/>
                </a:solidFill>
              </a:rPr>
              <a:t>学生数据类型</a:t>
            </a:r>
            <a:endParaRPr lang="en-US" altLang="zh-CN" sz="1200" dirty="0">
              <a:solidFill>
                <a:srgbClr val="008000"/>
              </a:solidFill>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Student studs[2] = {{2021123456, "</a:t>
            </a:r>
            <a:r>
              <a:rPr lang="en-US" altLang="zh-CN" sz="1200" dirty="0" err="1">
                <a:latin typeface="Courier New" panose="02070309020205020404" pitchFamily="49" charset="0"/>
                <a:cs typeface="Courier New" panose="02070309020205020404" pitchFamily="49" charset="0"/>
              </a:rPr>
              <a:t>ZhangSan</a:t>
            </a:r>
            <a:r>
              <a:rPr lang="en-US" altLang="zh-CN" sz="1200" dirty="0">
                <a:latin typeface="Courier New" panose="02070309020205020404" pitchFamily="49" charset="0"/>
                <a:cs typeface="Courier New" panose="02070309020205020404" pitchFamily="49" charset="0"/>
              </a:rPr>
              <a:t>", 'F', 18}, {2021654321, "</a:t>
            </a:r>
            <a:r>
              <a:rPr lang="en-US" altLang="zh-CN" sz="1200" dirty="0" err="1">
                <a:latin typeface="Courier New" panose="02070309020205020404" pitchFamily="49" charset="0"/>
                <a:cs typeface="Courier New" panose="02070309020205020404" pitchFamily="49" charset="0"/>
              </a:rPr>
              <a:t>LiSi</a:t>
            </a:r>
            <a:r>
              <a:rPr lang="en-US" altLang="zh-CN" sz="1200" dirty="0">
                <a:latin typeface="Courier New" panose="02070309020205020404" pitchFamily="49" charset="0"/>
                <a:cs typeface="Courier New" panose="02070309020205020404" pitchFamily="49" charset="0"/>
              </a:rPr>
              <a:t>", 'M', 19}}; </a:t>
            </a:r>
            <a:r>
              <a:rPr lang="en-US" altLang="zh-CN" sz="1200" dirty="0">
                <a:solidFill>
                  <a:srgbClr val="008000"/>
                </a:solidFill>
              </a:rPr>
              <a:t>//</a:t>
            </a:r>
            <a:r>
              <a:rPr lang="zh-CN" altLang="en-US" sz="1200" dirty="0">
                <a:solidFill>
                  <a:srgbClr val="008000"/>
                </a:solidFill>
              </a:rPr>
              <a:t>初始化结构体数组</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int main() {</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FILE *</a:t>
            </a:r>
            <a:r>
              <a:rPr lang="en-US" altLang="zh-CN" sz="1200" dirty="0" err="1">
                <a:latin typeface="Courier New" panose="02070309020205020404" pitchFamily="49" charset="0"/>
                <a:cs typeface="Courier New" panose="02070309020205020404" pitchFamily="49" charset="0"/>
              </a:rPr>
              <a:t>fp</a:t>
            </a:r>
            <a:r>
              <a:rPr lang="en-US" altLang="zh-CN" sz="1200" dirty="0">
                <a:latin typeface="Courier New" panose="02070309020205020404" pitchFamily="49" charset="0"/>
                <a:cs typeface="Courier New" panose="02070309020205020404" pitchFamily="49" charset="0"/>
              </a:rPr>
              <a:t>; </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Student stud;</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if (</a:t>
            </a:r>
            <a:r>
              <a:rPr lang="nl-NL" altLang="zh-CN" sz="1200" dirty="0">
                <a:latin typeface="Courier New" panose="02070309020205020404" pitchFamily="49" charset="0"/>
                <a:cs typeface="Courier New" panose="02070309020205020404" pitchFamily="49" charset="0"/>
              </a:rPr>
              <a:t>(fp = fopen("student.bin", "wb+")) == NULL</a:t>
            </a:r>
            <a:r>
              <a:rPr lang="en-US" altLang="zh-CN" sz="1200" dirty="0">
                <a:latin typeface="Courier New" panose="02070309020205020404" pitchFamily="49" charset="0"/>
                <a:cs typeface="Courier New" panose="02070309020205020404" pitchFamily="49" charset="0"/>
              </a:rPr>
              <a:t>) { 	</a:t>
            </a:r>
            <a:r>
              <a:rPr lang="en-US" altLang="zh-CN" sz="1200" dirty="0">
                <a:solidFill>
                  <a:srgbClr val="008000"/>
                </a:solidFill>
              </a:rPr>
              <a:t>//</a:t>
            </a:r>
            <a:r>
              <a:rPr lang="zh-CN" altLang="en-US" sz="1200" dirty="0">
                <a:solidFill>
                  <a:srgbClr val="008000"/>
                </a:solidFill>
              </a:rPr>
              <a:t>以读写方式建立二进制文件</a:t>
            </a:r>
            <a:endParaRPr lang="en-US" altLang="zh-CN" sz="1200" dirty="0">
              <a:solidFill>
                <a:srgbClr val="008000"/>
              </a:solidFill>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printf</a:t>
            </a:r>
            <a:r>
              <a:rPr lang="en-US" altLang="zh-CN" sz="1200" dirty="0">
                <a:latin typeface="Courier New" panose="02070309020205020404" pitchFamily="49" charset="0"/>
                <a:cs typeface="Courier New" panose="02070309020205020404" pitchFamily="49" charset="0"/>
              </a:rPr>
              <a:t>("cannot create file\n"); exit(0);</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fwrite</a:t>
            </a:r>
            <a:r>
              <a:rPr lang="en-US" altLang="zh-CN" sz="1200" dirty="0">
                <a:latin typeface="Courier New" panose="02070309020205020404" pitchFamily="49" charset="0"/>
                <a:cs typeface="Courier New" panose="02070309020205020404" pitchFamily="49" charset="0"/>
              </a:rPr>
              <a:t>(studs, </a:t>
            </a:r>
            <a:r>
              <a:rPr lang="en-US" altLang="zh-CN" sz="1200" dirty="0" err="1">
                <a:latin typeface="Courier New" panose="02070309020205020404" pitchFamily="49" charset="0"/>
                <a:cs typeface="Courier New" panose="02070309020205020404" pitchFamily="49" charset="0"/>
              </a:rPr>
              <a:t>sizeof</a:t>
            </a:r>
            <a:r>
              <a:rPr lang="en-US" altLang="zh-CN" sz="1200" dirty="0">
                <a:latin typeface="Courier New" panose="02070309020205020404" pitchFamily="49" charset="0"/>
                <a:cs typeface="Courier New" panose="02070309020205020404" pitchFamily="49" charset="0"/>
              </a:rPr>
              <a:t>(Student), 2, </a:t>
            </a:r>
            <a:r>
              <a:rPr lang="en-US" altLang="zh-CN" sz="1200" dirty="0" err="1">
                <a:latin typeface="Courier New" panose="02070309020205020404" pitchFamily="49" charset="0"/>
                <a:cs typeface="Courier New" panose="02070309020205020404" pitchFamily="49" charset="0"/>
              </a:rPr>
              <a:t>fp</a:t>
            </a:r>
            <a:r>
              <a:rPr lang="en-US" altLang="zh-CN" sz="1200" dirty="0">
                <a:latin typeface="Courier New" panose="02070309020205020404" pitchFamily="49" charset="0"/>
                <a:cs typeface="Courier New" panose="02070309020205020404" pitchFamily="49" charset="0"/>
              </a:rPr>
              <a:t>); </a:t>
            </a:r>
            <a:r>
              <a:rPr lang="en-US" altLang="zh-CN" sz="1200" dirty="0">
                <a:solidFill>
                  <a:srgbClr val="008000"/>
                </a:solidFill>
              </a:rPr>
              <a:t>//</a:t>
            </a:r>
            <a:r>
              <a:rPr lang="zh-CN" altLang="en-US" sz="1200" dirty="0">
                <a:solidFill>
                  <a:srgbClr val="008000"/>
                </a:solidFill>
              </a:rPr>
              <a:t>将</a:t>
            </a:r>
            <a:r>
              <a:rPr lang="en-US" altLang="zh-CN" sz="1200" dirty="0">
                <a:solidFill>
                  <a:srgbClr val="008000"/>
                </a:solidFill>
              </a:rPr>
              <a:t>studs</a:t>
            </a:r>
            <a:r>
              <a:rPr lang="zh-CN" altLang="en-US" sz="1200" dirty="0">
                <a:solidFill>
                  <a:srgbClr val="008000"/>
                </a:solidFill>
              </a:rPr>
              <a:t>结构体的数据写入文件</a:t>
            </a:r>
            <a:endParaRPr lang="en-US" altLang="zh-CN" sz="1200" dirty="0">
              <a:solidFill>
                <a:srgbClr val="008000"/>
              </a:solidFill>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printf</a:t>
            </a:r>
            <a:r>
              <a:rPr lang="en-US" altLang="zh-CN" sz="1200" dirty="0">
                <a:latin typeface="Courier New" panose="02070309020205020404" pitchFamily="49" charset="0"/>
                <a:cs typeface="Courier New" panose="02070309020205020404" pitchFamily="49" charset="0"/>
              </a:rPr>
              <a:t>("cur offset: %d\n", </a:t>
            </a:r>
            <a:r>
              <a:rPr lang="en-US" altLang="zh-CN" sz="1200" dirty="0" err="1">
                <a:latin typeface="Courier New" panose="02070309020205020404" pitchFamily="49" charset="0"/>
                <a:cs typeface="Courier New" panose="02070309020205020404" pitchFamily="49" charset="0"/>
              </a:rPr>
              <a:t>ftell</a:t>
            </a:r>
            <a:r>
              <a:rPr lang="en-US" altLang="zh-CN" sz="1200" dirty="0">
                <a:latin typeface="Courier New" panose="02070309020205020404" pitchFamily="49" charset="0"/>
                <a:cs typeface="Courier New" panose="02070309020205020404" pitchFamily="49" charset="0"/>
              </a:rPr>
              <a:t>(</a:t>
            </a:r>
            <a:r>
              <a:rPr lang="en-US" altLang="zh-CN" sz="1200" dirty="0" err="1">
                <a:latin typeface="Courier New" panose="02070309020205020404" pitchFamily="49" charset="0"/>
                <a:cs typeface="Courier New" panose="02070309020205020404" pitchFamily="49" charset="0"/>
              </a:rPr>
              <a:t>fp</a:t>
            </a:r>
            <a:r>
              <a:rPr lang="en-US" altLang="zh-CN" sz="1200" dirty="0">
                <a:latin typeface="Courier New" panose="02070309020205020404" pitchFamily="49" charset="0"/>
                <a:cs typeface="Courier New" panose="02070309020205020404" pitchFamily="49" charset="0"/>
              </a:rPr>
              <a:t>)); </a:t>
            </a:r>
            <a:r>
              <a:rPr lang="en-US" altLang="zh-CN" sz="1200" dirty="0">
                <a:solidFill>
                  <a:srgbClr val="008000"/>
                </a:solidFill>
              </a:rPr>
              <a:t>//</a:t>
            </a:r>
            <a:r>
              <a:rPr lang="zh-CN" altLang="en-US" sz="1200" dirty="0">
                <a:solidFill>
                  <a:srgbClr val="008000"/>
                </a:solidFill>
              </a:rPr>
              <a:t>输出文件读写指针当前的位置（相对于文件头的偏移量）</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fseek</a:t>
            </a:r>
            <a:r>
              <a:rPr lang="en-US" altLang="zh-CN" sz="1200" dirty="0">
                <a:latin typeface="Courier New" panose="02070309020205020404" pitchFamily="49" charset="0"/>
                <a:cs typeface="Courier New" panose="02070309020205020404" pitchFamily="49" charset="0"/>
              </a:rPr>
              <a:t>(</a:t>
            </a:r>
            <a:r>
              <a:rPr lang="en-US" altLang="zh-CN" sz="1200" dirty="0" err="1">
                <a:latin typeface="Courier New" panose="02070309020205020404" pitchFamily="49" charset="0"/>
                <a:cs typeface="Courier New" panose="02070309020205020404" pitchFamily="49" charset="0"/>
              </a:rPr>
              <a:t>fp</a:t>
            </a: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sizeof</a:t>
            </a:r>
            <a:r>
              <a:rPr lang="en-US" altLang="zh-CN" sz="1200" dirty="0">
                <a:latin typeface="Courier New" panose="02070309020205020404" pitchFamily="49" charset="0"/>
                <a:cs typeface="Courier New" panose="02070309020205020404" pitchFamily="49" charset="0"/>
              </a:rPr>
              <a:t>(Student), 1); </a:t>
            </a:r>
            <a:r>
              <a:rPr lang="en-US" altLang="zh-CN" sz="1200" dirty="0">
                <a:solidFill>
                  <a:srgbClr val="008000"/>
                </a:solidFill>
              </a:rPr>
              <a:t>//</a:t>
            </a:r>
            <a:r>
              <a:rPr lang="zh-CN" altLang="en-US" sz="1200" dirty="0">
                <a:solidFill>
                  <a:srgbClr val="008000"/>
                </a:solidFill>
              </a:rPr>
              <a:t>移动文件位置标记至第一个数据块后 </a:t>
            </a:r>
            <a:endParaRPr lang="en-US" altLang="zh-CN" sz="1200" dirty="0">
              <a:solidFill>
                <a:srgbClr val="008000"/>
              </a:solidFill>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fread</a:t>
            </a:r>
            <a:r>
              <a:rPr lang="en-US" altLang="zh-CN" sz="1200" dirty="0">
                <a:latin typeface="Courier New" panose="02070309020205020404" pitchFamily="49" charset="0"/>
                <a:cs typeface="Courier New" panose="02070309020205020404" pitchFamily="49" charset="0"/>
              </a:rPr>
              <a:t>(&amp;stud, </a:t>
            </a:r>
            <a:r>
              <a:rPr lang="en-US" altLang="zh-CN" sz="1200" dirty="0" err="1">
                <a:latin typeface="Courier New" panose="02070309020205020404" pitchFamily="49" charset="0"/>
                <a:cs typeface="Courier New" panose="02070309020205020404" pitchFamily="49" charset="0"/>
              </a:rPr>
              <a:t>sizeof</a:t>
            </a:r>
            <a:r>
              <a:rPr lang="en-US" altLang="zh-CN" sz="1200" dirty="0">
                <a:latin typeface="Courier New" panose="02070309020205020404" pitchFamily="49" charset="0"/>
                <a:cs typeface="Courier New" panose="02070309020205020404" pitchFamily="49" charset="0"/>
              </a:rPr>
              <a:t>(Student), 1, </a:t>
            </a:r>
            <a:r>
              <a:rPr lang="en-US" altLang="zh-CN" sz="1200" dirty="0" err="1">
                <a:latin typeface="Courier New" panose="02070309020205020404" pitchFamily="49" charset="0"/>
                <a:cs typeface="Courier New" panose="02070309020205020404" pitchFamily="49" charset="0"/>
              </a:rPr>
              <a:t>fp</a:t>
            </a:r>
            <a:r>
              <a:rPr lang="en-US" altLang="zh-CN" sz="1200" dirty="0">
                <a:latin typeface="Courier New" panose="02070309020205020404" pitchFamily="49" charset="0"/>
                <a:cs typeface="Courier New" panose="02070309020205020404" pitchFamily="49" charset="0"/>
              </a:rPr>
              <a:t>); </a:t>
            </a:r>
            <a:r>
              <a:rPr lang="en-US" altLang="zh-CN" sz="1200" dirty="0">
                <a:solidFill>
                  <a:srgbClr val="008000"/>
                </a:solidFill>
              </a:rPr>
              <a:t>//</a:t>
            </a:r>
            <a:r>
              <a:rPr lang="zh-CN" altLang="en-US" sz="1200" dirty="0">
                <a:solidFill>
                  <a:srgbClr val="008000"/>
                </a:solidFill>
              </a:rPr>
              <a:t>读一个数据块到结构体变量</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printf</a:t>
            </a:r>
            <a:r>
              <a:rPr lang="en-US" altLang="zh-CN" sz="1200" dirty="0">
                <a:latin typeface="Courier New" panose="02070309020205020404" pitchFamily="49" charset="0"/>
                <a:cs typeface="Courier New" panose="02070309020205020404" pitchFamily="49" charset="0"/>
              </a:rPr>
              <a:t>("%10d %-10s %c %2d\n", </a:t>
            </a:r>
            <a:r>
              <a:rPr lang="en-US" altLang="zh-CN" sz="1200" dirty="0" err="1">
                <a:latin typeface="Courier New" panose="02070309020205020404" pitchFamily="49" charset="0"/>
                <a:cs typeface="Courier New" panose="02070309020205020404" pitchFamily="49" charset="0"/>
              </a:rPr>
              <a:t>stud.sno</a:t>
            </a:r>
            <a:r>
              <a:rPr lang="en-US" altLang="zh-CN" sz="1200" dirty="0">
                <a:latin typeface="Courier New" panose="02070309020205020404" pitchFamily="49" charset="0"/>
                <a:cs typeface="Courier New" panose="02070309020205020404" pitchFamily="49" charset="0"/>
              </a:rPr>
              <a:t>, stud.name, </a:t>
            </a:r>
            <a:r>
              <a:rPr lang="en-US" altLang="zh-CN" sz="1200" dirty="0" err="1">
                <a:latin typeface="Courier New" panose="02070309020205020404" pitchFamily="49" charset="0"/>
                <a:cs typeface="Courier New" panose="02070309020205020404" pitchFamily="49" charset="0"/>
              </a:rPr>
              <a:t>stud.sex</a:t>
            </a: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stud.age</a:t>
            </a:r>
            <a:r>
              <a:rPr lang="en-US" altLang="zh-CN" sz="1200" dirty="0">
                <a:latin typeface="Courier New" panose="02070309020205020404" pitchFamily="49" charset="0"/>
                <a:cs typeface="Courier New" panose="02070309020205020404" pitchFamily="49" charset="0"/>
              </a:rPr>
              <a:t>); </a:t>
            </a:r>
            <a:r>
              <a:rPr lang="en-US" altLang="zh-CN" sz="1200" dirty="0">
                <a:solidFill>
                  <a:srgbClr val="008000"/>
                </a:solidFill>
              </a:rPr>
              <a:t>//</a:t>
            </a:r>
            <a:r>
              <a:rPr lang="zh-CN" altLang="en-US" sz="1200" dirty="0">
                <a:solidFill>
                  <a:srgbClr val="008000"/>
                </a:solidFill>
              </a:rPr>
              <a:t>在屏幕输出</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rewind(</a:t>
            </a:r>
            <a:r>
              <a:rPr lang="en-US" altLang="zh-CN" sz="1200" dirty="0" err="1">
                <a:latin typeface="Courier New" panose="02070309020205020404" pitchFamily="49" charset="0"/>
                <a:cs typeface="Courier New" panose="02070309020205020404" pitchFamily="49" charset="0"/>
              </a:rPr>
              <a:t>fp</a:t>
            </a:r>
            <a:r>
              <a:rPr lang="en-US" altLang="zh-CN" sz="1200" dirty="0">
                <a:latin typeface="Courier New" panose="02070309020205020404" pitchFamily="49" charset="0"/>
                <a:cs typeface="Courier New" panose="02070309020205020404" pitchFamily="49" charset="0"/>
              </a:rPr>
              <a:t>); </a:t>
            </a:r>
            <a:r>
              <a:rPr lang="en-US" altLang="zh-CN" sz="1200" dirty="0">
                <a:solidFill>
                  <a:srgbClr val="008000"/>
                </a:solidFill>
              </a:rPr>
              <a:t>//</a:t>
            </a:r>
            <a:r>
              <a:rPr lang="zh-CN" altLang="en-US" sz="1200" dirty="0">
                <a:solidFill>
                  <a:srgbClr val="008000"/>
                </a:solidFill>
              </a:rPr>
              <a:t>将文件位置标记重新返回文件的开头</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fread</a:t>
            </a:r>
            <a:r>
              <a:rPr lang="en-US" altLang="zh-CN" sz="1200" dirty="0">
                <a:latin typeface="Courier New" panose="02070309020205020404" pitchFamily="49" charset="0"/>
                <a:cs typeface="Courier New" panose="02070309020205020404" pitchFamily="49" charset="0"/>
              </a:rPr>
              <a:t>(&amp;stud, </a:t>
            </a:r>
            <a:r>
              <a:rPr lang="en-US" altLang="zh-CN" sz="1200" dirty="0" err="1">
                <a:latin typeface="Courier New" panose="02070309020205020404" pitchFamily="49" charset="0"/>
                <a:cs typeface="Courier New" panose="02070309020205020404" pitchFamily="49" charset="0"/>
              </a:rPr>
              <a:t>sizeof</a:t>
            </a:r>
            <a:r>
              <a:rPr lang="en-US" altLang="zh-CN" sz="1200" dirty="0">
                <a:latin typeface="Courier New" panose="02070309020205020404" pitchFamily="49" charset="0"/>
                <a:cs typeface="Courier New" panose="02070309020205020404" pitchFamily="49" charset="0"/>
              </a:rPr>
              <a:t>(Student), 1, </a:t>
            </a:r>
            <a:r>
              <a:rPr lang="en-US" altLang="zh-CN" sz="1200" dirty="0" err="1">
                <a:latin typeface="Courier New" panose="02070309020205020404" pitchFamily="49" charset="0"/>
                <a:cs typeface="Courier New" panose="02070309020205020404" pitchFamily="49" charset="0"/>
              </a:rPr>
              <a:t>fp</a:t>
            </a:r>
            <a:r>
              <a:rPr lang="en-US" altLang="zh-CN" sz="1200" dirty="0">
                <a:latin typeface="Courier New" panose="02070309020205020404" pitchFamily="49" charset="0"/>
                <a:cs typeface="Courier New" panose="02070309020205020404" pitchFamily="49" charset="0"/>
              </a:rPr>
              <a:t>); </a:t>
            </a:r>
            <a:r>
              <a:rPr lang="en-US" altLang="zh-CN" sz="1200" dirty="0">
                <a:solidFill>
                  <a:srgbClr val="008000"/>
                </a:solidFill>
              </a:rPr>
              <a:t>//</a:t>
            </a:r>
            <a:r>
              <a:rPr lang="zh-CN" altLang="en-US" sz="1200" dirty="0">
                <a:solidFill>
                  <a:srgbClr val="008000"/>
                </a:solidFill>
              </a:rPr>
              <a:t>读一个数据块到结构体变量</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printf</a:t>
            </a:r>
            <a:r>
              <a:rPr lang="en-US" altLang="zh-CN" sz="1200" dirty="0">
                <a:latin typeface="Courier New" panose="02070309020205020404" pitchFamily="49" charset="0"/>
                <a:cs typeface="Courier New" panose="02070309020205020404" pitchFamily="49" charset="0"/>
              </a:rPr>
              <a:t>("%10d %-10s %c %2d\n", </a:t>
            </a:r>
            <a:r>
              <a:rPr lang="en-US" altLang="zh-CN" sz="1200" dirty="0" err="1">
                <a:latin typeface="Courier New" panose="02070309020205020404" pitchFamily="49" charset="0"/>
                <a:cs typeface="Courier New" panose="02070309020205020404" pitchFamily="49" charset="0"/>
              </a:rPr>
              <a:t>stud.sno</a:t>
            </a:r>
            <a:r>
              <a:rPr lang="en-US" altLang="zh-CN" sz="1200" dirty="0">
                <a:latin typeface="Courier New" panose="02070309020205020404" pitchFamily="49" charset="0"/>
                <a:cs typeface="Courier New" panose="02070309020205020404" pitchFamily="49" charset="0"/>
              </a:rPr>
              <a:t>, stud.name, </a:t>
            </a:r>
            <a:r>
              <a:rPr lang="en-US" altLang="zh-CN" sz="1200" dirty="0" err="1">
                <a:latin typeface="Courier New" panose="02070309020205020404" pitchFamily="49" charset="0"/>
                <a:cs typeface="Courier New" panose="02070309020205020404" pitchFamily="49" charset="0"/>
              </a:rPr>
              <a:t>stud.sex</a:t>
            </a: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stud.age</a:t>
            </a:r>
            <a:r>
              <a:rPr lang="en-US" altLang="zh-CN" sz="1200" dirty="0">
                <a:latin typeface="Courier New" panose="02070309020205020404" pitchFamily="49" charset="0"/>
                <a:cs typeface="Courier New" panose="02070309020205020404" pitchFamily="49" charset="0"/>
              </a:rPr>
              <a:t>);</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a:t>
            </a:r>
            <a:r>
              <a:rPr lang="en-US" altLang="zh-CN" sz="1200" dirty="0" err="1">
                <a:latin typeface="Courier New" panose="02070309020205020404" pitchFamily="49" charset="0"/>
                <a:cs typeface="Courier New" panose="02070309020205020404" pitchFamily="49" charset="0"/>
              </a:rPr>
              <a:t>fclose</a:t>
            </a:r>
            <a:r>
              <a:rPr lang="en-US" altLang="zh-CN" sz="1200" dirty="0">
                <a:latin typeface="Courier New" panose="02070309020205020404" pitchFamily="49" charset="0"/>
                <a:cs typeface="Courier New" panose="02070309020205020404" pitchFamily="49" charset="0"/>
              </a:rPr>
              <a:t>(</a:t>
            </a:r>
            <a:r>
              <a:rPr lang="en-US" altLang="zh-CN" sz="1200" dirty="0" err="1">
                <a:latin typeface="Courier New" panose="02070309020205020404" pitchFamily="49" charset="0"/>
                <a:cs typeface="Courier New" panose="02070309020205020404" pitchFamily="49" charset="0"/>
              </a:rPr>
              <a:t>fp</a:t>
            </a:r>
            <a:r>
              <a:rPr lang="en-US" altLang="zh-CN" sz="1200" dirty="0">
                <a:latin typeface="Courier New" panose="02070309020205020404" pitchFamily="49" charset="0"/>
                <a:cs typeface="Courier New" panose="02070309020205020404" pitchFamily="49" charset="0"/>
              </a:rPr>
              <a:t>);</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  return 0;</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r>
              <a:rPr lang="en-US" altLang="zh-CN" sz="1200" dirty="0">
                <a:latin typeface="Courier New" panose="02070309020205020404" pitchFamily="49" charset="0"/>
                <a:cs typeface="Courier New" panose="02070309020205020404" pitchFamily="49" charset="0"/>
              </a:rPr>
              <a:t>}</a:t>
            </a:r>
            <a:endParaRPr lang="en-US" altLang="zh-CN" sz="12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000" dirty="0">
              <a:latin typeface="Courier New" panose="02070309020205020404" pitchFamily="49" charset="0"/>
              <a:cs typeface="Courier New" panose="02070309020205020404" pitchFamily="49" charset="0"/>
            </a:endParaRPr>
          </a:p>
          <a:p>
            <a:pPr marL="228600" indent="-228600" algn="just" fontAlgn="base">
              <a:lnSpc>
                <a:spcPct val="125000"/>
              </a:lnSpc>
              <a:spcBef>
                <a:spcPct val="0"/>
              </a:spcBef>
              <a:spcAft>
                <a:spcPct val="0"/>
              </a:spcAft>
              <a:buClr>
                <a:schemeClr val="bg1">
                  <a:lumMod val="65000"/>
                </a:schemeClr>
              </a:buClr>
              <a:buFont typeface="+mj-lt"/>
              <a:buAutoNum type="arabicPeriod"/>
              <a:defRPr/>
            </a:pPr>
            <a:endParaRPr lang="en-US" altLang="zh-CN" sz="1000" dirty="0">
              <a:latin typeface="Courier New" panose="02070309020205020404" pitchFamily="49" charset="0"/>
              <a:cs typeface="Courier New" panose="02070309020205020404" pitchFamily="49"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文件读写的出错检测</a:t>
            </a:r>
            <a:endParaRPr lang="zh-CN" altLang="en-US" dirty="0"/>
          </a:p>
        </p:txBody>
      </p:sp>
      <p:sp>
        <p:nvSpPr>
          <p:cNvPr id="4" name="MH_Desc_1"/>
          <p:cNvSpPr/>
          <p:nvPr>
            <p:custDataLst>
              <p:tags r:id="rId1"/>
            </p:custDataLst>
          </p:nvPr>
        </p:nvSpPr>
        <p:spPr>
          <a:xfrm>
            <a:off x="50103" y="1427106"/>
            <a:ext cx="8626353" cy="5170246"/>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cmpd="sng" algn="ctr">
            <a:solidFill>
              <a:srgbClr val="E84C22"/>
            </a:solidFill>
            <a:prstDash val="solid"/>
            <a:bevel/>
          </a:ln>
          <a:effectLst/>
        </p:spPr>
        <p:txBody>
          <a:bodyPr lIns="72000" tIns="72000" rIns="72000" bIns="72000" anchor="t">
            <a:noAutofit/>
          </a:bodyPr>
          <a:lstStyle/>
          <a:p>
            <a:pPr marL="0" marR="0" lvl="0" indent="0" algn="just" defTabSz="914400" eaLnBrk="1" fontAlgn="auto" latinLnBrk="0" hangingPunct="1">
              <a:lnSpc>
                <a:spcPct val="15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1. </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ferror</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a:t>
            </a: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在调用各种输入输出函数（如</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putc,getc,fread,fwrite</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等）时，如果出现错误，除了函数返回值有所反映外，还可以用</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ferror</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函数检查。</a:t>
            </a:r>
            <a:endPar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如果</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ferror</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返回值为</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0</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（假），表示未出错；</a:t>
            </a:r>
            <a:endPar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如果返回一个非零值，表示出错。</a:t>
            </a: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2. </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clearerr</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a:t>
            </a: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clearerr</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的作用是使文件出错标志和文件结束标志置为</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0</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假设在调用一个输入输出函数时出现错误，</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ferror</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函数值为一个非零值。应该立即调用</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clearerr</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fp</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，使</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ferror</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fp</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的值变成</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0</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，以便再进行下一次的检测。</a:t>
            </a: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5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只要出现文件读写出错标志，它就一直保留，直到对同一文件调用</a:t>
            </a:r>
            <a:r>
              <a:rPr kumimoji="0" lang="en-US" altLang="zh-CN" sz="18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clearerr</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函数或</a:t>
            </a:r>
            <a:r>
              <a:rPr kumimoji="0" lang="en-US" altLang="zh-CN"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rewind</a:t>
            </a:r>
            <a:r>
              <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函数，或任何其他一个输入输出函数。</a:t>
            </a:r>
            <a:endParaRPr kumimoji="0" lang="zh-CN" altLang="en-US" sz="18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5" name="矩形 4"/>
          <p:cNvSpPr/>
          <p:nvPr/>
        </p:nvSpPr>
        <p:spPr>
          <a:xfrm>
            <a:off x="1492176" y="1541961"/>
            <a:ext cx="2497198" cy="408886"/>
          </a:xfrm>
          <a:prstGeom prst="rect">
            <a:avLst/>
          </a:prstGeom>
          <a:solidFill>
            <a:srgbClr val="E84C22"/>
          </a:solidFill>
          <a:ln w="12700" cap="flat" cmpd="sng" algn="ctr">
            <a:solidFill>
              <a:srgbClr val="E84C22">
                <a:shade val="50000"/>
              </a:srgbClr>
            </a:solidFill>
            <a:prstDash val="solid"/>
            <a:miter lim="800000"/>
          </a:ln>
          <a:effectLst/>
        </p:spPr>
        <p:txBody>
          <a:bodyPr rtlCol="0" anchor="ctr"/>
          <a:lstStyle/>
          <a:p>
            <a:pPr marL="0" marR="0" lvl="0" indent="0" algn="just"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rPr>
              <a:t> ferror(fp); </a:t>
            </a:r>
            <a:endParaRPr kumimoji="0" lang="en-US" altLang="zh-CN"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6" name="组合 5"/>
          <p:cNvGrpSpPr/>
          <p:nvPr/>
        </p:nvGrpSpPr>
        <p:grpSpPr>
          <a:xfrm>
            <a:off x="4788024" y="2409604"/>
            <a:ext cx="3816424" cy="1883492"/>
            <a:chOff x="8582294" y="4088154"/>
            <a:chExt cx="6819168" cy="1636882"/>
          </a:xfrm>
        </p:grpSpPr>
        <p:sp>
          <p:nvSpPr>
            <p:cNvPr id="7" name="MH_Other_1"/>
            <p:cNvSpPr/>
            <p:nvPr>
              <p:custDataLst>
                <p:tags r:id="rId2"/>
              </p:custDataLst>
            </p:nvPr>
          </p:nvSpPr>
          <p:spPr>
            <a:xfrm>
              <a:off x="8582294" y="4088154"/>
              <a:ext cx="774700" cy="522287"/>
            </a:xfrm>
            <a:custGeom>
              <a:avLst/>
              <a:gdLst>
                <a:gd name="connsiteX0" fmla="*/ 0 w 2429934"/>
                <a:gd name="connsiteY0" fmla="*/ 360367 h 372534"/>
                <a:gd name="connsiteX1" fmla="*/ 2429934 w 2429934"/>
                <a:gd name="connsiteY1" fmla="*/ 360367 h 372534"/>
                <a:gd name="connsiteX2" fmla="*/ 2429934 w 2429934"/>
                <a:gd name="connsiteY2" fmla="*/ 372534 h 372534"/>
                <a:gd name="connsiteX3" fmla="*/ 0 w 2429934"/>
                <a:gd name="connsiteY3" fmla="*/ 372534 h 372534"/>
                <a:gd name="connsiteX4" fmla="*/ 0 w 2429934"/>
                <a:gd name="connsiteY4" fmla="*/ 30167 h 372534"/>
                <a:gd name="connsiteX5" fmla="*/ 2429934 w 2429934"/>
                <a:gd name="connsiteY5" fmla="*/ 30167 h 372534"/>
                <a:gd name="connsiteX6" fmla="*/ 2429934 w 2429934"/>
                <a:gd name="connsiteY6" fmla="*/ 342367 h 372534"/>
                <a:gd name="connsiteX7" fmla="*/ 0 w 2429934"/>
                <a:gd name="connsiteY7" fmla="*/ 342367 h 372534"/>
                <a:gd name="connsiteX8" fmla="*/ 0 w 2429934"/>
                <a:gd name="connsiteY8" fmla="*/ 0 h 372534"/>
                <a:gd name="connsiteX9" fmla="*/ 2429934 w 2429934"/>
                <a:gd name="connsiteY9" fmla="*/ 0 h 372534"/>
                <a:gd name="connsiteX10" fmla="*/ 2429934 w 2429934"/>
                <a:gd name="connsiteY10" fmla="*/ 12167 h 372534"/>
                <a:gd name="connsiteX11" fmla="*/ 0 w 2429934"/>
                <a:gd name="connsiteY11" fmla="*/ 12167 h 372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9934" h="372534">
                  <a:moveTo>
                    <a:pt x="0" y="360367"/>
                  </a:moveTo>
                  <a:lnTo>
                    <a:pt x="2429934" y="360367"/>
                  </a:lnTo>
                  <a:lnTo>
                    <a:pt x="2429934" y="372534"/>
                  </a:lnTo>
                  <a:lnTo>
                    <a:pt x="0" y="372534"/>
                  </a:lnTo>
                  <a:close/>
                  <a:moveTo>
                    <a:pt x="0" y="30167"/>
                  </a:moveTo>
                  <a:lnTo>
                    <a:pt x="2429934" y="30167"/>
                  </a:lnTo>
                  <a:lnTo>
                    <a:pt x="2429934" y="342367"/>
                  </a:lnTo>
                  <a:lnTo>
                    <a:pt x="0" y="342367"/>
                  </a:lnTo>
                  <a:close/>
                  <a:moveTo>
                    <a:pt x="0" y="0"/>
                  </a:moveTo>
                  <a:lnTo>
                    <a:pt x="2429934" y="0"/>
                  </a:lnTo>
                  <a:lnTo>
                    <a:pt x="2429934" y="12167"/>
                  </a:lnTo>
                  <a:lnTo>
                    <a:pt x="0" y="12167"/>
                  </a:lnTo>
                  <a:close/>
                </a:path>
              </a:pathLst>
            </a:custGeom>
            <a:solidFill>
              <a:srgbClr val="FF0000"/>
            </a:solidFill>
            <a:ln w="12700" cap="flat" cmpd="sng" algn="ctr">
              <a:noFill/>
              <a:prstDash val="solid"/>
              <a:miter lim="800000"/>
            </a:ln>
            <a:effectLst/>
          </p:spPr>
          <p:txBody>
            <a:bodyPr lIns="36000" rIns="3600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300" b="0" i="0" u="none" strike="noStrike" kern="0" cap="none" spc="0" normalizeH="0" baseline="0" noProof="0" dirty="0">
                  <a:ln>
                    <a:noFill/>
                  </a:ln>
                  <a:solidFill>
                    <a:srgbClr val="FEFFFF"/>
                  </a:solidFill>
                  <a:effectLst/>
                  <a:uLnTx/>
                  <a:uFillTx/>
                  <a:latin typeface="等线" panose="02010600030101010101" charset="-122"/>
                  <a:ea typeface="等线" panose="02010600030101010101" charset="-122"/>
                  <a:cs typeface="+mn-cs"/>
                </a:rPr>
                <a:t>注意</a:t>
              </a:r>
              <a:endParaRPr kumimoji="0" lang="zh-CN" altLang="en-US" sz="1300" b="0" i="0" u="none" strike="noStrike" kern="0" cap="none" spc="0" normalizeH="0" baseline="0" noProof="0" dirty="0">
                <a:ln>
                  <a:noFill/>
                </a:ln>
                <a:solidFill>
                  <a:srgbClr val="FEFFFF"/>
                </a:solidFill>
                <a:effectLst/>
                <a:uLnTx/>
                <a:uFillTx/>
                <a:latin typeface="等线" panose="02010600030101010101" charset="-122"/>
                <a:ea typeface="等线" panose="02010600030101010101" charset="-122"/>
                <a:cs typeface="+mn-cs"/>
              </a:endParaRPr>
            </a:p>
          </p:txBody>
        </p:sp>
        <p:sp>
          <p:nvSpPr>
            <p:cNvPr id="8" name="MH_SubTitle_1"/>
            <p:cNvSpPr/>
            <p:nvPr>
              <p:custDataLst>
                <p:tags r:id="rId3"/>
              </p:custDataLst>
            </p:nvPr>
          </p:nvSpPr>
          <p:spPr>
            <a:xfrm>
              <a:off x="9371543" y="4088154"/>
              <a:ext cx="6029918" cy="1636882"/>
            </a:xfrm>
            <a:prstGeom prst="rect">
              <a:avLst/>
            </a:prstGeom>
            <a:solidFill>
              <a:srgbClr val="FEFFFF"/>
            </a:solidFill>
            <a:ln w="9525" cap="flat" cmpd="sng" algn="ctr">
              <a:solidFill>
                <a:srgbClr val="B2B2B2"/>
              </a:solidFill>
              <a:prstDash val="solid"/>
              <a:miter lim="800000"/>
            </a:ln>
            <a:effectLst>
              <a:outerShdw blurRad="50800" dist="38100" dir="10800000" algn="r" rotWithShape="0">
                <a:prstClr val="black">
                  <a:alpha val="40000"/>
                </a:prstClr>
              </a:outerShdw>
            </a:effectLst>
          </p:spPr>
          <p:txBody>
            <a:bodyPr lIns="72000" tIns="72000" rIns="72000" bIns="72000" anchor="t">
              <a:noAutofit/>
            </a:bodyPr>
            <a:lstStyle/>
            <a:p>
              <a:pPr marL="0" marR="0" lvl="0" indent="0" algn="just" defTabSz="914400" eaLnBrk="1" fontAlgn="auto" latinLnBrk="0" hangingPunct="1">
                <a:lnSpc>
                  <a:spcPct val="120000"/>
                </a:lnSpc>
                <a:spcBef>
                  <a:spcPts val="600"/>
                </a:spcBef>
                <a:spcAft>
                  <a:spcPts val="1200"/>
                </a:spcAft>
                <a:buClrTx/>
                <a:buSzTx/>
                <a:buFontTx/>
                <a:buNone/>
                <a:defRPr/>
              </a:pPr>
              <a:r>
                <a:rPr kumimoji="0" lang="zh-CN" altLang="en-US" sz="13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对同一个文件每一次调用输入输出函数，都会产生一个新的</a:t>
              </a:r>
              <a:r>
                <a:rPr kumimoji="0" lang="en-US" altLang="zh-CN" sz="13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ferror</a:t>
              </a:r>
              <a:r>
                <a:rPr kumimoji="0" lang="zh-CN" altLang="en-US" sz="13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函数值，因此，应当在调用一个输入输出函数后立即检查</a:t>
              </a:r>
              <a:r>
                <a:rPr kumimoji="0" lang="en-US" altLang="zh-CN" sz="13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ferror</a:t>
              </a:r>
              <a:r>
                <a:rPr kumimoji="0" lang="zh-CN" altLang="en-US" sz="13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函数的值，否则信息会丢失。</a:t>
              </a:r>
              <a:endParaRPr kumimoji="0" lang="en-US" altLang="zh-CN" sz="13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p>
              <a:pPr marL="0" marR="0" lvl="0" indent="0" algn="just" defTabSz="914400" eaLnBrk="1" fontAlgn="auto" latinLnBrk="0" hangingPunct="1">
                <a:lnSpc>
                  <a:spcPct val="120000"/>
                </a:lnSpc>
                <a:spcBef>
                  <a:spcPts val="600"/>
                </a:spcBef>
                <a:spcAft>
                  <a:spcPts val="1200"/>
                </a:spcAft>
                <a:buClrTx/>
                <a:buSzTx/>
                <a:buFontTx/>
                <a:buNone/>
                <a:defRPr/>
              </a:pPr>
              <a:r>
                <a:rPr kumimoji="0" lang="zh-CN" altLang="en-US" sz="13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在执行</a:t>
              </a:r>
              <a:r>
                <a:rPr kumimoji="0" lang="en-US" altLang="zh-CN" sz="13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fopen</a:t>
              </a:r>
              <a:r>
                <a:rPr kumimoji="0" lang="zh-CN" altLang="en-US" sz="13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函数时，</a:t>
              </a:r>
              <a:r>
                <a:rPr kumimoji="0" lang="en-US" altLang="zh-CN" sz="1300" b="0" i="0" u="none" strike="noStrike" kern="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ferror</a:t>
              </a:r>
              <a:r>
                <a:rPr kumimoji="0" lang="zh-CN" altLang="en-US" sz="13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函数的初始值自动置为</a:t>
              </a:r>
              <a:r>
                <a:rPr kumimoji="0" lang="en-US" altLang="zh-CN" sz="13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0</a:t>
              </a:r>
              <a:r>
                <a:rPr kumimoji="0" lang="zh-CN" altLang="en-US" sz="13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zh-CN" altLang="en-US" sz="1300" b="0" i="0" u="none" strike="noStrike" kern="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9" name="MH_Other_2"/>
            <p:cNvSpPr/>
            <p:nvPr>
              <p:custDataLst>
                <p:tags r:id="rId4"/>
              </p:custDataLst>
            </p:nvPr>
          </p:nvSpPr>
          <p:spPr>
            <a:xfrm rot="16200000">
              <a:off x="15099837" y="5423410"/>
              <a:ext cx="301625" cy="301625"/>
            </a:xfrm>
            <a:prstGeom prst="rtTriangle">
              <a:avLst/>
            </a:prstGeom>
            <a:solidFill>
              <a:srgbClr val="B2B2B2"/>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工程</a:t>
            </a:r>
            <a:endParaRPr lang="en-US" dirty="0"/>
          </a:p>
        </p:txBody>
      </p:sp>
      <p:sp>
        <p:nvSpPr>
          <p:cNvPr id="3" name="内容占位符 2"/>
          <p:cNvSpPr>
            <a:spLocks noGrp="1"/>
          </p:cNvSpPr>
          <p:nvPr>
            <p:ph idx="1"/>
          </p:nvPr>
        </p:nvSpPr>
        <p:spPr/>
        <p:txBody>
          <a:bodyPr/>
          <a:lstStyle/>
          <a:p>
            <a:r>
              <a:rPr lang="en-US" altLang="zh-CN" dirty="0"/>
              <a:t>C/C++</a:t>
            </a:r>
            <a:r>
              <a:rPr lang="zh-CN" altLang="en-US" dirty="0"/>
              <a:t>语言多文件程序设计</a:t>
            </a:r>
            <a:endParaRPr lang="en-US" altLang="zh-CN" dirty="0"/>
          </a:p>
          <a:p>
            <a:pPr lvl="1"/>
            <a:r>
              <a:rPr lang="zh-CN" altLang="en-US" dirty="0"/>
              <a:t>头文件</a:t>
            </a:r>
            <a:r>
              <a:rPr lang="en-US" altLang="zh-CN" dirty="0"/>
              <a:t>(.h)</a:t>
            </a:r>
            <a:endParaRPr lang="en-US" altLang="zh-CN" dirty="0"/>
          </a:p>
          <a:p>
            <a:pPr lvl="2"/>
            <a:r>
              <a:rPr lang="zh-CN" altLang="en-US" dirty="0"/>
              <a:t>头文件是源文件（</a:t>
            </a:r>
            <a:r>
              <a:rPr lang="en-US" altLang="zh-CN" dirty="0"/>
              <a:t>.c</a:t>
            </a:r>
            <a:r>
              <a:rPr lang="zh-CN" altLang="en-US" dirty="0"/>
              <a:t>）的接口定义文件</a:t>
            </a:r>
            <a:endParaRPr lang="en-US" altLang="zh-CN" dirty="0"/>
          </a:p>
          <a:p>
            <a:pPr lvl="2"/>
            <a:r>
              <a:rPr lang="zh-CN" altLang="en-US" dirty="0"/>
              <a:t>接口指的是可被其他文件访问的</a:t>
            </a:r>
            <a:r>
              <a:rPr lang="zh-CN" altLang="en-US" dirty="0">
                <a:solidFill>
                  <a:srgbClr val="FF0000"/>
                </a:solidFill>
              </a:rPr>
              <a:t>函数</a:t>
            </a:r>
            <a:r>
              <a:rPr lang="zh-CN" altLang="en-US" dirty="0"/>
              <a:t>或者</a:t>
            </a:r>
            <a:r>
              <a:rPr lang="zh-CN" altLang="en-US" dirty="0">
                <a:solidFill>
                  <a:srgbClr val="FF0000"/>
                </a:solidFill>
              </a:rPr>
              <a:t>数据</a:t>
            </a:r>
            <a:endParaRPr lang="en-US" altLang="zh-CN" dirty="0">
              <a:solidFill>
                <a:srgbClr val="FF0000"/>
              </a:solidFill>
            </a:endParaRPr>
          </a:p>
          <a:p>
            <a:pPr lvl="3"/>
            <a:r>
              <a:rPr lang="zh-CN" altLang="en-US" dirty="0"/>
              <a:t>例如</a:t>
            </a:r>
            <a:r>
              <a:rPr lang="en-US" altLang="zh-CN" dirty="0" err="1"/>
              <a:t>a.c</a:t>
            </a:r>
            <a:r>
              <a:rPr lang="zh-CN" altLang="en-US" dirty="0"/>
              <a:t>中想使用</a:t>
            </a:r>
            <a:r>
              <a:rPr lang="en-US" altLang="zh-CN" dirty="0" err="1"/>
              <a:t>b.c</a:t>
            </a:r>
            <a:r>
              <a:rPr lang="zh-CN" altLang="en-US" dirty="0"/>
              <a:t>中定义的函数或变量，就可以通过</a:t>
            </a:r>
            <a:r>
              <a:rPr lang="en-US" altLang="zh-CN" dirty="0" err="1"/>
              <a:t>b.h</a:t>
            </a:r>
            <a:r>
              <a:rPr lang="zh-CN" altLang="en-US" dirty="0"/>
              <a:t>来使用，</a:t>
            </a:r>
            <a:r>
              <a:rPr lang="en-US" altLang="zh-CN" dirty="0" err="1"/>
              <a:t>b.h</a:t>
            </a:r>
            <a:r>
              <a:rPr lang="zh-CN" altLang="en-US" dirty="0"/>
              <a:t>中则需要声明了</a:t>
            </a:r>
            <a:r>
              <a:rPr lang="en-US" altLang="zh-CN" dirty="0" err="1"/>
              <a:t>b.c</a:t>
            </a:r>
            <a:r>
              <a:rPr lang="zh-CN" altLang="en-US" dirty="0"/>
              <a:t>中的函数和变量。</a:t>
            </a:r>
            <a:endParaRPr lang="en-US" dirty="0"/>
          </a:p>
          <a:p>
            <a:pPr lvl="2"/>
            <a:r>
              <a:rPr lang="zh-CN" altLang="en-US" sz="1600" dirty="0"/>
              <a:t>不要有函数实现</a:t>
            </a:r>
            <a:endParaRPr lang="en-US" altLang="zh-CN" sz="1600" dirty="0"/>
          </a:p>
          <a:p>
            <a:pPr lvl="2"/>
            <a:r>
              <a:rPr lang="zh-CN" altLang="en-US" sz="1600" dirty="0"/>
              <a:t>尽量不要定义变量：被多个文件包含的时候会出现多次定义同一个变量，链接错误</a:t>
            </a:r>
            <a:endParaRPr lang="en-US" altLang="zh-CN" sz="1600" dirty="0"/>
          </a:p>
          <a:p>
            <a:pPr lvl="1"/>
            <a:r>
              <a:rPr lang="zh-CN" altLang="en-US" sz="2000" dirty="0"/>
              <a:t>模块文件（</a:t>
            </a:r>
            <a:r>
              <a:rPr lang="en-US" altLang="zh-CN" sz="2000" dirty="0"/>
              <a:t>.c/.</a:t>
            </a:r>
            <a:r>
              <a:rPr lang="en-US" altLang="zh-CN" sz="2000" dirty="0" err="1"/>
              <a:t>cpp</a:t>
            </a:r>
            <a:r>
              <a:rPr lang="zh-CN" altLang="en-US" sz="2000" dirty="0"/>
              <a:t>）</a:t>
            </a:r>
            <a:endParaRPr lang="en-US" altLang="zh-CN" sz="2000" dirty="0"/>
          </a:p>
          <a:p>
            <a:pPr lvl="2"/>
            <a:r>
              <a:rPr lang="zh-CN" altLang="en-US" sz="1600" dirty="0"/>
              <a:t>放置一些函数定义，也称为功能模块。</a:t>
            </a:r>
            <a:endParaRPr lang="zh-CN" altLang="en-US" sz="1600" dirty="0"/>
          </a:p>
          <a:p>
            <a:pPr lvl="1"/>
            <a:r>
              <a:rPr lang="zh-CN" altLang="en-US" sz="2000" dirty="0"/>
              <a:t>主程序文件（</a:t>
            </a:r>
            <a:r>
              <a:rPr lang="en-US" altLang="zh-CN" sz="2000" dirty="0"/>
              <a:t>.c/.</a:t>
            </a:r>
            <a:r>
              <a:rPr lang="en-US" altLang="zh-CN" sz="2000" dirty="0" err="1"/>
              <a:t>cpp</a:t>
            </a:r>
            <a:r>
              <a:rPr lang="zh-CN" altLang="en-US" sz="2000" dirty="0"/>
              <a:t>）</a:t>
            </a:r>
            <a:endParaRPr lang="en-US" altLang="zh-CN" sz="2000" dirty="0"/>
          </a:p>
          <a:p>
            <a:pPr lvl="2"/>
            <a:r>
              <a:rPr lang="zh-CN" altLang="en-US" dirty="0"/>
              <a:t>包含</a:t>
            </a:r>
            <a:r>
              <a:rPr lang="en-US" altLang="zh-CN" dirty="0"/>
              <a:t>main()</a:t>
            </a:r>
            <a:r>
              <a:rPr lang="zh-CN" altLang="en-US" dirty="0"/>
              <a:t>的文件：程序入口，调用模块文件实现的函数。</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多文件程序设计</a:t>
            </a:r>
            <a:endParaRPr lang="en-US" dirty="0"/>
          </a:p>
        </p:txBody>
      </p:sp>
      <p:sp>
        <p:nvSpPr>
          <p:cNvPr id="3" name="内容占位符 2"/>
          <p:cNvSpPr>
            <a:spLocks noGrp="1"/>
          </p:cNvSpPr>
          <p:nvPr>
            <p:ph idx="1"/>
          </p:nvPr>
        </p:nvSpPr>
        <p:spPr>
          <a:xfrm>
            <a:off x="432000" y="1260000"/>
            <a:ext cx="8280000" cy="5040000"/>
          </a:xfrm>
        </p:spPr>
        <p:txBody>
          <a:bodyPr/>
          <a:lstStyle/>
          <a:p>
            <a:r>
              <a:rPr lang="zh-CN" altLang="en-US"/>
              <a:t>以某作业</a:t>
            </a:r>
            <a:r>
              <a:rPr lang="zh-CN" altLang="en-US" dirty="0"/>
              <a:t>要求为例：</a:t>
            </a:r>
            <a:endParaRPr lang="en-US" altLang="zh-CN" dirty="0"/>
          </a:p>
          <a:p>
            <a:pPr marL="397510" lvl="1" indent="0">
              <a:buNone/>
            </a:pPr>
            <a:endParaRPr lang="en-US" dirty="0"/>
          </a:p>
        </p:txBody>
      </p:sp>
      <p:sp>
        <p:nvSpPr>
          <p:cNvPr id="4" name="矩形 3"/>
          <p:cNvSpPr/>
          <p:nvPr/>
        </p:nvSpPr>
        <p:spPr>
          <a:xfrm>
            <a:off x="754602" y="1961962"/>
            <a:ext cx="1580226" cy="6836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quicksort.cpp</a:t>
            </a:r>
            <a:endParaRPr lang="en-US" dirty="0"/>
          </a:p>
        </p:txBody>
      </p:sp>
      <p:sp>
        <p:nvSpPr>
          <p:cNvPr id="5" name="矩形 4"/>
          <p:cNvSpPr/>
          <p:nvPr/>
        </p:nvSpPr>
        <p:spPr>
          <a:xfrm>
            <a:off x="754602" y="3331878"/>
            <a:ext cx="1580226" cy="6836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project.cpp</a:t>
            </a:r>
            <a:endParaRPr lang="en-US" dirty="0"/>
          </a:p>
        </p:txBody>
      </p:sp>
      <p:sp>
        <p:nvSpPr>
          <p:cNvPr id="6" name="矩形: 圆角 5"/>
          <p:cNvSpPr/>
          <p:nvPr/>
        </p:nvSpPr>
        <p:spPr>
          <a:xfrm>
            <a:off x="3879541" y="1961962"/>
            <a:ext cx="1420427" cy="683692"/>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quicksort.o</a:t>
            </a:r>
            <a:endParaRPr lang="en-US" dirty="0"/>
          </a:p>
        </p:txBody>
      </p:sp>
      <p:sp>
        <p:nvSpPr>
          <p:cNvPr id="7" name="矩形: 圆角 6"/>
          <p:cNvSpPr/>
          <p:nvPr/>
        </p:nvSpPr>
        <p:spPr>
          <a:xfrm>
            <a:off x="3879541" y="3340755"/>
            <a:ext cx="1420427" cy="683692"/>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project.o</a:t>
            </a:r>
            <a:endParaRPr lang="en-US" dirty="0"/>
          </a:p>
        </p:txBody>
      </p:sp>
      <p:sp>
        <p:nvSpPr>
          <p:cNvPr id="8" name="箭头: 右 7"/>
          <p:cNvSpPr/>
          <p:nvPr/>
        </p:nvSpPr>
        <p:spPr>
          <a:xfrm>
            <a:off x="6007246" y="2816632"/>
            <a:ext cx="1123024" cy="252958"/>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p:cNvSpPr/>
          <p:nvPr/>
        </p:nvSpPr>
        <p:spPr>
          <a:xfrm>
            <a:off x="6195897" y="2485856"/>
            <a:ext cx="674703" cy="3195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链接</a:t>
            </a:r>
            <a:endParaRPr lang="en-US" dirty="0">
              <a:solidFill>
                <a:schemeClr val="tx1"/>
              </a:solidFill>
            </a:endParaRPr>
          </a:p>
        </p:txBody>
      </p:sp>
      <p:sp>
        <p:nvSpPr>
          <p:cNvPr id="10" name="箭头: 右 9"/>
          <p:cNvSpPr/>
          <p:nvPr/>
        </p:nvSpPr>
        <p:spPr>
          <a:xfrm>
            <a:off x="2545672" y="3696150"/>
            <a:ext cx="1123024" cy="252958"/>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p:cNvSpPr/>
          <p:nvPr/>
        </p:nvSpPr>
        <p:spPr>
          <a:xfrm>
            <a:off x="2734323" y="3365374"/>
            <a:ext cx="674703" cy="3195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编译</a:t>
            </a:r>
            <a:endParaRPr lang="en-US" dirty="0">
              <a:solidFill>
                <a:schemeClr val="tx1"/>
              </a:solidFill>
            </a:endParaRPr>
          </a:p>
        </p:txBody>
      </p:sp>
      <p:sp>
        <p:nvSpPr>
          <p:cNvPr id="13" name="右大括号 12"/>
          <p:cNvSpPr/>
          <p:nvPr/>
        </p:nvSpPr>
        <p:spPr>
          <a:xfrm>
            <a:off x="5459768" y="2177329"/>
            <a:ext cx="355108" cy="167557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椭圆 13"/>
          <p:cNvSpPr/>
          <p:nvPr/>
        </p:nvSpPr>
        <p:spPr>
          <a:xfrm>
            <a:off x="7130270" y="2645654"/>
            <a:ext cx="1605358" cy="6836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project.exe</a:t>
            </a:r>
            <a:endParaRPr lang="en-US" sz="1600" dirty="0"/>
          </a:p>
        </p:txBody>
      </p:sp>
      <p:sp>
        <p:nvSpPr>
          <p:cNvPr id="15" name="箭头: 右 14"/>
          <p:cNvSpPr/>
          <p:nvPr/>
        </p:nvSpPr>
        <p:spPr>
          <a:xfrm>
            <a:off x="2495344" y="2235938"/>
            <a:ext cx="1123024" cy="252958"/>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矩形 15"/>
          <p:cNvSpPr/>
          <p:nvPr/>
        </p:nvSpPr>
        <p:spPr>
          <a:xfrm>
            <a:off x="2683995" y="1905162"/>
            <a:ext cx="674703" cy="3195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编译</a:t>
            </a:r>
            <a:endParaRPr lang="en-US" dirty="0">
              <a:solidFill>
                <a:schemeClr val="tx1"/>
              </a:solidFill>
            </a:endParaRPr>
          </a:p>
        </p:txBody>
      </p:sp>
      <p:sp>
        <p:nvSpPr>
          <p:cNvPr id="17" name="矩形 16"/>
          <p:cNvSpPr/>
          <p:nvPr/>
        </p:nvSpPr>
        <p:spPr>
          <a:xfrm>
            <a:off x="528222" y="4691681"/>
            <a:ext cx="4771746" cy="923330"/>
          </a:xfrm>
          <a:prstGeom prst="rect">
            <a:avLst/>
          </a:prstGeom>
        </p:spPr>
        <p:txBody>
          <a:bodyPr wrap="square">
            <a:spAutoFit/>
          </a:bodyPr>
          <a:lstStyle/>
          <a:p>
            <a:r>
              <a:rPr lang="pt-BR" dirty="0"/>
              <a:t>gcc -c quicksort.cpp -o quicksort.o</a:t>
            </a:r>
            <a:endParaRPr lang="pt-BR" dirty="0"/>
          </a:p>
          <a:p>
            <a:r>
              <a:rPr lang="pt-BR" dirty="0"/>
              <a:t>gcc -c project.cpp -o project.o </a:t>
            </a:r>
            <a:endParaRPr lang="pt-BR" dirty="0"/>
          </a:p>
          <a:p>
            <a:r>
              <a:rPr lang="pt-BR" dirty="0"/>
              <a:t>gcc -o project.exe project.o quicksort.o</a:t>
            </a:r>
            <a:endParaRPr lang="pt-BR" dirty="0"/>
          </a:p>
        </p:txBody>
      </p:sp>
      <p:pic>
        <p:nvPicPr>
          <p:cNvPr id="18" name="图片 17"/>
          <p:cNvPicPr>
            <a:picLocks noChangeAspect="1"/>
          </p:cNvPicPr>
          <p:nvPr/>
        </p:nvPicPr>
        <p:blipFill>
          <a:blip r:embed="rId1"/>
          <a:stretch>
            <a:fillRect/>
          </a:stretch>
        </p:blipFill>
        <p:spPr>
          <a:xfrm>
            <a:off x="5181622" y="4261103"/>
            <a:ext cx="3252415" cy="2414015"/>
          </a:xfrm>
          <a:prstGeom prst="rect">
            <a:avLst/>
          </a:prstGeom>
        </p:spPr>
      </p:pic>
    </p:spTree>
  </p:cSld>
  <p:clrMapOvr>
    <a:masterClrMapping/>
  </p:clrMapOvr>
</p:sld>
</file>

<file path=ppt/tags/tag1.xml><?xml version="1.0" encoding="utf-8"?>
<p:tagLst xmlns:p="http://schemas.openxmlformats.org/presentationml/2006/main">
  <p:tag name="MH" val="20170804144137"/>
  <p:tag name="MH_LIBRARY" val="GRAPHIC"/>
  <p:tag name="MH_TYPE" val="Desc"/>
  <p:tag name="MH_ORDER" val="1"/>
</p:tagLst>
</file>

<file path=ppt/tags/tag2.xml><?xml version="1.0" encoding="utf-8"?>
<p:tagLst xmlns:p="http://schemas.openxmlformats.org/presentationml/2006/main">
  <p:tag name="MH" val="20170804144137"/>
  <p:tag name="MH_LIBRARY" val="GRAPHIC"/>
  <p:tag name="MH_TYPE" val="Desc"/>
  <p:tag name="MH_ORDER" val="1"/>
</p:tagLst>
</file>

<file path=ppt/tags/tag3.xml><?xml version="1.0" encoding="utf-8"?>
<p:tagLst xmlns:p="http://schemas.openxmlformats.org/presentationml/2006/main">
  <p:tag name="MH" val="20170804144137"/>
  <p:tag name="MH_LIBRARY" val="GRAPHIC"/>
  <p:tag name="MH_TYPE" val="Desc"/>
  <p:tag name="MH_ORDER" val="1"/>
</p:tagLst>
</file>

<file path=ppt/tags/tag4.xml><?xml version="1.0" encoding="utf-8"?>
<p:tagLst xmlns:p="http://schemas.openxmlformats.org/presentationml/2006/main">
  <p:tag name="MH" val="20170804144137"/>
  <p:tag name="MH_LIBRARY" val="GRAPHIC"/>
  <p:tag name="MH_TYPE" val="Desc"/>
  <p:tag name="MH_ORDER" val="1"/>
</p:tagLst>
</file>

<file path=ppt/tags/tag5.xml><?xml version="1.0" encoding="utf-8"?>
<p:tagLst xmlns:p="http://schemas.openxmlformats.org/presentationml/2006/main">
  <p:tag name="MH" val="20170806120343"/>
  <p:tag name="MH_LIBRARY" val="GRAPHIC"/>
  <p:tag name="MH_TYPE" val="Other"/>
  <p:tag name="MH_ORDER" val="1"/>
</p:tagLst>
</file>

<file path=ppt/tags/tag6.xml><?xml version="1.0" encoding="utf-8"?>
<p:tagLst xmlns:p="http://schemas.openxmlformats.org/presentationml/2006/main">
  <p:tag name="MH" val="20170806120343"/>
  <p:tag name="MH_LIBRARY" val="GRAPHIC"/>
  <p:tag name="MH_TYPE" val="SubTitle"/>
  <p:tag name="MH_ORDER" val="1"/>
</p:tagLst>
</file>

<file path=ppt/tags/tag7.xml><?xml version="1.0" encoding="utf-8"?>
<p:tagLst xmlns:p="http://schemas.openxmlformats.org/presentationml/2006/main">
  <p:tag name="MH" val="20170806120343"/>
  <p:tag name="MH_LIBRARY" val="GRAPHIC"/>
  <p:tag name="MH_TYPE" val="Other"/>
  <p:tag name="MH_ORDER" val="2"/>
</p:tagLst>
</file>

<file path=ppt/tags/tag8.xml><?xml version="1.0" encoding="utf-8"?>
<p:tagLst xmlns:p="http://schemas.openxmlformats.org/presentationml/2006/main">
  <p:tag name="OPFI" val=""/>
</p:tagLst>
</file>

<file path=ppt/theme/theme1.xml><?xml version="1.0" encoding="utf-8"?>
<a:theme xmlns:a="http://schemas.openxmlformats.org/drawingml/2006/main" name="课程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雅黑-Calibri">
      <a:majorFont>
        <a:latin typeface="Calibri"/>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13439</Words>
  <Application>WPS 演示</Application>
  <PresentationFormat>On-screen Show (4:3)</PresentationFormat>
  <Paragraphs>988</Paragraphs>
  <Slides>48</Slides>
  <Notes>29</Notes>
  <HiddenSlides>8</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48</vt:i4>
      </vt:variant>
    </vt:vector>
  </HeadingPairs>
  <TitlesOfParts>
    <vt:vector size="67" baseType="lpstr">
      <vt:lpstr>Arial</vt:lpstr>
      <vt:lpstr>宋体</vt:lpstr>
      <vt:lpstr>Wingdings</vt:lpstr>
      <vt:lpstr>Calibri</vt:lpstr>
      <vt:lpstr>Lato</vt:lpstr>
      <vt:lpstr>华文新魏</vt:lpstr>
      <vt:lpstr>Courier New</vt:lpstr>
      <vt:lpstr>Times New Roman</vt:lpstr>
      <vt:lpstr>等线</vt:lpstr>
      <vt:lpstr>Calibri Light</vt:lpstr>
      <vt:lpstr>微软雅黑</vt:lpstr>
      <vt:lpstr>Arial Unicode MS</vt:lpstr>
      <vt:lpstr>微软雅黑 Light</vt:lpstr>
      <vt:lpstr>Garamond</vt:lpstr>
      <vt:lpstr>Helvetica Neue</vt:lpstr>
      <vt:lpstr>Consolas</vt:lpstr>
      <vt:lpstr>Wingdings</vt:lpstr>
      <vt:lpstr>Monotype Sorts</vt:lpstr>
      <vt:lpstr>课程PPT模板</vt:lpstr>
      <vt:lpstr>第23讲 文件</vt:lpstr>
      <vt:lpstr>内容要点</vt:lpstr>
      <vt:lpstr>文件</vt:lpstr>
      <vt:lpstr>如何完成下面任务？</vt:lpstr>
      <vt:lpstr>文件的概念</vt:lpstr>
      <vt:lpstr>文件的读写：缓冲文件系统</vt:lpstr>
      <vt:lpstr>文件的打开与关闭</vt:lpstr>
      <vt:lpstr>文件名 char * filename</vt:lpstr>
      <vt:lpstr>文件使用方式 const char * mode</vt:lpstr>
      <vt:lpstr>文件的分类</vt:lpstr>
      <vt:lpstr>文件的分类</vt:lpstr>
      <vt:lpstr>fopen( )举例</vt:lpstr>
      <vt:lpstr>fopen与fclose的返回值</vt:lpstr>
      <vt:lpstr>文件操作</vt:lpstr>
      <vt:lpstr>文件指针 FILE * </vt:lpstr>
      <vt:lpstr>文件的读写：数据流</vt:lpstr>
      <vt:lpstr>文件的读写：数据流</vt:lpstr>
      <vt:lpstr>字符的读写</vt:lpstr>
      <vt:lpstr>文件指针 FILE * </vt:lpstr>
      <vt:lpstr>文件读写操作函数一览表</vt:lpstr>
      <vt:lpstr>文本文件读写库函数</vt:lpstr>
      <vt:lpstr>二进制文件读写库函数</vt:lpstr>
      <vt:lpstr>文件其他操作函数一览表</vt:lpstr>
      <vt:lpstr>如何完成下面任务？</vt:lpstr>
      <vt:lpstr>1. 将学生信息输出到文件</vt:lpstr>
      <vt:lpstr>示例代码：写入文本文件</vt:lpstr>
      <vt:lpstr>示例代码：写入二进制文件</vt:lpstr>
      <vt:lpstr>2. 将学生信息从文件输入</vt:lpstr>
      <vt:lpstr>示例代码：文本文件输入</vt:lpstr>
      <vt:lpstr>PowerPoint 演示文稿</vt:lpstr>
      <vt:lpstr>示例代码：二进制文件输入</vt:lpstr>
      <vt:lpstr>顺序读写数据文件</vt:lpstr>
      <vt:lpstr>文件</vt:lpstr>
      <vt:lpstr>顺序读数据文件</vt:lpstr>
      <vt:lpstr>练习：</vt:lpstr>
      <vt:lpstr>例：文本文件的复制</vt:lpstr>
      <vt:lpstr>main函数的形参</vt:lpstr>
      <vt:lpstr>main函数的形参</vt:lpstr>
      <vt:lpstr>带参数的方式调用C程序</vt:lpstr>
      <vt:lpstr>文件部分选学内容</vt:lpstr>
      <vt:lpstr>文件的读写</vt:lpstr>
      <vt:lpstr>随机读写数据文件</vt:lpstr>
      <vt:lpstr>文件位置标记</vt:lpstr>
      <vt:lpstr>文件位置标记的定位</vt:lpstr>
      <vt:lpstr>随机读写数据文件</vt:lpstr>
      <vt:lpstr>文件读写的出错检测</vt:lpstr>
      <vt:lpstr>工程</vt:lpstr>
      <vt:lpstr>多文件程序设计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 I</dc:title>
  <dc:creator>sun hui</dc:creator>
  <cp:lastModifiedBy>Yi.</cp:lastModifiedBy>
  <cp:revision>742</cp:revision>
  <dcterms:created xsi:type="dcterms:W3CDTF">2020-10-14T02:47:00Z</dcterms:created>
  <dcterms:modified xsi:type="dcterms:W3CDTF">2025-12-09T08:07:54Z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433E68A96D4443D9BDC84970BAAB10D5_13</vt:lpwstr>
  </property>
  <property fmtid="{D5CDD505-2E9C-101B-9397-08002B2CF9AE}" pid="3" name="KSOProductBuildVer">
    <vt:lpwstr>2052-12.1.0.24034</vt:lpwstr>
  </property>
</Properties>
</file>