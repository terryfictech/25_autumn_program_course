
<file path=[Content_Types].xml><?xml version="1.0" encoding="utf-8"?>
<Types xmlns="http://schemas.openxmlformats.org/package/2006/content-types">
  <Default Extension="emf" ContentType="image/x-emf"/>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5"/>
  </p:handoutMasterIdLst>
  <p:sldIdLst>
    <p:sldId id="1092" r:id="rId3"/>
    <p:sldId id="550" r:id="rId5"/>
    <p:sldId id="1135" r:id="rId6"/>
    <p:sldId id="1140" r:id="rId7"/>
    <p:sldId id="1137" r:id="rId8"/>
    <p:sldId id="1138" r:id="rId9"/>
    <p:sldId id="1139" r:id="rId10"/>
    <p:sldId id="1141" r:id="rId11"/>
    <p:sldId id="1192" r:id="rId12"/>
    <p:sldId id="1193" r:id="rId13"/>
    <p:sldId id="1134" r:id="rId14"/>
    <p:sldId id="1142" r:id="rId15"/>
    <p:sldId id="1155" r:id="rId16"/>
    <p:sldId id="1143" r:id="rId17"/>
    <p:sldId id="1144" r:id="rId18"/>
    <p:sldId id="1145" r:id="rId19"/>
    <p:sldId id="1154" r:id="rId20"/>
    <p:sldId id="1147" r:id="rId21"/>
    <p:sldId id="1148" r:id="rId22"/>
    <p:sldId id="1146" r:id="rId23"/>
    <p:sldId id="1149" r:id="rId24"/>
    <p:sldId id="594" r:id="rId25"/>
    <p:sldId id="1166" r:id="rId26"/>
    <p:sldId id="1167" r:id="rId27"/>
    <p:sldId id="1168" r:id="rId28"/>
    <p:sldId id="1169" r:id="rId29"/>
    <p:sldId id="607" r:id="rId30"/>
    <p:sldId id="608" r:id="rId31"/>
    <p:sldId id="1170" r:id="rId32"/>
    <p:sldId id="1172" r:id="rId33"/>
    <p:sldId id="1182" r:id="rId34"/>
    <p:sldId id="1183" r:id="rId35"/>
    <p:sldId id="1184" r:id="rId36"/>
    <p:sldId id="1185" r:id="rId37"/>
    <p:sldId id="1186" r:id="rId38"/>
    <p:sldId id="1187" r:id="rId39"/>
    <p:sldId id="1188" r:id="rId40"/>
    <p:sldId id="1189" r:id="rId41"/>
    <p:sldId id="612" r:id="rId42"/>
    <p:sldId id="613" r:id="rId43"/>
    <p:sldId id="614" r:id="rId44"/>
    <p:sldId id="1171" r:id="rId45"/>
    <p:sldId id="1176" r:id="rId46"/>
    <p:sldId id="1173" r:id="rId47"/>
    <p:sldId id="1165" r:id="rId48"/>
    <p:sldId id="1175" r:id="rId49"/>
    <p:sldId id="1174" r:id="rId50"/>
    <p:sldId id="1177" r:id="rId51"/>
    <p:sldId id="1181" r:id="rId52"/>
    <p:sldId id="1179" r:id="rId53"/>
    <p:sldId id="603" r:id="rId54"/>
    <p:sldId id="1156" r:id="rId55"/>
    <p:sldId id="1157" r:id="rId56"/>
    <p:sldId id="1180" r:id="rId57"/>
    <p:sldId id="1159" r:id="rId58"/>
    <p:sldId id="1161" r:id="rId59"/>
    <p:sldId id="1160" r:id="rId60"/>
    <p:sldId id="1164" r:id="rId61"/>
    <p:sldId id="630" r:id="rId62"/>
    <p:sldId id="458" r:id="rId63"/>
    <p:sldId id="1150" r:id="rId64"/>
    <p:sldId id="461" r:id="rId65"/>
    <p:sldId id="1151" r:id="rId66"/>
    <p:sldId id="463" r:id="rId67"/>
    <p:sldId id="465" r:id="rId68"/>
    <p:sldId id="466" r:id="rId69"/>
    <p:sldId id="1190" r:id="rId70"/>
    <p:sldId id="1191" r:id="rId71"/>
    <p:sldId id="1152" r:id="rId72"/>
    <p:sldId id="1153" r:id="rId73"/>
    <p:sldId id="926" r:id="rId74"/>
  </p:sldIdLst>
  <p:sldSz cx="9144000" cy="6858000" type="screen4x3"/>
  <p:notesSz cx="6858000" cy="9144000"/>
  <p:custDataLst>
    <p:tags r:id="rId7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6700E"/>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88" autoAdjust="0"/>
    <p:restoredTop sz="81552" autoAdjust="0"/>
  </p:normalViewPr>
  <p:slideViewPr>
    <p:cSldViewPr snapToGrid="0">
      <p:cViewPr varScale="1">
        <p:scale>
          <a:sx n="70" d="100"/>
          <a:sy n="70" d="100"/>
        </p:scale>
        <p:origin x="1783" y="34"/>
      </p:cViewPr>
      <p:guideLst>
        <p:guide orient="horz" pos="2160"/>
        <p:guide pos="2880"/>
      </p:guideLst>
    </p:cSldViewPr>
  </p:slideViewPr>
  <p:notesTextViewPr>
    <p:cViewPr>
      <p:scale>
        <a:sx n="1" d="1"/>
        <a:sy n="1" d="1"/>
      </p:scale>
      <p:origin x="0" y="0"/>
    </p:cViewPr>
  </p:notesTextViewPr>
  <p:notesViewPr>
    <p:cSldViewPr snapToGrid="0">
      <p:cViewPr varScale="1">
        <p:scale>
          <a:sx n="82" d="100"/>
          <a:sy n="82" d="100"/>
        </p:scale>
        <p:origin x="3954"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gs" Target="tags/tag1.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563B7C-F87A-4992-9D16-F63F1FA43DB6}" type="datetimeFigureOut">
              <a:rPr lang="en-US" smtClean="0"/>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05AF18-CFCB-48CD-B900-85FE73933DD2}"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6F8E1-D84A-44BD-AFC6-9B54380022BF}" type="datetimeFigureOut">
              <a:rPr lang="en-US" smtClean="0"/>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B8F7-AA39-458F-B195-A32598CB259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老师好！我还是对字符串的二维数组的初始化有些迷惑，您的代码范例是</a:t>
            </a:r>
            <a:r>
              <a:rPr lang="en-US" altLang="zh-CN" dirty="0"/>
              <a:t>a[1100][25]</a:t>
            </a:r>
            <a:r>
              <a:rPr lang="zh-CN" altLang="en-US" dirty="0"/>
              <a:t>＝｛｝，复制到</a:t>
            </a:r>
            <a:r>
              <a:rPr lang="en-US" altLang="zh-CN" dirty="0" err="1"/>
              <a:t>vscode</a:t>
            </a:r>
            <a:r>
              <a:rPr lang="zh-CN" altLang="en-US" dirty="0"/>
              <a:t>里会有红色下划线，改成｛</a:t>
            </a:r>
            <a:r>
              <a:rPr lang="en-US" altLang="zh-CN" dirty="0"/>
              <a:t>0</a:t>
            </a:r>
            <a:r>
              <a:rPr lang="zh-CN" altLang="en-US" dirty="0"/>
              <a:t>｝就没有了</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dirty="0">
                <a:effectLst/>
                <a:latin typeface="宋体" panose="02010600030101010101" pitchFamily="2" charset="-122"/>
                <a:ea typeface="宋体" panose="02010600030101010101" pitchFamily="2" charset="-122"/>
              </a:rPr>
              <a:t>还有个类似的题：</a:t>
            </a:r>
            <a:r>
              <a:rPr lang="en-US" altLang="zh-CN" sz="1200" b="0" i="0" dirty="0">
                <a:effectLst/>
                <a:latin typeface="宋体" panose="02010600030101010101" pitchFamily="2" charset="-122"/>
                <a:ea typeface="宋体" panose="02010600030101010101" pitchFamily="2" charset="-122"/>
              </a:rPr>
              <a:t>yoj855 </a:t>
            </a:r>
            <a:r>
              <a:rPr lang="zh-CN" altLang="en-US" sz="1200" b="0" i="0" dirty="0">
                <a:effectLst/>
                <a:latin typeface="宋体" panose="02010600030101010101" pitchFamily="2" charset="-122"/>
                <a:ea typeface="宋体" panose="02010600030101010101" pitchFamily="2" charset="-122"/>
              </a:rPr>
              <a:t>外星成绩单</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dirty="0">
                <a:effectLst/>
                <a:latin typeface="Open Sans" panose="020B0606030504020204" pitchFamily="34" charset="0"/>
              </a:rPr>
              <a:t>C = (F - 32)*5/9</a:t>
            </a:r>
            <a:r>
              <a:rPr lang="en-US" altLang="zh-CN" sz="1200" b="0" i="0" dirty="0">
                <a:solidFill>
                  <a:srgbClr val="FF0000"/>
                </a:solidFill>
                <a:effectLst/>
                <a:latin typeface="Open Sans" panose="020B0606030504020204" pitchFamily="34" charset="0"/>
              </a:rPr>
              <a:t>.0</a:t>
            </a:r>
            <a:endParaRPr lang="en-US" altLang="zh-CN" sz="1200" b="0" i="0" dirty="0">
              <a:solidFill>
                <a:srgbClr val="FF0000"/>
              </a:solidFill>
              <a:effectLst/>
              <a:latin typeface="Open Sans" panose="020B0606030504020204" pitchFamily="34" charset="0"/>
            </a:endParaRPr>
          </a:p>
          <a:p>
            <a:r>
              <a:rPr lang="en-US" altLang="zh-CN" sz="1200" b="0" i="0" dirty="0" err="1">
                <a:effectLst/>
                <a:latin typeface="Open Sans" panose="020B0606030504020204" pitchFamily="34" charset="0"/>
              </a:rPr>
              <a:t>printf</a:t>
            </a:r>
            <a:r>
              <a:rPr lang="en-US" altLang="zh-CN" sz="1200" b="0" i="0" dirty="0">
                <a:effectLst/>
                <a:latin typeface="Open Sans" panose="020B0606030504020204" pitchFamily="34" charset="0"/>
              </a:rPr>
              <a:t>(“%.2f”, C);</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有效数字保持</a:t>
            </a:r>
            <a:endParaRPr lang="en-US" altLang="zh-CN"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只有单引号里面的是字符</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%o, %x </a:t>
            </a:r>
            <a:r>
              <a:rPr lang="zh-CN" altLang="en-US" b="0" dirty="0"/>
              <a:t>打印在字符串来转进制</a:t>
            </a:r>
            <a:endParaRPr lang="en-US" altLang="zh-CN" b="0" dirty="0"/>
          </a:p>
          <a:p>
            <a:r>
              <a:rPr lang="zh-CN" altLang="en-US" b="0" dirty="0"/>
              <a:t>不一定是</a:t>
            </a:r>
            <a:r>
              <a:rPr lang="en-US" altLang="zh-CN" b="0" dirty="0"/>
              <a:t>8</a:t>
            </a:r>
            <a:r>
              <a:rPr lang="zh-CN" altLang="en-US" b="0" dirty="0"/>
              <a:t>进制和</a:t>
            </a:r>
            <a:r>
              <a:rPr lang="en-US" altLang="zh-CN" b="0" dirty="0"/>
              <a:t>16</a:t>
            </a:r>
            <a:r>
              <a:rPr lang="zh-CN" altLang="en-US" b="0" dirty="0"/>
              <a:t>进制，肯定有奇奇怪怪的进制</a:t>
            </a:r>
            <a:endParaRPr lang="en-US" altLang="zh-CN" b="0"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优先级不会就加括号</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t>思考：需要用数组存嘛？</a:t>
            </a:r>
            <a:endParaRPr lang="zh-CN" altLang="en-US" sz="1200" b="1"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整数</a:t>
            </a:r>
            <a:r>
              <a:rPr lang="en-US" altLang="zh-CN" dirty="0"/>
              <a:t>-&gt;</a:t>
            </a:r>
            <a:r>
              <a:rPr lang="zh-CN" altLang="en-US" dirty="0"/>
              <a:t>（进制）</a:t>
            </a:r>
            <a:r>
              <a:rPr lang="en-US" altLang="zh-CN" dirty="0"/>
              <a:t>-&gt;</a:t>
            </a:r>
            <a:r>
              <a:rPr lang="zh-CN" altLang="en-US" dirty="0"/>
              <a:t>整数数组</a:t>
            </a:r>
            <a:r>
              <a:rPr lang="en-US" altLang="zh-CN" dirty="0"/>
              <a:t>-&gt;</a:t>
            </a:r>
            <a:r>
              <a:rPr lang="zh-CN" altLang="en-US" dirty="0"/>
              <a:t>反转</a:t>
            </a:r>
            <a:r>
              <a:rPr lang="en-US" altLang="zh-CN" dirty="0"/>
              <a:t>-&gt;</a:t>
            </a:r>
            <a:r>
              <a:rPr lang="zh-CN" altLang="en-US" dirty="0"/>
              <a:t>输出（进制转换）</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effectLst/>
                <a:latin typeface="Open Sans" panose="020B0606030504020204" pitchFamily="34" charset="0"/>
              </a:rPr>
              <a:t>多种方式：</a:t>
            </a:r>
            <a:endParaRPr lang="en-US" altLang="zh-CN" b="0" i="0" dirty="0">
              <a:effectLst/>
              <a:latin typeface="Open Sans" panose="020B0606030504020204" pitchFamily="34" charset="0"/>
            </a:endParaRPr>
          </a:p>
          <a:p>
            <a:pPr marL="228600" indent="-228600" algn="l">
              <a:buAutoNum type="arabicPeriod"/>
            </a:pPr>
            <a:r>
              <a:rPr lang="zh-CN" altLang="en-US" b="0" i="0" dirty="0">
                <a:effectLst/>
                <a:latin typeface="Open Sans" panose="020B0606030504020204" pitchFamily="34" charset="0"/>
              </a:rPr>
              <a:t>修改</a:t>
            </a:r>
            <a:r>
              <a:rPr lang="en-US" altLang="zh-CN" b="0" i="0" dirty="0">
                <a:effectLst/>
                <a:latin typeface="Open Sans" panose="020B0606030504020204" pitchFamily="34" charset="0"/>
              </a:rPr>
              <a:t>compare</a:t>
            </a:r>
            <a:endParaRPr lang="en-US" altLang="zh-CN" b="0" i="0" dirty="0">
              <a:effectLst/>
              <a:latin typeface="Open Sans" panose="020B0606030504020204" pitchFamily="34" charset="0"/>
            </a:endParaRPr>
          </a:p>
          <a:p>
            <a:pPr marL="685800" lvl="1" indent="-228600" algn="l">
              <a:buAutoNum type="arabicPeriod"/>
            </a:pPr>
            <a:r>
              <a:rPr lang="zh-CN" altLang="en-US" b="0" i="0" dirty="0">
                <a:effectLst/>
                <a:latin typeface="Open Sans" panose="020B0606030504020204" pitchFamily="34" charset="0"/>
              </a:rPr>
              <a:t>逐个比较</a:t>
            </a:r>
            <a:endParaRPr lang="en-US" altLang="zh-CN" b="0" i="0" dirty="0">
              <a:effectLst/>
              <a:latin typeface="Open Sans" panose="020B0606030504020204" pitchFamily="34" charset="0"/>
            </a:endParaRPr>
          </a:p>
          <a:p>
            <a:pPr marL="685800" lvl="1" indent="-228600" algn="l">
              <a:buAutoNum type="arabicPeriod"/>
            </a:pPr>
            <a:r>
              <a:rPr lang="zh-CN" altLang="en-US" b="0" i="0" dirty="0">
                <a:effectLst/>
                <a:latin typeface="Open Sans" panose="020B0606030504020204" pitchFamily="34" charset="0"/>
              </a:rPr>
              <a:t>直到不同 </a:t>
            </a:r>
            <a:r>
              <a:rPr lang="en-US" altLang="zh-CN" b="0" i="0" dirty="0">
                <a:effectLst/>
                <a:latin typeface="Open Sans" panose="020B0606030504020204" pitchFamily="34" charset="0"/>
              </a:rPr>
              <a:t>– </a:t>
            </a:r>
            <a:r>
              <a:rPr lang="zh-CN" altLang="en-US" b="0" i="0" dirty="0">
                <a:effectLst/>
                <a:latin typeface="Open Sans" panose="020B0606030504020204" pitchFamily="34" charset="0"/>
              </a:rPr>
              <a:t>不同的怎么确定优先级？</a:t>
            </a:r>
            <a:endParaRPr lang="en-US" altLang="zh-CN" b="0" i="0" dirty="0">
              <a:effectLst/>
              <a:latin typeface="Open Sans" panose="020B0606030504020204" pitchFamily="34" charset="0"/>
            </a:endParaRPr>
          </a:p>
          <a:p>
            <a:pPr marL="228600" indent="-228600" algn="l">
              <a:buAutoNum type="arabicPeriod"/>
            </a:pPr>
            <a:r>
              <a:rPr lang="zh-CN" altLang="en-US" b="0" i="0" dirty="0">
                <a:effectLst/>
                <a:latin typeface="Open Sans" panose="020B0606030504020204" pitchFamily="34" charset="0"/>
              </a:rPr>
              <a:t>修改数据的表示形式</a:t>
            </a:r>
            <a:endParaRPr lang="en-US" altLang="zh-CN" b="0" i="0" dirty="0">
              <a:effectLst/>
              <a:latin typeface="Open Sans" panose="020B0606030504020204" pitchFamily="34" charset="0"/>
            </a:endParaRPr>
          </a:p>
          <a:p>
            <a:pPr marL="685800" lvl="1" indent="-228600" algn="l">
              <a:buAutoNum type="arabicPeriod"/>
            </a:pPr>
            <a:r>
              <a:rPr lang="zh-CN" altLang="en-US" b="0" i="0" dirty="0">
                <a:effectLst/>
                <a:latin typeface="Open Sans" panose="020B0606030504020204" pitchFamily="34" charset="0"/>
              </a:rPr>
              <a:t>字符数组</a:t>
            </a:r>
            <a:endParaRPr lang="en-US" altLang="zh-CN" b="0" i="0" dirty="0">
              <a:effectLst/>
              <a:latin typeface="Open Sans" panose="020B0606030504020204" pitchFamily="34" charset="0"/>
            </a:endParaRPr>
          </a:p>
          <a:p>
            <a:pPr marL="685800" lvl="1" indent="-228600" algn="l">
              <a:buAutoNum type="arabicPeriod"/>
            </a:pPr>
            <a:r>
              <a:rPr lang="zh-CN" altLang="en-US" b="0" i="0" dirty="0">
                <a:effectLst/>
                <a:latin typeface="Open Sans" panose="020B0606030504020204" pitchFamily="34" charset="0"/>
              </a:rPr>
              <a:t>整数</a:t>
            </a:r>
            <a:endParaRPr lang="en-US" altLang="zh-CN" b="0" i="0" dirty="0">
              <a:effectLst/>
              <a:latin typeface="Open Sans" panose="020B0606030504020204" pitchFamily="34" charset="0"/>
            </a:endParaRPr>
          </a:p>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输入格式</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第</a:t>
            </a:r>
            <a:r>
              <a:rPr lang="en-US" altLang="zh-CN" b="0" i="0" dirty="0">
                <a:effectLst/>
                <a:latin typeface="Open Sans" panose="020B0606030504020204" pitchFamily="34" charset="0"/>
              </a:rPr>
              <a:t>1</a:t>
            </a:r>
            <a:r>
              <a:rPr lang="zh-CN" altLang="en-US" b="0" i="0" dirty="0">
                <a:effectLst/>
                <a:latin typeface="Open Sans" panose="020B0606030504020204" pitchFamily="34" charset="0"/>
              </a:rPr>
              <a:t>行为一个正整数</a:t>
            </a:r>
            <a:r>
              <a:rPr lang="en-US" altLang="zh-CN" b="0" i="0" dirty="0">
                <a:effectLst/>
                <a:latin typeface="Open Sans" panose="020B0606030504020204" pitchFamily="34" charset="0"/>
              </a:rPr>
              <a:t>N</a:t>
            </a:r>
            <a:r>
              <a:rPr lang="zh-CN" altLang="en-US" b="0" i="0" dirty="0">
                <a:effectLst/>
                <a:latin typeface="Open Sans" panose="020B0606030504020204" pitchFamily="34" charset="0"/>
              </a:rPr>
              <a:t>，表示需要排序的碱基串的个数。</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第</a:t>
            </a:r>
            <a:r>
              <a:rPr lang="en-US" altLang="zh-CN" b="0" i="0" dirty="0">
                <a:effectLst/>
                <a:latin typeface="Open Sans" panose="020B0606030504020204" pitchFamily="34" charset="0"/>
              </a:rPr>
              <a:t>2</a:t>
            </a:r>
            <a:r>
              <a:rPr lang="zh-CN" altLang="en-US" b="0" i="0" dirty="0">
                <a:effectLst/>
                <a:latin typeface="Open Sans" panose="020B0606030504020204" pitchFamily="34" charset="0"/>
              </a:rPr>
              <a:t>行为用户指定的排序规则，共包含</a:t>
            </a:r>
            <a:r>
              <a:rPr lang="en-US" altLang="zh-CN" b="0" i="0" dirty="0">
                <a:effectLst/>
                <a:latin typeface="Open Sans" panose="020B0606030504020204" pitchFamily="34" charset="0"/>
              </a:rPr>
              <a:t>4</a:t>
            </a:r>
            <a:r>
              <a:rPr lang="zh-CN" altLang="en-US" b="0" i="0" dirty="0">
                <a:effectLst/>
                <a:latin typeface="Open Sans" panose="020B0606030504020204" pitchFamily="34" charset="0"/>
              </a:rPr>
              <a:t>个字符，为</a:t>
            </a:r>
            <a:r>
              <a:rPr lang="en-US" altLang="zh-CN" b="0" i="0" dirty="0">
                <a:effectLst/>
                <a:latin typeface="Open Sans" panose="020B0606030504020204" pitchFamily="34" charset="0"/>
              </a:rPr>
              <a:t>A</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C</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G</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T</a:t>
            </a:r>
            <a:r>
              <a:rPr lang="zh-CN" altLang="en-US" b="0" i="0" dirty="0">
                <a:effectLst/>
                <a:latin typeface="Open Sans" panose="020B0606030504020204" pitchFamily="34" charset="0"/>
              </a:rPr>
              <a:t>四个碱基的一个全排列，表示单个碱基的优先次序，出现的越靠前则越优先。根据单个碱基的优先次序，按照如下规则比较两个碱基串</a:t>
            </a:r>
            <a:r>
              <a:rPr lang="en-US" altLang="zh-CN" b="0" i="0" dirty="0">
                <a:effectLst/>
                <a:latin typeface="Open Sans" panose="020B0606030504020204" pitchFamily="34" charset="0"/>
              </a:rPr>
              <a:t>a</a:t>
            </a:r>
            <a:r>
              <a:rPr lang="zh-CN" altLang="en-US" b="0" i="0" dirty="0">
                <a:effectLst/>
                <a:latin typeface="Open Sans" panose="020B0606030504020204" pitchFamily="34" charset="0"/>
              </a:rPr>
              <a:t>与</a:t>
            </a:r>
            <a:r>
              <a:rPr lang="en-US" altLang="zh-CN" b="0" i="0" dirty="0">
                <a:effectLst/>
                <a:latin typeface="Open Sans" panose="020B0606030504020204" pitchFamily="34" charset="0"/>
              </a:rPr>
              <a:t>b</a:t>
            </a:r>
            <a:r>
              <a:rPr lang="zh-CN" altLang="en-US" b="0" i="0" dirty="0">
                <a:effectLst/>
                <a:latin typeface="Open Sans" panose="020B0606030504020204" pitchFamily="34" charset="0"/>
              </a:rPr>
              <a:t>：从</a:t>
            </a:r>
            <a:r>
              <a:rPr lang="en-US" altLang="zh-CN" b="0" i="0" dirty="0">
                <a:effectLst/>
                <a:latin typeface="Open Sans" panose="020B0606030504020204" pitchFamily="34" charset="0"/>
              </a:rPr>
              <a:t>a</a:t>
            </a:r>
            <a:r>
              <a:rPr lang="zh-CN" altLang="en-US" b="0" i="0" dirty="0">
                <a:effectLst/>
                <a:latin typeface="Open Sans" panose="020B0606030504020204" pitchFamily="34" charset="0"/>
              </a:rPr>
              <a:t>和</a:t>
            </a:r>
            <a:r>
              <a:rPr lang="en-US" altLang="zh-CN" b="0" i="0" dirty="0">
                <a:effectLst/>
                <a:latin typeface="Open Sans" panose="020B0606030504020204" pitchFamily="34" charset="0"/>
              </a:rPr>
              <a:t>b</a:t>
            </a:r>
            <a:r>
              <a:rPr lang="zh-CN" altLang="en-US" b="0" i="0" dirty="0">
                <a:effectLst/>
                <a:latin typeface="Open Sans" panose="020B0606030504020204" pitchFamily="34" charset="0"/>
              </a:rPr>
              <a:t>的第一个碱基开始比较，如果前者比后者优先，则</a:t>
            </a:r>
            <a:r>
              <a:rPr lang="en-US" altLang="zh-CN" b="0" i="0" dirty="0">
                <a:effectLst/>
                <a:latin typeface="Open Sans" panose="020B0606030504020204" pitchFamily="34" charset="0"/>
              </a:rPr>
              <a:t>a</a:t>
            </a:r>
            <a:r>
              <a:rPr lang="zh-CN" altLang="en-US" b="0" i="0" dirty="0">
                <a:effectLst/>
                <a:latin typeface="Open Sans" panose="020B0606030504020204" pitchFamily="34" charset="0"/>
              </a:rPr>
              <a:t>比</a:t>
            </a:r>
            <a:r>
              <a:rPr lang="en-US" altLang="zh-CN" b="0" i="0" dirty="0">
                <a:effectLst/>
                <a:latin typeface="Open Sans" panose="020B0606030504020204" pitchFamily="34" charset="0"/>
              </a:rPr>
              <a:t>b</a:t>
            </a:r>
            <a:r>
              <a:rPr lang="zh-CN" altLang="en-US" b="0" i="0" dirty="0">
                <a:effectLst/>
                <a:latin typeface="Open Sans" panose="020B0606030504020204" pitchFamily="34" charset="0"/>
              </a:rPr>
              <a:t>优先；如果后者比前者优先，则</a:t>
            </a:r>
            <a:r>
              <a:rPr lang="en-US" altLang="zh-CN" b="0" i="0" dirty="0">
                <a:effectLst/>
                <a:latin typeface="Open Sans" panose="020B0606030504020204" pitchFamily="34" charset="0"/>
              </a:rPr>
              <a:t>b</a:t>
            </a:r>
            <a:r>
              <a:rPr lang="zh-CN" altLang="en-US" b="0" i="0" dirty="0">
                <a:effectLst/>
                <a:latin typeface="Open Sans" panose="020B0606030504020204" pitchFamily="34" charset="0"/>
              </a:rPr>
              <a:t>比</a:t>
            </a:r>
            <a:r>
              <a:rPr lang="en-US" altLang="zh-CN" b="0" i="0" dirty="0">
                <a:effectLst/>
                <a:latin typeface="Open Sans" panose="020B0606030504020204" pitchFamily="34" charset="0"/>
              </a:rPr>
              <a:t>a</a:t>
            </a:r>
            <a:r>
              <a:rPr lang="zh-CN" altLang="en-US" b="0" i="0" dirty="0">
                <a:effectLst/>
                <a:latin typeface="Open Sans" panose="020B0606030504020204" pitchFamily="34" charset="0"/>
              </a:rPr>
              <a:t>优先；如果二者相等，则比较后一个碱基进行判断，以此类推。</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接下来</a:t>
            </a:r>
            <a:r>
              <a:rPr lang="en-US" altLang="zh-CN" b="0" i="0" dirty="0">
                <a:effectLst/>
                <a:latin typeface="Open Sans" panose="020B0606030504020204" pitchFamily="34" charset="0"/>
              </a:rPr>
              <a:t>N</a:t>
            </a:r>
            <a:r>
              <a:rPr lang="zh-CN" altLang="en-US" b="0" i="0" dirty="0">
                <a:effectLst/>
                <a:latin typeface="Open Sans" panose="020B0606030504020204" pitchFamily="34" charset="0"/>
              </a:rPr>
              <a:t>行，每行一个碱基串。注意每个碱基串长度相同。</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输出格式</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共输出</a:t>
            </a:r>
            <a:r>
              <a:rPr lang="en-US" altLang="zh-CN" b="0" i="0" dirty="0">
                <a:effectLst/>
                <a:latin typeface="Open Sans" panose="020B0606030504020204" pitchFamily="34" charset="0"/>
              </a:rPr>
              <a:t>N</a:t>
            </a:r>
            <a:r>
              <a:rPr lang="zh-CN" altLang="en-US" b="0" i="0" dirty="0">
                <a:effectLst/>
                <a:latin typeface="Open Sans" panose="020B0606030504020204" pitchFamily="34" charset="0"/>
              </a:rPr>
              <a:t>行，每行一个碱基串，按照用户指定的优先规则排好顺序。</a:t>
            </a:r>
            <a:endParaRPr lang="zh-CN" altLang="en-US" b="0" i="0" dirty="0">
              <a:effectLst/>
              <a:latin typeface="Open Sans" panose="020B0606030504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参考代码：</a:t>
            </a:r>
            <a:br>
              <a:rPr lang="en-US" altLang="zh-CN" dirty="0"/>
            </a:br>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stdio.h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math.h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struct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times</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10000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cal</a:t>
            </a:r>
            <a:r>
              <a:rPr lang="en-US" altLang="zh-CN" b="0" dirty="0">
                <a:solidFill>
                  <a:srgbClr val="CCCCCC"/>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main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scanf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lld</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&amp;</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flag</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cal</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cal</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flag</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times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flag</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flag</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j</a:t>
            </a:r>
            <a:r>
              <a:rPr lang="en-US" altLang="zh-CN" b="0" dirty="0" err="1">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if</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times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&gt;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times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times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times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&amp;&amp;</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times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times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&amp;&amp;</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&amp;&amp;</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9999</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9999</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&gt;=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printf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lld</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lld</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lld</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times</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arr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num_cal</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cal</a:t>
            </a:r>
            <a:r>
              <a:rPr lang="en-US" altLang="zh-CN" b="0" dirty="0">
                <a:solidFill>
                  <a:srgbClr val="CCCCCC"/>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a1</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100000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temp</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digi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temp</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&gt;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j</a:t>
            </a:r>
            <a:r>
              <a:rPr lang="en-US" altLang="zh-CN" b="0" dirty="0" err="1">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a1</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temp</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temp</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&gt;=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digi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a1</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pow</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10</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if</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digi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return</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return</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a</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digi</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endParaRPr lang="zh-CN" altLang="en-US" dirty="0"/>
          </a:p>
        </p:txBody>
      </p:sp>
      <p:sp>
        <p:nvSpPr>
          <p:cNvPr id="4" name="Slide Number Placeholder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x/y</a:t>
            </a:r>
            <a:endParaRPr lang="en-US" altLang="zh-CN" dirty="0"/>
          </a:p>
          <a:p>
            <a:r>
              <a:rPr lang="en-US" altLang="zh-CN" dirty="0"/>
              <a:t>X % z == 0</a:t>
            </a:r>
            <a:endParaRPr lang="en-US" altLang="zh-CN" dirty="0"/>
          </a:p>
          <a:p>
            <a:r>
              <a:rPr lang="en-US" altLang="zh-CN" dirty="0"/>
              <a:t>Y % z == 0</a:t>
            </a:r>
            <a:endParaRPr lang="zh-CN" altLang="en-US" dirty="0"/>
          </a:p>
        </p:txBody>
      </p:sp>
      <p:sp>
        <p:nvSpPr>
          <p:cNvPr id="4" name="Slide Number Placeholder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r>
              <a:rPr lang="en-US" altLang="zh-CN" sz="1200" b="0" dirty="0">
                <a:solidFill>
                  <a:srgbClr val="569CD6"/>
                </a:solidFill>
                <a:effectLst/>
                <a:latin typeface="Consolas" panose="020B0609020204030204" pitchFamily="49" charset="0"/>
              </a:rPr>
              <a:t>char</a:t>
            </a:r>
            <a:r>
              <a:rPr lang="en-US" altLang="zh-CN" sz="1200" b="0" dirty="0">
                <a:solidFill>
                  <a:srgbClr val="CCCCCC"/>
                </a:solidFill>
                <a:effectLst/>
                <a:latin typeface="Consolas" panose="020B0609020204030204" pitchFamily="49" charset="0"/>
              </a:rPr>
              <a:t> </a:t>
            </a:r>
            <a:r>
              <a:rPr lang="en-US" altLang="zh-CN" sz="1200" b="0" dirty="0" err="1">
                <a:solidFill>
                  <a:srgbClr val="9CDCFE"/>
                </a:solidFill>
                <a:effectLst/>
                <a:latin typeface="Consolas" panose="020B0609020204030204" pitchFamily="49" charset="0"/>
              </a:rPr>
              <a:t>coursenames</a:t>
            </a:r>
            <a:r>
              <a:rPr lang="en-US" altLang="zh-CN" sz="1200" b="0" dirty="0">
                <a:solidFill>
                  <a:srgbClr val="CCCCCC"/>
                </a:solidFill>
                <a:effectLst/>
                <a:latin typeface="Consolas" panose="020B0609020204030204" pitchFamily="49" charset="0"/>
              </a:rPr>
              <a:t>[4][</a:t>
            </a:r>
            <a:r>
              <a:rPr lang="en-US" altLang="zh-CN" sz="1200" b="0" dirty="0">
                <a:solidFill>
                  <a:srgbClr val="B5CEA8"/>
                </a:solidFill>
                <a:effectLst/>
                <a:latin typeface="Consolas" panose="020B0609020204030204" pitchFamily="49" charset="0"/>
              </a:rPr>
              <a:t>10</a:t>
            </a:r>
            <a:r>
              <a:rPr lang="en-US" altLang="zh-CN" sz="1200" b="0" dirty="0">
                <a:solidFill>
                  <a:srgbClr val="CCCCCC"/>
                </a:solidFill>
                <a:effectLst/>
                <a:latin typeface="Consolas" panose="020B0609020204030204" pitchFamily="49" charset="0"/>
              </a:rPr>
              <a:t>];</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X</a:t>
            </a:r>
            <a:r>
              <a:rPr lang="zh-CN" altLang="en-US" dirty="0"/>
              <a:t>为字符，或者</a:t>
            </a:r>
            <a:r>
              <a:rPr lang="en-US" altLang="zh-CN" dirty="0"/>
              <a:t>X</a:t>
            </a:r>
            <a:r>
              <a:rPr lang="zh-CN" altLang="en-US" dirty="0"/>
              <a:t>为整数（遍历？）。输出的时候：</a:t>
            </a:r>
            <a:r>
              <a:rPr lang="en-US" altLang="zh-CN" dirty="0"/>
              <a:t>’A’+X</a:t>
            </a:r>
            <a:endParaRPr lang="en-US" altLang="zh-CN" dirty="0"/>
          </a:p>
          <a:p>
            <a:r>
              <a:rPr lang="en-US" altLang="zh-CN" dirty="0"/>
              <a:t>char names a[]=“ABCDEFGH”</a:t>
            </a:r>
            <a:endParaRPr lang="en-US" altLang="zh-CN" dirty="0"/>
          </a:p>
          <a:p>
            <a:r>
              <a:rPr lang="zh-CN" altLang="en-US" dirty="0"/>
              <a:t>用两种方法写一下，感受一下差别</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结构体数组</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年份，月份，天</a:t>
            </a:r>
            <a:endParaRPr lang="en-US" altLang="zh-CN" dirty="0"/>
          </a:p>
          <a:p>
            <a:r>
              <a:rPr lang="zh-CN" altLang="en-US" dirty="0"/>
              <a:t>自然优先比较年，然后优先比较月</a:t>
            </a:r>
            <a:endParaRPr lang="en-US" altLang="zh-CN" dirty="0"/>
          </a:p>
          <a:p>
            <a:r>
              <a:rPr lang="en-US" dirty="0"/>
              <a:t>031001 -&gt; </a:t>
            </a:r>
            <a:r>
              <a:rPr lang="zh-CN" altLang="en-US" dirty="0"/>
              <a:t>就按这个比就可以</a:t>
            </a:r>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和结构体中的一个分量作比较</a:t>
            </a:r>
            <a:endParaRPr lang="en-US" altLang="zh-CN" dirty="0"/>
          </a:p>
          <a:p>
            <a:endParaRPr lang="en-US" altLang="zh-CN" dirty="0"/>
          </a:p>
          <a:p>
            <a:r>
              <a:rPr lang="zh-CN" altLang="en-US" dirty="0"/>
              <a:t>看过</a:t>
            </a:r>
            <a:r>
              <a:rPr lang="en-US" altLang="zh-CN" dirty="0" err="1"/>
              <a:t>scanf</a:t>
            </a:r>
            <a:r>
              <a:rPr lang="en-US" altLang="zh-CN" dirty="0"/>
              <a:t>/</a:t>
            </a:r>
            <a:r>
              <a:rPr lang="en-US" altLang="zh-CN" dirty="0" err="1"/>
              <a:t>printf</a:t>
            </a:r>
            <a:r>
              <a:rPr lang="zh-CN" altLang="en-US" dirty="0"/>
              <a:t>函数返回值的说明</a:t>
            </a:r>
            <a:endParaRPr lang="en-US" altLang="zh-CN" dirty="0"/>
          </a:p>
          <a:p>
            <a:r>
              <a:rPr lang="zh-CN" altLang="en-US" dirty="0"/>
              <a:t>别人的函数给你是什么样的？</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11" name="椭圆 10"/>
          <p:cNvSpPr/>
          <p:nvPr/>
        </p:nvSpPr>
        <p:spPr>
          <a:xfrm>
            <a:off x="8177483" y="5910463"/>
            <a:ext cx="504000" cy="50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椭圆 11"/>
          <p:cNvSpPr/>
          <p:nvPr/>
        </p:nvSpPr>
        <p:spPr>
          <a:xfrm>
            <a:off x="7414927" y="813765"/>
            <a:ext cx="742237" cy="742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lumMod val="50000"/>
                </a:schemeClr>
              </a:solidFill>
            </a:endParaRPr>
          </a:p>
        </p:txBody>
      </p:sp>
      <p:sp>
        <p:nvSpPr>
          <p:cNvPr id="10" name="椭圆 9"/>
          <p:cNvSpPr/>
          <p:nvPr/>
        </p:nvSpPr>
        <p:spPr>
          <a:xfrm>
            <a:off x="-2459620" y="610564"/>
            <a:ext cx="5400000" cy="5400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Subtitle 2"/>
          <p:cNvSpPr>
            <a:spLocks noGrp="1"/>
          </p:cNvSpPr>
          <p:nvPr>
            <p:ph type="subTitle" idx="1"/>
          </p:nvPr>
        </p:nvSpPr>
        <p:spPr>
          <a:xfrm>
            <a:off x="1268874" y="3811522"/>
            <a:ext cx="5429250" cy="1655762"/>
          </a:xfrm>
        </p:spPr>
        <p:txBody>
          <a:bodyPr/>
          <a:lstStyle>
            <a:lvl1pPr marL="0" indent="0" algn="l">
              <a:buNone/>
              <a:defRPr sz="2400" baseline="0">
                <a:latin typeface="Calibri" panose="020F0502020204030204" pitchFamily="34" charset="0"/>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2" name="Title 1"/>
          <p:cNvSpPr>
            <a:spLocks noGrp="1"/>
          </p:cNvSpPr>
          <p:nvPr>
            <p:ph type="ctrTitle"/>
          </p:nvPr>
        </p:nvSpPr>
        <p:spPr>
          <a:xfrm>
            <a:off x="1268875" y="2063685"/>
            <a:ext cx="6606253" cy="1655763"/>
          </a:xfrm>
        </p:spPr>
        <p:txBody>
          <a:bodyPr anchor="b">
            <a:normAutofit/>
          </a:bodyPr>
          <a:lstStyle>
            <a:lvl1pPr algn="l">
              <a:defRPr sz="5400" b="1"/>
            </a:lvl1pPr>
          </a:lstStyle>
          <a:p>
            <a:r>
              <a:rPr lang="zh-CN" altLang="en-US" dirty="0"/>
              <a:t>单击此处编辑母版标题样式</a:t>
            </a:r>
            <a:endParaRPr lang="en-US" dirty="0"/>
          </a:p>
        </p:txBody>
      </p:sp>
      <p:sp>
        <p:nvSpPr>
          <p:cNvPr id="4" name="弧形 3"/>
          <p:cNvSpPr/>
          <p:nvPr userDrawn="1"/>
        </p:nvSpPr>
        <p:spPr>
          <a:xfrm>
            <a:off x="-1790184" y="-1709103"/>
            <a:ext cx="3960000" cy="3883419"/>
          </a:xfrm>
          <a:prstGeom prst="arc">
            <a:avLst>
              <a:gd name="adj1" fmla="val 21064148"/>
              <a:gd name="adj2" fmla="val 5986293"/>
            </a:avLst>
          </a:prstGeom>
          <a:noFill/>
          <a:ln w="635000">
            <a:solidFill>
              <a:srgbClr val="FFC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节标题">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562471" y="2155124"/>
            <a:ext cx="6711517" cy="1655763"/>
          </a:xfrm>
        </p:spPr>
        <p:txBody>
          <a:bodyPr anchor="t">
            <a:normAutofit/>
          </a:bodyPr>
          <a:lstStyle>
            <a:lvl1pPr algn="l">
              <a:defRPr sz="5400" b="1"/>
            </a:lvl1pPr>
          </a:lstStyle>
          <a:p>
            <a:r>
              <a:rPr lang="zh-CN" altLang="en-US"/>
              <a:t>单击此处编辑母版标题样式</a:t>
            </a:r>
            <a:endParaRPr lang="en-US" dirty="0"/>
          </a:p>
        </p:txBody>
      </p:sp>
      <p:sp>
        <p:nvSpPr>
          <p:cNvPr id="9" name="圆: 空心 8"/>
          <p:cNvSpPr/>
          <p:nvPr/>
        </p:nvSpPr>
        <p:spPr>
          <a:xfrm>
            <a:off x="685564" y="2155124"/>
            <a:ext cx="544750" cy="558709"/>
          </a:xfrm>
          <a:prstGeom prst="donut">
            <a:avLst>
              <a:gd name="adj" fmla="val 34760"/>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2" name="Title 1"/>
          <p:cNvSpPr>
            <a:spLocks noGrp="1"/>
          </p:cNvSpPr>
          <p:nvPr>
            <p:ph type="title"/>
          </p:nvPr>
        </p:nvSpPr>
        <p:spPr>
          <a:xfrm>
            <a:off x="559293" y="431999"/>
            <a:ext cx="8152708" cy="935161"/>
          </a:xfrm>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559292" y="1615736"/>
            <a:ext cx="8152707" cy="4710344"/>
          </a:xfrm>
        </p:spPr>
        <p:txBody>
          <a:bodyPr anchor="t">
            <a:normAutofit/>
          </a:bodyPr>
          <a:lstStyle>
            <a:lvl1pPr marL="514350" indent="-514350">
              <a:lnSpc>
                <a:spcPct val="114000"/>
              </a:lnSpc>
              <a:buFont typeface="+mj-lt"/>
              <a:buAutoNum type="arabicPeriod"/>
              <a:defRPr sz="2800">
                <a:solidFill>
                  <a:schemeClr val="tx1">
                    <a:lumMod val="50000"/>
                    <a:lumOff val="50000"/>
                  </a:schemeClr>
                </a:solidFill>
                <a:latin typeface="+mj-ea"/>
                <a:ea typeface="+mj-ea"/>
              </a:defRPr>
            </a:lvl1pPr>
            <a:lvl2pPr marL="782955" indent="-457200">
              <a:buFont typeface="+mj-lt"/>
              <a:buAutoNum type="arabicPeriod"/>
              <a:defRPr>
                <a:solidFill>
                  <a:schemeClr val="tx1">
                    <a:lumMod val="50000"/>
                    <a:lumOff val="50000"/>
                  </a:schemeClr>
                </a:solidFill>
              </a:defRPr>
            </a:lvl2pPr>
            <a:lvl3pPr marL="1369695" indent="-457200">
              <a:buFont typeface="+mj-lt"/>
              <a:buAutoNum type="arabicPeriod"/>
              <a:defRPr>
                <a:solidFill>
                  <a:schemeClr val="tx1">
                    <a:lumMod val="50000"/>
                    <a:lumOff val="50000"/>
                  </a:schemeClr>
                </a:solidFill>
              </a:defRPr>
            </a:lvl3pPr>
            <a:lvl4pPr marL="1714500" indent="-342900">
              <a:buFont typeface="+mj-lt"/>
              <a:buAutoNum type="arabicPeriod"/>
              <a:defRPr>
                <a:solidFill>
                  <a:schemeClr val="tx1">
                    <a:lumMod val="50000"/>
                    <a:lumOff val="50000"/>
                  </a:schemeClr>
                </a:solidFill>
              </a:defRPr>
            </a:lvl4pPr>
            <a:lvl5pPr marL="2171700" indent="-342900">
              <a:buFont typeface="+mj-lt"/>
              <a:buAutoNum type="arabicPeriod"/>
              <a:defRPr>
                <a:solidFill>
                  <a:schemeClr val="tx1">
                    <a:lumMod val="50000"/>
                    <a:lumOff val="50000"/>
                  </a:schemeClr>
                </a:solidFill>
              </a:defRPr>
            </a:lvl5pPr>
          </a:lstStyle>
          <a:p>
            <a:pPr lvl="0"/>
            <a:r>
              <a:rPr lang="zh-CN" altLang="en-US" dirty="0"/>
              <a:t>目录项目</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32000" y="432000"/>
            <a:ext cx="8230387" cy="899650"/>
          </a:xfrm>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432000" y="1535837"/>
            <a:ext cx="8280000" cy="4764163"/>
          </a:xfrm>
        </p:spPr>
        <p:txBody>
          <a:bodyPr/>
          <a:lstStyle>
            <a:lvl1pPr marL="342900" indent="-342900">
              <a:buFont typeface="Wingdings" panose="05000000000000000000" pitchFamily="2" charset="2"/>
              <a:buChar char="§"/>
              <a:defRPr sz="2400"/>
            </a:lvl1pPr>
            <a:lvl2pPr marL="740410" indent="-342900">
              <a:buFont typeface="Wingdings" panose="05000000000000000000" pitchFamily="2" charset="2"/>
              <a:buChar char="§"/>
              <a:defRPr sz="2000"/>
            </a:lvl2pPr>
            <a:lvl3pPr marL="1198245" indent="-285750">
              <a:buFont typeface="Wingdings" panose="05000000000000000000" pitchFamily="2" charset="2"/>
              <a:buChar char="§"/>
              <a:defRPr sz="1800"/>
            </a:lvl3pPr>
            <a:lvl4pPr marL="1657350" indent="-285750">
              <a:buFont typeface="Wingdings" panose="05000000000000000000" pitchFamily="2" charset="2"/>
              <a:buChar char="§"/>
              <a:defRPr sz="1600"/>
            </a:lvl4pPr>
            <a:lvl5pPr marL="2114550" indent="-285750">
              <a:buFont typeface="Wingdings" panose="05000000000000000000" pitchFamily="2" charset="2"/>
              <a:buChar cha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432000" y="1260000"/>
            <a:ext cx="4082850" cy="5040000"/>
          </a:xfrm>
        </p:spPr>
        <p:txBody>
          <a:bodyPr/>
          <a:lstStyle>
            <a:lvl1pPr marL="360045">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629150" y="1260000"/>
            <a:ext cx="4082850" cy="5040000"/>
          </a:xfrm>
        </p:spPr>
        <p:txBody>
          <a:bodyPr/>
          <a:lstStyle>
            <a:lvl1pPr marL="360045">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32000" y="1188000"/>
            <a:ext cx="4066182"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432000" y="2037716"/>
            <a:ext cx="4066182" cy="4388285"/>
          </a:xfrm>
        </p:spPr>
        <p:txBody>
          <a:bodyPr/>
          <a:lstStyle>
            <a:lvl1pPr>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Text Placeholder 4"/>
          <p:cNvSpPr>
            <a:spLocks noGrp="1"/>
          </p:cNvSpPr>
          <p:nvPr>
            <p:ph type="body" sz="quarter" idx="3" hasCustomPrompt="1"/>
          </p:nvPr>
        </p:nvSpPr>
        <p:spPr>
          <a:xfrm>
            <a:off x="4629150" y="1188000"/>
            <a:ext cx="4082850"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4629150" y="2037716"/>
            <a:ext cx="4082850" cy="4388285"/>
          </a:xfrm>
        </p:spPr>
        <p:txBody>
          <a:bodyPr>
            <a:normAutofit/>
          </a:bodyPr>
          <a:lstStyle>
            <a:lvl1pPr>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0" name="Title 1"/>
          <p:cNvSpPr>
            <a:spLocks noGrp="1"/>
          </p:cNvSpPr>
          <p:nvPr>
            <p:ph type="title"/>
          </p:nvPr>
        </p:nvSpPr>
        <p:spPr>
          <a:xfrm>
            <a:off x="432000" y="432000"/>
            <a:ext cx="8280000" cy="683692"/>
          </a:xfrm>
        </p:spPr>
        <p:txBody>
          <a:bodyPr anchor="b"/>
          <a:lstStyle/>
          <a:p>
            <a:r>
              <a:rPr lang="zh-CN" altLang="en-US"/>
              <a:t>单击此处编辑母版标题样式</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dirty="0"/>
              <a:t>单击此处编辑母版标题样式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5413374"/>
          </a:xfrm>
        </p:spPr>
        <p:txBody>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Text Placeholder 3"/>
          <p:cNvSpPr>
            <a:spLocks noGrp="1"/>
          </p:cNvSpPr>
          <p:nvPr>
            <p:ph type="body" sz="half" idx="2" hasCustomPrompt="1"/>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541337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结束，致谢">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268875" y="2155125"/>
            <a:ext cx="6606253" cy="1655763"/>
          </a:xfrm>
        </p:spPr>
        <p:txBody>
          <a:bodyPr anchor="b">
            <a:normAutofit/>
          </a:bodyPr>
          <a:lstStyle>
            <a:lvl1pPr algn="ctr">
              <a:defRPr sz="4400" b="1"/>
            </a:lvl1pPr>
          </a:lstStyle>
          <a:p>
            <a:r>
              <a:rPr lang="zh-CN" altLang="en-US" dirty="0"/>
              <a:t>单击此处编辑母版标题样式</a:t>
            </a:r>
            <a:endParaRPr lang="en-US" dirty="0"/>
          </a:p>
        </p:txBody>
      </p:sp>
      <p:sp>
        <p:nvSpPr>
          <p:cNvPr id="9" name="圆: 空心 8"/>
          <p:cNvSpPr/>
          <p:nvPr/>
        </p:nvSpPr>
        <p:spPr>
          <a:xfrm>
            <a:off x="8088487" y="5873868"/>
            <a:ext cx="720000" cy="720000"/>
          </a:xfrm>
          <a:prstGeom prst="donut">
            <a:avLst>
              <a:gd name="adj" fmla="val 24158"/>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7969050" cy="457000"/>
          </a:xfrm>
        </p:spPr>
        <p:txBody>
          <a:bodyPr>
            <a:normAutofit/>
          </a:bodyPr>
          <a:lstStyle>
            <a:lvl1pPr>
              <a:defRPr sz="2400"/>
            </a:lvl1pPr>
          </a:lstStyle>
          <a:p>
            <a:r>
              <a:rPr lang="zh-CN" altLang="en-US" dirty="0"/>
              <a:t>单击此处编辑母版标题样式</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emf"/><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000" y="432000"/>
            <a:ext cx="8280000" cy="886662"/>
          </a:xfrm>
          <a:prstGeom prst="rect">
            <a:avLst/>
          </a:prstGeom>
        </p:spPr>
        <p:txBody>
          <a:bodyPr vert="horz" lIns="91440" tIns="45720" rIns="91440" bIns="45720" rtlCol="0" anchor="t">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32000" y="1447062"/>
            <a:ext cx="8280000" cy="470516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360045" indent="-360045" algn="l" defTabSz="914400" rtl="0" eaLnBrk="1" latinLnBrk="0" hangingPunct="1">
        <a:lnSpc>
          <a:spcPct val="100000"/>
        </a:lnSpc>
        <a:spcBef>
          <a:spcPts val="1000"/>
        </a:spcBef>
        <a:buClr>
          <a:schemeClr val="accent4"/>
        </a:buClr>
        <a:buFontTx/>
        <a:buBlip>
          <a:blip r:embed="rId12"/>
        </a:buBlip>
        <a:defRPr sz="2800" kern="1200">
          <a:solidFill>
            <a:schemeClr val="tx1"/>
          </a:solidFill>
          <a:latin typeface="+mj-ea"/>
          <a:ea typeface="+mj-ea"/>
          <a:cs typeface="+mn-cs"/>
        </a:defRPr>
      </a:lvl1pPr>
      <a:lvl2pPr marL="685800" indent="-288290" algn="l" defTabSz="914400" rtl="0" eaLnBrk="1" latinLnBrk="0" hangingPunct="1">
        <a:lnSpc>
          <a:spcPct val="100000"/>
        </a:lnSpc>
        <a:spcBef>
          <a:spcPts val="500"/>
        </a:spcBef>
        <a:buClr>
          <a:schemeClr val="accent4"/>
        </a:buClr>
        <a:buFontTx/>
        <a:buBlip>
          <a:blip r:embed="rId12"/>
        </a:buBlip>
        <a:defRPr sz="2400" kern="1200">
          <a:solidFill>
            <a:schemeClr val="tx1"/>
          </a:solidFill>
          <a:latin typeface="+mn-lt"/>
          <a:ea typeface="+mn-ea"/>
          <a:cs typeface="+mn-cs"/>
        </a:defRPr>
      </a:lvl2pPr>
      <a:lvl3pPr marL="1143000" indent="-230505" algn="l" defTabSz="914400" rtl="0" eaLnBrk="1" latinLnBrk="0" hangingPunct="1">
        <a:lnSpc>
          <a:spcPct val="100000"/>
        </a:lnSpc>
        <a:spcBef>
          <a:spcPts val="500"/>
        </a:spcBef>
        <a:buClr>
          <a:schemeClr val="accent4"/>
        </a:buClr>
        <a:buSzPct val="10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https://amberonrails.com/google-codejam-alien-number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4.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8.GI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1.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http://en.cppreference.com/w/c/types/size_t"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1268873" y="1773237"/>
            <a:ext cx="7875127" cy="1655763"/>
          </a:xfrm>
        </p:spPr>
        <p:txBody>
          <a:bodyPr>
            <a:normAutofit/>
          </a:bodyPr>
          <a:lstStyle/>
          <a:p>
            <a:r>
              <a:rPr lang="zh-CN" altLang="en-US" dirty="0"/>
              <a:t>期中复习</a:t>
            </a:r>
            <a:r>
              <a:rPr lang="en-US" altLang="zh-CN" dirty="0"/>
              <a:t>				</a:t>
            </a:r>
            <a:endParaRPr lang="en-US" dirty="0"/>
          </a:p>
        </p:txBody>
      </p:sp>
      <p:sp>
        <p:nvSpPr>
          <p:cNvPr id="6" name="副标题 5"/>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知识脉络</a:t>
            </a:r>
            <a:endParaRPr lang="zh-CN" altLang="en-US" dirty="0"/>
          </a:p>
        </p:txBody>
      </p:sp>
      <p:sp>
        <p:nvSpPr>
          <p:cNvPr id="69" name="椭圆 68"/>
          <p:cNvSpPr/>
          <p:nvPr/>
        </p:nvSpPr>
        <p:spPr>
          <a:xfrm>
            <a:off x="43080" y="3544859"/>
            <a:ext cx="1643270" cy="934278"/>
          </a:xfrm>
          <a:prstGeom prst="ellipse">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程序设计</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70" name="椭圆 69"/>
          <p:cNvSpPr/>
          <p:nvPr/>
        </p:nvSpPr>
        <p:spPr>
          <a:xfrm>
            <a:off x="4313650" y="3544859"/>
            <a:ext cx="978430" cy="934278"/>
          </a:xfrm>
          <a:prstGeom prst="ellipse">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数据</a:t>
            </a:r>
            <a:endParaRPr kumimoji="0" lang="en-US" altLang="zh-CN"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结构</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73" name="圆角矩形 72"/>
          <p:cNvSpPr/>
          <p:nvPr/>
        </p:nvSpPr>
        <p:spPr>
          <a:xfrm>
            <a:off x="972205" y="2504653"/>
            <a:ext cx="1013792"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表达式</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74" name="圆角矩形 73"/>
          <p:cNvSpPr/>
          <p:nvPr/>
        </p:nvSpPr>
        <p:spPr>
          <a:xfrm>
            <a:off x="2092010" y="2511279"/>
            <a:ext cx="944222"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控制流</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75" name="圆角矩形 74"/>
          <p:cNvSpPr/>
          <p:nvPr/>
        </p:nvSpPr>
        <p:spPr>
          <a:xfrm>
            <a:off x="1601684" y="1417978"/>
            <a:ext cx="768626"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分支</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76" name="圆角矩形 75"/>
          <p:cNvSpPr/>
          <p:nvPr/>
        </p:nvSpPr>
        <p:spPr>
          <a:xfrm>
            <a:off x="4998031" y="2498028"/>
            <a:ext cx="758691"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数组</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78" name="圆角矩形 77"/>
          <p:cNvSpPr/>
          <p:nvPr/>
        </p:nvSpPr>
        <p:spPr>
          <a:xfrm>
            <a:off x="107504" y="2504652"/>
            <a:ext cx="765313"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输入</a:t>
            </a:r>
            <a:endParaRPr kumimoji="0" lang="en-US" altLang="zh-CN"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输出</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cxnSp>
        <p:nvCxnSpPr>
          <p:cNvPr id="80" name="直接箭头连接符 79"/>
          <p:cNvCxnSpPr>
            <a:stCxn id="133" idx="0"/>
            <a:endCxn id="78" idx="2"/>
          </p:cNvCxnSpPr>
          <p:nvPr/>
        </p:nvCxnSpPr>
        <p:spPr>
          <a:xfrm flipH="1" flipV="1">
            <a:off x="490161" y="3127504"/>
            <a:ext cx="2194790" cy="418496"/>
          </a:xfrm>
          <a:prstGeom prst="straightConnector1">
            <a:avLst/>
          </a:prstGeom>
          <a:noFill/>
          <a:ln w="9525" cap="flat" cmpd="sng" algn="ctr">
            <a:solidFill>
              <a:sysClr val="windowText" lastClr="000000"/>
            </a:solidFill>
            <a:prstDash val="solid"/>
            <a:tailEnd type="triangle"/>
          </a:ln>
          <a:effectLst/>
        </p:spPr>
      </p:cxnSp>
      <p:cxnSp>
        <p:nvCxnSpPr>
          <p:cNvPr id="81" name="直接箭头连接符 80"/>
          <p:cNvCxnSpPr>
            <a:stCxn id="133" idx="0"/>
            <a:endCxn id="73" idx="2"/>
          </p:cNvCxnSpPr>
          <p:nvPr/>
        </p:nvCxnSpPr>
        <p:spPr>
          <a:xfrm flipH="1" flipV="1">
            <a:off x="1479101" y="3127505"/>
            <a:ext cx="1205850" cy="418495"/>
          </a:xfrm>
          <a:prstGeom prst="straightConnector1">
            <a:avLst/>
          </a:prstGeom>
          <a:noFill/>
          <a:ln w="9525" cap="flat" cmpd="sng" algn="ctr">
            <a:solidFill>
              <a:sysClr val="windowText" lastClr="000000"/>
            </a:solidFill>
            <a:prstDash val="solid"/>
            <a:tailEnd type="triangle"/>
          </a:ln>
          <a:effectLst/>
        </p:spPr>
      </p:cxnSp>
      <p:cxnSp>
        <p:nvCxnSpPr>
          <p:cNvPr id="82" name="直接箭头连接符 81"/>
          <p:cNvCxnSpPr>
            <a:stCxn id="133" idx="0"/>
            <a:endCxn id="74" idx="2"/>
          </p:cNvCxnSpPr>
          <p:nvPr/>
        </p:nvCxnSpPr>
        <p:spPr>
          <a:xfrm flipH="1" flipV="1">
            <a:off x="2564121" y="3134131"/>
            <a:ext cx="120830" cy="411869"/>
          </a:xfrm>
          <a:prstGeom prst="straightConnector1">
            <a:avLst/>
          </a:prstGeom>
          <a:noFill/>
          <a:ln w="9525" cap="flat" cmpd="sng" algn="ctr">
            <a:solidFill>
              <a:sysClr val="windowText" lastClr="000000"/>
            </a:solidFill>
            <a:prstDash val="solid"/>
            <a:tailEnd type="triangle"/>
          </a:ln>
          <a:effectLst/>
        </p:spPr>
      </p:cxnSp>
      <p:cxnSp>
        <p:nvCxnSpPr>
          <p:cNvPr id="83" name="直接箭头连接符 82"/>
          <p:cNvCxnSpPr>
            <a:stCxn id="74" idx="0"/>
            <a:endCxn id="75" idx="2"/>
          </p:cNvCxnSpPr>
          <p:nvPr/>
        </p:nvCxnSpPr>
        <p:spPr>
          <a:xfrm flipH="1" flipV="1">
            <a:off x="1985997" y="2040830"/>
            <a:ext cx="578124" cy="470449"/>
          </a:xfrm>
          <a:prstGeom prst="straightConnector1">
            <a:avLst/>
          </a:prstGeom>
          <a:noFill/>
          <a:ln w="9525" cap="flat" cmpd="sng" algn="ctr">
            <a:solidFill>
              <a:sysClr val="windowText" lastClr="000000"/>
            </a:solidFill>
            <a:prstDash val="solid"/>
            <a:tailEnd type="triangle"/>
          </a:ln>
          <a:effectLst/>
        </p:spPr>
      </p:cxnSp>
      <p:sp>
        <p:nvSpPr>
          <p:cNvPr id="84" name="圆角矩形 83"/>
          <p:cNvSpPr/>
          <p:nvPr/>
        </p:nvSpPr>
        <p:spPr>
          <a:xfrm>
            <a:off x="2651919" y="1417978"/>
            <a:ext cx="768626"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循环</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cxnSp>
        <p:nvCxnSpPr>
          <p:cNvPr id="85" name="直接箭头连接符 84"/>
          <p:cNvCxnSpPr>
            <a:stCxn id="74" idx="0"/>
            <a:endCxn id="84" idx="2"/>
          </p:cNvCxnSpPr>
          <p:nvPr/>
        </p:nvCxnSpPr>
        <p:spPr>
          <a:xfrm flipV="1">
            <a:off x="2564121" y="2040830"/>
            <a:ext cx="472111" cy="470449"/>
          </a:xfrm>
          <a:prstGeom prst="straightConnector1">
            <a:avLst/>
          </a:prstGeom>
          <a:noFill/>
          <a:ln w="9525" cap="flat" cmpd="sng" algn="ctr">
            <a:solidFill>
              <a:sysClr val="windowText" lastClr="000000"/>
            </a:solidFill>
            <a:prstDash val="solid"/>
            <a:tailEnd type="triangle"/>
          </a:ln>
          <a:effectLst/>
        </p:spPr>
      </p:cxnSp>
      <p:sp>
        <p:nvSpPr>
          <p:cNvPr id="88" name="圆角矩形 87"/>
          <p:cNvSpPr/>
          <p:nvPr/>
        </p:nvSpPr>
        <p:spPr>
          <a:xfrm>
            <a:off x="5846178" y="2498028"/>
            <a:ext cx="1013792"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结构体</a:t>
            </a:r>
            <a:endParaRPr kumimoji="0" lang="en-US" altLang="zh-CN"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kern="0" dirty="0">
                <a:solidFill>
                  <a:prstClr val="white"/>
                </a:solidFill>
                <a:latin typeface="Gill Sans MT" panose="020B0502020104020203"/>
                <a:ea typeface="华文中宋" panose="02010600040101010101" charset="-122"/>
              </a:rPr>
              <a:t>共用体</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89" name="圆角矩形 88"/>
          <p:cNvSpPr/>
          <p:nvPr/>
        </p:nvSpPr>
        <p:spPr>
          <a:xfrm>
            <a:off x="4139952" y="2504654"/>
            <a:ext cx="758691"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基本</a:t>
            </a:r>
            <a:endParaRPr kumimoji="0" lang="en-US" altLang="zh-CN"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类型</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90" name="圆角矩形 89"/>
          <p:cNvSpPr/>
          <p:nvPr/>
        </p:nvSpPr>
        <p:spPr>
          <a:xfrm>
            <a:off x="2195736" y="4916561"/>
            <a:ext cx="768626" cy="622852"/>
          </a:xfrm>
          <a:prstGeom prst="roundRect">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链表</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sp>
        <p:nvSpPr>
          <p:cNvPr id="91" name="圆角矩形 90"/>
          <p:cNvSpPr/>
          <p:nvPr/>
        </p:nvSpPr>
        <p:spPr>
          <a:xfrm>
            <a:off x="1691680" y="4889958"/>
            <a:ext cx="251788" cy="622852"/>
          </a:xfrm>
          <a:prstGeom prst="roundRect">
            <a:avLst/>
          </a:prstGeom>
          <a:no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cxnSp>
        <p:nvCxnSpPr>
          <p:cNvPr id="92" name="直接箭头连接符 91"/>
          <p:cNvCxnSpPr>
            <a:stCxn id="133" idx="4"/>
            <a:endCxn id="91" idx="0"/>
          </p:cNvCxnSpPr>
          <p:nvPr/>
        </p:nvCxnSpPr>
        <p:spPr>
          <a:xfrm flipH="1">
            <a:off x="1817574" y="4480278"/>
            <a:ext cx="867377" cy="409680"/>
          </a:xfrm>
          <a:prstGeom prst="straightConnector1">
            <a:avLst/>
          </a:prstGeom>
          <a:noFill/>
          <a:ln w="9525" cap="flat" cmpd="sng" algn="ctr">
            <a:solidFill>
              <a:sysClr val="windowText" lastClr="000000"/>
            </a:solidFill>
            <a:prstDash val="solid"/>
            <a:tailEnd type="triangle"/>
          </a:ln>
          <a:effectLst/>
        </p:spPr>
      </p:cxnSp>
      <p:cxnSp>
        <p:nvCxnSpPr>
          <p:cNvPr id="93" name="直接箭头连接符 92"/>
          <p:cNvCxnSpPr>
            <a:stCxn id="70" idx="0"/>
            <a:endCxn id="89" idx="2"/>
          </p:cNvCxnSpPr>
          <p:nvPr/>
        </p:nvCxnSpPr>
        <p:spPr>
          <a:xfrm flipH="1" flipV="1">
            <a:off x="4519298" y="3127506"/>
            <a:ext cx="283567" cy="417353"/>
          </a:xfrm>
          <a:prstGeom prst="straightConnector1">
            <a:avLst/>
          </a:prstGeom>
          <a:noFill/>
          <a:ln w="9525" cap="flat" cmpd="sng" algn="ctr">
            <a:solidFill>
              <a:sysClr val="windowText" lastClr="000000"/>
            </a:solidFill>
            <a:prstDash val="solid"/>
            <a:tailEnd type="triangle"/>
          </a:ln>
          <a:effectLst/>
        </p:spPr>
      </p:cxnSp>
      <p:cxnSp>
        <p:nvCxnSpPr>
          <p:cNvPr id="94" name="直接箭头连接符 93"/>
          <p:cNvCxnSpPr>
            <a:stCxn id="70" idx="0"/>
            <a:endCxn id="76" idx="2"/>
          </p:cNvCxnSpPr>
          <p:nvPr/>
        </p:nvCxnSpPr>
        <p:spPr>
          <a:xfrm flipV="1">
            <a:off x="4802865" y="3120880"/>
            <a:ext cx="574512" cy="423979"/>
          </a:xfrm>
          <a:prstGeom prst="straightConnector1">
            <a:avLst/>
          </a:prstGeom>
          <a:noFill/>
          <a:ln w="9525" cap="flat" cmpd="sng" algn="ctr">
            <a:solidFill>
              <a:sysClr val="windowText" lastClr="000000"/>
            </a:solidFill>
            <a:prstDash val="solid"/>
            <a:tailEnd type="triangle"/>
          </a:ln>
          <a:effectLst/>
        </p:spPr>
      </p:cxnSp>
      <p:cxnSp>
        <p:nvCxnSpPr>
          <p:cNvPr id="95" name="直接箭头连接符 94"/>
          <p:cNvCxnSpPr>
            <a:stCxn id="70" idx="0"/>
            <a:endCxn id="88" idx="2"/>
          </p:cNvCxnSpPr>
          <p:nvPr/>
        </p:nvCxnSpPr>
        <p:spPr>
          <a:xfrm flipV="1">
            <a:off x="4802865" y="3120880"/>
            <a:ext cx="1550209" cy="423979"/>
          </a:xfrm>
          <a:prstGeom prst="straightConnector1">
            <a:avLst/>
          </a:prstGeom>
          <a:noFill/>
          <a:ln w="9525" cap="flat" cmpd="sng" algn="ctr">
            <a:solidFill>
              <a:sysClr val="windowText" lastClr="000000"/>
            </a:solidFill>
            <a:prstDash val="solid"/>
            <a:tailEnd type="triangle"/>
          </a:ln>
          <a:effectLst/>
        </p:spPr>
      </p:cxnSp>
      <p:sp>
        <p:nvSpPr>
          <p:cNvPr id="96" name="圆角矩形 95"/>
          <p:cNvSpPr/>
          <p:nvPr/>
        </p:nvSpPr>
        <p:spPr>
          <a:xfrm>
            <a:off x="3923928" y="1411353"/>
            <a:ext cx="768626"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一维</a:t>
            </a:r>
            <a:endParaRPr kumimoji="0" lang="en-US" altLang="zh-CN"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数组</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cxnSp>
        <p:nvCxnSpPr>
          <p:cNvPr id="97" name="直接箭头连接符 96"/>
          <p:cNvCxnSpPr>
            <a:stCxn id="76" idx="0"/>
            <a:endCxn id="96" idx="2"/>
          </p:cNvCxnSpPr>
          <p:nvPr/>
        </p:nvCxnSpPr>
        <p:spPr>
          <a:xfrm flipH="1" flipV="1">
            <a:off x="4308241" y="2034205"/>
            <a:ext cx="1069136" cy="463823"/>
          </a:xfrm>
          <a:prstGeom prst="straightConnector1">
            <a:avLst/>
          </a:prstGeom>
          <a:noFill/>
          <a:ln w="9525" cap="flat" cmpd="sng" algn="ctr">
            <a:solidFill>
              <a:sysClr val="windowText" lastClr="000000"/>
            </a:solidFill>
            <a:prstDash val="solid"/>
            <a:tailEnd type="triangle"/>
          </a:ln>
          <a:effectLst/>
        </p:spPr>
      </p:cxnSp>
      <p:sp>
        <p:nvSpPr>
          <p:cNvPr id="98" name="圆角矩形 97"/>
          <p:cNvSpPr/>
          <p:nvPr/>
        </p:nvSpPr>
        <p:spPr>
          <a:xfrm>
            <a:off x="4830057" y="1411353"/>
            <a:ext cx="768626"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多维数组</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cxnSp>
        <p:nvCxnSpPr>
          <p:cNvPr id="99" name="直接箭头连接符 98"/>
          <p:cNvCxnSpPr>
            <a:stCxn id="76" idx="0"/>
            <a:endCxn id="98" idx="2"/>
          </p:cNvCxnSpPr>
          <p:nvPr/>
        </p:nvCxnSpPr>
        <p:spPr>
          <a:xfrm flipH="1" flipV="1">
            <a:off x="5214370" y="2034205"/>
            <a:ext cx="163007" cy="463823"/>
          </a:xfrm>
          <a:prstGeom prst="straightConnector1">
            <a:avLst/>
          </a:prstGeom>
          <a:noFill/>
          <a:ln w="9525" cap="flat" cmpd="sng" algn="ctr">
            <a:solidFill>
              <a:sysClr val="windowText" lastClr="000000"/>
            </a:solidFill>
            <a:prstDash val="solid"/>
            <a:tailEnd type="triangle"/>
          </a:ln>
          <a:effectLst/>
        </p:spPr>
      </p:cxnSp>
      <p:cxnSp>
        <p:nvCxnSpPr>
          <p:cNvPr id="100" name="直接箭头连接符 99"/>
          <p:cNvCxnSpPr>
            <a:stCxn id="70" idx="4"/>
            <a:endCxn id="90" idx="0"/>
          </p:cNvCxnSpPr>
          <p:nvPr/>
        </p:nvCxnSpPr>
        <p:spPr>
          <a:xfrm flipH="1">
            <a:off x="2580049" y="4479137"/>
            <a:ext cx="2222816" cy="437424"/>
          </a:xfrm>
          <a:prstGeom prst="straightConnector1">
            <a:avLst/>
          </a:prstGeom>
          <a:noFill/>
          <a:ln w="9525" cap="flat" cmpd="sng" algn="ctr">
            <a:solidFill>
              <a:sysClr val="windowText" lastClr="000000"/>
            </a:solidFill>
            <a:prstDash val="solid"/>
            <a:tailEnd type="triangle"/>
          </a:ln>
          <a:effectLst/>
        </p:spPr>
      </p:cxnSp>
      <p:sp>
        <p:nvSpPr>
          <p:cNvPr id="101" name="圆角矩形 100"/>
          <p:cNvSpPr/>
          <p:nvPr/>
        </p:nvSpPr>
        <p:spPr>
          <a:xfrm>
            <a:off x="7020272" y="2504654"/>
            <a:ext cx="758691"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kern="0" dirty="0">
                <a:solidFill>
                  <a:prstClr val="white"/>
                </a:solidFill>
                <a:latin typeface="Gill Sans MT" panose="020B0502020104020203"/>
                <a:ea typeface="华文中宋" panose="02010600040101010101" charset="-122"/>
              </a:rPr>
              <a:t>枚举</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cxnSp>
        <p:nvCxnSpPr>
          <p:cNvPr id="102" name="直接箭头连接符 101"/>
          <p:cNvCxnSpPr>
            <a:stCxn id="70" idx="4"/>
            <a:endCxn id="124" idx="0"/>
          </p:cNvCxnSpPr>
          <p:nvPr/>
        </p:nvCxnSpPr>
        <p:spPr>
          <a:xfrm flipH="1">
            <a:off x="4049822" y="4479137"/>
            <a:ext cx="753043" cy="444038"/>
          </a:xfrm>
          <a:prstGeom prst="straightConnector1">
            <a:avLst/>
          </a:prstGeom>
          <a:noFill/>
          <a:ln w="9525" cap="flat" cmpd="sng" algn="ctr">
            <a:solidFill>
              <a:sysClr val="windowText" lastClr="000000"/>
            </a:solidFill>
            <a:prstDash val="solid"/>
            <a:tailEnd type="triangle"/>
          </a:ln>
          <a:effectLst/>
        </p:spPr>
      </p:cxnSp>
      <p:sp>
        <p:nvSpPr>
          <p:cNvPr id="105" name="圆角矩形 104"/>
          <p:cNvSpPr/>
          <p:nvPr/>
        </p:nvSpPr>
        <p:spPr>
          <a:xfrm>
            <a:off x="5199653" y="4916480"/>
            <a:ext cx="758691" cy="622852"/>
          </a:xfrm>
          <a:prstGeom prst="roundRect">
            <a:avLst/>
          </a:prstGeom>
          <a:solidFill>
            <a:srgbClr val="FFC000"/>
          </a:solidFill>
          <a:ln w="25400" cap="flat" cmpd="sng" algn="ctr">
            <a:solidFill>
              <a:srgbClr val="FFC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搜索</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cxnSp>
        <p:nvCxnSpPr>
          <p:cNvPr id="106" name="直接箭头连接符 105"/>
          <p:cNvCxnSpPr>
            <a:stCxn id="103" idx="0"/>
            <a:endCxn id="101" idx="2"/>
          </p:cNvCxnSpPr>
          <p:nvPr/>
        </p:nvCxnSpPr>
        <p:spPr>
          <a:xfrm flipV="1">
            <a:off x="6735648" y="3127506"/>
            <a:ext cx="663970" cy="417353"/>
          </a:xfrm>
          <a:prstGeom prst="straightConnector1">
            <a:avLst/>
          </a:prstGeom>
          <a:noFill/>
          <a:ln w="9525" cap="flat" cmpd="sng" algn="ctr">
            <a:solidFill>
              <a:sysClr val="windowText" lastClr="000000"/>
            </a:solidFill>
            <a:prstDash val="solid"/>
            <a:tailEnd type="triangle"/>
          </a:ln>
          <a:effectLst/>
        </p:spPr>
      </p:cxnSp>
      <p:sp>
        <p:nvSpPr>
          <p:cNvPr id="109" name="圆角矩形 108"/>
          <p:cNvSpPr/>
          <p:nvPr/>
        </p:nvSpPr>
        <p:spPr>
          <a:xfrm>
            <a:off x="5811445" y="1420901"/>
            <a:ext cx="877968"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lIns="0" rIns="0" rtlCol="0" anchor="ctr"/>
          <a:lstStyle/>
          <a:p>
            <a:pPr lvl="0" algn="ctr">
              <a:defRPr/>
            </a:pPr>
            <a:r>
              <a:rPr lang="zh-CN" altLang="en-US" sz="1500" kern="0" dirty="0">
                <a:solidFill>
                  <a:prstClr val="white"/>
                </a:solidFill>
                <a:latin typeface="Gill Sans MT" panose="020B0502020104020203"/>
                <a:ea typeface="华文中宋" panose="02010600040101010101" charset="-122"/>
              </a:rPr>
              <a:t>顺序查找</a:t>
            </a:r>
            <a:endParaRPr lang="en-US" altLang="zh-CN" sz="1500" kern="0" dirty="0">
              <a:solidFill>
                <a:prstClr val="white"/>
              </a:solidFill>
              <a:latin typeface="Gill Sans MT" panose="020B0502020104020203"/>
              <a:ea typeface="华文中宋" panose="02010600040101010101" charset="-122"/>
            </a:endParaRPr>
          </a:p>
          <a:p>
            <a:pPr lvl="0" algn="ctr">
              <a:defRPr/>
            </a:pPr>
            <a:r>
              <a:rPr lang="zh-CN" altLang="en-US" sz="1500" kern="0" dirty="0">
                <a:solidFill>
                  <a:prstClr val="white"/>
                </a:solidFill>
                <a:latin typeface="Gill Sans MT" panose="020B0502020104020203"/>
                <a:ea typeface="华文中宋" panose="02010600040101010101" charset="-122"/>
              </a:rPr>
              <a:t>二分查找</a:t>
            </a:r>
            <a:endParaRPr lang="zh-CN" altLang="en-US" sz="1500" kern="0" dirty="0">
              <a:solidFill>
                <a:prstClr val="white"/>
              </a:solidFill>
              <a:latin typeface="Gill Sans MT" panose="020B0502020104020203"/>
              <a:ea typeface="华文中宋" panose="02010600040101010101" charset="-122"/>
            </a:endParaRPr>
          </a:p>
        </p:txBody>
      </p:sp>
      <p:cxnSp>
        <p:nvCxnSpPr>
          <p:cNvPr id="111" name="直接箭头连接符 110"/>
          <p:cNvCxnSpPr>
            <a:stCxn id="103" idx="4"/>
            <a:endCxn id="105" idx="0"/>
          </p:cNvCxnSpPr>
          <p:nvPr/>
        </p:nvCxnSpPr>
        <p:spPr>
          <a:xfrm flipH="1">
            <a:off x="5578999" y="4479137"/>
            <a:ext cx="1156649" cy="437343"/>
          </a:xfrm>
          <a:prstGeom prst="straightConnector1">
            <a:avLst/>
          </a:prstGeom>
          <a:noFill/>
          <a:ln w="9525" cap="flat" cmpd="sng" algn="ctr">
            <a:solidFill>
              <a:sysClr val="windowText" lastClr="000000"/>
            </a:solidFill>
            <a:prstDash val="solid"/>
            <a:tailEnd type="triangle"/>
          </a:ln>
          <a:effectLst/>
        </p:spPr>
      </p:cxnSp>
      <p:cxnSp>
        <p:nvCxnSpPr>
          <p:cNvPr id="112" name="直接箭头连接符 111"/>
          <p:cNvCxnSpPr>
            <a:stCxn id="103" idx="4"/>
            <a:endCxn id="125" idx="0"/>
          </p:cNvCxnSpPr>
          <p:nvPr/>
        </p:nvCxnSpPr>
        <p:spPr>
          <a:xfrm>
            <a:off x="6735648" y="4479137"/>
            <a:ext cx="320938" cy="444038"/>
          </a:xfrm>
          <a:prstGeom prst="straightConnector1">
            <a:avLst/>
          </a:prstGeom>
          <a:noFill/>
          <a:ln w="9525" cap="flat" cmpd="sng" algn="ctr">
            <a:solidFill>
              <a:sysClr val="windowText" lastClr="000000"/>
            </a:solidFill>
            <a:prstDash val="solid"/>
            <a:tailEnd type="triangle"/>
          </a:ln>
          <a:effectLst/>
        </p:spPr>
      </p:cxnSp>
      <p:sp>
        <p:nvSpPr>
          <p:cNvPr id="116" name="TextBox 115"/>
          <p:cNvSpPr txBox="1"/>
          <p:nvPr/>
        </p:nvSpPr>
        <p:spPr>
          <a:xfrm>
            <a:off x="1729410" y="3780097"/>
            <a:ext cx="372218" cy="477054"/>
          </a:xfrm>
          <a:prstGeom prst="rect">
            <a:avLst/>
          </a:prstGeom>
          <a:noFill/>
        </p:spPr>
        <p:txBody>
          <a:bodyPr wrap="none" rtlCol="0">
            <a:spAutoFit/>
          </a:bodyPr>
          <a:lstStyle/>
          <a:p>
            <a:r>
              <a:rPr lang="en-US" altLang="zh-CN" sz="2500" b="1" dirty="0">
                <a:solidFill>
                  <a:srgbClr val="0070C0"/>
                </a:solidFill>
                <a:latin typeface="Gill Sans MT" panose="020B0502020104020203"/>
                <a:ea typeface="华文中宋" panose="02010600040101010101" charset="-122"/>
              </a:rPr>
              <a:t>=</a:t>
            </a:r>
            <a:endParaRPr lang="zh-CN" altLang="en-US" sz="2500" b="1" dirty="0">
              <a:solidFill>
                <a:srgbClr val="0070C0"/>
              </a:solidFill>
              <a:latin typeface="Gill Sans MT" panose="020B0502020104020203"/>
              <a:ea typeface="华文中宋" panose="02010600040101010101" charset="-122"/>
            </a:endParaRPr>
          </a:p>
        </p:txBody>
      </p:sp>
      <p:sp>
        <p:nvSpPr>
          <p:cNvPr id="117" name="TextBox 116"/>
          <p:cNvSpPr txBox="1"/>
          <p:nvPr/>
        </p:nvSpPr>
        <p:spPr>
          <a:xfrm>
            <a:off x="3551710" y="3800056"/>
            <a:ext cx="372218" cy="477054"/>
          </a:xfrm>
          <a:prstGeom prst="rect">
            <a:avLst/>
          </a:prstGeom>
          <a:noFill/>
        </p:spPr>
        <p:txBody>
          <a:bodyPr wrap="none" rtlCol="0">
            <a:spAutoFit/>
          </a:bodyPr>
          <a:lstStyle/>
          <a:p>
            <a:r>
              <a:rPr lang="en-US" altLang="zh-CN" sz="2500" b="1" dirty="0">
                <a:solidFill>
                  <a:srgbClr val="0070C0"/>
                </a:solidFill>
                <a:latin typeface="Gill Sans MT" panose="020B0502020104020203"/>
                <a:ea typeface="华文中宋" panose="02010600040101010101" charset="-122"/>
              </a:rPr>
              <a:t>+</a:t>
            </a:r>
            <a:endParaRPr lang="zh-CN" altLang="en-US" sz="2500" b="1" dirty="0">
              <a:solidFill>
                <a:srgbClr val="0070C0"/>
              </a:solidFill>
              <a:latin typeface="Gill Sans MT" panose="020B0502020104020203"/>
              <a:ea typeface="华文中宋" panose="02010600040101010101" charset="-122"/>
            </a:endParaRPr>
          </a:p>
        </p:txBody>
      </p:sp>
      <p:sp>
        <p:nvSpPr>
          <p:cNvPr id="120" name="圆角矩形 119"/>
          <p:cNvSpPr/>
          <p:nvPr/>
        </p:nvSpPr>
        <p:spPr>
          <a:xfrm>
            <a:off x="3145563" y="2511279"/>
            <a:ext cx="815014"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函数</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cxnSp>
        <p:nvCxnSpPr>
          <p:cNvPr id="121" name="直接箭头连接符 120"/>
          <p:cNvCxnSpPr>
            <a:stCxn id="133" idx="0"/>
            <a:endCxn id="120" idx="2"/>
          </p:cNvCxnSpPr>
          <p:nvPr/>
        </p:nvCxnSpPr>
        <p:spPr>
          <a:xfrm flipV="1">
            <a:off x="2684951" y="3134131"/>
            <a:ext cx="868119" cy="411869"/>
          </a:xfrm>
          <a:prstGeom prst="straightConnector1">
            <a:avLst/>
          </a:prstGeom>
          <a:noFill/>
          <a:ln w="9525" cap="flat" cmpd="sng" algn="ctr">
            <a:solidFill>
              <a:sysClr val="windowText" lastClr="000000"/>
            </a:solidFill>
            <a:prstDash val="solid"/>
            <a:tailEnd type="triangle"/>
          </a:ln>
          <a:effectLst/>
        </p:spPr>
      </p:cxnSp>
      <p:sp>
        <p:nvSpPr>
          <p:cNvPr id="122" name="圆角矩形 121"/>
          <p:cNvSpPr/>
          <p:nvPr/>
        </p:nvSpPr>
        <p:spPr>
          <a:xfrm>
            <a:off x="755576" y="4889950"/>
            <a:ext cx="768626" cy="622852"/>
          </a:xfrm>
          <a:prstGeom prst="roundRect">
            <a:avLst/>
          </a:prstGeom>
          <a:solidFill>
            <a:srgbClr val="FFC000"/>
          </a:solidFill>
          <a:ln w="25400" cap="flat" cmpd="sng" algn="ctr">
            <a:solidFill>
              <a:srgbClr val="FFC000"/>
            </a:solidFill>
            <a:prstDash val="solid"/>
          </a:ln>
          <a:effectLst/>
        </p:spPr>
        <p:txBody>
          <a:bodyPr rtlCol="0" anchor="ctr"/>
          <a:lstStyle/>
          <a:p>
            <a:pPr algn="ctr"/>
            <a:r>
              <a:rPr lang="zh-CN" altLang="en-US" kern="0" dirty="0">
                <a:solidFill>
                  <a:prstClr val="black"/>
                </a:solidFill>
                <a:latin typeface="Gill Sans MT" panose="020B0502020104020203"/>
                <a:ea typeface="华文中宋" panose="02010600040101010101" charset="-122"/>
              </a:rPr>
              <a:t>指针</a:t>
            </a:r>
            <a:endParaRPr lang="en-US" altLang="zh-CN" kern="0" dirty="0">
              <a:solidFill>
                <a:prstClr val="black"/>
              </a:solidFill>
              <a:latin typeface="Gill Sans MT" panose="020B0502020104020203"/>
              <a:ea typeface="华文中宋" panose="02010600040101010101" charset="-122"/>
            </a:endParaRPr>
          </a:p>
        </p:txBody>
      </p:sp>
      <p:sp>
        <p:nvSpPr>
          <p:cNvPr id="123" name="圆角矩形 122"/>
          <p:cNvSpPr/>
          <p:nvPr/>
        </p:nvSpPr>
        <p:spPr>
          <a:xfrm>
            <a:off x="6063749" y="4916561"/>
            <a:ext cx="758691" cy="622852"/>
          </a:xfrm>
          <a:prstGeom prst="roundRect">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贪心</a:t>
            </a:r>
            <a:endParaRPr kumimoji="0" lang="en-US" altLang="zh-CN"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动规</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sp>
        <p:nvSpPr>
          <p:cNvPr id="124" name="圆角矩形 123"/>
          <p:cNvSpPr/>
          <p:nvPr/>
        </p:nvSpPr>
        <p:spPr>
          <a:xfrm>
            <a:off x="3923928" y="4923175"/>
            <a:ext cx="251788" cy="622852"/>
          </a:xfrm>
          <a:prstGeom prst="roundRect">
            <a:avLst/>
          </a:prstGeom>
          <a:no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sp>
        <p:nvSpPr>
          <p:cNvPr id="125" name="圆角矩形 124"/>
          <p:cNvSpPr/>
          <p:nvPr/>
        </p:nvSpPr>
        <p:spPr>
          <a:xfrm>
            <a:off x="6930692" y="4923175"/>
            <a:ext cx="251788" cy="622852"/>
          </a:xfrm>
          <a:prstGeom prst="roundRect">
            <a:avLst/>
          </a:prstGeom>
          <a:no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cxnSp>
        <p:nvCxnSpPr>
          <p:cNvPr id="127" name="直接箭头连接符 126"/>
          <p:cNvCxnSpPr>
            <a:stCxn id="103" idx="4"/>
            <a:endCxn id="123" idx="0"/>
          </p:cNvCxnSpPr>
          <p:nvPr/>
        </p:nvCxnSpPr>
        <p:spPr>
          <a:xfrm flipH="1">
            <a:off x="6443095" y="4479137"/>
            <a:ext cx="292553" cy="437424"/>
          </a:xfrm>
          <a:prstGeom prst="straightConnector1">
            <a:avLst/>
          </a:prstGeom>
          <a:noFill/>
          <a:ln w="9525" cap="flat" cmpd="sng" algn="ctr">
            <a:solidFill>
              <a:sysClr val="windowText" lastClr="000000"/>
            </a:solidFill>
            <a:prstDash val="solid"/>
            <a:tailEnd type="triangle"/>
          </a:ln>
          <a:effectLst/>
        </p:spPr>
      </p:cxnSp>
      <p:sp>
        <p:nvSpPr>
          <p:cNvPr id="129" name="圆角矩形 128"/>
          <p:cNvSpPr/>
          <p:nvPr/>
        </p:nvSpPr>
        <p:spPr>
          <a:xfrm>
            <a:off x="1375000" y="6168887"/>
            <a:ext cx="1149461" cy="563212"/>
          </a:xfrm>
          <a:prstGeom prst="roundRect">
            <a:avLst/>
          </a:prstGeom>
          <a:solidFill>
            <a:srgbClr val="FFC000"/>
          </a:solidFill>
          <a:ln w="25400" cap="flat" cmpd="sng" algn="ctr">
            <a:solidFill>
              <a:srgbClr val="FFC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后半学期的基础内容</a:t>
            </a:r>
            <a:endParaRPr kumimoji="0" lang="zh-CN" altLang="en-US" sz="14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130" name="圆角矩形 129"/>
          <p:cNvSpPr/>
          <p:nvPr/>
        </p:nvSpPr>
        <p:spPr>
          <a:xfrm>
            <a:off x="2660379" y="6168887"/>
            <a:ext cx="1149461" cy="563212"/>
          </a:xfrm>
          <a:prstGeom prst="roundRect">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后半学期的选学内容</a:t>
            </a:r>
            <a:endParaRPr kumimoji="0" lang="zh-CN" altLang="en-US" sz="14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131" name="圆角矩形 130"/>
          <p:cNvSpPr/>
          <p:nvPr/>
        </p:nvSpPr>
        <p:spPr>
          <a:xfrm>
            <a:off x="112813" y="6168887"/>
            <a:ext cx="1149461" cy="56321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已学的内容</a:t>
            </a:r>
            <a:endParaRPr kumimoji="0" lang="zh-CN" altLang="en-US" sz="14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cxnSp>
        <p:nvCxnSpPr>
          <p:cNvPr id="132" name="直接箭头连接符 131"/>
          <p:cNvCxnSpPr>
            <a:stCxn id="133" idx="4"/>
            <a:endCxn id="122" idx="0"/>
          </p:cNvCxnSpPr>
          <p:nvPr/>
        </p:nvCxnSpPr>
        <p:spPr>
          <a:xfrm flipH="1">
            <a:off x="1139889" y="4480278"/>
            <a:ext cx="1545062" cy="409672"/>
          </a:xfrm>
          <a:prstGeom prst="straightConnector1">
            <a:avLst/>
          </a:prstGeom>
          <a:noFill/>
          <a:ln w="9525" cap="flat" cmpd="sng" algn="ctr">
            <a:solidFill>
              <a:sysClr val="windowText" lastClr="000000"/>
            </a:solidFill>
            <a:prstDash val="solid"/>
            <a:tailEnd type="triangle"/>
          </a:ln>
          <a:effectLst/>
        </p:spPr>
      </p:cxnSp>
      <p:sp>
        <p:nvSpPr>
          <p:cNvPr id="77" name="TextBox 76"/>
          <p:cNvSpPr txBox="1"/>
          <p:nvPr/>
        </p:nvSpPr>
        <p:spPr>
          <a:xfrm>
            <a:off x="7440142" y="3789040"/>
            <a:ext cx="372218" cy="477054"/>
          </a:xfrm>
          <a:prstGeom prst="rect">
            <a:avLst/>
          </a:prstGeom>
          <a:noFill/>
        </p:spPr>
        <p:txBody>
          <a:bodyPr wrap="none" rtlCol="0">
            <a:spAutoFit/>
          </a:bodyPr>
          <a:lstStyle/>
          <a:p>
            <a:r>
              <a:rPr lang="en-US" altLang="zh-CN" sz="2500" b="1" dirty="0">
                <a:solidFill>
                  <a:srgbClr val="0070C0"/>
                </a:solidFill>
                <a:latin typeface="Gill Sans MT" panose="020B0502020104020203"/>
                <a:ea typeface="华文中宋" panose="02010600040101010101" charset="-122"/>
              </a:rPr>
              <a:t>+</a:t>
            </a:r>
            <a:endParaRPr lang="zh-CN" altLang="en-US" sz="2500" b="1" dirty="0">
              <a:solidFill>
                <a:srgbClr val="0070C0"/>
              </a:solidFill>
              <a:latin typeface="Gill Sans MT" panose="020B0502020104020203"/>
              <a:ea typeface="华文中宋" panose="02010600040101010101" charset="-122"/>
            </a:endParaRPr>
          </a:p>
        </p:txBody>
      </p:sp>
      <p:sp>
        <p:nvSpPr>
          <p:cNvPr id="86" name="TextBox 85"/>
          <p:cNvSpPr txBox="1"/>
          <p:nvPr/>
        </p:nvSpPr>
        <p:spPr>
          <a:xfrm>
            <a:off x="5580112" y="3789040"/>
            <a:ext cx="372218" cy="477054"/>
          </a:xfrm>
          <a:prstGeom prst="rect">
            <a:avLst/>
          </a:prstGeom>
          <a:noFill/>
        </p:spPr>
        <p:txBody>
          <a:bodyPr wrap="none" rtlCol="0">
            <a:spAutoFit/>
          </a:bodyPr>
          <a:lstStyle/>
          <a:p>
            <a:r>
              <a:rPr lang="en-US" altLang="zh-CN" sz="2500" b="1" dirty="0">
                <a:solidFill>
                  <a:srgbClr val="0070C0"/>
                </a:solidFill>
                <a:latin typeface="Gill Sans MT" panose="020B0502020104020203"/>
                <a:ea typeface="华文中宋" panose="02010600040101010101" charset="-122"/>
              </a:rPr>
              <a:t>+</a:t>
            </a:r>
            <a:endParaRPr lang="zh-CN" altLang="en-US" sz="2500" b="1" dirty="0">
              <a:solidFill>
                <a:srgbClr val="0070C0"/>
              </a:solidFill>
              <a:latin typeface="Gill Sans MT" panose="020B0502020104020203"/>
              <a:ea typeface="华文中宋" panose="02010600040101010101" charset="-122"/>
            </a:endParaRPr>
          </a:p>
        </p:txBody>
      </p:sp>
      <p:sp>
        <p:nvSpPr>
          <p:cNvPr id="103" name="椭圆 102"/>
          <p:cNvSpPr/>
          <p:nvPr/>
        </p:nvSpPr>
        <p:spPr>
          <a:xfrm>
            <a:off x="6246433" y="3544859"/>
            <a:ext cx="978430" cy="934278"/>
          </a:xfrm>
          <a:prstGeom prst="ellipse">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kern="0" dirty="0">
                <a:solidFill>
                  <a:prstClr val="white"/>
                </a:solidFill>
                <a:latin typeface="Gill Sans MT" panose="020B0502020104020203"/>
                <a:ea typeface="华文中宋" panose="02010600040101010101" charset="-122"/>
              </a:rPr>
              <a:t>算法</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107" name="椭圆 106"/>
          <p:cNvSpPr/>
          <p:nvPr/>
        </p:nvSpPr>
        <p:spPr>
          <a:xfrm>
            <a:off x="7956376" y="3574842"/>
            <a:ext cx="978430" cy="934278"/>
          </a:xfrm>
          <a:prstGeom prst="ellipse">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文件</a:t>
            </a:r>
            <a:endParaRPr kumimoji="0" lang="en-US" altLang="zh-CN"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工程</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71" name="圆角矩形 70"/>
          <p:cNvSpPr/>
          <p:nvPr/>
        </p:nvSpPr>
        <p:spPr>
          <a:xfrm>
            <a:off x="3059832" y="4917600"/>
            <a:ext cx="768626" cy="622852"/>
          </a:xfrm>
          <a:prstGeom prst="roundRect">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栈</a:t>
            </a:r>
            <a:endParaRPr kumimoji="0" lang="en-US" altLang="zh-CN"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队列</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cxnSp>
        <p:nvCxnSpPr>
          <p:cNvPr id="118" name="直接箭头连接符 117"/>
          <p:cNvCxnSpPr>
            <a:stCxn id="70" idx="4"/>
            <a:endCxn id="71" idx="0"/>
          </p:cNvCxnSpPr>
          <p:nvPr/>
        </p:nvCxnSpPr>
        <p:spPr>
          <a:xfrm flipH="1">
            <a:off x="3444145" y="4479137"/>
            <a:ext cx="1358720" cy="438463"/>
          </a:xfrm>
          <a:prstGeom prst="straightConnector1">
            <a:avLst/>
          </a:prstGeom>
          <a:noFill/>
          <a:ln w="9525" cap="flat" cmpd="sng" algn="ctr">
            <a:solidFill>
              <a:sysClr val="windowText" lastClr="000000"/>
            </a:solidFill>
            <a:prstDash val="solid"/>
            <a:tailEnd type="triangle"/>
          </a:ln>
          <a:effectLst/>
        </p:spPr>
      </p:cxnSp>
      <p:sp>
        <p:nvSpPr>
          <p:cNvPr id="133" name="椭圆 132"/>
          <p:cNvSpPr/>
          <p:nvPr/>
        </p:nvSpPr>
        <p:spPr>
          <a:xfrm>
            <a:off x="2195736" y="3546000"/>
            <a:ext cx="978430" cy="934278"/>
          </a:xfrm>
          <a:prstGeom prst="ellipse">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kern="0" dirty="0">
                <a:solidFill>
                  <a:prstClr val="white"/>
                </a:solidFill>
                <a:latin typeface="Gill Sans MT" panose="020B0502020104020203"/>
                <a:ea typeface="华文中宋" panose="02010600040101010101" charset="-122"/>
              </a:rPr>
              <a:t>语</a:t>
            </a:r>
            <a:r>
              <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rPr>
              <a:t>法</a:t>
            </a:r>
            <a:endParaRPr kumimoji="0" lang="zh-CN" altLang="en-US" sz="1800" b="0" i="0" u="none" strike="noStrike" kern="0" cap="none" spc="0" normalizeH="0" baseline="0" noProof="0" dirty="0">
              <a:ln>
                <a:noFill/>
              </a:ln>
              <a:solidFill>
                <a:prstClr val="white"/>
              </a:solidFill>
              <a:effectLst/>
              <a:uLnTx/>
              <a:uFillTx/>
              <a:latin typeface="Gill Sans MT" panose="020B0502020104020203"/>
              <a:ea typeface="华文中宋" panose="02010600040101010101" charset="-122"/>
              <a:cs typeface="+mn-cs"/>
            </a:endParaRPr>
          </a:p>
        </p:txBody>
      </p:sp>
      <p:sp>
        <p:nvSpPr>
          <p:cNvPr id="134" name="圆角矩形 133"/>
          <p:cNvSpPr/>
          <p:nvPr/>
        </p:nvSpPr>
        <p:spPr>
          <a:xfrm>
            <a:off x="6805685" y="1417978"/>
            <a:ext cx="877968" cy="622852"/>
          </a:xfrm>
          <a:prstGeom prst="roundRect">
            <a:avLst/>
          </a:prstGeom>
          <a:solidFill>
            <a:sysClr val="window" lastClr="FFFFFF">
              <a:lumMod val="50000"/>
            </a:sysClr>
          </a:solidFill>
          <a:ln w="25400" cap="flat" cmpd="sng" algn="ctr">
            <a:solidFill>
              <a:sysClr val="window" lastClr="FFFFFF">
                <a:lumMod val="50000"/>
              </a:sysClr>
            </a:solidFill>
            <a:prstDash val="solid"/>
          </a:ln>
          <a:effectLst/>
        </p:spPr>
        <p:txBody>
          <a:bodyPr lIns="0" rIns="0" rtlCol="0" anchor="ctr"/>
          <a:lstStyle/>
          <a:p>
            <a:pPr lvl="0" algn="ctr">
              <a:defRPr/>
            </a:pPr>
            <a:r>
              <a:rPr lang="zh-CN" altLang="en-US" sz="1500" kern="0" dirty="0">
                <a:solidFill>
                  <a:prstClr val="white"/>
                </a:solidFill>
                <a:latin typeface="Gill Sans MT" panose="020B0502020104020203"/>
                <a:ea typeface="华文中宋" panose="02010600040101010101" charset="-122"/>
              </a:rPr>
              <a:t>冒泡排序</a:t>
            </a:r>
            <a:endParaRPr lang="en-US" altLang="zh-CN" sz="1500" kern="0" dirty="0">
              <a:solidFill>
                <a:prstClr val="white"/>
              </a:solidFill>
              <a:latin typeface="Gill Sans MT" panose="020B0502020104020203"/>
              <a:ea typeface="华文中宋" panose="02010600040101010101" charset="-122"/>
            </a:endParaRPr>
          </a:p>
          <a:p>
            <a:pPr lvl="0" algn="ctr">
              <a:defRPr/>
            </a:pPr>
            <a:r>
              <a:rPr lang="zh-CN" altLang="en-US" sz="1500" kern="0" dirty="0">
                <a:solidFill>
                  <a:prstClr val="white"/>
                </a:solidFill>
                <a:latin typeface="Gill Sans MT" panose="020B0502020104020203"/>
                <a:ea typeface="华文中宋" panose="02010600040101010101" charset="-122"/>
              </a:rPr>
              <a:t>选择排序</a:t>
            </a:r>
            <a:endParaRPr lang="zh-CN" altLang="en-US" sz="1500" kern="0" dirty="0">
              <a:solidFill>
                <a:prstClr val="white"/>
              </a:solidFill>
              <a:latin typeface="Gill Sans MT" panose="020B0502020104020203"/>
              <a:ea typeface="华文中宋" panose="02010600040101010101" charset="-122"/>
            </a:endParaRPr>
          </a:p>
        </p:txBody>
      </p:sp>
      <p:sp>
        <p:nvSpPr>
          <p:cNvPr id="136" name="圆角矩形 135"/>
          <p:cNvSpPr/>
          <p:nvPr/>
        </p:nvSpPr>
        <p:spPr>
          <a:xfrm>
            <a:off x="4355976" y="4925806"/>
            <a:ext cx="758691" cy="622852"/>
          </a:xfrm>
          <a:prstGeom prst="roundRect">
            <a:avLst/>
          </a:prstGeom>
          <a:solidFill>
            <a:srgbClr val="FFC000"/>
          </a:solidFill>
          <a:ln w="25400" cap="flat" cmpd="sng" algn="ctr">
            <a:solidFill>
              <a:srgbClr val="FFC000"/>
            </a:solidFill>
            <a:prstDash val="solid"/>
          </a:ln>
          <a:effectLst/>
        </p:spPr>
        <p:txBody>
          <a:bodyPr rtlCol="0" anchor="ctr"/>
          <a:lstStyle/>
          <a:p>
            <a:pPr algn="ctr"/>
            <a:r>
              <a:rPr lang="zh-CN" altLang="en-US" kern="0" dirty="0">
                <a:solidFill>
                  <a:prstClr val="black"/>
                </a:solidFill>
                <a:latin typeface="Gill Sans MT" panose="020B0502020104020203"/>
                <a:ea typeface="华文中宋" panose="02010600040101010101" charset="-122"/>
              </a:rPr>
              <a:t>递归分治</a:t>
            </a:r>
            <a:endParaRPr lang="zh-CN" altLang="en-US" kern="0" dirty="0">
              <a:solidFill>
                <a:prstClr val="black"/>
              </a:solidFill>
              <a:latin typeface="Gill Sans MT" panose="020B0502020104020203"/>
              <a:ea typeface="华文中宋" panose="02010600040101010101" charset="-122"/>
            </a:endParaRPr>
          </a:p>
        </p:txBody>
      </p:sp>
      <p:cxnSp>
        <p:nvCxnSpPr>
          <p:cNvPr id="137" name="直接箭头连接符 136"/>
          <p:cNvCxnSpPr>
            <a:stCxn id="103" idx="4"/>
            <a:endCxn id="136" idx="0"/>
          </p:cNvCxnSpPr>
          <p:nvPr/>
        </p:nvCxnSpPr>
        <p:spPr>
          <a:xfrm flipH="1">
            <a:off x="4735322" y="4479137"/>
            <a:ext cx="2000326" cy="446669"/>
          </a:xfrm>
          <a:prstGeom prst="straightConnector1">
            <a:avLst/>
          </a:prstGeom>
          <a:noFill/>
          <a:ln w="9525" cap="flat" cmpd="sng" algn="ctr">
            <a:solidFill>
              <a:sysClr val="windowText" lastClr="000000"/>
            </a:solidFill>
            <a:prstDash val="solid"/>
            <a:tailEnd type="triangle"/>
          </a:ln>
          <a:effectLst/>
        </p:spPr>
      </p:cxnSp>
      <p:sp>
        <p:nvSpPr>
          <p:cNvPr id="138" name="圆角矩形 137"/>
          <p:cNvSpPr/>
          <p:nvPr/>
        </p:nvSpPr>
        <p:spPr>
          <a:xfrm>
            <a:off x="7380312" y="4916480"/>
            <a:ext cx="768626" cy="622852"/>
          </a:xfrm>
          <a:prstGeom prst="roundRect">
            <a:avLst/>
          </a:prstGeom>
          <a:solidFill>
            <a:srgbClr val="FFC000"/>
          </a:solidFill>
          <a:ln w="25400" cap="flat" cmpd="sng" algn="ctr">
            <a:solidFill>
              <a:srgbClr val="FFC000"/>
            </a:solidFill>
            <a:prstDash val="solid"/>
          </a:ln>
          <a:effectLst/>
        </p:spPr>
        <p:txBody>
          <a:bodyPr rtlCol="0" anchor="ctr"/>
          <a:lstStyle/>
          <a:p>
            <a:pPr algn="ctr"/>
            <a:r>
              <a:rPr lang="zh-CN" altLang="en-US" kern="0" dirty="0">
                <a:solidFill>
                  <a:prstClr val="black"/>
                </a:solidFill>
                <a:latin typeface="Gill Sans MT" panose="020B0502020104020203"/>
                <a:ea typeface="华文中宋" panose="02010600040101010101" charset="-122"/>
              </a:rPr>
              <a:t>文件</a:t>
            </a:r>
            <a:endParaRPr lang="en-US" altLang="zh-CN" kern="0" dirty="0">
              <a:solidFill>
                <a:prstClr val="black"/>
              </a:solidFill>
              <a:latin typeface="Gill Sans MT" panose="020B0502020104020203"/>
              <a:ea typeface="华文中宋" panose="02010600040101010101" charset="-122"/>
            </a:endParaRPr>
          </a:p>
        </p:txBody>
      </p:sp>
      <p:sp>
        <p:nvSpPr>
          <p:cNvPr id="140" name="圆角矩形 139"/>
          <p:cNvSpPr/>
          <p:nvPr/>
        </p:nvSpPr>
        <p:spPr>
          <a:xfrm>
            <a:off x="8244408" y="4916480"/>
            <a:ext cx="768626" cy="622852"/>
          </a:xfrm>
          <a:prstGeom prst="roundRect">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工程</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cxnSp>
        <p:nvCxnSpPr>
          <p:cNvPr id="141" name="直接箭头连接符 140"/>
          <p:cNvCxnSpPr>
            <a:stCxn id="107" idx="4"/>
            <a:endCxn id="140" idx="0"/>
          </p:cNvCxnSpPr>
          <p:nvPr/>
        </p:nvCxnSpPr>
        <p:spPr>
          <a:xfrm>
            <a:off x="8445591" y="4509120"/>
            <a:ext cx="183130" cy="407360"/>
          </a:xfrm>
          <a:prstGeom prst="straightConnector1">
            <a:avLst/>
          </a:prstGeom>
          <a:noFill/>
          <a:ln w="9525" cap="flat" cmpd="sng" algn="ctr">
            <a:solidFill>
              <a:sysClr val="windowText" lastClr="000000"/>
            </a:solidFill>
            <a:prstDash val="solid"/>
            <a:tailEnd type="triangle"/>
          </a:ln>
          <a:effectLst/>
        </p:spPr>
      </p:cxnSp>
      <p:sp>
        <p:nvSpPr>
          <p:cNvPr id="142" name="圆角矩形 141"/>
          <p:cNvSpPr/>
          <p:nvPr/>
        </p:nvSpPr>
        <p:spPr>
          <a:xfrm>
            <a:off x="7956376" y="2511279"/>
            <a:ext cx="758691" cy="622852"/>
          </a:xfrm>
          <a:prstGeom prst="roundRect">
            <a:avLst/>
          </a:prstGeom>
          <a:solidFill>
            <a:sysClr val="window" lastClr="FFFFFF">
              <a:lumMod val="85000"/>
            </a:sysClr>
          </a:solidFill>
          <a:ln w="25400" cap="flat" cmpd="sng" algn="ctr">
            <a:solidFill>
              <a:sysClr val="window" lastClr="FFFFFF">
                <a:lumMod val="9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查找</a:t>
            </a:r>
            <a:endParaRPr kumimoji="0" lang="en-US" altLang="zh-CN"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排序</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cxnSp>
        <p:nvCxnSpPr>
          <p:cNvPr id="143" name="直接箭头连接符 142"/>
          <p:cNvCxnSpPr>
            <a:stCxn id="103" idx="0"/>
            <a:endCxn id="142" idx="2"/>
          </p:cNvCxnSpPr>
          <p:nvPr/>
        </p:nvCxnSpPr>
        <p:spPr>
          <a:xfrm flipV="1">
            <a:off x="6735648" y="3134131"/>
            <a:ext cx="1600074" cy="410728"/>
          </a:xfrm>
          <a:prstGeom prst="straightConnector1">
            <a:avLst/>
          </a:prstGeom>
          <a:noFill/>
          <a:ln w="9525" cap="flat" cmpd="sng" algn="ctr">
            <a:solidFill>
              <a:sysClr val="windowText" lastClr="000000"/>
            </a:solidFill>
            <a:prstDash val="solid"/>
            <a:tailEnd type="triangle"/>
          </a:ln>
          <a:effectLst/>
        </p:spPr>
      </p:cxnSp>
      <p:sp>
        <p:nvSpPr>
          <p:cNvPr id="144" name="圆角矩形 143"/>
          <p:cNvSpPr/>
          <p:nvPr/>
        </p:nvSpPr>
        <p:spPr>
          <a:xfrm>
            <a:off x="7798488" y="1420901"/>
            <a:ext cx="877968" cy="622852"/>
          </a:xfrm>
          <a:prstGeom prst="roundRect">
            <a:avLst/>
          </a:prstGeom>
          <a:solidFill>
            <a:srgbClr val="FFC000"/>
          </a:solidFill>
          <a:ln w="25400" cap="flat" cmpd="sng" algn="ctr">
            <a:solidFill>
              <a:srgbClr val="FFC000"/>
            </a:solidFill>
            <a:prstDash val="solid"/>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5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归并排序</a:t>
            </a:r>
            <a:endParaRPr kumimoji="0" lang="en-US" altLang="zh-CN" sz="15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5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快速排序</a:t>
            </a:r>
            <a:endParaRPr kumimoji="0" lang="zh-CN" altLang="en-US" sz="15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cxnSp>
        <p:nvCxnSpPr>
          <p:cNvPr id="145" name="直接箭头连接符 144"/>
          <p:cNvCxnSpPr>
            <a:stCxn id="142" idx="0"/>
            <a:endCxn id="144" idx="2"/>
          </p:cNvCxnSpPr>
          <p:nvPr/>
        </p:nvCxnSpPr>
        <p:spPr>
          <a:xfrm flipH="1" flipV="1">
            <a:off x="8237472" y="2043753"/>
            <a:ext cx="98250" cy="467526"/>
          </a:xfrm>
          <a:prstGeom prst="straightConnector1">
            <a:avLst/>
          </a:prstGeom>
          <a:noFill/>
          <a:ln w="9525" cap="flat" cmpd="sng" algn="ctr">
            <a:solidFill>
              <a:sysClr val="windowText" lastClr="000000"/>
            </a:solidFill>
            <a:prstDash val="solid"/>
            <a:tailEnd type="triangle"/>
          </a:ln>
          <a:effectLst/>
        </p:spPr>
      </p:cxnSp>
      <p:sp>
        <p:nvSpPr>
          <p:cNvPr id="146" name="圆角矩形 145"/>
          <p:cNvSpPr/>
          <p:nvPr/>
        </p:nvSpPr>
        <p:spPr>
          <a:xfrm>
            <a:off x="8808912" y="1417978"/>
            <a:ext cx="251788" cy="622852"/>
          </a:xfrm>
          <a:prstGeom prst="roundRect">
            <a:avLst/>
          </a:prstGeom>
          <a:no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cxnSp>
        <p:nvCxnSpPr>
          <p:cNvPr id="147" name="直接箭头连接符 146"/>
          <p:cNvCxnSpPr>
            <a:stCxn id="142" idx="0"/>
            <a:endCxn id="146" idx="2"/>
          </p:cNvCxnSpPr>
          <p:nvPr/>
        </p:nvCxnSpPr>
        <p:spPr>
          <a:xfrm flipV="1">
            <a:off x="8335722" y="2040830"/>
            <a:ext cx="599084" cy="470449"/>
          </a:xfrm>
          <a:prstGeom prst="straightConnector1">
            <a:avLst/>
          </a:prstGeom>
          <a:noFill/>
          <a:ln w="9525" cap="flat" cmpd="sng" algn="ctr">
            <a:solidFill>
              <a:sysClr val="windowText" lastClr="000000"/>
            </a:solidFill>
            <a:prstDash val="solid"/>
            <a:tailEnd type="triangle"/>
          </a:ln>
          <a:effectLst/>
        </p:spPr>
      </p:cxnSp>
      <p:cxnSp>
        <p:nvCxnSpPr>
          <p:cNvPr id="148" name="直接箭头连接符 147"/>
          <p:cNvCxnSpPr>
            <a:stCxn id="142" idx="0"/>
            <a:endCxn id="134" idx="2"/>
          </p:cNvCxnSpPr>
          <p:nvPr/>
        </p:nvCxnSpPr>
        <p:spPr>
          <a:xfrm flipH="1" flipV="1">
            <a:off x="7244669" y="2040830"/>
            <a:ext cx="1091053" cy="470449"/>
          </a:xfrm>
          <a:prstGeom prst="straightConnector1">
            <a:avLst/>
          </a:prstGeom>
          <a:noFill/>
          <a:ln w="9525" cap="flat" cmpd="sng" algn="ctr">
            <a:solidFill>
              <a:sysClr val="windowText" lastClr="000000"/>
            </a:solidFill>
            <a:prstDash val="solid"/>
            <a:tailEnd type="triangle"/>
          </a:ln>
          <a:effectLst/>
        </p:spPr>
      </p:cxnSp>
      <p:cxnSp>
        <p:nvCxnSpPr>
          <p:cNvPr id="149" name="直接箭头连接符 148"/>
          <p:cNvCxnSpPr>
            <a:stCxn id="142" idx="0"/>
            <a:endCxn id="109" idx="2"/>
          </p:cNvCxnSpPr>
          <p:nvPr/>
        </p:nvCxnSpPr>
        <p:spPr>
          <a:xfrm flipH="1" flipV="1">
            <a:off x="6250429" y="2043753"/>
            <a:ext cx="2085293" cy="467526"/>
          </a:xfrm>
          <a:prstGeom prst="straightConnector1">
            <a:avLst/>
          </a:prstGeom>
          <a:noFill/>
          <a:ln w="9525" cap="flat" cmpd="sng" algn="ctr">
            <a:solidFill>
              <a:sysClr val="windowText" lastClr="000000"/>
            </a:solidFill>
            <a:prstDash val="solid"/>
            <a:tailEnd type="triangle"/>
          </a:ln>
          <a:effectLst/>
        </p:spPr>
      </p:cxnSp>
      <p:cxnSp>
        <p:nvCxnSpPr>
          <p:cNvPr id="150" name="直接箭头连接符 149"/>
          <p:cNvCxnSpPr>
            <a:stCxn id="107" idx="4"/>
            <a:endCxn id="138" idx="0"/>
          </p:cNvCxnSpPr>
          <p:nvPr/>
        </p:nvCxnSpPr>
        <p:spPr>
          <a:xfrm flipH="1">
            <a:off x="7764625" y="4509120"/>
            <a:ext cx="680966" cy="407360"/>
          </a:xfrm>
          <a:prstGeom prst="straightConnector1">
            <a:avLst/>
          </a:prstGeom>
          <a:noFill/>
          <a:ln w="9525" cap="flat" cmpd="sng" algn="ctr">
            <a:solidFill>
              <a:sysClr val="windowText" lastClr="000000"/>
            </a:solidFill>
            <a:prstDash val="solid"/>
            <a:tailEnd type="triangle"/>
          </a:ln>
          <a:effectLst/>
        </p:spPr>
      </p:cxnSp>
      <p:sp>
        <p:nvSpPr>
          <p:cNvPr id="72" name="圆角矩形 104"/>
          <p:cNvSpPr/>
          <p:nvPr/>
        </p:nvSpPr>
        <p:spPr>
          <a:xfrm>
            <a:off x="5568660" y="5857461"/>
            <a:ext cx="1170812" cy="622852"/>
          </a:xfrm>
          <a:prstGeom prst="roundRect">
            <a:avLst/>
          </a:prstGeom>
          <a:solidFill>
            <a:srgbClr val="FFC000"/>
          </a:solidFill>
          <a:ln w="25400" cap="flat" cmpd="sng" algn="ctr">
            <a:solidFill>
              <a:srgbClr val="FFC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rPr>
              <a:t>C++</a:t>
            </a:r>
            <a:endParaRPr kumimoji="0" lang="en-US" altLang="zh-CN"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kern="0" dirty="0">
                <a:solidFill>
                  <a:prstClr val="black"/>
                </a:solidFill>
                <a:latin typeface="Gill Sans MT" panose="020B0502020104020203"/>
                <a:ea typeface="华文中宋" panose="02010600040101010101" charset="-122"/>
              </a:rPr>
              <a:t>面向对象</a:t>
            </a:r>
            <a:endParaRPr kumimoji="0" lang="zh-CN" altLang="en-US" sz="1800" b="0" i="0" u="none" strike="noStrike" kern="0" cap="none" spc="0" normalizeH="0" baseline="0" noProof="0" dirty="0">
              <a:ln>
                <a:noFill/>
              </a:ln>
              <a:solidFill>
                <a:prstClr val="black"/>
              </a:solidFill>
              <a:effectLst/>
              <a:uLnTx/>
              <a:uFillTx/>
              <a:latin typeface="Gill Sans MT" panose="020B0502020104020203"/>
              <a:ea typeface="华文中宋" panose="02010600040101010101" charset="-122"/>
              <a:cs typeface="+mn-cs"/>
            </a:endParaRPr>
          </a:p>
        </p:txBody>
      </p:sp>
      <p:sp>
        <p:nvSpPr>
          <p:cNvPr id="2" name="加号 1"/>
          <p:cNvSpPr/>
          <p:nvPr/>
        </p:nvSpPr>
        <p:spPr>
          <a:xfrm>
            <a:off x="4842809" y="5834360"/>
            <a:ext cx="638148" cy="669054"/>
          </a:xfrm>
          <a:prstGeom prst="mathPlus">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进制转换</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14:m>
                  <m:oMath xmlns:m="http://schemas.openxmlformats.org/officeDocument/2006/math">
                    <m:r>
                      <a:rPr lang="en-US" altLang="zh-CN" b="0" i="1" smtClean="0">
                        <a:latin typeface="Cambria Math" panose="02040503050406030204" pitchFamily="18" charset="0"/>
                      </a:rPr>
                      <m:t>𝑘</m:t>
                    </m:r>
                  </m:oMath>
                </a14:m>
                <a:r>
                  <a:rPr lang="zh-CN" altLang="en-US" dirty="0"/>
                  <a:t>进制：只用</a:t>
                </a:r>
                <a14:m>
                  <m:oMath xmlns:m="http://schemas.openxmlformats.org/officeDocument/2006/math">
                    <m:r>
                      <a:rPr lang="en-US" altLang="zh-CN" i="1">
                        <a:latin typeface="Cambria Math" panose="02040503050406030204" pitchFamily="18" charset="0"/>
                      </a:rPr>
                      <m:t>𝑘</m:t>
                    </m:r>
                  </m:oMath>
                </a14:m>
                <a:r>
                  <a:rPr lang="zh-CN" altLang="en-US" dirty="0"/>
                  <a:t>个符号，逢</a:t>
                </a:r>
                <a14:m>
                  <m:oMath xmlns:m="http://schemas.openxmlformats.org/officeDocument/2006/math">
                    <m:r>
                      <a:rPr lang="en-US" altLang="zh-CN" i="1">
                        <a:latin typeface="Cambria Math" panose="02040503050406030204" pitchFamily="18" charset="0"/>
                      </a:rPr>
                      <m:t>𝑘</m:t>
                    </m:r>
                    <m:r>
                      <a:rPr lang="zh-CN" altLang="en-US" i="1" smtClean="0">
                        <a:latin typeface="Cambria Math" panose="02040503050406030204" pitchFamily="18" charset="0"/>
                      </a:rPr>
                      <m:t>进位</m:t>
                    </m:r>
                  </m:oMath>
                </a14:m>
                <a:endParaRPr lang="en-US" altLang="zh-CN" dirty="0"/>
              </a:p>
              <a:p>
                <a:pPr lvl="1"/>
                <a:r>
                  <a:rPr lang="zh-CN" altLang="en-US" sz="2400" dirty="0"/>
                  <a:t>某进制系统有</a:t>
                </a:r>
                <a:r>
                  <a:rPr lang="en-US" altLang="zh-CN" sz="2400" dirty="0"/>
                  <a:t>2</a:t>
                </a:r>
                <a:r>
                  <a:rPr lang="zh-CN" altLang="en-US" sz="2400" dirty="0"/>
                  <a:t>个符号</a:t>
                </a:r>
                <a:r>
                  <a:rPr lang="en-US" altLang="zh-CN" sz="2400" dirty="0"/>
                  <a:t>0</a:t>
                </a:r>
                <a:r>
                  <a:rPr lang="zh-CN" altLang="en-US" sz="2400" dirty="0"/>
                  <a:t>和</a:t>
                </a:r>
                <a:r>
                  <a:rPr lang="en-US" altLang="zh-CN" sz="2400" dirty="0"/>
                  <a:t>1</a:t>
                </a:r>
                <a:r>
                  <a:rPr lang="zh-CN" altLang="en-US" sz="2400" dirty="0"/>
                  <a:t>（表示为“</a:t>
                </a:r>
                <a:r>
                  <a:rPr lang="en-US" altLang="zh-CN" sz="2400" dirty="0"/>
                  <a:t>01</a:t>
                </a:r>
                <a:r>
                  <a:rPr lang="zh-CN" altLang="en-US" sz="2400" dirty="0"/>
                  <a:t>”）</a:t>
                </a:r>
                <a:endParaRPr lang="en-US" altLang="zh-CN" sz="2400" dirty="0"/>
              </a:p>
              <a:p>
                <a:pPr lvl="2"/>
                <a:r>
                  <a:rPr lang="zh-CN" altLang="en-US" sz="2000" dirty="0"/>
                  <a:t> 是几进制呢？</a:t>
                </a:r>
                <a:endParaRPr lang="en-US" altLang="zh-CN" sz="2000" dirty="0"/>
              </a:p>
              <a:p>
                <a:pPr lvl="2"/>
                <a:r>
                  <a:rPr lang="zh-CN" altLang="en-US" sz="2000" dirty="0"/>
                  <a:t>最小的</a:t>
                </a:r>
                <a:r>
                  <a:rPr lang="en-US" altLang="zh-CN" sz="2000" dirty="0"/>
                  <a:t>10</a:t>
                </a:r>
                <a:r>
                  <a:rPr lang="zh-CN" altLang="en-US" sz="2000" dirty="0"/>
                  <a:t>个数是怎么表示呢？</a:t>
                </a:r>
                <a:endParaRPr lang="en-US" altLang="zh-CN" sz="2000" dirty="0"/>
              </a:p>
              <a:p>
                <a:pPr lvl="1"/>
                <a:r>
                  <a:rPr lang="zh-CN" altLang="en-US" sz="2400" dirty="0"/>
                  <a:t>某进制系统有</a:t>
                </a:r>
                <a:r>
                  <a:rPr lang="en-US" altLang="zh-CN" sz="2400" dirty="0"/>
                  <a:t>16</a:t>
                </a:r>
                <a:r>
                  <a:rPr lang="zh-CN" altLang="en-US" sz="2400" dirty="0"/>
                  <a:t>个符号：“</a:t>
                </a:r>
                <a:r>
                  <a:rPr lang="en-US" altLang="zh-CN" sz="2400" dirty="0"/>
                  <a:t>0123456789abcdef</a:t>
                </a:r>
                <a:r>
                  <a:rPr lang="zh-CN" altLang="en-US" sz="2400" dirty="0"/>
                  <a:t>”</a:t>
                </a:r>
                <a:endParaRPr lang="en-US" altLang="zh-CN" sz="2400" dirty="0"/>
              </a:p>
              <a:p>
                <a:pPr lvl="2"/>
                <a:r>
                  <a:rPr lang="zh-CN" altLang="en-US" sz="2000" dirty="0"/>
                  <a:t> 是几进制呢？</a:t>
                </a:r>
                <a:endParaRPr lang="en-US" altLang="zh-CN" sz="2000" dirty="0"/>
              </a:p>
              <a:p>
                <a:pPr lvl="2"/>
                <a:r>
                  <a:rPr lang="zh-CN" altLang="en-US" sz="2000" dirty="0"/>
                  <a:t>最小的</a:t>
                </a:r>
                <a:r>
                  <a:rPr lang="en-US" altLang="zh-CN" sz="2000" dirty="0"/>
                  <a:t>10</a:t>
                </a:r>
                <a:r>
                  <a:rPr lang="zh-CN" altLang="en-US" sz="2000" dirty="0"/>
                  <a:t>个数是怎么表示呢？</a:t>
                </a:r>
                <a:endParaRPr lang="en-US" altLang="zh-CN" sz="2000" dirty="0"/>
              </a:p>
              <a:p>
                <a:pPr lvl="1"/>
                <a:r>
                  <a:rPr lang="zh-CN" altLang="en-US" sz="2400" dirty="0"/>
                  <a:t>某进制系统有</a:t>
                </a:r>
                <a:r>
                  <a:rPr lang="en-US" altLang="zh-CN" sz="2400" dirty="0"/>
                  <a:t>9</a:t>
                </a:r>
                <a:r>
                  <a:rPr lang="zh-CN" altLang="en-US" sz="2400" dirty="0"/>
                  <a:t>个符号： “</a:t>
                </a:r>
                <a:r>
                  <a:rPr lang="en-US" altLang="zh-CN" sz="2400" dirty="0" err="1"/>
                  <a:t>xyzabcdef</a:t>
                </a:r>
                <a:r>
                  <a:rPr lang="zh-CN" altLang="en-US" sz="2400" dirty="0"/>
                  <a:t>”</a:t>
                </a:r>
                <a:endParaRPr lang="en-US" altLang="zh-CN" sz="2400" dirty="0"/>
              </a:p>
              <a:p>
                <a:pPr lvl="2"/>
                <a:r>
                  <a:rPr lang="zh-CN" altLang="en-US" sz="2000" dirty="0"/>
                  <a:t> 是几进制呢？</a:t>
                </a:r>
                <a:endParaRPr lang="en-US" altLang="zh-CN" sz="2000" dirty="0"/>
              </a:p>
              <a:p>
                <a:pPr lvl="2"/>
                <a:r>
                  <a:rPr lang="zh-CN" altLang="en-US" sz="2000" dirty="0"/>
                  <a:t>最小的</a:t>
                </a:r>
                <a:r>
                  <a:rPr lang="en-US" altLang="zh-CN" sz="2000" dirty="0"/>
                  <a:t>10</a:t>
                </a:r>
                <a:r>
                  <a:rPr lang="zh-CN" altLang="en-US" sz="2000" dirty="0"/>
                  <a:t>个数是怎么表示呢？</a:t>
                </a:r>
                <a:endParaRPr lang="en-US" altLang="zh-CN" sz="2000" dirty="0"/>
              </a:p>
              <a:p>
                <a:pPr lvl="1"/>
                <a:endParaRPr lang="en-US" altLang="zh-CN" sz="2400" dirty="0"/>
              </a:p>
              <a:p>
                <a:pPr lvl="1"/>
                <a:endParaRPr lang="en-US" altLang="zh-CN" dirty="0"/>
              </a:p>
              <a:p>
                <a:endParaRPr lang="en-US" altLang="zh-CN" sz="2400" dirty="0"/>
              </a:p>
              <a:p>
                <a:pPr lvl="2"/>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t="-9" r="5" b="-1667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进制转换</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lnSpcReduction="10000"/>
              </a:bodyPr>
              <a:lstStyle/>
              <a:p>
                <a14:m>
                  <m:oMath xmlns:m="http://schemas.openxmlformats.org/officeDocument/2006/math">
                    <m:r>
                      <a:rPr lang="en-US" altLang="zh-CN" b="0" i="1" smtClean="0">
                        <a:latin typeface="Cambria Math" panose="02040503050406030204" pitchFamily="18" charset="0"/>
                      </a:rPr>
                      <m:t>𝑘</m:t>
                    </m:r>
                  </m:oMath>
                </a14:m>
                <a:r>
                  <a:rPr lang="zh-CN" altLang="en-US" dirty="0"/>
                  <a:t>进制：只用</a:t>
                </a:r>
                <a14:m>
                  <m:oMath xmlns:m="http://schemas.openxmlformats.org/officeDocument/2006/math">
                    <m:r>
                      <a:rPr lang="en-US" altLang="zh-CN" i="1">
                        <a:latin typeface="Cambria Math" panose="02040503050406030204" pitchFamily="18" charset="0"/>
                      </a:rPr>
                      <m:t>𝑘</m:t>
                    </m:r>
                  </m:oMath>
                </a14:m>
                <a:r>
                  <a:rPr lang="zh-CN" altLang="en-US" dirty="0"/>
                  <a:t>个符号，逢</a:t>
                </a:r>
                <a14:m>
                  <m:oMath xmlns:m="http://schemas.openxmlformats.org/officeDocument/2006/math">
                    <m:r>
                      <a:rPr lang="en-US" altLang="zh-CN" i="1">
                        <a:latin typeface="Cambria Math" panose="02040503050406030204" pitchFamily="18" charset="0"/>
                      </a:rPr>
                      <m:t>𝑘</m:t>
                    </m:r>
                    <m:r>
                      <a:rPr lang="zh-CN" altLang="en-US" i="1" smtClean="0">
                        <a:latin typeface="Cambria Math" panose="02040503050406030204" pitchFamily="18" charset="0"/>
                      </a:rPr>
                      <m:t>进位</m:t>
                    </m:r>
                  </m:oMath>
                </a14:m>
                <a:endParaRPr lang="en-US" altLang="zh-CN" dirty="0"/>
              </a:p>
              <a:p>
                <a:endParaRPr lang="en-US" altLang="zh-CN" dirty="0"/>
              </a:p>
              <a:p>
                <a:r>
                  <a:rPr lang="zh-CN" altLang="en-US" dirty="0"/>
                  <a:t>二进制转十进制</a:t>
                </a:r>
                <a:endParaRPr lang="en-US" altLang="zh-CN" dirty="0"/>
              </a:p>
              <a:p>
                <a:pPr lvl="1"/>
                <a:r>
                  <a:rPr lang="zh-CN" altLang="en-US" sz="2400" dirty="0"/>
                  <a:t>二进制</a:t>
                </a:r>
                <a:r>
                  <a:rPr lang="en-US" altLang="zh-CN" sz="2400" dirty="0"/>
                  <a:t>110</a:t>
                </a:r>
                <a:r>
                  <a:rPr lang="zh-CN" altLang="en-US" sz="2400" dirty="0"/>
                  <a:t>是十进制的多少呢？</a:t>
                </a:r>
                <a:endParaRPr lang="en-US" altLang="zh-CN" sz="2400" dirty="0"/>
              </a:p>
              <a:p>
                <a:pPr lvl="1"/>
                <a:r>
                  <a:rPr lang="zh-CN" altLang="en-US" sz="2400" dirty="0"/>
                  <a:t>转十进制公式</a:t>
                </a:r>
                <a:endParaRPr lang="en-US" altLang="zh-CN" sz="2400" dirty="0"/>
              </a:p>
              <a:p>
                <a:pPr lvl="2"/>
                <a:r>
                  <a:rPr lang="zh-CN" altLang="en-US" sz="2400" b="0" dirty="0"/>
                  <a:t>转换</a:t>
                </a:r>
                <a:r>
                  <a:rPr lang="en-US" altLang="zh-CN" sz="2400" b="0" dirty="0"/>
                  <a:t>110</a:t>
                </a:r>
                <a:r>
                  <a:rPr lang="zh-CN" altLang="en-US" sz="2400" b="0" dirty="0"/>
                  <a:t>：</a:t>
                </a:r>
                <a14:m>
                  <m:oMath xmlns:m="http://schemas.openxmlformats.org/officeDocument/2006/math">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2</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2</m:t>
                        </m:r>
                      </m:e>
                      <m:sup>
                        <m:r>
                          <a:rPr lang="en-US" altLang="zh-CN" sz="2400" b="0" i="1" smtClean="0">
                            <a:latin typeface="Cambria Math" panose="02040503050406030204" pitchFamily="18" charset="0"/>
                          </a:rPr>
                          <m:t>1</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2</m:t>
                        </m:r>
                      </m:e>
                      <m:sup>
                        <m:r>
                          <a:rPr lang="en-US" altLang="zh-CN" sz="2400" b="0" i="1" smtClean="0">
                            <a:latin typeface="Cambria Math" panose="02040503050406030204" pitchFamily="18" charset="0"/>
                          </a:rPr>
                          <m:t>0</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6</m:t>
                    </m:r>
                  </m:oMath>
                </a14:m>
                <a:endParaRPr lang="en-US" altLang="zh-CN" sz="2400" dirty="0"/>
              </a:p>
              <a:p>
                <a:pPr lvl="2"/>
                <a:r>
                  <a:rPr lang="zh-CN" altLang="en-US" sz="2400" dirty="0"/>
                  <a:t>转换</a:t>
                </a:r>
                <a:r>
                  <a:rPr lang="en-US" altLang="zh-CN" sz="2400" dirty="0" err="1"/>
                  <a:t>abc</a:t>
                </a:r>
                <a:r>
                  <a:rPr lang="zh-CN" altLang="en-US" sz="2400" dirty="0"/>
                  <a:t>：</a:t>
                </a:r>
                <a:r>
                  <a:rPr lang="en-US" altLang="zh-CN" sz="2400" b="0" dirty="0"/>
                  <a:t> </a:t>
                </a:r>
                <a14:m>
                  <m:oMath xmlns:m="http://schemas.openxmlformats.org/officeDocument/2006/math">
                    <m:r>
                      <m:rPr>
                        <m:sty m:val="p"/>
                      </m:rPr>
                      <a:rPr lang="en-US" altLang="zh-CN" sz="2400" i="1">
                        <a:latin typeface="Cambria Math" panose="02040503050406030204" pitchFamily="18" charset="0"/>
                      </a:rPr>
                      <m:t>a</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2</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𝑏</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2</m:t>
                        </m:r>
                      </m:e>
                      <m:sup>
                        <m:r>
                          <a:rPr lang="en-US" altLang="zh-CN" sz="2400" b="0" i="1" smtClean="0">
                            <a:latin typeface="Cambria Math" panose="02040503050406030204" pitchFamily="18" charset="0"/>
                          </a:rPr>
                          <m:t>1</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𝑐</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2</m:t>
                        </m:r>
                      </m:e>
                      <m:sup>
                        <m:r>
                          <a:rPr lang="en-US" altLang="zh-CN" sz="2400" b="0" i="1" smtClean="0">
                            <a:latin typeface="Cambria Math" panose="02040503050406030204" pitchFamily="18" charset="0"/>
                          </a:rPr>
                          <m:t>0</m:t>
                        </m:r>
                      </m:sup>
                    </m:sSup>
                  </m:oMath>
                </a14:m>
                <a:endParaRPr lang="en-US" altLang="zh-CN" sz="2400" dirty="0"/>
              </a:p>
              <a:p>
                <a:endParaRPr lang="en-US" altLang="zh-CN" dirty="0"/>
              </a:p>
              <a:p>
                <a14:m>
                  <m:oMath xmlns:m="http://schemas.openxmlformats.org/officeDocument/2006/math">
                    <m:r>
                      <a:rPr lang="en-US" altLang="zh-CN" smtClean="0">
                        <a:latin typeface="Cambria Math" panose="02040503050406030204" pitchFamily="18" charset="0"/>
                      </a:rPr>
                      <m:t>𝑘</m:t>
                    </m:r>
                  </m:oMath>
                </a14:m>
                <a:r>
                  <a:rPr lang="zh-CN" altLang="en-US" dirty="0"/>
                  <a:t>进制转十进制</a:t>
                </a:r>
                <a:endParaRPr lang="en-US" altLang="zh-CN" dirty="0"/>
              </a:p>
              <a:p>
                <a:pPr marL="802005" lvl="3" indent="-342900">
                  <a:spcBef>
                    <a:spcPts val="1000"/>
                  </a:spcBef>
                </a:pPr>
                <a:r>
                  <a:rPr lang="zh-CN" altLang="en-US" sz="2400" dirty="0"/>
                  <a:t>第</a:t>
                </a:r>
                <a:r>
                  <a:rPr lang="en-US" altLang="zh-CN" sz="2400" dirty="0"/>
                  <a:t>m</a:t>
                </a:r>
                <a:r>
                  <a:rPr lang="zh-CN" altLang="en-US" sz="2400" dirty="0"/>
                  <a:t>位中的</a:t>
                </a:r>
                <a:r>
                  <a:rPr lang="en-US" altLang="zh-CN" sz="2400" dirty="0"/>
                  <a:t>1</a:t>
                </a:r>
                <a:r>
                  <a:rPr lang="zh-CN" altLang="en-US" sz="2400" dirty="0"/>
                  <a:t>代表十进制中</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𝑘</m:t>
                        </m:r>
                      </m:e>
                      <m:sup>
                        <m:r>
                          <m:rPr>
                            <m:sty m:val="p"/>
                          </m:rPr>
                          <a:rPr lang="en-US" altLang="zh-CN" sz="2400" b="0" i="0" smtClean="0">
                            <a:latin typeface="Cambria Math" panose="02040503050406030204" pitchFamily="18" charset="0"/>
                          </a:rPr>
                          <m:t>m</m:t>
                        </m:r>
                        <m:r>
                          <a:rPr lang="en-US" altLang="zh-CN" sz="2400" b="0" i="0" smtClean="0">
                            <a:latin typeface="Cambria Math" panose="02040503050406030204" pitchFamily="18" charset="0"/>
                          </a:rPr>
                          <m:t>−</m:t>
                        </m:r>
                        <m:r>
                          <a:rPr lang="en-US" altLang="zh-CN" sz="2400" b="0" i="0" smtClean="0">
                            <a:latin typeface="Cambria Math" panose="02040503050406030204" pitchFamily="18" charset="0"/>
                          </a:rPr>
                          <m:t>1</m:t>
                        </m:r>
                      </m:sup>
                    </m:sSup>
                  </m:oMath>
                </a14:m>
                <a:endParaRPr lang="en-US" altLang="zh-CN" sz="2400" dirty="0"/>
              </a:p>
              <a:p>
                <a:pPr marL="802005" lvl="3" indent="-342900">
                  <a:spcBef>
                    <a:spcPts val="1000"/>
                  </a:spcBef>
                </a:pPr>
                <a:r>
                  <a:rPr lang="zh-CN" altLang="en-US" sz="2400" dirty="0"/>
                  <a:t>转换</a:t>
                </a:r>
                <a:r>
                  <a:rPr lang="en-US" altLang="zh-CN" sz="2400" dirty="0" err="1"/>
                  <a:t>abc</a:t>
                </a:r>
                <a:r>
                  <a:rPr lang="zh-CN" altLang="en-US" sz="2400" dirty="0"/>
                  <a:t>：</a:t>
                </a:r>
                <a:r>
                  <a:rPr lang="en-US" altLang="zh-CN" sz="2400" dirty="0"/>
                  <a:t> </a:t>
                </a:r>
                <a14:m>
                  <m:oMath xmlns:m="http://schemas.openxmlformats.org/officeDocument/2006/math">
                    <m:r>
                      <a:rPr lang="en-US" altLang="zh-CN" sz="2400">
                        <a:latin typeface="Cambria Math" panose="02040503050406030204" pitchFamily="18" charset="0"/>
                      </a:rPr>
                      <m:t>𝑎</m:t>
                    </m:r>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𝑘</m:t>
                        </m:r>
                      </m:e>
                      <m:sup>
                        <m:r>
                          <a:rPr lang="en-US" altLang="zh-CN" sz="2400">
                            <a:latin typeface="Cambria Math" panose="02040503050406030204" pitchFamily="18" charset="0"/>
                          </a:rPr>
                          <m:t>2</m:t>
                        </m:r>
                      </m:sup>
                    </m:sSup>
                    <m:r>
                      <a:rPr lang="en-US" altLang="zh-CN" sz="2400">
                        <a:latin typeface="Cambria Math" panose="02040503050406030204" pitchFamily="18" charset="0"/>
                      </a:rPr>
                      <m:t>+</m:t>
                    </m:r>
                    <m:r>
                      <a:rPr lang="en-US" altLang="zh-CN" sz="2400">
                        <a:latin typeface="Cambria Math" panose="02040503050406030204" pitchFamily="18" charset="0"/>
                      </a:rPr>
                      <m:t>𝑏</m:t>
                    </m:r>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𝑘</m:t>
                        </m:r>
                      </m:e>
                      <m:sup>
                        <m:r>
                          <a:rPr lang="en-US" altLang="zh-CN" sz="2400">
                            <a:latin typeface="Cambria Math" panose="02040503050406030204" pitchFamily="18" charset="0"/>
                          </a:rPr>
                          <m:t>1</m:t>
                        </m:r>
                      </m:sup>
                    </m:sSup>
                    <m:r>
                      <a:rPr lang="en-US" altLang="zh-CN" sz="2400">
                        <a:latin typeface="Cambria Math" panose="02040503050406030204" pitchFamily="18" charset="0"/>
                      </a:rPr>
                      <m:t>+</m:t>
                    </m:r>
                    <m:r>
                      <a:rPr lang="en-US" altLang="zh-CN" sz="2400">
                        <a:latin typeface="Cambria Math" panose="02040503050406030204" pitchFamily="18" charset="0"/>
                      </a:rPr>
                      <m:t>𝑐</m:t>
                    </m:r>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𝑘</m:t>
                        </m:r>
                      </m:e>
                      <m:sup>
                        <m:r>
                          <a:rPr lang="en-US" altLang="zh-CN" sz="2400">
                            <a:latin typeface="Cambria Math" panose="02040503050406030204" pitchFamily="18" charset="0"/>
                          </a:rPr>
                          <m:t>0</m:t>
                        </m:r>
                      </m:sup>
                    </m:sSup>
                  </m:oMath>
                </a14:m>
                <a:endParaRPr lang="en-US" altLang="zh-CN" sz="2400" dirty="0"/>
              </a:p>
              <a:p>
                <a:pPr lvl="2"/>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t="-22" r="5" b="-6461"/>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进制转换</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14:m>
                  <m:oMath xmlns:m="http://schemas.openxmlformats.org/officeDocument/2006/math">
                    <m:r>
                      <a:rPr lang="en-US" altLang="zh-CN" smtClean="0">
                        <a:latin typeface="Cambria Math" panose="02040503050406030204" pitchFamily="18" charset="0"/>
                      </a:rPr>
                      <m:t>𝑘</m:t>
                    </m:r>
                  </m:oMath>
                </a14:m>
                <a:r>
                  <a:rPr lang="zh-CN" altLang="en-US" dirty="0"/>
                  <a:t>进制转十进制</a:t>
                </a:r>
                <a:endParaRPr lang="en-US" altLang="zh-CN" dirty="0"/>
              </a:p>
              <a:p>
                <a:pPr marL="802005" lvl="3" indent="-342900">
                  <a:spcBef>
                    <a:spcPts val="1000"/>
                  </a:spcBef>
                </a:pPr>
                <a:r>
                  <a:rPr lang="zh-CN" altLang="en-US" sz="2400" dirty="0"/>
                  <a:t>转换</a:t>
                </a:r>
                <a:r>
                  <a:rPr lang="en-US" altLang="zh-CN" sz="2400" dirty="0" err="1"/>
                  <a:t>abc</a:t>
                </a:r>
                <a:r>
                  <a:rPr lang="zh-CN" altLang="en-US" sz="2400" dirty="0"/>
                  <a:t>：</a:t>
                </a:r>
                <a:r>
                  <a:rPr lang="en-US" altLang="zh-CN" sz="2400" dirty="0"/>
                  <a:t> </a:t>
                </a:r>
                <a14:m>
                  <m:oMath xmlns:m="http://schemas.openxmlformats.org/officeDocument/2006/math">
                    <m:r>
                      <a:rPr lang="en-US" altLang="zh-CN" sz="2400">
                        <a:latin typeface="Cambria Math" panose="02040503050406030204" pitchFamily="18" charset="0"/>
                      </a:rPr>
                      <m:t>𝑎</m:t>
                    </m:r>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𝑘</m:t>
                        </m:r>
                      </m:e>
                      <m:sup>
                        <m:r>
                          <a:rPr lang="en-US" altLang="zh-CN" sz="2400">
                            <a:latin typeface="Cambria Math" panose="02040503050406030204" pitchFamily="18" charset="0"/>
                          </a:rPr>
                          <m:t>2</m:t>
                        </m:r>
                      </m:sup>
                    </m:sSup>
                    <m:r>
                      <a:rPr lang="en-US" altLang="zh-CN" sz="2400">
                        <a:latin typeface="Cambria Math" panose="02040503050406030204" pitchFamily="18" charset="0"/>
                      </a:rPr>
                      <m:t>+</m:t>
                    </m:r>
                    <m:r>
                      <a:rPr lang="en-US" altLang="zh-CN" sz="2400">
                        <a:latin typeface="Cambria Math" panose="02040503050406030204" pitchFamily="18" charset="0"/>
                      </a:rPr>
                      <m:t>𝑏</m:t>
                    </m:r>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𝑘</m:t>
                        </m:r>
                      </m:e>
                      <m:sup>
                        <m:r>
                          <a:rPr lang="en-US" altLang="zh-CN" sz="2400">
                            <a:latin typeface="Cambria Math" panose="02040503050406030204" pitchFamily="18" charset="0"/>
                          </a:rPr>
                          <m:t>1</m:t>
                        </m:r>
                      </m:sup>
                    </m:sSup>
                    <m:r>
                      <a:rPr lang="en-US" altLang="zh-CN" sz="2400">
                        <a:latin typeface="Cambria Math" panose="02040503050406030204" pitchFamily="18" charset="0"/>
                      </a:rPr>
                      <m:t>+</m:t>
                    </m:r>
                    <m:r>
                      <a:rPr lang="en-US" altLang="zh-CN" sz="2400">
                        <a:latin typeface="Cambria Math" panose="02040503050406030204" pitchFamily="18" charset="0"/>
                      </a:rPr>
                      <m:t>𝑐</m:t>
                    </m:r>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𝑘</m:t>
                        </m:r>
                      </m:e>
                      <m:sup>
                        <m:r>
                          <a:rPr lang="en-US" altLang="zh-CN" sz="2400">
                            <a:latin typeface="Cambria Math" panose="02040503050406030204" pitchFamily="18" charset="0"/>
                          </a:rPr>
                          <m:t>0</m:t>
                        </m:r>
                      </m:sup>
                    </m:sSup>
                  </m:oMath>
                </a14:m>
                <a:endParaRPr lang="en-US" altLang="zh-CN" dirty="0"/>
              </a:p>
              <a:p>
                <a:endParaRPr lang="en-US" altLang="zh-CN" dirty="0"/>
              </a:p>
              <a:p>
                <a:r>
                  <a:rPr lang="zh-CN" altLang="en-US" dirty="0"/>
                  <a:t>十进制转</a:t>
                </a:r>
                <a14:m>
                  <m:oMath xmlns:m="http://schemas.openxmlformats.org/officeDocument/2006/math">
                    <m:r>
                      <a:rPr lang="en-US" altLang="zh-CN" smtClean="0">
                        <a:latin typeface="Cambria Math" panose="02040503050406030204" pitchFamily="18" charset="0"/>
                      </a:rPr>
                      <m:t>𝑘</m:t>
                    </m:r>
                  </m:oMath>
                </a14:m>
                <a:r>
                  <a:rPr lang="zh-CN" altLang="en-US" dirty="0"/>
                  <a:t>进制</a:t>
                </a:r>
                <a:endParaRPr lang="en-US" altLang="zh-CN" dirty="0"/>
              </a:p>
              <a:p>
                <a:pPr lvl="1"/>
                <a:r>
                  <a:rPr lang="zh-CN" altLang="en-US" dirty="0"/>
                  <a:t>十进制</a:t>
                </a:r>
                <a:r>
                  <a:rPr lang="en-US" altLang="zh-CN" dirty="0"/>
                  <a:t>6</a:t>
                </a:r>
                <a:r>
                  <a:rPr lang="zh-CN" altLang="en-US" dirty="0"/>
                  <a:t>如何转换为</a:t>
                </a:r>
                <a:r>
                  <a:rPr lang="en-US" altLang="zh-CN" dirty="0"/>
                  <a:t>2</a:t>
                </a:r>
                <a:r>
                  <a:rPr lang="zh-CN" altLang="en-US" dirty="0"/>
                  <a:t>进制数？</a:t>
                </a:r>
                <a:endParaRPr lang="en-US" altLang="zh-CN" dirty="0"/>
              </a:p>
              <a:p>
                <a:pPr marL="397510" lvl="1" indent="0">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6</m:t>
                      </m:r>
                      <m:r>
                        <a:rPr lang="en-US" altLang="zh-CN" sz="2000" b="0" i="1" smtClean="0">
                          <a:latin typeface="Cambria Math" panose="02040503050406030204" pitchFamily="18" charset="0"/>
                        </a:rPr>
                        <m:t>=</m:t>
                      </m:r>
                      <m:r>
                        <m:rPr>
                          <m:sty m:val="p"/>
                        </m:rPr>
                        <a:rPr lang="en-US" altLang="zh-CN" sz="2000" i="1" smtClean="0">
                          <a:latin typeface="Cambria Math" panose="02040503050406030204" pitchFamily="18" charset="0"/>
                        </a:rPr>
                        <m:t>a</m:t>
                      </m:r>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2</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𝑏</m:t>
                      </m:r>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2</m:t>
                          </m:r>
                        </m:e>
                        <m:sup>
                          <m:r>
                            <a:rPr lang="en-US" altLang="zh-CN" sz="2000" b="0" i="1" smtClean="0">
                              <a:latin typeface="Cambria Math" panose="02040503050406030204" pitchFamily="18" charset="0"/>
                            </a:rPr>
                            <m:t>1</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𝑐</m:t>
                      </m:r>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2</m:t>
                          </m:r>
                        </m:e>
                        <m:sup>
                          <m:r>
                            <a:rPr lang="en-US" altLang="zh-CN" sz="2000" b="0" i="1" smtClean="0">
                              <a:latin typeface="Cambria Math" panose="02040503050406030204" pitchFamily="18" charset="0"/>
                            </a:rPr>
                            <m:t>0</m:t>
                          </m:r>
                        </m:sup>
                      </m:sSup>
                    </m:oMath>
                  </m:oMathPara>
                </a14:m>
                <a:endParaRPr lang="en-US" altLang="zh-CN" dirty="0"/>
              </a:p>
              <a:p>
                <a:pPr marL="397510" lvl="1" indent="0">
                  <a:buNone/>
                </a:pPr>
                <a:r>
                  <a:rPr lang="en-US" altLang="zh-CN" dirty="0"/>
                  <a:t>                                            </a:t>
                </a:r>
                <a:r>
                  <a:rPr lang="en-US" altLang="zh-CN" dirty="0" err="1"/>
                  <a:t>a,b,c</a:t>
                </a:r>
                <a:r>
                  <a:rPr lang="zh-CN" altLang="en-US" dirty="0"/>
                  <a:t>分别为多少？</a:t>
                </a:r>
                <a:endParaRPr lang="en-US" altLang="zh-CN" dirty="0"/>
              </a:p>
              <a:p>
                <a:pPr lvl="1"/>
                <a:r>
                  <a:rPr lang="zh-CN" altLang="en-US" dirty="0"/>
                  <a:t>转换公式：取模整除法</a:t>
                </a:r>
                <a:endParaRPr lang="en-US" altLang="zh-CN" dirty="0"/>
              </a:p>
              <a:p>
                <a:pPr lvl="2"/>
                <a:r>
                  <a:rPr lang="zh-CN" altLang="en-US" dirty="0"/>
                  <a:t>对</a:t>
                </a:r>
                <a14:m>
                  <m:oMath xmlns:m="http://schemas.openxmlformats.org/officeDocument/2006/math">
                    <m:r>
                      <a:rPr lang="en-US" altLang="zh-CN" b="0" i="1" smtClean="0">
                        <a:latin typeface="Cambria Math" panose="02040503050406030204" pitchFamily="18" charset="0"/>
                      </a:rPr>
                      <m:t>𝑘</m:t>
                    </m:r>
                    <m:r>
                      <a:rPr lang="zh-CN" altLang="en-US" i="1">
                        <a:latin typeface="Cambria Math" panose="02040503050406030204" pitchFamily="18" charset="0"/>
                      </a:rPr>
                      <m:t>取模</m:t>
                    </m:r>
                  </m:oMath>
                </a14:m>
                <a:r>
                  <a:rPr lang="zh-CN" altLang="en-US" dirty="0"/>
                  <a:t>得到个位数</a:t>
                </a:r>
                <a:endParaRPr lang="en-US" altLang="zh-CN" dirty="0"/>
              </a:p>
              <a:p>
                <a:pPr lvl="2"/>
                <a:r>
                  <a:rPr lang="zh-CN" altLang="en-US" dirty="0"/>
                  <a:t>整除后对对</a:t>
                </a:r>
                <a14:m>
                  <m:oMath xmlns:m="http://schemas.openxmlformats.org/officeDocument/2006/math">
                    <m:r>
                      <a:rPr lang="en-US" altLang="zh-CN" i="1">
                        <a:latin typeface="Cambria Math" panose="02040503050406030204" pitchFamily="18" charset="0"/>
                      </a:rPr>
                      <m:t>𝑘</m:t>
                    </m:r>
                    <m:r>
                      <a:rPr lang="zh-CN" altLang="en-US" i="1">
                        <a:latin typeface="Cambria Math" panose="02040503050406030204" pitchFamily="18" charset="0"/>
                      </a:rPr>
                      <m:t>取模</m:t>
                    </m:r>
                  </m:oMath>
                </a14:m>
                <a:r>
                  <a:rPr lang="zh-CN" altLang="en-US" dirty="0"/>
                  <a:t>得到十位数</a:t>
                </a:r>
                <a:endParaRPr lang="en-US" altLang="zh-CN" dirty="0"/>
              </a:p>
              <a:p>
                <a:pPr lvl="2"/>
                <a:r>
                  <a:rPr lang="en-US" altLang="zh-CN" dirty="0"/>
                  <a:t>……</a:t>
                </a:r>
                <a:endParaRPr lang="en-US" altLang="zh-CN" dirty="0"/>
              </a:p>
              <a:p>
                <a:pPr lvl="1"/>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t="-9" r="5" b="3"/>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yoj129. </a:t>
            </a:r>
            <a:r>
              <a:rPr lang="zh-CN" altLang="en-US" dirty="0"/>
              <a:t>外星数字</a:t>
            </a:r>
            <a:endParaRPr lang="zh-CN" altLang="en-US" dirty="0"/>
          </a:p>
        </p:txBody>
      </p:sp>
      <p:sp>
        <p:nvSpPr>
          <p:cNvPr id="3" name="内容占位符 2"/>
          <p:cNvSpPr>
            <a:spLocks noGrp="1"/>
          </p:cNvSpPr>
          <p:nvPr>
            <p:ph idx="1"/>
          </p:nvPr>
        </p:nvSpPr>
        <p:spPr/>
        <p:txBody>
          <a:bodyPr>
            <a:normAutofit/>
          </a:bodyPr>
          <a:lstStyle/>
          <a:p>
            <a:r>
              <a:rPr lang="zh-CN" altLang="en-US" b="0" i="0" dirty="0">
                <a:effectLst/>
                <a:latin typeface="Open Sans" panose="020B0606030504020204" pitchFamily="34" charset="0"/>
              </a:rPr>
              <a:t>十进制计数系统是由</a:t>
            </a:r>
            <a:r>
              <a:rPr lang="en-US" altLang="zh-CN" b="0" i="0" dirty="0">
                <a:effectLst/>
                <a:latin typeface="Open Sans" panose="020B0606030504020204" pitchFamily="34" charset="0"/>
              </a:rPr>
              <a:t>10</a:t>
            </a:r>
            <a:r>
              <a:rPr lang="zh-CN" altLang="en-US" b="0" i="0" dirty="0">
                <a:effectLst/>
                <a:latin typeface="Open Sans" panose="020B0606030504020204" pitchFamily="34" charset="0"/>
              </a:rPr>
              <a:t>个数字组成（</a:t>
            </a:r>
            <a:r>
              <a:rPr lang="en-US" altLang="zh-CN" b="0" i="0" dirty="0">
                <a:effectLst/>
                <a:latin typeface="Open Sans" panose="020B0606030504020204" pitchFamily="34" charset="0"/>
              </a:rPr>
              <a:t>0123456789,</a:t>
            </a:r>
            <a:r>
              <a:rPr lang="zh-CN" altLang="en-US" b="0" i="0" dirty="0">
                <a:effectLst/>
                <a:latin typeface="Open Sans" panose="020B0606030504020204" pitchFamily="34" charset="0"/>
              </a:rPr>
              <a:t>组成计数系统的数字由小到大排列）</a:t>
            </a:r>
            <a:r>
              <a:rPr lang="en-US" altLang="zh-CN" b="0" i="0" dirty="0">
                <a:effectLst/>
                <a:latin typeface="Open Sans" panose="020B0606030504020204" pitchFamily="34" charset="0"/>
              </a:rPr>
              <a:t>,</a:t>
            </a:r>
            <a:r>
              <a:rPr lang="zh-CN" altLang="en-US" b="0" i="0" dirty="0">
                <a:effectLst/>
                <a:latin typeface="Open Sans" panose="020B0606030504020204" pitchFamily="34" charset="0"/>
              </a:rPr>
              <a:t>想像一下你现在发现了一个由一些字符组成的外星人的计数系统，可能与十进制的相同也可能不相同</a:t>
            </a:r>
            <a:endParaRPr lang="en-US" altLang="zh-CN" b="0" i="0" dirty="0">
              <a:effectLst/>
              <a:latin typeface="Open Sans" panose="020B0606030504020204" pitchFamily="34" charset="0"/>
            </a:endParaRPr>
          </a:p>
          <a:p>
            <a:pPr lvl="1"/>
            <a:r>
              <a:rPr lang="zh-CN" altLang="en-US" b="0" i="0" dirty="0">
                <a:effectLst/>
                <a:latin typeface="Open Sans" panose="020B0606030504020204" pitchFamily="34" charset="0"/>
              </a:rPr>
              <a:t>例如，如果外星计数系统表示为“</a:t>
            </a:r>
            <a:r>
              <a:rPr lang="en-US" altLang="zh-CN" b="0" i="0" dirty="0">
                <a:effectLst/>
                <a:latin typeface="Open Sans" panose="020B0606030504020204" pitchFamily="34" charset="0"/>
              </a:rPr>
              <a:t>oF8”</a:t>
            </a:r>
            <a:r>
              <a:rPr lang="zh-CN" altLang="en-US" b="0" i="0" dirty="0">
                <a:effectLst/>
                <a:latin typeface="Open Sans" panose="020B0606030504020204" pitchFamily="34" charset="0"/>
              </a:rPr>
              <a:t>（即该计数系统用</a:t>
            </a:r>
            <a:r>
              <a:rPr lang="en-US" altLang="zh-CN" b="0" i="0" dirty="0">
                <a:effectLst/>
                <a:latin typeface="Open Sans" panose="020B0606030504020204" pitchFamily="34" charset="0"/>
              </a:rPr>
              <a:t>3</a:t>
            </a:r>
            <a:r>
              <a:rPr lang="zh-CN" altLang="en-US" b="0" i="0" dirty="0">
                <a:effectLst/>
                <a:latin typeface="Open Sans" panose="020B0606030504020204" pitchFamily="34" charset="0"/>
              </a:rPr>
              <a:t>个符号表示，</a:t>
            </a:r>
            <a:r>
              <a:rPr lang="en-US" altLang="zh-CN" b="0" i="0" dirty="0">
                <a:effectLst/>
                <a:latin typeface="Open Sans" panose="020B0606030504020204" pitchFamily="34" charset="0"/>
              </a:rPr>
              <a:t>o</a:t>
            </a:r>
            <a:r>
              <a:rPr lang="zh-CN" altLang="en-US" b="0" i="0" dirty="0">
                <a:effectLst/>
                <a:latin typeface="Open Sans" panose="020B0606030504020204" pitchFamily="34" charset="0"/>
              </a:rPr>
              <a:t>是其中最小的字符）那么在这个计数系统中的</a:t>
            </a:r>
            <a:r>
              <a:rPr lang="en-US" altLang="zh-CN" b="0" i="0" dirty="0">
                <a:effectLst/>
                <a:latin typeface="Open Sans" panose="020B0606030504020204" pitchFamily="34" charset="0"/>
              </a:rPr>
              <a:t>1</a:t>
            </a:r>
            <a:r>
              <a:rPr lang="zh-CN" altLang="en-US" b="0" i="0" dirty="0">
                <a:effectLst/>
                <a:latin typeface="Open Sans" panose="020B0606030504020204" pitchFamily="34" charset="0"/>
              </a:rPr>
              <a:t>到</a:t>
            </a:r>
            <a:r>
              <a:rPr lang="en-US" altLang="zh-CN" b="0" i="0" dirty="0">
                <a:effectLst/>
                <a:latin typeface="Open Sans" panose="020B0606030504020204" pitchFamily="34" charset="0"/>
              </a:rPr>
              <a:t>10</a:t>
            </a:r>
            <a:r>
              <a:rPr lang="zh-CN" altLang="en-US" b="0" i="0" dirty="0">
                <a:effectLst/>
                <a:latin typeface="Open Sans" panose="020B0606030504020204" pitchFamily="34" charset="0"/>
              </a:rPr>
              <a:t>将被表示为：</a:t>
            </a:r>
            <a:r>
              <a:rPr lang="en-US" altLang="zh-CN" b="0" i="0" dirty="0">
                <a:effectLst/>
                <a:latin typeface="Open Sans" panose="020B0606030504020204" pitchFamily="34" charset="0"/>
              </a:rPr>
              <a:t>F,8,Fo,FF,F8,8o,8F,88,Foo,FoF</a:t>
            </a:r>
            <a:r>
              <a:rPr lang="zh-CN" altLang="en-US" b="0" i="0" dirty="0">
                <a:effectLst/>
                <a:latin typeface="Open Sans" panose="020B0606030504020204" pitchFamily="34" charset="0"/>
              </a:rPr>
              <a:t>；</a:t>
            </a:r>
            <a:endParaRPr lang="en-US" altLang="zh-CN" b="0" i="0" dirty="0">
              <a:effectLst/>
              <a:latin typeface="Open Sans" panose="020B0606030504020204" pitchFamily="34" charset="0"/>
            </a:endParaRPr>
          </a:p>
          <a:p>
            <a:pPr lvl="1"/>
            <a:r>
              <a:rPr lang="zh-CN" altLang="en-US" dirty="0">
                <a:latin typeface="Open Sans" panose="020B0606030504020204" pitchFamily="34" charset="0"/>
              </a:rPr>
              <a:t>例</a:t>
            </a:r>
            <a:r>
              <a:rPr lang="zh-CN" altLang="en-US" b="0" i="0" dirty="0">
                <a:effectLst/>
                <a:latin typeface="Open Sans" panose="020B0606030504020204" pitchFamily="34" charset="0"/>
              </a:rPr>
              <a:t>如，二进制计数系统表示为</a:t>
            </a:r>
            <a:r>
              <a:rPr lang="en-US" altLang="zh-CN" b="0" i="0" dirty="0">
                <a:effectLst/>
                <a:latin typeface="Open Sans" panose="020B0606030504020204" pitchFamily="34" charset="0"/>
              </a:rPr>
              <a:t>"01",</a:t>
            </a:r>
            <a:r>
              <a:rPr lang="zh-CN" altLang="en-US" b="0" i="0" dirty="0">
                <a:effectLst/>
                <a:latin typeface="Open Sans" panose="020B0606030504020204" pitchFamily="34" charset="0"/>
              </a:rPr>
              <a:t>即该系统中所有数字都由字符</a:t>
            </a:r>
            <a:r>
              <a:rPr lang="en-US" altLang="zh-CN" b="0" i="0" dirty="0">
                <a:effectLst/>
                <a:latin typeface="Open Sans" panose="020B0606030504020204" pitchFamily="34" charset="0"/>
              </a:rPr>
              <a:t>0,1</a:t>
            </a:r>
            <a:r>
              <a:rPr lang="zh-CN" altLang="en-US" b="0" i="0" dirty="0">
                <a:effectLst/>
                <a:latin typeface="Open Sans" panose="020B0606030504020204" pitchFamily="34" charset="0"/>
              </a:rPr>
              <a:t>组成，二进制系统中的</a:t>
            </a:r>
            <a:r>
              <a:rPr lang="en-US" altLang="zh-CN" b="0" i="0" dirty="0">
                <a:effectLst/>
                <a:latin typeface="Open Sans" panose="020B0606030504020204" pitchFamily="34" charset="0"/>
              </a:rPr>
              <a:t>1</a:t>
            </a:r>
            <a:r>
              <a:rPr lang="zh-CN" altLang="en-US" b="0" i="0" dirty="0">
                <a:effectLst/>
                <a:latin typeface="Open Sans" panose="020B0606030504020204" pitchFamily="34" charset="0"/>
              </a:rPr>
              <a:t>到</a:t>
            </a:r>
            <a:r>
              <a:rPr lang="en-US" altLang="zh-CN" b="0" i="0" dirty="0">
                <a:effectLst/>
                <a:latin typeface="Open Sans" panose="020B0606030504020204" pitchFamily="34" charset="0"/>
              </a:rPr>
              <a:t>10</a:t>
            </a:r>
            <a:r>
              <a:rPr lang="zh-CN" altLang="en-US" b="0" i="0" dirty="0">
                <a:effectLst/>
                <a:latin typeface="Open Sans" panose="020B0606030504020204" pitchFamily="34" charset="0"/>
              </a:rPr>
              <a:t>被表示为：</a:t>
            </a:r>
            <a:r>
              <a:rPr lang="en-US" altLang="zh-CN" b="0" i="0" dirty="0">
                <a:effectLst/>
                <a:latin typeface="Open Sans" panose="020B0606030504020204" pitchFamily="34" charset="0"/>
              </a:rPr>
              <a:t>1,10,11,100,101,110,111,1000,1001,1010</a:t>
            </a:r>
            <a:endParaRPr lang="en-US" altLang="zh-CN" dirty="0">
              <a:latin typeface="Open Sans" panose="020B0606030504020204" pitchFamily="34" charset="0"/>
            </a:endParaRPr>
          </a:p>
          <a:p>
            <a:r>
              <a:rPr lang="zh-CN" altLang="en-US" b="0" i="0" dirty="0">
                <a:effectLst/>
                <a:latin typeface="Open Sans" panose="020B0606030504020204" pitchFamily="34" charset="0"/>
              </a:rPr>
              <a:t>你的任务是将任意一种外星计数系统中的数字转化为另外一种外星计数系统的数字。</a:t>
            </a:r>
            <a:endParaRPr lang="zh-CN" altLang="en-US" dirty="0"/>
          </a:p>
        </p:txBody>
      </p:sp>
      <p:sp>
        <p:nvSpPr>
          <p:cNvPr id="5" name="文本框 4"/>
          <p:cNvSpPr txBox="1"/>
          <p:nvPr/>
        </p:nvSpPr>
        <p:spPr>
          <a:xfrm>
            <a:off x="1828800" y="6164390"/>
            <a:ext cx="5486400" cy="523220"/>
          </a:xfrm>
          <a:prstGeom prst="rect">
            <a:avLst/>
          </a:prstGeom>
          <a:noFill/>
        </p:spPr>
        <p:txBody>
          <a:bodyPr wrap="square">
            <a:spAutoFit/>
          </a:bodyPr>
          <a:lstStyle/>
          <a:p>
            <a:pPr algn="ctr"/>
            <a:r>
              <a:rPr lang="en-US" altLang="zh-CN" sz="2800" dirty="0">
                <a:hlinkClick r:id="rId1"/>
              </a:rPr>
              <a:t>Google Code Jam: Alien Numbers</a:t>
            </a:r>
            <a:endParaRPr lang="zh-CN" alt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yoj129. </a:t>
            </a:r>
            <a:r>
              <a:rPr lang="zh-CN" altLang="en-US" dirty="0"/>
              <a:t>外星数字</a:t>
            </a:r>
            <a:endParaRPr lang="zh-CN" altLang="en-US" dirty="0"/>
          </a:p>
        </p:txBody>
      </p:sp>
      <p:sp>
        <p:nvSpPr>
          <p:cNvPr id="5" name="文本框 4"/>
          <p:cNvSpPr txBox="1"/>
          <p:nvPr/>
        </p:nvSpPr>
        <p:spPr>
          <a:xfrm>
            <a:off x="11244942" y="2088866"/>
            <a:ext cx="4572000" cy="1815882"/>
          </a:xfrm>
          <a:prstGeom prst="rect">
            <a:avLst/>
          </a:prstGeom>
          <a:noFill/>
        </p:spPr>
        <p:txBody>
          <a:bodyPr wrap="square">
            <a:spAutoFit/>
          </a:bodyPr>
          <a:lstStyle/>
          <a:p>
            <a:r>
              <a:rPr lang="en-US" altLang="zh-CN" sz="2800" b="0" i="0" dirty="0">
                <a:effectLst/>
                <a:latin typeface="Open Sans" panose="020B0606030504020204" pitchFamily="34" charset="0"/>
              </a:rPr>
              <a:t>oF8</a:t>
            </a:r>
            <a:br>
              <a:rPr lang="en-US" altLang="zh-CN" sz="2800" dirty="0"/>
            </a:br>
            <a:r>
              <a:rPr lang="en-US" altLang="zh-CN" sz="2800" b="0" i="0" dirty="0">
                <a:effectLst/>
                <a:latin typeface="Open Sans" panose="020B0606030504020204" pitchFamily="34" charset="0"/>
              </a:rPr>
              <a:t>Foo oF8 0123456789</a:t>
            </a:r>
            <a:br>
              <a:rPr lang="en-US" altLang="zh-CN" sz="2800" dirty="0"/>
            </a:br>
            <a:r>
              <a:rPr lang="en-US" altLang="zh-CN" sz="2800" b="0" i="0" dirty="0">
                <a:effectLst/>
                <a:latin typeface="Open Sans" panose="020B0606030504020204" pitchFamily="34" charset="0"/>
              </a:rPr>
              <a:t>13 0123456789abcdef 01</a:t>
            </a:r>
            <a:br>
              <a:rPr lang="en-US" altLang="zh-CN" sz="2800" dirty="0"/>
            </a:br>
            <a:r>
              <a:rPr lang="en-US" altLang="zh-CN" sz="2800" b="0" i="0" dirty="0">
                <a:effectLst/>
                <a:latin typeface="Open Sans" panose="020B0606030504020204" pitchFamily="34" charset="0"/>
              </a:rPr>
              <a:t>CODE O!CDE? A?JM!.</a:t>
            </a:r>
            <a:endParaRPr lang="zh-CN" altLang="en-US" sz="2800" dirty="0"/>
          </a:p>
        </p:txBody>
      </p:sp>
      <p:sp>
        <p:nvSpPr>
          <p:cNvPr id="6" name="文本框 5"/>
          <p:cNvSpPr txBox="1"/>
          <p:nvPr/>
        </p:nvSpPr>
        <p:spPr>
          <a:xfrm>
            <a:off x="10123715" y="4687930"/>
            <a:ext cx="4572000" cy="1815882"/>
          </a:xfrm>
          <a:prstGeom prst="rect">
            <a:avLst/>
          </a:prstGeom>
          <a:noFill/>
        </p:spPr>
        <p:txBody>
          <a:bodyPr wrap="square">
            <a:spAutoFit/>
          </a:bodyPr>
          <a:lstStyle/>
          <a:p>
            <a:r>
              <a:rPr lang="en-US" altLang="zh-CN" sz="2800" b="0" i="0" dirty="0">
                <a:effectLst/>
                <a:latin typeface="Open Sans" panose="020B0606030504020204" pitchFamily="34" charset="0"/>
              </a:rPr>
              <a:t>9 0123456789 oF8</a:t>
            </a:r>
            <a:br>
              <a:rPr lang="en-US" altLang="zh-CN" sz="2800" dirty="0"/>
            </a:br>
            <a:r>
              <a:rPr lang="en-US" altLang="zh-CN" sz="2800" b="0" i="0" dirty="0">
                <a:effectLst/>
                <a:latin typeface="Open Sans" panose="020B0606030504020204" pitchFamily="34" charset="0"/>
              </a:rPr>
              <a:t>Foo oF8 0123456789</a:t>
            </a:r>
            <a:br>
              <a:rPr lang="en-US" altLang="zh-CN" sz="2800" dirty="0"/>
            </a:br>
            <a:r>
              <a:rPr lang="en-US" altLang="zh-CN" sz="2800" b="0" i="0" dirty="0">
                <a:effectLst/>
                <a:latin typeface="Open Sans" panose="020B0606030504020204" pitchFamily="34" charset="0"/>
              </a:rPr>
              <a:t>13 0123456789abcdef 01</a:t>
            </a:r>
            <a:br>
              <a:rPr lang="en-US" altLang="zh-CN" sz="2800" dirty="0"/>
            </a:br>
            <a:r>
              <a:rPr lang="en-US" altLang="zh-CN" sz="2800" b="0" i="0" dirty="0">
                <a:effectLst/>
                <a:latin typeface="Open Sans" panose="020B0606030504020204" pitchFamily="34" charset="0"/>
              </a:rPr>
              <a:t>CODE O!CDE? A?JM!.</a:t>
            </a:r>
            <a:endParaRPr lang="zh-CN" altLang="en-US" sz="2800" dirty="0"/>
          </a:p>
        </p:txBody>
      </p:sp>
      <p:sp>
        <p:nvSpPr>
          <p:cNvPr id="10" name="文本框 9"/>
          <p:cNvSpPr txBox="1"/>
          <p:nvPr/>
        </p:nvSpPr>
        <p:spPr>
          <a:xfrm>
            <a:off x="2329543" y="2144625"/>
            <a:ext cx="2030186" cy="830997"/>
          </a:xfrm>
          <a:prstGeom prst="rect">
            <a:avLst/>
          </a:prstGeom>
          <a:noFill/>
        </p:spPr>
        <p:txBody>
          <a:bodyPr wrap="square">
            <a:spAutoFit/>
          </a:bodyPr>
          <a:lstStyle/>
          <a:p>
            <a:r>
              <a:rPr lang="zh-CN" altLang="en-US" sz="2400" dirty="0">
                <a:latin typeface="Open Sans" panose="020B0606030504020204" pitchFamily="34" charset="0"/>
              </a:rPr>
              <a:t>  计数系统</a:t>
            </a:r>
            <a:r>
              <a:rPr lang="en-US" altLang="zh-CN" sz="2400" dirty="0">
                <a:latin typeface="Open Sans" panose="020B0606030504020204" pitchFamily="34" charset="0"/>
              </a:rPr>
              <a:t>1</a:t>
            </a:r>
            <a:endParaRPr lang="en-US" altLang="zh-CN" sz="2400" b="0" i="0" dirty="0">
              <a:effectLst/>
              <a:latin typeface="Open Sans" panose="020B0606030504020204" pitchFamily="34" charset="0"/>
            </a:endParaRPr>
          </a:p>
          <a:p>
            <a:r>
              <a:rPr lang="en-US" altLang="zh-CN" sz="2400" b="0" i="0" dirty="0">
                <a:effectLst/>
                <a:latin typeface="Open Sans" panose="020B0606030504020204" pitchFamily="34" charset="0"/>
              </a:rPr>
              <a:t>0123456789 </a:t>
            </a:r>
            <a:endParaRPr lang="zh-CN" altLang="en-US" sz="2400" dirty="0"/>
          </a:p>
        </p:txBody>
      </p:sp>
      <p:sp>
        <p:nvSpPr>
          <p:cNvPr id="11" name="文本框 10"/>
          <p:cNvSpPr txBox="1"/>
          <p:nvPr/>
        </p:nvSpPr>
        <p:spPr>
          <a:xfrm>
            <a:off x="5393873" y="2088866"/>
            <a:ext cx="2030186" cy="830997"/>
          </a:xfrm>
          <a:prstGeom prst="rect">
            <a:avLst/>
          </a:prstGeom>
          <a:noFill/>
        </p:spPr>
        <p:txBody>
          <a:bodyPr wrap="square">
            <a:spAutoFit/>
          </a:bodyPr>
          <a:lstStyle/>
          <a:p>
            <a:r>
              <a:rPr lang="zh-CN" altLang="en-US" sz="2400" dirty="0">
                <a:latin typeface="Open Sans" panose="020B0606030504020204" pitchFamily="34" charset="0"/>
              </a:rPr>
              <a:t>  计数系统</a:t>
            </a:r>
            <a:r>
              <a:rPr lang="en-US" altLang="zh-CN" sz="2400" dirty="0">
                <a:latin typeface="Open Sans" panose="020B0606030504020204" pitchFamily="34" charset="0"/>
              </a:rPr>
              <a:t>2</a:t>
            </a:r>
            <a:endParaRPr lang="en-US" altLang="zh-CN" sz="2400" b="0" i="0" dirty="0">
              <a:effectLst/>
              <a:latin typeface="Open Sans" panose="020B0606030504020204" pitchFamily="34" charset="0"/>
            </a:endParaRPr>
          </a:p>
          <a:p>
            <a:r>
              <a:rPr lang="en-US" altLang="zh-CN" sz="2400" b="0" i="0" dirty="0">
                <a:effectLst/>
                <a:latin typeface="Open Sans" panose="020B0606030504020204" pitchFamily="34" charset="0"/>
              </a:rPr>
              <a:t>        oF8 </a:t>
            </a:r>
            <a:endParaRPr lang="zh-CN" altLang="en-US" sz="2400" dirty="0"/>
          </a:p>
        </p:txBody>
      </p:sp>
      <p:sp>
        <p:nvSpPr>
          <p:cNvPr id="12" name="文本框 11"/>
          <p:cNvSpPr txBox="1"/>
          <p:nvPr/>
        </p:nvSpPr>
        <p:spPr>
          <a:xfrm>
            <a:off x="843642" y="3179047"/>
            <a:ext cx="800219" cy="461665"/>
          </a:xfrm>
          <a:prstGeom prst="rect">
            <a:avLst/>
          </a:prstGeom>
          <a:noFill/>
        </p:spPr>
        <p:txBody>
          <a:bodyPr wrap="none" rtlCol="0">
            <a:spAutoFit/>
          </a:bodyPr>
          <a:lstStyle/>
          <a:p>
            <a:r>
              <a:rPr lang="zh-CN" altLang="en-US" sz="2400" dirty="0"/>
              <a:t>数字</a:t>
            </a:r>
            <a:endParaRPr lang="zh-CN" altLang="en-US" sz="2400" dirty="0"/>
          </a:p>
        </p:txBody>
      </p:sp>
      <p:sp>
        <p:nvSpPr>
          <p:cNvPr id="14" name="文本框 13"/>
          <p:cNvSpPr txBox="1"/>
          <p:nvPr/>
        </p:nvSpPr>
        <p:spPr>
          <a:xfrm>
            <a:off x="3184071" y="3179046"/>
            <a:ext cx="506186" cy="461665"/>
          </a:xfrm>
          <a:prstGeom prst="rect">
            <a:avLst/>
          </a:prstGeom>
          <a:noFill/>
        </p:spPr>
        <p:txBody>
          <a:bodyPr wrap="square">
            <a:spAutoFit/>
          </a:bodyPr>
          <a:lstStyle/>
          <a:p>
            <a:r>
              <a:rPr lang="en-US" altLang="zh-CN" sz="2400" dirty="0">
                <a:latin typeface="Open Sans" panose="020B0606030504020204" pitchFamily="34" charset="0"/>
              </a:rPr>
              <a:t>9</a:t>
            </a:r>
            <a:endParaRPr lang="zh-CN" altLang="en-US" sz="2400" dirty="0">
              <a:latin typeface="Open Sans" panose="020B0606030504020204" pitchFamily="34" charset="0"/>
            </a:endParaRPr>
          </a:p>
        </p:txBody>
      </p:sp>
      <p:sp>
        <p:nvSpPr>
          <p:cNvPr id="15" name="文本框 14"/>
          <p:cNvSpPr txBox="1"/>
          <p:nvPr/>
        </p:nvSpPr>
        <p:spPr>
          <a:xfrm>
            <a:off x="6234880" y="3148268"/>
            <a:ext cx="348172" cy="523220"/>
          </a:xfrm>
          <a:prstGeom prst="rect">
            <a:avLst/>
          </a:prstGeom>
          <a:noFill/>
        </p:spPr>
        <p:txBody>
          <a:bodyPr wrap="none" rtlCol="0">
            <a:spAutoFit/>
          </a:bodyPr>
          <a:lstStyle/>
          <a:p>
            <a:r>
              <a:rPr lang="en-US" altLang="zh-CN" sz="2800" b="1" dirty="0">
                <a:solidFill>
                  <a:srgbClr val="FF0000"/>
                </a:solidFill>
              </a:rPr>
              <a:t>?</a:t>
            </a:r>
            <a:endParaRPr lang="zh-CN" altLang="en-US" sz="2800" b="1" dirty="0">
              <a:solidFill>
                <a:srgbClr val="FF0000"/>
              </a:solidFill>
            </a:endParaRPr>
          </a:p>
        </p:txBody>
      </p:sp>
      <p:sp>
        <p:nvSpPr>
          <p:cNvPr id="18" name="文本框 17"/>
          <p:cNvSpPr txBox="1"/>
          <p:nvPr/>
        </p:nvSpPr>
        <p:spPr>
          <a:xfrm>
            <a:off x="864937" y="3976493"/>
            <a:ext cx="800219" cy="461665"/>
          </a:xfrm>
          <a:prstGeom prst="rect">
            <a:avLst/>
          </a:prstGeom>
          <a:noFill/>
        </p:spPr>
        <p:txBody>
          <a:bodyPr wrap="none" rtlCol="0">
            <a:spAutoFit/>
          </a:bodyPr>
          <a:lstStyle/>
          <a:p>
            <a:r>
              <a:rPr lang="zh-CN" altLang="en-US" sz="2400" dirty="0"/>
              <a:t>数字</a:t>
            </a:r>
            <a:endParaRPr lang="zh-CN" altLang="en-US" sz="2400" dirty="0"/>
          </a:p>
        </p:txBody>
      </p:sp>
      <p:sp>
        <p:nvSpPr>
          <p:cNvPr id="20" name="文本框 19"/>
          <p:cNvSpPr txBox="1"/>
          <p:nvPr/>
        </p:nvSpPr>
        <p:spPr>
          <a:xfrm>
            <a:off x="6051336" y="4010155"/>
            <a:ext cx="715260" cy="461665"/>
          </a:xfrm>
          <a:prstGeom prst="rect">
            <a:avLst/>
          </a:prstGeom>
          <a:noFill/>
        </p:spPr>
        <p:txBody>
          <a:bodyPr wrap="none" rtlCol="0">
            <a:spAutoFit/>
          </a:bodyPr>
          <a:lstStyle/>
          <a:p>
            <a:r>
              <a:rPr lang="en-US" altLang="zh-CN" sz="2400" b="0" i="0" dirty="0">
                <a:effectLst/>
                <a:latin typeface="Open Sans" panose="020B0606030504020204" pitchFamily="34" charset="0"/>
              </a:rPr>
              <a:t>Foo</a:t>
            </a:r>
            <a:endParaRPr lang="zh-CN" altLang="en-US" sz="2400" b="1" dirty="0">
              <a:solidFill>
                <a:srgbClr val="FF0000"/>
              </a:solidFill>
            </a:endParaRPr>
          </a:p>
        </p:txBody>
      </p:sp>
      <p:sp>
        <p:nvSpPr>
          <p:cNvPr id="22" name="文本框 21"/>
          <p:cNvSpPr txBox="1"/>
          <p:nvPr/>
        </p:nvSpPr>
        <p:spPr>
          <a:xfrm>
            <a:off x="3184071" y="3982440"/>
            <a:ext cx="551089" cy="523220"/>
          </a:xfrm>
          <a:prstGeom prst="rect">
            <a:avLst/>
          </a:prstGeom>
          <a:noFill/>
        </p:spPr>
        <p:txBody>
          <a:bodyPr wrap="square">
            <a:spAutoFit/>
          </a:bodyPr>
          <a:lstStyle/>
          <a:p>
            <a:r>
              <a:rPr lang="en-US" altLang="zh-CN" sz="2800" b="1" dirty="0">
                <a:solidFill>
                  <a:srgbClr val="FF0000"/>
                </a:solidFill>
              </a:rPr>
              <a:t>?</a:t>
            </a:r>
            <a:endParaRPr lang="zh-CN" altLang="en-US" sz="2800" b="1" dirty="0">
              <a:solidFill>
                <a:srgbClr val="FF0000"/>
              </a:solidFill>
            </a:endParaRPr>
          </a:p>
        </p:txBody>
      </p:sp>
      <p:cxnSp>
        <p:nvCxnSpPr>
          <p:cNvPr id="24" name="直接连接符 23"/>
          <p:cNvCxnSpPr/>
          <p:nvPr/>
        </p:nvCxnSpPr>
        <p:spPr>
          <a:xfrm>
            <a:off x="736800" y="3791398"/>
            <a:ext cx="7520014" cy="0"/>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p:cNvCxnSpPr/>
          <p:nvPr/>
        </p:nvCxnSpPr>
        <p:spPr>
          <a:xfrm>
            <a:off x="736800" y="3029398"/>
            <a:ext cx="7520014" cy="0"/>
          </a:xfrm>
          <a:prstGeom prst="line">
            <a:avLst/>
          </a:prstGeom>
        </p:spPr>
        <p:style>
          <a:lnRef idx="1">
            <a:schemeClr val="dk1"/>
          </a:lnRef>
          <a:fillRef idx="0">
            <a:schemeClr val="dk1"/>
          </a:fillRef>
          <a:effectRef idx="0">
            <a:schemeClr val="dk1"/>
          </a:effectRef>
          <a:fontRef idx="minor">
            <a:schemeClr val="tx1"/>
          </a:fontRef>
        </p:style>
      </p:cxnSp>
      <p:sp>
        <p:nvSpPr>
          <p:cNvPr id="47" name="文本框 46"/>
          <p:cNvSpPr txBox="1"/>
          <p:nvPr/>
        </p:nvSpPr>
        <p:spPr>
          <a:xfrm>
            <a:off x="6024122" y="3191449"/>
            <a:ext cx="800219" cy="461665"/>
          </a:xfrm>
          <a:prstGeom prst="rect">
            <a:avLst/>
          </a:prstGeom>
          <a:solidFill>
            <a:schemeClr val="bg1"/>
          </a:solidFill>
        </p:spPr>
        <p:txBody>
          <a:bodyPr wrap="square">
            <a:spAutoFit/>
          </a:bodyPr>
          <a:lstStyle/>
          <a:p>
            <a:r>
              <a:rPr lang="en-US" altLang="zh-CN" sz="2400" dirty="0">
                <a:latin typeface="Open Sans" panose="020B0606030504020204" pitchFamily="34" charset="0"/>
              </a:rPr>
              <a:t>Foo</a:t>
            </a:r>
            <a:endParaRPr lang="zh-CN" altLang="en-US" sz="2400" dirty="0">
              <a:latin typeface="Open Sans" panose="020B0606030504020204" pitchFamily="34" charset="0"/>
            </a:endParaRPr>
          </a:p>
        </p:txBody>
      </p:sp>
      <p:sp>
        <p:nvSpPr>
          <p:cNvPr id="48" name="文本框 47"/>
          <p:cNvSpPr txBox="1"/>
          <p:nvPr/>
        </p:nvSpPr>
        <p:spPr>
          <a:xfrm>
            <a:off x="3183658" y="3976492"/>
            <a:ext cx="506186" cy="461665"/>
          </a:xfrm>
          <a:prstGeom prst="rect">
            <a:avLst/>
          </a:prstGeom>
          <a:solidFill>
            <a:schemeClr val="bg1"/>
          </a:solidFill>
        </p:spPr>
        <p:txBody>
          <a:bodyPr wrap="square">
            <a:spAutoFit/>
          </a:bodyPr>
          <a:lstStyle/>
          <a:p>
            <a:r>
              <a:rPr lang="en-US" altLang="zh-CN" sz="2400" dirty="0">
                <a:latin typeface="Open Sans" panose="020B0606030504020204" pitchFamily="34" charset="0"/>
              </a:rPr>
              <a:t>9</a:t>
            </a:r>
            <a:endParaRPr lang="zh-CN" altLang="en-US" sz="2400" dirty="0">
              <a:latin typeface="Open Sans" panose="020B06060305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yoj129. </a:t>
            </a:r>
            <a:r>
              <a:rPr lang="zh-CN" altLang="en-US" dirty="0"/>
              <a:t>外星数字</a:t>
            </a:r>
            <a:endParaRPr lang="zh-CN" altLang="en-US" dirty="0"/>
          </a:p>
        </p:txBody>
      </p:sp>
      <p:sp>
        <p:nvSpPr>
          <p:cNvPr id="5" name="文本框 4"/>
          <p:cNvSpPr txBox="1"/>
          <p:nvPr/>
        </p:nvSpPr>
        <p:spPr>
          <a:xfrm>
            <a:off x="1638299" y="1620572"/>
            <a:ext cx="3608614" cy="830997"/>
          </a:xfrm>
          <a:prstGeom prst="rect">
            <a:avLst/>
          </a:prstGeom>
          <a:noFill/>
        </p:spPr>
        <p:txBody>
          <a:bodyPr wrap="square">
            <a:spAutoFit/>
          </a:bodyPr>
          <a:lstStyle/>
          <a:p>
            <a:pPr algn="ctr"/>
            <a:r>
              <a:rPr lang="zh-CN" altLang="en-US" sz="2400" dirty="0">
                <a:latin typeface="Open Sans" panose="020B0606030504020204" pitchFamily="34" charset="0"/>
              </a:rPr>
              <a:t>  计数系统</a:t>
            </a:r>
            <a:r>
              <a:rPr lang="en-US" altLang="zh-CN" sz="2400" dirty="0">
                <a:latin typeface="Open Sans" panose="020B0606030504020204" pitchFamily="34" charset="0"/>
              </a:rPr>
              <a:t>1</a:t>
            </a:r>
            <a:endParaRPr lang="en-US" altLang="zh-CN" sz="2400" b="0" i="0" dirty="0">
              <a:effectLst/>
              <a:latin typeface="Open Sans" panose="020B0606030504020204" pitchFamily="34" charset="0"/>
            </a:endParaRPr>
          </a:p>
          <a:p>
            <a:pPr algn="ctr"/>
            <a:r>
              <a:rPr lang="en-US" altLang="zh-CN" sz="2400" b="0" i="0" dirty="0">
                <a:effectLst/>
                <a:latin typeface="Open Sans" panose="020B0606030504020204" pitchFamily="34" charset="0"/>
              </a:rPr>
              <a:t>0123456789abcdef</a:t>
            </a:r>
            <a:endParaRPr lang="zh-CN" altLang="en-US" sz="2400" dirty="0"/>
          </a:p>
        </p:txBody>
      </p:sp>
      <p:sp>
        <p:nvSpPr>
          <p:cNvPr id="6" name="文本框 5"/>
          <p:cNvSpPr txBox="1"/>
          <p:nvPr/>
        </p:nvSpPr>
        <p:spPr>
          <a:xfrm>
            <a:off x="5529944" y="1606558"/>
            <a:ext cx="2030186" cy="830997"/>
          </a:xfrm>
          <a:prstGeom prst="rect">
            <a:avLst/>
          </a:prstGeom>
          <a:noFill/>
        </p:spPr>
        <p:txBody>
          <a:bodyPr wrap="square">
            <a:spAutoFit/>
          </a:bodyPr>
          <a:lstStyle/>
          <a:p>
            <a:r>
              <a:rPr lang="zh-CN" altLang="en-US" sz="2400" dirty="0">
                <a:latin typeface="Open Sans" panose="020B0606030504020204" pitchFamily="34" charset="0"/>
              </a:rPr>
              <a:t>  计数系统</a:t>
            </a:r>
            <a:r>
              <a:rPr lang="en-US" altLang="zh-CN" sz="2400" dirty="0">
                <a:latin typeface="Open Sans" panose="020B0606030504020204" pitchFamily="34" charset="0"/>
              </a:rPr>
              <a:t>2</a:t>
            </a:r>
            <a:endParaRPr lang="en-US" altLang="zh-CN" sz="2400" b="0" i="0" dirty="0">
              <a:effectLst/>
              <a:latin typeface="Open Sans" panose="020B0606030504020204" pitchFamily="34" charset="0"/>
            </a:endParaRPr>
          </a:p>
          <a:p>
            <a:pPr algn="ctr"/>
            <a:r>
              <a:rPr lang="en-US" altLang="zh-CN" sz="2400" b="0" i="0" dirty="0">
                <a:effectLst/>
                <a:latin typeface="Open Sans" panose="020B0606030504020204" pitchFamily="34" charset="0"/>
              </a:rPr>
              <a:t> 01 </a:t>
            </a:r>
            <a:endParaRPr lang="zh-CN" altLang="en-US" sz="2400" dirty="0"/>
          </a:p>
        </p:txBody>
      </p:sp>
      <p:sp>
        <p:nvSpPr>
          <p:cNvPr id="7" name="文本框 6"/>
          <p:cNvSpPr txBox="1"/>
          <p:nvPr/>
        </p:nvSpPr>
        <p:spPr>
          <a:xfrm>
            <a:off x="979713" y="2696739"/>
            <a:ext cx="800219" cy="461665"/>
          </a:xfrm>
          <a:prstGeom prst="rect">
            <a:avLst/>
          </a:prstGeom>
          <a:noFill/>
        </p:spPr>
        <p:txBody>
          <a:bodyPr wrap="none" rtlCol="0">
            <a:spAutoFit/>
          </a:bodyPr>
          <a:lstStyle/>
          <a:p>
            <a:r>
              <a:rPr lang="zh-CN" altLang="en-US" sz="2400" dirty="0"/>
              <a:t>数字</a:t>
            </a:r>
            <a:endParaRPr lang="zh-CN" altLang="en-US" sz="2400" dirty="0"/>
          </a:p>
        </p:txBody>
      </p:sp>
      <p:sp>
        <p:nvSpPr>
          <p:cNvPr id="8" name="文本框 7"/>
          <p:cNvSpPr txBox="1"/>
          <p:nvPr/>
        </p:nvSpPr>
        <p:spPr>
          <a:xfrm>
            <a:off x="3280919" y="2696739"/>
            <a:ext cx="715259" cy="461665"/>
          </a:xfrm>
          <a:prstGeom prst="rect">
            <a:avLst/>
          </a:prstGeom>
          <a:noFill/>
        </p:spPr>
        <p:txBody>
          <a:bodyPr wrap="square">
            <a:spAutoFit/>
          </a:bodyPr>
          <a:lstStyle/>
          <a:p>
            <a:r>
              <a:rPr lang="en-US" altLang="zh-CN" sz="2400" b="0" i="0" dirty="0">
                <a:effectLst/>
                <a:latin typeface="Open Sans" panose="020B0606030504020204" pitchFamily="34" charset="0"/>
              </a:rPr>
              <a:t>13</a:t>
            </a:r>
            <a:endParaRPr lang="zh-CN" altLang="en-US" sz="2400" dirty="0">
              <a:latin typeface="Open Sans" panose="020B0606030504020204" pitchFamily="34" charset="0"/>
            </a:endParaRPr>
          </a:p>
        </p:txBody>
      </p:sp>
      <p:sp>
        <p:nvSpPr>
          <p:cNvPr id="9" name="文本框 8"/>
          <p:cNvSpPr txBox="1"/>
          <p:nvPr/>
        </p:nvSpPr>
        <p:spPr>
          <a:xfrm>
            <a:off x="6370951" y="2665960"/>
            <a:ext cx="348172" cy="523220"/>
          </a:xfrm>
          <a:prstGeom prst="rect">
            <a:avLst/>
          </a:prstGeom>
          <a:noFill/>
        </p:spPr>
        <p:txBody>
          <a:bodyPr wrap="none" rtlCol="0">
            <a:spAutoFit/>
          </a:bodyPr>
          <a:lstStyle/>
          <a:p>
            <a:r>
              <a:rPr lang="en-US" altLang="zh-CN" sz="2800" b="1" dirty="0">
                <a:solidFill>
                  <a:srgbClr val="FF0000"/>
                </a:solidFill>
              </a:rPr>
              <a:t>?</a:t>
            </a:r>
            <a:endParaRPr lang="zh-CN" altLang="en-US" sz="2800" b="1" dirty="0">
              <a:solidFill>
                <a:srgbClr val="FF0000"/>
              </a:solidFill>
            </a:endParaRPr>
          </a:p>
        </p:txBody>
      </p:sp>
      <p:cxnSp>
        <p:nvCxnSpPr>
          <p:cNvPr id="10" name="直接连接符 9"/>
          <p:cNvCxnSpPr/>
          <p:nvPr/>
        </p:nvCxnSpPr>
        <p:spPr>
          <a:xfrm>
            <a:off x="872871" y="3309090"/>
            <a:ext cx="7520014" cy="0"/>
          </a:xfrm>
          <a:prstGeom prst="line">
            <a:avLst/>
          </a:prstGeom>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a:off x="872871" y="2547090"/>
            <a:ext cx="7520014" cy="0"/>
          </a:xfrm>
          <a:prstGeom prst="line">
            <a:avLst/>
          </a:prstGeom>
        </p:spPr>
        <p:style>
          <a:lnRef idx="1">
            <a:schemeClr val="dk1"/>
          </a:lnRef>
          <a:fillRef idx="0">
            <a:schemeClr val="dk1"/>
          </a:fillRef>
          <a:effectRef idx="0">
            <a:schemeClr val="dk1"/>
          </a:effectRef>
          <a:fontRef idx="minor">
            <a:schemeClr val="tx1"/>
          </a:fontRef>
        </p:style>
      </p:cxnSp>
      <p:sp>
        <p:nvSpPr>
          <p:cNvPr id="12" name="文本框 11"/>
          <p:cNvSpPr txBox="1"/>
          <p:nvPr/>
        </p:nvSpPr>
        <p:spPr>
          <a:xfrm>
            <a:off x="1638299" y="3895411"/>
            <a:ext cx="3608614" cy="830997"/>
          </a:xfrm>
          <a:prstGeom prst="rect">
            <a:avLst/>
          </a:prstGeom>
          <a:noFill/>
        </p:spPr>
        <p:txBody>
          <a:bodyPr wrap="square">
            <a:spAutoFit/>
          </a:bodyPr>
          <a:lstStyle/>
          <a:p>
            <a:pPr algn="ctr"/>
            <a:r>
              <a:rPr lang="zh-CN" altLang="en-US" sz="2400" dirty="0">
                <a:latin typeface="Open Sans" panose="020B0606030504020204" pitchFamily="34" charset="0"/>
              </a:rPr>
              <a:t>  计数系统</a:t>
            </a:r>
            <a:r>
              <a:rPr lang="en-US" altLang="zh-CN" sz="2400" dirty="0">
                <a:latin typeface="Open Sans" panose="020B0606030504020204" pitchFamily="34" charset="0"/>
              </a:rPr>
              <a:t>1</a:t>
            </a:r>
            <a:endParaRPr lang="en-US" altLang="zh-CN" sz="2400" b="0" i="0" dirty="0">
              <a:effectLst/>
              <a:latin typeface="Open Sans" panose="020B0606030504020204" pitchFamily="34" charset="0"/>
            </a:endParaRPr>
          </a:p>
          <a:p>
            <a:pPr algn="ctr"/>
            <a:r>
              <a:rPr lang="en-US" altLang="zh-CN" sz="2400" b="0" i="0" dirty="0">
                <a:effectLst/>
                <a:latin typeface="Open Sans" panose="020B0606030504020204" pitchFamily="34" charset="0"/>
              </a:rPr>
              <a:t>O!CDE?</a:t>
            </a:r>
            <a:endParaRPr lang="zh-CN" altLang="en-US" sz="2400" dirty="0"/>
          </a:p>
        </p:txBody>
      </p:sp>
      <p:sp>
        <p:nvSpPr>
          <p:cNvPr id="13" name="文本框 12"/>
          <p:cNvSpPr txBox="1"/>
          <p:nvPr/>
        </p:nvSpPr>
        <p:spPr>
          <a:xfrm>
            <a:off x="5529944" y="3881397"/>
            <a:ext cx="2030186" cy="830997"/>
          </a:xfrm>
          <a:prstGeom prst="rect">
            <a:avLst/>
          </a:prstGeom>
          <a:noFill/>
        </p:spPr>
        <p:txBody>
          <a:bodyPr wrap="square">
            <a:spAutoFit/>
          </a:bodyPr>
          <a:lstStyle/>
          <a:p>
            <a:r>
              <a:rPr lang="zh-CN" altLang="en-US" sz="2400" dirty="0">
                <a:latin typeface="Open Sans" panose="020B0606030504020204" pitchFamily="34" charset="0"/>
              </a:rPr>
              <a:t>  计数系统</a:t>
            </a:r>
            <a:r>
              <a:rPr lang="en-US" altLang="zh-CN" sz="2400" dirty="0">
                <a:latin typeface="Open Sans" panose="020B0606030504020204" pitchFamily="34" charset="0"/>
              </a:rPr>
              <a:t>2</a:t>
            </a:r>
            <a:endParaRPr lang="en-US" altLang="zh-CN" sz="2400" b="0" i="0" dirty="0">
              <a:effectLst/>
              <a:latin typeface="Open Sans" panose="020B0606030504020204" pitchFamily="34" charset="0"/>
            </a:endParaRPr>
          </a:p>
          <a:p>
            <a:pPr algn="ctr"/>
            <a:r>
              <a:rPr lang="en-US" altLang="zh-CN" sz="2400" b="0" i="0" dirty="0">
                <a:effectLst/>
                <a:latin typeface="Open Sans" panose="020B0606030504020204" pitchFamily="34" charset="0"/>
              </a:rPr>
              <a:t>A?JM!.</a:t>
            </a:r>
            <a:endParaRPr lang="zh-CN" altLang="en-US" sz="2400" dirty="0"/>
          </a:p>
        </p:txBody>
      </p:sp>
      <p:sp>
        <p:nvSpPr>
          <p:cNvPr id="14" name="文本框 13"/>
          <p:cNvSpPr txBox="1"/>
          <p:nvPr/>
        </p:nvSpPr>
        <p:spPr>
          <a:xfrm>
            <a:off x="979713" y="4971578"/>
            <a:ext cx="800219" cy="461665"/>
          </a:xfrm>
          <a:prstGeom prst="rect">
            <a:avLst/>
          </a:prstGeom>
          <a:noFill/>
        </p:spPr>
        <p:txBody>
          <a:bodyPr wrap="none" rtlCol="0">
            <a:spAutoFit/>
          </a:bodyPr>
          <a:lstStyle/>
          <a:p>
            <a:r>
              <a:rPr lang="zh-CN" altLang="en-US" sz="2400" dirty="0"/>
              <a:t>数字</a:t>
            </a:r>
            <a:endParaRPr lang="zh-CN" altLang="en-US" sz="2400" dirty="0"/>
          </a:p>
        </p:txBody>
      </p:sp>
      <p:sp>
        <p:nvSpPr>
          <p:cNvPr id="15" name="文本框 14"/>
          <p:cNvSpPr txBox="1"/>
          <p:nvPr/>
        </p:nvSpPr>
        <p:spPr>
          <a:xfrm>
            <a:off x="2908644" y="4971576"/>
            <a:ext cx="1067924" cy="461665"/>
          </a:xfrm>
          <a:prstGeom prst="rect">
            <a:avLst/>
          </a:prstGeom>
          <a:noFill/>
        </p:spPr>
        <p:txBody>
          <a:bodyPr wrap="square">
            <a:spAutoFit/>
          </a:bodyPr>
          <a:lstStyle/>
          <a:p>
            <a:r>
              <a:rPr lang="en-US" altLang="zh-CN" sz="2400" b="0" i="0" dirty="0">
                <a:effectLst/>
                <a:latin typeface="Open Sans" panose="020B0606030504020204" pitchFamily="34" charset="0"/>
              </a:rPr>
              <a:t>CODE</a:t>
            </a:r>
            <a:endParaRPr lang="zh-CN" altLang="en-US" sz="2400" dirty="0">
              <a:latin typeface="Open Sans" panose="020B0606030504020204" pitchFamily="34" charset="0"/>
            </a:endParaRPr>
          </a:p>
        </p:txBody>
      </p:sp>
      <p:sp>
        <p:nvSpPr>
          <p:cNvPr id="16" name="文本框 15"/>
          <p:cNvSpPr txBox="1"/>
          <p:nvPr/>
        </p:nvSpPr>
        <p:spPr>
          <a:xfrm>
            <a:off x="6370951" y="4940799"/>
            <a:ext cx="348172" cy="523220"/>
          </a:xfrm>
          <a:prstGeom prst="rect">
            <a:avLst/>
          </a:prstGeom>
          <a:noFill/>
        </p:spPr>
        <p:txBody>
          <a:bodyPr wrap="none" rtlCol="0">
            <a:spAutoFit/>
          </a:bodyPr>
          <a:lstStyle/>
          <a:p>
            <a:r>
              <a:rPr lang="en-US" altLang="zh-CN" sz="2800" b="1" dirty="0">
                <a:solidFill>
                  <a:srgbClr val="FF0000"/>
                </a:solidFill>
              </a:rPr>
              <a:t>?</a:t>
            </a:r>
            <a:endParaRPr lang="zh-CN" altLang="en-US" sz="2800" b="1" dirty="0">
              <a:solidFill>
                <a:srgbClr val="FF0000"/>
              </a:solidFill>
            </a:endParaRPr>
          </a:p>
        </p:txBody>
      </p:sp>
      <p:cxnSp>
        <p:nvCxnSpPr>
          <p:cNvPr id="17" name="直接连接符 16"/>
          <p:cNvCxnSpPr/>
          <p:nvPr/>
        </p:nvCxnSpPr>
        <p:spPr>
          <a:xfrm>
            <a:off x="872871" y="5583929"/>
            <a:ext cx="7520014" cy="0"/>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872871" y="4821929"/>
            <a:ext cx="7520014" cy="0"/>
          </a:xfrm>
          <a:prstGeom prst="line">
            <a:avLst/>
          </a:prstGeom>
        </p:spPr>
        <p:style>
          <a:lnRef idx="1">
            <a:schemeClr val="dk1"/>
          </a:lnRef>
          <a:fillRef idx="0">
            <a:schemeClr val="dk1"/>
          </a:fillRef>
          <a:effectRef idx="0">
            <a:schemeClr val="dk1"/>
          </a:effectRef>
          <a:fontRef idx="minor">
            <a:schemeClr val="tx1"/>
          </a:fontRef>
        </p:style>
      </p:cxnSp>
      <p:sp>
        <p:nvSpPr>
          <p:cNvPr id="19" name="文本框 18"/>
          <p:cNvSpPr txBox="1"/>
          <p:nvPr/>
        </p:nvSpPr>
        <p:spPr>
          <a:xfrm>
            <a:off x="6014299" y="2688954"/>
            <a:ext cx="1502287" cy="461665"/>
          </a:xfrm>
          <a:prstGeom prst="rect">
            <a:avLst/>
          </a:prstGeom>
          <a:solidFill>
            <a:schemeClr val="bg1"/>
          </a:solidFill>
        </p:spPr>
        <p:txBody>
          <a:bodyPr wrap="square">
            <a:spAutoFit/>
          </a:bodyPr>
          <a:lstStyle/>
          <a:p>
            <a:r>
              <a:rPr lang="en-US" altLang="zh-CN" sz="2400" dirty="0">
                <a:latin typeface="Open Sans" panose="020B0606030504020204" pitchFamily="34" charset="0"/>
              </a:rPr>
              <a:t>10011</a:t>
            </a:r>
            <a:endParaRPr lang="zh-CN" altLang="en-US" sz="2400" dirty="0">
              <a:latin typeface="Open Sans" panose="020B0606030504020204" pitchFamily="34" charset="0"/>
            </a:endParaRPr>
          </a:p>
        </p:txBody>
      </p:sp>
      <p:sp>
        <p:nvSpPr>
          <p:cNvPr id="20" name="文本框 19"/>
          <p:cNvSpPr txBox="1"/>
          <p:nvPr/>
        </p:nvSpPr>
        <p:spPr>
          <a:xfrm>
            <a:off x="6114936" y="4967908"/>
            <a:ext cx="1502287" cy="461665"/>
          </a:xfrm>
          <a:prstGeom prst="rect">
            <a:avLst/>
          </a:prstGeom>
          <a:solidFill>
            <a:schemeClr val="bg1"/>
          </a:solidFill>
        </p:spPr>
        <p:txBody>
          <a:bodyPr wrap="square">
            <a:spAutoFit/>
          </a:bodyPr>
          <a:lstStyle/>
          <a:p>
            <a:r>
              <a:rPr lang="en-US" altLang="zh-CN" sz="2400" dirty="0">
                <a:latin typeface="Open Sans" panose="020B0606030504020204" pitchFamily="34" charset="0"/>
              </a:rPr>
              <a:t>JAM!</a:t>
            </a:r>
            <a:endParaRPr lang="zh-CN" altLang="en-US" sz="2400" dirty="0">
              <a:latin typeface="Open Sans" panose="020B0606030504020204" pitchFamily="34" charset="0"/>
            </a:endParaRPr>
          </a:p>
        </p:txBody>
      </p:sp>
      <p:sp>
        <p:nvSpPr>
          <p:cNvPr id="21" name="文本框 20"/>
          <p:cNvSpPr txBox="1"/>
          <p:nvPr/>
        </p:nvSpPr>
        <p:spPr>
          <a:xfrm>
            <a:off x="499575" y="6115096"/>
            <a:ext cx="8153194" cy="461665"/>
          </a:xfrm>
          <a:prstGeom prst="rect">
            <a:avLst/>
          </a:prstGeom>
          <a:noFill/>
        </p:spPr>
        <p:txBody>
          <a:bodyPr wrap="none" rtlCol="0">
            <a:spAutoFit/>
          </a:bodyPr>
          <a:lstStyle/>
          <a:p>
            <a:r>
              <a:rPr lang="zh-CN" altLang="en-US" sz="2400" b="1" dirty="0"/>
              <a:t>编程思路：</a:t>
            </a:r>
            <a:r>
              <a:rPr lang="en-US" altLang="zh-CN" sz="2400" b="1" dirty="0"/>
              <a:t>1. </a:t>
            </a:r>
            <a:r>
              <a:rPr lang="zh-CN" altLang="en-US" sz="2400" b="1" dirty="0"/>
              <a:t>外星文转数字，</a:t>
            </a:r>
            <a:r>
              <a:rPr lang="en-US" altLang="zh-CN" sz="2400" b="1" dirty="0"/>
              <a:t>2. </a:t>
            </a:r>
            <a:r>
              <a:rPr lang="zh-CN" altLang="en-US" sz="2400" b="1" dirty="0"/>
              <a:t>进制转换，</a:t>
            </a:r>
            <a:r>
              <a:rPr lang="en-US" altLang="zh-CN" sz="2400" b="1" dirty="0"/>
              <a:t>3. </a:t>
            </a:r>
            <a:r>
              <a:rPr lang="zh-CN" altLang="en-US" sz="2400" b="1" dirty="0"/>
              <a:t>数字转外星文</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范例代码（</a:t>
            </a:r>
            <a:r>
              <a:rPr lang="en-US" altLang="zh-CN" dirty="0"/>
              <a:t>by </a:t>
            </a:r>
            <a:r>
              <a:rPr lang="zh-CN" altLang="en-US" dirty="0"/>
              <a:t>高光昊）</a:t>
            </a:r>
            <a:endParaRPr lang="zh-CN" altLang="en-US" dirty="0"/>
          </a:p>
        </p:txBody>
      </p:sp>
      <p:sp>
        <p:nvSpPr>
          <p:cNvPr id="3" name="Content Placeholder 2"/>
          <p:cNvSpPr>
            <a:spLocks noGrp="1"/>
          </p:cNvSpPr>
          <p:nvPr>
            <p:ph idx="1"/>
          </p:nvPr>
        </p:nvSpPr>
        <p:spPr>
          <a:solidFill>
            <a:schemeClr val="tx1"/>
          </a:solidFill>
        </p:spPr>
        <p:txBody>
          <a:bodyPr>
            <a:normAutofit fontScale="62500" lnSpcReduction="20000"/>
          </a:bodyPr>
          <a:lstStyle/>
          <a:p>
            <a:pPr>
              <a:spcBef>
                <a:spcPts val="0"/>
              </a:spcBef>
            </a:pPr>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stdio.h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string.h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586C0"/>
                </a:solidFill>
                <a:effectLst/>
                <a:latin typeface="Consolas" panose="020B0609020204030204" pitchFamily="49" charset="0"/>
              </a:rPr>
              <a:t>#include</a:t>
            </a:r>
            <a:r>
              <a:rPr lang="en-US" altLang="zh-CN" b="0" dirty="0">
                <a:solidFill>
                  <a:srgbClr val="569CD6"/>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&lt;</a:t>
            </a:r>
            <a:r>
              <a:rPr lang="en-US" altLang="zh-CN" b="0" dirty="0" err="1">
                <a:solidFill>
                  <a:srgbClr val="CE9178"/>
                </a:solidFill>
                <a:effectLst/>
                <a:latin typeface="Consolas" panose="020B0609020204030204" pitchFamily="49" charset="0"/>
              </a:rPr>
              <a:t>stdlib.h</a:t>
            </a:r>
            <a:r>
              <a:rPr lang="en-US" altLang="zh-CN" b="0" dirty="0">
                <a:solidFill>
                  <a:srgbClr val="CE9178"/>
                </a:solidFill>
                <a:effectLst/>
                <a:latin typeface="Consolas" panose="020B0609020204030204" pitchFamily="49" charset="0"/>
              </a:rPr>
              <a:t>&gt;</a:t>
            </a:r>
            <a:endParaRPr lang="en-US" altLang="zh-CN" b="0" dirty="0">
              <a:solidFill>
                <a:srgbClr val="CCCCCC"/>
              </a:solidFill>
              <a:effectLst/>
              <a:latin typeface="Consolas" panose="020B0609020204030204" pitchFamily="49" charset="0"/>
            </a:endParaRPr>
          </a:p>
          <a:p>
            <a:pPr>
              <a:spcBef>
                <a:spcPts val="0"/>
              </a:spcBef>
            </a:pPr>
            <a:br>
              <a:rPr lang="en-US" altLang="zh-CN" b="0" dirty="0">
                <a:solidFill>
                  <a:srgbClr val="CCCCCC"/>
                </a:solidFill>
                <a:effectLst/>
                <a:latin typeface="Consolas" panose="020B0609020204030204" pitchFamily="49" charset="0"/>
              </a:rPr>
            </a:b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main</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scanf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%d</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&amp;</a:t>
            </a:r>
            <a:r>
              <a:rPr lang="en-US" altLang="zh-CN" b="0" dirty="0">
                <a:solidFill>
                  <a:srgbClr val="9CDCFE"/>
                </a:solidFill>
                <a:effectLst/>
                <a:latin typeface="Consolas" panose="020B0609020204030204" pitchFamily="49" charset="0"/>
              </a:rPr>
              <a:t>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case_num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case_num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case_num</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alien_number</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100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source_language</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100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target_language</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100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scanf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%s</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alien_number</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source_language</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target_language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6A9955"/>
                </a:solidFill>
                <a:effectLst/>
                <a:latin typeface="Consolas" panose="020B0609020204030204" pitchFamily="49" charset="0"/>
              </a:rPr>
              <a:t>        // Step 1: Convert </a:t>
            </a:r>
            <a:r>
              <a:rPr lang="en-US" altLang="zh-CN" b="0" dirty="0" err="1">
                <a:solidFill>
                  <a:srgbClr val="6A9955"/>
                </a:solidFill>
                <a:effectLst/>
                <a:latin typeface="Consolas" panose="020B0609020204030204" pitchFamily="49" charset="0"/>
              </a:rPr>
              <a:t>alien_number</a:t>
            </a:r>
            <a:r>
              <a:rPr lang="en-US" altLang="zh-CN" b="0" dirty="0">
                <a:solidFill>
                  <a:srgbClr val="6A9955"/>
                </a:solidFill>
                <a:effectLst/>
                <a:latin typeface="Consolas" panose="020B0609020204030204" pitchFamily="49" charset="0"/>
              </a:rPr>
              <a:t> to decimal</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long</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base_s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strlen</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source_language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s_map</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256</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sizeof</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s_map</a:t>
            </a:r>
            <a:r>
              <a:rPr lang="en-US" altLang="zh-CN" b="0" dirty="0">
                <a:solidFill>
                  <a:srgbClr val="CCCCCC"/>
                </a:solidFill>
                <a:effectLst/>
                <a:latin typeface="Consolas" panose="020B0609020204030204" pitchFamily="49" charset="0"/>
              </a:rPr>
              <a:t>)</a:t>
            </a:r>
            <a:r>
              <a:rPr lang="en-US" altLang="zh-CN" b="0" dirty="0">
                <a:solidFill>
                  <a:srgbClr val="D4D4D4"/>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4</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s_map</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base_s</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s_map</a:t>
            </a:r>
            <a:r>
              <a:rPr lang="en-US" altLang="zh-CN" b="0" dirty="0">
                <a:solidFill>
                  <a:srgbClr val="CCCCCC"/>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unsigned</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source_language</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strlen</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alien_number</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c</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alien_number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base_s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s_map</a:t>
            </a:r>
            <a:r>
              <a:rPr lang="en-US" altLang="zh-CN" b="0" dirty="0">
                <a:solidFill>
                  <a:srgbClr val="CCCCCC"/>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unsigned</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c</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      </a:t>
            </a:r>
            <a:endParaRPr lang="en-US" altLang="zh-CN" b="0" dirty="0">
              <a:solidFill>
                <a:srgbClr val="CCCCCC"/>
              </a:solidFill>
              <a:effectLst/>
              <a:latin typeface="Consolas" panose="020B06090202040302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idx="1"/>
          </p:nvPr>
        </p:nvSpPr>
        <p:spPr>
          <a:xfrm>
            <a:off x="432000" y="269421"/>
            <a:ext cx="8280000" cy="6319157"/>
          </a:xfrm>
          <a:solidFill>
            <a:schemeClr val="tx1"/>
          </a:solidFill>
        </p:spPr>
        <p:txBody>
          <a:bodyPr>
            <a:normAutofit fontScale="77500" lnSpcReduction="20000"/>
          </a:bodyPr>
          <a:lstStyle/>
          <a:p>
            <a:pPr>
              <a:spcBef>
                <a:spcPts val="0"/>
              </a:spcBef>
            </a:pPr>
            <a:r>
              <a:rPr lang="en-US" altLang="zh-CN" b="0" dirty="0">
                <a:solidFill>
                  <a:srgbClr val="6A9955"/>
                </a:solidFill>
                <a:effectLst/>
                <a:latin typeface="Consolas" panose="020B0609020204030204" pitchFamily="49" charset="0"/>
              </a:rPr>
              <a:t>      // Step 2: Convert decimal to </a:t>
            </a:r>
            <a:r>
              <a:rPr lang="en-US" altLang="zh-CN" b="0" dirty="0" err="1">
                <a:solidFill>
                  <a:srgbClr val="6A9955"/>
                </a:solidFill>
                <a:effectLst/>
                <a:latin typeface="Consolas" panose="020B0609020204030204" pitchFamily="49" charset="0"/>
              </a:rPr>
              <a:t>target_language</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res</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100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len</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base_t</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strlen</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target_language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if</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res</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len</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target_language</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 </a:t>
            </a:r>
            <a:r>
              <a:rPr lang="en-US" altLang="zh-CN" b="0" dirty="0">
                <a:solidFill>
                  <a:srgbClr val="C586C0"/>
                </a:solidFill>
                <a:effectLst/>
                <a:latin typeface="Consolas" panose="020B0609020204030204" pitchFamily="49" charset="0"/>
              </a:rPr>
              <a:t>else</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while</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&gt;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base_t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res</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len</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target_language</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r</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num</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base_t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6A9955"/>
                </a:solidFill>
                <a:effectLst/>
                <a:latin typeface="Consolas" panose="020B0609020204030204" pitchFamily="49" charset="0"/>
              </a:rPr>
              <a:t>            // Reverse the result to get the correct order</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len</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2</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char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temp</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res</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res</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res</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len</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res</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len</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temp</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res</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len</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a:t>
            </a:r>
            <a:r>
              <a:rPr lang="en-US" altLang="zh-CN" b="0" dirty="0">
                <a:solidFill>
                  <a:srgbClr val="D7BA7D"/>
                </a:solidFill>
                <a:effectLst/>
                <a:latin typeface="Consolas" panose="020B0609020204030204" pitchFamily="49" charset="0"/>
              </a:rPr>
              <a:t>\0</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r>
              <a:rPr lang="en-US" altLang="zh-CN" b="0" dirty="0">
                <a:solidFill>
                  <a:srgbClr val="6A9955"/>
                </a:solidFill>
                <a:effectLst/>
                <a:latin typeface="Consolas" panose="020B0609020204030204" pitchFamily="49" charset="0"/>
              </a:rPr>
              <a:t> // Null-terminate the string</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6A9955"/>
                </a:solidFill>
                <a:effectLst/>
                <a:latin typeface="Consolas" panose="020B0609020204030204" pitchFamily="49" charset="0"/>
              </a:rPr>
              <a:t>        // Output the result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printf</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"Case #</a:t>
            </a:r>
            <a:r>
              <a:rPr lang="en-US" altLang="zh-CN" b="0" dirty="0">
                <a:solidFill>
                  <a:srgbClr val="9CDCFE"/>
                </a:solidFill>
                <a:effectLst/>
                <a:latin typeface="Consolas" panose="020B0609020204030204" pitchFamily="49" charset="0"/>
              </a:rPr>
              <a:t>%d</a:t>
            </a:r>
            <a:r>
              <a:rPr lang="en-US" altLang="zh-CN" b="0" dirty="0">
                <a:solidFill>
                  <a:srgbClr val="CE9178"/>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case_num</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res</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return</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a:spcBef>
                <a:spcPts val="0"/>
              </a:spcBef>
            </a:pPr>
            <a:endParaRPr lang="en-US" altLang="zh-CN" b="0" dirty="0">
              <a:solidFill>
                <a:srgbClr val="CCCCCC"/>
              </a:solidFill>
              <a:effectLst/>
              <a:latin typeface="Consolas" panose="020B06090202040302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数据范围与精度损失</a:t>
            </a:r>
            <a:endParaRPr lang="zh-CN" altLang="en-US" dirty="0"/>
          </a:p>
        </p:txBody>
      </p:sp>
      <p:pic>
        <p:nvPicPr>
          <p:cNvPr id="4"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9809" y="1535837"/>
            <a:ext cx="7772398" cy="3224961"/>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左大括号 4"/>
          <p:cNvSpPr/>
          <p:nvPr/>
        </p:nvSpPr>
        <p:spPr>
          <a:xfrm>
            <a:off x="859972" y="2125060"/>
            <a:ext cx="209550" cy="1303940"/>
          </a:xfrm>
          <a:prstGeom prst="leftBrace">
            <a:avLst/>
          </a:prstGeom>
          <a:ln w="28575">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6" name="文本框 5"/>
          <p:cNvSpPr txBox="1"/>
          <p:nvPr/>
        </p:nvSpPr>
        <p:spPr>
          <a:xfrm>
            <a:off x="121757" y="2275115"/>
            <a:ext cx="836186" cy="707886"/>
          </a:xfrm>
          <a:prstGeom prst="rect">
            <a:avLst/>
          </a:prstGeom>
          <a:noFill/>
        </p:spPr>
        <p:txBody>
          <a:bodyPr wrap="square" rtlCol="0">
            <a:spAutoFit/>
          </a:bodyPr>
          <a:lstStyle/>
          <a:p>
            <a:r>
              <a:rPr lang="zh-CN" altLang="en-US" sz="2000" b="1" dirty="0"/>
              <a:t>定点整数</a:t>
            </a:r>
            <a:endParaRPr lang="zh-CN" altLang="en-US" sz="2000" b="1" dirty="0"/>
          </a:p>
        </p:txBody>
      </p:sp>
      <p:sp>
        <p:nvSpPr>
          <p:cNvPr id="7" name="左大括号 6"/>
          <p:cNvSpPr/>
          <p:nvPr/>
        </p:nvSpPr>
        <p:spPr>
          <a:xfrm>
            <a:off x="789214" y="3521056"/>
            <a:ext cx="280307" cy="700256"/>
          </a:xfrm>
          <a:prstGeom prst="leftBrace">
            <a:avLst/>
          </a:prstGeom>
          <a:ln w="28575">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8" name="文本框 7"/>
          <p:cNvSpPr txBox="1"/>
          <p:nvPr/>
        </p:nvSpPr>
        <p:spPr>
          <a:xfrm>
            <a:off x="23785" y="3506973"/>
            <a:ext cx="836186" cy="707886"/>
          </a:xfrm>
          <a:prstGeom prst="rect">
            <a:avLst/>
          </a:prstGeom>
          <a:noFill/>
        </p:spPr>
        <p:txBody>
          <a:bodyPr wrap="square" rtlCol="0">
            <a:spAutoFit/>
          </a:bodyPr>
          <a:lstStyle/>
          <a:p>
            <a:r>
              <a:rPr lang="zh-CN" altLang="en-US" sz="2000" b="1" dirty="0"/>
              <a:t>浮点小数</a:t>
            </a:r>
            <a:endParaRPr lang="zh-CN" altLang="en-US" sz="2000" b="1" dirty="0"/>
          </a:p>
        </p:txBody>
      </p:sp>
      <mc:AlternateContent xmlns:mc="http://schemas.openxmlformats.org/markup-compatibility/2006">
        <mc:Choice xmlns:a14="http://schemas.microsoft.com/office/drawing/2010/main" Requires="a14">
          <p:sp>
            <p:nvSpPr>
              <p:cNvPr id="9" name="文本框 8"/>
              <p:cNvSpPr txBox="1"/>
              <p:nvPr/>
            </p:nvSpPr>
            <p:spPr>
              <a:xfrm>
                <a:off x="301370" y="4975852"/>
                <a:ext cx="8842630" cy="407099"/>
              </a:xfrm>
              <a:prstGeom prst="rect">
                <a:avLst/>
              </a:prstGeom>
              <a:noFill/>
            </p:spPr>
            <p:txBody>
              <a:bodyPr wrap="square" rtlCol="0">
                <a:spAutoFit/>
              </a:bodyPr>
              <a:lstStyle/>
              <a:p>
                <a:r>
                  <a:rPr lang="en-US" altLang="zh-CN" sz="2000" dirty="0"/>
                  <a:t>1. int</a:t>
                </a:r>
                <a:r>
                  <a:rPr lang="zh-CN" altLang="en-US" sz="2000" dirty="0"/>
                  <a:t>大致范围</a:t>
                </a:r>
                <a14:m>
                  <m:oMath xmlns:m="http://schemas.openxmlformats.org/officeDocument/2006/math">
                    <m:r>
                      <a:rPr lang="en-US" altLang="zh-CN" sz="2000" b="0" i="1">
                        <a:latin typeface="Cambria Math" panose="02040503050406030204" pitchFamily="18" charset="0"/>
                      </a:rPr>
                      <m:t>2</m:t>
                    </m:r>
                    <m:r>
                      <a:rPr lang="en-US" altLang="zh-CN" sz="2000" b="0">
                        <a:latin typeface="Cambria Math" panose="02040503050406030204" pitchFamily="18" charset="0"/>
                      </a:rPr>
                      <m:t>×</m:t>
                    </m:r>
                    <m:r>
                      <a:rPr lang="en-US" altLang="zh-CN" sz="2000" b="0" i="1">
                        <a:latin typeface="Cambria Math" panose="02040503050406030204" pitchFamily="18" charset="0"/>
                      </a:rPr>
                      <m:t>1</m:t>
                    </m:r>
                    <m:sSup>
                      <m:sSupPr>
                        <m:ctrlPr>
                          <a:rPr lang="en-US" altLang="zh-CN" sz="2000" i="1">
                            <a:latin typeface="Cambria Math" panose="02040503050406030204" pitchFamily="18" charset="0"/>
                          </a:rPr>
                        </m:ctrlPr>
                      </m:sSupPr>
                      <m:e>
                        <m:r>
                          <a:rPr lang="en-US" altLang="zh-CN" sz="2000" b="0" i="1">
                            <a:latin typeface="Cambria Math" panose="02040503050406030204" pitchFamily="18" charset="0"/>
                          </a:rPr>
                          <m:t>0</m:t>
                        </m:r>
                      </m:e>
                      <m:sup>
                        <m:r>
                          <a:rPr lang="en-US" altLang="zh-CN" sz="2000" b="0" i="1">
                            <a:latin typeface="Cambria Math" panose="02040503050406030204" pitchFamily="18" charset="0"/>
                          </a:rPr>
                          <m:t>9</m:t>
                        </m:r>
                      </m:sup>
                    </m:sSup>
                  </m:oMath>
                </a14:m>
                <a:r>
                  <a:rPr lang="en-US" altLang="zh-CN" sz="2000" dirty="0"/>
                  <a:t>, long </a:t>
                </a:r>
                <a:r>
                  <a:rPr lang="en-US" altLang="zh-CN" sz="2000" dirty="0" err="1"/>
                  <a:t>long</a:t>
                </a:r>
                <a:r>
                  <a:rPr lang="zh-CN" altLang="en-US" sz="2000" dirty="0"/>
                  <a:t>大致范围</a:t>
                </a:r>
                <a14:m>
                  <m:oMath xmlns:m="http://schemas.openxmlformats.org/officeDocument/2006/math">
                    <m:r>
                      <a:rPr lang="en-US" altLang="zh-CN" sz="2000" b="0" i="1" smtClean="0">
                        <a:latin typeface="Cambria Math" panose="02040503050406030204" pitchFamily="18" charset="0"/>
                      </a:rPr>
                      <m:t>4</m:t>
                    </m:r>
                    <m:r>
                      <a:rPr lang="en-US" altLang="zh-CN" sz="2000">
                        <a:latin typeface="Cambria Math" panose="02040503050406030204" pitchFamily="18" charset="0"/>
                      </a:rPr>
                      <m:t>×</m:t>
                    </m:r>
                    <m:r>
                      <a:rPr lang="en-US" altLang="zh-CN" sz="2000" i="1">
                        <a:latin typeface="Cambria Math" panose="02040503050406030204" pitchFamily="18" charset="0"/>
                      </a:rPr>
                      <m:t>1</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0</m:t>
                        </m:r>
                      </m:e>
                      <m:sup>
                        <m:r>
                          <a:rPr lang="en-US" altLang="zh-CN" sz="2000" b="0" i="1" smtClean="0">
                            <a:latin typeface="Cambria Math" panose="02040503050406030204" pitchFamily="18" charset="0"/>
                          </a:rPr>
                          <m:t>18</m:t>
                        </m:r>
                      </m:sup>
                    </m:sSup>
                  </m:oMath>
                </a14:m>
                <a:r>
                  <a:rPr lang="zh-CN" altLang="en-US" sz="2000" dirty="0"/>
                  <a:t>，不记得了</a:t>
                </a:r>
                <a:r>
                  <a:rPr lang="en-US" altLang="zh-CN" sz="2000" dirty="0" err="1"/>
                  <a:t>cout</a:t>
                </a:r>
                <a:r>
                  <a:rPr lang="zh-CN" altLang="en-US" sz="2000" dirty="0"/>
                  <a:t>试试是否越界</a:t>
                </a:r>
                <a:endParaRPr lang="zh-CN" altLang="en-US" sz="2000" dirty="0"/>
              </a:p>
            </p:txBody>
          </p:sp>
        </mc:Choice>
        <mc:Fallback>
          <p:sp>
            <p:nvSpPr>
              <p:cNvPr id="9" name="文本框 8"/>
              <p:cNvSpPr txBox="1">
                <a:spLocks noRot="1" noChangeAspect="1" noMove="1" noResize="1" noEditPoints="1" noAdjustHandles="1" noChangeArrowheads="1" noChangeShapeType="1" noTextEdit="1"/>
              </p:cNvSpPr>
              <p:nvPr/>
            </p:nvSpPr>
            <p:spPr>
              <a:xfrm>
                <a:off x="301370" y="4975852"/>
                <a:ext cx="8842630" cy="407099"/>
              </a:xfrm>
              <a:prstGeom prst="rect">
                <a:avLst/>
              </a:prstGeom>
              <a:blipFill rotWithShape="1">
                <a:blip r:embed="rId2"/>
                <a:stretch>
                  <a:fillRect l="-4" t="-154" b="14"/>
                </a:stretch>
              </a:blipFill>
            </p:spPr>
            <p:txBody>
              <a:bodyPr/>
              <a:lstStyle/>
              <a:p>
                <a:r>
                  <a:rPr lang="zh-CN" altLang="en-US">
                    <a:noFill/>
                  </a:rPr>
                  <a:t> </a:t>
                </a:r>
              </a:p>
            </p:txBody>
          </p:sp>
        </mc:Fallback>
      </mc:AlternateContent>
      <p:sp>
        <p:nvSpPr>
          <p:cNvPr id="11" name="文本框 10"/>
          <p:cNvSpPr txBox="1"/>
          <p:nvPr/>
        </p:nvSpPr>
        <p:spPr>
          <a:xfrm>
            <a:off x="2035628" y="5474233"/>
            <a:ext cx="4855029" cy="369332"/>
          </a:xfrm>
          <a:prstGeom prst="rect">
            <a:avLst/>
          </a:prstGeom>
          <a:solidFill>
            <a:schemeClr val="tx1"/>
          </a:solidFill>
        </p:spPr>
        <p:txBody>
          <a:bodyPr wrap="square">
            <a:spAutoFit/>
          </a:bodyPr>
          <a:lstStyle/>
          <a:p>
            <a:r>
              <a:rPr lang="en-US" altLang="zh-CN" b="0" dirty="0" err="1">
                <a:solidFill>
                  <a:srgbClr val="9CDCFE"/>
                </a:solidFill>
                <a:effectLst/>
                <a:latin typeface="Consolas" panose="020B0609020204030204" pitchFamily="49" charset="0"/>
              </a:rPr>
              <a:t>cout</a:t>
            </a:r>
            <a:r>
              <a:rPr lang="en-US" altLang="zh-CN" b="0" dirty="0">
                <a:solidFill>
                  <a:srgbClr val="DCDCAA"/>
                </a:solidFill>
                <a:effectLst/>
                <a:latin typeface="Consolas" panose="020B0609020204030204" pitchFamily="49" charset="0"/>
              </a:rPr>
              <a:t>&lt;&lt;</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12345678900</a:t>
            </a:r>
            <a:r>
              <a:rPr lang="en-US" altLang="zh-CN" b="0" dirty="0">
                <a:solidFill>
                  <a:srgbClr val="CCCCCC"/>
                </a:solidFill>
                <a:effectLst/>
                <a:latin typeface="Consolas" panose="020B0609020204030204" pitchFamily="49" charset="0"/>
              </a:rPr>
              <a:t>;</a:t>
            </a:r>
            <a:r>
              <a:rPr lang="en-US" altLang="zh-CN" b="0" dirty="0">
                <a:solidFill>
                  <a:srgbClr val="6A9955"/>
                </a:solidFill>
                <a:effectLst/>
                <a:latin typeface="Consolas" panose="020B0609020204030204" pitchFamily="49" charset="0"/>
              </a:rPr>
              <a:t> //</a:t>
            </a:r>
            <a:r>
              <a:rPr lang="zh-CN" altLang="en-US" b="0" dirty="0">
                <a:solidFill>
                  <a:srgbClr val="6A9955"/>
                </a:solidFill>
                <a:effectLst/>
                <a:latin typeface="Consolas" panose="020B0609020204030204" pitchFamily="49" charset="0"/>
              </a:rPr>
              <a:t>结果为负数</a:t>
            </a:r>
            <a:endParaRPr lang="zh-CN" altLang="en-US" b="0" dirty="0">
              <a:solidFill>
                <a:srgbClr val="CCCCCC"/>
              </a:solidFill>
              <a:effectLst/>
              <a:latin typeface="Consolas" panose="020B0609020204030204" pitchFamily="49" charset="0"/>
            </a:endParaRPr>
          </a:p>
        </p:txBody>
      </p:sp>
      <mc:AlternateContent xmlns:mc="http://schemas.openxmlformats.org/markup-compatibility/2006">
        <mc:Choice xmlns:a14="http://schemas.microsoft.com/office/drawing/2010/main" Requires="a14">
          <p:sp>
            <p:nvSpPr>
              <p:cNvPr id="12" name="文本框 11"/>
              <p:cNvSpPr txBox="1"/>
              <p:nvPr/>
            </p:nvSpPr>
            <p:spPr>
              <a:xfrm>
                <a:off x="301370" y="5915790"/>
                <a:ext cx="8842630" cy="711413"/>
              </a:xfrm>
              <a:prstGeom prst="rect">
                <a:avLst/>
              </a:prstGeom>
              <a:noFill/>
            </p:spPr>
            <p:txBody>
              <a:bodyPr wrap="square" rtlCol="0">
                <a:spAutoFit/>
              </a:bodyPr>
              <a:lstStyle/>
              <a:p>
                <a:r>
                  <a:rPr lang="en-US" altLang="zh-CN" sz="2000" dirty="0"/>
                  <a:t>2. Float</a:t>
                </a:r>
                <a:r>
                  <a:rPr lang="zh-CN" altLang="en-US" sz="2000" dirty="0"/>
                  <a:t>有</a:t>
                </a:r>
                <a:r>
                  <a:rPr lang="en-US" altLang="zh-CN" sz="2000" dirty="0"/>
                  <a:t>6</a:t>
                </a:r>
                <a:r>
                  <a:rPr lang="zh-CN" altLang="en-US" sz="2000" dirty="0"/>
                  <a:t>位</a:t>
                </a:r>
                <a:r>
                  <a:rPr lang="zh-CN" altLang="en-US" sz="2000" b="1" dirty="0">
                    <a:solidFill>
                      <a:srgbClr val="FF0000"/>
                    </a:solidFill>
                  </a:rPr>
                  <a:t>有效数字</a:t>
                </a:r>
                <a:r>
                  <a:rPr lang="zh-CN" altLang="en-US" sz="2000" dirty="0"/>
                  <a:t>，</a:t>
                </a:r>
                <a:r>
                  <a:rPr lang="en-US" altLang="zh-CN" sz="2000" dirty="0"/>
                  <a:t>double</a:t>
                </a:r>
                <a:r>
                  <a:rPr lang="zh-CN" altLang="en-US" sz="2000" dirty="0"/>
                  <a:t>有</a:t>
                </a:r>
                <a:r>
                  <a:rPr lang="en-US" altLang="zh-CN" sz="2000" dirty="0"/>
                  <a:t>15</a:t>
                </a:r>
                <a:r>
                  <a:rPr lang="zh-CN" altLang="en-US" sz="2000" dirty="0"/>
                  <a:t>位</a:t>
                </a:r>
                <a:r>
                  <a:rPr lang="zh-CN" altLang="en-US" sz="2000" b="1" dirty="0">
                    <a:solidFill>
                      <a:srgbClr val="FF0000"/>
                    </a:solidFill>
                  </a:rPr>
                  <a:t>有效数字</a:t>
                </a:r>
                <a:r>
                  <a:rPr lang="zh-CN" altLang="en-US" sz="2000" dirty="0"/>
                  <a:t>，超过</a:t>
                </a:r>
                <a14:m>
                  <m:oMath xmlns:m="http://schemas.openxmlformats.org/officeDocument/2006/math">
                    <m:r>
                      <a:rPr lang="en-US" altLang="zh-CN" sz="2000" b="0" i="0" smtClean="0">
                        <a:latin typeface="Cambria Math" panose="02040503050406030204" pitchFamily="18" charset="0"/>
                      </a:rPr>
                      <m:t> </m:t>
                    </m:r>
                    <m:r>
                      <a:rPr lang="en-US" altLang="zh-CN" sz="2000" i="1">
                        <a:latin typeface="Cambria Math" panose="02040503050406030204" pitchFamily="18" charset="0"/>
                      </a:rPr>
                      <m:t>1</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0</m:t>
                        </m:r>
                      </m:e>
                      <m:sup>
                        <m:r>
                          <a:rPr lang="en-US" altLang="zh-CN" sz="2000" b="0" i="1" smtClean="0">
                            <a:latin typeface="Cambria Math" panose="02040503050406030204" pitchFamily="18" charset="0"/>
                          </a:rPr>
                          <m:t>15</m:t>
                        </m:r>
                      </m:sup>
                    </m:sSup>
                    <m:r>
                      <a:rPr lang="zh-CN" altLang="en-US" sz="2000" i="1">
                        <a:latin typeface="Cambria Math" panose="02040503050406030204" pitchFamily="18" charset="0"/>
                      </a:rPr>
                      <m:t>范围</m:t>
                    </m:r>
                  </m:oMath>
                </a14:m>
                <a:r>
                  <a:rPr lang="zh-CN" altLang="en-US" sz="2000" dirty="0"/>
                  <a:t>外的整数可能丢失精度</a:t>
                </a:r>
                <a:endParaRPr lang="zh-CN" altLang="en-US" sz="2000" dirty="0"/>
              </a:p>
            </p:txBody>
          </p:sp>
        </mc:Choice>
        <mc:Fallback>
          <p:sp>
            <p:nvSpPr>
              <p:cNvPr id="12" name="文本框 11"/>
              <p:cNvSpPr txBox="1">
                <a:spLocks noRot="1" noChangeAspect="1" noMove="1" noResize="1" noEditPoints="1" noAdjustHandles="1" noChangeArrowheads="1" noChangeShapeType="1" noTextEdit="1"/>
              </p:cNvSpPr>
              <p:nvPr/>
            </p:nvSpPr>
            <p:spPr>
              <a:xfrm>
                <a:off x="301370" y="5915790"/>
                <a:ext cx="8842630" cy="711413"/>
              </a:xfrm>
              <a:prstGeom prst="rect">
                <a:avLst/>
              </a:prstGeom>
              <a:blipFill rotWithShape="1">
                <a:blip r:embed="rId3"/>
                <a:stretch>
                  <a:fillRect l="-4" t="-18" b="48"/>
                </a:stretch>
              </a:blipFill>
            </p:spPr>
            <p:txBody>
              <a:bodyPr/>
              <a:lstStyle/>
              <a:p>
                <a:r>
                  <a:rPr lang="zh-CN" altLang="en-US">
                    <a:noFill/>
                  </a:rPr>
                  <a:t> </a:t>
                </a:r>
              </a:p>
            </p:txBody>
          </p:sp>
        </mc:Fallback>
      </mc:AlternateContent>
      <p:sp>
        <p:nvSpPr>
          <p:cNvPr id="13" name="文本框 12"/>
          <p:cNvSpPr txBox="1"/>
          <p:nvPr/>
        </p:nvSpPr>
        <p:spPr>
          <a:xfrm>
            <a:off x="6108898" y="122655"/>
            <a:ext cx="2877259" cy="1015663"/>
          </a:xfrm>
          <a:prstGeom prst="rect">
            <a:avLst/>
          </a:prstGeom>
          <a:noFill/>
        </p:spPr>
        <p:txBody>
          <a:bodyPr wrap="square" rtlCol="0">
            <a:spAutoFit/>
          </a:bodyPr>
          <a:lstStyle/>
          <a:p>
            <a:r>
              <a:rPr lang="en-US" altLang="zh-CN" sz="2000" b="1" dirty="0"/>
              <a:t>3. long double</a:t>
            </a:r>
            <a:r>
              <a:rPr lang="zh-CN" altLang="en-US" sz="2000" b="1" dirty="0"/>
              <a:t>一般不用</a:t>
            </a:r>
            <a:endParaRPr lang="en-US" altLang="zh-CN" sz="2000" b="1" dirty="0"/>
          </a:p>
          <a:p>
            <a:r>
              <a:rPr lang="en-US" altLang="zh-CN" sz="2000" b="1" dirty="0"/>
              <a:t>4. </a:t>
            </a:r>
            <a:r>
              <a:rPr lang="en-US" altLang="zh-CN" sz="2000" b="1" dirty="0">
                <a:solidFill>
                  <a:srgbClr val="FF0000"/>
                </a:solidFill>
              </a:rPr>
              <a:t>double</a:t>
            </a:r>
            <a:r>
              <a:rPr lang="zh-CN" altLang="en-US" sz="2000" b="1" dirty="0">
                <a:solidFill>
                  <a:srgbClr val="FF0000"/>
                </a:solidFill>
              </a:rPr>
              <a:t>类型一般不用</a:t>
            </a:r>
            <a:r>
              <a:rPr lang="en-US" altLang="zh-CN" sz="2000" b="1" dirty="0">
                <a:solidFill>
                  <a:srgbClr val="FF0000"/>
                </a:solidFill>
              </a:rPr>
              <a:t>==</a:t>
            </a:r>
            <a:r>
              <a:rPr lang="zh-CN" altLang="en-US" sz="2000" b="1" dirty="0">
                <a:solidFill>
                  <a:srgbClr val="FF0000"/>
                </a:solidFill>
              </a:rPr>
              <a:t>比较</a:t>
            </a:r>
            <a:endParaRPr lang="zh-CN" altLang="en-US" sz="2000" b="1"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i="0" dirty="0">
                <a:effectLst/>
                <a:latin typeface="Lato" panose="020F0502020204030203" pitchFamily="34" charset="0"/>
              </a:rPr>
              <a:t>yoj215. </a:t>
            </a:r>
            <a:r>
              <a:rPr lang="zh-CN" altLang="en-US" b="1" i="0" dirty="0">
                <a:effectLst/>
                <a:latin typeface="Lato" panose="020F0502020204030203" pitchFamily="34" charset="0"/>
              </a:rPr>
              <a:t>提货单</a:t>
            </a:r>
            <a:endParaRPr lang="zh-CN" altLang="en-US" dirty="0"/>
          </a:p>
        </p:txBody>
      </p:sp>
      <p:sp>
        <p:nvSpPr>
          <p:cNvPr id="3" name="内容占位符 2"/>
          <p:cNvSpPr>
            <a:spLocks noGrp="1"/>
          </p:cNvSpPr>
          <p:nvPr>
            <p:ph idx="1"/>
          </p:nvPr>
        </p:nvSpPr>
        <p:spPr/>
        <p:txBody>
          <a:bodyPr>
            <a:normAutofit/>
          </a:bodyPr>
          <a:lstStyle/>
          <a:p>
            <a:pPr algn="l">
              <a:spcBef>
                <a:spcPts val="0"/>
              </a:spcBef>
            </a:pPr>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问题描述</a:t>
            </a:r>
            <a:r>
              <a:rPr lang="en-US" altLang="zh-CN" sz="2000" b="0" i="0" dirty="0">
                <a:effectLst/>
                <a:latin typeface="Open Sans" panose="020B0606030504020204" pitchFamily="34" charset="0"/>
              </a:rPr>
              <a:t>】</a:t>
            </a:r>
            <a:endParaRPr lang="en-US" altLang="zh-CN" sz="2000" b="0" i="0" dirty="0">
              <a:effectLst/>
              <a:latin typeface="Open Sans" panose="020B0606030504020204" pitchFamily="34" charset="0"/>
            </a:endParaRPr>
          </a:p>
          <a:p>
            <a:pPr algn="l">
              <a:spcBef>
                <a:spcPts val="0"/>
              </a:spcBef>
            </a:pPr>
            <a:r>
              <a:rPr lang="en-US" altLang="zh-CN" sz="2000" b="0" i="0" dirty="0">
                <a:effectLst/>
                <a:latin typeface="Open Sans" panose="020B0606030504020204" pitchFamily="34" charset="0"/>
              </a:rPr>
              <a:t> </a:t>
            </a:r>
            <a:r>
              <a:rPr lang="zh-CN" altLang="en-US" sz="2000" b="0" i="0" dirty="0">
                <a:effectLst/>
                <a:latin typeface="Open Sans" panose="020B0606030504020204" pitchFamily="34" charset="0"/>
              </a:rPr>
              <a:t>有一份提货单，其数据项目有：商品名（</a:t>
            </a:r>
            <a:r>
              <a:rPr lang="en-US" altLang="zh-CN" sz="2000" b="0" i="0" dirty="0">
                <a:effectLst/>
                <a:latin typeface="Open Sans" panose="020B0606030504020204" pitchFamily="34" charset="0"/>
              </a:rPr>
              <a:t>MC</a:t>
            </a:r>
            <a:r>
              <a:rPr lang="zh-CN" altLang="en-US" sz="2000" b="0" i="0" dirty="0">
                <a:effectLst/>
                <a:latin typeface="Open Sans" panose="020B0606030504020204" pitchFamily="34" charset="0"/>
              </a:rPr>
              <a:t>）、单价（</a:t>
            </a:r>
            <a:r>
              <a:rPr lang="en-US" altLang="zh-CN" sz="2000" b="0" i="0" dirty="0">
                <a:effectLst/>
                <a:latin typeface="Open Sans" panose="020B0606030504020204" pitchFamily="34" charset="0"/>
              </a:rPr>
              <a:t>DJ</a:t>
            </a:r>
            <a:r>
              <a:rPr lang="zh-CN" altLang="en-US" sz="2000" b="0" i="0" dirty="0">
                <a:effectLst/>
                <a:latin typeface="Open Sans" panose="020B0606030504020204" pitchFamily="34" charset="0"/>
              </a:rPr>
              <a:t>）、数量（</a:t>
            </a:r>
            <a:r>
              <a:rPr lang="en-US" altLang="zh-CN" sz="2000" b="0" i="0" dirty="0">
                <a:effectLst/>
                <a:latin typeface="Open Sans" panose="020B0606030504020204" pitchFamily="34" charset="0"/>
              </a:rPr>
              <a:t>SL</a:t>
            </a:r>
            <a:r>
              <a:rPr lang="zh-CN" altLang="en-US" sz="2000" b="0" i="0" dirty="0">
                <a:effectLst/>
                <a:latin typeface="Open Sans" panose="020B0606030504020204" pitchFamily="34" charset="0"/>
              </a:rPr>
              <a:t>）。请计算并输出提货单的总金额。</a:t>
            </a:r>
            <a:endParaRPr lang="zh-CN" altLang="en-US" sz="2000" b="0" i="0" dirty="0">
              <a:effectLst/>
              <a:latin typeface="Open Sans" panose="020B0606030504020204" pitchFamily="34" charset="0"/>
            </a:endParaRPr>
          </a:p>
          <a:p>
            <a:pPr algn="l">
              <a:spcBef>
                <a:spcPts val="0"/>
              </a:spcBef>
            </a:pPr>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输入格式</a:t>
            </a:r>
            <a:r>
              <a:rPr lang="en-US" altLang="zh-CN" sz="2000" b="0" i="0" dirty="0">
                <a:effectLst/>
                <a:latin typeface="Open Sans" panose="020B0606030504020204" pitchFamily="34" charset="0"/>
              </a:rPr>
              <a:t>】</a:t>
            </a:r>
            <a:endParaRPr lang="en-US" altLang="zh-CN" sz="2000" b="0" i="0" dirty="0">
              <a:effectLst/>
              <a:latin typeface="Open Sans" panose="020B0606030504020204" pitchFamily="34" charset="0"/>
            </a:endParaRPr>
          </a:p>
          <a:p>
            <a:pPr algn="l">
              <a:spcBef>
                <a:spcPts val="0"/>
              </a:spcBef>
            </a:pPr>
            <a:r>
              <a:rPr lang="zh-CN" altLang="en-US" sz="2000" b="0" i="0" dirty="0">
                <a:effectLst/>
                <a:latin typeface="Open Sans" panose="020B0606030504020204" pitchFamily="34" charset="0"/>
              </a:rPr>
              <a:t>第一行是提货单中记录个数</a:t>
            </a:r>
            <a:r>
              <a:rPr lang="en-US" altLang="zh-CN" sz="2000" b="0" i="0" dirty="0">
                <a:solidFill>
                  <a:srgbClr val="FF0000"/>
                </a:solidFill>
                <a:effectLst/>
                <a:latin typeface="Open Sans" panose="020B0606030504020204" pitchFamily="34" charset="0"/>
              </a:rPr>
              <a:t>N (N&lt;100)</a:t>
            </a:r>
            <a:r>
              <a:rPr lang="zh-CN" altLang="en-US" sz="2000" b="0" i="0" dirty="0">
                <a:effectLst/>
                <a:latin typeface="Open Sans" panose="020B0606030504020204" pitchFamily="34" charset="0"/>
              </a:rPr>
              <a:t>。</a:t>
            </a:r>
            <a:endParaRPr lang="zh-CN" altLang="en-US" sz="2000" b="0" i="0" dirty="0">
              <a:effectLst/>
              <a:latin typeface="Open Sans" panose="020B0606030504020204" pitchFamily="34" charset="0"/>
            </a:endParaRPr>
          </a:p>
          <a:p>
            <a:pPr algn="l">
              <a:spcBef>
                <a:spcPts val="0"/>
              </a:spcBef>
            </a:pPr>
            <a:r>
              <a:rPr lang="zh-CN" altLang="en-US" sz="2000" b="0" i="0" dirty="0">
                <a:effectLst/>
                <a:latin typeface="Open Sans" panose="020B0606030504020204" pitchFamily="34" charset="0"/>
              </a:rPr>
              <a:t>接下来</a:t>
            </a:r>
            <a:r>
              <a:rPr lang="en-US" altLang="zh-CN" sz="2000" b="0" i="0" dirty="0">
                <a:effectLst/>
                <a:latin typeface="Open Sans" panose="020B0606030504020204" pitchFamily="34" charset="0"/>
              </a:rPr>
              <a:t>N</a:t>
            </a:r>
            <a:r>
              <a:rPr lang="zh-CN" altLang="en-US" sz="2000" b="0" i="0" dirty="0">
                <a:effectLst/>
                <a:latin typeface="Open Sans" panose="020B0606030504020204" pitchFamily="34" charset="0"/>
              </a:rPr>
              <a:t>行，每一行是一条记录，包含商品名（长度不超过</a:t>
            </a:r>
            <a:r>
              <a:rPr lang="en-US" altLang="zh-CN" sz="2000" b="0" i="0" dirty="0">
                <a:effectLst/>
                <a:latin typeface="Open Sans" panose="020B0606030504020204" pitchFamily="34" charset="0"/>
              </a:rPr>
              <a:t>100</a:t>
            </a:r>
            <a:r>
              <a:rPr lang="zh-CN" altLang="en-US" sz="2000" b="0" i="0" dirty="0">
                <a:effectLst/>
                <a:latin typeface="Open Sans" panose="020B0606030504020204" pitchFamily="34" charset="0"/>
              </a:rPr>
              <a:t>的仅包含小写字母的字符串）、单价、数量，单价和数量均为</a:t>
            </a:r>
            <a:r>
              <a:rPr lang="zh-CN" altLang="en-US" sz="2000" b="0" i="0" dirty="0">
                <a:solidFill>
                  <a:srgbClr val="FF0000"/>
                </a:solidFill>
                <a:effectLst/>
                <a:latin typeface="Open Sans" panose="020B0606030504020204" pitchFamily="34" charset="0"/>
              </a:rPr>
              <a:t>不大于</a:t>
            </a:r>
            <a:r>
              <a:rPr lang="en-US" altLang="zh-CN" sz="2000" b="0" i="0" dirty="0">
                <a:solidFill>
                  <a:srgbClr val="FF0000"/>
                </a:solidFill>
                <a:effectLst/>
                <a:latin typeface="Open Sans" panose="020B0606030504020204" pitchFamily="34" charset="0"/>
              </a:rPr>
              <a:t>500</a:t>
            </a:r>
            <a:r>
              <a:rPr lang="zh-CN" altLang="en-US" sz="2000" b="0" i="0" dirty="0">
                <a:solidFill>
                  <a:srgbClr val="FF0000"/>
                </a:solidFill>
                <a:effectLst/>
                <a:latin typeface="Open Sans" panose="020B0606030504020204" pitchFamily="34" charset="0"/>
              </a:rPr>
              <a:t>整数</a:t>
            </a:r>
            <a:r>
              <a:rPr lang="zh-CN" altLang="en-US" sz="2000" b="0" i="0" dirty="0">
                <a:effectLst/>
                <a:latin typeface="Open Sans" panose="020B0606030504020204" pitchFamily="34" charset="0"/>
              </a:rPr>
              <a:t>，数据项之间用一个空格隔开。</a:t>
            </a:r>
            <a:endParaRPr lang="zh-CN" altLang="en-US" sz="2000" b="0" i="0" dirty="0">
              <a:effectLst/>
              <a:latin typeface="Open Sans" panose="020B0606030504020204" pitchFamily="34" charset="0"/>
            </a:endParaRPr>
          </a:p>
          <a:p>
            <a:pPr algn="l">
              <a:spcBef>
                <a:spcPts val="0"/>
              </a:spcBef>
            </a:pPr>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输出格式</a:t>
            </a:r>
            <a:r>
              <a:rPr lang="en-US" altLang="zh-CN" sz="2000" b="0" i="0" dirty="0">
                <a:effectLst/>
                <a:latin typeface="Open Sans" panose="020B0606030504020204" pitchFamily="34" charset="0"/>
              </a:rPr>
              <a:t>】</a:t>
            </a:r>
            <a:endParaRPr lang="en-US" altLang="zh-CN" sz="2000" b="0" i="0" dirty="0">
              <a:effectLst/>
              <a:latin typeface="Open Sans" panose="020B0606030504020204" pitchFamily="34" charset="0"/>
            </a:endParaRPr>
          </a:p>
          <a:p>
            <a:pPr algn="l">
              <a:spcBef>
                <a:spcPts val="0"/>
              </a:spcBef>
            </a:pPr>
            <a:r>
              <a:rPr lang="zh-CN" altLang="en-US" sz="2000" b="0" i="0" dirty="0">
                <a:effectLst/>
                <a:latin typeface="Open Sans" panose="020B0606030504020204" pitchFamily="34" charset="0"/>
              </a:rPr>
              <a:t>一个整数，表示这份提货单的总金额。</a:t>
            </a:r>
            <a:endParaRPr lang="zh-CN" altLang="en-US" sz="2000" b="0" i="0" dirty="0">
              <a:effectLst/>
              <a:latin typeface="Open Sans" panose="020B0606030504020204" pitchFamily="34" charset="0"/>
            </a:endParaRPr>
          </a:p>
          <a:p>
            <a:pPr algn="l"/>
            <a:endParaRPr lang="en-US" altLang="zh-CN" sz="1200" b="0" i="0" dirty="0">
              <a:effectLst/>
              <a:latin typeface="Open Sans" panose="020B0606030504020204" pitchFamily="34" charset="0"/>
            </a:endParaRPr>
          </a:p>
        </p:txBody>
      </p:sp>
      <p:sp>
        <p:nvSpPr>
          <p:cNvPr id="5" name="文本框 4"/>
          <p:cNvSpPr txBox="1"/>
          <p:nvPr/>
        </p:nvSpPr>
        <p:spPr>
          <a:xfrm>
            <a:off x="2574471" y="4788379"/>
            <a:ext cx="2432957" cy="1938992"/>
          </a:xfrm>
          <a:prstGeom prst="rect">
            <a:avLst/>
          </a:prstGeom>
          <a:noFill/>
        </p:spPr>
        <p:txBody>
          <a:bodyPr wrap="square">
            <a:spAutoFit/>
          </a:bodyPr>
          <a:lstStyle/>
          <a:p>
            <a:pPr algn="l"/>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输入样例</a:t>
            </a:r>
            <a:r>
              <a:rPr lang="en-US" altLang="zh-CN" sz="2000" b="0" i="0" dirty="0">
                <a:effectLst/>
                <a:latin typeface="Open Sans" panose="020B0606030504020204" pitchFamily="34" charset="0"/>
              </a:rPr>
              <a:t>】</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4</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book 12 3</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pen 2 10</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computer 480 1</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flower 47 5</a:t>
            </a:r>
            <a:endParaRPr lang="en-US" altLang="zh-CN" sz="2000" b="0" i="0" dirty="0">
              <a:effectLst/>
              <a:latin typeface="Open Sans" panose="020B0606030504020204" pitchFamily="34" charset="0"/>
            </a:endParaRPr>
          </a:p>
        </p:txBody>
      </p:sp>
      <p:sp>
        <p:nvSpPr>
          <p:cNvPr id="7" name="文本框 6"/>
          <p:cNvSpPr txBox="1"/>
          <p:nvPr/>
        </p:nvSpPr>
        <p:spPr>
          <a:xfrm>
            <a:off x="4865914" y="4788379"/>
            <a:ext cx="1807029" cy="707886"/>
          </a:xfrm>
          <a:prstGeom prst="rect">
            <a:avLst/>
          </a:prstGeom>
          <a:noFill/>
        </p:spPr>
        <p:txBody>
          <a:bodyPr wrap="square">
            <a:spAutoFit/>
          </a:bodyPr>
          <a:lstStyle/>
          <a:p>
            <a:r>
              <a:rPr lang="en-US" altLang="zh-CN" sz="2000" dirty="0">
                <a:latin typeface="Open Sans" panose="020B0606030504020204" pitchFamily="34" charset="0"/>
              </a:rPr>
              <a:t>【</a:t>
            </a:r>
            <a:r>
              <a:rPr lang="zh-CN" altLang="en-US" sz="2000" dirty="0">
                <a:latin typeface="Open Sans" panose="020B0606030504020204" pitchFamily="34" charset="0"/>
              </a:rPr>
              <a:t>输出样例</a:t>
            </a:r>
            <a:r>
              <a:rPr lang="en-US" altLang="zh-CN" sz="2000" dirty="0">
                <a:latin typeface="Open Sans" panose="020B0606030504020204" pitchFamily="34" charset="0"/>
              </a:rPr>
              <a:t>】</a:t>
            </a:r>
            <a:endParaRPr lang="en-US" altLang="zh-CN" sz="2000" dirty="0">
              <a:latin typeface="Open Sans" panose="020B0606030504020204" pitchFamily="34" charset="0"/>
            </a:endParaRPr>
          </a:p>
          <a:p>
            <a:r>
              <a:rPr lang="en-US" altLang="zh-CN" sz="2000" dirty="0">
                <a:latin typeface="Open Sans" panose="020B0606030504020204" pitchFamily="34" charset="0"/>
              </a:rPr>
              <a:t>771</a:t>
            </a:r>
            <a:endParaRPr lang="zh-CN" altLang="en-US" sz="2000" dirty="0">
              <a:latin typeface="Open Sans" panose="020B0606030504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yoj10. </a:t>
            </a:r>
            <a:r>
              <a:rPr lang="zh-CN" altLang="en-US" dirty="0"/>
              <a:t>温度转换</a:t>
            </a:r>
            <a:endParaRPr lang="zh-CN" altLang="en-US" dirty="0"/>
          </a:p>
        </p:txBody>
      </p:sp>
      <p:sp>
        <p:nvSpPr>
          <p:cNvPr id="3" name="内容占位符 2"/>
          <p:cNvSpPr>
            <a:spLocks noGrp="1"/>
          </p:cNvSpPr>
          <p:nvPr>
            <p:ph idx="1"/>
          </p:nvPr>
        </p:nvSpPr>
        <p:spPr/>
        <p:txBody>
          <a:bodyPr>
            <a:normAutofit fontScale="92500" lnSpcReduction="10000"/>
          </a:bodyPr>
          <a:lstStyle/>
          <a:p>
            <a:pPr algn="l"/>
            <a:r>
              <a:rPr lang="zh-CN" altLang="en-US" b="0" i="0" dirty="0">
                <a:effectLst/>
                <a:latin typeface="Open Sans" panose="020B0606030504020204" pitchFamily="34" charset="0"/>
              </a:rPr>
              <a:t>输入一个华氏温度，要求输出摄氏温度。</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华氏温度与摄氏温度的转换公式为</a:t>
            </a:r>
            <a:r>
              <a:rPr lang="en-US" altLang="zh-CN" b="0" i="0" dirty="0">
                <a:effectLst/>
                <a:latin typeface="Open Sans" panose="020B0606030504020204" pitchFamily="34" charset="0"/>
              </a:rPr>
              <a:t>C = (F - 32)*5/9 </a:t>
            </a:r>
            <a:r>
              <a:rPr lang="zh-CN" altLang="en-US" b="0" i="0" dirty="0">
                <a:effectLst/>
                <a:latin typeface="Open Sans" panose="020B0606030504020204" pitchFamily="34" charset="0"/>
              </a:rPr>
              <a:t>，其中</a:t>
            </a:r>
            <a:r>
              <a:rPr lang="en-US" altLang="zh-CN" b="0" i="0" dirty="0">
                <a:effectLst/>
                <a:latin typeface="Open Sans" panose="020B0606030504020204" pitchFamily="34" charset="0"/>
              </a:rPr>
              <a:t>c</a:t>
            </a:r>
            <a:r>
              <a:rPr lang="zh-CN" altLang="en-US" b="0" i="0" dirty="0">
                <a:effectLst/>
                <a:latin typeface="Open Sans" panose="020B0606030504020204" pitchFamily="34" charset="0"/>
              </a:rPr>
              <a:t>表示摄氏温度，</a:t>
            </a:r>
            <a:r>
              <a:rPr lang="en-US" altLang="zh-CN" b="0" i="0" dirty="0">
                <a:effectLst/>
                <a:latin typeface="Open Sans" panose="020B0606030504020204" pitchFamily="34" charset="0"/>
              </a:rPr>
              <a:t>F</a:t>
            </a:r>
            <a:r>
              <a:rPr lang="zh-CN" altLang="en-US" b="0" i="0" dirty="0">
                <a:effectLst/>
                <a:latin typeface="Open Sans" panose="020B0606030504020204" pitchFamily="34" charset="0"/>
              </a:rPr>
              <a:t>表示华氏温度 </a:t>
            </a:r>
            <a:endParaRPr lang="zh-CN" altLang="en-US" b="0" i="0" dirty="0">
              <a:effectLst/>
              <a:latin typeface="Open Sans" panose="020B0606030504020204" pitchFamily="34" charset="0"/>
            </a:endParaRPr>
          </a:p>
          <a:p>
            <a:pPr algn="l"/>
            <a:r>
              <a:rPr lang="zh-CN" altLang="en-US" b="1" i="0" dirty="0">
                <a:effectLst/>
                <a:latin typeface="Lato" panose="020F0502020204030203" pitchFamily="34" charset="0"/>
              </a:rPr>
              <a:t>输入格式</a:t>
            </a:r>
            <a:endParaRPr lang="zh-CN" altLang="en-US" b="1" i="0" dirty="0">
              <a:effectLst/>
              <a:latin typeface="Lato" panose="020F0502020204030203" pitchFamily="34" charset="0"/>
            </a:endParaRPr>
          </a:p>
          <a:p>
            <a:pPr algn="l"/>
            <a:r>
              <a:rPr lang="zh-CN" altLang="en-US" b="0" i="0" dirty="0">
                <a:effectLst/>
                <a:latin typeface="Open Sans" panose="020B0606030504020204" pitchFamily="34" charset="0"/>
              </a:rPr>
              <a:t>　　一个整数</a:t>
            </a:r>
            <a:r>
              <a:rPr lang="en-US" altLang="zh-CN" b="0" i="0" dirty="0">
                <a:effectLst/>
                <a:latin typeface="Open Sans" panose="020B0606030504020204" pitchFamily="34" charset="0"/>
              </a:rPr>
              <a:t>n(-2000 &lt;= n &lt;= 2000)</a:t>
            </a:r>
            <a:r>
              <a:rPr lang="zh-CN" altLang="en-US" b="0" i="0" dirty="0">
                <a:effectLst/>
                <a:latin typeface="Open Sans" panose="020B0606030504020204" pitchFamily="34" charset="0"/>
              </a:rPr>
              <a:t>。</a:t>
            </a:r>
            <a:endParaRPr lang="zh-CN" altLang="en-US" b="0" i="0" dirty="0">
              <a:effectLst/>
              <a:latin typeface="Open Sans" panose="020B0606030504020204" pitchFamily="34" charset="0"/>
            </a:endParaRPr>
          </a:p>
          <a:p>
            <a:pPr algn="l"/>
            <a:r>
              <a:rPr lang="zh-CN" altLang="en-US" b="1" i="0" dirty="0">
                <a:effectLst/>
                <a:latin typeface="Lato" panose="020F0502020204030203" pitchFamily="34" charset="0"/>
              </a:rPr>
              <a:t>输出格式</a:t>
            </a:r>
            <a:endParaRPr lang="zh-CN" altLang="en-US" b="1" i="0" dirty="0">
              <a:effectLst/>
              <a:latin typeface="Lato" panose="020F0502020204030203" pitchFamily="34" charset="0"/>
            </a:endParaRPr>
          </a:p>
          <a:p>
            <a:pPr algn="l"/>
            <a:r>
              <a:rPr lang="zh-CN" altLang="en-US" b="0" i="0" dirty="0">
                <a:effectLst/>
                <a:latin typeface="Open Sans" panose="020B0606030504020204" pitchFamily="34" charset="0"/>
              </a:rPr>
              <a:t>　　一个小数</a:t>
            </a:r>
            <a:r>
              <a:rPr lang="en-US" altLang="zh-CN" b="0" i="0" dirty="0">
                <a:effectLst/>
                <a:latin typeface="Open Sans" panose="020B0606030504020204" pitchFamily="34" charset="0"/>
              </a:rPr>
              <a:t>,</a:t>
            </a:r>
            <a:r>
              <a:rPr lang="zh-CN" altLang="en-US" b="0" i="0" dirty="0">
                <a:effectLst/>
                <a:latin typeface="Open Sans" panose="020B0606030504020204" pitchFamily="34" charset="0"/>
              </a:rPr>
              <a:t>保留小数点后</a:t>
            </a:r>
            <a:r>
              <a:rPr lang="en-US" altLang="zh-CN" b="0" i="0" dirty="0">
                <a:effectLst/>
                <a:latin typeface="Open Sans" panose="020B0606030504020204" pitchFamily="34" charset="0"/>
              </a:rPr>
              <a:t>2</a:t>
            </a:r>
            <a:r>
              <a:rPr lang="zh-CN" altLang="en-US" b="0" i="0" dirty="0">
                <a:effectLst/>
                <a:latin typeface="Open Sans" panose="020B0606030504020204" pitchFamily="34" charset="0"/>
              </a:rPr>
              <a:t>位，即输入对应的摄氏温度</a:t>
            </a:r>
            <a:endParaRPr lang="zh-CN" altLang="en-US" b="0" i="0" dirty="0">
              <a:effectLst/>
              <a:latin typeface="Open Sans" panose="020B0606030504020204" pitchFamily="34" charset="0"/>
            </a:endParaRPr>
          </a:p>
          <a:p>
            <a:pPr algn="l"/>
            <a:r>
              <a:rPr lang="zh-CN" altLang="en-US" b="1" i="0" dirty="0">
                <a:effectLst/>
                <a:latin typeface="Lato" panose="020F0502020204030203" pitchFamily="34" charset="0"/>
              </a:rPr>
              <a:t>输入样例</a:t>
            </a:r>
            <a:endParaRPr lang="zh-CN" altLang="en-US" b="1" i="0" dirty="0">
              <a:effectLst/>
              <a:latin typeface="Lato" panose="020F0502020204030203" pitchFamily="34" charset="0"/>
            </a:endParaRPr>
          </a:p>
          <a:p>
            <a:pPr algn="l"/>
            <a:r>
              <a:rPr lang="en-US" altLang="zh-CN" b="0" i="0" dirty="0">
                <a:effectLst/>
                <a:latin typeface="Open Sans" panose="020B0606030504020204" pitchFamily="34" charset="0"/>
              </a:rPr>
              <a:t>32</a:t>
            </a:r>
            <a:endParaRPr lang="en-US" altLang="zh-CN" b="0" i="0" dirty="0">
              <a:effectLst/>
              <a:latin typeface="Open Sans" panose="020B0606030504020204" pitchFamily="34" charset="0"/>
            </a:endParaRPr>
          </a:p>
          <a:p>
            <a:pPr algn="l"/>
            <a:r>
              <a:rPr lang="zh-CN" altLang="en-US" b="1" i="0" dirty="0">
                <a:effectLst/>
                <a:latin typeface="Lato" panose="020F0502020204030203" pitchFamily="34" charset="0"/>
              </a:rPr>
              <a:t>输出样例</a:t>
            </a:r>
            <a:endParaRPr lang="zh-CN" altLang="en-US" b="1" i="0" dirty="0">
              <a:effectLst/>
              <a:latin typeface="Lato" panose="020F0502020204030203" pitchFamily="34" charset="0"/>
            </a:endParaRPr>
          </a:p>
          <a:p>
            <a:pPr algn="l"/>
            <a:r>
              <a:rPr lang="en-US" altLang="zh-CN" b="0" i="0" dirty="0">
                <a:effectLst/>
                <a:latin typeface="Open Sans" panose="020B0606030504020204" pitchFamily="34" charset="0"/>
              </a:rPr>
              <a:t>0.00</a:t>
            </a:r>
            <a:endParaRPr lang="en-US" altLang="zh-CN" b="0" i="0" dirty="0">
              <a:effectLst/>
              <a:latin typeface="Open Sans" panose="020B0606030504020204" pitchFamily="34" charset="0"/>
            </a:endParaRPr>
          </a:p>
          <a:p>
            <a:endParaRPr lang="zh-CN" altLang="en-US" dirty="0"/>
          </a:p>
        </p:txBody>
      </p:sp>
      <p:sp>
        <p:nvSpPr>
          <p:cNvPr id="7" name="文本框 6"/>
          <p:cNvSpPr txBox="1"/>
          <p:nvPr/>
        </p:nvSpPr>
        <p:spPr>
          <a:xfrm>
            <a:off x="3559628" y="4768335"/>
            <a:ext cx="4572000" cy="1200329"/>
          </a:xfrm>
          <a:prstGeom prst="rect">
            <a:avLst/>
          </a:prstGeom>
          <a:noFill/>
        </p:spPr>
        <p:txBody>
          <a:bodyPr wrap="square">
            <a:spAutoFit/>
          </a:bodyPr>
          <a:lstStyle/>
          <a:p>
            <a:r>
              <a:rPr lang="zh-CN" altLang="en-US" sz="2400" b="1" dirty="0">
                <a:solidFill>
                  <a:srgbClr val="FF0000"/>
                </a:solidFill>
              </a:rPr>
              <a:t>用</a:t>
            </a:r>
            <a:r>
              <a:rPr lang="en-US" altLang="zh-CN" sz="2400" b="1" dirty="0">
                <a:solidFill>
                  <a:srgbClr val="FF0000"/>
                </a:solidFill>
              </a:rPr>
              <a:t>==</a:t>
            </a:r>
            <a:r>
              <a:rPr lang="zh-CN" altLang="en-US" sz="2400" b="1" dirty="0">
                <a:solidFill>
                  <a:srgbClr val="FF0000"/>
                </a:solidFill>
              </a:rPr>
              <a:t>比较两个摄氏温度是否相等，可能有什么问题嘛？</a:t>
            </a:r>
            <a:endParaRPr lang="en-US" altLang="zh-CN" sz="2400" b="1" dirty="0">
              <a:solidFill>
                <a:srgbClr val="FF0000"/>
              </a:solidFill>
            </a:endParaRPr>
          </a:p>
          <a:p>
            <a:r>
              <a:rPr lang="en-US" altLang="zh-CN" sz="2400" b="1" dirty="0">
                <a:solidFill>
                  <a:srgbClr val="FF0000"/>
                </a:solidFill>
              </a:rPr>
              <a:t>float</a:t>
            </a:r>
            <a:r>
              <a:rPr lang="zh-CN" altLang="en-US" sz="2400" b="1" dirty="0">
                <a:solidFill>
                  <a:srgbClr val="FF0000"/>
                </a:solidFill>
              </a:rPr>
              <a:t>和</a:t>
            </a:r>
            <a:r>
              <a:rPr lang="en-US" altLang="zh-CN" sz="2400" b="1" dirty="0">
                <a:solidFill>
                  <a:srgbClr val="FF0000"/>
                </a:solidFill>
              </a:rPr>
              <a:t>double</a:t>
            </a:r>
            <a:r>
              <a:rPr lang="zh-CN" altLang="en-US" sz="2400" b="1" dirty="0">
                <a:solidFill>
                  <a:srgbClr val="FF0000"/>
                </a:solidFill>
              </a:rPr>
              <a:t>一般不用</a:t>
            </a:r>
            <a:r>
              <a:rPr lang="en-US" altLang="zh-CN" sz="2400" b="1" dirty="0">
                <a:solidFill>
                  <a:srgbClr val="FF0000"/>
                </a:solidFill>
              </a:rPr>
              <a:t>==</a:t>
            </a:r>
            <a:endParaRPr lang="zh-CN"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yoj180. </a:t>
            </a:r>
            <a:r>
              <a:rPr lang="zh-CN" altLang="en-US" b="1" i="0" dirty="0">
                <a:effectLst/>
                <a:latin typeface="Lato" panose="020F0502020204030203" pitchFamily="34" charset="0"/>
              </a:rPr>
              <a:t> 计算</a:t>
            </a:r>
            <a:r>
              <a:rPr lang="en-US" altLang="zh-CN" b="1" i="0" dirty="0" err="1">
                <a:effectLst/>
                <a:latin typeface="Lato" panose="020F0502020204030203" pitchFamily="34" charset="0"/>
              </a:rPr>
              <a:t>cosx</a:t>
            </a:r>
            <a:r>
              <a:rPr lang="zh-CN" altLang="en-US" b="1" i="0" dirty="0">
                <a:effectLst/>
                <a:latin typeface="Lato" panose="020F0502020204030203" pitchFamily="34" charset="0"/>
              </a:rPr>
              <a:t>的近似值</a:t>
            </a:r>
            <a:r>
              <a:rPr lang="en-US" altLang="zh-CN" dirty="0"/>
              <a:t> </a:t>
            </a:r>
            <a:endParaRPr lang="zh-CN" altLang="en-US" dirty="0"/>
          </a:p>
        </p:txBody>
      </p:sp>
      <p:sp>
        <p:nvSpPr>
          <p:cNvPr id="3" name="内容占位符 2"/>
          <p:cNvSpPr>
            <a:spLocks noGrp="1"/>
          </p:cNvSpPr>
          <p:nvPr>
            <p:ph idx="1"/>
          </p:nvPr>
        </p:nvSpPr>
        <p:spPr/>
        <p:txBody>
          <a:bodyPr>
            <a:normAutofit/>
          </a:bodyPr>
          <a:lstStyle/>
          <a:p>
            <a:r>
              <a:rPr lang="zh-CN" altLang="en-US" sz="2800" b="0" i="0" dirty="0">
                <a:effectLst/>
                <a:latin typeface="Open Sans" panose="020B0606030504020204" pitchFamily="34" charset="0"/>
              </a:rPr>
              <a:t>编写一个程序计算</a:t>
            </a:r>
            <a:r>
              <a:rPr lang="en-US" altLang="zh-CN" sz="2800" b="0" i="0" dirty="0" err="1">
                <a:effectLst/>
                <a:latin typeface="Open Sans" panose="020B0606030504020204" pitchFamily="34" charset="0"/>
              </a:rPr>
              <a:t>sinx</a:t>
            </a:r>
            <a:r>
              <a:rPr lang="zh-CN" altLang="en-US" sz="2800" b="0" i="0" dirty="0">
                <a:effectLst/>
                <a:latin typeface="Open Sans" panose="020B0606030504020204" pitchFamily="34" charset="0"/>
              </a:rPr>
              <a:t>和</a:t>
            </a:r>
            <a:r>
              <a:rPr lang="en-US" altLang="zh-CN" sz="2800" b="0" i="0" dirty="0" err="1">
                <a:effectLst/>
                <a:latin typeface="Open Sans" panose="020B0606030504020204" pitchFamily="34" charset="0"/>
              </a:rPr>
              <a:t>cosx</a:t>
            </a:r>
            <a:r>
              <a:rPr lang="zh-CN" altLang="en-US" sz="2800" b="0" i="0" dirty="0">
                <a:effectLst/>
                <a:latin typeface="Open Sans" panose="020B0606030504020204" pitchFamily="34" charset="0"/>
              </a:rPr>
              <a:t>的近似值</a:t>
            </a:r>
            <a:r>
              <a:rPr lang="en-US" altLang="zh-CN" sz="2800" b="0" i="0" dirty="0">
                <a:effectLst/>
                <a:latin typeface="Open Sans" panose="020B0606030504020204" pitchFamily="34" charset="0"/>
              </a:rPr>
              <a:t>,</a:t>
            </a:r>
            <a:r>
              <a:rPr lang="zh-CN" altLang="en-US" sz="2800" b="0" i="0" dirty="0">
                <a:effectLst/>
                <a:latin typeface="Open Sans" panose="020B0606030504020204" pitchFamily="34" charset="0"/>
              </a:rPr>
              <a:t>使用如下的台劳级数公式 舍去的绝对值应小于</a:t>
            </a:r>
            <a:r>
              <a:rPr lang="en-US" altLang="zh-CN" sz="2800" b="0" i="0" dirty="0">
                <a:effectLst/>
                <a:latin typeface="Open Sans" panose="020B0606030504020204" pitchFamily="34" charset="0"/>
              </a:rPr>
              <a:t>ε</a:t>
            </a:r>
            <a:endParaRPr lang="zh-CN" altLang="en-US" sz="2800" dirty="0"/>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23921"/>
          <a:stretch>
            <a:fillRect/>
          </a:stretch>
        </p:blipFill>
        <p:spPr bwMode="auto">
          <a:xfrm>
            <a:off x="2073728" y="2513238"/>
            <a:ext cx="5041451" cy="2162175"/>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732314" y="4988636"/>
            <a:ext cx="1768928" cy="954107"/>
          </a:xfrm>
          <a:prstGeom prst="rect">
            <a:avLst/>
          </a:prstGeom>
          <a:noFill/>
        </p:spPr>
        <p:txBody>
          <a:bodyPr wrap="square">
            <a:spAutoFit/>
          </a:bodyPr>
          <a:lstStyle/>
          <a:p>
            <a:pPr algn="l"/>
            <a:r>
              <a:rPr lang="zh-CN" altLang="en-US" sz="2800" i="0" dirty="0">
                <a:effectLst/>
                <a:latin typeface="Lato" panose="020F0502020204030203" pitchFamily="34" charset="0"/>
              </a:rPr>
              <a:t>输入样例</a:t>
            </a:r>
            <a:endParaRPr lang="zh-CN" altLang="en-US" sz="2800" i="0" dirty="0">
              <a:effectLst/>
              <a:latin typeface="Lato" panose="020F0502020204030203" pitchFamily="34" charset="0"/>
            </a:endParaRPr>
          </a:p>
          <a:p>
            <a:pPr algn="l"/>
            <a:r>
              <a:rPr lang="en-US" altLang="zh-CN" sz="2800" i="0" dirty="0">
                <a:effectLst/>
                <a:latin typeface="Open Sans" panose="020B0606030504020204" pitchFamily="34" charset="0"/>
              </a:rPr>
              <a:t>5 0.001</a:t>
            </a:r>
            <a:endParaRPr lang="en-US" altLang="zh-CN" sz="2800" i="0" dirty="0">
              <a:effectLst/>
              <a:latin typeface="Open Sans" panose="020B0606030504020204" pitchFamily="34" charset="0"/>
            </a:endParaRPr>
          </a:p>
        </p:txBody>
      </p:sp>
      <p:sp>
        <p:nvSpPr>
          <p:cNvPr id="8" name="文本框 7"/>
          <p:cNvSpPr txBox="1"/>
          <p:nvPr/>
        </p:nvSpPr>
        <p:spPr>
          <a:xfrm>
            <a:off x="5003351" y="4915005"/>
            <a:ext cx="2453364" cy="1384995"/>
          </a:xfrm>
          <a:prstGeom prst="rect">
            <a:avLst/>
          </a:prstGeom>
          <a:noFill/>
        </p:spPr>
        <p:txBody>
          <a:bodyPr wrap="square">
            <a:spAutoFit/>
          </a:bodyPr>
          <a:lstStyle/>
          <a:p>
            <a:r>
              <a:rPr lang="zh-CN" altLang="en-US" sz="2800" dirty="0">
                <a:latin typeface="Lato" panose="020F0502020204030203" pitchFamily="34" charset="0"/>
              </a:rPr>
              <a:t>输出样例</a:t>
            </a:r>
            <a:endParaRPr lang="zh-CN" altLang="en-US" sz="2800" dirty="0">
              <a:latin typeface="Lato" panose="020F0502020204030203" pitchFamily="34" charset="0"/>
            </a:endParaRPr>
          </a:p>
          <a:p>
            <a:r>
              <a:rPr lang="en-US" altLang="zh-CN" sz="2800" dirty="0">
                <a:latin typeface="Lato" panose="020F0502020204030203" pitchFamily="34" charset="0"/>
              </a:rPr>
              <a:t>-0.958776</a:t>
            </a:r>
            <a:endParaRPr lang="en-US" altLang="zh-CN" sz="2800" dirty="0">
              <a:latin typeface="Lato" panose="020F0502020204030203" pitchFamily="34" charset="0"/>
            </a:endParaRPr>
          </a:p>
          <a:p>
            <a:r>
              <a:rPr lang="en-US" altLang="zh-CN" sz="2800" dirty="0">
                <a:latin typeface="Lato" panose="020F0502020204030203" pitchFamily="34" charset="0"/>
              </a:rPr>
              <a:t>0.284221</a:t>
            </a:r>
            <a:endParaRPr lang="en-US" altLang="zh-CN" sz="2800" dirty="0">
              <a:latin typeface="Lato" panose="020F0502020204030203" pitchFamily="34" charset="0"/>
            </a:endParaRPr>
          </a:p>
        </p:txBody>
      </p:sp>
      <p:sp>
        <p:nvSpPr>
          <p:cNvPr id="7" name="文本框 6"/>
          <p:cNvSpPr txBox="1"/>
          <p:nvPr/>
        </p:nvSpPr>
        <p:spPr>
          <a:xfrm>
            <a:off x="7441504" y="5316974"/>
            <a:ext cx="735779" cy="523220"/>
          </a:xfrm>
          <a:prstGeom prst="rect">
            <a:avLst/>
          </a:prstGeom>
          <a:noFill/>
        </p:spPr>
        <p:txBody>
          <a:bodyPr wrap="none" rtlCol="0">
            <a:spAutoFit/>
          </a:bodyPr>
          <a:lstStyle/>
          <a:p>
            <a:r>
              <a:rPr lang="en-US" altLang="zh-CN" sz="2800" dirty="0" err="1">
                <a:solidFill>
                  <a:schemeClr val="accent1"/>
                </a:solidFill>
              </a:rPr>
              <a:t>sinx</a:t>
            </a:r>
            <a:endParaRPr lang="zh-CN" altLang="en-US" sz="2800" dirty="0">
              <a:solidFill>
                <a:schemeClr val="accent1"/>
              </a:solidFill>
            </a:endParaRPr>
          </a:p>
        </p:txBody>
      </p:sp>
      <p:sp>
        <p:nvSpPr>
          <p:cNvPr id="10" name="文本框 9"/>
          <p:cNvSpPr txBox="1"/>
          <p:nvPr/>
        </p:nvSpPr>
        <p:spPr>
          <a:xfrm>
            <a:off x="7413620" y="5718943"/>
            <a:ext cx="806759" cy="523220"/>
          </a:xfrm>
          <a:prstGeom prst="rect">
            <a:avLst/>
          </a:prstGeom>
          <a:noFill/>
        </p:spPr>
        <p:txBody>
          <a:bodyPr wrap="none" rtlCol="0">
            <a:spAutoFit/>
          </a:bodyPr>
          <a:lstStyle/>
          <a:p>
            <a:r>
              <a:rPr lang="en-US" altLang="zh-CN" sz="2800" dirty="0" err="1">
                <a:solidFill>
                  <a:schemeClr val="accent1"/>
                </a:solidFill>
              </a:rPr>
              <a:t>cosx</a:t>
            </a:r>
            <a:endParaRPr lang="zh-CN" altLang="en-US" sz="2800" dirty="0">
              <a:solidFill>
                <a:schemeClr val="accent1"/>
              </a:solidFill>
            </a:endParaRPr>
          </a:p>
        </p:txBody>
      </p:sp>
      <p:sp>
        <p:nvSpPr>
          <p:cNvPr id="9" name="箭头: 下 8"/>
          <p:cNvSpPr/>
          <p:nvPr/>
        </p:nvSpPr>
        <p:spPr>
          <a:xfrm rot="5400000">
            <a:off x="7187976" y="5461875"/>
            <a:ext cx="221792" cy="3156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p:cNvSpPr/>
          <p:nvPr/>
        </p:nvSpPr>
        <p:spPr>
          <a:xfrm rot="5400000">
            <a:off x="7187976" y="5857464"/>
            <a:ext cx="221792" cy="3156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基本数据类型：字符</a:t>
            </a:r>
            <a:endParaRPr lang="zh-CN" altLang="en-US" dirty="0"/>
          </a:p>
        </p:txBody>
      </p:sp>
      <p:sp>
        <p:nvSpPr>
          <p:cNvPr id="3" name="内容占位符 2"/>
          <p:cNvSpPr>
            <a:spLocks noGrp="1"/>
          </p:cNvSpPr>
          <p:nvPr>
            <p:ph idx="1"/>
          </p:nvPr>
        </p:nvSpPr>
        <p:spPr/>
        <p:txBody>
          <a:bodyPr/>
          <a:lstStyle/>
          <a:p>
            <a:r>
              <a:rPr lang="zh-CN" altLang="en-US" dirty="0"/>
              <a:t>字符：内存中是</a:t>
            </a:r>
            <a:r>
              <a:rPr lang="en-US" altLang="zh-CN" dirty="0"/>
              <a:t>1</a:t>
            </a:r>
            <a:r>
              <a:rPr lang="zh-CN" altLang="en-US" dirty="0"/>
              <a:t>个字节</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sz="2400" dirty="0"/>
              <a:t>可以理解为</a:t>
            </a:r>
            <a:r>
              <a:rPr lang="zh-CN" altLang="en-US" sz="2400" b="1" dirty="0"/>
              <a:t>整数</a:t>
            </a:r>
            <a:r>
              <a:rPr lang="zh-CN" altLang="en-US" sz="2400" dirty="0"/>
              <a:t>（被认为是整型数据之一）</a:t>
            </a:r>
            <a:endParaRPr lang="en-US" altLang="zh-CN" sz="2400" dirty="0"/>
          </a:p>
          <a:p>
            <a:pPr lvl="2"/>
            <a:r>
              <a:rPr lang="en-US" altLang="zh-CN" sz="2400" dirty="0" err="1"/>
              <a:t>printf</a:t>
            </a:r>
            <a:r>
              <a:rPr lang="en-US" altLang="zh-CN" sz="2400" dirty="0"/>
              <a:t>(“%d”, c); //</a:t>
            </a:r>
            <a:r>
              <a:rPr lang="zh-CN" altLang="en-US" sz="2400" dirty="0"/>
              <a:t>结果为</a:t>
            </a:r>
            <a:r>
              <a:rPr lang="en-US" altLang="zh-CN" sz="2400" dirty="0"/>
              <a:t>49</a:t>
            </a:r>
            <a:endParaRPr lang="en-US" altLang="zh-CN" sz="2400" dirty="0"/>
          </a:p>
          <a:p>
            <a:pPr lvl="1"/>
            <a:r>
              <a:rPr lang="zh-CN" altLang="en-US" sz="2400" dirty="0"/>
              <a:t>可以理解为</a:t>
            </a:r>
            <a:r>
              <a:rPr lang="zh-CN" altLang="en-US" sz="2400" b="1" dirty="0"/>
              <a:t>字符</a:t>
            </a:r>
            <a:endParaRPr lang="en-US" altLang="zh-CN" sz="2400" b="1" dirty="0"/>
          </a:p>
          <a:p>
            <a:pPr lvl="2"/>
            <a:r>
              <a:rPr lang="en-US" altLang="zh-CN" sz="2200" dirty="0" err="1"/>
              <a:t>printf</a:t>
            </a:r>
            <a:r>
              <a:rPr lang="en-US" altLang="zh-CN" sz="2200" dirty="0"/>
              <a:t>(“%c”, c); //</a:t>
            </a:r>
            <a:r>
              <a:rPr lang="zh-CN" altLang="en-US" sz="2200" dirty="0"/>
              <a:t>结果为</a:t>
            </a:r>
            <a:r>
              <a:rPr lang="en-US" altLang="zh-CN" sz="2200" dirty="0"/>
              <a:t>1</a:t>
            </a:r>
            <a:endParaRPr lang="en-US" altLang="zh-CN" sz="2200" dirty="0"/>
          </a:p>
          <a:p>
            <a:pPr lvl="2"/>
            <a:endParaRPr lang="en-US" altLang="zh-CN" sz="2200" dirty="0"/>
          </a:p>
          <a:p>
            <a:endParaRPr lang="zh-CN" altLang="en-US" dirty="0"/>
          </a:p>
        </p:txBody>
      </p:sp>
      <p:pic>
        <p:nvPicPr>
          <p:cNvPr id="5" name="图片 4"/>
          <p:cNvPicPr>
            <a:picLocks noChangeAspect="1"/>
          </p:cNvPicPr>
          <p:nvPr/>
        </p:nvPicPr>
        <p:blipFill>
          <a:blip r:embed="rId1"/>
          <a:stretch>
            <a:fillRect/>
          </a:stretch>
        </p:blipFill>
        <p:spPr>
          <a:xfrm>
            <a:off x="2041901" y="2280439"/>
            <a:ext cx="5010584" cy="137171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基本数据类型：字符</a:t>
            </a:r>
            <a:endParaRPr lang="zh-CN" altLang="en-US" dirty="0"/>
          </a:p>
        </p:txBody>
      </p:sp>
      <p:sp>
        <p:nvSpPr>
          <p:cNvPr id="3" name="内容占位符 2"/>
          <p:cNvSpPr>
            <a:spLocks noGrp="1"/>
          </p:cNvSpPr>
          <p:nvPr>
            <p:ph idx="1"/>
          </p:nvPr>
        </p:nvSpPr>
        <p:spPr>
          <a:xfrm>
            <a:off x="5290456" y="1661837"/>
            <a:ext cx="3519979" cy="4764163"/>
          </a:xfrm>
        </p:spPr>
        <p:txBody>
          <a:bodyPr/>
          <a:lstStyle/>
          <a:p>
            <a:r>
              <a:rPr lang="en-US" altLang="zh-CN" dirty="0"/>
              <a:t>ASCII</a:t>
            </a:r>
            <a:r>
              <a:rPr lang="zh-CN" altLang="en-US" dirty="0"/>
              <a:t>表</a:t>
            </a:r>
            <a:endParaRPr lang="en-US" altLang="zh-CN" dirty="0"/>
          </a:p>
          <a:p>
            <a:pPr lvl="1"/>
            <a:r>
              <a:rPr lang="zh-CN" altLang="en-US" sz="2400" dirty="0"/>
              <a:t>某整数对应的字符是什么？</a:t>
            </a:r>
            <a:endParaRPr lang="en-US" altLang="zh-CN" sz="2400" dirty="0"/>
          </a:p>
          <a:p>
            <a:pPr lvl="1"/>
            <a:r>
              <a:rPr lang="zh-CN" altLang="en-US" sz="2400" dirty="0"/>
              <a:t>不用硬背，需要也可以现场写程序</a:t>
            </a:r>
            <a:endParaRPr lang="en-US" altLang="zh-CN" sz="2400" dirty="0"/>
          </a:p>
          <a:p>
            <a:pPr lvl="1"/>
            <a:r>
              <a:rPr lang="zh-CN" altLang="en-US" sz="2400" dirty="0"/>
              <a:t>重要的</a:t>
            </a:r>
            <a:endParaRPr lang="en-US" altLang="zh-CN" sz="2400" dirty="0"/>
          </a:p>
          <a:p>
            <a:pPr lvl="2"/>
            <a:r>
              <a:rPr lang="en-US" altLang="zh-CN" sz="2000" dirty="0"/>
              <a:t>0</a:t>
            </a:r>
            <a:r>
              <a:rPr lang="zh-CN" altLang="en-US" sz="2000" dirty="0"/>
              <a:t>对应</a:t>
            </a:r>
            <a:r>
              <a:rPr lang="en-US" altLang="zh-CN" sz="2000" dirty="0"/>
              <a:t>’\0’</a:t>
            </a:r>
            <a:r>
              <a:rPr lang="zh-CN" altLang="en-US" sz="2000" dirty="0"/>
              <a:t>（</a:t>
            </a:r>
            <a:r>
              <a:rPr lang="en-US" altLang="zh-CN" sz="2000" dirty="0"/>
              <a:t>Null</a:t>
            </a:r>
            <a:r>
              <a:rPr lang="zh-CN" altLang="en-US" sz="2000" dirty="0"/>
              <a:t>）</a:t>
            </a:r>
            <a:endParaRPr lang="en-US" altLang="zh-CN" sz="2000" dirty="0"/>
          </a:p>
          <a:p>
            <a:pPr lvl="2"/>
            <a:r>
              <a:rPr lang="en-US" altLang="zh-CN" sz="2000" dirty="0"/>
              <a:t>’A’</a:t>
            </a:r>
            <a:r>
              <a:rPr lang="zh-CN" altLang="en-US" sz="2000" dirty="0"/>
              <a:t>比</a:t>
            </a:r>
            <a:r>
              <a:rPr lang="en-US" altLang="zh-CN" sz="2000" dirty="0"/>
              <a:t>’a’</a:t>
            </a:r>
            <a:r>
              <a:rPr lang="zh-CN" altLang="en-US" sz="2000" dirty="0"/>
              <a:t>小</a:t>
            </a:r>
            <a:endParaRPr lang="en-US" altLang="zh-CN" sz="2000" dirty="0"/>
          </a:p>
          <a:p>
            <a:r>
              <a:rPr lang="zh-CN" altLang="en-US" dirty="0"/>
              <a:t>怎么计算</a:t>
            </a:r>
            <a:endParaRPr lang="en-US" altLang="zh-CN" dirty="0"/>
          </a:p>
          <a:p>
            <a:pPr lvl="1"/>
            <a:r>
              <a:rPr lang="zh-CN" altLang="en-US" dirty="0"/>
              <a:t>输入的字符是</a:t>
            </a:r>
            <a:r>
              <a:rPr lang="en-US" altLang="zh-CN" dirty="0" err="1"/>
              <a:t>abcd</a:t>
            </a:r>
            <a:r>
              <a:rPr lang="zh-CN" altLang="en-US" dirty="0"/>
              <a:t>中的第几个？</a:t>
            </a:r>
            <a:r>
              <a:rPr lang="en-US" altLang="zh-CN" b="1" dirty="0" err="1">
                <a:solidFill>
                  <a:srgbClr val="FF0000"/>
                </a:solidFill>
              </a:rPr>
              <a:t>ch</a:t>
            </a:r>
            <a:r>
              <a:rPr lang="en-US" altLang="zh-CN" b="1" dirty="0">
                <a:solidFill>
                  <a:srgbClr val="FF0000"/>
                </a:solidFill>
              </a:rPr>
              <a:t>-’a’</a:t>
            </a:r>
            <a:endParaRPr lang="en-US" altLang="zh-CN" b="1" dirty="0">
              <a:solidFill>
                <a:srgbClr val="FF0000"/>
              </a:solidFill>
            </a:endParaRPr>
          </a:p>
          <a:p>
            <a:pPr lvl="1"/>
            <a:r>
              <a:rPr lang="zh-CN" altLang="en-US" dirty="0"/>
              <a:t>字符转数字？</a:t>
            </a:r>
            <a:r>
              <a:rPr lang="en-US" altLang="zh-CN" b="1" dirty="0">
                <a:solidFill>
                  <a:srgbClr val="FF0000"/>
                </a:solidFill>
              </a:rPr>
              <a:t>ch-’0’</a:t>
            </a:r>
            <a:endParaRPr lang="zh-CN" altLang="en-US" b="1" dirty="0">
              <a:solidFill>
                <a:srgbClr val="FF0000"/>
              </a:solidFill>
            </a:endParaRPr>
          </a:p>
        </p:txBody>
      </p:sp>
      <p:sp>
        <p:nvSpPr>
          <p:cNvPr id="4" name="AutoShape 2" descr="Ascii Table C Programming"/>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Ascii Table C Programming"/>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p:cNvPicPr>
            <a:picLocks noChangeAspect="1"/>
          </p:cNvPicPr>
          <p:nvPr/>
        </p:nvPicPr>
        <p:blipFill>
          <a:blip r:embed="rId1"/>
          <a:stretch>
            <a:fillRect/>
          </a:stretch>
        </p:blipFill>
        <p:spPr>
          <a:xfrm>
            <a:off x="333565" y="1415142"/>
            <a:ext cx="4749801" cy="50890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区分字符与数字</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2800" dirty="0"/>
              <a:t>下面哪个初始化的结果和其他的不一样？</a:t>
            </a:r>
            <a:endParaRPr lang="en-US" altLang="zh-CN" sz="2800" dirty="0"/>
          </a:p>
          <a:p>
            <a:pPr marL="514350" indent="-514350">
              <a:buFont typeface="+mj-lt"/>
              <a:buAutoNum type="arabicPeriod"/>
            </a:pPr>
            <a:r>
              <a:rPr lang="en-US" altLang="zh-CN" sz="2800" dirty="0"/>
              <a:t>char a[100]={0};</a:t>
            </a:r>
            <a:endParaRPr lang="en-US" altLang="zh-CN" sz="2800" dirty="0"/>
          </a:p>
          <a:p>
            <a:pPr marL="514350" indent="-514350">
              <a:buFont typeface="+mj-lt"/>
              <a:buAutoNum type="arabicPeriod"/>
            </a:pPr>
            <a:r>
              <a:rPr lang="en-US" altLang="zh-CN" sz="2800" dirty="0"/>
              <a:t>char a[100]={};</a:t>
            </a:r>
            <a:endParaRPr lang="en-US" altLang="zh-CN" sz="2800" dirty="0"/>
          </a:p>
          <a:p>
            <a:pPr marL="514350" indent="-514350">
              <a:buFont typeface="+mj-lt"/>
              <a:buAutoNum type="arabicPeriod"/>
            </a:pPr>
            <a:r>
              <a:rPr lang="en-US" altLang="zh-CN" sz="2800" dirty="0"/>
              <a:t>char a[100]=“”;</a:t>
            </a:r>
            <a:endParaRPr lang="en-US" altLang="zh-CN" sz="2800" dirty="0"/>
          </a:p>
          <a:p>
            <a:pPr marL="514350" indent="-514350">
              <a:buFont typeface="+mj-lt"/>
              <a:buAutoNum type="arabicPeriod"/>
            </a:pPr>
            <a:r>
              <a:rPr lang="en-US" altLang="zh-CN" sz="2800" dirty="0"/>
              <a:t>char a[100]={‘0’};</a:t>
            </a:r>
            <a:endParaRPr lang="en-US" altLang="zh-CN" sz="2800" dirty="0"/>
          </a:p>
          <a:p>
            <a:pPr marL="514350" indent="-514350">
              <a:buFont typeface="+mj-lt"/>
              <a:buAutoNum type="arabicPeriod"/>
            </a:pPr>
            <a:r>
              <a:rPr lang="en-US" altLang="zh-CN" sz="2800" dirty="0"/>
              <a:t>char a[100]={‘\0’};</a:t>
            </a:r>
            <a:endParaRPr lang="en-US" altLang="zh-CN" sz="2800" dirty="0"/>
          </a:p>
          <a:p>
            <a:pPr marL="0" indent="0">
              <a:buFont typeface="+mj-lt"/>
              <a:buNone/>
            </a:pPr>
            <a:r>
              <a:rPr lang="en-US" altLang="zh-CN" sz="1800" dirty="0">
                <a:solidFill>
                  <a:srgbClr val="FF0000"/>
                </a:solidFill>
              </a:rPr>
              <a:t>answer</a:t>
            </a:r>
            <a:r>
              <a:rPr lang="en-US" altLang="zh-CN" sz="1800" dirty="0"/>
              <a:t>:</a:t>
            </a:r>
            <a:r>
              <a:rPr lang="zh-CN" altLang="en-US" sz="1800" dirty="0"/>
              <a:t>只有</a:t>
            </a:r>
            <a:r>
              <a:rPr lang="en-US" altLang="zh-CN" sz="1800" dirty="0"/>
              <a:t>4</a:t>
            </a:r>
            <a:r>
              <a:rPr lang="zh-CN" altLang="en-US" sz="1800" dirty="0"/>
              <a:t>是有字符</a:t>
            </a:r>
            <a:r>
              <a:rPr lang="en-US" altLang="zh-CN" sz="1800" dirty="0"/>
              <a:t>‘0’</a:t>
            </a:r>
            <a:r>
              <a:rPr lang="zh-CN" altLang="en-US" sz="1800" dirty="0"/>
              <a:t>，其他都是</a:t>
            </a:r>
            <a:r>
              <a:rPr lang="en-US" altLang="zh-CN" sz="1800" dirty="0"/>
              <a:t>‘\0’</a:t>
            </a:r>
            <a:endParaRPr lang="zh-CN" altLang="en-US" sz="2800" dirty="0"/>
          </a:p>
          <a:p>
            <a:endParaRPr lang="zh-CN"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sscanf</a:t>
            </a:r>
            <a:r>
              <a:rPr lang="zh-CN" altLang="en-US" dirty="0"/>
              <a:t>与</a:t>
            </a:r>
            <a:r>
              <a:rPr lang="en-US" altLang="zh-CN" dirty="0" err="1"/>
              <a:t>ssprintf</a:t>
            </a:r>
            <a:endParaRPr lang="zh-CN" altLang="en-US" dirty="0"/>
          </a:p>
        </p:txBody>
      </p:sp>
      <p:sp>
        <p:nvSpPr>
          <p:cNvPr id="3" name="内容占位符 2"/>
          <p:cNvSpPr>
            <a:spLocks noGrp="1"/>
          </p:cNvSpPr>
          <p:nvPr>
            <p:ph idx="1"/>
          </p:nvPr>
        </p:nvSpPr>
        <p:spPr/>
        <p:txBody>
          <a:bodyPr>
            <a:normAutofit/>
          </a:bodyPr>
          <a:lstStyle/>
          <a:p>
            <a:r>
              <a:rPr lang="zh-CN" altLang="en-US" dirty="0"/>
              <a:t>不强制掌握，愿意的同学去学，</a:t>
            </a:r>
            <a:r>
              <a:rPr lang="zh-CN" altLang="en-US" dirty="0">
                <a:solidFill>
                  <a:srgbClr val="FF0000"/>
                </a:solidFill>
              </a:rPr>
              <a:t>一定不能考试中第一次用</a:t>
            </a:r>
            <a:endParaRPr lang="en-US" altLang="zh-CN" b="1" dirty="0"/>
          </a:p>
          <a:p>
            <a:endParaRPr lang="en-US" altLang="zh-CN" b="1" dirty="0"/>
          </a:p>
          <a:p>
            <a:r>
              <a:rPr lang="en-US" altLang="zh-CN" b="1" dirty="0" err="1"/>
              <a:t>sscanf</a:t>
            </a:r>
            <a:r>
              <a:rPr lang="zh-CN" altLang="en-US" b="1" dirty="0"/>
              <a:t>：</a:t>
            </a:r>
            <a:r>
              <a:rPr lang="zh-CN" altLang="en-US" dirty="0"/>
              <a:t>从字符串里面读数字</a:t>
            </a:r>
            <a:endParaRPr lang="en-US" altLang="zh-CN" dirty="0"/>
          </a:p>
          <a:p>
            <a:pPr lvl="1"/>
            <a:r>
              <a:rPr lang="zh-CN" altLang="en-US" dirty="0"/>
              <a:t>用法和</a:t>
            </a:r>
            <a:r>
              <a:rPr lang="en-US" altLang="zh-CN" dirty="0" err="1"/>
              <a:t>scanf</a:t>
            </a:r>
            <a:r>
              <a:rPr lang="zh-CN" altLang="en-US" dirty="0"/>
              <a:t>几乎一模一样</a:t>
            </a:r>
            <a:endParaRPr lang="en-US" altLang="zh-CN" dirty="0"/>
          </a:p>
          <a:p>
            <a:endParaRPr lang="en-US" altLang="zh-CN" b="1" dirty="0"/>
          </a:p>
          <a:p>
            <a:r>
              <a:rPr lang="en-US" altLang="zh-CN" b="1" dirty="0" err="1"/>
              <a:t>sprintf</a:t>
            </a:r>
            <a:r>
              <a:rPr lang="en-US" altLang="zh-CN" b="1" dirty="0"/>
              <a:t>: </a:t>
            </a:r>
            <a:r>
              <a:rPr lang="zh-CN" altLang="en-US" b="0" dirty="0"/>
              <a:t>输出到字符串</a:t>
            </a:r>
            <a:endParaRPr lang="en-US" altLang="zh-CN" b="0" dirty="0"/>
          </a:p>
          <a:p>
            <a:pPr lvl="1"/>
            <a:r>
              <a:rPr lang="zh-CN" altLang="en-US" dirty="0"/>
              <a:t>用法和</a:t>
            </a:r>
            <a:r>
              <a:rPr lang="en-US" altLang="zh-CN" dirty="0" err="1"/>
              <a:t>printf</a:t>
            </a:r>
            <a:r>
              <a:rPr lang="zh-CN" altLang="en-US" dirty="0"/>
              <a:t>几乎一模一样</a:t>
            </a:r>
            <a:endParaRPr lang="en-US" altLang="zh-CN" b="0" dirty="0"/>
          </a:p>
          <a:p>
            <a:endParaRPr lang="en-US" altLang="zh-CN" b="0" dirty="0"/>
          </a:p>
          <a:p>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yoj492. </a:t>
            </a:r>
            <a:r>
              <a:rPr lang="zh-CN" altLang="en-US" dirty="0"/>
              <a:t>加法表达式</a:t>
            </a:r>
            <a:endParaRPr lang="zh-CN" altLang="en-US" dirty="0"/>
          </a:p>
        </p:txBody>
      </p:sp>
      <p:sp>
        <p:nvSpPr>
          <p:cNvPr id="3" name="内容占位符 2"/>
          <p:cNvSpPr>
            <a:spLocks noGrp="1"/>
          </p:cNvSpPr>
          <p:nvPr>
            <p:ph idx="1"/>
          </p:nvPr>
        </p:nvSpPr>
        <p:spPr/>
        <p:txBody>
          <a:bodyPr>
            <a:normAutofit fontScale="92500"/>
          </a:bodyPr>
          <a:lstStyle/>
          <a:p>
            <a:pPr algn="l"/>
            <a:r>
              <a:rPr lang="en-US" altLang="zh-CN" b="0"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问题描述</a:t>
            </a:r>
            <a:r>
              <a:rPr lang="en-US" altLang="zh-CN"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给定一个数字字符串</a:t>
            </a:r>
            <a:r>
              <a:rPr lang="en-US" altLang="zh-CN" b="0" i="0" dirty="0">
                <a:effectLst/>
                <a:latin typeface="Open Sans" panose="020B0606030504020204" pitchFamily="34" charset="0"/>
              </a:rPr>
              <a:t>S</a:t>
            </a:r>
            <a:r>
              <a:rPr lang="zh-CN" altLang="en-US" b="0" i="0" dirty="0">
                <a:effectLst/>
                <a:latin typeface="宋体" panose="02010600030101010101" pitchFamily="2" charset="-122"/>
                <a:ea typeface="宋体" panose="02010600030101010101" pitchFamily="2" charset="-122"/>
              </a:rPr>
              <a:t>，在其中添加</a:t>
            </a:r>
            <a:r>
              <a:rPr lang="en-US" altLang="zh-CN" b="0" i="0" dirty="0">
                <a:effectLst/>
                <a:latin typeface="Open Sans" panose="020B0606030504020204" pitchFamily="34" charset="0"/>
              </a:rPr>
              <a:t>3</a:t>
            </a:r>
            <a:r>
              <a:rPr lang="zh-CN" altLang="en-US" b="0" i="0" dirty="0">
                <a:effectLst/>
                <a:latin typeface="宋体" panose="02010600030101010101" pitchFamily="2" charset="-122"/>
                <a:ea typeface="宋体" panose="02010600030101010101" pitchFamily="2" charset="-122"/>
              </a:rPr>
              <a:t>个加号使其形成一个加法表达式。遍历所有可以构成合法加法表达式的加号添加方案，计算这些合法加法表达式的值，并按从大到小的顺序输出。</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例如：对于数字字符串</a:t>
            </a:r>
            <a:r>
              <a:rPr lang="en-US" altLang="zh-CN" b="0" i="0" dirty="0">
                <a:effectLst/>
                <a:latin typeface="Open Sans" panose="020B0606030504020204" pitchFamily="34" charset="0"/>
              </a:rPr>
              <a:t>12345</a:t>
            </a:r>
            <a:r>
              <a:rPr lang="zh-CN" altLang="en-US" b="0" i="0" dirty="0">
                <a:effectLst/>
                <a:latin typeface="宋体" panose="02010600030101010101" pitchFamily="2" charset="-122"/>
                <a:ea typeface="宋体" panose="02010600030101010101" pitchFamily="2" charset="-122"/>
              </a:rPr>
              <a:t>，添加</a:t>
            </a:r>
            <a:r>
              <a:rPr lang="en-US" altLang="zh-CN" b="0" i="0" dirty="0">
                <a:effectLst/>
                <a:latin typeface="Open Sans" panose="020B0606030504020204" pitchFamily="34" charset="0"/>
              </a:rPr>
              <a:t>3</a:t>
            </a:r>
            <a:r>
              <a:rPr lang="zh-CN" altLang="en-US" b="0" i="0" dirty="0">
                <a:effectLst/>
                <a:latin typeface="宋体" panose="02010600030101010101" pitchFamily="2" charset="-122"/>
                <a:ea typeface="宋体" panose="02010600030101010101" pitchFamily="2" charset="-122"/>
              </a:rPr>
              <a:t>个加号可以构成的加法表达式包括：</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a.</a:t>
            </a:r>
            <a:r>
              <a:rPr lang="zh-CN" altLang="en-US" b="0" i="0" dirty="0">
                <a:effectLst/>
                <a:latin typeface="Times New Roman" panose="02020603050405020304" pitchFamily="18" charset="0"/>
              </a:rPr>
              <a:t>      </a:t>
            </a:r>
            <a:r>
              <a:rPr lang="en-US" altLang="zh-CN" b="0" i="0" dirty="0">
                <a:effectLst/>
                <a:latin typeface="Open Sans" panose="020B0606030504020204" pitchFamily="34" charset="0"/>
              </a:rPr>
              <a:t>1+2+3+45=51</a:t>
            </a:r>
            <a:endParaRPr lang="en-US" altLang="zh-CN" b="0" i="0" dirty="0">
              <a:effectLst/>
              <a:latin typeface="Open Sans" panose="020B0606030504020204" pitchFamily="34" charset="0"/>
            </a:endParaRPr>
          </a:p>
          <a:p>
            <a:pPr algn="l"/>
            <a:r>
              <a:rPr lang="en-US" altLang="zh-CN" b="0" i="0" dirty="0">
                <a:effectLst/>
                <a:latin typeface="Open Sans" panose="020B0606030504020204" pitchFamily="34" charset="0"/>
              </a:rPr>
              <a:t>b.</a:t>
            </a:r>
            <a:r>
              <a:rPr lang="zh-CN" altLang="en-US" b="0" i="0" dirty="0">
                <a:effectLst/>
                <a:latin typeface="Times New Roman" panose="02020603050405020304" pitchFamily="18" charset="0"/>
              </a:rPr>
              <a:t>     </a:t>
            </a:r>
            <a:r>
              <a:rPr lang="en-US" altLang="zh-CN" b="0" i="0" dirty="0">
                <a:effectLst/>
                <a:latin typeface="Open Sans" panose="020B0606030504020204" pitchFamily="34" charset="0"/>
              </a:rPr>
              <a:t>1+2+34+5=42</a:t>
            </a:r>
            <a:endParaRPr lang="en-US" altLang="zh-CN" b="0" i="0" dirty="0">
              <a:effectLst/>
              <a:latin typeface="Open Sans" panose="020B0606030504020204" pitchFamily="34" charset="0"/>
            </a:endParaRPr>
          </a:p>
          <a:p>
            <a:pPr algn="l"/>
            <a:r>
              <a:rPr lang="en-US" altLang="zh-CN" b="0" i="0" dirty="0">
                <a:effectLst/>
                <a:latin typeface="Open Sans" panose="020B0606030504020204" pitchFamily="34" charset="0"/>
              </a:rPr>
              <a:t>c.</a:t>
            </a:r>
            <a:r>
              <a:rPr lang="zh-CN" altLang="en-US" b="0" i="0" dirty="0">
                <a:effectLst/>
                <a:latin typeface="Times New Roman" panose="02020603050405020304" pitchFamily="18" charset="0"/>
              </a:rPr>
              <a:t>      </a:t>
            </a:r>
            <a:r>
              <a:rPr lang="en-US" altLang="zh-CN" b="0" i="0" dirty="0">
                <a:effectLst/>
                <a:latin typeface="Open Sans" panose="020B0606030504020204" pitchFamily="34" charset="0"/>
              </a:rPr>
              <a:t>1+23+4+5=33</a:t>
            </a:r>
            <a:endParaRPr lang="en-US" altLang="zh-CN" b="0" i="0" dirty="0">
              <a:effectLst/>
              <a:latin typeface="Open Sans" panose="020B0606030504020204" pitchFamily="34" charset="0"/>
            </a:endParaRPr>
          </a:p>
          <a:p>
            <a:pPr algn="l"/>
            <a:r>
              <a:rPr lang="en-US" altLang="zh-CN" b="0" i="0" dirty="0">
                <a:effectLst/>
                <a:latin typeface="Open Sans" panose="020B0606030504020204" pitchFamily="34" charset="0"/>
              </a:rPr>
              <a:t>d.</a:t>
            </a:r>
            <a:r>
              <a:rPr lang="zh-CN" altLang="en-US" b="0" i="0" dirty="0">
                <a:effectLst/>
                <a:latin typeface="Times New Roman" panose="02020603050405020304" pitchFamily="18" charset="0"/>
              </a:rPr>
              <a:t>     </a:t>
            </a:r>
            <a:r>
              <a:rPr lang="en-US" altLang="zh-CN" b="0" i="0" dirty="0">
                <a:effectLst/>
                <a:latin typeface="Open Sans" panose="020B0606030504020204" pitchFamily="34" charset="0"/>
              </a:rPr>
              <a:t>12+3+4+5=24</a:t>
            </a:r>
            <a:endParaRPr lang="en-US" altLang="zh-CN"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按从大到小的顺序输出的结果是：</a:t>
            </a:r>
            <a:r>
              <a:rPr lang="en-US" altLang="zh-CN" b="0" i="0" dirty="0">
                <a:effectLst/>
                <a:latin typeface="Open Sans" panose="020B0606030504020204" pitchFamily="34" charset="0"/>
              </a:rPr>
              <a:t>51 42 33 24</a:t>
            </a:r>
            <a:endParaRPr lang="en-US" altLang="zh-CN" b="0" i="0" dirty="0">
              <a:effectLst/>
              <a:latin typeface="Open Sans" panose="020B0606030504020204" pitchFamily="34" charset="0"/>
            </a:endParaRPr>
          </a:p>
          <a:p>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基本概念</a:t>
            </a:r>
            <a:r>
              <a:rPr lang="en-US" altLang="zh-CN" dirty="0"/>
              <a:t>——</a:t>
            </a:r>
            <a:r>
              <a:rPr lang="zh-CN" altLang="en-US" dirty="0"/>
              <a:t>运算符和表达式</a:t>
            </a:r>
            <a:endParaRPr lang="zh-CN" altLang="en-US" dirty="0"/>
          </a:p>
        </p:txBody>
      </p:sp>
      <p:pic>
        <p:nvPicPr>
          <p:cNvPr id="256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0103" y="1526509"/>
            <a:ext cx="7704856" cy="4899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p:cNvSpPr txBox="1"/>
          <p:nvPr/>
        </p:nvSpPr>
        <p:spPr>
          <a:xfrm>
            <a:off x="5554927" y="3679371"/>
            <a:ext cx="3008970" cy="461665"/>
          </a:xfrm>
          <a:prstGeom prst="rect">
            <a:avLst/>
          </a:prstGeom>
          <a:noFill/>
        </p:spPr>
        <p:txBody>
          <a:bodyPr wrap="square">
            <a:spAutoFit/>
          </a:bodyPr>
          <a:lstStyle/>
          <a:p>
            <a:r>
              <a:rPr lang="zh-CN" altLang="en-US" sz="2400" dirty="0">
                <a:solidFill>
                  <a:srgbClr val="FF0000"/>
                </a:solidFill>
              </a:rPr>
              <a:t>优先级不会就加括号</a:t>
            </a:r>
            <a:endParaRPr lang="zh-CN" altLang="en-US" sz="2400"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逻辑运算符与逻辑表达式</a:t>
            </a:r>
            <a:endParaRPr lang="zh-CN" altLang="en-US" dirty="0"/>
          </a:p>
        </p:txBody>
      </p:sp>
      <p:pic>
        <p:nvPicPr>
          <p:cNvPr id="450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2000" y="1482064"/>
            <a:ext cx="7920880" cy="465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p:cNvSpPr txBox="1"/>
          <p:nvPr/>
        </p:nvSpPr>
        <p:spPr>
          <a:xfrm>
            <a:off x="6066880" y="96920"/>
            <a:ext cx="4572000" cy="369332"/>
          </a:xfrm>
          <a:prstGeom prst="rect">
            <a:avLst/>
          </a:prstGeom>
          <a:noFill/>
        </p:spPr>
        <p:txBody>
          <a:bodyPr wrap="square">
            <a:spAutoFit/>
          </a:bodyPr>
          <a:lstStyle/>
          <a:p>
            <a:r>
              <a:rPr lang="zh-CN" altLang="en-US" dirty="0">
                <a:solidFill>
                  <a:srgbClr val="FF0000"/>
                </a:solidFill>
              </a:rPr>
              <a:t>逻辑表达式有可能不被执行</a:t>
            </a:r>
            <a:endParaRPr lang="zh-CN" altLang="en-US"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选择语句：</a:t>
            </a:r>
            <a:endParaRPr lang="en-US" altLang="zh-CN" dirty="0"/>
          </a:p>
          <a:p>
            <a:pPr lvl="1"/>
            <a:r>
              <a:rPr lang="en-US" altLang="zh-CN" dirty="0"/>
              <a:t>if () … else …</a:t>
            </a:r>
            <a:r>
              <a:rPr lang="zh-CN" altLang="en-US" dirty="0"/>
              <a:t>：两个分支</a:t>
            </a:r>
            <a:endParaRPr lang="en-US" altLang="zh-CN" dirty="0"/>
          </a:p>
          <a:p>
            <a:pPr lvl="1"/>
            <a:r>
              <a:rPr lang="en-US" altLang="zh-CN" dirty="0"/>
              <a:t>switch ()</a:t>
            </a:r>
            <a:r>
              <a:rPr lang="zh-CN" altLang="en-US" dirty="0"/>
              <a:t>：多个分支</a:t>
            </a:r>
            <a:endParaRPr lang="en-US" altLang="zh-CN" dirty="0"/>
          </a:p>
          <a:p>
            <a:r>
              <a:rPr lang="zh-CN" altLang="en-US" dirty="0"/>
              <a:t>循环语句：</a:t>
            </a:r>
            <a:endParaRPr lang="en-US" altLang="zh-CN" dirty="0"/>
          </a:p>
          <a:p>
            <a:pPr lvl="1"/>
            <a:r>
              <a:rPr lang="en-US" altLang="zh-CN" dirty="0"/>
              <a:t>for () …</a:t>
            </a:r>
            <a:endParaRPr lang="en-US" altLang="zh-CN" dirty="0"/>
          </a:p>
          <a:p>
            <a:pPr lvl="1"/>
            <a:r>
              <a:rPr lang="en-US" altLang="zh-CN" dirty="0"/>
              <a:t>while () …</a:t>
            </a:r>
            <a:endParaRPr lang="en-US" altLang="zh-CN" dirty="0"/>
          </a:p>
          <a:p>
            <a:pPr lvl="1"/>
            <a:r>
              <a:rPr lang="en-US" altLang="zh-CN" dirty="0"/>
              <a:t>do … while ()</a:t>
            </a:r>
            <a:endParaRPr lang="en-US" altLang="zh-CN" dirty="0"/>
          </a:p>
          <a:p>
            <a:r>
              <a:rPr lang="zh-CN" altLang="en-US" dirty="0"/>
              <a:t>改变执行流程语句：</a:t>
            </a:r>
            <a:endParaRPr lang="en-US" altLang="zh-CN" dirty="0"/>
          </a:p>
          <a:p>
            <a:pPr lvl="1"/>
            <a:r>
              <a:rPr lang="zh-CN" altLang="en-US" dirty="0"/>
              <a:t>结束本次循环语句：</a:t>
            </a:r>
            <a:r>
              <a:rPr lang="en-US" altLang="zh-CN" dirty="0"/>
              <a:t>continue</a:t>
            </a:r>
            <a:endParaRPr lang="en-US" altLang="zh-CN" dirty="0"/>
          </a:p>
          <a:p>
            <a:pPr lvl="1"/>
            <a:r>
              <a:rPr lang="zh-CN" altLang="en-US" dirty="0"/>
              <a:t>终止执行</a:t>
            </a:r>
            <a:r>
              <a:rPr lang="en-US" altLang="zh-CN" dirty="0"/>
              <a:t>switch</a:t>
            </a:r>
            <a:r>
              <a:rPr lang="zh-CN" altLang="en-US" dirty="0"/>
              <a:t>或循环语句：</a:t>
            </a:r>
            <a:r>
              <a:rPr lang="en-US" altLang="zh-CN" dirty="0"/>
              <a:t>break</a:t>
            </a:r>
            <a:endParaRPr lang="en-US" altLang="zh-CN" dirty="0"/>
          </a:p>
          <a:p>
            <a:pPr lvl="1"/>
            <a:r>
              <a:rPr lang="zh-CN" altLang="en-US" strike="sngStrike" dirty="0"/>
              <a:t>转向语句：</a:t>
            </a:r>
            <a:r>
              <a:rPr lang="en-US" altLang="zh-CN" strike="sngStrike" dirty="0" err="1"/>
              <a:t>goto</a:t>
            </a:r>
            <a:r>
              <a:rPr lang="zh-CN" altLang="en-US" strike="sngStrike" dirty="0"/>
              <a:t>（慎用）</a:t>
            </a:r>
            <a:endParaRPr lang="en-US" altLang="zh-CN" strike="sngStrike" dirty="0"/>
          </a:p>
          <a:p>
            <a:pPr lvl="1"/>
            <a:r>
              <a:rPr lang="zh-CN" altLang="en-US" dirty="0"/>
              <a:t>从函数返回语句：</a:t>
            </a:r>
            <a:r>
              <a:rPr lang="en-US" altLang="zh-CN" dirty="0"/>
              <a:t>return</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程序控制语句</a:t>
            </a:r>
            <a:endParaRPr lang="zh-CN" altLang="en-US" dirty="0"/>
          </a:p>
        </p:txBody>
      </p:sp>
      <p:sp>
        <p:nvSpPr>
          <p:cNvPr id="8" name="文本框 7"/>
          <p:cNvSpPr txBox="1"/>
          <p:nvPr/>
        </p:nvSpPr>
        <p:spPr>
          <a:xfrm>
            <a:off x="5424681" y="250371"/>
            <a:ext cx="3387501" cy="2308324"/>
          </a:xfrm>
          <a:prstGeom prst="rect">
            <a:avLst/>
          </a:prstGeom>
          <a:noFill/>
        </p:spPr>
        <p:txBody>
          <a:bodyPr wrap="square" rtlCol="0">
            <a:spAutoFit/>
          </a:bodyPr>
          <a:lstStyle/>
          <a:p>
            <a:r>
              <a:rPr lang="zh-CN" altLang="en-US" sz="2400" b="1" dirty="0"/>
              <a:t>退出循环后，循环变量取值是什么？</a:t>
            </a:r>
            <a:endParaRPr lang="en-US" altLang="zh-CN" sz="2400" b="1" dirty="0"/>
          </a:p>
          <a:p>
            <a:r>
              <a:rPr lang="en-US" altLang="zh-CN" sz="2400" dirty="0"/>
              <a:t>for(</a:t>
            </a:r>
            <a:r>
              <a:rPr lang="en-US" altLang="zh-CN" sz="2400" dirty="0" err="1"/>
              <a:t>i</a:t>
            </a:r>
            <a:r>
              <a:rPr lang="en-US" altLang="zh-CN" sz="2400" dirty="0"/>
              <a:t>=0;i&lt;5;i++){</a:t>
            </a:r>
            <a:endParaRPr lang="en-US" altLang="zh-CN" sz="2400" dirty="0"/>
          </a:p>
          <a:p>
            <a:r>
              <a:rPr lang="en-US" altLang="zh-CN" sz="2400" dirty="0"/>
              <a:t>}</a:t>
            </a:r>
            <a:endParaRPr lang="en-US" altLang="zh-CN" sz="2400" dirty="0"/>
          </a:p>
          <a:p>
            <a:r>
              <a:rPr lang="en-US" altLang="zh-CN" sz="2400" dirty="0" err="1"/>
              <a:t>printf</a:t>
            </a:r>
            <a:r>
              <a:rPr lang="en-US" altLang="zh-CN" sz="2400" dirty="0"/>
              <a:t>(“%d”, </a:t>
            </a:r>
            <a:r>
              <a:rPr lang="en-US" altLang="zh-CN" sz="2400" dirty="0" err="1"/>
              <a:t>i</a:t>
            </a:r>
            <a:r>
              <a:rPr lang="en-US" altLang="zh-CN" sz="2400" dirty="0"/>
              <a:t>);</a:t>
            </a:r>
            <a:endParaRPr lang="en-US" altLang="zh-CN" sz="2400" dirty="0"/>
          </a:p>
          <a:p>
            <a:r>
              <a:rPr lang="en-US" altLang="zh-CN" sz="2400" dirty="0"/>
              <a:t>break</a:t>
            </a:r>
            <a:r>
              <a:rPr lang="zh-CN" altLang="en-US" sz="2400" dirty="0"/>
              <a:t>出来的呢？</a:t>
            </a:r>
            <a:endParaRPr lang="zh-CN" alt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i="0" dirty="0">
                <a:effectLst/>
                <a:latin typeface="Lato" panose="020F0502020204030203" pitchFamily="34" charset="0"/>
              </a:rPr>
              <a:t>yoj490. </a:t>
            </a:r>
            <a:r>
              <a:rPr lang="zh-CN" altLang="en-US" b="1" i="0" dirty="0">
                <a:effectLst/>
                <a:latin typeface="Lato" panose="020F0502020204030203" pitchFamily="34" charset="0"/>
              </a:rPr>
              <a:t>促销方案</a:t>
            </a:r>
            <a:endParaRPr lang="zh-CN" altLang="en-US" dirty="0"/>
          </a:p>
        </p:txBody>
      </p:sp>
      <p:sp>
        <p:nvSpPr>
          <p:cNvPr id="3" name="内容占位符 2"/>
          <p:cNvSpPr>
            <a:spLocks noGrp="1"/>
          </p:cNvSpPr>
          <p:nvPr>
            <p:ph idx="1"/>
          </p:nvPr>
        </p:nvSpPr>
        <p:spPr/>
        <p:txBody>
          <a:bodyPr>
            <a:normAutofit fontScale="70000" lnSpcReduction="20000"/>
          </a:bodyPr>
          <a:lstStyle/>
          <a:p>
            <a:pPr algn="l"/>
            <a:r>
              <a:rPr lang="en-US" altLang="zh-CN" b="0"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问题描述</a:t>
            </a:r>
            <a:r>
              <a:rPr lang="en-US" altLang="zh-CN"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zh-CN" altLang="en-US" b="0" i="0" dirty="0">
                <a:effectLst/>
                <a:latin typeface="宋体" panose="02010600030101010101" pitchFamily="2" charset="-122"/>
                <a:ea typeface="宋体" panose="02010600030101010101" pitchFamily="2" charset="-122"/>
              </a:rPr>
              <a:t>促销季来临，各种促销活动眼花缭乱，</a:t>
            </a:r>
            <a:r>
              <a:rPr lang="en-US" altLang="zh-CN" b="0" i="0" dirty="0">
                <a:effectLst/>
                <a:latin typeface="Open Sans" panose="020B0606030504020204" pitchFamily="34" charset="0"/>
              </a:rPr>
              <a:t>A</a:t>
            </a:r>
            <a:r>
              <a:rPr lang="zh-CN" altLang="en-US" b="0" i="0" dirty="0">
                <a:effectLst/>
                <a:latin typeface="宋体" panose="02010600030101010101" pitchFamily="2" charset="-122"/>
                <a:ea typeface="宋体" panose="02010600030101010101" pitchFamily="2" charset="-122"/>
              </a:rPr>
              <a:t>同学的购物车中有</a:t>
            </a:r>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件商品，都参加相同促销方案，且有</a:t>
            </a:r>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种促销方案可选，但是只能同时选择一种方案：</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zh-CN" altLang="en-US" b="0" i="0" dirty="0">
                <a:effectLst/>
                <a:latin typeface="宋体" panose="02010600030101010101" pitchFamily="2" charset="-122"/>
                <a:ea typeface="宋体" panose="02010600030101010101" pitchFamily="2" charset="-122"/>
              </a:rPr>
              <a:t>方案</a:t>
            </a:r>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：买</a:t>
            </a:r>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件</a:t>
            </a:r>
            <a:r>
              <a:rPr lang="en-US" altLang="zh-CN" b="0" i="0" dirty="0">
                <a:effectLst/>
                <a:latin typeface="Open Sans" panose="020B0606030504020204" pitchFamily="34" charset="0"/>
              </a:rPr>
              <a:t>8</a:t>
            </a:r>
            <a:r>
              <a:rPr lang="zh-CN" altLang="en-US" b="0" i="0" dirty="0">
                <a:effectLst/>
                <a:latin typeface="宋体" panose="02010600030101010101" pitchFamily="2" charset="-122"/>
                <a:ea typeface="宋体" panose="02010600030101010101" pitchFamily="2" charset="-122"/>
              </a:rPr>
              <a:t>折，</a:t>
            </a:r>
            <a:r>
              <a:rPr lang="en-US" altLang="zh-CN" b="0" i="0" dirty="0">
                <a:effectLst/>
                <a:latin typeface="Open Sans" panose="020B0606030504020204" pitchFamily="34" charset="0"/>
              </a:rPr>
              <a:t>3</a:t>
            </a:r>
            <a:r>
              <a:rPr lang="zh-CN" altLang="en-US" b="0" i="0" dirty="0">
                <a:effectLst/>
                <a:latin typeface="宋体" panose="02010600030101010101" pitchFamily="2" charset="-122"/>
                <a:ea typeface="宋体" panose="02010600030101010101" pitchFamily="2" charset="-122"/>
              </a:rPr>
              <a:t>件以及以上打</a:t>
            </a:r>
            <a:r>
              <a:rPr lang="en-US" altLang="zh-CN" b="0" i="0" dirty="0">
                <a:effectLst/>
                <a:latin typeface="Open Sans" panose="020B0606030504020204" pitchFamily="34" charset="0"/>
              </a:rPr>
              <a:t>7</a:t>
            </a:r>
            <a:r>
              <a:rPr lang="zh-CN" altLang="en-US" b="0" i="0" dirty="0">
                <a:effectLst/>
                <a:latin typeface="宋体" panose="02010600030101010101" pitchFamily="2" charset="-122"/>
                <a:ea typeface="宋体" panose="02010600030101010101" pitchFamily="2" charset="-122"/>
              </a:rPr>
              <a:t>折</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zh-CN" altLang="en-US" b="0" i="0" dirty="0">
                <a:effectLst/>
                <a:latin typeface="宋体" panose="02010600030101010101" pitchFamily="2" charset="-122"/>
                <a:ea typeface="宋体" panose="02010600030101010101" pitchFamily="2" charset="-122"/>
              </a:rPr>
              <a:t>方案</a:t>
            </a:r>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：每满</a:t>
            </a:r>
            <a:r>
              <a:rPr lang="en-US" altLang="zh-CN" b="0" i="0" dirty="0">
                <a:effectLst/>
                <a:latin typeface="Open Sans" panose="020B0606030504020204" pitchFamily="34" charset="0"/>
              </a:rPr>
              <a:t>200</a:t>
            </a:r>
            <a:r>
              <a:rPr lang="zh-CN" altLang="en-US" b="0" i="0" dirty="0">
                <a:effectLst/>
                <a:latin typeface="宋体" panose="02010600030101010101" pitchFamily="2" charset="-122"/>
                <a:ea typeface="宋体" panose="02010600030101010101" pitchFamily="2" charset="-122"/>
              </a:rPr>
              <a:t>减</a:t>
            </a:r>
            <a:r>
              <a:rPr lang="en-US" altLang="zh-CN" b="0" i="0" dirty="0">
                <a:effectLst/>
                <a:latin typeface="Open Sans" panose="020B0606030504020204" pitchFamily="34" charset="0"/>
              </a:rPr>
              <a:t>50</a:t>
            </a:r>
            <a:endParaRPr lang="en-US" altLang="zh-CN" b="0" i="0" dirty="0">
              <a:effectLst/>
              <a:latin typeface="Open Sans" panose="020B0606030504020204" pitchFamily="34" charset="0"/>
            </a:endParaRPr>
          </a:p>
          <a:p>
            <a:pPr algn="l"/>
            <a:r>
              <a:rPr lang="en-US" altLang="zh-CN" b="0" i="0" dirty="0">
                <a:effectLst/>
                <a:latin typeface="Open Sans" panose="020B0606030504020204" pitchFamily="34" charset="0"/>
              </a:rPr>
              <a:t>            </a:t>
            </a:r>
            <a:r>
              <a:rPr lang="zh-CN" altLang="en-US" b="0" i="0" dirty="0">
                <a:effectLst/>
                <a:latin typeface="宋体" panose="02010600030101010101" pitchFamily="2" charset="-122"/>
                <a:ea typeface="宋体" panose="02010600030101010101" pitchFamily="2" charset="-122"/>
              </a:rPr>
              <a:t>请你帮</a:t>
            </a:r>
            <a:r>
              <a:rPr lang="en-US" altLang="zh-CN" b="0" i="0" dirty="0">
                <a:effectLst/>
                <a:latin typeface="Open Sans" panose="020B0606030504020204" pitchFamily="34" charset="0"/>
              </a:rPr>
              <a:t>A</a:t>
            </a:r>
            <a:r>
              <a:rPr lang="zh-CN" altLang="en-US" b="0" i="0" dirty="0">
                <a:effectLst/>
                <a:latin typeface="宋体" panose="02010600030101010101" pitchFamily="2" charset="-122"/>
                <a:ea typeface="宋体" panose="02010600030101010101" pitchFamily="2" charset="-122"/>
              </a:rPr>
              <a:t>同学选出最佳方案，并输出最佳方案下的花费。</a:t>
            </a:r>
            <a:endParaRPr lang="zh-CN" altLang="en-US" b="0" i="0" dirty="0">
              <a:effectLst/>
              <a:latin typeface="Open Sans" panose="020B0606030504020204" pitchFamily="34" charset="0"/>
            </a:endParaRPr>
          </a:p>
          <a:p>
            <a:pPr algn="l"/>
            <a:r>
              <a:rPr lang="en-US" altLang="zh-CN" b="0"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输入格式</a:t>
            </a:r>
            <a:r>
              <a:rPr lang="en-US" altLang="zh-CN"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共</a:t>
            </a:r>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行。</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第</a:t>
            </a:r>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行，包含</a:t>
            </a:r>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个正整数，表示</a:t>
            </a:r>
            <a:r>
              <a:rPr lang="en-US" altLang="zh-CN" b="0" i="0" dirty="0">
                <a:effectLst/>
                <a:latin typeface="Open Sans" panose="020B0606030504020204" pitchFamily="34" charset="0"/>
              </a:rPr>
              <a:t>A</a:t>
            </a:r>
            <a:r>
              <a:rPr lang="zh-CN" altLang="en-US" b="0" i="0" dirty="0">
                <a:effectLst/>
                <a:latin typeface="宋体" panose="02010600030101010101" pitchFamily="2" charset="-122"/>
                <a:ea typeface="宋体" panose="02010600030101010101" pitchFamily="2" charset="-122"/>
              </a:rPr>
              <a:t>同学购物中</a:t>
            </a:r>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件商品的单价；</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第</a:t>
            </a:r>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行，包含</a:t>
            </a:r>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个正整数，依次表示第</a:t>
            </a:r>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行两件商品的需要购买的数量。</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endParaRPr lang="zh-CN" altLang="en-US" b="0" i="0" dirty="0">
              <a:effectLst/>
              <a:latin typeface="Open Sans" panose="020B0606030504020204" pitchFamily="34" charset="0"/>
            </a:endParaRPr>
          </a:p>
          <a:p>
            <a:pPr algn="l"/>
            <a:r>
              <a:rPr lang="en-US" altLang="zh-CN" b="1"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输出格式</a:t>
            </a:r>
            <a:r>
              <a:rPr lang="en-US" altLang="zh-CN" b="1"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行，包含</a:t>
            </a:r>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个整数，之间用一个空格隔开，依次表示所选促销方案，以及该方案下的花费，四舍五入保留小数点后</a:t>
            </a:r>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位。</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注意：如果两种花费相同，则选方案</a:t>
            </a:r>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2000" y="468087"/>
            <a:ext cx="8280000" cy="5831914"/>
          </a:xfrm>
        </p:spPr>
        <p:txBody>
          <a:bodyPr>
            <a:normAutofit fontScale="77500" lnSpcReduction="20000"/>
          </a:bodyPr>
          <a:lstStyle/>
          <a:p>
            <a:pPr algn="just">
              <a:lnSpc>
                <a:spcPct val="110000"/>
              </a:lnSpc>
              <a:spcBef>
                <a:spcPts val="0"/>
              </a:spcBef>
            </a:pPr>
            <a:r>
              <a:rPr lang="en-US" altLang="zh-CN" sz="1800" kern="100" dirty="0">
                <a:effectLst/>
                <a:latin typeface="等线" panose="02010600030101010101" charset="-122"/>
                <a:ea typeface="等线" panose="02010600030101010101" charset="-122"/>
                <a:cs typeface="Times New Roman" panose="02020603050405020304" pitchFamily="18" charset="0"/>
              </a:rPr>
              <a:t>By </a:t>
            </a:r>
            <a:r>
              <a:rPr lang="zh-CN" altLang="zh-CN" sz="1800" kern="100" dirty="0">
                <a:effectLst/>
                <a:latin typeface="等线" panose="02010600030101010101" charset="-122"/>
                <a:ea typeface="等线" panose="02010600030101010101" charset="-122"/>
                <a:cs typeface="Times New Roman" panose="02020603050405020304" pitchFamily="18" charset="0"/>
              </a:rPr>
              <a:t>张钰玮</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#include</a:t>
            </a:r>
            <a:r>
              <a:rPr lang="en-US" altLang="zh-CN" sz="1800" kern="0" dirty="0">
                <a:solidFill>
                  <a:srgbClr val="666969"/>
                </a:solidFill>
                <a:effectLst/>
                <a:latin typeface="Fira Mono" panose="020B0509050000020004" pitchFamily="49" charset="0"/>
                <a:ea typeface="宋体" panose="02010600030101010101" pitchFamily="2" charset="-122"/>
                <a:cs typeface="宋体" panose="02010600030101010101" pitchFamily="2" charset="-122"/>
              </a:rPr>
              <a:t>&lt;stdio.h&gt;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#include</a:t>
            </a:r>
            <a:r>
              <a:rPr lang="en-US" altLang="zh-CN" sz="1800" kern="0" dirty="0">
                <a:solidFill>
                  <a:srgbClr val="666969"/>
                </a:solidFill>
                <a:effectLst/>
                <a:latin typeface="Fira Mono" panose="020B0509050000020004" pitchFamily="49" charset="0"/>
                <a:ea typeface="宋体" panose="02010600030101010101" pitchFamily="2" charset="-122"/>
                <a:cs typeface="宋体" panose="02010600030101010101" pitchFamily="2" charset="-122"/>
              </a:rPr>
              <a:t>&lt;iostream&gt;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using</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namespace</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std;</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int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main()</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int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 </a:t>
            </a:r>
            <a:r>
              <a:rPr lang="en-US" altLang="zh-CN" sz="1800"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b,c,d</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scanf</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err="1">
                <a:solidFill>
                  <a:srgbClr val="F5871F"/>
                </a:solidFill>
                <a:effectLst/>
                <a:latin typeface="Fira Mono" panose="020B0509050000020004" pitchFamily="49" charset="0"/>
                <a:ea typeface="宋体" panose="02010600030101010101" pitchFamily="2" charset="-122"/>
                <a:cs typeface="宋体" panose="02010600030101010101" pitchFamily="2" charset="-122"/>
              </a:rPr>
              <a:t>d%d</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err="1">
                <a:solidFill>
                  <a:srgbClr val="F5871F"/>
                </a:solidFill>
                <a:effectLst/>
                <a:latin typeface="Fira Mono" panose="020B0509050000020004" pitchFamily="49" charset="0"/>
                <a:ea typeface="宋体" panose="02010600030101010101" pitchFamily="2" charset="-122"/>
                <a:cs typeface="宋体" panose="02010600030101010101" pitchFamily="2" charset="-122"/>
              </a:rPr>
              <a:t>n%d%d</a:t>
            </a:r>
            <a:r>
              <a:rPr lang="en-US" altLang="zh-CN" sz="1800"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&amp;</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&amp;</a:t>
            </a:r>
            <a:r>
              <a:rPr lang="en-US" altLang="zh-CN" sz="1800"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b,</a:t>
            </a:r>
            <a:r>
              <a:rPr lang="en-US" altLang="zh-CN" sz="1800" kern="0" dirty="0" err="1">
                <a:solidFill>
                  <a:srgbClr val="3E999F"/>
                </a:solidFill>
                <a:effectLst/>
                <a:latin typeface="Fira Mono" panose="020B0509050000020004" pitchFamily="49" charset="0"/>
                <a:ea typeface="宋体" panose="02010600030101010101" pitchFamily="2" charset="-122"/>
                <a:cs typeface="宋体" panose="02010600030101010101" pitchFamily="2" charset="-122"/>
              </a:rPr>
              <a:t>&amp;</a:t>
            </a:r>
            <a:r>
              <a:rPr lang="en-US" altLang="zh-CN" sz="1800"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c,</a:t>
            </a:r>
            <a:r>
              <a:rPr lang="en-US" altLang="zh-CN" sz="1800" kern="0" dirty="0" err="1">
                <a:solidFill>
                  <a:srgbClr val="3E999F"/>
                </a:solidFill>
                <a:effectLst/>
                <a:latin typeface="Fira Mono" panose="020B0509050000020004" pitchFamily="49" charset="0"/>
                <a:ea typeface="宋体" panose="02010600030101010101" pitchFamily="2" charset="-122"/>
                <a:cs typeface="宋体" panose="02010600030101010101" pitchFamily="2" charset="-122"/>
              </a:rPr>
              <a:t>&amp;</a:t>
            </a:r>
            <a:r>
              <a:rPr lang="en-US" altLang="zh-CN" sz="1800"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d</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float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p1, p2;</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if</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(c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d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2</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p1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b)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0.8</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else</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p1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c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b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d)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0.7</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int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s;</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s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c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b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d)</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200</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320040"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p2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c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b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d)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s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50</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320040"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if</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(p1 </a:t>
            </a:r>
            <a:r>
              <a:rPr lang="en-US" altLang="zh-CN" sz="18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&lt;=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p2)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printf</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%d</a:t>
            </a:r>
            <a:r>
              <a:rPr lang="en-US" altLang="zh-CN" sz="1800"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%0.1f</a:t>
            </a:r>
            <a:r>
              <a:rPr lang="en-US" altLang="zh-CN" sz="1800"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1</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p1);</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else</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printf</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%d</a:t>
            </a:r>
            <a:r>
              <a:rPr lang="en-US" altLang="zh-CN" sz="1800"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%0.1f</a:t>
            </a:r>
            <a:r>
              <a:rPr lang="en-US" altLang="zh-CN" sz="1800"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2</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p2);</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return</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18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a:t>
            </a: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l">
              <a:lnSpc>
                <a:spcPct val="110000"/>
              </a:lnSpc>
              <a:spcBef>
                <a:spcPts val="0"/>
              </a:spcBef>
            </a:pPr>
            <a:r>
              <a:rPr lang="en-US" altLang="zh-CN" sz="18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nSpc>
                <a:spcPct val="110000"/>
              </a:lnSpc>
              <a:spcBef>
                <a:spcPts val="0"/>
              </a:spcBef>
            </a:pPr>
            <a:endParaRPr lang="zh-CN" altLang="en-US" dirty="0"/>
          </a:p>
        </p:txBody>
      </p:sp>
      <p:sp>
        <p:nvSpPr>
          <p:cNvPr id="5" name="文本框 4"/>
          <p:cNvSpPr txBox="1"/>
          <p:nvPr/>
        </p:nvSpPr>
        <p:spPr>
          <a:xfrm>
            <a:off x="5584371" y="1903551"/>
            <a:ext cx="2857502" cy="3416320"/>
          </a:xfrm>
          <a:prstGeom prst="rect">
            <a:avLst/>
          </a:prstGeom>
          <a:noFill/>
        </p:spPr>
        <p:txBody>
          <a:bodyPr wrap="square">
            <a:spAutoFit/>
          </a:bodyPr>
          <a:lstStyle/>
          <a:p>
            <a:r>
              <a:rPr lang="zh-CN" altLang="en-US" sz="2400" b="1" dirty="0">
                <a:solidFill>
                  <a:srgbClr val="FF0000"/>
                </a:solidFill>
              </a:rPr>
              <a:t>分支</a:t>
            </a:r>
            <a:r>
              <a:rPr lang="zh-CN" altLang="en-US" sz="2400" dirty="0"/>
              <a:t>的调试：</a:t>
            </a:r>
            <a:endParaRPr lang="en-US" altLang="zh-CN" sz="2400" dirty="0"/>
          </a:p>
          <a:p>
            <a:r>
              <a:rPr lang="en-US" altLang="zh-CN" sz="2400" dirty="0"/>
              <a:t>1. </a:t>
            </a:r>
            <a:r>
              <a:rPr lang="zh-CN" altLang="en-US" sz="2400" dirty="0"/>
              <a:t>自己构造的测试点尽量每个分支都测到</a:t>
            </a:r>
            <a:endParaRPr lang="en-US" altLang="zh-CN" sz="2400" dirty="0"/>
          </a:p>
          <a:p>
            <a:r>
              <a:rPr lang="en-US" altLang="zh-CN" sz="2400" dirty="0"/>
              <a:t>2.</a:t>
            </a:r>
            <a:r>
              <a:rPr lang="zh-CN" altLang="en-US" sz="2400" dirty="0"/>
              <a:t> 可以在分支前打出判断表达式的值，在每个分支打出一句话，看是否运行到这个分支</a:t>
            </a:r>
            <a:endParaRPr lang="en-US" altLang="zh-CN"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i="0" dirty="0">
                <a:effectLst/>
                <a:latin typeface="Lato" panose="020F0502020204030203" pitchFamily="34" charset="0"/>
              </a:rPr>
              <a:t>yoj215. </a:t>
            </a:r>
            <a:r>
              <a:rPr lang="zh-CN" altLang="en-US" b="1" i="0" dirty="0">
                <a:effectLst/>
                <a:latin typeface="Lato" panose="020F0502020204030203" pitchFamily="34" charset="0"/>
              </a:rPr>
              <a:t>提货单</a:t>
            </a:r>
            <a:endParaRPr lang="zh-CN" altLang="en-US" dirty="0"/>
          </a:p>
        </p:txBody>
      </p:sp>
      <p:sp>
        <p:nvSpPr>
          <p:cNvPr id="3" name="内容占位符 2"/>
          <p:cNvSpPr>
            <a:spLocks noGrp="1"/>
          </p:cNvSpPr>
          <p:nvPr>
            <p:ph idx="1"/>
          </p:nvPr>
        </p:nvSpPr>
        <p:spPr>
          <a:xfrm>
            <a:off x="432000" y="1331650"/>
            <a:ext cx="8280000" cy="3713879"/>
          </a:xfrm>
        </p:spPr>
        <p:txBody>
          <a:bodyPr>
            <a:normAutofit fontScale="92500" lnSpcReduction="20000"/>
          </a:bodyPr>
          <a:lstStyle/>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问题描述</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en-US" altLang="zh-CN" b="0" i="0" dirty="0">
                <a:effectLst/>
                <a:latin typeface="Open Sans" panose="020B0606030504020204" pitchFamily="34" charset="0"/>
              </a:rPr>
              <a:t> </a:t>
            </a:r>
            <a:r>
              <a:rPr lang="zh-CN" altLang="en-US" b="0" i="0" dirty="0">
                <a:effectLst/>
                <a:latin typeface="Open Sans" panose="020B0606030504020204" pitchFamily="34" charset="0"/>
              </a:rPr>
              <a:t>有一份提货单，其数据项目有：商品名（</a:t>
            </a:r>
            <a:r>
              <a:rPr lang="en-US" altLang="zh-CN" b="0" i="0" dirty="0">
                <a:effectLst/>
                <a:latin typeface="Open Sans" panose="020B0606030504020204" pitchFamily="34" charset="0"/>
              </a:rPr>
              <a:t>MC</a:t>
            </a:r>
            <a:r>
              <a:rPr lang="zh-CN" altLang="en-US" b="0" i="0" dirty="0">
                <a:effectLst/>
                <a:latin typeface="Open Sans" panose="020B0606030504020204" pitchFamily="34" charset="0"/>
              </a:rPr>
              <a:t>）、单价（</a:t>
            </a:r>
            <a:r>
              <a:rPr lang="en-US" altLang="zh-CN" b="0" i="0" dirty="0">
                <a:effectLst/>
                <a:latin typeface="Open Sans" panose="020B0606030504020204" pitchFamily="34" charset="0"/>
              </a:rPr>
              <a:t>DJ</a:t>
            </a:r>
            <a:r>
              <a:rPr lang="zh-CN" altLang="en-US" b="0" i="0" dirty="0">
                <a:effectLst/>
                <a:latin typeface="Open Sans" panose="020B0606030504020204" pitchFamily="34" charset="0"/>
              </a:rPr>
              <a:t>）、数量（</a:t>
            </a:r>
            <a:r>
              <a:rPr lang="en-US" altLang="zh-CN" b="0" i="0" dirty="0">
                <a:effectLst/>
                <a:latin typeface="Open Sans" panose="020B0606030504020204" pitchFamily="34" charset="0"/>
              </a:rPr>
              <a:t>SL</a:t>
            </a:r>
            <a:r>
              <a:rPr lang="zh-CN" altLang="en-US" b="0" i="0" dirty="0">
                <a:effectLst/>
                <a:latin typeface="Open Sans" panose="020B0606030504020204" pitchFamily="34" charset="0"/>
              </a:rPr>
              <a:t>）。请计算并输出提货单的总金额。</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输入格式</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第一行是提货单中记录个数</a:t>
            </a:r>
            <a:r>
              <a:rPr lang="en-US" altLang="zh-CN" b="0" i="0" dirty="0">
                <a:effectLst/>
                <a:latin typeface="Open Sans" panose="020B0606030504020204" pitchFamily="34" charset="0"/>
              </a:rPr>
              <a:t>N (N&lt;100)</a:t>
            </a:r>
            <a:r>
              <a:rPr lang="zh-CN" altLang="en-US" b="0" i="0" dirty="0">
                <a:effectLst/>
                <a:latin typeface="Open Sans" panose="020B0606030504020204" pitchFamily="34" charset="0"/>
              </a:rPr>
              <a:t>。</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接下来</a:t>
            </a:r>
            <a:r>
              <a:rPr lang="en-US" altLang="zh-CN" b="0" i="0" dirty="0">
                <a:effectLst/>
                <a:latin typeface="Open Sans" panose="020B0606030504020204" pitchFamily="34" charset="0"/>
              </a:rPr>
              <a:t>N</a:t>
            </a:r>
            <a:r>
              <a:rPr lang="zh-CN" altLang="en-US" b="0" i="0" dirty="0">
                <a:effectLst/>
                <a:latin typeface="Open Sans" panose="020B0606030504020204" pitchFamily="34" charset="0"/>
              </a:rPr>
              <a:t>行，每一行是一条记录，包含商品名（长度不超过</a:t>
            </a:r>
            <a:r>
              <a:rPr lang="en-US" altLang="zh-CN" b="0" i="0" dirty="0">
                <a:effectLst/>
                <a:latin typeface="Open Sans" panose="020B0606030504020204" pitchFamily="34" charset="0"/>
              </a:rPr>
              <a:t>100</a:t>
            </a:r>
            <a:r>
              <a:rPr lang="zh-CN" altLang="en-US" b="0" i="0" dirty="0">
                <a:effectLst/>
                <a:latin typeface="Open Sans" panose="020B0606030504020204" pitchFamily="34" charset="0"/>
              </a:rPr>
              <a:t>的仅包含小写字母的字符串）、单价、数量，单价和数量均为不大于</a:t>
            </a:r>
            <a:r>
              <a:rPr lang="en-US" altLang="zh-CN" b="0" i="0" dirty="0">
                <a:effectLst/>
                <a:latin typeface="Open Sans" panose="020B0606030504020204" pitchFamily="34" charset="0"/>
              </a:rPr>
              <a:t>500</a:t>
            </a:r>
            <a:r>
              <a:rPr lang="zh-CN" altLang="en-US" b="0" i="0" dirty="0">
                <a:effectLst/>
                <a:latin typeface="Open Sans" panose="020B0606030504020204" pitchFamily="34" charset="0"/>
              </a:rPr>
              <a:t>整数，数据项之间用一个空格隔开。</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输出格式</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一个整数，表示这份提货单的总金额。</a:t>
            </a:r>
            <a:endParaRPr lang="en-US" altLang="zh-CN" b="0" i="0" dirty="0">
              <a:effectLst/>
              <a:latin typeface="Open Sans" panose="020B0606030504020204" pitchFamily="34" charset="0"/>
            </a:endParaRPr>
          </a:p>
          <a:p>
            <a:pPr algn="l"/>
            <a:endParaRPr lang="en-US" altLang="zh-CN" dirty="0">
              <a:latin typeface="Open Sans" panose="020B0606030504020204" pitchFamily="34" charset="0"/>
            </a:endParaRPr>
          </a:p>
          <a:p>
            <a:pPr algn="l"/>
            <a:endParaRPr lang="en-US" altLang="zh-CN" b="0" i="0" dirty="0">
              <a:effectLst/>
              <a:latin typeface="Open Sans" panose="020B0606030504020204" pitchFamily="34" charset="0"/>
            </a:endParaRPr>
          </a:p>
          <a:p>
            <a:pPr algn="l"/>
            <a:endParaRPr lang="zh-CN" altLang="en-US" b="0" i="0" dirty="0">
              <a:effectLst/>
              <a:latin typeface="Open Sans" panose="020B0606030504020204" pitchFamily="34" charset="0"/>
            </a:endParaRPr>
          </a:p>
          <a:p>
            <a:endParaRPr lang="zh-CN" altLang="en-US" dirty="0"/>
          </a:p>
        </p:txBody>
      </p:sp>
      <p:sp>
        <p:nvSpPr>
          <p:cNvPr id="5" name="文本框 4"/>
          <p:cNvSpPr txBox="1"/>
          <p:nvPr/>
        </p:nvSpPr>
        <p:spPr>
          <a:xfrm>
            <a:off x="1801585" y="4887686"/>
            <a:ext cx="4572000" cy="2246769"/>
          </a:xfrm>
          <a:prstGeom prst="rect">
            <a:avLst/>
          </a:prstGeom>
          <a:noFill/>
        </p:spPr>
        <p:txBody>
          <a:bodyPr wrap="square">
            <a:spAutoFit/>
          </a:bodyPr>
          <a:lstStyle/>
          <a:p>
            <a:pPr algn="l"/>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输入样例</a:t>
            </a:r>
            <a:r>
              <a:rPr lang="en-US" altLang="zh-CN" sz="2000" b="0" i="0" dirty="0">
                <a:effectLst/>
                <a:latin typeface="Open Sans" panose="020B0606030504020204" pitchFamily="34" charset="0"/>
              </a:rPr>
              <a:t>】</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4</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book 12 3</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pen 2 10</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computer 480 1</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flower 47 5</a:t>
            </a:r>
            <a:endParaRPr lang="en-US" altLang="zh-CN" sz="2000" b="0" i="0" dirty="0">
              <a:effectLst/>
              <a:latin typeface="Open Sans" panose="020B0606030504020204" pitchFamily="34" charset="0"/>
            </a:endParaRPr>
          </a:p>
          <a:p>
            <a:pPr algn="l"/>
            <a:endParaRPr lang="en-US" altLang="zh-CN" sz="2000" b="0" i="0" dirty="0">
              <a:effectLst/>
              <a:latin typeface="Open Sans" panose="020B0606030504020204" pitchFamily="34" charset="0"/>
            </a:endParaRPr>
          </a:p>
        </p:txBody>
      </p:sp>
      <p:sp>
        <p:nvSpPr>
          <p:cNvPr id="7" name="文本框 6"/>
          <p:cNvSpPr txBox="1"/>
          <p:nvPr/>
        </p:nvSpPr>
        <p:spPr>
          <a:xfrm>
            <a:off x="4572000" y="4887686"/>
            <a:ext cx="4572000" cy="1015663"/>
          </a:xfrm>
          <a:prstGeom prst="rect">
            <a:avLst/>
          </a:prstGeom>
          <a:noFill/>
        </p:spPr>
        <p:txBody>
          <a:bodyPr wrap="square">
            <a:spAutoFit/>
          </a:bodyPr>
          <a:lstStyle/>
          <a:p>
            <a:pPr algn="l"/>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输出样例</a:t>
            </a:r>
            <a:r>
              <a:rPr lang="en-US" altLang="zh-CN" sz="2000" b="0" i="0" dirty="0">
                <a:effectLst/>
                <a:latin typeface="Open Sans" panose="020B0606030504020204" pitchFamily="34" charset="0"/>
              </a:rPr>
              <a:t>】</a:t>
            </a:r>
            <a:br>
              <a:rPr lang="en-US" altLang="zh-CN" sz="2000" b="0" i="0" dirty="0">
                <a:effectLst/>
                <a:latin typeface="Open Sans" panose="020B0606030504020204" pitchFamily="34" charset="0"/>
              </a:rPr>
            </a:b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771</a:t>
            </a:r>
            <a:endParaRPr lang="zh-CN" altLang="en-US" sz="2000" dirty="0"/>
          </a:p>
        </p:txBody>
      </p:sp>
      <p:sp>
        <p:nvSpPr>
          <p:cNvPr id="10" name="文本框 9"/>
          <p:cNvSpPr txBox="1"/>
          <p:nvPr/>
        </p:nvSpPr>
        <p:spPr>
          <a:xfrm>
            <a:off x="6972300" y="5903349"/>
            <a:ext cx="1910443" cy="830997"/>
          </a:xfrm>
          <a:prstGeom prst="rect">
            <a:avLst/>
          </a:prstGeom>
          <a:noFill/>
        </p:spPr>
        <p:txBody>
          <a:bodyPr wrap="square" rtlCol="0">
            <a:spAutoFit/>
          </a:bodyPr>
          <a:lstStyle/>
          <a:p>
            <a:r>
              <a:rPr lang="zh-CN" altLang="en-US" sz="2400" dirty="0">
                <a:solidFill>
                  <a:srgbClr val="FF0000"/>
                </a:solidFill>
              </a:rPr>
              <a:t>是否需要用数组记录？</a:t>
            </a:r>
            <a:endParaRPr lang="zh-CN" altLang="en-US" sz="2400"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2000" y="653143"/>
            <a:ext cx="8280000" cy="5646858"/>
          </a:xfrm>
        </p:spPr>
        <p:txBody>
          <a:bodyPr>
            <a:normAutofit/>
          </a:bodyPr>
          <a:lstStyle/>
          <a:p>
            <a:pPr algn="l">
              <a:spcBef>
                <a:spcPts val="0"/>
              </a:spcBef>
            </a:pPr>
            <a:r>
              <a:rPr lang="en-US" altLang="zh-CN" kern="100" dirty="0">
                <a:solidFill>
                  <a:srgbClr val="000000"/>
                </a:solidFill>
                <a:effectLst/>
                <a:latin typeface="等线" panose="02010600030101010101" charset="-122"/>
                <a:ea typeface="等线" panose="02010600030101010101" charset="-122"/>
                <a:cs typeface="Times New Roman" panose="02020603050405020304" pitchFamily="18" charset="0"/>
              </a:rPr>
              <a:t>By </a:t>
            </a:r>
            <a:r>
              <a:rPr lang="zh-CN" altLang="zh-CN" kern="100" dirty="0">
                <a:solidFill>
                  <a:srgbClr val="000000"/>
                </a:solidFill>
                <a:effectLst/>
                <a:latin typeface="等线" panose="02010600030101010101" charset="-122"/>
                <a:ea typeface="等线" panose="02010600030101010101" charset="-122"/>
                <a:cs typeface="Times New Roman" panose="02020603050405020304" pitchFamily="18" charset="0"/>
              </a:rPr>
              <a:t>朱相兆</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#include</a:t>
            </a:r>
            <a:r>
              <a:rPr lang="en-US" altLang="zh-CN" kern="0" dirty="0">
                <a:solidFill>
                  <a:srgbClr val="666969"/>
                </a:solidFill>
                <a:effectLst/>
                <a:latin typeface="Fira Mono" panose="020B0509050000020004" pitchFamily="49" charset="0"/>
                <a:ea typeface="宋体" panose="02010600030101010101" pitchFamily="2" charset="-122"/>
                <a:cs typeface="宋体" panose="02010600030101010101" pitchFamily="2" charset="-122"/>
              </a:rPr>
              <a:t>&lt;stdio.h&gt;</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int</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main(){</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int</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n,a,b,sum</a:t>
            </a:r>
            <a:r>
              <a:rPr lang="en-US" altLang="zh-CN"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,i;</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char</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ch</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100</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scanf</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F5871F"/>
                </a:solidFill>
                <a:effectLst/>
                <a:latin typeface="Fira Mono" panose="020B0509050000020004" pitchFamily="49" charset="0"/>
                <a:ea typeface="宋体" panose="02010600030101010101" pitchFamily="2" charset="-122"/>
                <a:cs typeface="宋体" panose="02010600030101010101" pitchFamily="2" charset="-122"/>
              </a:rPr>
              <a:t>d</a:t>
            </a:r>
            <a:r>
              <a:rPr lang="en-US" altLang="zh-CN" kern="0" dirty="0" err="1">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3E999F"/>
                </a:solidFill>
                <a:effectLst/>
                <a:latin typeface="Fira Mono" panose="020B0509050000020004" pitchFamily="49" charset="0"/>
                <a:ea typeface="宋体" panose="02010600030101010101" pitchFamily="2" charset="-122"/>
                <a:cs typeface="宋体" panose="02010600030101010101" pitchFamily="2" charset="-122"/>
              </a:rPr>
              <a:t>&amp;</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n</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for</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i</a:t>
            </a:r>
            <a:r>
              <a:rPr lang="en-US" altLang="zh-CN"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;i</a:t>
            </a:r>
            <a:r>
              <a:rPr lang="en-US" altLang="zh-CN"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&lt;</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n;i</a:t>
            </a:r>
            <a:r>
              <a:rPr lang="en-US" altLang="zh-CN"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scanf</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%s</a:t>
            </a:r>
            <a:r>
              <a:rPr lang="en-US" altLang="zh-CN"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ch</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scanf</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%d</a:t>
            </a:r>
            <a:r>
              <a:rPr lang="en-US" altLang="zh-CN"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F5871F"/>
                </a:solidFill>
                <a:effectLst/>
                <a:latin typeface="Fira Mono" panose="020B0509050000020004" pitchFamily="49" charset="0"/>
                <a:ea typeface="宋体" panose="02010600030101010101" pitchFamily="2" charset="-122"/>
                <a:cs typeface="宋体" panose="02010600030101010101" pitchFamily="2" charset="-122"/>
              </a:rPr>
              <a:t>d</a:t>
            </a:r>
            <a:r>
              <a:rPr lang="en-US" altLang="zh-CN" kern="0" dirty="0" err="1">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3E999F"/>
                </a:solidFill>
                <a:effectLst/>
                <a:latin typeface="Fira Mono" panose="020B0509050000020004" pitchFamily="49" charset="0"/>
                <a:ea typeface="宋体" panose="02010600030101010101" pitchFamily="2" charset="-122"/>
                <a:cs typeface="宋体" panose="02010600030101010101" pitchFamily="2" charset="-122"/>
              </a:rPr>
              <a:t>&amp;</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a,</a:t>
            </a:r>
            <a:r>
              <a:rPr lang="en-US" altLang="zh-CN" kern="0" dirty="0" err="1">
                <a:solidFill>
                  <a:srgbClr val="3E999F"/>
                </a:solidFill>
                <a:effectLst/>
                <a:latin typeface="Fira Mono" panose="020B0509050000020004" pitchFamily="49" charset="0"/>
                <a:ea typeface="宋体" panose="02010600030101010101" pitchFamily="2" charset="-122"/>
                <a:cs typeface="宋体" panose="02010600030101010101" pitchFamily="2" charset="-122"/>
              </a:rPr>
              <a:t>&amp;</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b</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sum</a:t>
            </a:r>
            <a:r>
              <a:rPr lang="en-US" altLang="zh-CN"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sum</a:t>
            </a:r>
            <a:r>
              <a:rPr lang="en-US" altLang="zh-CN" kern="0" dirty="0" err="1">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a</a:t>
            </a:r>
            <a:r>
              <a:rPr lang="en-US" altLang="zh-CN"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b;</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printf</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F5871F"/>
                </a:solidFill>
                <a:effectLst/>
                <a:latin typeface="Fira Mono" panose="020B0509050000020004" pitchFamily="49" charset="0"/>
                <a:ea typeface="宋体" panose="02010600030101010101" pitchFamily="2" charset="-122"/>
                <a:cs typeface="宋体" panose="02010600030101010101" pitchFamily="2" charset="-122"/>
              </a:rPr>
              <a:t>d</a:t>
            </a:r>
            <a:r>
              <a:rPr lang="en-US" altLang="zh-CN" kern="0" dirty="0" err="1">
                <a:solidFill>
                  <a:srgbClr val="718C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,sum</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return</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a:t>
            </a: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pPr>
            <a:r>
              <a:rPr lang="en-US" altLang="zh-CN"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spcBef>
                <a:spcPts val="0"/>
              </a:spcBef>
            </a:pPr>
            <a:endParaRPr lang="zh-CN" altLang="en-US" sz="3200" dirty="0"/>
          </a:p>
        </p:txBody>
      </p:sp>
      <p:sp>
        <p:nvSpPr>
          <p:cNvPr id="4" name="文本框 3"/>
          <p:cNvSpPr txBox="1"/>
          <p:nvPr/>
        </p:nvSpPr>
        <p:spPr>
          <a:xfrm>
            <a:off x="5443250" y="372268"/>
            <a:ext cx="3268750" cy="2677656"/>
          </a:xfrm>
          <a:prstGeom prst="rect">
            <a:avLst/>
          </a:prstGeom>
          <a:noFill/>
        </p:spPr>
        <p:txBody>
          <a:bodyPr wrap="square">
            <a:spAutoFit/>
          </a:bodyPr>
          <a:lstStyle/>
          <a:p>
            <a:r>
              <a:rPr lang="zh-CN" altLang="en-US" sz="2400" dirty="0"/>
              <a:t>调试：</a:t>
            </a:r>
            <a:endParaRPr lang="en-US" altLang="zh-CN" sz="2400" dirty="0"/>
          </a:p>
          <a:p>
            <a:r>
              <a:rPr lang="en-US" altLang="zh-CN" sz="2400" dirty="0"/>
              <a:t>1. </a:t>
            </a:r>
            <a:r>
              <a:rPr lang="zh-CN" altLang="en-US" sz="2400" dirty="0"/>
              <a:t>对于</a:t>
            </a:r>
            <a:r>
              <a:rPr lang="zh-CN" altLang="en-US" sz="2400" b="1" dirty="0">
                <a:solidFill>
                  <a:srgbClr val="FF0000"/>
                </a:solidFill>
              </a:rPr>
              <a:t>循环</a:t>
            </a:r>
            <a:r>
              <a:rPr lang="zh-CN" altLang="en-US" sz="2400" dirty="0"/>
              <a:t>，可以打出每一轮循环的关键中间结果，查看是否正确</a:t>
            </a:r>
            <a:endParaRPr lang="en-US" altLang="zh-CN" sz="2400" dirty="0"/>
          </a:p>
          <a:p>
            <a:r>
              <a:rPr lang="en-US" altLang="zh-CN" sz="2400" dirty="0"/>
              <a:t>2. </a:t>
            </a:r>
            <a:r>
              <a:rPr lang="zh-CN" altLang="en-US" sz="2400" dirty="0"/>
              <a:t>对于</a:t>
            </a:r>
            <a:r>
              <a:rPr lang="zh-CN" altLang="en-US" sz="2400" b="1" dirty="0">
                <a:solidFill>
                  <a:srgbClr val="FF0000"/>
                </a:solidFill>
              </a:rPr>
              <a:t>死循环</a:t>
            </a:r>
            <a:r>
              <a:rPr lang="zh-CN" altLang="en-US" sz="2400" dirty="0"/>
              <a:t>，打出每一轮循环的循环变量，查看是哪里出了问题</a:t>
            </a:r>
            <a:endParaRPr lang="en-US" altLang="zh-CN"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2000" y="1403659"/>
            <a:ext cx="8280000" cy="4896342"/>
          </a:xfrm>
        </p:spPr>
        <p:txBody>
          <a:bodyPr/>
          <a:lstStyle/>
          <a:p>
            <a:r>
              <a:rPr lang="zh-CN" altLang="en-US" dirty="0"/>
              <a:t>一维数组</a:t>
            </a:r>
            <a:endParaRPr lang="zh-CN" altLang="en-US" dirty="0"/>
          </a:p>
        </p:txBody>
      </p:sp>
      <p:sp>
        <p:nvSpPr>
          <p:cNvPr id="3" name="标题 2"/>
          <p:cNvSpPr>
            <a:spLocks noGrp="1"/>
          </p:cNvSpPr>
          <p:nvPr>
            <p:ph type="title"/>
          </p:nvPr>
        </p:nvSpPr>
        <p:spPr/>
        <p:txBody>
          <a:bodyPr>
            <a:normAutofit/>
          </a:bodyPr>
          <a:lstStyle/>
          <a:p>
            <a:r>
              <a:rPr lang="zh-CN" altLang="en-US" sz="3200" dirty="0">
                <a:gradFill flip="none" rotWithShape="1">
                  <a:gsLst>
                    <a:gs pos="0">
                      <a:srgbClr val="CC33CC"/>
                    </a:gs>
                    <a:gs pos="75000">
                      <a:srgbClr val="000099"/>
                    </a:gs>
                  </a:gsLst>
                  <a:lin ang="8100000" scaled="1"/>
                  <a:tileRect/>
                </a:gradFill>
              </a:rPr>
              <a:t>数据结构</a:t>
            </a:r>
            <a:r>
              <a:rPr lang="en-US" altLang="zh-CN" sz="3200" dirty="0">
                <a:gradFill flip="none" rotWithShape="1">
                  <a:gsLst>
                    <a:gs pos="0">
                      <a:srgbClr val="CC33CC"/>
                    </a:gs>
                    <a:gs pos="75000">
                      <a:srgbClr val="000099"/>
                    </a:gs>
                  </a:gsLst>
                  <a:lin ang="8100000" scaled="1"/>
                  <a:tileRect/>
                </a:gradFill>
              </a:rPr>
              <a:t>——</a:t>
            </a:r>
            <a:r>
              <a:rPr lang="zh-CN" altLang="en-US" sz="3200" dirty="0">
                <a:gradFill flip="none" rotWithShape="1">
                  <a:gsLst>
                    <a:gs pos="0">
                      <a:srgbClr val="CC33CC"/>
                    </a:gs>
                    <a:gs pos="75000">
                      <a:srgbClr val="000099"/>
                    </a:gs>
                  </a:gsLst>
                  <a:lin ang="8100000" scaled="1"/>
                  <a:tileRect/>
                </a:gradFill>
              </a:rPr>
              <a:t>数组与自定义数据类型</a:t>
            </a:r>
            <a:endParaRPr lang="zh-CN" altLang="en-US" dirty="0"/>
          </a:p>
        </p:txBody>
      </p:sp>
      <p:pic>
        <p:nvPicPr>
          <p:cNvPr id="5734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23528" y="1879113"/>
            <a:ext cx="3623545" cy="2448273"/>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4399394"/>
            <a:ext cx="3623545" cy="2413982"/>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63695" y="1899503"/>
            <a:ext cx="4872801" cy="3113673"/>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63694" y="5318537"/>
            <a:ext cx="4872801" cy="1459853"/>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二维数组</a:t>
            </a:r>
            <a:endParaRPr lang="zh-CN" altLang="en-US" dirty="0"/>
          </a:p>
        </p:txBody>
      </p:sp>
      <p:pic>
        <p:nvPicPr>
          <p:cNvPr id="58370"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7503" y="3409205"/>
            <a:ext cx="4824537" cy="3404171"/>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4047" y="1268760"/>
            <a:ext cx="4061399" cy="2685672"/>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048" y="4019993"/>
            <a:ext cx="4061399" cy="2793383"/>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372"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503" y="2073117"/>
            <a:ext cx="4824537" cy="957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数组重点</a:t>
            </a:r>
            <a:endParaRPr lang="zh-CN" altLang="en-US" dirty="0"/>
          </a:p>
        </p:txBody>
      </p:sp>
      <p:sp>
        <p:nvSpPr>
          <p:cNvPr id="3" name="内容占位符 2"/>
          <p:cNvSpPr>
            <a:spLocks noGrp="1"/>
          </p:cNvSpPr>
          <p:nvPr>
            <p:ph idx="1"/>
          </p:nvPr>
        </p:nvSpPr>
        <p:spPr>
          <a:xfrm>
            <a:off x="432000" y="1790700"/>
            <a:ext cx="8280000" cy="4509300"/>
          </a:xfrm>
        </p:spPr>
        <p:txBody>
          <a:bodyPr>
            <a:normAutofit/>
          </a:bodyPr>
          <a:lstStyle/>
          <a:p>
            <a:pPr marL="457200" indent="-457200">
              <a:buFont typeface="+mj-lt"/>
              <a:buAutoNum type="arabicPeriod"/>
            </a:pPr>
            <a:r>
              <a:rPr lang="zh-CN" altLang="en-US" sz="3200" dirty="0"/>
              <a:t>用常量定义数组长度（题目中会有暗示）</a:t>
            </a:r>
            <a:endParaRPr lang="en-US" altLang="zh-CN" sz="3200" dirty="0"/>
          </a:p>
          <a:p>
            <a:pPr marL="457200" indent="-457200">
              <a:buFont typeface="+mj-lt"/>
              <a:buAutoNum type="arabicPeriod"/>
            </a:pPr>
            <a:r>
              <a:rPr lang="zh-CN" altLang="en-US" sz="3200" dirty="0"/>
              <a:t>数组需要初始化，否则里面的数随机（全局变量除外）</a:t>
            </a:r>
            <a:endParaRPr lang="en-US" altLang="zh-CN" sz="3200" dirty="0"/>
          </a:p>
          <a:p>
            <a:pPr marL="457200" indent="-457200">
              <a:buFont typeface="+mj-lt"/>
              <a:buAutoNum type="arabicPeriod"/>
            </a:pPr>
            <a:r>
              <a:rPr lang="zh-CN" altLang="en-US" sz="3200" dirty="0"/>
              <a:t>数组一定不能越界，否则可能出各种错</a:t>
            </a:r>
            <a:endParaRPr lang="zh-CN" altLang="en-US" sz="3200" dirty="0"/>
          </a:p>
        </p:txBody>
      </p:sp>
      <p:sp>
        <p:nvSpPr>
          <p:cNvPr id="5" name="文本框 4"/>
          <p:cNvSpPr txBox="1"/>
          <p:nvPr/>
        </p:nvSpPr>
        <p:spPr>
          <a:xfrm>
            <a:off x="2261193" y="4456761"/>
            <a:ext cx="4572000" cy="1384995"/>
          </a:xfrm>
          <a:prstGeom prst="rect">
            <a:avLst/>
          </a:prstGeom>
          <a:noFill/>
        </p:spPr>
        <p:txBody>
          <a:bodyPr wrap="square">
            <a:spAutoFit/>
          </a:bodyPr>
          <a:lstStyle/>
          <a:p>
            <a:r>
              <a:rPr lang="zh-CN" altLang="en-US" sz="2800" dirty="0"/>
              <a:t>调试：</a:t>
            </a:r>
            <a:endParaRPr lang="en-US" altLang="zh-CN" sz="2800" dirty="0"/>
          </a:p>
          <a:p>
            <a:r>
              <a:rPr lang="zh-CN" altLang="en-US" sz="2800" dirty="0"/>
              <a:t>对于</a:t>
            </a:r>
            <a:r>
              <a:rPr lang="zh-CN" altLang="en-US" sz="2800" dirty="0">
                <a:solidFill>
                  <a:srgbClr val="FF0000"/>
                </a:solidFill>
              </a:rPr>
              <a:t>数组</a:t>
            </a:r>
            <a:r>
              <a:rPr lang="zh-CN" altLang="en-US" sz="2800" dirty="0"/>
              <a:t>越界，在每一次数组访问之前，打出下标值</a:t>
            </a:r>
            <a:endParaRPr lang="en-US" altLang="zh-CN"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yoj</a:t>
            </a:r>
            <a:r>
              <a:rPr lang="en-US" altLang="zh-CN" b="1" i="0" dirty="0">
                <a:effectLst/>
                <a:latin typeface="Lato" panose="020F0502020204030203" pitchFamily="34" charset="0"/>
              </a:rPr>
              <a:t>475. </a:t>
            </a:r>
            <a:r>
              <a:rPr lang="zh-CN" altLang="en-US" b="1" i="0" dirty="0">
                <a:effectLst/>
                <a:latin typeface="Lato" panose="020F0502020204030203" pitchFamily="34" charset="0"/>
              </a:rPr>
              <a:t>序列长度和大小比较</a:t>
            </a:r>
            <a:endParaRPr lang="zh-CN" altLang="en-US" dirty="0"/>
          </a:p>
        </p:txBody>
      </p:sp>
      <p:sp>
        <p:nvSpPr>
          <p:cNvPr id="3" name="内容占位符 2"/>
          <p:cNvSpPr>
            <a:spLocks noGrp="1"/>
          </p:cNvSpPr>
          <p:nvPr>
            <p:ph idx="1"/>
          </p:nvPr>
        </p:nvSpPr>
        <p:spPr>
          <a:xfrm>
            <a:off x="431999" y="1535837"/>
            <a:ext cx="8657572" cy="3482477"/>
          </a:xfrm>
        </p:spPr>
        <p:txBody>
          <a:bodyPr>
            <a:normAutofit fontScale="85000" lnSpcReduction="20000"/>
          </a:bodyPr>
          <a:lstStyle/>
          <a:p>
            <a:pPr algn="l">
              <a:lnSpc>
                <a:spcPct val="120000"/>
              </a:lnSpc>
              <a:spcBef>
                <a:spcPts val="0"/>
              </a:spcBef>
            </a:pPr>
            <a:r>
              <a:rPr lang="zh-CN" altLang="en-US" b="0" i="0" dirty="0">
                <a:effectLst/>
                <a:latin typeface="Open Sans" panose="020B0606030504020204" pitchFamily="34" charset="0"/>
              </a:rPr>
              <a:t>输入一串数字，其包含两个序列，每个序列以 </a:t>
            </a:r>
            <a:r>
              <a:rPr lang="en-US" altLang="zh-CN" b="0" i="0" dirty="0">
                <a:effectLst/>
                <a:latin typeface="Open Sans" panose="020B0606030504020204" pitchFamily="34" charset="0"/>
              </a:rPr>
              <a:t>-1 </a:t>
            </a:r>
            <a:r>
              <a:rPr lang="zh-CN" altLang="en-US" b="0" i="0" dirty="0">
                <a:effectLst/>
                <a:latin typeface="Open Sans" panose="020B0606030504020204" pitchFamily="34" charset="0"/>
              </a:rPr>
              <a:t>代表结束（类似于字符串中的 </a:t>
            </a:r>
            <a:r>
              <a:rPr lang="en-US" altLang="zh-CN" b="0" i="0" dirty="0">
                <a:effectLst/>
                <a:latin typeface="Open Sans" panose="020B0606030504020204" pitchFamily="34" charset="0"/>
              </a:rPr>
              <a:t>''</a:t>
            </a:r>
            <a:r>
              <a:rPr lang="zh-CN" altLang="en-US" b="0" i="0" dirty="0">
                <a:effectLst/>
                <a:latin typeface="Open Sans" panose="020B0606030504020204" pitchFamily="34" charset="0"/>
              </a:rPr>
              <a:t>，不计入序列长度），请输出第一个序列的长度、第二个序列的长度以及两个序列第一个不同元素的差值。</a:t>
            </a:r>
            <a:endParaRPr lang="zh-CN" altLang="en-US" b="0" i="0" dirty="0">
              <a:effectLst/>
              <a:latin typeface="Open Sans" panose="020B0606030504020204" pitchFamily="34" charset="0"/>
            </a:endParaRPr>
          </a:p>
          <a:p>
            <a:pPr algn="l">
              <a:lnSpc>
                <a:spcPct val="120000"/>
              </a:lnSpc>
              <a:spcBef>
                <a:spcPts val="0"/>
              </a:spcBef>
            </a:pPr>
            <a:r>
              <a:rPr lang="zh-CN" altLang="en-US" b="1" i="0" dirty="0">
                <a:effectLst/>
                <a:latin typeface="Open Sans" panose="020B0606030504020204" pitchFamily="34" charset="0"/>
              </a:rPr>
              <a:t>输入格式</a:t>
            </a:r>
            <a:endParaRPr lang="zh-CN" altLang="en-US" b="0" i="0" dirty="0">
              <a:effectLst/>
              <a:latin typeface="Open Sans" panose="020B0606030504020204" pitchFamily="34" charset="0"/>
            </a:endParaRPr>
          </a:p>
          <a:p>
            <a:pPr algn="l">
              <a:lnSpc>
                <a:spcPct val="120000"/>
              </a:lnSpc>
              <a:spcBef>
                <a:spcPts val="0"/>
              </a:spcBef>
            </a:pPr>
            <a:r>
              <a:rPr lang="zh-CN" altLang="en-US" b="0" i="0" dirty="0">
                <a:effectLst/>
                <a:latin typeface="Open Sans" panose="020B0606030504020204" pitchFamily="34" charset="0"/>
              </a:rPr>
              <a:t>        一串仅包含</a:t>
            </a:r>
            <a:r>
              <a:rPr lang="en-US" altLang="zh-CN" b="0" i="0" dirty="0">
                <a:effectLst/>
                <a:latin typeface="Open Sans" panose="020B0606030504020204" pitchFamily="34" charset="0"/>
              </a:rPr>
              <a:t>-1</a:t>
            </a:r>
            <a:r>
              <a:rPr lang="zh-CN" altLang="en-US" b="0" i="0" dirty="0">
                <a:effectLst/>
                <a:latin typeface="Open Sans" panose="020B0606030504020204" pitchFamily="34" charset="0"/>
              </a:rPr>
              <a:t>和若干</a:t>
            </a:r>
            <a:r>
              <a:rPr lang="en-US" altLang="zh-CN" b="0" i="0" dirty="0">
                <a:effectLst/>
                <a:latin typeface="Open Sans" panose="020B0606030504020204" pitchFamily="34" charset="0"/>
              </a:rPr>
              <a:t>int</a:t>
            </a:r>
            <a:r>
              <a:rPr lang="zh-CN" altLang="en-US" b="0" i="0" dirty="0">
                <a:effectLst/>
                <a:latin typeface="Open Sans" panose="020B0606030504020204" pitchFamily="34" charset="0"/>
              </a:rPr>
              <a:t>范围内正整数的数字序列，每个数字之间用一个空格隔开。每个序列长度至少为</a:t>
            </a:r>
            <a:r>
              <a:rPr lang="en-US" altLang="zh-CN" b="0" i="0" dirty="0">
                <a:effectLst/>
                <a:latin typeface="Open Sans" panose="020B0606030504020204" pitchFamily="34" charset="0"/>
              </a:rPr>
              <a:t>1</a:t>
            </a:r>
            <a:r>
              <a:rPr lang="zh-CN" altLang="en-US" b="0" i="0" dirty="0">
                <a:effectLst/>
                <a:latin typeface="Open Sans" panose="020B0606030504020204" pitchFamily="34" charset="0"/>
              </a:rPr>
              <a:t>，</a:t>
            </a:r>
            <a:r>
              <a:rPr lang="zh-CN" altLang="en-US" b="0" i="0" dirty="0">
                <a:solidFill>
                  <a:srgbClr val="FF0000"/>
                </a:solidFill>
                <a:effectLst/>
                <a:latin typeface="Open Sans" panose="020B0606030504020204" pitchFamily="34" charset="0"/>
              </a:rPr>
              <a:t>整个输入的数字串长度不会超过</a:t>
            </a:r>
            <a:r>
              <a:rPr lang="en-US" altLang="zh-CN" b="0" i="0" dirty="0">
                <a:solidFill>
                  <a:srgbClr val="FF0000"/>
                </a:solidFill>
                <a:effectLst/>
                <a:latin typeface="Open Sans" panose="020B0606030504020204" pitchFamily="34" charset="0"/>
              </a:rPr>
              <a:t>20</a:t>
            </a:r>
            <a:endParaRPr lang="en-US" altLang="zh-CN" b="0" i="0" dirty="0">
              <a:solidFill>
                <a:srgbClr val="FF0000"/>
              </a:solidFill>
              <a:effectLst/>
              <a:latin typeface="Open Sans" panose="020B0606030504020204" pitchFamily="34" charset="0"/>
            </a:endParaRPr>
          </a:p>
          <a:p>
            <a:pPr algn="l">
              <a:lnSpc>
                <a:spcPct val="120000"/>
              </a:lnSpc>
              <a:spcBef>
                <a:spcPts val="0"/>
              </a:spcBef>
            </a:pPr>
            <a:r>
              <a:rPr lang="zh-CN" altLang="en-US" b="1" i="0" dirty="0">
                <a:effectLst/>
                <a:latin typeface="Open Sans" panose="020B0606030504020204" pitchFamily="34" charset="0"/>
              </a:rPr>
              <a:t>输出格式</a:t>
            </a:r>
            <a:endParaRPr lang="zh-CN" altLang="en-US" b="0" i="0" dirty="0">
              <a:effectLst/>
              <a:latin typeface="Open Sans" panose="020B0606030504020204" pitchFamily="34" charset="0"/>
            </a:endParaRPr>
          </a:p>
          <a:p>
            <a:pPr algn="l">
              <a:lnSpc>
                <a:spcPct val="120000"/>
              </a:lnSpc>
              <a:spcBef>
                <a:spcPts val="0"/>
              </a:spcBef>
            </a:pPr>
            <a:r>
              <a:rPr lang="zh-CN" altLang="en-US" b="0" i="0" dirty="0">
                <a:effectLst/>
                <a:latin typeface="Open Sans" panose="020B0606030504020204" pitchFamily="34" charset="0"/>
              </a:rPr>
              <a:t>        共三行，第一行为第一个序列的长度；第二行为第二个序列的长度；第三行为两个序列第一个不同元素的差值，若</a:t>
            </a:r>
            <a:r>
              <a:rPr lang="en-US" altLang="zh-CN" b="0" i="0" dirty="0">
                <a:effectLst/>
                <a:latin typeface="Open Sans" panose="020B0606030504020204" pitchFamily="34" charset="0"/>
              </a:rPr>
              <a:t>2</a:t>
            </a:r>
            <a:r>
              <a:rPr lang="zh-CN" altLang="en-US" b="0" i="0" dirty="0">
                <a:effectLst/>
                <a:latin typeface="Open Sans" panose="020B0606030504020204" pitchFamily="34" charset="0"/>
              </a:rPr>
              <a:t>个序列完全一样，输出</a:t>
            </a:r>
            <a:r>
              <a:rPr lang="en-US" altLang="zh-CN" b="0" i="0" dirty="0">
                <a:effectLst/>
                <a:latin typeface="Open Sans" panose="020B0606030504020204" pitchFamily="34" charset="0"/>
              </a:rPr>
              <a:t>0</a:t>
            </a:r>
            <a:r>
              <a:rPr lang="zh-CN" altLang="en-US" b="0" i="0" dirty="0">
                <a:effectLst/>
                <a:latin typeface="Open Sans" panose="020B0606030504020204" pitchFamily="34" charset="0"/>
              </a:rPr>
              <a:t>，若长度较小的序列比较完仍未比较出结果，则输出</a:t>
            </a:r>
            <a:r>
              <a:rPr lang="en-US" altLang="zh-CN" b="0" i="0" dirty="0">
                <a:effectLst/>
                <a:latin typeface="Open Sans" panose="020B0606030504020204" pitchFamily="34" charset="0"/>
              </a:rPr>
              <a:t>"Not Comparable"</a:t>
            </a:r>
            <a:endParaRPr lang="en-US" altLang="zh-CN" b="0" i="0" dirty="0">
              <a:effectLst/>
              <a:latin typeface="Open Sans" panose="020B0606030504020204" pitchFamily="34" charset="0"/>
            </a:endParaRPr>
          </a:p>
          <a:p>
            <a:pPr>
              <a:lnSpc>
                <a:spcPct val="120000"/>
              </a:lnSpc>
              <a:spcBef>
                <a:spcPts val="0"/>
              </a:spcBef>
            </a:pPr>
            <a:endParaRPr lang="zh-CN" altLang="en-US" dirty="0"/>
          </a:p>
        </p:txBody>
      </p:sp>
      <p:sp>
        <p:nvSpPr>
          <p:cNvPr id="5" name="文本框 4"/>
          <p:cNvSpPr txBox="1"/>
          <p:nvPr/>
        </p:nvSpPr>
        <p:spPr>
          <a:xfrm>
            <a:off x="1415143" y="4919008"/>
            <a:ext cx="1785257" cy="1938992"/>
          </a:xfrm>
          <a:prstGeom prst="rect">
            <a:avLst/>
          </a:prstGeom>
          <a:noFill/>
        </p:spPr>
        <p:txBody>
          <a:bodyPr wrap="square">
            <a:spAutoFit/>
          </a:bodyPr>
          <a:lstStyle/>
          <a:p>
            <a:pPr algn="l"/>
            <a:r>
              <a:rPr lang="zh-CN" altLang="en-US" sz="2000" b="1" i="0" dirty="0">
                <a:effectLst/>
                <a:latin typeface="Open Sans" panose="020B0606030504020204" pitchFamily="34" charset="0"/>
              </a:rPr>
              <a:t>输入样例</a:t>
            </a:r>
            <a:endParaRPr lang="zh-CN" altLang="en-US" sz="2000" b="0" i="0" dirty="0">
              <a:effectLst/>
              <a:latin typeface="Open Sans" panose="020B0606030504020204" pitchFamily="34" charset="0"/>
            </a:endParaRPr>
          </a:p>
          <a:p>
            <a:pPr algn="l"/>
            <a:r>
              <a:rPr lang="en-US" altLang="zh-CN" sz="2000" b="0" i="0" dirty="0">
                <a:effectLst/>
                <a:latin typeface="Open Sans" panose="020B0606030504020204" pitchFamily="34" charset="0"/>
              </a:rPr>
              <a:t>1 2 -1 1 1 -1</a:t>
            </a:r>
            <a:endParaRPr lang="en-US" altLang="zh-CN" sz="2000" b="0" i="0" dirty="0">
              <a:effectLst/>
              <a:latin typeface="Open Sans" panose="020B0606030504020204" pitchFamily="34" charset="0"/>
            </a:endParaRPr>
          </a:p>
          <a:p>
            <a:pPr algn="l"/>
            <a:r>
              <a:rPr lang="zh-CN" altLang="en-US" sz="2000" b="1" i="0" dirty="0">
                <a:effectLst/>
                <a:latin typeface="Open Sans" panose="020B0606030504020204" pitchFamily="34" charset="0"/>
              </a:rPr>
              <a:t>输出样例</a:t>
            </a:r>
            <a:endParaRPr lang="zh-CN" altLang="en-US" sz="2000" b="0" i="0" dirty="0">
              <a:effectLst/>
              <a:latin typeface="Open Sans" panose="020B0606030504020204" pitchFamily="34" charset="0"/>
            </a:endParaRPr>
          </a:p>
          <a:p>
            <a:pPr algn="l"/>
            <a:r>
              <a:rPr lang="en-US" altLang="zh-CN" sz="2000" b="0" i="0" dirty="0">
                <a:effectLst/>
                <a:latin typeface="Open Sans" panose="020B0606030504020204" pitchFamily="34" charset="0"/>
              </a:rPr>
              <a:t>2</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2</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1</a:t>
            </a:r>
            <a:endParaRPr lang="en-US" altLang="zh-CN" sz="2000" b="0" i="0" dirty="0">
              <a:effectLst/>
              <a:latin typeface="Open Sans" panose="020B0606030504020204" pitchFamily="34" charset="0"/>
            </a:endParaRPr>
          </a:p>
        </p:txBody>
      </p:sp>
      <p:sp>
        <p:nvSpPr>
          <p:cNvPr id="7" name="文本框 6"/>
          <p:cNvSpPr txBox="1"/>
          <p:nvPr/>
        </p:nvSpPr>
        <p:spPr>
          <a:xfrm>
            <a:off x="3548745" y="4896817"/>
            <a:ext cx="4572000" cy="1938992"/>
          </a:xfrm>
          <a:prstGeom prst="rect">
            <a:avLst/>
          </a:prstGeom>
          <a:noFill/>
        </p:spPr>
        <p:txBody>
          <a:bodyPr wrap="square">
            <a:spAutoFit/>
          </a:bodyPr>
          <a:lstStyle/>
          <a:p>
            <a:pPr algn="l"/>
            <a:r>
              <a:rPr lang="zh-CN" altLang="en-US" sz="2000" b="1" i="0" dirty="0">
                <a:effectLst/>
                <a:latin typeface="Open Sans" panose="020B0606030504020204" pitchFamily="34" charset="0"/>
              </a:rPr>
              <a:t>输入样例</a:t>
            </a:r>
            <a:endParaRPr lang="zh-CN" altLang="en-US" sz="2000" b="0" i="0" dirty="0">
              <a:effectLst/>
              <a:latin typeface="Open Sans" panose="020B0606030504020204" pitchFamily="34" charset="0"/>
            </a:endParaRPr>
          </a:p>
          <a:p>
            <a:pPr algn="l"/>
            <a:r>
              <a:rPr lang="en-US" altLang="zh-CN" sz="2000" b="0" i="0" dirty="0">
                <a:effectLst/>
                <a:latin typeface="Open Sans" panose="020B0606030504020204" pitchFamily="34" charset="0"/>
              </a:rPr>
              <a:t>1 -1 1 -1</a:t>
            </a:r>
            <a:endParaRPr lang="en-US" altLang="zh-CN" sz="2000" b="0" i="0" dirty="0">
              <a:effectLst/>
              <a:latin typeface="Open Sans" panose="020B0606030504020204" pitchFamily="34" charset="0"/>
            </a:endParaRPr>
          </a:p>
          <a:p>
            <a:pPr algn="l"/>
            <a:r>
              <a:rPr lang="zh-CN" altLang="en-US" sz="2000" b="1" i="0" dirty="0">
                <a:effectLst/>
                <a:latin typeface="Open Sans" panose="020B0606030504020204" pitchFamily="34" charset="0"/>
              </a:rPr>
              <a:t>输出样例</a:t>
            </a:r>
            <a:endParaRPr lang="zh-CN" altLang="en-US" sz="2000" b="0" i="0" dirty="0">
              <a:effectLst/>
              <a:latin typeface="Open Sans" panose="020B0606030504020204" pitchFamily="34" charset="0"/>
            </a:endParaRPr>
          </a:p>
          <a:p>
            <a:pPr algn="l"/>
            <a:r>
              <a:rPr lang="en-US" altLang="zh-CN" sz="2000" b="0" i="0" dirty="0">
                <a:effectLst/>
                <a:latin typeface="Open Sans" panose="020B0606030504020204" pitchFamily="34" charset="0"/>
              </a:rPr>
              <a:t>1</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1</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0</a:t>
            </a:r>
            <a:endParaRPr lang="en-US" altLang="zh-CN" sz="2000" b="0" i="0" dirty="0">
              <a:effectLst/>
              <a:latin typeface="Open Sans" panose="020B0606030504020204" pitchFamily="34" charset="0"/>
            </a:endParaRPr>
          </a:p>
        </p:txBody>
      </p:sp>
      <p:sp>
        <p:nvSpPr>
          <p:cNvPr id="9" name="文本框 8"/>
          <p:cNvSpPr txBox="1"/>
          <p:nvPr/>
        </p:nvSpPr>
        <p:spPr>
          <a:xfrm>
            <a:off x="5475514" y="4907259"/>
            <a:ext cx="4572000" cy="1938992"/>
          </a:xfrm>
          <a:prstGeom prst="rect">
            <a:avLst/>
          </a:prstGeom>
          <a:noFill/>
        </p:spPr>
        <p:txBody>
          <a:bodyPr wrap="square">
            <a:spAutoFit/>
          </a:bodyPr>
          <a:lstStyle/>
          <a:p>
            <a:pPr algn="l"/>
            <a:r>
              <a:rPr lang="zh-CN" altLang="en-US" sz="2000" b="1" i="0" dirty="0">
                <a:effectLst/>
                <a:latin typeface="Open Sans" panose="020B0606030504020204" pitchFamily="34" charset="0"/>
              </a:rPr>
              <a:t>输入样例</a:t>
            </a:r>
            <a:endParaRPr lang="zh-CN" altLang="en-US" sz="2000" b="0" i="0" dirty="0">
              <a:effectLst/>
              <a:latin typeface="Open Sans" panose="020B0606030504020204" pitchFamily="34" charset="0"/>
            </a:endParaRPr>
          </a:p>
          <a:p>
            <a:pPr algn="l"/>
            <a:r>
              <a:rPr lang="en-US" altLang="zh-CN" sz="2000" b="0" i="0" dirty="0">
                <a:effectLst/>
                <a:latin typeface="Open Sans" panose="020B0606030504020204" pitchFamily="34" charset="0"/>
              </a:rPr>
              <a:t>1 -1 1 2 -1</a:t>
            </a:r>
            <a:endParaRPr lang="en-US" altLang="zh-CN" sz="2000" b="0" i="0" dirty="0">
              <a:effectLst/>
              <a:latin typeface="Open Sans" panose="020B0606030504020204" pitchFamily="34" charset="0"/>
            </a:endParaRPr>
          </a:p>
          <a:p>
            <a:pPr algn="l"/>
            <a:r>
              <a:rPr lang="zh-CN" altLang="en-US" sz="2000" b="1" i="0" dirty="0">
                <a:effectLst/>
                <a:latin typeface="Open Sans" panose="020B0606030504020204" pitchFamily="34" charset="0"/>
              </a:rPr>
              <a:t>输出样例</a:t>
            </a:r>
            <a:endParaRPr lang="zh-CN" altLang="en-US" sz="2000" b="0" i="0" dirty="0">
              <a:effectLst/>
              <a:latin typeface="Open Sans" panose="020B0606030504020204" pitchFamily="34" charset="0"/>
            </a:endParaRPr>
          </a:p>
          <a:p>
            <a:pPr algn="l"/>
            <a:r>
              <a:rPr lang="en-US" altLang="zh-CN" sz="2000" b="0" i="0" dirty="0">
                <a:effectLst/>
                <a:latin typeface="Open Sans" panose="020B0606030504020204" pitchFamily="34" charset="0"/>
              </a:rPr>
              <a:t>1</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2</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Not Comparable</a:t>
            </a:r>
            <a:endParaRPr lang="en-US" altLang="zh-CN" sz="2000" b="0" i="0" dirty="0">
              <a:effectLst/>
              <a:latin typeface="Open Sans" panose="020B0606030504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数组用法</a:t>
            </a:r>
            <a:endParaRPr lang="zh-CN" altLang="en-US" dirty="0"/>
          </a:p>
        </p:txBody>
      </p:sp>
      <p:sp>
        <p:nvSpPr>
          <p:cNvPr id="3" name="内容占位符 2"/>
          <p:cNvSpPr>
            <a:spLocks noGrp="1"/>
          </p:cNvSpPr>
          <p:nvPr>
            <p:ph idx="1"/>
          </p:nvPr>
        </p:nvSpPr>
        <p:spPr/>
        <p:txBody>
          <a:bodyPr>
            <a:normAutofit/>
          </a:bodyPr>
          <a:lstStyle/>
          <a:p>
            <a:r>
              <a:rPr lang="zh-CN" altLang="en-US" sz="2800" dirty="0"/>
              <a:t>记录输入</a:t>
            </a:r>
            <a:endParaRPr lang="en-US" altLang="zh-CN" sz="2800" dirty="0"/>
          </a:p>
          <a:p>
            <a:r>
              <a:rPr lang="zh-CN" altLang="en-US" sz="2800" dirty="0"/>
              <a:t>中间结果</a:t>
            </a:r>
            <a:endParaRPr lang="en-US" altLang="zh-CN" sz="2800" dirty="0"/>
          </a:p>
          <a:p>
            <a:pPr lvl="1"/>
            <a:r>
              <a:rPr lang="en-US" altLang="zh-CN" sz="2400" dirty="0" err="1"/>
              <a:t>cnt</a:t>
            </a:r>
            <a:r>
              <a:rPr lang="zh-CN" altLang="en-US" sz="2400" dirty="0"/>
              <a:t>（计数）</a:t>
            </a:r>
            <a:r>
              <a:rPr lang="en-US" altLang="zh-CN" sz="2400" dirty="0"/>
              <a:t>/occ</a:t>
            </a:r>
            <a:r>
              <a:rPr lang="zh-CN" altLang="en-US" sz="2400" dirty="0"/>
              <a:t>（数是否出现）</a:t>
            </a:r>
            <a:r>
              <a:rPr lang="en-US" altLang="zh-CN" sz="2400" dirty="0"/>
              <a:t>/</a:t>
            </a:r>
            <a:r>
              <a:rPr lang="zh-CN" altLang="en-US" sz="2400" dirty="0"/>
              <a:t>排序</a:t>
            </a:r>
            <a:endParaRPr lang="en-US" altLang="zh-CN" sz="2400" dirty="0"/>
          </a:p>
          <a:p>
            <a:r>
              <a:rPr lang="zh-CN" altLang="en-US" sz="2800" dirty="0"/>
              <a:t>记录结果</a:t>
            </a:r>
            <a:endParaRPr lang="en-US" altLang="zh-CN" sz="2800" dirty="0"/>
          </a:p>
          <a:p>
            <a:pPr lvl="1"/>
            <a:r>
              <a:rPr lang="zh-CN" altLang="en-US" sz="2400" dirty="0"/>
              <a:t>多个结果（后续可能排序，或只是记录）</a:t>
            </a:r>
            <a:endParaRPr lang="en-US" altLang="zh-CN" sz="2400" dirty="0"/>
          </a:p>
          <a:p>
            <a:pPr lvl="1"/>
            <a:r>
              <a:rPr lang="zh-CN" altLang="en-US" sz="2400" dirty="0"/>
              <a:t>记录枚举结果</a:t>
            </a:r>
            <a:endParaRPr lang="zh-CN"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yoj</a:t>
            </a:r>
            <a:r>
              <a:rPr lang="en-US" altLang="zh-CN" b="1" i="0" dirty="0">
                <a:effectLst/>
                <a:latin typeface="Lato" panose="020F0502020204030203" pitchFamily="34" charset="0"/>
              </a:rPr>
              <a:t>484. </a:t>
            </a:r>
            <a:r>
              <a:rPr lang="zh-CN" altLang="en-US" b="1" i="0" dirty="0">
                <a:effectLst/>
                <a:latin typeface="Lato" panose="020F0502020204030203" pitchFamily="34" charset="0"/>
              </a:rPr>
              <a:t>重复元素</a:t>
            </a:r>
            <a:endParaRPr lang="zh-CN" altLang="en-US" dirty="0"/>
          </a:p>
        </p:txBody>
      </p:sp>
      <p:sp>
        <p:nvSpPr>
          <p:cNvPr id="3" name="内容占位符 2"/>
          <p:cNvSpPr>
            <a:spLocks noGrp="1"/>
          </p:cNvSpPr>
          <p:nvPr>
            <p:ph idx="1"/>
          </p:nvPr>
        </p:nvSpPr>
        <p:spPr>
          <a:xfrm>
            <a:off x="432000" y="1535837"/>
            <a:ext cx="5032629" cy="4764163"/>
          </a:xfrm>
        </p:spPr>
        <p:txBody>
          <a:bodyPr>
            <a:normAutofit fontScale="92500" lnSpcReduction="20000"/>
          </a:bodyPr>
          <a:lstStyle/>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问题描述</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统计数列有重复的元素及其个数。已知有不超过短整型数值范围的</a:t>
            </a:r>
            <a:r>
              <a:rPr lang="en-US" altLang="zh-CN" b="0" i="0" dirty="0">
                <a:effectLst/>
                <a:latin typeface="Open Sans" panose="020B0606030504020204" pitchFamily="34" charset="0"/>
              </a:rPr>
              <a:t>n</a:t>
            </a:r>
            <a:r>
              <a:rPr lang="zh-CN" altLang="en-US" b="0" i="0" dirty="0">
                <a:effectLst/>
                <a:latin typeface="Open Sans" panose="020B0606030504020204" pitchFamily="34" charset="0"/>
              </a:rPr>
              <a:t>个数（</a:t>
            </a:r>
            <a:r>
              <a:rPr lang="en-US" altLang="zh-CN" b="0" i="0" dirty="0">
                <a:effectLst/>
                <a:latin typeface="Open Sans" panose="020B0606030504020204" pitchFamily="34" charset="0"/>
              </a:rPr>
              <a:t>n&lt;=1000</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a:t>
            </a:r>
            <a:r>
              <a:rPr lang="zh-CN" altLang="en-US" b="0" i="0" dirty="0">
                <a:effectLst/>
                <a:latin typeface="Open Sans" panose="020B0606030504020204" pitchFamily="34" charset="0"/>
              </a:rPr>
              <a:t>请查找统计有重复的数列项，按行从小到大输出有重复的项及其重复次数。</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输入格式</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两行，第一行表示数列元素的个数</a:t>
            </a:r>
            <a:r>
              <a:rPr lang="en-US" altLang="zh-CN" b="0" i="0" dirty="0">
                <a:effectLst/>
                <a:latin typeface="Open Sans" panose="020B0606030504020204" pitchFamily="34" charset="0"/>
              </a:rPr>
              <a:t>n</a:t>
            </a:r>
            <a:r>
              <a:rPr lang="zh-CN" altLang="en-US" b="0" i="0" dirty="0">
                <a:effectLst/>
                <a:latin typeface="Open Sans" panose="020B0606030504020204" pitchFamily="34" charset="0"/>
              </a:rPr>
              <a:t>；第二行为该数列的元素，以空格分隔。</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输出格式</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若干行，每行两个数，冒号分隔，分别为有重复的数项值及其重复的次数。输出顺序由数列项的值确定。若数列中没有重复项，则输出</a:t>
            </a:r>
            <a:r>
              <a:rPr lang="en-US" altLang="zh-CN" b="0" i="0" dirty="0">
                <a:effectLst/>
                <a:latin typeface="Open Sans" panose="020B0606030504020204" pitchFamily="34" charset="0"/>
              </a:rPr>
              <a:t>NO</a:t>
            </a:r>
            <a:r>
              <a:rPr lang="zh-CN" altLang="en-US" b="0" i="0" dirty="0">
                <a:effectLst/>
                <a:latin typeface="Open Sans" panose="020B0606030504020204" pitchFamily="34" charset="0"/>
              </a:rPr>
              <a:t>。</a:t>
            </a:r>
            <a:endParaRPr lang="zh-CN" altLang="en-US" b="0" i="0" dirty="0">
              <a:effectLst/>
              <a:latin typeface="Open Sans" panose="020B0606030504020204" pitchFamily="34" charset="0"/>
            </a:endParaRPr>
          </a:p>
          <a:p>
            <a:endParaRPr lang="zh-CN" altLang="en-US" dirty="0"/>
          </a:p>
        </p:txBody>
      </p:sp>
      <p:sp>
        <p:nvSpPr>
          <p:cNvPr id="5" name="文本框 4"/>
          <p:cNvSpPr txBox="1"/>
          <p:nvPr/>
        </p:nvSpPr>
        <p:spPr>
          <a:xfrm>
            <a:off x="5584370" y="2063216"/>
            <a:ext cx="4572000" cy="2246769"/>
          </a:xfrm>
          <a:prstGeom prst="rect">
            <a:avLst/>
          </a:prstGeom>
          <a:noFill/>
        </p:spPr>
        <p:txBody>
          <a:bodyPr wrap="square">
            <a:spAutoFit/>
          </a:bodyPr>
          <a:lstStyle/>
          <a:p>
            <a:pPr algn="l"/>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样例输入</a:t>
            </a:r>
            <a:r>
              <a:rPr lang="en-US" altLang="zh-CN" sz="2000" b="0" i="0" dirty="0">
                <a:effectLst/>
                <a:latin typeface="Open Sans" panose="020B0606030504020204" pitchFamily="34" charset="0"/>
              </a:rPr>
              <a:t>1】</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10</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36 30 68 38 2 30 36 30 68 30</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样例输出</a:t>
            </a:r>
            <a:r>
              <a:rPr lang="en-US" altLang="zh-CN" sz="2000" b="0" i="0" dirty="0">
                <a:effectLst/>
                <a:latin typeface="Open Sans" panose="020B0606030504020204" pitchFamily="34" charset="0"/>
              </a:rPr>
              <a:t>1】</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30:4</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36:2</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68:2</a:t>
            </a:r>
            <a:endParaRPr lang="en-US" altLang="zh-CN" sz="2000" b="0" i="0" dirty="0">
              <a:effectLst/>
              <a:latin typeface="Open Sans" panose="020B0606030504020204" pitchFamily="34" charset="0"/>
            </a:endParaRPr>
          </a:p>
        </p:txBody>
      </p:sp>
      <p:sp>
        <p:nvSpPr>
          <p:cNvPr id="7" name="文本框 6"/>
          <p:cNvSpPr txBox="1"/>
          <p:nvPr/>
        </p:nvSpPr>
        <p:spPr>
          <a:xfrm>
            <a:off x="5540826" y="4416636"/>
            <a:ext cx="3145971" cy="1631216"/>
          </a:xfrm>
          <a:prstGeom prst="rect">
            <a:avLst/>
          </a:prstGeom>
          <a:noFill/>
        </p:spPr>
        <p:txBody>
          <a:bodyPr wrap="square">
            <a:spAutoFit/>
          </a:bodyPr>
          <a:lstStyle/>
          <a:p>
            <a:pPr algn="l"/>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样例输入</a:t>
            </a:r>
            <a:r>
              <a:rPr lang="en-US" altLang="zh-CN" sz="2000" b="0" i="0" dirty="0">
                <a:effectLst/>
                <a:latin typeface="Open Sans" panose="020B0606030504020204" pitchFamily="34" charset="0"/>
              </a:rPr>
              <a:t>2】</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5</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36 30 68 38 2</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样例输出</a:t>
            </a:r>
            <a:r>
              <a:rPr lang="en-US" altLang="zh-CN" sz="2000" b="0" i="0" dirty="0">
                <a:effectLst/>
                <a:latin typeface="Open Sans" panose="020B0606030504020204" pitchFamily="34" charset="0"/>
              </a:rPr>
              <a:t>2】</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NO</a:t>
            </a:r>
            <a:endParaRPr lang="en-US" altLang="zh-CN" sz="2000" b="0" i="0" dirty="0">
              <a:effectLst/>
              <a:latin typeface="Open Sans" panose="020B0606030504020204" pitchFamily="34" charset="0"/>
            </a:endParaRPr>
          </a:p>
        </p:txBody>
      </p:sp>
      <p:sp>
        <p:nvSpPr>
          <p:cNvPr id="8" name="文本框 7"/>
          <p:cNvSpPr txBox="1"/>
          <p:nvPr/>
        </p:nvSpPr>
        <p:spPr>
          <a:xfrm>
            <a:off x="5584370" y="96995"/>
            <a:ext cx="3271158" cy="1631216"/>
          </a:xfrm>
          <a:prstGeom prst="rect">
            <a:avLst/>
          </a:prstGeom>
          <a:noFill/>
        </p:spPr>
        <p:txBody>
          <a:bodyPr wrap="square" rtlCol="0">
            <a:spAutoFit/>
          </a:bodyPr>
          <a:lstStyle/>
          <a:p>
            <a:r>
              <a:rPr lang="zh-CN" altLang="en-US" sz="2000" dirty="0">
                <a:solidFill>
                  <a:srgbClr val="FF0000"/>
                </a:solidFill>
              </a:rPr>
              <a:t>如果该重复元素不是数字，而是（有限个）人名呢？比如已知</a:t>
            </a:r>
            <a:r>
              <a:rPr lang="en-US" altLang="zh-CN" sz="2000" dirty="0">
                <a:solidFill>
                  <a:srgbClr val="FF0000"/>
                </a:solidFill>
              </a:rPr>
              <a:t>Alice</a:t>
            </a:r>
            <a:r>
              <a:rPr lang="zh-CN" altLang="en-US" sz="2000" dirty="0">
                <a:solidFill>
                  <a:srgbClr val="FF0000"/>
                </a:solidFill>
              </a:rPr>
              <a:t>，</a:t>
            </a:r>
            <a:r>
              <a:rPr lang="en-US" altLang="zh-CN" sz="2000" dirty="0">
                <a:solidFill>
                  <a:srgbClr val="FF0000"/>
                </a:solidFill>
              </a:rPr>
              <a:t>Bob</a:t>
            </a:r>
            <a:r>
              <a:rPr lang="zh-CN" altLang="en-US" sz="2000" dirty="0">
                <a:solidFill>
                  <a:srgbClr val="FF0000"/>
                </a:solidFill>
              </a:rPr>
              <a:t>，</a:t>
            </a:r>
            <a:r>
              <a:rPr lang="en-US" altLang="zh-CN" sz="2000" dirty="0">
                <a:solidFill>
                  <a:srgbClr val="FF0000"/>
                </a:solidFill>
              </a:rPr>
              <a:t>David</a:t>
            </a:r>
            <a:r>
              <a:rPr lang="zh-CN" altLang="en-US" sz="2000" dirty="0">
                <a:solidFill>
                  <a:srgbClr val="FF0000"/>
                </a:solidFill>
              </a:rPr>
              <a:t>，</a:t>
            </a:r>
            <a:r>
              <a:rPr lang="en-US" altLang="zh-CN" sz="2000" dirty="0">
                <a:solidFill>
                  <a:srgbClr val="FF0000"/>
                </a:solidFill>
              </a:rPr>
              <a:t>Robert</a:t>
            </a:r>
            <a:r>
              <a:rPr lang="zh-CN" altLang="en-US" sz="2000" dirty="0">
                <a:solidFill>
                  <a:srgbClr val="FF0000"/>
                </a:solidFill>
              </a:rPr>
              <a:t>四个人，统计他们出现的次数</a:t>
            </a:r>
            <a:endParaRPr lang="zh-CN" altLang="en-US" sz="20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yoj</a:t>
            </a:r>
            <a:r>
              <a:rPr lang="en-US" altLang="zh-CN" b="1" i="0" dirty="0">
                <a:effectLst/>
                <a:latin typeface="Lato" panose="020F0502020204030203" pitchFamily="34" charset="0"/>
              </a:rPr>
              <a:t>664. </a:t>
            </a:r>
            <a:r>
              <a:rPr lang="zh-CN" altLang="en-US" b="1" i="0" dirty="0">
                <a:effectLst/>
                <a:latin typeface="Lato" panose="020F0502020204030203" pitchFamily="34" charset="0"/>
              </a:rPr>
              <a:t>矩阵元素</a:t>
            </a:r>
            <a:r>
              <a:rPr lang="en-US" altLang="zh-CN" b="1" i="0" dirty="0">
                <a:effectLst/>
                <a:latin typeface="Lato" panose="020F0502020204030203" pitchFamily="34" charset="0"/>
              </a:rPr>
              <a:t>X</a:t>
            </a:r>
            <a:r>
              <a:rPr lang="zh-CN" altLang="en-US" b="1" i="0" dirty="0">
                <a:effectLst/>
                <a:latin typeface="Lato" panose="020F0502020204030203" pitchFamily="34" charset="0"/>
              </a:rPr>
              <a:t>近邻</a:t>
            </a:r>
            <a:endParaRPr lang="zh-CN" altLang="en-US" dirty="0"/>
          </a:p>
        </p:txBody>
      </p:sp>
      <p:sp>
        <p:nvSpPr>
          <p:cNvPr id="3" name="内容占位符 2"/>
          <p:cNvSpPr>
            <a:spLocks noGrp="1"/>
          </p:cNvSpPr>
          <p:nvPr>
            <p:ph idx="1"/>
          </p:nvPr>
        </p:nvSpPr>
        <p:spPr>
          <a:xfrm>
            <a:off x="432000" y="1535838"/>
            <a:ext cx="8230387" cy="3242992"/>
          </a:xfrm>
        </p:spPr>
        <p:txBody>
          <a:bodyPr>
            <a:normAutofit fontScale="92500" lnSpcReduction="10000"/>
          </a:bodyPr>
          <a:lstStyle/>
          <a:p>
            <a:pPr algn="l"/>
            <a:r>
              <a:rPr lang="en-US" altLang="zh-CN" b="0"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问题描述</a:t>
            </a:r>
            <a:r>
              <a:rPr lang="en-US" altLang="zh-CN"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有一个</a:t>
            </a:r>
            <a:r>
              <a:rPr lang="en-US" altLang="zh-CN" b="0" i="0" dirty="0">
                <a:effectLst/>
                <a:latin typeface="宋体" panose="02010600030101010101" pitchFamily="2" charset="-122"/>
                <a:ea typeface="宋体" panose="02010600030101010101" pitchFamily="2" charset="-122"/>
              </a:rPr>
              <a:t>m</a:t>
            </a:r>
            <a:r>
              <a:rPr lang="zh-CN" altLang="en-US" b="0" i="0" dirty="0">
                <a:effectLst/>
                <a:latin typeface="宋体" panose="02010600030101010101" pitchFamily="2" charset="-122"/>
                <a:ea typeface="宋体" panose="02010600030101010101" pitchFamily="2" charset="-122"/>
              </a:rPr>
              <a:t>行</a:t>
            </a:r>
            <a:r>
              <a:rPr lang="en-US" altLang="zh-CN" b="0" i="0" dirty="0">
                <a:effectLst/>
                <a:latin typeface="宋体" panose="02010600030101010101" pitchFamily="2" charset="-122"/>
                <a:ea typeface="宋体" panose="02010600030101010101" pitchFamily="2" charset="-122"/>
              </a:rPr>
              <a:t>n</a:t>
            </a:r>
            <a:r>
              <a:rPr lang="zh-CN" altLang="en-US" b="0" i="0" dirty="0">
                <a:effectLst/>
                <a:latin typeface="宋体" panose="02010600030101010101" pitchFamily="2" charset="-122"/>
                <a:ea typeface="宋体" panose="02010600030101010101" pitchFamily="2" charset="-122"/>
              </a:rPr>
              <a:t>列的正整数矩阵，请你找出其中满足如下条件的位置：该位置上的数字与其</a:t>
            </a:r>
            <a:r>
              <a:rPr lang="en-US" altLang="zh-CN" b="0" i="0" dirty="0">
                <a:effectLst/>
                <a:latin typeface="宋体" panose="02010600030101010101" pitchFamily="2" charset="-122"/>
                <a:ea typeface="宋体" panose="02010600030101010101" pitchFamily="2" charset="-122"/>
              </a:rPr>
              <a:t>X</a:t>
            </a:r>
            <a:r>
              <a:rPr lang="zh-CN" altLang="en-US" b="0" i="0" dirty="0">
                <a:effectLst/>
                <a:latin typeface="宋体" panose="02010600030101010101" pitchFamily="2" charset="-122"/>
                <a:ea typeface="宋体" panose="02010600030101010101" pitchFamily="2" charset="-122"/>
              </a:rPr>
              <a:t>近邻上的数字之和</a:t>
            </a:r>
            <a:r>
              <a:rPr lang="zh-CN" altLang="en-US" b="1" i="0" dirty="0">
                <a:effectLst/>
                <a:latin typeface="宋体" panose="02010600030101010101" pitchFamily="2" charset="-122"/>
                <a:ea typeface="宋体" panose="02010600030101010101" pitchFamily="2" charset="-122"/>
              </a:rPr>
              <a:t>最小</a:t>
            </a:r>
            <a:r>
              <a:rPr lang="zh-CN" altLang="en-US" b="0" i="0" dirty="0">
                <a:effectLst/>
                <a:latin typeface="宋体" panose="02010600030101010101" pitchFamily="2" charset="-122"/>
                <a:ea typeface="宋体" panose="02010600030101010101" pitchFamily="2" charset="-122"/>
              </a:rPr>
              <a:t>。如果有多个位置可以得到同一个最小值，则按</a:t>
            </a:r>
            <a:r>
              <a:rPr lang="zh-CN" altLang="en-US" b="1" i="0" dirty="0">
                <a:effectLst/>
                <a:latin typeface="宋体" panose="02010600030101010101" pitchFamily="2" charset="-122"/>
                <a:ea typeface="宋体" panose="02010600030101010101" pitchFamily="2" charset="-122"/>
              </a:rPr>
              <a:t>行列逆序从下往上、从右向左</a:t>
            </a:r>
            <a:r>
              <a:rPr lang="zh-CN" altLang="en-US" b="0" i="0" dirty="0">
                <a:effectLst/>
                <a:latin typeface="宋体" panose="02010600030101010101" pitchFamily="2" charset="-122"/>
                <a:ea typeface="宋体" panose="02010600030101010101" pitchFamily="2" charset="-122"/>
              </a:rPr>
              <a:t>输出所有位置。所谓</a:t>
            </a:r>
            <a:r>
              <a:rPr lang="en-US" altLang="zh-CN" b="1" i="0" dirty="0">
                <a:effectLst/>
                <a:latin typeface="宋体" panose="02010600030101010101" pitchFamily="2" charset="-122"/>
                <a:ea typeface="宋体" panose="02010600030101010101" pitchFamily="2" charset="-122"/>
              </a:rPr>
              <a:t>X</a:t>
            </a:r>
            <a:r>
              <a:rPr lang="zh-CN" altLang="en-US" b="1" i="0" dirty="0">
                <a:effectLst/>
                <a:latin typeface="宋体" panose="02010600030101010101" pitchFamily="2" charset="-122"/>
                <a:ea typeface="宋体" panose="02010600030101010101" pitchFamily="2" charset="-122"/>
              </a:rPr>
              <a:t>近邻</a:t>
            </a:r>
            <a:r>
              <a:rPr lang="zh-CN" altLang="en-US" b="0" i="0" dirty="0">
                <a:effectLst/>
                <a:latin typeface="宋体" panose="02010600030101010101" pitchFamily="2" charset="-122"/>
                <a:ea typeface="宋体" panose="02010600030101010101" pitchFamily="2" charset="-122"/>
              </a:rPr>
              <a:t>，指把行列矩阵元素看作一个个方格时，格子周围只有顶点与它相连的临近方格。例如：下面的矩阵中，深色格子的</a:t>
            </a:r>
            <a:r>
              <a:rPr lang="en-US" altLang="zh-CN" b="0" i="0" dirty="0">
                <a:effectLst/>
                <a:latin typeface="宋体" panose="02010600030101010101" pitchFamily="2" charset="-122"/>
                <a:ea typeface="宋体" panose="02010600030101010101" pitchFamily="2" charset="-122"/>
              </a:rPr>
              <a:t>X</a:t>
            </a:r>
            <a:r>
              <a:rPr lang="zh-CN" altLang="en-US" b="0" i="0" dirty="0">
                <a:effectLst/>
                <a:latin typeface="宋体" panose="02010600030101010101" pitchFamily="2" charset="-122"/>
                <a:ea typeface="宋体" panose="02010600030101010101" pitchFamily="2" charset="-122"/>
              </a:rPr>
              <a:t>近邻已经用浅色标出。注意，靠边和角落上格子的</a:t>
            </a:r>
            <a:r>
              <a:rPr lang="en-US" altLang="zh-CN" b="0" i="0" dirty="0">
                <a:effectLst/>
                <a:latin typeface="宋体" panose="02010600030101010101" pitchFamily="2" charset="-122"/>
                <a:ea typeface="宋体" panose="02010600030101010101" pitchFamily="2" charset="-122"/>
              </a:rPr>
              <a:t>X</a:t>
            </a:r>
            <a:r>
              <a:rPr lang="zh-CN" altLang="en-US" b="0" i="0" dirty="0">
                <a:effectLst/>
                <a:latin typeface="宋体" panose="02010600030101010101" pitchFamily="2" charset="-122"/>
                <a:ea typeface="宋体" panose="02010600030101010101" pitchFamily="2" charset="-122"/>
              </a:rPr>
              <a:t>近邻格子分别只有</a:t>
            </a:r>
            <a:r>
              <a:rPr lang="en-US" altLang="zh-CN" b="0" i="0" dirty="0">
                <a:effectLst/>
                <a:latin typeface="宋体" panose="02010600030101010101" pitchFamily="2" charset="-122"/>
                <a:ea typeface="宋体" panose="02010600030101010101" pitchFamily="2" charset="-122"/>
              </a:rPr>
              <a:t>2</a:t>
            </a:r>
            <a:r>
              <a:rPr lang="zh-CN" altLang="en-US" b="0" i="0" dirty="0">
                <a:effectLst/>
                <a:latin typeface="宋体" panose="02010600030101010101" pitchFamily="2" charset="-122"/>
                <a:ea typeface="宋体" panose="02010600030101010101" pitchFamily="2" charset="-122"/>
              </a:rPr>
              <a:t>个和</a:t>
            </a:r>
            <a:r>
              <a:rPr lang="en-US" altLang="zh-CN" b="0" i="0" dirty="0">
                <a:effectLst/>
                <a:latin typeface="宋体" panose="02010600030101010101" pitchFamily="2" charset="-122"/>
                <a:ea typeface="宋体" panose="02010600030101010101" pitchFamily="2" charset="-122"/>
              </a:rPr>
              <a:t>1</a:t>
            </a:r>
            <a:r>
              <a:rPr lang="zh-CN" altLang="en-US" b="0" i="0" dirty="0">
                <a:effectLst/>
                <a:latin typeface="宋体" panose="02010600030101010101" pitchFamily="2" charset="-122"/>
                <a:ea typeface="宋体" panose="02010600030101010101" pitchFamily="2" charset="-122"/>
              </a:rPr>
              <a:t>个近邻。</a:t>
            </a:r>
            <a:r>
              <a:rPr lang="en-US" altLang="zh-CN" b="0" i="0" dirty="0">
                <a:effectLst/>
                <a:latin typeface="宋体" panose="02010600030101010101" pitchFamily="2" charset="-122"/>
                <a:ea typeface="宋体" panose="02010600030101010101" pitchFamily="2" charset="-122"/>
              </a:rPr>
              <a:t>X</a:t>
            </a:r>
            <a:r>
              <a:rPr lang="zh-CN" altLang="en-US" b="0" i="0" dirty="0">
                <a:effectLst/>
                <a:latin typeface="宋体" panose="02010600030101010101" pitchFamily="2" charset="-122"/>
                <a:ea typeface="宋体" panose="02010600030101010101" pitchFamily="2" charset="-122"/>
              </a:rPr>
              <a:t>近邻累加和不会超过基本整型的范围。不必考虑所有位置的</a:t>
            </a:r>
            <a:r>
              <a:rPr lang="en-US" altLang="zh-CN" b="0" i="0" dirty="0">
                <a:effectLst/>
                <a:latin typeface="宋体" panose="02010600030101010101" pitchFamily="2" charset="-122"/>
                <a:ea typeface="宋体" panose="02010600030101010101" pitchFamily="2" charset="-122"/>
              </a:rPr>
              <a:t>X</a:t>
            </a:r>
            <a:r>
              <a:rPr lang="zh-CN" altLang="en-US" b="0" i="0" dirty="0">
                <a:effectLst/>
                <a:latin typeface="宋体" panose="02010600030101010101" pitchFamily="2" charset="-122"/>
                <a:ea typeface="宋体" panose="02010600030101010101" pitchFamily="2" charset="-122"/>
              </a:rPr>
              <a:t>近邻累加和都相等的情形。</a:t>
            </a:r>
            <a:endParaRPr lang="zh-CN" altLang="en-US" b="0" i="0" dirty="0">
              <a:effectLst/>
              <a:latin typeface="Open Sans" panose="020B0606030504020204" pitchFamily="34" charset="0"/>
            </a:endParaRPr>
          </a:p>
          <a:p>
            <a:endParaRPr lang="zh-CN" altLang="en-US" dirty="0"/>
          </a:p>
        </p:txBody>
      </p:sp>
      <p:pic>
        <p:nvPicPr>
          <p:cNvPr id="512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68261" y="4442732"/>
            <a:ext cx="6191250" cy="2305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2000" y="424543"/>
            <a:ext cx="8280000" cy="5875457"/>
          </a:xfrm>
        </p:spPr>
        <p:txBody>
          <a:bodyPr/>
          <a:lstStyle/>
          <a:p>
            <a:r>
              <a:rPr lang="en-US" altLang="zh-CN" sz="1800" kern="100" dirty="0">
                <a:effectLst/>
                <a:latin typeface="等线" panose="02010600030101010101" charset="-122"/>
                <a:ea typeface="等线" panose="02010600030101010101" charset="-122"/>
                <a:cs typeface="Times New Roman" panose="02020603050405020304" pitchFamily="18" charset="0"/>
              </a:rPr>
              <a:t>By </a:t>
            </a:r>
            <a:r>
              <a:rPr lang="zh-CN" altLang="zh-CN" sz="1800" kern="100" dirty="0">
                <a:effectLst/>
                <a:latin typeface="等线" panose="02010600030101010101" charset="-122"/>
                <a:ea typeface="等线" panose="02010600030101010101" charset="-122"/>
                <a:cs typeface="Times New Roman" panose="02020603050405020304" pitchFamily="18" charset="0"/>
              </a:rPr>
              <a:t>马咏翔</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endParaRPr lang="zh-CN" altLang="en-US" dirty="0"/>
          </a:p>
        </p:txBody>
      </p:sp>
      <p:pic>
        <p:nvPicPr>
          <p:cNvPr id="7" name="图片 6"/>
          <p:cNvPicPr>
            <a:picLocks noChangeAspect="1"/>
          </p:cNvPicPr>
          <p:nvPr/>
        </p:nvPicPr>
        <p:blipFill>
          <a:blip r:embed="rId1"/>
          <a:stretch>
            <a:fillRect/>
          </a:stretch>
        </p:blipFill>
        <p:spPr>
          <a:xfrm>
            <a:off x="1379284" y="3141986"/>
            <a:ext cx="6648082" cy="2646386"/>
          </a:xfrm>
          <a:prstGeom prst="rect">
            <a:avLst/>
          </a:prstGeom>
        </p:spPr>
      </p:pic>
      <p:pic>
        <p:nvPicPr>
          <p:cNvPr id="5" name="图片 4"/>
          <p:cNvPicPr>
            <a:picLocks noChangeAspect="1"/>
          </p:cNvPicPr>
          <p:nvPr/>
        </p:nvPicPr>
        <p:blipFill>
          <a:blip r:embed="rId2"/>
          <a:stretch>
            <a:fillRect/>
          </a:stretch>
        </p:blipFill>
        <p:spPr>
          <a:xfrm>
            <a:off x="1379284" y="1366201"/>
            <a:ext cx="6823608" cy="206279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Yoj134. </a:t>
            </a:r>
            <a:r>
              <a:rPr lang="zh-CN" altLang="en-US" dirty="0"/>
              <a:t>猜数字</a:t>
            </a:r>
            <a:endParaRPr lang="zh-CN" altLang="en-US" dirty="0"/>
          </a:p>
        </p:txBody>
      </p:sp>
      <p:sp>
        <p:nvSpPr>
          <p:cNvPr id="6" name="内容占位符 2"/>
          <p:cNvSpPr>
            <a:spLocks noGrp="1"/>
          </p:cNvSpPr>
          <p:nvPr>
            <p:ph idx="1"/>
          </p:nvPr>
        </p:nvSpPr>
        <p:spPr>
          <a:xfrm>
            <a:off x="432000" y="1535837"/>
            <a:ext cx="6670929" cy="4764163"/>
          </a:xfrm>
        </p:spPr>
        <p:txBody>
          <a:bodyPr>
            <a:normAutofit fontScale="92500" lnSpcReduction="10000"/>
          </a:bodyPr>
          <a:lstStyle/>
          <a:p>
            <a:pPr algn="l">
              <a:lnSpc>
                <a:spcPct val="120000"/>
              </a:lnSpc>
              <a:spcBef>
                <a:spcPts val="0"/>
              </a:spcBef>
            </a:pPr>
            <a:r>
              <a:rPr lang="zh-CN" altLang="en-US" sz="1600" b="0" i="0" dirty="0">
                <a:effectLst/>
                <a:latin typeface="Open Sans" panose="020B0606030504020204" pitchFamily="34" charset="0"/>
              </a:rPr>
              <a:t>猜数字游戏是文曲星上的一款打发时间的小游戏。游戏的规则是这样的：计算机随机产生一个四位数，然后玩家猜这个四位数是什么。每猜一个数，计算机都会告诉玩家猜对几个数字，其中有几个数字在正确的位置上。 　　比如计算机随机产生的数字为</a:t>
            </a:r>
            <a:r>
              <a:rPr lang="en-US" altLang="zh-CN" sz="1600" b="0" i="0" dirty="0">
                <a:effectLst/>
                <a:latin typeface="Open Sans" panose="020B0606030504020204" pitchFamily="34" charset="0"/>
              </a:rPr>
              <a:t>1122</a:t>
            </a:r>
            <a:r>
              <a:rPr lang="zh-CN" altLang="en-US" sz="1600" b="0" i="0" dirty="0">
                <a:effectLst/>
                <a:latin typeface="Open Sans" panose="020B0606030504020204" pitchFamily="34" charset="0"/>
              </a:rPr>
              <a:t>。如果玩家猜</a:t>
            </a:r>
            <a:r>
              <a:rPr lang="en-US" altLang="zh-CN" sz="1600" b="0" i="0" dirty="0">
                <a:effectLst/>
                <a:latin typeface="Open Sans" panose="020B0606030504020204" pitchFamily="34" charset="0"/>
              </a:rPr>
              <a:t>1234,</a:t>
            </a:r>
            <a:r>
              <a:rPr lang="zh-CN" altLang="en-US" sz="1600" b="0" i="0" dirty="0">
                <a:effectLst/>
                <a:latin typeface="Open Sans" panose="020B0606030504020204" pitchFamily="34" charset="0"/>
              </a:rPr>
              <a:t>因为</a:t>
            </a:r>
            <a:r>
              <a:rPr lang="en-US" altLang="zh-CN" sz="1600" b="0" i="0" dirty="0">
                <a:effectLst/>
                <a:latin typeface="Open Sans" panose="020B0606030504020204" pitchFamily="34" charset="0"/>
              </a:rPr>
              <a:t>1,2</a:t>
            </a:r>
            <a:r>
              <a:rPr lang="zh-CN" altLang="en-US" sz="1600" b="0" i="0" dirty="0">
                <a:effectLst/>
                <a:latin typeface="Open Sans" panose="020B0606030504020204" pitchFamily="34" charset="0"/>
              </a:rPr>
              <a:t>这两个数字同时存在于这两个数中，而且</a:t>
            </a:r>
            <a:r>
              <a:rPr lang="en-US" altLang="zh-CN" sz="1600" b="0" i="0" dirty="0">
                <a:effectLst/>
                <a:latin typeface="Open Sans" panose="020B0606030504020204" pitchFamily="34" charset="0"/>
              </a:rPr>
              <a:t>1</a:t>
            </a:r>
            <a:r>
              <a:rPr lang="zh-CN" altLang="en-US" sz="1600" b="0" i="0" dirty="0">
                <a:effectLst/>
                <a:latin typeface="Open Sans" panose="020B0606030504020204" pitchFamily="34" charset="0"/>
              </a:rPr>
              <a:t>在这两个数中的位置是相同的，所以计算机会告诉玩家猜对了</a:t>
            </a:r>
            <a:r>
              <a:rPr lang="en-US" altLang="zh-CN" sz="1600" b="0" i="0" dirty="0">
                <a:effectLst/>
                <a:latin typeface="Open Sans" panose="020B0606030504020204" pitchFamily="34" charset="0"/>
              </a:rPr>
              <a:t>2</a:t>
            </a:r>
            <a:r>
              <a:rPr lang="zh-CN" altLang="en-US" sz="1600" b="0" i="0" dirty="0">
                <a:effectLst/>
                <a:latin typeface="Open Sans" panose="020B0606030504020204" pitchFamily="34" charset="0"/>
              </a:rPr>
              <a:t>个数字，其中一个在正确的位置。如果玩家猜</a:t>
            </a:r>
            <a:r>
              <a:rPr lang="en-US" altLang="zh-CN" sz="1600" b="0" i="0" dirty="0">
                <a:effectLst/>
                <a:latin typeface="Open Sans" panose="020B0606030504020204" pitchFamily="34" charset="0"/>
              </a:rPr>
              <a:t>1111,</a:t>
            </a:r>
            <a:r>
              <a:rPr lang="zh-CN" altLang="en-US" sz="1600" b="0" i="0" dirty="0">
                <a:effectLst/>
                <a:latin typeface="Open Sans" panose="020B0606030504020204" pitchFamily="34" charset="0"/>
              </a:rPr>
              <a:t>那么计算机会告诉他猜对</a:t>
            </a:r>
            <a:r>
              <a:rPr lang="en-US" altLang="zh-CN" sz="1600" b="0" i="0" dirty="0">
                <a:effectLst/>
                <a:latin typeface="Open Sans" panose="020B0606030504020204" pitchFamily="34" charset="0"/>
              </a:rPr>
              <a:t>2</a:t>
            </a:r>
            <a:r>
              <a:rPr lang="zh-CN" altLang="en-US" sz="1600" b="0" i="0" dirty="0">
                <a:effectLst/>
                <a:latin typeface="Open Sans" panose="020B0606030504020204" pitchFamily="34" charset="0"/>
              </a:rPr>
              <a:t>个数字，有</a:t>
            </a:r>
            <a:r>
              <a:rPr lang="en-US" altLang="zh-CN" sz="1600" b="0" i="0" dirty="0">
                <a:effectLst/>
                <a:latin typeface="Open Sans" panose="020B0606030504020204" pitchFamily="34" charset="0"/>
              </a:rPr>
              <a:t>2</a:t>
            </a:r>
            <a:r>
              <a:rPr lang="zh-CN" altLang="en-US" sz="1600" b="0" i="0" dirty="0">
                <a:effectLst/>
                <a:latin typeface="Open Sans" panose="020B0606030504020204" pitchFamily="34" charset="0"/>
              </a:rPr>
              <a:t>个在正确的位置。 　　现在给你一段猜数字的过程，你的任务是根据这段对话确定这个四位数是什么。</a:t>
            </a:r>
            <a:endParaRPr lang="zh-CN" altLang="en-US" sz="1600" b="0" i="0" dirty="0">
              <a:effectLst/>
              <a:latin typeface="Open Sans" panose="020B0606030504020204" pitchFamily="34" charset="0"/>
            </a:endParaRPr>
          </a:p>
          <a:p>
            <a:pPr algn="l">
              <a:lnSpc>
                <a:spcPct val="120000"/>
              </a:lnSpc>
              <a:spcBef>
                <a:spcPts val="0"/>
              </a:spcBef>
            </a:pPr>
            <a:r>
              <a:rPr lang="zh-CN" altLang="en-US" sz="1600" b="0" i="0" dirty="0">
                <a:effectLst/>
                <a:latin typeface="Open Sans" panose="020B0606030504020204" pitchFamily="34" charset="0"/>
              </a:rPr>
              <a:t>输入格式</a:t>
            </a:r>
            <a:endParaRPr lang="zh-CN" altLang="en-US" sz="1600" b="0" i="0" dirty="0">
              <a:effectLst/>
              <a:latin typeface="Open Sans" panose="020B0606030504020204" pitchFamily="34" charset="0"/>
            </a:endParaRPr>
          </a:p>
          <a:p>
            <a:pPr algn="l">
              <a:lnSpc>
                <a:spcPct val="120000"/>
              </a:lnSpc>
              <a:spcBef>
                <a:spcPts val="0"/>
              </a:spcBef>
            </a:pPr>
            <a:r>
              <a:rPr lang="zh-CN" altLang="en-US" sz="1600" b="0" i="0" dirty="0">
                <a:effectLst/>
                <a:latin typeface="Open Sans" panose="020B0606030504020204" pitchFamily="34" charset="0"/>
              </a:rPr>
              <a:t>　　输入第一行为一个正整数</a:t>
            </a:r>
            <a:r>
              <a:rPr lang="en-US" altLang="zh-CN" sz="1600" b="0" i="0" dirty="0">
                <a:effectLst/>
                <a:latin typeface="Open Sans" panose="020B0606030504020204" pitchFamily="34" charset="0"/>
              </a:rPr>
              <a:t>N(1&lt;=N&lt;=10)</a:t>
            </a:r>
            <a:r>
              <a:rPr lang="zh-CN" altLang="en-US" sz="1600" b="0" i="0" dirty="0">
                <a:effectLst/>
                <a:latin typeface="Open Sans" panose="020B0606030504020204" pitchFamily="34" charset="0"/>
              </a:rPr>
              <a:t>，表示在这段对话中共有</a:t>
            </a:r>
            <a:r>
              <a:rPr lang="en-US" altLang="zh-CN" sz="1600" b="0" i="0" dirty="0">
                <a:effectLst/>
                <a:latin typeface="Open Sans" panose="020B0606030504020204" pitchFamily="34" charset="0"/>
              </a:rPr>
              <a:t>N</a:t>
            </a:r>
            <a:r>
              <a:rPr lang="zh-CN" altLang="en-US" sz="1600" b="0" i="0" dirty="0">
                <a:effectLst/>
                <a:latin typeface="Open Sans" panose="020B0606030504020204" pitchFamily="34" charset="0"/>
              </a:rPr>
              <a:t>次问答（不允许出现重复问答）。在接下来的</a:t>
            </a:r>
            <a:r>
              <a:rPr lang="en-US" altLang="zh-CN" sz="1600" b="0" i="0" dirty="0">
                <a:effectLst/>
                <a:latin typeface="Open Sans" panose="020B0606030504020204" pitchFamily="34" charset="0"/>
              </a:rPr>
              <a:t>N</a:t>
            </a:r>
            <a:r>
              <a:rPr lang="zh-CN" altLang="en-US" sz="1600" b="0" i="0" dirty="0">
                <a:effectLst/>
                <a:latin typeface="Open Sans" panose="020B0606030504020204" pitchFamily="34" charset="0"/>
              </a:rPr>
              <a:t>行中，每行三个整数</a:t>
            </a:r>
            <a:r>
              <a:rPr lang="en-US" altLang="zh-CN" sz="1600" b="0" i="0" dirty="0">
                <a:effectLst/>
                <a:latin typeface="Open Sans" panose="020B0606030504020204" pitchFamily="34" charset="0"/>
              </a:rPr>
              <a:t>A,B,C</a:t>
            </a:r>
            <a:r>
              <a:rPr lang="zh-CN" altLang="en-US" sz="1600" b="0" i="0" dirty="0">
                <a:effectLst/>
                <a:latin typeface="Open Sans" panose="020B0606030504020204" pitchFamily="34" charset="0"/>
              </a:rPr>
              <a:t>。游戏者猜这个四位数为</a:t>
            </a:r>
            <a:r>
              <a:rPr lang="en-US" altLang="zh-CN" sz="1600" b="0" i="0" dirty="0">
                <a:effectLst/>
                <a:latin typeface="Open Sans" panose="020B0606030504020204" pitchFamily="34" charset="0"/>
              </a:rPr>
              <a:t>A</a:t>
            </a:r>
            <a:r>
              <a:rPr lang="zh-CN" altLang="en-US" sz="1600" b="0" i="0" dirty="0">
                <a:effectLst/>
                <a:latin typeface="Open Sans" panose="020B0606030504020204" pitchFamily="34" charset="0"/>
              </a:rPr>
              <a:t>，然后计算机回答猜对了</a:t>
            </a:r>
            <a:r>
              <a:rPr lang="en-US" altLang="zh-CN" sz="1600" b="0" i="0" dirty="0">
                <a:effectLst/>
                <a:latin typeface="Open Sans" panose="020B0606030504020204" pitchFamily="34" charset="0"/>
              </a:rPr>
              <a:t>B</a:t>
            </a:r>
            <a:r>
              <a:rPr lang="zh-CN" altLang="en-US" sz="1600" b="0" i="0" dirty="0">
                <a:effectLst/>
                <a:latin typeface="Open Sans" panose="020B0606030504020204" pitchFamily="34" charset="0"/>
              </a:rPr>
              <a:t>个数字，其中</a:t>
            </a:r>
            <a:r>
              <a:rPr lang="en-US" altLang="zh-CN" sz="1600" b="0" i="0" dirty="0">
                <a:effectLst/>
                <a:latin typeface="Open Sans" panose="020B0606030504020204" pitchFamily="34" charset="0"/>
              </a:rPr>
              <a:t>C</a:t>
            </a:r>
            <a:r>
              <a:rPr lang="zh-CN" altLang="en-US" sz="1600" b="0" i="0" dirty="0">
                <a:effectLst/>
                <a:latin typeface="Open Sans" panose="020B0606030504020204" pitchFamily="34" charset="0"/>
              </a:rPr>
              <a:t>个在正确的位置上。</a:t>
            </a:r>
            <a:br>
              <a:rPr lang="zh-CN" altLang="en-US" sz="1600" b="0" i="0" dirty="0">
                <a:effectLst/>
                <a:latin typeface="Open Sans" panose="020B0606030504020204" pitchFamily="34" charset="0"/>
              </a:rPr>
            </a:br>
            <a:endParaRPr lang="zh-CN" altLang="en-US" sz="1600" b="0" i="0" dirty="0">
              <a:effectLst/>
              <a:latin typeface="Open Sans" panose="020B0606030504020204" pitchFamily="34" charset="0"/>
            </a:endParaRPr>
          </a:p>
          <a:p>
            <a:pPr algn="l">
              <a:lnSpc>
                <a:spcPct val="120000"/>
              </a:lnSpc>
              <a:spcBef>
                <a:spcPts val="0"/>
              </a:spcBef>
            </a:pPr>
            <a:r>
              <a:rPr lang="zh-CN" altLang="en-US" sz="1600" b="0" i="0" dirty="0">
                <a:effectLst/>
                <a:latin typeface="Open Sans" panose="020B0606030504020204" pitchFamily="34" charset="0"/>
              </a:rPr>
              <a:t>输出格式</a:t>
            </a:r>
            <a:endParaRPr lang="zh-CN" altLang="en-US" sz="1600" b="0" i="0" dirty="0">
              <a:effectLst/>
              <a:latin typeface="Open Sans" panose="020B0606030504020204" pitchFamily="34" charset="0"/>
            </a:endParaRPr>
          </a:p>
          <a:p>
            <a:pPr algn="l">
              <a:lnSpc>
                <a:spcPct val="120000"/>
              </a:lnSpc>
              <a:spcBef>
                <a:spcPts val="0"/>
              </a:spcBef>
            </a:pPr>
            <a:r>
              <a:rPr lang="zh-CN" altLang="en-US" sz="1600" b="0" i="0" dirty="0">
                <a:effectLst/>
                <a:latin typeface="Open Sans" panose="020B0606030504020204" pitchFamily="34" charset="0"/>
              </a:rPr>
              <a:t>　　一行，如果根据这段对话能确定这个四位数，则输出这个四位数，若不能，则输出</a:t>
            </a:r>
            <a:r>
              <a:rPr lang="en-US" altLang="zh-CN" sz="1600" b="0" i="0" dirty="0">
                <a:effectLst/>
                <a:latin typeface="Open Sans" panose="020B0606030504020204" pitchFamily="34" charset="0"/>
              </a:rPr>
              <a:t>"Not sure"</a:t>
            </a:r>
            <a:r>
              <a:rPr lang="zh-CN" altLang="en-US" sz="1600" b="0" i="0" dirty="0">
                <a:effectLst/>
                <a:latin typeface="Open Sans" panose="020B0606030504020204" pitchFamily="34" charset="0"/>
              </a:rPr>
              <a:t>。</a:t>
            </a:r>
            <a:br>
              <a:rPr lang="zh-CN" altLang="en-US" sz="1600" b="0" i="0" dirty="0">
                <a:effectLst/>
                <a:latin typeface="Open Sans" panose="020B0606030504020204" pitchFamily="34" charset="0"/>
              </a:rPr>
            </a:br>
            <a:endParaRPr lang="zh-CN" altLang="en-US" sz="1600" b="0" i="0" dirty="0">
              <a:effectLst/>
              <a:latin typeface="Open Sans" panose="020B0606030504020204" pitchFamily="34" charset="0"/>
            </a:endParaRPr>
          </a:p>
          <a:p>
            <a:pPr>
              <a:lnSpc>
                <a:spcPct val="120000"/>
              </a:lnSpc>
              <a:spcBef>
                <a:spcPts val="0"/>
              </a:spcBef>
            </a:pPr>
            <a:endParaRPr lang="zh-CN" altLang="en-US" sz="1600" dirty="0"/>
          </a:p>
        </p:txBody>
      </p:sp>
      <p:sp>
        <p:nvSpPr>
          <p:cNvPr id="7" name="文本框 6"/>
          <p:cNvSpPr txBox="1"/>
          <p:nvPr/>
        </p:nvSpPr>
        <p:spPr>
          <a:xfrm>
            <a:off x="7489372" y="2252714"/>
            <a:ext cx="1273628" cy="3139321"/>
          </a:xfrm>
          <a:prstGeom prst="rect">
            <a:avLst/>
          </a:prstGeom>
          <a:noFill/>
        </p:spPr>
        <p:txBody>
          <a:bodyPr wrap="square">
            <a:spAutoFit/>
          </a:bodyPr>
          <a:lstStyle/>
          <a:p>
            <a:pPr algn="l"/>
            <a:r>
              <a:rPr lang="zh-CN" altLang="en-US" b="0" i="0" dirty="0">
                <a:effectLst/>
                <a:latin typeface="Open Sans" panose="020B0606030504020204" pitchFamily="34" charset="0"/>
              </a:rPr>
              <a:t>输入样例</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6</a:t>
            </a:r>
            <a:br>
              <a:rPr lang="en-US" altLang="zh-CN" b="0" i="0" dirty="0">
                <a:effectLst/>
                <a:latin typeface="Open Sans" panose="020B0606030504020204" pitchFamily="34" charset="0"/>
              </a:rPr>
            </a:br>
            <a:r>
              <a:rPr lang="en-US" altLang="zh-CN" b="0" i="0" dirty="0">
                <a:effectLst/>
                <a:latin typeface="Open Sans" panose="020B0606030504020204" pitchFamily="34" charset="0"/>
              </a:rPr>
              <a:t>4815 2 1</a:t>
            </a:r>
            <a:br>
              <a:rPr lang="en-US" altLang="zh-CN" b="0" i="0" dirty="0">
                <a:effectLst/>
                <a:latin typeface="Open Sans" panose="020B0606030504020204" pitchFamily="34" charset="0"/>
              </a:rPr>
            </a:br>
            <a:r>
              <a:rPr lang="en-US" altLang="zh-CN" b="0" i="0" dirty="0">
                <a:effectLst/>
                <a:latin typeface="Open Sans" panose="020B0606030504020204" pitchFamily="34" charset="0"/>
              </a:rPr>
              <a:t>5716 1 0</a:t>
            </a:r>
            <a:br>
              <a:rPr lang="en-US" altLang="zh-CN" b="0" i="0" dirty="0">
                <a:effectLst/>
                <a:latin typeface="Open Sans" panose="020B0606030504020204" pitchFamily="34" charset="0"/>
              </a:rPr>
            </a:br>
            <a:r>
              <a:rPr lang="en-US" altLang="zh-CN" b="0" i="0" dirty="0">
                <a:effectLst/>
                <a:latin typeface="Open Sans" panose="020B0606030504020204" pitchFamily="34" charset="0"/>
              </a:rPr>
              <a:t>7842 1 0</a:t>
            </a:r>
            <a:br>
              <a:rPr lang="en-US" altLang="zh-CN" b="0" i="0" dirty="0">
                <a:effectLst/>
                <a:latin typeface="Open Sans" panose="020B0606030504020204" pitchFamily="34" charset="0"/>
              </a:rPr>
            </a:br>
            <a:r>
              <a:rPr lang="en-US" altLang="zh-CN" b="0" i="0" dirty="0">
                <a:effectLst/>
                <a:latin typeface="Open Sans" panose="020B0606030504020204" pitchFamily="34" charset="0"/>
              </a:rPr>
              <a:t>4901 0 0</a:t>
            </a:r>
            <a:br>
              <a:rPr lang="en-US" altLang="zh-CN" b="0" i="0" dirty="0">
                <a:effectLst/>
                <a:latin typeface="Open Sans" panose="020B0606030504020204" pitchFamily="34" charset="0"/>
              </a:rPr>
            </a:br>
            <a:r>
              <a:rPr lang="en-US" altLang="zh-CN" b="0" i="0" dirty="0">
                <a:effectLst/>
                <a:latin typeface="Open Sans" panose="020B0606030504020204" pitchFamily="34" charset="0"/>
              </a:rPr>
              <a:t>8585 3 3</a:t>
            </a:r>
            <a:br>
              <a:rPr lang="en-US" altLang="zh-CN" b="0" i="0" dirty="0">
                <a:effectLst/>
                <a:latin typeface="Open Sans" panose="020B0606030504020204" pitchFamily="34" charset="0"/>
              </a:rPr>
            </a:br>
            <a:r>
              <a:rPr lang="en-US" altLang="zh-CN" b="0" i="0" dirty="0">
                <a:effectLst/>
                <a:latin typeface="Open Sans" panose="020B0606030504020204" pitchFamily="34" charset="0"/>
              </a:rPr>
              <a:t>8555 3 2</a:t>
            </a:r>
            <a:endParaRPr lang="en-US" altLang="zh-CN" b="0" i="0" dirty="0">
              <a:effectLst/>
              <a:latin typeface="Open Sans" panose="020B0606030504020204" pitchFamily="34" charset="0"/>
            </a:endParaRPr>
          </a:p>
          <a:p>
            <a:pPr algn="l"/>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输出样例</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3585</a:t>
            </a:r>
            <a:endParaRPr lang="en-US" altLang="zh-CN" b="0" i="0" dirty="0">
              <a:effectLst/>
              <a:latin typeface="Open Sans" panose="020B0606030504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循环遍历</a:t>
            </a:r>
            <a:endParaRPr lang="zh-CN" altLang="en-US" dirty="0"/>
          </a:p>
        </p:txBody>
      </p:sp>
      <p:sp>
        <p:nvSpPr>
          <p:cNvPr id="3" name="内容占位符 2"/>
          <p:cNvSpPr>
            <a:spLocks noGrp="1"/>
          </p:cNvSpPr>
          <p:nvPr>
            <p:ph idx="1"/>
          </p:nvPr>
        </p:nvSpPr>
        <p:spPr>
          <a:solidFill>
            <a:schemeClr val="tx1"/>
          </a:solidFill>
        </p:spPr>
        <p:txBody>
          <a:bodyPr>
            <a:normAutofit/>
          </a:bodyPr>
          <a:lstStyle/>
          <a:p>
            <a:pPr marL="457200" indent="-457200">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C586C0"/>
                </a:solidFill>
                <a:effectLst/>
                <a:latin typeface="Consolas" panose="020B0609020204030204" pitchFamily="49" charset="0"/>
              </a:rPr>
              <a:t>for</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0</a:t>
            </a:r>
            <a:r>
              <a:rPr lang="en-US" altLang="zh-CN" sz="1800" b="0" dirty="0">
                <a:solidFill>
                  <a:srgbClr val="CCCCCC"/>
                </a:solidFill>
                <a:effectLst/>
                <a:latin typeface="Consolas" panose="020B0609020204030204" pitchFamily="49" charset="0"/>
              </a:rPr>
              <a:t>] </a:t>
            </a:r>
            <a:r>
              <a:rPr lang="en-US" altLang="zh-CN" sz="1800" b="0" dirty="0">
                <a:solidFill>
                  <a:srgbClr val="D4D4D4"/>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1</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0</a:t>
            </a:r>
            <a:r>
              <a:rPr lang="en-US" altLang="zh-CN" sz="1800" b="0" dirty="0">
                <a:solidFill>
                  <a:srgbClr val="CCCCCC"/>
                </a:solidFill>
                <a:effectLst/>
                <a:latin typeface="Consolas" panose="020B0609020204030204" pitchFamily="49" charset="0"/>
              </a:rPr>
              <a:t>] </a:t>
            </a:r>
            <a:r>
              <a:rPr lang="en-US" altLang="zh-CN" sz="1800" b="0" dirty="0">
                <a:solidFill>
                  <a:srgbClr val="D4D4D4"/>
                </a:solidFill>
                <a:effectLst/>
                <a:latin typeface="Consolas" panose="020B0609020204030204" pitchFamily="49" charset="0"/>
              </a:rPr>
              <a:t>&lt;</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10</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0</a:t>
            </a:r>
            <a:r>
              <a:rPr lang="en-US" altLang="zh-CN" sz="1800" b="0" dirty="0">
                <a:solidFill>
                  <a:srgbClr val="CCCCCC"/>
                </a:solidFill>
                <a:effectLst/>
                <a:latin typeface="Consolas" panose="020B0609020204030204" pitchFamily="49" charset="0"/>
              </a:rPr>
              <a:t>]</a:t>
            </a:r>
            <a:r>
              <a:rPr lang="en-US" altLang="zh-CN" sz="1800" b="0" dirty="0">
                <a:solidFill>
                  <a:srgbClr val="D4D4D4"/>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C586C0"/>
                </a:solidFill>
                <a:effectLst/>
                <a:latin typeface="Consolas" panose="020B0609020204030204" pitchFamily="49" charset="0"/>
              </a:rPr>
              <a:t>for</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1</a:t>
            </a:r>
            <a:r>
              <a:rPr lang="en-US" altLang="zh-CN" sz="1800" b="0" dirty="0">
                <a:solidFill>
                  <a:srgbClr val="CCCCCC"/>
                </a:solidFill>
                <a:effectLst/>
                <a:latin typeface="Consolas" panose="020B0609020204030204" pitchFamily="49" charset="0"/>
              </a:rPr>
              <a:t>] </a:t>
            </a:r>
            <a:r>
              <a:rPr lang="en-US" altLang="zh-CN" sz="1800" b="0" dirty="0">
                <a:solidFill>
                  <a:srgbClr val="D4D4D4"/>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0</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1</a:t>
            </a:r>
            <a:r>
              <a:rPr lang="en-US" altLang="zh-CN" sz="1800" b="0" dirty="0">
                <a:solidFill>
                  <a:srgbClr val="CCCCCC"/>
                </a:solidFill>
                <a:effectLst/>
                <a:latin typeface="Consolas" panose="020B0609020204030204" pitchFamily="49" charset="0"/>
              </a:rPr>
              <a:t>] </a:t>
            </a:r>
            <a:r>
              <a:rPr lang="en-US" altLang="zh-CN" sz="1800" b="0" dirty="0">
                <a:solidFill>
                  <a:srgbClr val="D4D4D4"/>
                </a:solidFill>
                <a:effectLst/>
                <a:latin typeface="Consolas" panose="020B0609020204030204" pitchFamily="49" charset="0"/>
              </a:rPr>
              <a:t>&lt;</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10</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1</a:t>
            </a:r>
            <a:r>
              <a:rPr lang="en-US" altLang="zh-CN" sz="1800" b="0" dirty="0">
                <a:solidFill>
                  <a:srgbClr val="CCCCCC"/>
                </a:solidFill>
                <a:effectLst/>
                <a:latin typeface="Consolas" panose="020B0609020204030204" pitchFamily="49" charset="0"/>
              </a:rPr>
              <a:t>]</a:t>
            </a:r>
            <a:r>
              <a:rPr lang="en-US" altLang="zh-CN" sz="1800" b="0" dirty="0">
                <a:solidFill>
                  <a:srgbClr val="D4D4D4"/>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C586C0"/>
                </a:solidFill>
                <a:effectLst/>
                <a:latin typeface="Consolas" panose="020B0609020204030204" pitchFamily="49" charset="0"/>
              </a:rPr>
              <a:t>for</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2</a:t>
            </a:r>
            <a:r>
              <a:rPr lang="en-US" altLang="zh-CN" sz="1800" b="0" dirty="0">
                <a:solidFill>
                  <a:srgbClr val="CCCCCC"/>
                </a:solidFill>
                <a:effectLst/>
                <a:latin typeface="Consolas" panose="020B0609020204030204" pitchFamily="49" charset="0"/>
              </a:rPr>
              <a:t>] </a:t>
            </a:r>
            <a:r>
              <a:rPr lang="en-US" altLang="zh-CN" sz="1800" b="0" dirty="0">
                <a:solidFill>
                  <a:srgbClr val="D4D4D4"/>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0</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2</a:t>
            </a:r>
            <a:r>
              <a:rPr lang="en-US" altLang="zh-CN" sz="1800" b="0" dirty="0">
                <a:solidFill>
                  <a:srgbClr val="CCCCCC"/>
                </a:solidFill>
                <a:effectLst/>
                <a:latin typeface="Consolas" panose="020B0609020204030204" pitchFamily="49" charset="0"/>
              </a:rPr>
              <a:t>] </a:t>
            </a:r>
            <a:r>
              <a:rPr lang="en-US" altLang="zh-CN" sz="1800" b="0" dirty="0">
                <a:solidFill>
                  <a:srgbClr val="D4D4D4"/>
                </a:solidFill>
                <a:effectLst/>
                <a:latin typeface="Consolas" panose="020B0609020204030204" pitchFamily="49" charset="0"/>
              </a:rPr>
              <a:t>&lt;</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10</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2</a:t>
            </a:r>
            <a:r>
              <a:rPr lang="en-US" altLang="zh-CN" sz="1800" b="0" dirty="0">
                <a:solidFill>
                  <a:srgbClr val="CCCCCC"/>
                </a:solidFill>
                <a:effectLst/>
                <a:latin typeface="Consolas" panose="020B0609020204030204" pitchFamily="49" charset="0"/>
              </a:rPr>
              <a:t>]</a:t>
            </a:r>
            <a:r>
              <a:rPr lang="en-US" altLang="zh-CN" sz="1800" b="0" dirty="0">
                <a:solidFill>
                  <a:srgbClr val="D4D4D4"/>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C586C0"/>
                </a:solidFill>
                <a:effectLst/>
                <a:latin typeface="Consolas" panose="020B0609020204030204" pitchFamily="49" charset="0"/>
              </a:rPr>
              <a:t>for</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3</a:t>
            </a:r>
            <a:r>
              <a:rPr lang="en-US" altLang="zh-CN" sz="1800" b="0" dirty="0">
                <a:solidFill>
                  <a:srgbClr val="CCCCCC"/>
                </a:solidFill>
                <a:effectLst/>
                <a:latin typeface="Consolas" panose="020B0609020204030204" pitchFamily="49" charset="0"/>
              </a:rPr>
              <a:t>] </a:t>
            </a:r>
            <a:r>
              <a:rPr lang="en-US" altLang="zh-CN" sz="1800" b="0" dirty="0">
                <a:solidFill>
                  <a:srgbClr val="D4D4D4"/>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0</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3</a:t>
            </a:r>
            <a:r>
              <a:rPr lang="en-US" altLang="zh-CN" sz="1800" b="0" dirty="0">
                <a:solidFill>
                  <a:srgbClr val="CCCCCC"/>
                </a:solidFill>
                <a:effectLst/>
                <a:latin typeface="Consolas" panose="020B0609020204030204" pitchFamily="49" charset="0"/>
              </a:rPr>
              <a:t>] </a:t>
            </a:r>
            <a:r>
              <a:rPr lang="en-US" altLang="zh-CN" sz="1800" b="0" dirty="0">
                <a:solidFill>
                  <a:srgbClr val="D4D4D4"/>
                </a:solidFill>
                <a:effectLst/>
                <a:latin typeface="Consolas" panose="020B0609020204030204" pitchFamily="49" charset="0"/>
              </a:rPr>
              <a:t>&lt;</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10</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nums</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3</a:t>
            </a:r>
            <a:r>
              <a:rPr lang="en-US" altLang="zh-CN" sz="1800" b="0" dirty="0">
                <a:solidFill>
                  <a:srgbClr val="CCCCCC"/>
                </a:solidFill>
                <a:effectLst/>
                <a:latin typeface="Consolas" panose="020B0609020204030204" pitchFamily="49" charset="0"/>
              </a:rPr>
              <a:t>]</a:t>
            </a:r>
            <a:r>
              <a:rPr lang="en-US" altLang="zh-CN" sz="1800" b="0" dirty="0">
                <a:solidFill>
                  <a:srgbClr val="D4D4D4"/>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bool</a:t>
            </a:r>
            <a:r>
              <a:rPr lang="en-US" altLang="zh-CN" sz="1800" b="0" dirty="0">
                <a:solidFill>
                  <a:srgbClr val="CCCCCC"/>
                </a:solidFill>
                <a:effectLst/>
                <a:latin typeface="Consolas" panose="020B0609020204030204" pitchFamily="49" charset="0"/>
              </a:rPr>
              <a:t> </a:t>
            </a:r>
            <a:r>
              <a:rPr lang="en-US" altLang="zh-CN" sz="1800" b="0" dirty="0">
                <a:solidFill>
                  <a:srgbClr val="9CDCFE"/>
                </a:solidFill>
                <a:effectLst/>
                <a:latin typeface="Consolas" panose="020B0609020204030204" pitchFamily="49" charset="0"/>
              </a:rPr>
              <a:t>correct</a:t>
            </a:r>
            <a:r>
              <a:rPr lang="en-US" altLang="zh-CN" sz="1800" b="0" dirty="0">
                <a:solidFill>
                  <a:srgbClr val="CCCCCC"/>
                </a:solidFill>
                <a:effectLst/>
                <a:latin typeface="Consolas" panose="020B0609020204030204" pitchFamily="49" charset="0"/>
              </a:rPr>
              <a:t> </a:t>
            </a:r>
            <a:r>
              <a:rPr lang="en-US" altLang="zh-CN" sz="1800" b="0" dirty="0">
                <a:solidFill>
                  <a:srgbClr val="D4D4D4"/>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true</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br>
              <a:rPr lang="en-US" altLang="zh-CN" sz="1800" b="0" dirty="0">
                <a:solidFill>
                  <a:srgbClr val="CCCCCC"/>
                </a:solidFill>
                <a:effectLst/>
                <a:latin typeface="Consolas" panose="020B0609020204030204" pitchFamily="49" charset="0"/>
              </a:rPr>
            </a:br>
            <a:r>
              <a:rPr lang="en-US" altLang="zh-CN" sz="1800" b="0" dirty="0">
                <a:solidFill>
                  <a:srgbClr val="6A9955"/>
                </a:solidFill>
                <a:effectLst/>
                <a:latin typeface="Consolas" panose="020B0609020204030204" pitchFamily="49" charset="0"/>
              </a:rPr>
              <a:t>                    //</a:t>
            </a:r>
            <a:r>
              <a:rPr lang="zh-CN" altLang="en-US" sz="1800" b="0" dirty="0">
                <a:solidFill>
                  <a:srgbClr val="6A9955"/>
                </a:solidFill>
                <a:effectLst/>
                <a:latin typeface="Consolas" panose="020B0609020204030204" pitchFamily="49" charset="0"/>
              </a:rPr>
              <a:t>检验条件</a:t>
            </a:r>
            <a:r>
              <a:rPr lang="en-US" altLang="zh-CN" sz="1800" b="0" dirty="0">
                <a:solidFill>
                  <a:srgbClr val="6A9955"/>
                </a:solidFill>
                <a:effectLst/>
                <a:latin typeface="Consolas" panose="020B0609020204030204" pitchFamily="49" charset="0"/>
              </a:rPr>
              <a:t>1</a:t>
            </a:r>
            <a:r>
              <a:rPr lang="zh-CN" altLang="en-US" sz="1800" b="0" dirty="0">
                <a:solidFill>
                  <a:srgbClr val="6A9955"/>
                </a:solidFill>
                <a:effectLst/>
                <a:latin typeface="Consolas" panose="020B0609020204030204" pitchFamily="49" charset="0"/>
              </a:rPr>
              <a:t>（正确位置上的数字个数）</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sz="1800" b="0" dirty="0">
                <a:solidFill>
                  <a:srgbClr val="CCCCCC"/>
                </a:solidFill>
                <a:effectLst/>
                <a:latin typeface="Consolas" panose="020B0609020204030204" pitchFamily="49" charset="0"/>
              </a:rPr>
              <a:t>               </a:t>
            </a:r>
            <a:br>
              <a:rPr lang="en-US" altLang="zh-CN" sz="1800" b="0" dirty="0">
                <a:solidFill>
                  <a:srgbClr val="CCCCCC"/>
                </a:solidFill>
                <a:effectLst/>
                <a:latin typeface="Consolas" panose="020B0609020204030204" pitchFamily="49" charset="0"/>
              </a:rPr>
            </a:br>
            <a:r>
              <a:rPr lang="en-US" altLang="zh-CN" sz="1800" b="0" dirty="0">
                <a:solidFill>
                  <a:srgbClr val="6A9955"/>
                </a:solidFill>
                <a:effectLst/>
                <a:latin typeface="Consolas" panose="020B0609020204030204" pitchFamily="49" charset="0"/>
              </a:rPr>
              <a:t>                    //</a:t>
            </a:r>
            <a:r>
              <a:rPr lang="zh-CN" altLang="en-US" sz="1800" b="0" dirty="0">
                <a:solidFill>
                  <a:srgbClr val="6A9955"/>
                </a:solidFill>
                <a:effectLst/>
                <a:latin typeface="Consolas" panose="020B0609020204030204" pitchFamily="49" charset="0"/>
              </a:rPr>
              <a:t>检验条件</a:t>
            </a:r>
            <a:r>
              <a:rPr lang="en-US" altLang="zh-CN" sz="1800" b="0" dirty="0">
                <a:solidFill>
                  <a:srgbClr val="6A9955"/>
                </a:solidFill>
                <a:effectLst/>
                <a:latin typeface="Consolas" panose="020B0609020204030204" pitchFamily="49" charset="0"/>
              </a:rPr>
              <a:t>2</a:t>
            </a:r>
            <a:r>
              <a:rPr lang="zh-CN" altLang="en-US" sz="1800" b="0" dirty="0">
                <a:solidFill>
                  <a:srgbClr val="6A9955"/>
                </a:solidFill>
                <a:effectLst/>
                <a:latin typeface="Consolas" panose="020B0609020204030204" pitchFamily="49" charset="0"/>
              </a:rPr>
              <a:t>（正确数字个数）</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br>
              <a:rPr lang="en-US" altLang="zh-CN" sz="1800" b="0" dirty="0">
                <a:solidFill>
                  <a:srgbClr val="CCCCCC"/>
                </a:solidFill>
                <a:effectLst/>
                <a:latin typeface="Consolas" panose="020B0609020204030204" pitchFamily="49" charset="0"/>
              </a:rPr>
            </a:br>
            <a:r>
              <a:rPr lang="en-US" altLang="zh-CN" sz="1800" b="0" dirty="0">
                <a:solidFill>
                  <a:srgbClr val="6A9955"/>
                </a:solidFill>
                <a:effectLst/>
                <a:latin typeface="Consolas" panose="020B0609020204030204" pitchFamily="49" charset="0"/>
              </a:rPr>
              <a:t>        </a:t>
            </a:r>
            <a:r>
              <a:rPr lang="en-US" altLang="zh-CN" sz="1800" b="0" dirty="0">
                <a:solidFill>
                  <a:srgbClr val="CCCCCC"/>
                </a:solidFill>
                <a:effectLst/>
                <a:latin typeface="Consolas" panose="020B0609020204030204" pitchFamily="49" charset="0"/>
              </a:rPr>
              <a:t>         }</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sz="1800" b="0" dirty="0">
                <a:solidFill>
                  <a:srgbClr val="CCCCCC"/>
                </a:solidFill>
                <a:effectLst/>
                <a:latin typeface="Consolas" panose="020B0609020204030204" pitchFamily="49" charset="0"/>
              </a:rPr>
              <a:t>            }</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sz="1800" b="0" dirty="0">
                <a:solidFill>
                  <a:srgbClr val="CCCCCC"/>
                </a:solidFill>
                <a:effectLst/>
                <a:latin typeface="Consolas" panose="020B0609020204030204" pitchFamily="49" charset="0"/>
              </a:rPr>
              <a:t>        }</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r>
              <a:rPr lang="en-US" altLang="zh-CN" sz="1800" b="0" dirty="0">
                <a:solidFill>
                  <a:srgbClr val="CCCCCC"/>
                </a:solidFill>
                <a:effectLst/>
                <a:latin typeface="Consolas" panose="020B0609020204030204" pitchFamily="49" charset="0"/>
              </a:rPr>
              <a:t>    }</a:t>
            </a:r>
            <a:endParaRPr lang="en-US" altLang="zh-CN" sz="1800" b="0" dirty="0">
              <a:solidFill>
                <a:srgbClr val="CCCCCC"/>
              </a:solidFill>
              <a:effectLst/>
              <a:latin typeface="Consolas" panose="020B0609020204030204" pitchFamily="49" charset="0"/>
            </a:endParaRPr>
          </a:p>
          <a:p>
            <a:pPr marL="457200" indent="-457200">
              <a:spcBef>
                <a:spcPts val="0"/>
              </a:spcBef>
              <a:buFont typeface="+mj-lt"/>
              <a:buAutoNum type="arabicPeriod"/>
            </a:pPr>
            <a:endParaRPr lang="zh-CN" altLang="en-US" sz="1800" dirty="0"/>
          </a:p>
        </p:txBody>
      </p:sp>
      <p:sp>
        <p:nvSpPr>
          <p:cNvPr id="6" name="文本框 5"/>
          <p:cNvSpPr txBox="1"/>
          <p:nvPr/>
        </p:nvSpPr>
        <p:spPr>
          <a:xfrm>
            <a:off x="4615543" y="3320143"/>
            <a:ext cx="579005" cy="523220"/>
          </a:xfrm>
          <a:prstGeom prst="rect">
            <a:avLst/>
          </a:prstGeom>
          <a:noFill/>
        </p:spPr>
        <p:txBody>
          <a:bodyPr wrap="none" rtlCol="0">
            <a:spAutoFit/>
          </a:bodyPr>
          <a:lstStyle/>
          <a:p>
            <a:r>
              <a:rPr lang="en-US" altLang="zh-CN" sz="2800" b="0" dirty="0">
                <a:solidFill>
                  <a:schemeClr val="bg1"/>
                </a:solidFill>
                <a:effectLst/>
                <a:latin typeface="Consolas" panose="020B0609020204030204" pitchFamily="49" charset="0"/>
              </a:rPr>
              <a:t>……</a:t>
            </a:r>
            <a:endParaRPr lang="zh-CN" altLang="en-US" sz="2800" dirty="0">
              <a:solidFill>
                <a:schemeClr val="bg1"/>
              </a:solidFill>
            </a:endParaRPr>
          </a:p>
        </p:txBody>
      </p:sp>
      <p:sp>
        <p:nvSpPr>
          <p:cNvPr id="7" name="文本框 6"/>
          <p:cNvSpPr txBox="1"/>
          <p:nvPr/>
        </p:nvSpPr>
        <p:spPr>
          <a:xfrm>
            <a:off x="4615543" y="3907971"/>
            <a:ext cx="579005" cy="523220"/>
          </a:xfrm>
          <a:prstGeom prst="rect">
            <a:avLst/>
          </a:prstGeom>
          <a:noFill/>
        </p:spPr>
        <p:txBody>
          <a:bodyPr wrap="none" rtlCol="0">
            <a:spAutoFit/>
          </a:bodyPr>
          <a:lstStyle/>
          <a:p>
            <a:r>
              <a:rPr lang="en-US" altLang="zh-CN" sz="2800" b="0" dirty="0">
                <a:solidFill>
                  <a:schemeClr val="bg1"/>
                </a:solidFill>
                <a:effectLst/>
                <a:latin typeface="Consolas" panose="020B0609020204030204" pitchFamily="49" charset="0"/>
              </a:rPr>
              <a:t>……</a:t>
            </a:r>
            <a:endParaRPr lang="zh-CN" altLang="en-US" sz="2800" dirty="0">
              <a:solidFill>
                <a:schemeClr val="bg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26458" y="1518557"/>
            <a:ext cx="5540828" cy="459921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检验条件</a:t>
            </a:r>
            <a:r>
              <a:rPr lang="en-US" altLang="zh-CN" dirty="0"/>
              <a:t>1</a:t>
            </a:r>
            <a:r>
              <a:rPr lang="zh-CN" altLang="en-US" dirty="0"/>
              <a:t>（正确位置上的数字个数）</a:t>
            </a:r>
            <a:endParaRPr lang="zh-CN" altLang="en-US" dirty="0"/>
          </a:p>
        </p:txBody>
      </p:sp>
      <p:sp>
        <p:nvSpPr>
          <p:cNvPr id="3" name="内容占位符 2"/>
          <p:cNvSpPr>
            <a:spLocks noGrp="1"/>
          </p:cNvSpPr>
          <p:nvPr>
            <p:ph idx="1"/>
          </p:nvPr>
        </p:nvSpPr>
        <p:spPr>
          <a:xfrm>
            <a:off x="-473529" y="1617480"/>
            <a:ext cx="8075186" cy="4764163"/>
          </a:xfrm>
        </p:spPr>
        <p:txBody>
          <a:bodyPr>
            <a:normAutofit fontScale="85000" lnSpcReduction="20000"/>
          </a:bodyPr>
          <a:lstStyle/>
          <a:p>
            <a:pPr marL="0" indent="0">
              <a:buNone/>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round</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c_pos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&lt;</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4</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j</a:t>
            </a:r>
            <a:r>
              <a:rPr lang="en-US" altLang="zh-CN" b="0" dirty="0" err="1">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if</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r</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nums</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j</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c_pos</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if</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c_pos</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correct_pos</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correct</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false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break</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0" indent="0">
              <a:buNone/>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0" indent="0">
              <a:buNone/>
            </a:pPr>
            <a:endParaRPr lang="zh-CN" altLang="en-US" dirty="0"/>
          </a:p>
        </p:txBody>
      </p:sp>
      <p:sp>
        <p:nvSpPr>
          <p:cNvPr id="6" name="文本框 5"/>
          <p:cNvSpPr txBox="1"/>
          <p:nvPr/>
        </p:nvSpPr>
        <p:spPr>
          <a:xfrm>
            <a:off x="372687" y="3337841"/>
            <a:ext cx="1564970" cy="1323439"/>
          </a:xfrm>
          <a:prstGeom prst="rect">
            <a:avLst/>
          </a:prstGeom>
          <a:noFill/>
        </p:spPr>
        <p:txBody>
          <a:bodyPr wrap="square">
            <a:spAutoFit/>
          </a:bodyPr>
          <a:lstStyle/>
          <a:p>
            <a:r>
              <a:rPr lang="en-US" altLang="zh-CN" sz="2000" b="0" dirty="0">
                <a:effectLst/>
                <a:latin typeface="Consolas" panose="020B0609020204030204" pitchFamily="49" charset="0"/>
              </a:rPr>
              <a:t>r[</a:t>
            </a:r>
            <a:r>
              <a:rPr lang="en-US" altLang="zh-CN" sz="2000" b="0" dirty="0" err="1">
                <a:effectLst/>
                <a:latin typeface="Consolas" panose="020B0609020204030204" pitchFamily="49" charset="0"/>
              </a:rPr>
              <a:t>i</a:t>
            </a:r>
            <a:r>
              <a:rPr lang="en-US" altLang="zh-CN" sz="2000" b="0" dirty="0">
                <a:effectLst/>
                <a:latin typeface="Consolas" panose="020B0609020204030204" pitchFamily="49" charset="0"/>
              </a:rPr>
              <a:t>][j]</a:t>
            </a:r>
            <a:r>
              <a:rPr lang="zh-CN" altLang="en-US" sz="2000" b="0" dirty="0">
                <a:effectLst/>
                <a:latin typeface="Consolas" panose="020B0609020204030204" pitchFamily="49" charset="0"/>
              </a:rPr>
              <a:t>为读入的第</a:t>
            </a:r>
            <a:r>
              <a:rPr lang="en-US" altLang="zh-CN" sz="2000" b="0" dirty="0" err="1">
                <a:effectLst/>
                <a:latin typeface="Consolas" panose="020B0609020204030204" pitchFamily="49" charset="0"/>
              </a:rPr>
              <a:t>i</a:t>
            </a:r>
            <a:r>
              <a:rPr lang="zh-CN" altLang="en-US" sz="2000" b="0" dirty="0">
                <a:effectLst/>
                <a:latin typeface="Consolas" panose="020B0609020204030204" pitchFamily="49" charset="0"/>
              </a:rPr>
              <a:t>个数据的第</a:t>
            </a:r>
            <a:r>
              <a:rPr lang="en-US" altLang="zh-CN" sz="2000" b="0" dirty="0">
                <a:effectLst/>
                <a:latin typeface="Consolas" panose="020B0609020204030204" pitchFamily="49" charset="0"/>
              </a:rPr>
              <a:t>j</a:t>
            </a:r>
            <a:r>
              <a:rPr lang="zh-CN" altLang="en-US" sz="2000" b="0" dirty="0">
                <a:effectLst/>
                <a:latin typeface="Consolas" panose="020B0609020204030204" pitchFamily="49" charset="0"/>
              </a:rPr>
              <a:t>个数</a:t>
            </a:r>
            <a:r>
              <a:rPr lang="en-US" altLang="zh-CN" sz="2000" b="0" dirty="0">
                <a:effectLst/>
                <a:latin typeface="Consolas" panose="020B0609020204030204" pitchFamily="49" charset="0"/>
              </a:rPr>
              <a:t> </a:t>
            </a:r>
            <a:endParaRPr lang="zh-CN" alt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检验条件</a:t>
            </a:r>
            <a:r>
              <a:rPr lang="en-US" altLang="zh-CN" dirty="0"/>
              <a:t>2</a:t>
            </a:r>
            <a:r>
              <a:rPr lang="zh-CN" altLang="en-US" dirty="0"/>
              <a:t>（正确数字个数）</a:t>
            </a:r>
            <a:endParaRPr lang="zh-CN" altLang="en-US" dirty="0"/>
          </a:p>
        </p:txBody>
      </p:sp>
      <p:sp>
        <p:nvSpPr>
          <p:cNvPr id="5" name="内容占位符 4"/>
          <p:cNvSpPr>
            <a:spLocks noGrp="1"/>
          </p:cNvSpPr>
          <p:nvPr>
            <p:ph idx="1"/>
          </p:nvPr>
        </p:nvSpPr>
        <p:spPr/>
        <p:txBody>
          <a:bodyPr/>
          <a:lstStyle/>
          <a:p>
            <a:endParaRPr lang="zh-CN" altLang="en-US"/>
          </a:p>
        </p:txBody>
      </p:sp>
      <p:pic>
        <p:nvPicPr>
          <p:cNvPr id="9" name="图片 8"/>
          <p:cNvPicPr>
            <a:picLocks noChangeAspect="1"/>
          </p:cNvPicPr>
          <p:nvPr/>
        </p:nvPicPr>
        <p:blipFill>
          <a:blip r:embed="rId1"/>
          <a:stretch>
            <a:fillRect/>
          </a:stretch>
        </p:blipFill>
        <p:spPr>
          <a:xfrm>
            <a:off x="1223121" y="1255800"/>
            <a:ext cx="6364222" cy="545038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字符串处理函数</a:t>
            </a:r>
            <a:endParaRPr lang="zh-CN" altLang="en-US" dirty="0"/>
          </a:p>
        </p:txBody>
      </p:sp>
      <p:pic>
        <p:nvPicPr>
          <p:cNvPr id="634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2000" y="1607479"/>
            <a:ext cx="7631832" cy="4637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字符串处理函数</a:t>
            </a:r>
            <a:endParaRPr lang="zh-CN" altLang="en-US" dirty="0"/>
          </a:p>
        </p:txBody>
      </p:sp>
      <p:pic>
        <p:nvPicPr>
          <p:cNvPr id="64514"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7504" y="1916832"/>
            <a:ext cx="4253929" cy="2302227"/>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1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9992" y="1324455"/>
            <a:ext cx="4464250" cy="2536593"/>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1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04" y="4411206"/>
            <a:ext cx="4253930" cy="2333644"/>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18"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99992" y="4005064"/>
            <a:ext cx="4464250" cy="2738730"/>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字符串处理函数</a:t>
            </a:r>
            <a:endParaRPr lang="zh-CN" altLang="en-US" dirty="0"/>
          </a:p>
        </p:txBody>
      </p:sp>
      <p:pic>
        <p:nvPicPr>
          <p:cNvPr id="6553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716016" y="930926"/>
            <a:ext cx="4320480" cy="2575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4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95764" y="3861456"/>
            <a:ext cx="4288904" cy="2234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4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98" y="1738823"/>
            <a:ext cx="4464495" cy="959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44"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322" y="2999342"/>
            <a:ext cx="4287246"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字符串注意事项</a:t>
            </a:r>
            <a:endParaRPr lang="zh-CN" altLang="en-US" dirty="0"/>
          </a:p>
        </p:txBody>
      </p:sp>
      <p:sp>
        <p:nvSpPr>
          <p:cNvPr id="3" name="内容占位符 2"/>
          <p:cNvSpPr>
            <a:spLocks noGrp="1"/>
          </p:cNvSpPr>
          <p:nvPr>
            <p:ph idx="1"/>
          </p:nvPr>
        </p:nvSpPr>
        <p:spPr>
          <a:xfrm>
            <a:off x="432000" y="1703614"/>
            <a:ext cx="8280000" cy="4596386"/>
          </a:xfrm>
        </p:spPr>
        <p:txBody>
          <a:bodyPr>
            <a:normAutofit/>
          </a:bodyPr>
          <a:lstStyle/>
          <a:p>
            <a:r>
              <a:rPr lang="en-US" altLang="zh-CN" sz="2800" dirty="0" err="1"/>
              <a:t>strlen</a:t>
            </a:r>
            <a:r>
              <a:rPr lang="en-US" altLang="zh-CN" sz="2800" dirty="0"/>
              <a:t>()</a:t>
            </a:r>
            <a:endParaRPr lang="en-US" altLang="zh-CN" sz="2800" dirty="0"/>
          </a:p>
          <a:p>
            <a:pPr lvl="1"/>
            <a:r>
              <a:rPr lang="zh-CN" altLang="en-US" sz="2400" dirty="0"/>
              <a:t>其返回值</a:t>
            </a:r>
            <a:r>
              <a:rPr lang="en-US" altLang="zh-CN" sz="2400" dirty="0" err="1"/>
              <a:t>size_t</a:t>
            </a:r>
            <a:r>
              <a:rPr lang="en-US" altLang="zh-CN" sz="2400" dirty="0"/>
              <a:t> </a:t>
            </a:r>
            <a:r>
              <a:rPr lang="zh-CN" altLang="en-US" sz="2400" dirty="0"/>
              <a:t>相当于无符号整形</a:t>
            </a:r>
            <a:endParaRPr lang="en-US" altLang="zh-CN" sz="2400" dirty="0"/>
          </a:p>
          <a:p>
            <a:pPr lvl="1"/>
            <a:r>
              <a:rPr lang="en-US" altLang="zh-CN" sz="2400" dirty="0" err="1">
                <a:solidFill>
                  <a:srgbClr val="FF0000"/>
                </a:solidFill>
              </a:rPr>
              <a:t>strlen</a:t>
            </a:r>
            <a:r>
              <a:rPr lang="en-US" altLang="zh-CN" sz="2400" dirty="0">
                <a:solidFill>
                  <a:srgbClr val="FF0000"/>
                </a:solidFill>
              </a:rPr>
              <a:t>(s)-</a:t>
            </a:r>
            <a:r>
              <a:rPr lang="en-US" altLang="zh-CN" sz="2400" dirty="0" err="1">
                <a:solidFill>
                  <a:srgbClr val="FF0000"/>
                </a:solidFill>
              </a:rPr>
              <a:t>strlen</a:t>
            </a:r>
            <a:r>
              <a:rPr lang="en-US" altLang="zh-CN" sz="2400" dirty="0">
                <a:solidFill>
                  <a:srgbClr val="FF0000"/>
                </a:solidFill>
              </a:rPr>
              <a:t>(t) </a:t>
            </a:r>
            <a:r>
              <a:rPr lang="zh-CN" altLang="en-US" sz="2400" dirty="0">
                <a:solidFill>
                  <a:srgbClr val="FF0000"/>
                </a:solidFill>
              </a:rPr>
              <a:t>如果为负数则会出错</a:t>
            </a:r>
            <a:endParaRPr lang="en-US" altLang="zh-CN" sz="2400" dirty="0">
              <a:solidFill>
                <a:srgbClr val="FF0000"/>
              </a:solidFill>
            </a:endParaRPr>
          </a:p>
          <a:p>
            <a:pPr lvl="1"/>
            <a:r>
              <a:rPr lang="en-US" altLang="zh-CN" sz="2400" dirty="0">
                <a:solidFill>
                  <a:schemeClr val="accent6"/>
                </a:solidFill>
              </a:rPr>
              <a:t>int a = </a:t>
            </a:r>
            <a:r>
              <a:rPr lang="en-US" altLang="zh-CN" sz="2400" dirty="0" err="1">
                <a:solidFill>
                  <a:schemeClr val="accent6"/>
                </a:solidFill>
              </a:rPr>
              <a:t>strlen</a:t>
            </a:r>
            <a:r>
              <a:rPr lang="en-US" altLang="zh-CN" sz="2400" dirty="0">
                <a:solidFill>
                  <a:schemeClr val="accent6"/>
                </a:solidFill>
              </a:rPr>
              <a:t>(s); </a:t>
            </a:r>
            <a:r>
              <a:rPr lang="zh-CN" altLang="en-US" sz="2400" dirty="0"/>
              <a:t>可以的</a:t>
            </a:r>
            <a:endParaRPr lang="en-US" altLang="zh-CN" sz="2400" dirty="0"/>
          </a:p>
          <a:p>
            <a:pPr lvl="1"/>
            <a:endParaRPr lang="en-US" altLang="zh-CN" sz="2400" dirty="0"/>
          </a:p>
          <a:p>
            <a:r>
              <a:rPr lang="en-US" altLang="zh-CN" sz="2800" dirty="0" err="1"/>
              <a:t>strstr</a:t>
            </a:r>
            <a:r>
              <a:rPr lang="en-US" altLang="zh-CN" sz="2800" dirty="0"/>
              <a:t>(), </a:t>
            </a:r>
            <a:r>
              <a:rPr lang="en-US" altLang="zh-CN" sz="2800" dirty="0" err="1"/>
              <a:t>strchr</a:t>
            </a:r>
            <a:r>
              <a:rPr lang="en-US" altLang="zh-CN" sz="2800" dirty="0"/>
              <a:t>()… </a:t>
            </a:r>
            <a:r>
              <a:rPr lang="zh-CN" altLang="en-US" sz="2800" dirty="0"/>
              <a:t>会指针了用更好</a:t>
            </a:r>
            <a:endParaRPr lang="en-US" altLang="zh-CN" sz="2800" dirty="0"/>
          </a:p>
          <a:p>
            <a:pPr lvl="1"/>
            <a:endParaRPr lang="en-US" altLang="zh-CN" sz="2400" dirty="0"/>
          </a:p>
          <a:p>
            <a:pPr lvl="1"/>
            <a:endParaRPr lang="en-US" altLang="zh-CN" sz="2400" dirty="0"/>
          </a:p>
          <a:p>
            <a:pPr lvl="1"/>
            <a:endParaRPr lang="zh-CN" alt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补充函数</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sz="2800" dirty="0"/>
              <a:t>int </a:t>
            </a:r>
            <a:r>
              <a:rPr lang="en-US" altLang="zh-CN" sz="2800" dirty="0" err="1"/>
              <a:t>strncmp</a:t>
            </a:r>
            <a:r>
              <a:rPr lang="en-US" altLang="zh-CN" sz="2800" dirty="0"/>
              <a:t>(const char *str1, const char *str2, </a:t>
            </a:r>
            <a:r>
              <a:rPr lang="en-US" altLang="zh-CN" sz="2800" dirty="0" err="1"/>
              <a:t>size_t</a:t>
            </a:r>
            <a:r>
              <a:rPr lang="en-US" altLang="zh-CN" sz="2800" dirty="0"/>
              <a:t> n) </a:t>
            </a:r>
            <a:endParaRPr lang="en-US" altLang="zh-CN" sz="2800" dirty="0"/>
          </a:p>
          <a:p>
            <a:r>
              <a:rPr lang="zh-CN" altLang="en-US" sz="2800" dirty="0"/>
              <a:t>用于比较两个字符串的前 </a:t>
            </a:r>
            <a:r>
              <a:rPr lang="en-US" altLang="zh-CN" sz="2800" b="1" dirty="0"/>
              <a:t>n</a:t>
            </a:r>
            <a:r>
              <a:rPr lang="zh-CN" altLang="en-US" sz="2800" dirty="0"/>
              <a:t> 个字符是否相等。</a:t>
            </a:r>
            <a:endParaRPr lang="en-US" altLang="zh-CN" sz="2800" dirty="0"/>
          </a:p>
          <a:p>
            <a:endParaRPr lang="en-US" altLang="zh-CN" sz="2800" dirty="0"/>
          </a:p>
          <a:p>
            <a:r>
              <a:rPr lang="en-US" altLang="zh-CN" sz="2800" dirty="0" err="1"/>
              <a:t>strncpy</a:t>
            </a:r>
            <a:r>
              <a:rPr lang="en-US" altLang="zh-CN" sz="2800" dirty="0"/>
              <a:t>( char *restrict </a:t>
            </a:r>
            <a:r>
              <a:rPr lang="en-US" altLang="zh-CN" sz="2800" dirty="0" err="1"/>
              <a:t>dest</a:t>
            </a:r>
            <a:r>
              <a:rPr lang="en-US" altLang="zh-CN" sz="2800" dirty="0"/>
              <a:t>, const char *restrict </a:t>
            </a:r>
            <a:r>
              <a:rPr lang="en-US" altLang="zh-CN" sz="2800" dirty="0" err="1"/>
              <a:t>src</a:t>
            </a:r>
            <a:r>
              <a:rPr lang="en-US" altLang="zh-CN" sz="2800" dirty="0"/>
              <a:t>, </a:t>
            </a:r>
            <a:r>
              <a:rPr lang="en-US" altLang="zh-CN" sz="2800" dirty="0" err="1">
                <a:hlinkClick r:id="rId1"/>
              </a:rPr>
              <a:t>size_t</a:t>
            </a:r>
            <a:r>
              <a:rPr lang="en-US" altLang="zh-CN" sz="2800" dirty="0"/>
              <a:t> n);</a:t>
            </a:r>
            <a:endParaRPr lang="en-US" altLang="zh-CN" sz="2800" dirty="0"/>
          </a:p>
          <a:p>
            <a:r>
              <a:rPr lang="zh-CN" altLang="en-US" sz="2800" dirty="0"/>
              <a:t>往</a:t>
            </a:r>
            <a:r>
              <a:rPr lang="en-US" altLang="zh-CN" sz="2800" dirty="0" err="1"/>
              <a:t>dest</a:t>
            </a:r>
            <a:r>
              <a:rPr lang="zh-CN" altLang="en-US" sz="2800" dirty="0"/>
              <a:t>中复制最多</a:t>
            </a:r>
            <a:r>
              <a:rPr lang="en-US" altLang="zh-CN" sz="2800" dirty="0"/>
              <a:t>n</a:t>
            </a:r>
            <a:r>
              <a:rPr lang="zh-CN" altLang="en-US" sz="2800" dirty="0"/>
              <a:t>个</a:t>
            </a:r>
            <a:r>
              <a:rPr lang="en-US" altLang="zh-CN" sz="2800" dirty="0" err="1"/>
              <a:t>src</a:t>
            </a:r>
            <a:r>
              <a:rPr lang="zh-CN" altLang="en-US" sz="2800" dirty="0"/>
              <a:t>中的字符</a:t>
            </a:r>
            <a:endParaRPr lang="en-US" altLang="zh-CN" sz="2800" dirty="0"/>
          </a:p>
          <a:p>
            <a:endParaRPr lang="fr-FR" altLang="zh-CN" sz="2800" dirty="0"/>
          </a:p>
          <a:p>
            <a:r>
              <a:rPr lang="fr-FR" altLang="zh-CN" sz="2800" dirty="0"/>
              <a:t>strncat(char *dest, const char *src, size_t n)</a:t>
            </a:r>
            <a:endParaRPr lang="fr-FR" altLang="zh-CN" sz="2800" dirty="0"/>
          </a:p>
          <a:p>
            <a:r>
              <a:rPr lang="zh-CN" altLang="en-US" sz="2800" dirty="0"/>
              <a:t>在</a:t>
            </a:r>
            <a:r>
              <a:rPr lang="en-US" altLang="zh-CN" sz="2800" dirty="0" err="1"/>
              <a:t>dest</a:t>
            </a:r>
            <a:r>
              <a:rPr lang="zh-CN" altLang="en-US" sz="2800" dirty="0"/>
              <a:t>后面拼接最多</a:t>
            </a:r>
            <a:r>
              <a:rPr lang="en-US" altLang="zh-CN" sz="2800" dirty="0"/>
              <a:t>n</a:t>
            </a:r>
            <a:r>
              <a:rPr lang="zh-CN" altLang="en-US" sz="2800" dirty="0"/>
              <a:t>个</a:t>
            </a:r>
            <a:r>
              <a:rPr lang="en-US" altLang="zh-CN" sz="2800" dirty="0" err="1"/>
              <a:t>src</a:t>
            </a:r>
            <a:r>
              <a:rPr lang="zh-CN" altLang="en-US" sz="2800" dirty="0"/>
              <a:t>中的字符</a:t>
            </a:r>
            <a:endParaRPr lang="en-US" altLang="zh-CN" sz="2800" dirty="0"/>
          </a:p>
          <a:p>
            <a:endParaRPr lang="en-US" altLang="zh-CN" sz="2800" dirty="0"/>
          </a:p>
          <a:p>
            <a:endParaRPr lang="fr-FR" altLang="zh-CN" sz="2800" dirty="0"/>
          </a:p>
          <a:p>
            <a:endParaRPr lang="en-US" altLang="zh-CN" sz="3200" dirty="0"/>
          </a:p>
          <a:p>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纯字符处理</a:t>
            </a:r>
            <a:endParaRPr lang="zh-CN" altLang="en-US" dirty="0"/>
          </a:p>
        </p:txBody>
      </p:sp>
      <p:sp>
        <p:nvSpPr>
          <p:cNvPr id="3" name="内容占位符 2"/>
          <p:cNvSpPr>
            <a:spLocks noGrp="1"/>
          </p:cNvSpPr>
          <p:nvPr>
            <p:ph idx="1"/>
          </p:nvPr>
        </p:nvSpPr>
        <p:spPr>
          <a:xfrm>
            <a:off x="432000" y="1535837"/>
            <a:ext cx="8280000" cy="4826863"/>
          </a:xfrm>
        </p:spPr>
        <p:txBody>
          <a:bodyPr>
            <a:normAutofit/>
          </a:bodyPr>
          <a:lstStyle/>
          <a:p>
            <a:r>
              <a:rPr lang="zh-CN" altLang="en-US" sz="3200" dirty="0"/>
              <a:t>字符串编辑（查找，插入，删除，逆序）</a:t>
            </a:r>
            <a:endParaRPr lang="en-US" altLang="zh-CN" sz="3200" dirty="0"/>
          </a:p>
          <a:p>
            <a:r>
              <a:rPr lang="zh-CN" altLang="en-US" sz="3200" dirty="0"/>
              <a:t>字符串排序</a:t>
            </a:r>
            <a:endParaRPr lang="en-US" altLang="zh-CN" sz="3200" dirty="0"/>
          </a:p>
          <a:p>
            <a:pPr algn="l">
              <a:spcBef>
                <a:spcPts val="0"/>
              </a:spcBef>
              <a:buFont typeface="+mj-lt"/>
              <a:buAutoNum type="arabicPeriod"/>
            </a:pPr>
            <a:r>
              <a:rPr lang="en-US" altLang="zh-CN" sz="20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for</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20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int</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2000" kern="0" dirty="0" err="1">
                <a:solidFill>
                  <a:srgbClr val="000000"/>
                </a:solidFill>
                <a:effectLst/>
                <a:latin typeface="Fira Mono" panose="020B0509050000020004" pitchFamily="49" charset="0"/>
                <a:ea typeface="宋体" panose="02010600030101010101" pitchFamily="2" charset="-122"/>
                <a:cs typeface="宋体" panose="02010600030101010101" pitchFamily="2" charset="-122"/>
              </a:rPr>
              <a:t>i</a:t>
            </a:r>
            <a:r>
              <a:rPr lang="en-US" altLang="zh-CN" sz="20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20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;i</a:t>
            </a:r>
            <a:r>
              <a:rPr lang="en-US" altLang="zh-CN" sz="20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&lt;</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n</a:t>
            </a:r>
            <a:r>
              <a:rPr lang="en-US" altLang="zh-CN" sz="20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-1</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;i</a:t>
            </a:r>
            <a:r>
              <a:rPr lang="en-US" altLang="zh-CN" sz="20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buFont typeface="+mj-lt"/>
              <a:buAutoNum type="arabicPeriod"/>
            </a:pP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20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for</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20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int</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j</a:t>
            </a:r>
            <a:r>
              <a:rPr lang="en-US" altLang="zh-CN" sz="20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20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;j</a:t>
            </a:r>
            <a:r>
              <a:rPr lang="en-US" altLang="zh-CN" sz="20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&lt;</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n</a:t>
            </a:r>
            <a:r>
              <a:rPr lang="en-US" altLang="zh-CN" sz="20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i</a:t>
            </a:r>
            <a:r>
              <a:rPr lang="en-US" altLang="zh-CN" sz="20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-1</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;j</a:t>
            </a:r>
            <a:r>
              <a:rPr lang="en-US" altLang="zh-CN" sz="20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buFont typeface="+mj-lt"/>
              <a:buAutoNum type="arabicPeriod"/>
            </a:pP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20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if</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2000"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strcmp</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(a[j],a[j</a:t>
            </a:r>
            <a:r>
              <a:rPr lang="en-US" altLang="zh-CN" sz="20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+1</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r>
              <a:rPr lang="en-US" altLang="zh-CN" sz="2000" kern="0" dirty="0">
                <a:solidFill>
                  <a:srgbClr val="3E999F"/>
                </a:solidFill>
                <a:effectLst/>
                <a:latin typeface="Fira Mono" panose="020B0509050000020004" pitchFamily="49" charset="0"/>
                <a:ea typeface="宋体" panose="02010600030101010101" pitchFamily="2" charset="-122"/>
                <a:cs typeface="宋体" panose="02010600030101010101" pitchFamily="2" charset="-122"/>
              </a:rPr>
              <a:t>&gt;</a:t>
            </a:r>
            <a:r>
              <a:rPr lang="en-US" altLang="zh-CN" sz="20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0</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buFont typeface="+mj-lt"/>
              <a:buAutoNum type="arabicPeriod"/>
            </a:pP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2000" kern="0" dirty="0">
                <a:solidFill>
                  <a:srgbClr val="8959A8"/>
                </a:solidFill>
                <a:effectLst/>
                <a:latin typeface="Fira Mono" panose="020B0509050000020004" pitchFamily="49" charset="0"/>
                <a:ea typeface="宋体" panose="02010600030101010101" pitchFamily="2" charset="-122"/>
                <a:cs typeface="宋体" panose="02010600030101010101" pitchFamily="2" charset="-122"/>
              </a:rPr>
              <a:t>char</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temp[</a:t>
            </a:r>
            <a:r>
              <a:rPr lang="en-US" altLang="zh-CN" sz="20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25</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buFont typeface="+mj-lt"/>
              <a:buAutoNum type="arabicPeriod"/>
            </a:pP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2000"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strcpy</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(temp, a[j]);</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buFont typeface="+mj-lt"/>
              <a:buAutoNum type="arabicPeriod"/>
            </a:pP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2000"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strcpy</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(a[j], a[j</a:t>
            </a:r>
            <a:r>
              <a:rPr lang="en-US" altLang="zh-CN" sz="20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+1</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buFont typeface="+mj-lt"/>
              <a:buAutoNum type="arabicPeriod"/>
            </a:pP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r>
              <a:rPr lang="en-US" altLang="zh-CN" sz="2000" kern="0" dirty="0" err="1">
                <a:solidFill>
                  <a:srgbClr val="4271AE"/>
                </a:solidFill>
                <a:effectLst/>
                <a:latin typeface="Fira Mono" panose="020B0509050000020004" pitchFamily="49" charset="0"/>
                <a:ea typeface="宋体" panose="02010600030101010101" pitchFamily="2" charset="-122"/>
                <a:cs typeface="宋体" panose="02010600030101010101" pitchFamily="2" charset="-122"/>
              </a:rPr>
              <a:t>strcpy</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(a[j</a:t>
            </a:r>
            <a:r>
              <a:rPr lang="en-US" altLang="zh-CN" sz="2000" kern="0" dirty="0">
                <a:solidFill>
                  <a:srgbClr val="F5871F"/>
                </a:solidFill>
                <a:effectLst/>
                <a:latin typeface="Fira Mono" panose="020B0509050000020004" pitchFamily="49" charset="0"/>
                <a:ea typeface="宋体" panose="02010600030101010101" pitchFamily="2" charset="-122"/>
                <a:cs typeface="宋体" panose="02010600030101010101" pitchFamily="2" charset="-122"/>
              </a:rPr>
              <a:t>+1</a:t>
            </a: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temp);</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buFont typeface="+mj-lt"/>
              <a:buAutoNum type="arabicPeriod"/>
            </a:pP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buFont typeface="+mj-lt"/>
              <a:buAutoNum type="arabicPeriod"/>
            </a:pP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a:p>
            <a:pPr algn="l">
              <a:spcBef>
                <a:spcPts val="0"/>
              </a:spcBef>
              <a:buFont typeface="+mj-lt"/>
              <a:buAutoNum type="arabicPeriod"/>
            </a:pPr>
            <a:r>
              <a:rPr lang="en-US" altLang="zh-CN" sz="2000" kern="0" dirty="0">
                <a:solidFill>
                  <a:srgbClr val="000000"/>
                </a:solidFill>
                <a:effectLst/>
                <a:latin typeface="Fira Mono" panose="020B0509050000020004" pitchFamily="49" charset="0"/>
                <a:ea typeface="宋体" panose="02010600030101010101" pitchFamily="2" charset="-122"/>
                <a:cs typeface="宋体" panose="02010600030101010101" pitchFamily="2" charset="-122"/>
              </a:rPr>
              <a:t>    }</a:t>
            </a:r>
            <a:endParaRPr lang="zh-CN" altLang="zh-CN" sz="2000" kern="100" dirty="0">
              <a:effectLst/>
              <a:latin typeface="等线" panose="02010600030101010101" charset="-122"/>
              <a:ea typeface="等线" panose="02010600030101010101" charset="-122"/>
              <a:cs typeface="Times New Roman" panose="02020603050405020304" pitchFamily="18" charset="0"/>
            </a:endParaRPr>
          </a:p>
          <a:p>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字符数组</a:t>
            </a:r>
            <a:r>
              <a:rPr lang="en-US" altLang="zh-CN" dirty="0"/>
              <a:t>/</a:t>
            </a:r>
            <a:r>
              <a:rPr lang="zh-CN" altLang="en-US" dirty="0"/>
              <a:t>整数数组</a:t>
            </a:r>
            <a:r>
              <a:rPr lang="en-US" altLang="zh-CN" dirty="0"/>
              <a:t>/</a:t>
            </a:r>
            <a:r>
              <a:rPr lang="zh-CN" altLang="en-US" dirty="0"/>
              <a:t>整数混合</a:t>
            </a:r>
            <a:endParaRPr lang="zh-CN" altLang="en-US" dirty="0"/>
          </a:p>
        </p:txBody>
      </p:sp>
      <p:sp>
        <p:nvSpPr>
          <p:cNvPr id="3" name="内容占位符 2"/>
          <p:cNvSpPr>
            <a:spLocks noGrp="1"/>
          </p:cNvSpPr>
          <p:nvPr>
            <p:ph idx="1"/>
          </p:nvPr>
        </p:nvSpPr>
        <p:spPr/>
        <p:txBody>
          <a:bodyPr>
            <a:normAutofit/>
          </a:bodyPr>
          <a:lstStyle/>
          <a:p>
            <a:r>
              <a:rPr lang="zh-CN" altLang="en-US" sz="2800" dirty="0"/>
              <a:t>数位分离</a:t>
            </a:r>
            <a:endParaRPr lang="en-US" altLang="zh-CN" sz="2800" dirty="0"/>
          </a:p>
          <a:p>
            <a:r>
              <a:rPr lang="zh-CN" altLang="en-US" sz="2800" dirty="0"/>
              <a:t>回文数字</a:t>
            </a:r>
            <a:endParaRPr lang="zh-CN" altLang="en-US" sz="2800" dirty="0"/>
          </a:p>
        </p:txBody>
      </p:sp>
      <p:sp>
        <p:nvSpPr>
          <p:cNvPr id="6" name="文本框 5"/>
          <p:cNvSpPr txBox="1"/>
          <p:nvPr/>
        </p:nvSpPr>
        <p:spPr>
          <a:xfrm>
            <a:off x="6128657" y="5056805"/>
            <a:ext cx="1681843" cy="1077218"/>
          </a:xfrm>
          <a:prstGeom prst="rect">
            <a:avLst/>
          </a:prstGeom>
          <a:noFill/>
        </p:spPr>
        <p:txBody>
          <a:bodyPr wrap="square">
            <a:spAutoFit/>
          </a:bodyPr>
          <a:lstStyle/>
          <a:p>
            <a:r>
              <a:rPr lang="zh-CN" altLang="en-US" sz="3200" b="1" dirty="0"/>
              <a:t>整数</a:t>
            </a:r>
            <a:endParaRPr lang="en-US" altLang="zh-CN" sz="3200" b="1" dirty="0"/>
          </a:p>
          <a:p>
            <a:r>
              <a:rPr lang="en-US" altLang="zh-CN" sz="3200" dirty="0"/>
              <a:t>290</a:t>
            </a:r>
            <a:endParaRPr lang="zh-CN" altLang="en-US" sz="3200" dirty="0"/>
          </a:p>
        </p:txBody>
      </p:sp>
      <p:sp>
        <p:nvSpPr>
          <p:cNvPr id="7" name="文本框 6"/>
          <p:cNvSpPr txBox="1"/>
          <p:nvPr/>
        </p:nvSpPr>
        <p:spPr>
          <a:xfrm>
            <a:off x="2530929" y="2825234"/>
            <a:ext cx="3336471" cy="1077218"/>
          </a:xfrm>
          <a:prstGeom prst="rect">
            <a:avLst/>
          </a:prstGeom>
          <a:noFill/>
        </p:spPr>
        <p:txBody>
          <a:bodyPr wrap="square">
            <a:spAutoFit/>
          </a:bodyPr>
          <a:lstStyle/>
          <a:p>
            <a:pPr algn="ctr"/>
            <a:r>
              <a:rPr lang="zh-CN" altLang="en-US" sz="3200" b="1" dirty="0"/>
              <a:t>字符数组</a:t>
            </a:r>
            <a:endParaRPr lang="en-US" altLang="zh-CN" sz="3200" b="1" dirty="0"/>
          </a:p>
          <a:p>
            <a:pPr algn="ctr"/>
            <a:r>
              <a:rPr lang="en-US" altLang="zh-CN" sz="3200" dirty="0"/>
              <a:t>{‘2’,’9’,’0’} = “290”</a:t>
            </a:r>
            <a:endParaRPr lang="zh-CN" altLang="en-US" sz="3200" dirty="0"/>
          </a:p>
        </p:txBody>
      </p:sp>
      <p:cxnSp>
        <p:nvCxnSpPr>
          <p:cNvPr id="9" name="直接箭头连接符 8"/>
          <p:cNvCxnSpPr/>
          <p:nvPr/>
        </p:nvCxnSpPr>
        <p:spPr>
          <a:xfrm flipH="1">
            <a:off x="2612571" y="4000500"/>
            <a:ext cx="854529" cy="9797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3091544" y="5486400"/>
            <a:ext cx="269965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flipV="1">
            <a:off x="5132616" y="3996986"/>
            <a:ext cx="1088571" cy="97291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2209800" y="3956128"/>
            <a:ext cx="881744" cy="9347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3091544" y="5818434"/>
            <a:ext cx="2628901" cy="2194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5505450" y="3852511"/>
            <a:ext cx="1094015" cy="95907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581775" y="4070436"/>
            <a:ext cx="800219" cy="584775"/>
          </a:xfrm>
          <a:prstGeom prst="rect">
            <a:avLst/>
          </a:prstGeom>
          <a:noFill/>
        </p:spPr>
        <p:txBody>
          <a:bodyPr wrap="none" rtlCol="0">
            <a:spAutoFit/>
          </a:bodyPr>
          <a:lstStyle/>
          <a:p>
            <a:r>
              <a:rPr lang="en-US" altLang="zh-CN" sz="3200" dirty="0"/>
              <a:t>+’0’</a:t>
            </a:r>
            <a:endParaRPr lang="zh-CN" altLang="en-US" sz="3200" dirty="0"/>
          </a:p>
        </p:txBody>
      </p:sp>
      <p:sp>
        <p:nvSpPr>
          <p:cNvPr id="28" name="文本框 27"/>
          <p:cNvSpPr txBox="1"/>
          <p:nvPr/>
        </p:nvSpPr>
        <p:spPr>
          <a:xfrm>
            <a:off x="3188837" y="4332860"/>
            <a:ext cx="720069" cy="584775"/>
          </a:xfrm>
          <a:prstGeom prst="rect">
            <a:avLst/>
          </a:prstGeom>
          <a:noFill/>
        </p:spPr>
        <p:txBody>
          <a:bodyPr wrap="none" rtlCol="0">
            <a:spAutoFit/>
          </a:bodyPr>
          <a:lstStyle/>
          <a:p>
            <a:r>
              <a:rPr lang="en-US" altLang="zh-CN" sz="3200" dirty="0"/>
              <a:t>-’0’</a:t>
            </a:r>
            <a:endParaRPr lang="zh-CN" altLang="en-US" sz="3200" dirty="0"/>
          </a:p>
        </p:txBody>
      </p:sp>
      <p:sp>
        <p:nvSpPr>
          <p:cNvPr id="29" name="文本框 28"/>
          <p:cNvSpPr txBox="1"/>
          <p:nvPr/>
        </p:nvSpPr>
        <p:spPr>
          <a:xfrm>
            <a:off x="3548871" y="5930429"/>
            <a:ext cx="1826141" cy="584775"/>
          </a:xfrm>
          <a:prstGeom prst="rect">
            <a:avLst/>
          </a:prstGeom>
          <a:noFill/>
        </p:spPr>
        <p:txBody>
          <a:bodyPr wrap="none" rtlCol="0">
            <a:spAutoFit/>
          </a:bodyPr>
          <a:lstStyle/>
          <a:p>
            <a:r>
              <a:rPr lang="zh-CN" altLang="en-US" sz="3200" dirty="0"/>
              <a:t>进制转换</a:t>
            </a:r>
            <a:endParaRPr lang="zh-CN" altLang="en-US" sz="3200" dirty="0"/>
          </a:p>
        </p:txBody>
      </p:sp>
      <p:sp>
        <p:nvSpPr>
          <p:cNvPr id="30" name="文本框 29"/>
          <p:cNvSpPr txBox="1"/>
          <p:nvPr/>
        </p:nvSpPr>
        <p:spPr>
          <a:xfrm>
            <a:off x="6128657" y="3438668"/>
            <a:ext cx="1256241" cy="1077218"/>
          </a:xfrm>
          <a:prstGeom prst="rect">
            <a:avLst/>
          </a:prstGeom>
          <a:noFill/>
        </p:spPr>
        <p:txBody>
          <a:bodyPr wrap="none" rtlCol="0">
            <a:spAutoFit/>
          </a:bodyPr>
          <a:lstStyle/>
          <a:p>
            <a:r>
              <a:rPr lang="en-US" altLang="zh-CN" sz="3200" dirty="0" err="1"/>
              <a:t>sscanf</a:t>
            </a:r>
            <a:endParaRPr lang="en-US" altLang="zh-CN" sz="3200" dirty="0"/>
          </a:p>
          <a:p>
            <a:r>
              <a:rPr lang="en-US" altLang="zh-CN" sz="3200" dirty="0" err="1"/>
              <a:t>sprintf</a:t>
            </a:r>
            <a:endParaRPr lang="zh-CN" altLang="en-US" sz="3200" dirty="0"/>
          </a:p>
        </p:txBody>
      </p:sp>
      <p:sp>
        <p:nvSpPr>
          <p:cNvPr id="31" name="文本框 30"/>
          <p:cNvSpPr txBox="1"/>
          <p:nvPr/>
        </p:nvSpPr>
        <p:spPr>
          <a:xfrm>
            <a:off x="7128569" y="5341380"/>
            <a:ext cx="1903085" cy="1384995"/>
          </a:xfrm>
          <a:prstGeom prst="rect">
            <a:avLst/>
          </a:prstGeom>
          <a:solidFill>
            <a:schemeClr val="bg1">
              <a:lumMod val="95000"/>
            </a:schemeClr>
          </a:solidFill>
        </p:spPr>
        <p:txBody>
          <a:bodyPr wrap="none" rtlCol="0">
            <a:spAutoFit/>
          </a:bodyPr>
          <a:lstStyle/>
          <a:p>
            <a:r>
              <a:rPr lang="zh-CN" altLang="en-US" sz="2800" dirty="0">
                <a:solidFill>
                  <a:schemeClr val="accent6"/>
                </a:solidFill>
                <a:sym typeface="Wingdings" panose="05000000000000000000" pitchFamily="2" charset="2"/>
              </a:rPr>
              <a:t></a:t>
            </a:r>
            <a:r>
              <a:rPr lang="zh-CN" altLang="en-US" sz="2800" dirty="0"/>
              <a:t>排序</a:t>
            </a:r>
            <a:endParaRPr lang="en-US" altLang="zh-CN" sz="2800" dirty="0"/>
          </a:p>
          <a:p>
            <a:r>
              <a:rPr lang="zh-CN" altLang="en-US" sz="2800" dirty="0">
                <a:solidFill>
                  <a:schemeClr val="accent6"/>
                </a:solidFill>
                <a:sym typeface="Wingdings" panose="05000000000000000000" pitchFamily="2" charset="2"/>
              </a:rPr>
              <a:t></a:t>
            </a:r>
            <a:r>
              <a:rPr lang="zh-CN" altLang="en-US" sz="2800" dirty="0"/>
              <a:t>加减计算</a:t>
            </a:r>
            <a:endParaRPr lang="en-US" altLang="zh-CN" sz="2800" dirty="0"/>
          </a:p>
          <a:p>
            <a:r>
              <a:rPr lang="zh-CN" altLang="en-US" sz="2800" dirty="0">
                <a:solidFill>
                  <a:schemeClr val="accent6"/>
                </a:solidFill>
                <a:sym typeface="Wingdings" panose="05000000000000000000" pitchFamily="2" charset="2"/>
              </a:rPr>
              <a:t></a:t>
            </a:r>
            <a:r>
              <a:rPr lang="zh-CN" altLang="en-US" sz="2800" dirty="0">
                <a:solidFill>
                  <a:schemeClr val="accent2"/>
                </a:solidFill>
                <a:sym typeface="Wingdings" panose="05000000000000000000" pitchFamily="2" charset="2"/>
              </a:rPr>
              <a:t>输入</a:t>
            </a:r>
            <a:r>
              <a:rPr lang="zh-CN" altLang="en-US" sz="2800" dirty="0">
                <a:sym typeface="Wingdings" panose="05000000000000000000" pitchFamily="2" charset="2"/>
              </a:rPr>
              <a:t>输出</a:t>
            </a:r>
            <a:endParaRPr lang="zh-CN" altLang="en-US" sz="2800" dirty="0"/>
          </a:p>
        </p:txBody>
      </p:sp>
      <p:sp>
        <p:nvSpPr>
          <p:cNvPr id="32" name="文本框 31"/>
          <p:cNvSpPr txBox="1"/>
          <p:nvPr/>
        </p:nvSpPr>
        <p:spPr>
          <a:xfrm>
            <a:off x="3344636" y="1361116"/>
            <a:ext cx="5134739" cy="1384995"/>
          </a:xfrm>
          <a:prstGeom prst="rect">
            <a:avLst/>
          </a:prstGeom>
          <a:solidFill>
            <a:schemeClr val="bg1">
              <a:lumMod val="95000"/>
            </a:schemeClr>
          </a:solidFill>
        </p:spPr>
        <p:txBody>
          <a:bodyPr wrap="none" rtlCol="0">
            <a:spAutoFit/>
          </a:bodyPr>
          <a:lstStyle/>
          <a:p>
            <a:r>
              <a:rPr lang="zh-CN" altLang="en-US" sz="2800" dirty="0">
                <a:solidFill>
                  <a:schemeClr val="accent2"/>
                </a:solidFill>
                <a:sym typeface="Wingdings" panose="05000000000000000000" pitchFamily="2" charset="2"/>
              </a:rPr>
              <a:t></a:t>
            </a:r>
            <a:r>
              <a:rPr lang="zh-CN" altLang="en-US" sz="2800" dirty="0"/>
              <a:t>排序（同位数整数才能排序）</a:t>
            </a:r>
            <a:endParaRPr lang="en-US" altLang="zh-CN" sz="2800" dirty="0"/>
          </a:p>
          <a:p>
            <a:r>
              <a:rPr lang="zh-CN" altLang="en-US" sz="2800" dirty="0">
                <a:solidFill>
                  <a:schemeClr val="accent6"/>
                </a:solidFill>
                <a:sym typeface="Wingdings" panose="05000000000000000000" pitchFamily="2" charset="2"/>
              </a:rPr>
              <a:t></a:t>
            </a:r>
            <a:r>
              <a:rPr lang="zh-CN" altLang="en-US" sz="2800" dirty="0">
                <a:sym typeface="Wingdings" panose="05000000000000000000" pitchFamily="2" charset="2"/>
              </a:rPr>
              <a:t>数组</a:t>
            </a:r>
            <a:r>
              <a:rPr lang="en-US" altLang="zh-CN" sz="2800" dirty="0">
                <a:sym typeface="Wingdings" panose="05000000000000000000" pitchFamily="2" charset="2"/>
              </a:rPr>
              <a:t>/</a:t>
            </a:r>
            <a:r>
              <a:rPr lang="zh-CN" altLang="en-US" sz="2800" dirty="0">
                <a:sym typeface="Wingdings" panose="05000000000000000000" pitchFamily="2" charset="2"/>
              </a:rPr>
              <a:t>字符串操作</a:t>
            </a:r>
            <a:endParaRPr lang="en-US" altLang="zh-CN" sz="2800" dirty="0">
              <a:sym typeface="Wingdings" panose="05000000000000000000" pitchFamily="2" charset="2"/>
            </a:endParaRPr>
          </a:p>
          <a:p>
            <a:r>
              <a:rPr lang="zh-CN" altLang="en-US" sz="2800" dirty="0">
                <a:solidFill>
                  <a:schemeClr val="accent6"/>
                </a:solidFill>
                <a:sym typeface="Wingdings" panose="05000000000000000000" pitchFamily="2" charset="2"/>
              </a:rPr>
              <a:t></a:t>
            </a:r>
            <a:r>
              <a:rPr lang="zh-CN" altLang="en-US" sz="2800" dirty="0">
                <a:sym typeface="Wingdings" panose="05000000000000000000" pitchFamily="2" charset="2"/>
              </a:rPr>
              <a:t>输入输出</a:t>
            </a:r>
            <a:endParaRPr lang="zh-CN" altLang="en-US" sz="2800" dirty="0"/>
          </a:p>
        </p:txBody>
      </p:sp>
      <p:sp>
        <p:nvSpPr>
          <p:cNvPr id="34" name="文本框 33"/>
          <p:cNvSpPr txBox="1"/>
          <p:nvPr/>
        </p:nvSpPr>
        <p:spPr>
          <a:xfrm>
            <a:off x="38973" y="5940755"/>
            <a:ext cx="3341170" cy="954107"/>
          </a:xfrm>
          <a:prstGeom prst="rect">
            <a:avLst/>
          </a:prstGeom>
          <a:solidFill>
            <a:schemeClr val="bg1">
              <a:lumMod val="95000"/>
            </a:schemeClr>
          </a:solidFill>
        </p:spPr>
        <p:txBody>
          <a:bodyPr wrap="square">
            <a:spAutoFit/>
          </a:bodyPr>
          <a:lstStyle/>
          <a:p>
            <a:r>
              <a:rPr lang="zh-CN" altLang="en-US" sz="2800" dirty="0">
                <a:solidFill>
                  <a:schemeClr val="accent6"/>
                </a:solidFill>
                <a:sym typeface="Wingdings" panose="05000000000000000000" pitchFamily="2" charset="2"/>
              </a:rPr>
              <a:t></a:t>
            </a:r>
            <a:r>
              <a:rPr lang="zh-CN" altLang="en-US" sz="2800" dirty="0">
                <a:sym typeface="Wingdings" panose="05000000000000000000" pitchFamily="2" charset="2"/>
              </a:rPr>
              <a:t>数组操作，如计数</a:t>
            </a:r>
            <a:r>
              <a:rPr lang="zh-CN" altLang="en-US" sz="2800" dirty="0">
                <a:solidFill>
                  <a:schemeClr val="accent6"/>
                </a:solidFill>
                <a:sym typeface="Wingdings" panose="05000000000000000000" pitchFamily="2" charset="2"/>
              </a:rPr>
              <a:t></a:t>
            </a:r>
            <a:r>
              <a:rPr lang="zh-CN" altLang="en-US" sz="2800" dirty="0">
                <a:solidFill>
                  <a:schemeClr val="accent2"/>
                </a:solidFill>
                <a:sym typeface="Wingdings" panose="05000000000000000000" pitchFamily="2" charset="2"/>
              </a:rPr>
              <a:t>输入</a:t>
            </a:r>
            <a:r>
              <a:rPr lang="zh-CN" altLang="en-US" sz="2800" dirty="0">
                <a:sym typeface="Wingdings" panose="05000000000000000000" pitchFamily="2" charset="2"/>
              </a:rPr>
              <a:t>输出</a:t>
            </a:r>
            <a:endParaRPr lang="zh-CN" altLang="en-US" sz="2800" dirty="0"/>
          </a:p>
        </p:txBody>
      </p:sp>
      <p:sp>
        <p:nvSpPr>
          <p:cNvPr id="5" name="文本框 4"/>
          <p:cNvSpPr txBox="1"/>
          <p:nvPr/>
        </p:nvSpPr>
        <p:spPr>
          <a:xfrm>
            <a:off x="1230086" y="4999019"/>
            <a:ext cx="2237014" cy="1077218"/>
          </a:xfrm>
          <a:prstGeom prst="rect">
            <a:avLst/>
          </a:prstGeom>
          <a:noFill/>
        </p:spPr>
        <p:txBody>
          <a:bodyPr wrap="square">
            <a:spAutoFit/>
          </a:bodyPr>
          <a:lstStyle/>
          <a:p>
            <a:r>
              <a:rPr lang="zh-CN" altLang="en-US" sz="3200" b="1" dirty="0"/>
              <a:t>整数数组</a:t>
            </a:r>
            <a:endParaRPr lang="en-US" altLang="zh-CN" sz="3200" b="1" dirty="0"/>
          </a:p>
          <a:p>
            <a:r>
              <a:rPr lang="en-US" altLang="zh-CN" sz="3200" dirty="0"/>
              <a:t>{2,9,0}</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animBg="1"/>
      <p:bldP spid="32" grpId="0" animBg="1"/>
      <p:bldP spid="3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yoj448. </a:t>
            </a:r>
            <a:r>
              <a:rPr lang="zh-CN" altLang="en-US" dirty="0"/>
              <a:t>按要求读入并输出数据</a:t>
            </a:r>
            <a:endParaRPr lang="zh-CN" altLang="en-US" dirty="0"/>
          </a:p>
        </p:txBody>
      </p:sp>
      <p:sp>
        <p:nvSpPr>
          <p:cNvPr id="3" name="内容占位符 2"/>
          <p:cNvSpPr>
            <a:spLocks noGrp="1"/>
          </p:cNvSpPr>
          <p:nvPr>
            <p:ph idx="1"/>
          </p:nvPr>
        </p:nvSpPr>
        <p:spPr/>
        <p:txBody>
          <a:bodyPr>
            <a:normAutofit/>
          </a:bodyPr>
          <a:lstStyle/>
          <a:p>
            <a:pPr algn="l"/>
            <a:r>
              <a:rPr lang="zh-CN" altLang="en-US" b="0" i="0" dirty="0">
                <a:effectLst/>
                <a:latin typeface="Open Sans" panose="020B0606030504020204" pitchFamily="34" charset="0"/>
              </a:rPr>
              <a:t>读入一个整数（范围：</a:t>
            </a:r>
            <a:r>
              <a:rPr lang="en-US" altLang="zh-CN" b="0" i="0" dirty="0">
                <a:effectLst/>
                <a:latin typeface="Open Sans" panose="020B0606030504020204" pitchFamily="34" charset="0"/>
              </a:rPr>
              <a:t>0~10^100</a:t>
            </a:r>
            <a:r>
              <a:rPr lang="zh-CN" altLang="en-US" b="0" i="0" dirty="0">
                <a:effectLst/>
                <a:latin typeface="Open Sans" panose="020B0606030504020204" pitchFamily="34" charset="0"/>
              </a:rPr>
              <a:t>）和不同大小写的</a:t>
            </a:r>
            <a:r>
              <a:rPr lang="en-US" altLang="zh-CN" b="0" i="0" dirty="0">
                <a:effectLst/>
                <a:latin typeface="Open Sans" panose="020B0606030504020204" pitchFamily="34" charset="0"/>
              </a:rPr>
              <a:t>"hello world"</a:t>
            </a:r>
            <a:r>
              <a:rPr lang="zh-CN" altLang="en-US" b="0" i="0" dirty="0">
                <a:effectLst/>
                <a:latin typeface="Open Sans" panose="020B0606030504020204" pitchFamily="34" charset="0"/>
              </a:rPr>
              <a:t>并输</a:t>
            </a:r>
            <a:r>
              <a:rPr lang="zh-CN" altLang="en-US" b="0" i="0" dirty="0">
                <a:effectLst/>
                <a:latin typeface="Arial" panose="020B0604020202020204" pitchFamily="34" charset="0"/>
              </a:rPr>
              <a:t>出这些数据。（请不要用</a:t>
            </a:r>
            <a:r>
              <a:rPr lang="en-US" altLang="zh-CN" b="0" i="0" dirty="0" err="1">
                <a:effectLst/>
                <a:latin typeface="Arial" panose="020B0604020202020204" pitchFamily="34" charset="0"/>
              </a:rPr>
              <a:t>cin</a:t>
            </a:r>
            <a:r>
              <a:rPr lang="zh-CN" altLang="en-US" b="0" i="0" dirty="0">
                <a:effectLst/>
                <a:latin typeface="Arial" panose="020B0604020202020204" pitchFamily="34" charset="0"/>
              </a:rPr>
              <a:t>与</a:t>
            </a:r>
            <a:r>
              <a:rPr lang="en-US" altLang="zh-CN" b="0" i="0" dirty="0" err="1">
                <a:effectLst/>
                <a:latin typeface="Arial" panose="020B0604020202020204" pitchFamily="34" charset="0"/>
              </a:rPr>
              <a:t>cout</a:t>
            </a:r>
            <a:r>
              <a:rPr lang="zh-CN" altLang="en-US" b="0" i="0" dirty="0">
                <a:effectLst/>
                <a:latin typeface="Arial" panose="020B0604020202020204" pitchFamily="34" charset="0"/>
              </a:rPr>
              <a:t>）</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输入格式</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第一行输入一个整数（范围：</a:t>
            </a:r>
            <a:r>
              <a:rPr lang="en-US" altLang="zh-CN" b="0" i="0" dirty="0">
                <a:effectLst/>
                <a:latin typeface="Open Sans" panose="020B0606030504020204" pitchFamily="34" charset="0"/>
              </a:rPr>
              <a:t>0~10^100</a:t>
            </a:r>
            <a:r>
              <a:rPr lang="zh-CN" altLang="en-US" b="0" i="0" dirty="0">
                <a:effectLst/>
                <a:latin typeface="Open Sans" panose="020B0606030504020204" pitchFamily="34" charset="0"/>
              </a:rPr>
              <a:t>），第二行输入大小写不同的</a:t>
            </a:r>
            <a:r>
              <a:rPr lang="en-US" altLang="zh-CN" b="0" i="0" dirty="0">
                <a:effectLst/>
                <a:latin typeface="Open Sans" panose="020B0606030504020204" pitchFamily="34" charset="0"/>
              </a:rPr>
              <a:t>"hello world"</a:t>
            </a:r>
            <a:r>
              <a:rPr lang="zh-CN" altLang="en-US" b="0" i="0" dirty="0">
                <a:effectLst/>
                <a:latin typeface="Open Sans" panose="020B0606030504020204" pitchFamily="34" charset="0"/>
              </a:rPr>
              <a:t>。</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输出格式</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按输入格式输出数据</a:t>
            </a:r>
            <a:endParaRPr lang="zh-CN" altLang="en-US" b="0" i="0" dirty="0">
              <a:effectLst/>
              <a:latin typeface="Open Sans" panose="020B0606030504020204" pitchFamily="34" charset="0"/>
            </a:endParaRPr>
          </a:p>
          <a:p>
            <a:endParaRPr lang="zh-CN" altLang="en-US" dirty="0"/>
          </a:p>
        </p:txBody>
      </p:sp>
      <p:sp>
        <p:nvSpPr>
          <p:cNvPr id="5" name="文本框 4"/>
          <p:cNvSpPr txBox="1"/>
          <p:nvPr/>
        </p:nvSpPr>
        <p:spPr>
          <a:xfrm>
            <a:off x="5257799" y="3826531"/>
            <a:ext cx="3499757" cy="2677656"/>
          </a:xfrm>
          <a:prstGeom prst="rect">
            <a:avLst/>
          </a:prstGeom>
          <a:noFill/>
        </p:spPr>
        <p:txBody>
          <a:bodyPr wrap="square">
            <a:spAutoFit/>
          </a:bodyPr>
          <a:lstStyle/>
          <a:p>
            <a:pPr algn="l"/>
            <a:r>
              <a:rPr lang="en-US" altLang="zh-CN" sz="2800" b="0" i="0" dirty="0">
                <a:effectLst/>
                <a:latin typeface="Open Sans" panose="020B0606030504020204" pitchFamily="34" charset="0"/>
              </a:rPr>
              <a:t>【</a:t>
            </a:r>
            <a:r>
              <a:rPr lang="zh-CN" altLang="en-US" sz="2800" b="0" i="0" dirty="0">
                <a:effectLst/>
                <a:latin typeface="Open Sans" panose="020B0606030504020204" pitchFamily="34" charset="0"/>
              </a:rPr>
              <a:t>输入样例</a:t>
            </a:r>
            <a:r>
              <a:rPr lang="en-US" altLang="zh-CN" sz="2800" b="0" i="0" dirty="0">
                <a:effectLst/>
                <a:latin typeface="Open Sans" panose="020B0606030504020204" pitchFamily="34" charset="0"/>
              </a:rPr>
              <a:t>】</a:t>
            </a:r>
            <a:endParaRPr lang="en-US" altLang="zh-CN" sz="2800" b="0" i="0" dirty="0">
              <a:effectLst/>
              <a:latin typeface="Open Sans" panose="020B0606030504020204" pitchFamily="34" charset="0"/>
            </a:endParaRPr>
          </a:p>
          <a:p>
            <a:pPr algn="l"/>
            <a:r>
              <a:rPr lang="en-US" altLang="zh-CN" sz="2800" b="0" i="0" dirty="0">
                <a:effectLst/>
                <a:latin typeface="黑体" panose="02010609060101010101" pitchFamily="49" charset="-122"/>
                <a:ea typeface="黑体" panose="02010609060101010101" pitchFamily="49" charset="-122"/>
              </a:rPr>
              <a:t>98765432123456789</a:t>
            </a:r>
            <a:endParaRPr lang="zh-CN" altLang="en-US" sz="2800" b="0" i="0" dirty="0">
              <a:effectLst/>
              <a:latin typeface="Open Sans" panose="020B0606030504020204" pitchFamily="34" charset="0"/>
            </a:endParaRPr>
          </a:p>
          <a:p>
            <a:pPr algn="l"/>
            <a:r>
              <a:rPr lang="en-US" altLang="zh-CN" sz="2800" b="0" i="0" dirty="0">
                <a:effectLst/>
                <a:latin typeface="黑体" panose="02010609060101010101" pitchFamily="49" charset="-122"/>
                <a:ea typeface="黑体" panose="02010609060101010101" pitchFamily="49" charset="-122"/>
              </a:rPr>
              <a:t>hello WORLD</a:t>
            </a:r>
            <a:endParaRPr lang="zh-CN" altLang="en-US" sz="2800" b="0" i="0" dirty="0">
              <a:effectLst/>
              <a:latin typeface="Open Sans" panose="020B0606030504020204" pitchFamily="34" charset="0"/>
            </a:endParaRPr>
          </a:p>
          <a:p>
            <a:pPr algn="l"/>
            <a:r>
              <a:rPr lang="en-US" altLang="zh-CN" sz="2800" b="0" i="0" dirty="0">
                <a:effectLst/>
                <a:latin typeface="Open Sans" panose="020B0606030504020204" pitchFamily="34" charset="0"/>
              </a:rPr>
              <a:t>【</a:t>
            </a:r>
            <a:r>
              <a:rPr lang="zh-CN" altLang="en-US" sz="2800" b="0" i="0" dirty="0">
                <a:effectLst/>
                <a:latin typeface="Open Sans" panose="020B0606030504020204" pitchFamily="34" charset="0"/>
              </a:rPr>
              <a:t>输出样例</a:t>
            </a:r>
            <a:r>
              <a:rPr lang="en-US" altLang="zh-CN" sz="2800" b="0" i="0" dirty="0">
                <a:effectLst/>
                <a:latin typeface="Open Sans" panose="020B0606030504020204" pitchFamily="34" charset="0"/>
              </a:rPr>
              <a:t>】</a:t>
            </a:r>
            <a:endParaRPr lang="en-US" altLang="zh-CN" sz="2800" b="0" i="0" dirty="0">
              <a:effectLst/>
              <a:latin typeface="Open Sans" panose="020B0606030504020204" pitchFamily="34" charset="0"/>
            </a:endParaRPr>
          </a:p>
          <a:p>
            <a:pPr algn="l"/>
            <a:r>
              <a:rPr lang="en-US" altLang="zh-CN" sz="2800" b="0" i="0" dirty="0">
                <a:effectLst/>
                <a:latin typeface="黑体" panose="02010609060101010101" pitchFamily="49" charset="-122"/>
                <a:ea typeface="黑体" panose="02010609060101010101" pitchFamily="49" charset="-122"/>
              </a:rPr>
              <a:t>98765432123456789</a:t>
            </a:r>
            <a:endParaRPr lang="zh-CN" altLang="en-US" sz="2800" b="0" i="0" dirty="0">
              <a:effectLst/>
              <a:latin typeface="Open Sans" panose="020B0606030504020204" pitchFamily="34" charset="0"/>
            </a:endParaRPr>
          </a:p>
          <a:p>
            <a:pPr algn="l"/>
            <a:r>
              <a:rPr lang="en-US" altLang="zh-CN" sz="2800" b="0" i="0" dirty="0">
                <a:effectLst/>
                <a:latin typeface="黑体" panose="02010609060101010101" pitchFamily="49" charset="-122"/>
                <a:ea typeface="黑体" panose="02010609060101010101" pitchFamily="49" charset="-122"/>
              </a:rPr>
              <a:t>hello WORLD</a:t>
            </a:r>
            <a:endParaRPr lang="zh-CN" altLang="en-US" sz="2800" b="0" i="0" dirty="0">
              <a:effectLst/>
              <a:latin typeface="Open Sans" panose="020B0606030504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yoj</a:t>
            </a:r>
            <a:r>
              <a:rPr lang="en-US" altLang="zh-CN" b="1" i="0" dirty="0">
                <a:effectLst/>
                <a:latin typeface="Lato" panose="020F0502020204030203" pitchFamily="34" charset="0"/>
              </a:rPr>
              <a:t>186. </a:t>
            </a:r>
            <a:r>
              <a:rPr lang="zh-CN" altLang="en-US" b="1" i="0" dirty="0">
                <a:effectLst/>
                <a:latin typeface="Lato" panose="020F0502020204030203" pitchFamily="34" charset="0"/>
              </a:rPr>
              <a:t>数字反转</a:t>
            </a:r>
            <a:endParaRPr lang="zh-CN" altLang="en-US" dirty="0"/>
          </a:p>
        </p:txBody>
      </p:sp>
      <p:sp>
        <p:nvSpPr>
          <p:cNvPr id="3" name="内容占位符 2"/>
          <p:cNvSpPr>
            <a:spLocks noGrp="1"/>
          </p:cNvSpPr>
          <p:nvPr>
            <p:ph idx="1"/>
          </p:nvPr>
        </p:nvSpPr>
        <p:spPr>
          <a:xfrm>
            <a:off x="432000" y="1535837"/>
            <a:ext cx="8461629" cy="4764163"/>
          </a:xfrm>
        </p:spPr>
        <p:txBody>
          <a:bodyPr>
            <a:normAutofit/>
          </a:bodyPr>
          <a:lstStyle/>
          <a:p>
            <a:pPr algn="l"/>
            <a:r>
              <a:rPr lang="zh-CN" altLang="en-US" b="0" i="0" dirty="0">
                <a:effectLst/>
                <a:latin typeface="Open Sans" panose="020B0606030504020204" pitchFamily="34" charset="0"/>
              </a:rPr>
              <a:t>给定一个整数，请将该数各个位上数字反转得到一个新数。</a:t>
            </a:r>
            <a:endParaRPr lang="zh-CN" altLang="en-US" b="0" i="0" dirty="0">
              <a:effectLst/>
              <a:latin typeface="Open Sans" panose="020B0606030504020204" pitchFamily="34" charset="0"/>
            </a:endParaRPr>
          </a:p>
          <a:p>
            <a:pPr algn="l"/>
            <a:r>
              <a:rPr lang="zh-CN" altLang="en-US" b="1" i="0" dirty="0">
                <a:effectLst/>
                <a:latin typeface="Lato" panose="020F0502020204030203" pitchFamily="34" charset="0"/>
              </a:rPr>
              <a:t>输入格式</a:t>
            </a:r>
            <a:endParaRPr lang="zh-CN" altLang="en-US" b="1" i="0" dirty="0">
              <a:effectLst/>
              <a:latin typeface="Lato" panose="020F0502020204030203" pitchFamily="34" charset="0"/>
            </a:endParaRPr>
          </a:p>
          <a:p>
            <a:pPr algn="l"/>
            <a:r>
              <a:rPr lang="zh-CN" altLang="en-US" b="0" i="0" dirty="0">
                <a:effectLst/>
                <a:latin typeface="Open Sans" panose="020B0606030504020204" pitchFamily="34" charset="0"/>
              </a:rPr>
              <a:t>　　输入共</a:t>
            </a:r>
            <a:r>
              <a:rPr lang="en-US" altLang="zh-CN" b="0" i="0" dirty="0">
                <a:effectLst/>
                <a:latin typeface="Open Sans" panose="020B0606030504020204" pitchFamily="34" charset="0"/>
              </a:rPr>
              <a:t>1</a:t>
            </a:r>
            <a:r>
              <a:rPr lang="zh-CN" altLang="en-US" b="0" i="0" dirty="0">
                <a:effectLst/>
                <a:latin typeface="Open Sans" panose="020B0606030504020204" pitchFamily="34" charset="0"/>
              </a:rPr>
              <a:t>行，一个整数</a:t>
            </a:r>
            <a:r>
              <a:rPr lang="en-US" altLang="zh-CN" b="0" i="0" dirty="0">
                <a:effectLst/>
                <a:latin typeface="Open Sans" panose="020B0606030504020204" pitchFamily="34" charset="0"/>
              </a:rPr>
              <a:t>N</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-1,000,000,000 ≤ N ≤ 1,000,000,000</a:t>
            </a:r>
            <a:r>
              <a:rPr lang="zh-CN" altLang="en-US" b="0" i="0" dirty="0">
                <a:effectLst/>
                <a:latin typeface="Open Sans" panose="020B0606030504020204" pitchFamily="34" charset="0"/>
              </a:rPr>
              <a:t>）。</a:t>
            </a:r>
            <a:endParaRPr lang="zh-CN" altLang="en-US" b="0" i="0" dirty="0">
              <a:effectLst/>
              <a:latin typeface="Open Sans" panose="020B0606030504020204" pitchFamily="34" charset="0"/>
            </a:endParaRPr>
          </a:p>
          <a:p>
            <a:pPr algn="l"/>
            <a:r>
              <a:rPr lang="zh-CN" altLang="en-US" b="1" i="0" dirty="0">
                <a:effectLst/>
                <a:latin typeface="Lato" panose="020F0502020204030203" pitchFamily="34" charset="0"/>
              </a:rPr>
              <a:t>输出格式</a:t>
            </a:r>
            <a:endParaRPr lang="zh-CN" altLang="en-US" b="1" i="0" dirty="0">
              <a:effectLst/>
              <a:latin typeface="Lato" panose="020F0502020204030203" pitchFamily="34" charset="0"/>
            </a:endParaRPr>
          </a:p>
          <a:p>
            <a:pPr algn="l"/>
            <a:r>
              <a:rPr lang="zh-CN" altLang="en-US" b="0" i="0" dirty="0">
                <a:effectLst/>
                <a:latin typeface="Open Sans" panose="020B0606030504020204" pitchFamily="34" charset="0"/>
              </a:rPr>
              <a:t>　　输出共</a:t>
            </a:r>
            <a:r>
              <a:rPr lang="en-US" altLang="zh-CN" b="0" i="0" dirty="0">
                <a:effectLst/>
                <a:latin typeface="Open Sans" panose="020B0606030504020204" pitchFamily="34" charset="0"/>
              </a:rPr>
              <a:t>1</a:t>
            </a:r>
            <a:r>
              <a:rPr lang="zh-CN" altLang="en-US" b="0" i="0" dirty="0">
                <a:effectLst/>
                <a:latin typeface="Open Sans" panose="020B0606030504020204" pitchFamily="34" charset="0"/>
              </a:rPr>
              <a:t>行，一个整数，表示反转后的新数。</a:t>
            </a:r>
            <a:endParaRPr lang="zh-CN" altLang="en-US" b="0" i="0" dirty="0">
              <a:effectLst/>
              <a:latin typeface="Open Sans" panose="020B0606030504020204" pitchFamily="34" charset="0"/>
            </a:endParaRPr>
          </a:p>
          <a:p>
            <a:endParaRPr lang="zh-CN" altLang="en-US" dirty="0"/>
          </a:p>
        </p:txBody>
      </p:sp>
      <p:sp>
        <p:nvSpPr>
          <p:cNvPr id="5" name="文本框 4"/>
          <p:cNvSpPr txBox="1"/>
          <p:nvPr/>
        </p:nvSpPr>
        <p:spPr>
          <a:xfrm>
            <a:off x="4547193" y="4746429"/>
            <a:ext cx="2152964" cy="1569660"/>
          </a:xfrm>
          <a:prstGeom prst="rect">
            <a:avLst/>
          </a:prstGeom>
          <a:noFill/>
        </p:spPr>
        <p:txBody>
          <a:bodyPr wrap="square">
            <a:spAutoFit/>
          </a:bodyPr>
          <a:lstStyle/>
          <a:p>
            <a:pPr algn="l"/>
            <a:r>
              <a:rPr lang="zh-CN" altLang="en-US" sz="2400" b="1" i="0" dirty="0">
                <a:effectLst/>
                <a:latin typeface="Lato" panose="020F0502020204030203" pitchFamily="34" charset="0"/>
              </a:rPr>
              <a:t>输入样例</a:t>
            </a:r>
            <a:endParaRPr lang="zh-CN" altLang="en-US" sz="2400" b="1" i="0" dirty="0">
              <a:effectLst/>
              <a:latin typeface="Lato" panose="020F0502020204030203" pitchFamily="34" charset="0"/>
            </a:endParaRPr>
          </a:p>
          <a:p>
            <a:pPr algn="l"/>
            <a:r>
              <a:rPr lang="en-US" altLang="zh-CN" sz="2400" b="0" i="0" dirty="0">
                <a:effectLst/>
                <a:latin typeface="Open Sans" panose="020B0606030504020204" pitchFamily="34" charset="0"/>
              </a:rPr>
              <a:t>-290</a:t>
            </a:r>
            <a:endParaRPr lang="en-US" altLang="zh-CN" sz="2400" b="0" i="0" dirty="0">
              <a:effectLst/>
              <a:latin typeface="Open Sans" panose="020B0606030504020204" pitchFamily="34" charset="0"/>
            </a:endParaRPr>
          </a:p>
          <a:p>
            <a:pPr algn="l"/>
            <a:r>
              <a:rPr lang="zh-CN" altLang="en-US" sz="2400" b="1" i="0" dirty="0">
                <a:effectLst/>
                <a:latin typeface="Lato" panose="020F0502020204030203" pitchFamily="34" charset="0"/>
              </a:rPr>
              <a:t>输出样例</a:t>
            </a:r>
            <a:endParaRPr lang="zh-CN" altLang="en-US" sz="2400" b="1" i="0" dirty="0">
              <a:effectLst/>
              <a:latin typeface="Lato" panose="020F0502020204030203" pitchFamily="34" charset="0"/>
            </a:endParaRPr>
          </a:p>
          <a:p>
            <a:pPr algn="l"/>
            <a:r>
              <a:rPr lang="en-US" altLang="zh-CN" sz="2400" dirty="0">
                <a:latin typeface="Open Sans" panose="020B0606030504020204" pitchFamily="34" charset="0"/>
              </a:rPr>
              <a:t>-92</a:t>
            </a:r>
            <a:endParaRPr lang="en-US" altLang="zh-CN" sz="2400" b="0" i="0" dirty="0">
              <a:effectLst/>
              <a:latin typeface="Open Sans" panose="020B0606030504020204" pitchFamily="34" charset="0"/>
            </a:endParaRPr>
          </a:p>
        </p:txBody>
      </p:sp>
      <p:sp>
        <p:nvSpPr>
          <p:cNvPr id="6" name="文本框 5"/>
          <p:cNvSpPr txBox="1"/>
          <p:nvPr/>
        </p:nvSpPr>
        <p:spPr>
          <a:xfrm>
            <a:off x="1660070" y="4730340"/>
            <a:ext cx="2264229" cy="1569660"/>
          </a:xfrm>
          <a:prstGeom prst="rect">
            <a:avLst/>
          </a:prstGeom>
          <a:noFill/>
        </p:spPr>
        <p:txBody>
          <a:bodyPr wrap="square">
            <a:spAutoFit/>
          </a:bodyPr>
          <a:lstStyle/>
          <a:p>
            <a:pPr algn="l"/>
            <a:r>
              <a:rPr lang="zh-CN" altLang="en-US" sz="2400" b="1" i="0" dirty="0">
                <a:effectLst/>
                <a:latin typeface="Lato" panose="020F0502020204030203" pitchFamily="34" charset="0"/>
              </a:rPr>
              <a:t>输入样例</a:t>
            </a:r>
            <a:endParaRPr lang="zh-CN" altLang="en-US" sz="2400" b="1" i="0" dirty="0">
              <a:effectLst/>
              <a:latin typeface="Lato" panose="020F0502020204030203" pitchFamily="34" charset="0"/>
            </a:endParaRPr>
          </a:p>
          <a:p>
            <a:pPr algn="l"/>
            <a:r>
              <a:rPr lang="en-US" altLang="zh-CN" sz="2400" b="0" i="0" dirty="0">
                <a:effectLst/>
                <a:latin typeface="Open Sans" panose="020B0606030504020204" pitchFamily="34" charset="0"/>
              </a:rPr>
              <a:t>123</a:t>
            </a:r>
            <a:endParaRPr lang="en-US" altLang="zh-CN" sz="2400" b="0" i="0" dirty="0">
              <a:effectLst/>
              <a:latin typeface="Open Sans" panose="020B0606030504020204" pitchFamily="34" charset="0"/>
            </a:endParaRPr>
          </a:p>
          <a:p>
            <a:pPr algn="l"/>
            <a:r>
              <a:rPr lang="zh-CN" altLang="en-US" sz="2400" b="1" i="0" dirty="0">
                <a:effectLst/>
                <a:latin typeface="Lato" panose="020F0502020204030203" pitchFamily="34" charset="0"/>
              </a:rPr>
              <a:t>输出样例</a:t>
            </a:r>
            <a:endParaRPr lang="zh-CN" altLang="en-US" sz="2400" b="1" i="0" dirty="0">
              <a:effectLst/>
              <a:latin typeface="Lato" panose="020F0502020204030203" pitchFamily="34" charset="0"/>
            </a:endParaRPr>
          </a:p>
          <a:p>
            <a:pPr algn="l"/>
            <a:r>
              <a:rPr lang="en-US" altLang="zh-CN" sz="2400" b="0" i="0" dirty="0">
                <a:effectLst/>
                <a:latin typeface="Open Sans" panose="020B0606030504020204" pitchFamily="34" charset="0"/>
              </a:rPr>
              <a:t>321</a:t>
            </a:r>
            <a:endParaRPr lang="en-US" altLang="zh-CN" sz="2400" b="0" i="0" dirty="0">
              <a:effectLst/>
              <a:latin typeface="Open Sans" panose="020B0606030504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yoj492. </a:t>
            </a:r>
            <a:r>
              <a:rPr lang="zh-CN" altLang="en-US" dirty="0"/>
              <a:t>加法表达式</a:t>
            </a:r>
            <a:endParaRPr lang="zh-CN" altLang="en-US" dirty="0"/>
          </a:p>
        </p:txBody>
      </p:sp>
      <p:sp>
        <p:nvSpPr>
          <p:cNvPr id="3" name="内容占位符 2"/>
          <p:cNvSpPr>
            <a:spLocks noGrp="1"/>
          </p:cNvSpPr>
          <p:nvPr>
            <p:ph idx="1"/>
          </p:nvPr>
        </p:nvSpPr>
        <p:spPr/>
        <p:txBody>
          <a:bodyPr>
            <a:normAutofit fontScale="92500" lnSpcReduction="10000"/>
          </a:bodyPr>
          <a:lstStyle/>
          <a:p>
            <a:pPr algn="l"/>
            <a:r>
              <a:rPr lang="en-US" altLang="zh-CN" b="0"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问题描述</a:t>
            </a:r>
            <a:r>
              <a:rPr lang="en-US" altLang="zh-CN"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给定一个数字字符串</a:t>
            </a:r>
            <a:r>
              <a:rPr lang="en-US" altLang="zh-CN" b="0" i="0" dirty="0">
                <a:effectLst/>
                <a:latin typeface="Open Sans" panose="020B0606030504020204" pitchFamily="34" charset="0"/>
              </a:rPr>
              <a:t>S</a:t>
            </a:r>
            <a:r>
              <a:rPr lang="zh-CN" altLang="en-US" b="0" i="0" dirty="0">
                <a:effectLst/>
                <a:latin typeface="宋体" panose="02010600030101010101" pitchFamily="2" charset="-122"/>
                <a:ea typeface="宋体" panose="02010600030101010101" pitchFamily="2" charset="-122"/>
              </a:rPr>
              <a:t>，在其中添加</a:t>
            </a:r>
            <a:r>
              <a:rPr lang="en-US" altLang="zh-CN" b="0" i="0" dirty="0">
                <a:effectLst/>
                <a:latin typeface="Open Sans" panose="020B0606030504020204" pitchFamily="34" charset="0"/>
              </a:rPr>
              <a:t>3</a:t>
            </a:r>
            <a:r>
              <a:rPr lang="zh-CN" altLang="en-US" b="0" i="0" dirty="0">
                <a:effectLst/>
                <a:latin typeface="宋体" panose="02010600030101010101" pitchFamily="2" charset="-122"/>
                <a:ea typeface="宋体" panose="02010600030101010101" pitchFamily="2" charset="-122"/>
              </a:rPr>
              <a:t>个加号使其形成一个加法表达式。遍历所有可以构成合法加法表达式的加号添加方案，计算这些合法加法表达式的值，并按从大到小的顺序输出。</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例如：对于数字字符串</a:t>
            </a:r>
            <a:r>
              <a:rPr lang="en-US" altLang="zh-CN" b="0" i="0" dirty="0">
                <a:effectLst/>
                <a:latin typeface="Open Sans" panose="020B0606030504020204" pitchFamily="34" charset="0"/>
              </a:rPr>
              <a:t>12345</a:t>
            </a:r>
            <a:r>
              <a:rPr lang="zh-CN" altLang="en-US" b="0" i="0" dirty="0">
                <a:effectLst/>
                <a:latin typeface="宋体" panose="02010600030101010101" pitchFamily="2" charset="-122"/>
                <a:ea typeface="宋体" panose="02010600030101010101" pitchFamily="2" charset="-122"/>
              </a:rPr>
              <a:t>，添加</a:t>
            </a:r>
            <a:r>
              <a:rPr lang="en-US" altLang="zh-CN" b="0" i="0" dirty="0">
                <a:effectLst/>
                <a:latin typeface="Open Sans" panose="020B0606030504020204" pitchFamily="34" charset="0"/>
              </a:rPr>
              <a:t>3</a:t>
            </a:r>
            <a:r>
              <a:rPr lang="zh-CN" altLang="en-US" b="0" i="0" dirty="0">
                <a:effectLst/>
                <a:latin typeface="宋体" panose="02010600030101010101" pitchFamily="2" charset="-122"/>
                <a:ea typeface="宋体" panose="02010600030101010101" pitchFamily="2" charset="-122"/>
              </a:rPr>
              <a:t>个加号可以构成的加法表达式包括：</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a.</a:t>
            </a:r>
            <a:r>
              <a:rPr lang="zh-CN" altLang="en-US" b="0" i="0" dirty="0">
                <a:effectLst/>
                <a:latin typeface="Times New Roman" panose="02020603050405020304" pitchFamily="18" charset="0"/>
              </a:rPr>
              <a:t>      </a:t>
            </a:r>
            <a:r>
              <a:rPr lang="en-US" altLang="zh-CN" b="0" i="0" dirty="0">
                <a:effectLst/>
                <a:latin typeface="Open Sans" panose="020B0606030504020204" pitchFamily="34" charset="0"/>
              </a:rPr>
              <a:t>1+2+3+45=51</a:t>
            </a:r>
            <a:endParaRPr lang="en-US" altLang="zh-CN" b="0" i="0" dirty="0">
              <a:effectLst/>
              <a:latin typeface="Open Sans" panose="020B0606030504020204" pitchFamily="34" charset="0"/>
            </a:endParaRPr>
          </a:p>
          <a:p>
            <a:pPr algn="l"/>
            <a:r>
              <a:rPr lang="en-US" altLang="zh-CN" b="0" i="0" dirty="0">
                <a:effectLst/>
                <a:latin typeface="Open Sans" panose="020B0606030504020204" pitchFamily="34" charset="0"/>
              </a:rPr>
              <a:t>b.</a:t>
            </a:r>
            <a:r>
              <a:rPr lang="zh-CN" altLang="en-US" b="0" i="0" dirty="0">
                <a:effectLst/>
                <a:latin typeface="Times New Roman" panose="02020603050405020304" pitchFamily="18" charset="0"/>
              </a:rPr>
              <a:t>     </a:t>
            </a:r>
            <a:r>
              <a:rPr lang="en-US" altLang="zh-CN" b="0" i="0" dirty="0">
                <a:effectLst/>
                <a:latin typeface="Open Sans" panose="020B0606030504020204" pitchFamily="34" charset="0"/>
              </a:rPr>
              <a:t>1+2+34+5=42</a:t>
            </a:r>
            <a:endParaRPr lang="en-US" altLang="zh-CN" b="0" i="0" dirty="0">
              <a:effectLst/>
              <a:latin typeface="Open Sans" panose="020B0606030504020204" pitchFamily="34" charset="0"/>
            </a:endParaRPr>
          </a:p>
          <a:p>
            <a:pPr algn="l"/>
            <a:r>
              <a:rPr lang="en-US" altLang="zh-CN" b="0" i="0" dirty="0">
                <a:effectLst/>
                <a:latin typeface="Open Sans" panose="020B0606030504020204" pitchFamily="34" charset="0"/>
              </a:rPr>
              <a:t>c.</a:t>
            </a:r>
            <a:r>
              <a:rPr lang="zh-CN" altLang="en-US" b="0" i="0" dirty="0">
                <a:effectLst/>
                <a:latin typeface="Times New Roman" panose="02020603050405020304" pitchFamily="18" charset="0"/>
              </a:rPr>
              <a:t>      </a:t>
            </a:r>
            <a:r>
              <a:rPr lang="en-US" altLang="zh-CN" b="0" i="0" dirty="0">
                <a:effectLst/>
                <a:latin typeface="Open Sans" panose="020B0606030504020204" pitchFamily="34" charset="0"/>
              </a:rPr>
              <a:t>1+23+4+5=33</a:t>
            </a:r>
            <a:endParaRPr lang="en-US" altLang="zh-CN" b="0" i="0" dirty="0">
              <a:effectLst/>
              <a:latin typeface="Open Sans" panose="020B0606030504020204" pitchFamily="34" charset="0"/>
            </a:endParaRPr>
          </a:p>
          <a:p>
            <a:pPr algn="l"/>
            <a:r>
              <a:rPr lang="en-US" altLang="zh-CN" b="0" i="0" dirty="0">
                <a:effectLst/>
                <a:latin typeface="Open Sans" panose="020B0606030504020204" pitchFamily="34" charset="0"/>
              </a:rPr>
              <a:t>d.</a:t>
            </a:r>
            <a:r>
              <a:rPr lang="zh-CN" altLang="en-US" b="0" i="0" dirty="0">
                <a:effectLst/>
                <a:latin typeface="Times New Roman" panose="02020603050405020304" pitchFamily="18" charset="0"/>
              </a:rPr>
              <a:t>     </a:t>
            </a:r>
            <a:r>
              <a:rPr lang="en-US" altLang="zh-CN" b="0" i="0" dirty="0">
                <a:effectLst/>
                <a:latin typeface="Open Sans" panose="020B0606030504020204" pitchFamily="34" charset="0"/>
              </a:rPr>
              <a:t>12+3+4+5=24</a:t>
            </a:r>
            <a:endParaRPr lang="en-US" altLang="zh-CN"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按从大到小的顺序输出的结果是：</a:t>
            </a:r>
            <a:r>
              <a:rPr lang="en-US" altLang="zh-CN" b="0" i="0" dirty="0">
                <a:effectLst/>
                <a:latin typeface="Open Sans" panose="020B0606030504020204" pitchFamily="34" charset="0"/>
              </a:rPr>
              <a:t>51 42 33 24</a:t>
            </a:r>
            <a:endParaRPr lang="en-US" altLang="zh-CN" b="0" i="0" dirty="0">
              <a:effectLst/>
              <a:latin typeface="Open Sans" panose="020B0606030504020204" pitchFamily="34" charset="0"/>
            </a:endParaRPr>
          </a:p>
          <a:p>
            <a:pPr algn="l"/>
            <a:r>
              <a:rPr lang="zh-CN" altLang="en-US" dirty="0">
                <a:latin typeface="Open Sans" panose="020B0606030504020204" pitchFamily="34" charset="0"/>
              </a:rPr>
              <a:t>输出数字长度不超过</a:t>
            </a:r>
            <a:r>
              <a:rPr lang="en-US" altLang="zh-CN" dirty="0">
                <a:latin typeface="Open Sans" panose="020B0606030504020204" pitchFamily="34" charset="0"/>
              </a:rPr>
              <a:t>15</a:t>
            </a:r>
            <a:endParaRPr lang="en-US" altLang="zh-CN" b="0" i="0" dirty="0">
              <a:effectLst/>
              <a:latin typeface="Open Sans" panose="020B0606030504020204" pitchFamily="34" charset="0"/>
            </a:endParaRPr>
          </a:p>
          <a:p>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yoj</a:t>
            </a:r>
            <a:r>
              <a:rPr lang="en-US" altLang="zh-CN" b="1" i="0" dirty="0">
                <a:effectLst/>
                <a:latin typeface="Lato" panose="020F0502020204030203" pitchFamily="34" charset="0"/>
              </a:rPr>
              <a:t>486. </a:t>
            </a:r>
            <a:r>
              <a:rPr lang="zh-CN" altLang="en-US" b="1" i="0" dirty="0">
                <a:effectLst/>
                <a:latin typeface="Lato" panose="020F0502020204030203" pitchFamily="34" charset="0"/>
              </a:rPr>
              <a:t>碱基串排序</a:t>
            </a:r>
            <a:endParaRPr lang="zh-CN" altLang="en-US" dirty="0"/>
          </a:p>
        </p:txBody>
      </p:sp>
      <p:sp>
        <p:nvSpPr>
          <p:cNvPr id="3" name="内容占位符 2"/>
          <p:cNvSpPr>
            <a:spLocks noGrp="1"/>
          </p:cNvSpPr>
          <p:nvPr>
            <p:ph idx="1"/>
          </p:nvPr>
        </p:nvSpPr>
        <p:spPr/>
        <p:txBody>
          <a:bodyPr>
            <a:normAutofit/>
          </a:bodyPr>
          <a:lstStyle/>
          <a:p>
            <a:pPr algn="l"/>
            <a:r>
              <a:rPr lang="en-US" altLang="zh-CN" b="0" i="0" dirty="0">
                <a:effectLst/>
                <a:latin typeface="Open Sans" panose="020B0606030504020204" pitchFamily="34" charset="0"/>
              </a:rPr>
              <a:t>【</a:t>
            </a:r>
            <a:r>
              <a:rPr lang="zh-CN" altLang="en-US" b="0" i="0" dirty="0">
                <a:effectLst/>
                <a:latin typeface="Open Sans" panose="020B0606030504020204" pitchFamily="34" charset="0"/>
              </a:rPr>
              <a:t>问题描述</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zh-CN" altLang="en-US" b="0" i="0" dirty="0">
                <a:effectLst/>
                <a:latin typeface="Open Sans" panose="020B0606030504020204" pitchFamily="34" charset="0"/>
              </a:rPr>
              <a:t>脱氧核糖核酸（</a:t>
            </a:r>
            <a:r>
              <a:rPr lang="en-US" altLang="zh-CN" b="0" i="0" dirty="0">
                <a:effectLst/>
                <a:latin typeface="Open Sans" panose="020B0606030504020204" pitchFamily="34" charset="0"/>
              </a:rPr>
              <a:t>DNA</a:t>
            </a:r>
            <a:r>
              <a:rPr lang="zh-CN" altLang="en-US" b="0" i="0" dirty="0">
                <a:effectLst/>
                <a:latin typeface="Open Sans" panose="020B0606030504020204" pitchFamily="34" charset="0"/>
              </a:rPr>
              <a:t>）中，每个碱基只能为</a:t>
            </a:r>
            <a:r>
              <a:rPr lang="en-US" altLang="zh-CN" b="0" i="0" dirty="0">
                <a:effectLst/>
                <a:latin typeface="Open Sans" panose="020B0606030504020204" pitchFamily="34" charset="0"/>
              </a:rPr>
              <a:t>ACGT</a:t>
            </a:r>
            <a:r>
              <a:rPr lang="zh-CN" altLang="en-US" b="0" i="0" dirty="0">
                <a:effectLst/>
                <a:latin typeface="Open Sans" panose="020B0606030504020204" pitchFamily="34" charset="0"/>
              </a:rPr>
              <a:t>中的一个），请你对它们按用户指定的优先次序进行排序。</a:t>
            </a:r>
            <a:endParaRPr lang="zh-CN" altLang="en-US" b="0" i="0" dirty="0">
              <a:effectLst/>
              <a:latin typeface="Open Sans" panose="020B0606030504020204" pitchFamily="34" charset="0"/>
            </a:endParaRPr>
          </a:p>
          <a:p>
            <a:endParaRPr lang="zh-CN" altLang="en-US" dirty="0"/>
          </a:p>
        </p:txBody>
      </p:sp>
      <p:sp>
        <p:nvSpPr>
          <p:cNvPr id="5" name="文本框 4"/>
          <p:cNvSpPr txBox="1"/>
          <p:nvPr/>
        </p:nvSpPr>
        <p:spPr>
          <a:xfrm>
            <a:off x="1240972" y="2886786"/>
            <a:ext cx="4572000" cy="3785652"/>
          </a:xfrm>
          <a:prstGeom prst="rect">
            <a:avLst/>
          </a:prstGeom>
          <a:noFill/>
        </p:spPr>
        <p:txBody>
          <a:bodyPr wrap="square">
            <a:spAutoFit/>
          </a:bodyPr>
          <a:lstStyle/>
          <a:p>
            <a:pPr algn="l"/>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输入样例</a:t>
            </a:r>
            <a:r>
              <a:rPr lang="en-US" altLang="zh-CN" sz="2000" b="0" i="0" dirty="0">
                <a:effectLst/>
                <a:latin typeface="Open Sans" panose="020B0606030504020204" pitchFamily="34" charset="0"/>
              </a:rPr>
              <a:t>1】</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4</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ACGT</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T</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G</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C</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A</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a:t>
            </a:r>
            <a:r>
              <a:rPr lang="zh-CN" altLang="en-US" sz="2000" b="0" i="0" dirty="0">
                <a:effectLst/>
                <a:latin typeface="Open Sans" panose="020B0606030504020204" pitchFamily="34" charset="0"/>
              </a:rPr>
              <a:t>输出样例</a:t>
            </a:r>
            <a:r>
              <a:rPr lang="en-US" altLang="zh-CN" sz="2000" b="0" i="0" dirty="0">
                <a:effectLst/>
                <a:latin typeface="Open Sans" panose="020B0606030504020204" pitchFamily="34" charset="0"/>
              </a:rPr>
              <a:t>1】</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A</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C</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G</a:t>
            </a:r>
            <a:endParaRPr lang="en-US" altLang="zh-CN" sz="2000" b="0" i="0" dirty="0">
              <a:effectLst/>
              <a:latin typeface="Open Sans" panose="020B0606030504020204" pitchFamily="34" charset="0"/>
            </a:endParaRPr>
          </a:p>
          <a:p>
            <a:pPr algn="l"/>
            <a:r>
              <a:rPr lang="en-US" altLang="zh-CN" sz="2000" b="0" i="0" dirty="0">
                <a:effectLst/>
                <a:latin typeface="Open Sans" panose="020B0606030504020204" pitchFamily="34" charset="0"/>
              </a:rPr>
              <a:t>T</a:t>
            </a:r>
            <a:endParaRPr lang="en-US" altLang="zh-CN" sz="2000" b="0" i="0" dirty="0">
              <a:effectLst/>
              <a:latin typeface="Open Sans" panose="020B0606030504020204" pitchFamily="34" charset="0"/>
            </a:endParaRPr>
          </a:p>
        </p:txBody>
      </p:sp>
      <p:sp>
        <p:nvSpPr>
          <p:cNvPr id="7" name="文本框 6"/>
          <p:cNvSpPr txBox="1"/>
          <p:nvPr/>
        </p:nvSpPr>
        <p:spPr>
          <a:xfrm>
            <a:off x="4572000" y="2886786"/>
            <a:ext cx="4572000" cy="4524315"/>
          </a:xfrm>
          <a:prstGeom prst="rect">
            <a:avLst/>
          </a:prstGeom>
          <a:noFill/>
        </p:spPr>
        <p:txBody>
          <a:bodyPr wrap="square">
            <a:spAutoFit/>
          </a:bodyPr>
          <a:lstStyle/>
          <a:p>
            <a:r>
              <a:rPr lang="en-US" altLang="zh-CN" dirty="0">
                <a:effectLst/>
              </a:rPr>
              <a:t>【</a:t>
            </a:r>
            <a:r>
              <a:rPr lang="zh-CN" altLang="en-US" dirty="0">
                <a:effectLst/>
              </a:rPr>
              <a:t>样例输入</a:t>
            </a:r>
            <a:r>
              <a:rPr lang="en-US" altLang="zh-CN" dirty="0">
                <a:effectLst/>
              </a:rPr>
              <a:t>2】</a:t>
            </a:r>
            <a:endParaRPr lang="en-US" altLang="zh-CN" dirty="0">
              <a:effectLst/>
            </a:endParaRPr>
          </a:p>
          <a:p>
            <a:r>
              <a:rPr lang="en-US" altLang="zh-CN" dirty="0">
                <a:effectLst/>
              </a:rPr>
              <a:t>5</a:t>
            </a:r>
            <a:endParaRPr lang="en-US" altLang="zh-CN" dirty="0">
              <a:effectLst/>
            </a:endParaRPr>
          </a:p>
          <a:p>
            <a:r>
              <a:rPr lang="en-US" altLang="zh-CN" dirty="0">
                <a:effectLst/>
              </a:rPr>
              <a:t>TGCA</a:t>
            </a:r>
            <a:endParaRPr lang="en-US" altLang="zh-CN" dirty="0">
              <a:effectLst/>
            </a:endParaRPr>
          </a:p>
          <a:p>
            <a:r>
              <a:rPr lang="en-US" altLang="zh-CN" dirty="0">
                <a:effectLst/>
              </a:rPr>
              <a:t>AAT</a:t>
            </a:r>
            <a:endParaRPr lang="en-US" altLang="zh-CN" dirty="0">
              <a:effectLst/>
            </a:endParaRPr>
          </a:p>
          <a:p>
            <a:r>
              <a:rPr lang="en-US" altLang="zh-CN" dirty="0">
                <a:effectLst/>
              </a:rPr>
              <a:t>CAA</a:t>
            </a:r>
            <a:endParaRPr lang="en-US" altLang="zh-CN" dirty="0">
              <a:effectLst/>
            </a:endParaRPr>
          </a:p>
          <a:p>
            <a:r>
              <a:rPr lang="en-US" altLang="zh-CN" dirty="0">
                <a:effectLst/>
              </a:rPr>
              <a:t>AGT</a:t>
            </a:r>
            <a:endParaRPr lang="en-US" altLang="zh-CN" dirty="0">
              <a:effectLst/>
            </a:endParaRPr>
          </a:p>
          <a:p>
            <a:r>
              <a:rPr lang="en-US" altLang="zh-CN" dirty="0">
                <a:effectLst/>
              </a:rPr>
              <a:t>AGG</a:t>
            </a:r>
            <a:endParaRPr lang="en-US" altLang="zh-CN" dirty="0">
              <a:effectLst/>
            </a:endParaRPr>
          </a:p>
          <a:p>
            <a:r>
              <a:rPr lang="en-US" altLang="zh-CN" dirty="0">
                <a:effectLst/>
              </a:rPr>
              <a:t>ACA</a:t>
            </a:r>
            <a:endParaRPr lang="en-US" altLang="zh-CN" dirty="0">
              <a:effectLst/>
            </a:endParaRPr>
          </a:p>
          <a:p>
            <a:r>
              <a:rPr lang="en-US" altLang="zh-CN" dirty="0">
                <a:effectLst/>
              </a:rPr>
              <a:t>【</a:t>
            </a:r>
            <a:r>
              <a:rPr lang="zh-CN" altLang="en-US" dirty="0">
                <a:effectLst/>
              </a:rPr>
              <a:t>样例输出</a:t>
            </a:r>
            <a:r>
              <a:rPr lang="en-US" altLang="zh-CN" dirty="0">
                <a:effectLst/>
              </a:rPr>
              <a:t>2】</a:t>
            </a:r>
            <a:endParaRPr lang="en-US" altLang="zh-CN" dirty="0">
              <a:effectLst/>
            </a:endParaRPr>
          </a:p>
          <a:p>
            <a:r>
              <a:rPr lang="en-US" altLang="zh-CN" dirty="0">
                <a:effectLst/>
              </a:rPr>
              <a:t>CAA</a:t>
            </a:r>
            <a:endParaRPr lang="en-US" altLang="zh-CN" dirty="0">
              <a:effectLst/>
            </a:endParaRPr>
          </a:p>
          <a:p>
            <a:r>
              <a:rPr lang="en-US" altLang="zh-CN" dirty="0">
                <a:effectLst/>
              </a:rPr>
              <a:t>AGT</a:t>
            </a:r>
            <a:endParaRPr lang="en-US" altLang="zh-CN" dirty="0">
              <a:effectLst/>
            </a:endParaRPr>
          </a:p>
          <a:p>
            <a:r>
              <a:rPr lang="en-US" altLang="zh-CN" dirty="0">
                <a:effectLst/>
              </a:rPr>
              <a:t>AGG</a:t>
            </a:r>
            <a:endParaRPr lang="en-US" altLang="zh-CN" dirty="0">
              <a:effectLst/>
            </a:endParaRPr>
          </a:p>
          <a:p>
            <a:r>
              <a:rPr lang="en-US" altLang="zh-CN" dirty="0">
                <a:effectLst/>
              </a:rPr>
              <a:t>ACA</a:t>
            </a:r>
            <a:endParaRPr lang="en-US" altLang="zh-CN" dirty="0">
              <a:effectLst/>
            </a:endParaRPr>
          </a:p>
          <a:p>
            <a:r>
              <a:rPr lang="en-US" altLang="zh-CN" dirty="0">
                <a:effectLst/>
              </a:rPr>
              <a:t>AAT</a:t>
            </a:r>
            <a:endParaRPr lang="en-US" altLang="zh-CN" dirty="0">
              <a:effectLst/>
            </a:endParaRPr>
          </a:p>
          <a:p>
            <a:br>
              <a:rPr lang="en-US" altLang="zh-CN" dirty="0">
                <a:effectLst/>
              </a:rPr>
            </a:b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6806" y="388457"/>
            <a:ext cx="8230387" cy="899650"/>
          </a:xfrm>
        </p:spPr>
        <p:txBody>
          <a:bodyPr>
            <a:normAutofit/>
          </a:bodyPr>
          <a:lstStyle/>
          <a:p>
            <a:r>
              <a:rPr lang="en-US" altLang="zh-CN" dirty="0"/>
              <a:t>yoj</a:t>
            </a:r>
            <a:r>
              <a:rPr lang="en-US" altLang="zh-CN" b="1" i="0" dirty="0">
                <a:effectLst/>
                <a:latin typeface="Lato" panose="020F0502020204030203" pitchFamily="34" charset="0"/>
              </a:rPr>
              <a:t>867. </a:t>
            </a:r>
            <a:r>
              <a:rPr lang="zh-CN" altLang="en-US" b="1" i="0" dirty="0">
                <a:effectLst/>
                <a:latin typeface="Lato" panose="020F0502020204030203" pitchFamily="34" charset="0"/>
              </a:rPr>
              <a:t>迭代回文数</a:t>
            </a:r>
            <a:endParaRPr lang="zh-CN" altLang="en-US" dirty="0"/>
          </a:p>
        </p:txBody>
      </p:sp>
      <p:sp>
        <p:nvSpPr>
          <p:cNvPr id="3" name="内容占位符 2"/>
          <p:cNvSpPr>
            <a:spLocks noGrp="1"/>
          </p:cNvSpPr>
          <p:nvPr>
            <p:ph idx="1"/>
          </p:nvPr>
        </p:nvSpPr>
        <p:spPr>
          <a:xfrm>
            <a:off x="344914" y="1938608"/>
            <a:ext cx="6681814" cy="4764163"/>
          </a:xfrm>
        </p:spPr>
        <p:txBody>
          <a:bodyPr>
            <a:normAutofit fontScale="77500" lnSpcReduction="20000"/>
          </a:bodyPr>
          <a:lstStyle/>
          <a:p>
            <a:pPr algn="l"/>
            <a:r>
              <a:rPr lang="en-US" altLang="zh-CN" b="0"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问题描述</a:t>
            </a:r>
            <a:r>
              <a:rPr lang="en-US" altLang="zh-CN"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有些整数有这样一个特点：将其本身与其逆序数（即将其数位翻转颠倒得到的数）相加得到一个新数，然后将得到的和按照上述过程反复迭代运算，经过多次迭代后可以得到一个回文数（指正序和倒序读都一样的自然数），例如数字</a:t>
            </a:r>
            <a:r>
              <a:rPr lang="en-US" altLang="zh-CN" b="0" i="0" dirty="0">
                <a:effectLst/>
                <a:latin typeface="Open Sans" panose="020B0606030504020204" pitchFamily="34" charset="0"/>
              </a:rPr>
              <a:t>28</a:t>
            </a:r>
            <a:r>
              <a:rPr lang="zh-CN" altLang="en-US" b="0" i="0" dirty="0">
                <a:effectLst/>
                <a:latin typeface="宋体" panose="02010600030101010101" pitchFamily="2" charset="-122"/>
                <a:ea typeface="宋体" panose="02010600030101010101" pitchFamily="2" charset="-122"/>
              </a:rPr>
              <a:t>，各数位逆序翻转得到</a:t>
            </a:r>
            <a:r>
              <a:rPr lang="en-US" altLang="zh-CN" b="0" i="0" dirty="0">
                <a:effectLst/>
                <a:latin typeface="Open Sans" panose="020B0606030504020204" pitchFamily="34" charset="0"/>
              </a:rPr>
              <a:t>82</a:t>
            </a:r>
            <a:r>
              <a:rPr lang="zh-CN" altLang="en-US" b="0" i="0" dirty="0">
                <a:effectLst/>
                <a:latin typeface="宋体" panose="02010600030101010101" pitchFamily="2" charset="-122"/>
                <a:ea typeface="宋体" panose="02010600030101010101" pitchFamily="2" charset="-122"/>
              </a:rPr>
              <a:t>，</a:t>
            </a:r>
            <a:r>
              <a:rPr lang="en-US" altLang="zh-CN" b="0" i="0" dirty="0">
                <a:effectLst/>
                <a:latin typeface="Open Sans" panose="020B0606030504020204" pitchFamily="34" charset="0"/>
              </a:rPr>
              <a:t>28 + 82 = 110</a:t>
            </a:r>
            <a:r>
              <a:rPr lang="zh-CN" altLang="en-US" b="0" i="0" dirty="0">
                <a:effectLst/>
                <a:latin typeface="宋体" panose="02010600030101010101" pitchFamily="2" charset="-122"/>
                <a:ea typeface="宋体" panose="02010600030101010101" pitchFamily="2" charset="-122"/>
              </a:rPr>
              <a:t>，再将</a:t>
            </a:r>
            <a:r>
              <a:rPr lang="en-US" altLang="zh-CN" b="0" i="0" dirty="0">
                <a:effectLst/>
                <a:latin typeface="Open Sans" panose="020B0606030504020204" pitchFamily="34" charset="0"/>
              </a:rPr>
              <a:t>110</a:t>
            </a:r>
            <a:r>
              <a:rPr lang="zh-CN" altLang="en-US" b="0" i="0" dirty="0">
                <a:effectLst/>
                <a:latin typeface="宋体" panose="02010600030101010101" pitchFamily="2" charset="-122"/>
                <a:ea typeface="宋体" panose="02010600030101010101" pitchFamily="2" charset="-122"/>
              </a:rPr>
              <a:t>各数位逆序翻转得到</a:t>
            </a:r>
            <a:r>
              <a:rPr lang="en-US" altLang="zh-CN" b="0" i="0" dirty="0">
                <a:effectLst/>
                <a:latin typeface="Open Sans" panose="020B0606030504020204" pitchFamily="34" charset="0"/>
              </a:rPr>
              <a:t>11</a:t>
            </a:r>
            <a:r>
              <a:rPr lang="zh-CN" altLang="en-US" b="0" i="0" dirty="0">
                <a:effectLst/>
                <a:latin typeface="宋体" panose="02010600030101010101" pitchFamily="2" charset="-122"/>
                <a:ea typeface="宋体" panose="02010600030101010101" pitchFamily="2" charset="-122"/>
              </a:rPr>
              <a:t>，</a:t>
            </a:r>
            <a:r>
              <a:rPr lang="en-US" altLang="zh-CN" b="0" i="0" dirty="0">
                <a:effectLst/>
                <a:latin typeface="Open Sans" panose="020B0606030504020204" pitchFamily="34" charset="0"/>
              </a:rPr>
              <a:t>110 + 11 = 121</a:t>
            </a:r>
            <a:r>
              <a:rPr lang="zh-CN" altLang="en-US" b="0" i="0" dirty="0">
                <a:effectLst/>
                <a:latin typeface="宋体" panose="02010600030101010101" pitchFamily="2" charset="-122"/>
                <a:ea typeface="宋体" panose="02010600030101010101" pitchFamily="2" charset="-122"/>
              </a:rPr>
              <a:t>，</a:t>
            </a:r>
            <a:r>
              <a:rPr lang="en-US" altLang="zh-CN" b="0" i="0" dirty="0">
                <a:effectLst/>
                <a:latin typeface="Open Sans" panose="020B0606030504020204" pitchFamily="34" charset="0"/>
              </a:rPr>
              <a:t>121</a:t>
            </a:r>
            <a:r>
              <a:rPr lang="zh-CN" altLang="en-US" b="0" i="0" dirty="0">
                <a:effectLst/>
                <a:latin typeface="宋体" panose="02010600030101010101" pitchFamily="2" charset="-122"/>
                <a:ea typeface="宋体" panose="02010600030101010101" pitchFamily="2" charset="-122"/>
              </a:rPr>
              <a:t>是一个回文数。这样的整数称之为</a:t>
            </a:r>
            <a:r>
              <a:rPr lang="zh-CN" altLang="en-US" b="1" i="0" dirty="0">
                <a:effectLst/>
                <a:latin typeface="宋体" panose="02010600030101010101" pitchFamily="2" charset="-122"/>
                <a:ea typeface="宋体" panose="02010600030101010101" pitchFamily="2" charset="-122"/>
              </a:rPr>
              <a:t>迭代回文数</a:t>
            </a:r>
            <a:r>
              <a:rPr lang="zh-CN" altLang="en-US"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zh-CN" altLang="en-US" i="0" dirty="0">
                <a:effectLst/>
                <a:latin typeface="宋体" panose="02010600030101010101" pitchFamily="2" charset="-122"/>
                <a:ea typeface="宋体" panose="02010600030101010101" pitchFamily="2" charset="-122"/>
              </a:rPr>
              <a:t>现在给你任意</a:t>
            </a:r>
            <a:r>
              <a:rPr lang="en-US" altLang="zh-CN" i="0" dirty="0">
                <a:effectLst/>
                <a:latin typeface="Open Sans" panose="020B0606030504020204" pitchFamily="34" charset="0"/>
              </a:rPr>
              <a:t>10</a:t>
            </a:r>
            <a:r>
              <a:rPr lang="zh-CN" altLang="en-US" i="0" dirty="0">
                <a:effectLst/>
                <a:latin typeface="宋体" panose="02010600030101010101" pitchFamily="2" charset="-122"/>
                <a:ea typeface="宋体" panose="02010600030101010101" pitchFamily="2" charset="-122"/>
              </a:rPr>
              <a:t>个迭代回文数，请计算每个数是经过几次迭代变为回文数的，并迭代次数从大到小的顺序输出，迭代次数相同时，按照最后得到的回文数从小到大的顺序输出，回文数也相同时，按原始数字本身的大小从小到大输出。</a:t>
            </a:r>
            <a:endParaRPr lang="zh-CN" altLang="en-US"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注意：</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）若数字本身就是回文数，那么迭代次数为</a:t>
            </a:r>
            <a:r>
              <a:rPr lang="en-US" altLang="zh-CN" b="0" i="0" dirty="0">
                <a:effectLst/>
                <a:latin typeface="Open Sans" panose="020B0606030504020204" pitchFamily="34" charset="0"/>
              </a:rPr>
              <a:t>0</a:t>
            </a:r>
            <a:r>
              <a:rPr lang="zh-CN" altLang="en-US"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2</a:t>
            </a:r>
            <a:r>
              <a:rPr lang="zh-CN" altLang="en-US" b="0" i="0" dirty="0">
                <a:effectLst/>
                <a:latin typeface="宋体" panose="02010600030101010101" pitchFamily="2" charset="-122"/>
                <a:ea typeface="宋体" panose="02010600030101010101" pitchFamily="2" charset="-122"/>
              </a:rPr>
              <a:t>）个位数都是回文数。</a:t>
            </a:r>
            <a:endParaRPr lang="zh-CN" altLang="en-US" b="0" i="0" dirty="0">
              <a:effectLst/>
              <a:latin typeface="Open Sans" panose="020B0606030504020204" pitchFamily="34" charset="0"/>
            </a:endParaRPr>
          </a:p>
          <a:p>
            <a:pPr algn="l"/>
            <a:endParaRPr lang="zh-CN" altLang="en-US" b="0" i="0" dirty="0">
              <a:effectLst/>
              <a:latin typeface="Open Sans" panose="020B0606030504020204" pitchFamily="34" charset="0"/>
            </a:endParaRPr>
          </a:p>
        </p:txBody>
      </p:sp>
      <p:sp>
        <p:nvSpPr>
          <p:cNvPr id="5" name="文本框 4"/>
          <p:cNvSpPr txBox="1"/>
          <p:nvPr/>
        </p:nvSpPr>
        <p:spPr>
          <a:xfrm>
            <a:off x="6981172" y="2044486"/>
            <a:ext cx="1817914" cy="1015663"/>
          </a:xfrm>
          <a:prstGeom prst="rect">
            <a:avLst/>
          </a:prstGeom>
          <a:noFill/>
        </p:spPr>
        <p:txBody>
          <a:bodyPr wrap="square">
            <a:spAutoFit/>
          </a:bodyPr>
          <a:lstStyle/>
          <a:p>
            <a:pPr algn="l"/>
            <a:r>
              <a:rPr lang="en-US" altLang="zh-CN" sz="2000" b="0" i="0" dirty="0">
                <a:effectLst/>
                <a:latin typeface="宋体" panose="02010600030101010101" pitchFamily="2" charset="-122"/>
                <a:ea typeface="宋体" panose="02010600030101010101" pitchFamily="2" charset="-122"/>
              </a:rPr>
              <a:t>【</a:t>
            </a:r>
            <a:r>
              <a:rPr lang="zh-CN" altLang="en-US" sz="2000" b="0" i="0" dirty="0">
                <a:effectLst/>
                <a:latin typeface="宋体" panose="02010600030101010101" pitchFamily="2" charset="-122"/>
                <a:ea typeface="宋体" panose="02010600030101010101" pitchFamily="2" charset="-122"/>
              </a:rPr>
              <a:t>输入样例</a:t>
            </a:r>
            <a:r>
              <a:rPr lang="en-US" altLang="zh-CN" sz="2000" b="0" i="0" dirty="0">
                <a:effectLst/>
                <a:latin typeface="宋体" panose="02010600030101010101" pitchFamily="2" charset="-122"/>
                <a:ea typeface="宋体" panose="02010600030101010101" pitchFamily="2" charset="-122"/>
              </a:rPr>
              <a:t>】</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121 21 12 8  18 28 38 68 78 88</a:t>
            </a:r>
            <a:endParaRPr lang="zh-CN" altLang="en-US" sz="2000" b="0" i="0" dirty="0">
              <a:effectLst/>
              <a:latin typeface="Open Sans" panose="020B0606030504020204" pitchFamily="34" charset="0"/>
            </a:endParaRPr>
          </a:p>
        </p:txBody>
      </p:sp>
      <p:sp>
        <p:nvSpPr>
          <p:cNvPr id="7" name="文本框 6"/>
          <p:cNvSpPr txBox="1"/>
          <p:nvPr/>
        </p:nvSpPr>
        <p:spPr>
          <a:xfrm>
            <a:off x="7069264" y="3142522"/>
            <a:ext cx="1687285" cy="3477875"/>
          </a:xfrm>
          <a:prstGeom prst="rect">
            <a:avLst/>
          </a:prstGeom>
          <a:noFill/>
        </p:spPr>
        <p:txBody>
          <a:bodyPr wrap="square">
            <a:spAutoFit/>
          </a:bodyPr>
          <a:lstStyle/>
          <a:p>
            <a:pPr algn="l"/>
            <a:r>
              <a:rPr lang="en-US" altLang="zh-CN" sz="2000" b="0" i="0" dirty="0">
                <a:effectLst/>
                <a:latin typeface="宋体" panose="02010600030101010101" pitchFamily="2" charset="-122"/>
                <a:ea typeface="宋体" panose="02010600030101010101" pitchFamily="2" charset="-122"/>
              </a:rPr>
              <a:t>【</a:t>
            </a:r>
            <a:r>
              <a:rPr lang="zh-CN" altLang="en-US" sz="2000" b="0" i="0" dirty="0">
                <a:effectLst/>
                <a:latin typeface="宋体" panose="02010600030101010101" pitchFamily="2" charset="-122"/>
                <a:ea typeface="宋体" panose="02010600030101010101" pitchFamily="2" charset="-122"/>
              </a:rPr>
              <a:t>输出样例</a:t>
            </a:r>
            <a:r>
              <a:rPr lang="en-US" altLang="zh-CN" sz="2000" b="0" i="0" dirty="0">
                <a:effectLst/>
                <a:latin typeface="宋体" panose="02010600030101010101" pitchFamily="2" charset="-122"/>
                <a:ea typeface="宋体" panose="02010600030101010101" pitchFamily="2" charset="-122"/>
              </a:rPr>
              <a:t>】</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78 4 4884</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68 3 1111</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28 2 121</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12 1 33</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21 1 33</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18 1 99</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38 1 121</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8 0 8</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88 0 88</a:t>
            </a:r>
            <a:endParaRPr lang="zh-CN" altLang="en-US" sz="2000" b="0" i="0" dirty="0">
              <a:effectLst/>
              <a:latin typeface="Open Sans" panose="020B0606030504020204" pitchFamily="34" charset="0"/>
            </a:endParaRPr>
          </a:p>
          <a:p>
            <a:pPr algn="l"/>
            <a:r>
              <a:rPr lang="en-US" altLang="zh-CN" sz="2000" b="0" i="0" dirty="0">
                <a:effectLst/>
                <a:latin typeface="Calibri" panose="020F0502020204030204" pitchFamily="34" charset="0"/>
              </a:rPr>
              <a:t>121 0 121</a:t>
            </a:r>
            <a:endParaRPr lang="zh-CN" altLang="en-US" sz="2000" b="0" i="0" dirty="0">
              <a:effectLst/>
              <a:latin typeface="Open Sans" panose="020B0606030504020204" pitchFamily="34" charset="0"/>
            </a:endParaRPr>
          </a:p>
        </p:txBody>
      </p:sp>
      <p:sp>
        <p:nvSpPr>
          <p:cNvPr id="8" name="TextBox 7"/>
          <p:cNvSpPr txBox="1"/>
          <p:nvPr/>
        </p:nvSpPr>
        <p:spPr>
          <a:xfrm>
            <a:off x="4778175" y="54348"/>
            <a:ext cx="4405994" cy="2031325"/>
          </a:xfrm>
          <a:prstGeom prst="rect">
            <a:avLst/>
          </a:prstGeom>
          <a:noFill/>
        </p:spPr>
        <p:txBody>
          <a:bodyPr wrap="square">
            <a:spAutoFit/>
          </a:bodyPr>
          <a:lstStyle/>
          <a:p>
            <a:pPr algn="l"/>
            <a:r>
              <a:rPr lang="en-US" altLang="zh-CN" b="0"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输入格式</a:t>
            </a:r>
            <a:r>
              <a:rPr lang="en-US" altLang="zh-CN"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共</a:t>
            </a:r>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行，包含</a:t>
            </a:r>
            <a:r>
              <a:rPr lang="en-US" altLang="zh-CN" b="0" i="0" dirty="0">
                <a:effectLst/>
                <a:latin typeface="Open Sans" panose="020B0606030504020204" pitchFamily="34" charset="0"/>
              </a:rPr>
              <a:t>10</a:t>
            </a:r>
            <a:r>
              <a:rPr lang="zh-CN" altLang="en-US" b="0" i="0" dirty="0">
                <a:effectLst/>
                <a:latin typeface="宋体" panose="02010600030101010101" pitchFamily="2" charset="-122"/>
                <a:ea typeface="宋体" panose="02010600030101010101" pitchFamily="2" charset="-122"/>
              </a:rPr>
              <a:t>个正整数，保证均为迭代回文数，每两个数字之间用一个空格隔开。</a:t>
            </a:r>
            <a:endParaRPr lang="zh-CN" altLang="en-US" b="0" i="0" dirty="0">
              <a:effectLst/>
              <a:latin typeface="Open Sans" panose="020B0606030504020204" pitchFamily="34" charset="0"/>
            </a:endParaRPr>
          </a:p>
          <a:p>
            <a:pPr algn="l"/>
            <a:r>
              <a:rPr lang="en-US" altLang="zh-CN" b="1"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输出格式</a:t>
            </a:r>
            <a:r>
              <a:rPr lang="en-US" altLang="zh-CN" b="1"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共</a:t>
            </a:r>
            <a:r>
              <a:rPr lang="en-US" altLang="zh-CN" b="0" i="0" dirty="0">
                <a:effectLst/>
                <a:latin typeface="Open Sans" panose="020B0606030504020204" pitchFamily="34" charset="0"/>
              </a:rPr>
              <a:t>10</a:t>
            </a:r>
            <a:r>
              <a:rPr lang="zh-CN" altLang="en-US" b="0" i="0" dirty="0">
                <a:effectLst/>
                <a:latin typeface="宋体" panose="02010600030101010101" pitchFamily="2" charset="-122"/>
                <a:ea typeface="宋体" panose="02010600030101010101" pitchFamily="2" charset="-122"/>
              </a:rPr>
              <a:t>行。按题目要求排序输出。</a:t>
            </a:r>
            <a:endParaRPr lang="zh-CN" altLang="en-US" b="0" i="0" dirty="0">
              <a:effectLst/>
              <a:latin typeface="Open Sans" panose="020B0606030504020204" pitchFamily="34" charset="0"/>
            </a:endParaRPr>
          </a:p>
          <a:p>
            <a:pPr algn="l"/>
            <a:r>
              <a:rPr lang="zh-CN" altLang="en-US" b="0" i="0" dirty="0">
                <a:effectLst/>
                <a:latin typeface="宋体" panose="02010600030101010101" pitchFamily="2" charset="-122"/>
                <a:ea typeface="宋体" panose="02010600030101010101" pitchFamily="2" charset="-122"/>
              </a:rPr>
              <a:t>每行包含</a:t>
            </a:r>
            <a:r>
              <a:rPr lang="en-US" altLang="zh-CN" b="0" i="0" dirty="0">
                <a:effectLst/>
                <a:latin typeface="Open Sans" panose="020B0606030504020204" pitchFamily="34" charset="0"/>
              </a:rPr>
              <a:t>3</a:t>
            </a:r>
            <a:r>
              <a:rPr lang="zh-CN" altLang="en-US" b="0" i="0" dirty="0">
                <a:effectLst/>
                <a:latin typeface="宋体" panose="02010600030101010101" pitchFamily="2" charset="-122"/>
                <a:ea typeface="宋体" panose="02010600030101010101" pitchFamily="2" charset="-122"/>
              </a:rPr>
              <a:t>个数字，分别是原始数字、迭代次数、最后的回文数字。</a:t>
            </a:r>
            <a:endParaRPr lang="zh-CN" altLang="en-US" b="0" i="0" dirty="0">
              <a:effectLst/>
              <a:latin typeface="Open Sans" panose="020B0606030504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8.1.4 </a:t>
            </a:r>
            <a:r>
              <a:rPr lang="zh-CN" altLang="en-US" dirty="0"/>
              <a:t>算法</a:t>
            </a:r>
            <a:r>
              <a:rPr lang="en-US" altLang="zh-CN" dirty="0"/>
              <a:t>1——</a:t>
            </a:r>
            <a:r>
              <a:rPr lang="zh-CN" altLang="en-US" dirty="0"/>
              <a:t>枚举法</a:t>
            </a:r>
            <a:endParaRPr lang="zh-CN" altLang="en-US" dirty="0"/>
          </a:p>
        </p:txBody>
      </p:sp>
      <p:sp>
        <p:nvSpPr>
          <p:cNvPr id="4" name="内容占位符 1"/>
          <p:cNvSpPr>
            <a:spLocks noGrp="1"/>
          </p:cNvSpPr>
          <p:nvPr>
            <p:ph idx="1"/>
          </p:nvPr>
        </p:nvSpPr>
        <p:spPr/>
        <p:txBody>
          <a:bodyPr/>
          <a:lstStyle/>
          <a:p>
            <a:r>
              <a:rPr lang="zh-CN" altLang="en-US" dirty="0"/>
              <a:t>基本思想：将问题的所有可能的答案一一列举，然后根据条件判断此答案是否合适，保留合适的，丢弃不合适的</a:t>
            </a:r>
            <a:endParaRPr lang="en-US" altLang="zh-CN" dirty="0"/>
          </a:p>
          <a:p>
            <a:r>
              <a:rPr lang="zh-CN" altLang="en-US" dirty="0"/>
              <a:t>使用枚举算法解题的基本思路：</a:t>
            </a:r>
            <a:endParaRPr lang="en-US" altLang="zh-CN" dirty="0"/>
          </a:p>
          <a:p>
            <a:pPr lvl="1"/>
            <a:r>
              <a:rPr lang="zh-CN" altLang="en-US" dirty="0"/>
              <a:t>确定枚举对象、枚举范围和判定条件</a:t>
            </a:r>
            <a:endParaRPr lang="en-US" altLang="zh-CN" dirty="0"/>
          </a:p>
          <a:p>
            <a:pPr lvl="1"/>
            <a:r>
              <a:rPr lang="zh-CN" altLang="en-US" dirty="0"/>
              <a:t>逐一枚举可能的解，验证每个解是否是问题的解</a:t>
            </a:r>
            <a:endParaRPr lang="en-US" altLang="zh-CN" dirty="0"/>
          </a:p>
          <a:p>
            <a:r>
              <a:rPr lang="zh-CN" altLang="en-US" dirty="0"/>
              <a:t>枚举算法一般按照如下</a:t>
            </a:r>
            <a:r>
              <a:rPr lang="en-US" altLang="zh-CN" dirty="0"/>
              <a:t>3</a:t>
            </a:r>
            <a:r>
              <a:rPr lang="zh-CN" altLang="en-US" dirty="0"/>
              <a:t>个步骤进行</a:t>
            </a:r>
            <a:endParaRPr lang="en-US" altLang="zh-CN" dirty="0"/>
          </a:p>
          <a:p>
            <a:pPr lvl="1"/>
            <a:r>
              <a:rPr lang="zh-CN" altLang="en-US" dirty="0"/>
              <a:t>题解的可能范围，不能遗漏任何一个真正解，也要避免有重复</a:t>
            </a:r>
            <a:endParaRPr lang="en-US" altLang="zh-CN" dirty="0"/>
          </a:p>
          <a:p>
            <a:pPr lvl="1"/>
            <a:r>
              <a:rPr lang="zh-CN" altLang="en-US" dirty="0"/>
              <a:t>判断是否是真正解的方法</a:t>
            </a:r>
            <a:endParaRPr lang="en-US" altLang="zh-CN" dirty="0"/>
          </a:p>
          <a:p>
            <a:pPr lvl="1"/>
            <a:r>
              <a:rPr lang="zh-CN" altLang="en-US" dirty="0"/>
              <a:t>使可能解的范围降至最小，以便提高解决问题的效率</a:t>
            </a:r>
            <a:endParaRPr lang="zh-CN" altLang="en-US" dirty="0"/>
          </a:p>
          <a:p>
            <a:endParaRPr lang="zh-CN" altLang="en-US" dirty="0"/>
          </a:p>
          <a:p>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枚举法难点</a:t>
            </a:r>
            <a:r>
              <a:rPr lang="en-US" altLang="zh-CN" dirty="0"/>
              <a:t>1</a:t>
            </a:r>
            <a:endParaRPr lang="zh-CN" altLang="en-US" dirty="0"/>
          </a:p>
        </p:txBody>
      </p:sp>
      <p:sp>
        <p:nvSpPr>
          <p:cNvPr id="3" name="内容占位符 2"/>
          <p:cNvSpPr>
            <a:spLocks noGrp="1"/>
          </p:cNvSpPr>
          <p:nvPr>
            <p:ph idx="1"/>
          </p:nvPr>
        </p:nvSpPr>
        <p:spPr/>
        <p:txBody>
          <a:bodyPr/>
          <a:lstStyle/>
          <a:p>
            <a:r>
              <a:rPr lang="zh-CN" altLang="en-US" dirty="0"/>
              <a:t>枚举效率提升？善用条件减小范围</a:t>
            </a:r>
            <a:endParaRPr lang="en-US" altLang="zh-CN" dirty="0"/>
          </a:p>
          <a:p>
            <a:pPr marL="0" indent="0">
              <a:buNone/>
            </a:pPr>
            <a:r>
              <a:rPr lang="zh-CN" altLang="en-US" dirty="0"/>
              <a:t>善用等式减小范围</a:t>
            </a:r>
            <a:endParaRPr lang="en-US" altLang="zh-CN" dirty="0"/>
          </a:p>
          <a:p>
            <a:pPr marL="0" indent="0">
              <a:buNone/>
            </a:pPr>
            <a:r>
              <a:rPr lang="zh-CN" altLang="en-US" dirty="0"/>
              <a:t>（</a:t>
            </a:r>
            <a:r>
              <a:rPr lang="en-US" altLang="zh-CN" dirty="0"/>
              <a:t>1</a:t>
            </a:r>
            <a:r>
              <a:rPr lang="zh-CN" altLang="en-US" dirty="0"/>
              <a:t>）</a:t>
            </a:r>
            <a:r>
              <a:rPr lang="en-US" altLang="zh-CN" dirty="0" err="1"/>
              <a:t>ax+by+cz</a:t>
            </a:r>
            <a:r>
              <a:rPr lang="en-US" altLang="zh-CN" dirty="0"/>
              <a:t>=0</a:t>
            </a:r>
            <a:r>
              <a:rPr lang="zh-CN" altLang="en-US" dirty="0"/>
              <a:t>，问满足条件的整数</a:t>
            </a:r>
            <a:r>
              <a:rPr lang="en-US" altLang="zh-CN" dirty="0" err="1"/>
              <a:t>x,y,z</a:t>
            </a:r>
            <a:r>
              <a:rPr lang="zh-CN" altLang="en-US" dirty="0"/>
              <a:t>是多少？</a:t>
            </a:r>
            <a:endParaRPr lang="en-US" altLang="zh-CN" dirty="0"/>
          </a:p>
          <a:p>
            <a:pPr marL="0" indent="0">
              <a:buNone/>
            </a:pPr>
            <a:r>
              <a:rPr lang="zh-CN" altLang="en-US" dirty="0"/>
              <a:t>（</a:t>
            </a:r>
            <a:r>
              <a:rPr lang="en-US" altLang="zh-CN" dirty="0"/>
              <a:t>2</a:t>
            </a:r>
            <a:r>
              <a:rPr lang="zh-CN" altLang="en-US" dirty="0"/>
              <a:t>）求整数</a:t>
            </a:r>
            <a:r>
              <a:rPr lang="en-US" altLang="zh-CN" dirty="0"/>
              <a:t>a, b</a:t>
            </a:r>
            <a:r>
              <a:rPr lang="zh-CN" altLang="en-US" dirty="0"/>
              <a:t>的最小公倍数</a:t>
            </a:r>
            <a:endParaRPr lang="en-US" altLang="zh-CN" dirty="0"/>
          </a:p>
          <a:p>
            <a:pPr marL="0" indent="0">
              <a:buNone/>
            </a:pPr>
            <a:r>
              <a:rPr lang="zh-CN" altLang="en-US" dirty="0"/>
              <a:t>（</a:t>
            </a:r>
            <a:r>
              <a:rPr lang="en-US" altLang="zh-CN" dirty="0"/>
              <a:t>3</a:t>
            </a:r>
            <a:r>
              <a:rPr lang="zh-CN" altLang="en-US" dirty="0"/>
              <a:t>）分数约简</a:t>
            </a:r>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yoj</a:t>
            </a:r>
            <a:r>
              <a:rPr lang="en-US" altLang="zh-CN" b="1" i="0" dirty="0">
                <a:effectLst/>
                <a:latin typeface="Lato" panose="020F0502020204030203" pitchFamily="34" charset="0"/>
              </a:rPr>
              <a:t>270. </a:t>
            </a:r>
            <a:r>
              <a:rPr lang="zh-CN" altLang="en-US" b="1" i="0" dirty="0">
                <a:effectLst/>
                <a:latin typeface="Lato" panose="020F0502020204030203" pitchFamily="34" charset="0"/>
              </a:rPr>
              <a:t>分数约简</a:t>
            </a:r>
            <a:endParaRPr lang="zh-CN" altLang="en-US" dirty="0"/>
          </a:p>
        </p:txBody>
      </p:sp>
      <p:sp>
        <p:nvSpPr>
          <p:cNvPr id="3" name="内容占位符 2"/>
          <p:cNvSpPr>
            <a:spLocks noGrp="1"/>
          </p:cNvSpPr>
          <p:nvPr>
            <p:ph idx="1"/>
          </p:nvPr>
        </p:nvSpPr>
        <p:spPr/>
        <p:txBody>
          <a:bodyPr/>
          <a:lstStyle/>
          <a:p>
            <a:pPr algn="l"/>
            <a:r>
              <a:rPr lang="zh-CN" altLang="en-US" b="0" i="0" dirty="0">
                <a:effectLst/>
                <a:latin typeface="宋体" panose="02010600030101010101" pitchFamily="2" charset="-122"/>
                <a:ea typeface="宋体" panose="02010600030101010101" pitchFamily="2" charset="-122"/>
              </a:rPr>
              <a:t>输入一个分数（可能是假分数），将化简为最简分数。最简分数是指是分子、分母只有公因数</a:t>
            </a:r>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的分数。</a:t>
            </a:r>
            <a:endParaRPr lang="zh-CN" altLang="en-US" b="0" i="0" dirty="0">
              <a:effectLst/>
              <a:latin typeface="Open Sans" panose="020B0606030504020204" pitchFamily="34" charset="0"/>
            </a:endParaRPr>
          </a:p>
          <a:p>
            <a:pPr algn="l"/>
            <a:r>
              <a:rPr lang="en-US" altLang="zh-CN" b="0"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输入格式</a:t>
            </a:r>
            <a:r>
              <a:rPr lang="en-US" altLang="zh-CN"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行，包含一个分数，格式为“分子</a:t>
            </a:r>
            <a:r>
              <a:rPr lang="en-US" altLang="zh-CN" b="0" i="0" dirty="0">
                <a:effectLst/>
                <a:latin typeface="Open Sans" panose="020B0606030504020204" pitchFamily="34" charset="0"/>
              </a:rPr>
              <a:t>/</a:t>
            </a:r>
            <a:r>
              <a:rPr lang="zh-CN" altLang="en-US" b="0" i="0" dirty="0">
                <a:effectLst/>
                <a:latin typeface="宋体" panose="02010600030101010101" pitchFamily="2" charset="-122"/>
                <a:ea typeface="宋体" panose="02010600030101010101" pitchFamily="2" charset="-122"/>
              </a:rPr>
              <a:t>分母”。</a:t>
            </a:r>
            <a:endParaRPr lang="zh-CN" altLang="en-US" b="0" i="0" dirty="0">
              <a:effectLst/>
              <a:latin typeface="Open Sans" panose="020B0606030504020204" pitchFamily="34" charset="0"/>
            </a:endParaRPr>
          </a:p>
          <a:p>
            <a:pPr algn="l"/>
            <a:r>
              <a:rPr lang="en-US" altLang="zh-CN" b="0" i="0" dirty="0">
                <a:effectLst/>
                <a:latin typeface="宋体" panose="02010600030101010101" pitchFamily="2" charset="-122"/>
                <a:ea typeface="宋体" panose="02010600030101010101" pitchFamily="2" charset="-122"/>
              </a:rPr>
              <a:t>【</a:t>
            </a:r>
            <a:r>
              <a:rPr lang="zh-CN" altLang="en-US" b="0" i="0" dirty="0">
                <a:effectLst/>
                <a:latin typeface="宋体" panose="02010600030101010101" pitchFamily="2" charset="-122"/>
                <a:ea typeface="宋体" panose="02010600030101010101" pitchFamily="2" charset="-122"/>
              </a:rPr>
              <a:t>输出格式</a:t>
            </a:r>
            <a:r>
              <a:rPr lang="en-US" altLang="zh-CN" b="0" i="0" dirty="0">
                <a:effectLst/>
                <a:latin typeface="宋体" panose="02010600030101010101" pitchFamily="2" charset="-122"/>
                <a:ea typeface="宋体" panose="02010600030101010101" pitchFamily="2" charset="-122"/>
              </a:rPr>
              <a:t>】</a:t>
            </a:r>
            <a:endParaRPr lang="zh-CN" altLang="en-US" b="0" i="0" dirty="0">
              <a:effectLst/>
              <a:latin typeface="Open Sans" panose="020B0606030504020204" pitchFamily="34" charset="0"/>
            </a:endParaRPr>
          </a:p>
          <a:p>
            <a:pPr algn="l"/>
            <a:r>
              <a:rPr lang="en-US" altLang="zh-CN" b="0" i="0" dirty="0">
                <a:effectLst/>
                <a:latin typeface="Open Sans" panose="020B0606030504020204" pitchFamily="34" charset="0"/>
              </a:rPr>
              <a:t>1</a:t>
            </a:r>
            <a:r>
              <a:rPr lang="zh-CN" altLang="en-US" b="0" i="0" dirty="0">
                <a:effectLst/>
                <a:latin typeface="宋体" panose="02010600030101010101" pitchFamily="2" charset="-122"/>
                <a:ea typeface="宋体" panose="02010600030101010101" pitchFamily="2" charset="-122"/>
              </a:rPr>
              <a:t>行，输入分数的最简分数，格式同输入。</a:t>
            </a:r>
            <a:endParaRPr lang="zh-CN" altLang="en-US" b="0" i="0" dirty="0">
              <a:effectLst/>
              <a:latin typeface="Open Sans" panose="020B0606030504020204" pitchFamily="34" charset="0"/>
            </a:endParaRPr>
          </a:p>
          <a:p>
            <a:endParaRPr lang="zh-CN" altLang="en-US" dirty="0"/>
          </a:p>
        </p:txBody>
      </p:sp>
      <p:graphicFrame>
        <p:nvGraphicFramePr>
          <p:cNvPr id="6" name="表格 5"/>
          <p:cNvGraphicFramePr>
            <a:graphicFrameLocks noGrp="1"/>
          </p:cNvGraphicFramePr>
          <p:nvPr/>
        </p:nvGraphicFramePr>
        <p:xfrm>
          <a:off x="2456905" y="4324243"/>
          <a:ext cx="4754880" cy="1828800"/>
        </p:xfrm>
        <a:graphic>
          <a:graphicData uri="http://schemas.openxmlformats.org/drawingml/2006/table">
            <a:tbl>
              <a:tblPr/>
              <a:tblGrid>
                <a:gridCol w="2253615"/>
                <a:gridCol w="2501265"/>
              </a:tblGrid>
              <a:tr h="289560">
                <a:tc>
                  <a:txBody>
                    <a:bodyPr/>
                    <a:lstStyle/>
                    <a:p>
                      <a:pPr latinLnBrk="1"/>
                      <a:r>
                        <a:rPr lang="en-US" altLang="zh-CN" sz="2400" dirty="0">
                          <a:effectLst/>
                          <a:latin typeface="宋体" panose="02010600030101010101" pitchFamily="2" charset="-122"/>
                          <a:ea typeface="宋体" panose="02010600030101010101" pitchFamily="2" charset="-122"/>
                        </a:rPr>
                        <a:t>【</a:t>
                      </a:r>
                      <a:r>
                        <a:rPr lang="zh-CN" altLang="en-US" sz="2400" dirty="0">
                          <a:effectLst/>
                          <a:latin typeface="宋体" panose="02010600030101010101" pitchFamily="2" charset="-122"/>
                          <a:ea typeface="宋体" panose="02010600030101010101" pitchFamily="2" charset="-122"/>
                        </a:rPr>
                        <a:t>输入样例</a:t>
                      </a:r>
                      <a:r>
                        <a:rPr lang="en-US" altLang="zh-CN" sz="2400" dirty="0">
                          <a:effectLst/>
                        </a:rPr>
                        <a:t>1</a:t>
                      </a:r>
                      <a:r>
                        <a:rPr lang="en-US" altLang="zh-CN" sz="2400" dirty="0">
                          <a:effectLst/>
                          <a:latin typeface="宋体" panose="02010600030101010101" pitchFamily="2" charset="-122"/>
                          <a:ea typeface="宋体" panose="02010600030101010101" pitchFamily="2" charset="-122"/>
                        </a:rPr>
                        <a:t>】</a:t>
                      </a:r>
                      <a:endParaRPr lang="zh-CN" altLang="en-US" sz="2400" dirty="0">
                        <a:effectLst/>
                      </a:endParaRPr>
                    </a:p>
                    <a:p>
                      <a:pPr latinLnBrk="1"/>
                      <a:r>
                        <a:rPr lang="en-US" altLang="zh-CN" sz="2400" dirty="0">
                          <a:effectLst/>
                          <a:latin typeface="Courier New" panose="02070309020205020404" pitchFamily="49" charset="0"/>
                        </a:rPr>
                        <a:t>12/18</a:t>
                      </a:r>
                      <a:endParaRPr lang="zh-CN" altLang="en-US" sz="2400" dirty="0">
                        <a:effectLst/>
                      </a:endParaRPr>
                    </a:p>
                    <a:p>
                      <a:pPr latinLnBrk="1"/>
                      <a:r>
                        <a:rPr lang="zh-CN" altLang="en-US" sz="2400" dirty="0">
                          <a:effectLst/>
                        </a:rPr>
                        <a:t> </a:t>
                      </a:r>
                      <a:endParaRPr lang="zh-CN" altLang="en-US" sz="2400" dirty="0">
                        <a:effectLst/>
                      </a:endParaRPr>
                    </a:p>
                  </a:txBody>
                  <a:tcPr marL="26670" marR="26670" marT="0" marB="0">
                    <a:lnL>
                      <a:noFill/>
                    </a:lnL>
                    <a:lnR>
                      <a:noFill/>
                    </a:lnR>
                    <a:lnT>
                      <a:noFill/>
                    </a:lnT>
                    <a:lnB>
                      <a:noFill/>
                    </a:lnB>
                  </a:tcPr>
                </a:tc>
                <a:tc>
                  <a:txBody>
                    <a:bodyPr/>
                    <a:lstStyle/>
                    <a:p>
                      <a:pPr latinLnBrk="1"/>
                      <a:r>
                        <a:rPr lang="en-US" altLang="zh-CN" sz="2400" dirty="0">
                          <a:effectLst/>
                          <a:latin typeface="宋体" panose="02010600030101010101" pitchFamily="2" charset="-122"/>
                          <a:ea typeface="宋体" panose="02010600030101010101" pitchFamily="2" charset="-122"/>
                        </a:rPr>
                        <a:t>【</a:t>
                      </a:r>
                      <a:r>
                        <a:rPr lang="zh-CN" altLang="en-US" sz="2400" dirty="0">
                          <a:effectLst/>
                          <a:latin typeface="宋体" panose="02010600030101010101" pitchFamily="2" charset="-122"/>
                          <a:ea typeface="宋体" panose="02010600030101010101" pitchFamily="2" charset="-122"/>
                        </a:rPr>
                        <a:t>输出样例</a:t>
                      </a:r>
                      <a:r>
                        <a:rPr lang="en-US" altLang="zh-CN" sz="2400" dirty="0">
                          <a:effectLst/>
                        </a:rPr>
                        <a:t>1</a:t>
                      </a:r>
                      <a:r>
                        <a:rPr lang="en-US" altLang="zh-CN" sz="2400" dirty="0">
                          <a:effectLst/>
                          <a:latin typeface="宋体" panose="02010600030101010101" pitchFamily="2" charset="-122"/>
                          <a:ea typeface="宋体" panose="02010600030101010101" pitchFamily="2" charset="-122"/>
                        </a:rPr>
                        <a:t>】</a:t>
                      </a:r>
                      <a:endParaRPr lang="zh-CN" altLang="en-US" sz="2400" dirty="0">
                        <a:effectLst/>
                      </a:endParaRPr>
                    </a:p>
                    <a:p>
                      <a:pPr latinLnBrk="1"/>
                      <a:r>
                        <a:rPr lang="en-US" altLang="zh-CN" sz="2400" dirty="0">
                          <a:effectLst/>
                          <a:latin typeface="Courier New" panose="02070309020205020404" pitchFamily="49" charset="0"/>
                        </a:rPr>
                        <a:t>2/3</a:t>
                      </a:r>
                      <a:endParaRPr lang="zh-CN" altLang="en-US" sz="2400" dirty="0">
                        <a:effectLst/>
                      </a:endParaRPr>
                    </a:p>
                    <a:p>
                      <a:pPr latinLnBrk="1"/>
                      <a:r>
                        <a:rPr lang="zh-CN" altLang="en-US" sz="2400" dirty="0">
                          <a:effectLst/>
                        </a:rPr>
                        <a:t> </a:t>
                      </a:r>
                      <a:endParaRPr lang="zh-CN" altLang="en-US" sz="2400" dirty="0">
                        <a:effectLst/>
                      </a:endParaRPr>
                    </a:p>
                  </a:txBody>
                  <a:tcPr marL="26670" marR="26670" marT="0" marB="0">
                    <a:lnL>
                      <a:noFill/>
                    </a:lnL>
                    <a:lnR>
                      <a:noFill/>
                    </a:lnR>
                    <a:lnT>
                      <a:noFill/>
                    </a:lnT>
                    <a:lnB>
                      <a:noFill/>
                    </a:lnB>
                  </a:tcPr>
                </a:tc>
              </a:tr>
              <a:tr h="289560">
                <a:tc>
                  <a:txBody>
                    <a:bodyPr/>
                    <a:lstStyle/>
                    <a:p>
                      <a:pPr latinLnBrk="1"/>
                      <a:r>
                        <a:rPr lang="en-US" altLang="zh-CN" sz="2400">
                          <a:effectLst/>
                          <a:latin typeface="宋体" panose="02010600030101010101" pitchFamily="2" charset="-122"/>
                          <a:ea typeface="宋体" panose="02010600030101010101" pitchFamily="2" charset="-122"/>
                        </a:rPr>
                        <a:t>【</a:t>
                      </a:r>
                      <a:r>
                        <a:rPr lang="zh-CN" altLang="en-US" sz="2400">
                          <a:effectLst/>
                          <a:latin typeface="宋体" panose="02010600030101010101" pitchFamily="2" charset="-122"/>
                          <a:ea typeface="宋体" panose="02010600030101010101" pitchFamily="2" charset="-122"/>
                        </a:rPr>
                        <a:t>输入样例</a:t>
                      </a:r>
                      <a:r>
                        <a:rPr lang="en-US" altLang="zh-CN" sz="2400">
                          <a:effectLst/>
                        </a:rPr>
                        <a:t>2</a:t>
                      </a:r>
                      <a:r>
                        <a:rPr lang="en-US" altLang="zh-CN" sz="2400">
                          <a:effectLst/>
                          <a:latin typeface="宋体" panose="02010600030101010101" pitchFamily="2" charset="-122"/>
                          <a:ea typeface="宋体" panose="02010600030101010101" pitchFamily="2" charset="-122"/>
                        </a:rPr>
                        <a:t>】</a:t>
                      </a:r>
                      <a:endParaRPr lang="zh-CN" altLang="en-US" sz="2400">
                        <a:effectLst/>
                      </a:endParaRPr>
                    </a:p>
                    <a:p>
                      <a:pPr latinLnBrk="1"/>
                      <a:r>
                        <a:rPr lang="en-US" altLang="zh-CN" sz="2400">
                          <a:effectLst/>
                          <a:latin typeface="Courier New" panose="02070309020205020404" pitchFamily="49" charset="0"/>
                        </a:rPr>
                        <a:t>6/25</a:t>
                      </a:r>
                      <a:endParaRPr lang="zh-CN" altLang="en-US" sz="2400">
                        <a:effectLst/>
                      </a:endParaRPr>
                    </a:p>
                  </a:txBody>
                  <a:tcPr marL="26670" marR="26670" marT="0" marB="0">
                    <a:lnL>
                      <a:noFill/>
                    </a:lnL>
                    <a:lnR>
                      <a:noFill/>
                    </a:lnR>
                    <a:lnT>
                      <a:noFill/>
                    </a:lnT>
                    <a:lnB>
                      <a:noFill/>
                    </a:lnB>
                  </a:tcPr>
                </a:tc>
                <a:tc>
                  <a:txBody>
                    <a:bodyPr/>
                    <a:lstStyle/>
                    <a:p>
                      <a:pPr latinLnBrk="1"/>
                      <a:r>
                        <a:rPr lang="en-US" altLang="zh-CN" sz="2400" dirty="0">
                          <a:effectLst/>
                          <a:latin typeface="宋体" panose="02010600030101010101" pitchFamily="2" charset="-122"/>
                          <a:ea typeface="宋体" panose="02010600030101010101" pitchFamily="2" charset="-122"/>
                        </a:rPr>
                        <a:t>【</a:t>
                      </a:r>
                      <a:r>
                        <a:rPr lang="zh-CN" altLang="en-US" sz="2400" dirty="0">
                          <a:effectLst/>
                          <a:latin typeface="宋体" panose="02010600030101010101" pitchFamily="2" charset="-122"/>
                          <a:ea typeface="宋体" panose="02010600030101010101" pitchFamily="2" charset="-122"/>
                        </a:rPr>
                        <a:t>输出样例</a:t>
                      </a:r>
                      <a:r>
                        <a:rPr lang="en-US" altLang="zh-CN" sz="2400" dirty="0">
                          <a:effectLst/>
                        </a:rPr>
                        <a:t>2</a:t>
                      </a:r>
                      <a:r>
                        <a:rPr lang="en-US" altLang="zh-CN" sz="2400" dirty="0">
                          <a:effectLst/>
                          <a:latin typeface="宋体" panose="02010600030101010101" pitchFamily="2" charset="-122"/>
                          <a:ea typeface="宋体" panose="02010600030101010101" pitchFamily="2" charset="-122"/>
                        </a:rPr>
                        <a:t>】</a:t>
                      </a:r>
                      <a:endParaRPr lang="zh-CN" altLang="en-US" sz="2400" dirty="0">
                        <a:effectLst/>
                      </a:endParaRPr>
                    </a:p>
                    <a:p>
                      <a:pPr latinLnBrk="1"/>
                      <a:r>
                        <a:rPr lang="en-US" altLang="zh-CN" sz="2400" dirty="0">
                          <a:effectLst/>
                          <a:latin typeface="Courier New" panose="02070309020205020404" pitchFamily="49" charset="0"/>
                        </a:rPr>
                        <a:t>6/25</a:t>
                      </a:r>
                      <a:endParaRPr lang="zh-CN" altLang="en-US" sz="2400" dirty="0">
                        <a:effectLst/>
                      </a:endParaRPr>
                    </a:p>
                  </a:txBody>
                  <a:tcPr marL="26670" marR="26670" marT="0" marB="0">
                    <a:lnL>
                      <a:noFill/>
                    </a:lnL>
                    <a:lnR>
                      <a:noFill/>
                    </a:lnR>
                    <a:lnT>
                      <a:noFill/>
                    </a:lnT>
                    <a:lnB>
                      <a:noFill/>
                    </a:lnB>
                  </a:tcPr>
                </a:tc>
              </a:tr>
            </a:tbl>
          </a:graphicData>
        </a:graphic>
      </p:graphicFrame>
      <p:sp>
        <p:nvSpPr>
          <p:cNvPr id="8" name="文本框 7"/>
          <p:cNvSpPr txBox="1"/>
          <p:nvPr/>
        </p:nvSpPr>
        <p:spPr>
          <a:xfrm>
            <a:off x="299357" y="6300000"/>
            <a:ext cx="8909957" cy="1015663"/>
          </a:xfrm>
          <a:prstGeom prst="rect">
            <a:avLst/>
          </a:prstGeom>
          <a:noFill/>
        </p:spPr>
        <p:txBody>
          <a:bodyPr wrap="square">
            <a:spAutoFit/>
          </a:bodyPr>
          <a:lstStyle/>
          <a:p>
            <a:r>
              <a:rPr lang="zh-CN" altLang="en-US" sz="2000" dirty="0">
                <a:solidFill>
                  <a:srgbClr val="000000"/>
                </a:solidFill>
                <a:effectLst/>
              </a:rPr>
              <a:t>输入保证为正数，分子、分母均不大于</a:t>
            </a:r>
            <a:r>
              <a:rPr lang="en-US" altLang="zh-CN" sz="2000" dirty="0">
                <a:solidFill>
                  <a:srgbClr val="000000"/>
                </a:solidFill>
                <a:effectLst/>
              </a:rPr>
              <a:t>1000000</a:t>
            </a:r>
            <a:r>
              <a:rPr lang="zh-CN" altLang="en-US" sz="2000" dirty="0">
                <a:solidFill>
                  <a:srgbClr val="000000"/>
                </a:solidFill>
                <a:effectLst/>
              </a:rPr>
              <a:t>，且保证化简结果不为整数。</a:t>
            </a:r>
            <a:endParaRPr lang="zh-CN" altLang="en-US" sz="2000" dirty="0">
              <a:effectLst/>
            </a:endParaRPr>
          </a:p>
          <a:p>
            <a:br>
              <a:rPr lang="zh-CN" altLang="en-US" sz="2000" dirty="0">
                <a:effectLst/>
              </a:rPr>
            </a:br>
            <a:endParaRPr lang="zh-CN" altLang="en-US" sz="2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枚举法难点</a:t>
            </a:r>
            <a:r>
              <a:rPr lang="en-US" altLang="zh-CN" dirty="0"/>
              <a:t>1</a:t>
            </a:r>
            <a:endParaRPr lang="zh-CN" altLang="en-US" dirty="0"/>
          </a:p>
        </p:txBody>
      </p:sp>
      <p:sp>
        <p:nvSpPr>
          <p:cNvPr id="3" name="内容占位符 2"/>
          <p:cNvSpPr>
            <a:spLocks noGrp="1"/>
          </p:cNvSpPr>
          <p:nvPr>
            <p:ph idx="1"/>
          </p:nvPr>
        </p:nvSpPr>
        <p:spPr/>
        <p:txBody>
          <a:bodyPr/>
          <a:lstStyle/>
          <a:p>
            <a:r>
              <a:rPr lang="zh-CN" altLang="en-US" dirty="0"/>
              <a:t>枚举效率提升？善用条件减小范围</a:t>
            </a:r>
            <a:endParaRPr lang="en-US" altLang="zh-CN" dirty="0"/>
          </a:p>
          <a:p>
            <a:pPr marL="0" indent="0">
              <a:buNone/>
            </a:pPr>
            <a:r>
              <a:rPr lang="zh-CN" altLang="en-US" dirty="0"/>
              <a:t>善用等式减小范围</a:t>
            </a:r>
            <a:endParaRPr lang="en-US" altLang="zh-CN" dirty="0"/>
          </a:p>
          <a:p>
            <a:pPr marL="0" indent="0">
              <a:buNone/>
            </a:pPr>
            <a:r>
              <a:rPr lang="zh-CN" altLang="en-US" dirty="0"/>
              <a:t>（</a:t>
            </a:r>
            <a:r>
              <a:rPr lang="en-US" altLang="zh-CN" dirty="0"/>
              <a:t>1</a:t>
            </a:r>
            <a:r>
              <a:rPr lang="zh-CN" altLang="en-US" dirty="0"/>
              <a:t>）</a:t>
            </a:r>
            <a:r>
              <a:rPr lang="en-US" altLang="zh-CN" dirty="0" err="1"/>
              <a:t>ax+by+cz</a:t>
            </a:r>
            <a:r>
              <a:rPr lang="en-US" altLang="zh-CN" dirty="0"/>
              <a:t>=0</a:t>
            </a:r>
            <a:r>
              <a:rPr lang="zh-CN" altLang="en-US" dirty="0"/>
              <a:t>，问满足条件的整数</a:t>
            </a:r>
            <a:r>
              <a:rPr lang="en-US" altLang="zh-CN" dirty="0" err="1"/>
              <a:t>x,y,z</a:t>
            </a:r>
            <a:r>
              <a:rPr lang="zh-CN" altLang="en-US" dirty="0"/>
              <a:t>是多少？</a:t>
            </a:r>
            <a:endParaRPr lang="en-US" altLang="zh-CN" dirty="0"/>
          </a:p>
          <a:p>
            <a:pPr marL="0" indent="0">
              <a:buNone/>
            </a:pPr>
            <a:r>
              <a:rPr lang="zh-CN" altLang="en-US" dirty="0"/>
              <a:t>（</a:t>
            </a:r>
            <a:r>
              <a:rPr lang="en-US" altLang="zh-CN" dirty="0"/>
              <a:t>2</a:t>
            </a:r>
            <a:r>
              <a:rPr lang="zh-CN" altLang="en-US" dirty="0"/>
              <a:t>）求整数</a:t>
            </a:r>
            <a:r>
              <a:rPr lang="en-US" altLang="zh-CN" dirty="0"/>
              <a:t>a, b</a:t>
            </a:r>
            <a:r>
              <a:rPr lang="zh-CN" altLang="en-US" dirty="0"/>
              <a:t>的最小公倍数</a:t>
            </a:r>
            <a:endParaRPr lang="en-US" altLang="zh-CN" dirty="0"/>
          </a:p>
          <a:p>
            <a:pPr marL="0" indent="0">
              <a:buNone/>
            </a:pPr>
            <a:r>
              <a:rPr lang="zh-CN" altLang="en-US" dirty="0"/>
              <a:t>（</a:t>
            </a:r>
            <a:r>
              <a:rPr lang="en-US" altLang="zh-CN" dirty="0"/>
              <a:t>3</a:t>
            </a:r>
            <a:r>
              <a:rPr lang="zh-CN" altLang="en-US" dirty="0"/>
              <a:t>）分数约简</a:t>
            </a:r>
            <a:endParaRPr lang="en-US" altLang="zh-CN" dirty="0"/>
          </a:p>
          <a:p>
            <a:pPr marL="0" indent="0">
              <a:buNone/>
            </a:pPr>
            <a:r>
              <a:rPr lang="zh-CN" altLang="en-US" dirty="0"/>
              <a:t>善用不等关系减小范围</a:t>
            </a:r>
            <a:endParaRPr lang="en-US" altLang="zh-CN" dirty="0"/>
          </a:p>
          <a:p>
            <a:pPr marL="0" indent="0">
              <a:buNone/>
            </a:pPr>
            <a:r>
              <a:rPr lang="zh-CN" altLang="en-US" dirty="0"/>
              <a:t>（</a:t>
            </a:r>
            <a:r>
              <a:rPr lang="en-US" altLang="zh-CN" dirty="0"/>
              <a:t>4</a:t>
            </a:r>
            <a:r>
              <a:rPr lang="zh-CN" altLang="en-US" dirty="0"/>
              <a:t>）</a:t>
            </a:r>
            <a:r>
              <a:rPr lang="en-US" altLang="zh-CN" dirty="0"/>
              <a:t>n</a:t>
            </a:r>
            <a:r>
              <a:rPr lang="zh-CN" altLang="en-US" dirty="0"/>
              <a:t>选</a:t>
            </a:r>
            <a:r>
              <a:rPr lang="en-US" altLang="zh-CN" dirty="0"/>
              <a:t>k</a:t>
            </a:r>
            <a:r>
              <a:rPr lang="zh-CN" altLang="en-US" dirty="0"/>
              <a:t>问题</a:t>
            </a:r>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
            </a:r>
            <a:r>
              <a:rPr lang="zh-CN" altLang="en-US" dirty="0"/>
              <a:t>选</a:t>
            </a:r>
            <a:r>
              <a:rPr lang="en-US" altLang="zh-CN" dirty="0"/>
              <a:t>k</a:t>
            </a:r>
            <a:r>
              <a:rPr lang="zh-CN" altLang="en-US" dirty="0"/>
              <a:t>问题例子：课程选择</a:t>
            </a:r>
            <a:endParaRPr lang="zh-CN" altLang="en-US" dirty="0"/>
          </a:p>
        </p:txBody>
      </p:sp>
      <p:sp>
        <p:nvSpPr>
          <p:cNvPr id="3" name="内容占位符 2"/>
          <p:cNvSpPr>
            <a:spLocks noGrp="1"/>
          </p:cNvSpPr>
          <p:nvPr>
            <p:ph idx="1"/>
          </p:nvPr>
        </p:nvSpPr>
        <p:spPr>
          <a:xfrm>
            <a:off x="432000" y="1530394"/>
            <a:ext cx="8280000" cy="4764163"/>
          </a:xfrm>
        </p:spPr>
        <p:txBody>
          <a:bodyPr>
            <a:normAutofit/>
          </a:bodyPr>
          <a:lstStyle/>
          <a:p>
            <a:pPr algn="l"/>
            <a:r>
              <a:rPr lang="en-US" altLang="zh-CN" sz="2200" b="0" i="0" dirty="0">
                <a:effectLst/>
                <a:latin typeface="宋体" panose="02010600030101010101" pitchFamily="2" charset="-122"/>
                <a:ea typeface="宋体" panose="02010600030101010101" pitchFamily="2" charset="-122"/>
              </a:rPr>
              <a:t>【</a:t>
            </a:r>
            <a:r>
              <a:rPr lang="zh-CN" altLang="en-US" sz="2200" b="0" i="0" dirty="0">
                <a:effectLst/>
                <a:latin typeface="宋体" panose="02010600030101010101" pitchFamily="2" charset="-122"/>
                <a:ea typeface="宋体" panose="02010600030101010101" pitchFamily="2" charset="-122"/>
              </a:rPr>
              <a:t>问题描述</a:t>
            </a:r>
            <a:r>
              <a:rPr lang="en-US" altLang="zh-CN" sz="2200" b="0" i="0" dirty="0">
                <a:effectLst/>
                <a:latin typeface="宋体" panose="02010600030101010101" pitchFamily="2" charset="-122"/>
                <a:ea typeface="宋体" panose="02010600030101010101" pitchFamily="2" charset="-122"/>
              </a:rPr>
              <a:t>】</a:t>
            </a:r>
            <a:endParaRPr lang="zh-CN" altLang="en-US" sz="2200" b="0" i="0" dirty="0">
              <a:effectLst/>
              <a:latin typeface="Open Sans" panose="020B0606030504020204" pitchFamily="34" charset="0"/>
            </a:endParaRPr>
          </a:p>
          <a:p>
            <a:pPr algn="l"/>
            <a:r>
              <a:rPr lang="zh-CN" altLang="en-US" sz="2200" b="0" i="0" dirty="0">
                <a:effectLst/>
                <a:latin typeface="宋体" panose="02010600030101010101" pitchFamily="2" charset="-122"/>
                <a:ea typeface="宋体" panose="02010600030101010101" pitchFamily="2" charset="-122"/>
              </a:rPr>
              <a:t>有</a:t>
            </a:r>
            <a:r>
              <a:rPr lang="en-US" altLang="zh-CN" sz="2200" b="0" i="0" dirty="0">
                <a:effectLst/>
                <a:latin typeface="宋体" panose="02010600030101010101" pitchFamily="2" charset="-122"/>
                <a:ea typeface="宋体" panose="02010600030101010101" pitchFamily="2" charset="-122"/>
              </a:rPr>
              <a:t>n</a:t>
            </a:r>
            <a:r>
              <a:rPr lang="zh-CN" altLang="en-US" sz="2200" b="0" i="0" dirty="0">
                <a:effectLst/>
                <a:latin typeface="宋体" panose="02010600030101010101" pitchFamily="2" charset="-122"/>
                <a:ea typeface="宋体" panose="02010600030101010101" pitchFamily="2" charset="-122"/>
              </a:rPr>
              <a:t>门课，小</a:t>
            </a:r>
            <a:r>
              <a:rPr lang="en-US" altLang="zh-CN" sz="2200" b="0" i="0" dirty="0">
                <a:effectLst/>
                <a:latin typeface="宋体" panose="02010600030101010101" pitchFamily="2" charset="-122"/>
                <a:ea typeface="宋体" panose="02010600030101010101" pitchFamily="2" charset="-122"/>
              </a:rPr>
              <a:t>A</a:t>
            </a:r>
            <a:r>
              <a:rPr lang="zh-CN" altLang="en-US" sz="2200" b="0" i="0" dirty="0">
                <a:effectLst/>
                <a:latin typeface="宋体" panose="02010600030101010101" pitchFamily="2" charset="-122"/>
                <a:ea typeface="宋体" panose="02010600030101010101" pitchFamily="2" charset="-122"/>
              </a:rPr>
              <a:t>计划从中选择</a:t>
            </a:r>
            <a:r>
              <a:rPr lang="en-US" altLang="zh-CN" sz="2200" b="0" i="0" dirty="0">
                <a:effectLst/>
                <a:latin typeface="宋体" panose="02010600030101010101" pitchFamily="2" charset="-122"/>
                <a:ea typeface="宋体" panose="02010600030101010101" pitchFamily="2" charset="-122"/>
              </a:rPr>
              <a:t>3</a:t>
            </a:r>
            <a:r>
              <a:rPr lang="zh-CN" altLang="en-US" sz="2200" b="0" i="0" dirty="0">
                <a:effectLst/>
                <a:latin typeface="宋体" panose="02010600030101010101" pitchFamily="2" charset="-122"/>
                <a:ea typeface="宋体" panose="02010600030101010101" pitchFamily="2" charset="-122"/>
              </a:rPr>
              <a:t>门，请输出小</a:t>
            </a:r>
            <a:r>
              <a:rPr lang="en-US" altLang="zh-CN" sz="2200" b="0" i="0" dirty="0">
                <a:effectLst/>
                <a:latin typeface="宋体" panose="02010600030101010101" pitchFamily="2" charset="-122"/>
                <a:ea typeface="宋体" panose="02010600030101010101" pitchFamily="2" charset="-122"/>
              </a:rPr>
              <a:t>A</a:t>
            </a:r>
            <a:r>
              <a:rPr lang="zh-CN" altLang="en-US" sz="2200" b="0" i="0" dirty="0">
                <a:effectLst/>
                <a:latin typeface="宋体" panose="02010600030101010101" pitchFamily="2" charset="-122"/>
                <a:ea typeface="宋体" panose="02010600030101010101" pitchFamily="2" charset="-122"/>
              </a:rPr>
              <a:t>所有可能选择的课程组合。</a:t>
            </a:r>
            <a:endParaRPr lang="en-US" altLang="zh-CN" sz="2200" b="0" i="0" dirty="0">
              <a:effectLst/>
              <a:latin typeface="宋体" panose="02010600030101010101" pitchFamily="2" charset="-122"/>
              <a:ea typeface="宋体" panose="02010600030101010101" pitchFamily="2" charset="-122"/>
            </a:endParaRPr>
          </a:p>
          <a:p>
            <a:pPr algn="l"/>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输入格式</a:t>
            </a:r>
            <a:r>
              <a:rPr lang="en-US" altLang="zh-CN"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algn="l"/>
            <a:r>
              <a:rPr lang="zh-CN" altLang="en-US" sz="2200" dirty="0">
                <a:latin typeface="宋体" panose="02010600030101010101" pitchFamily="2" charset="-122"/>
                <a:ea typeface="宋体" panose="02010600030101010101" pitchFamily="2" charset="-122"/>
              </a:rPr>
              <a:t>一个数字</a:t>
            </a:r>
            <a:r>
              <a:rPr lang="en-US" altLang="zh-CN" sz="2200" dirty="0">
                <a:latin typeface="宋体" panose="02010600030101010101" pitchFamily="2" charset="-122"/>
                <a:ea typeface="宋体" panose="02010600030101010101" pitchFamily="2" charset="-122"/>
              </a:rPr>
              <a:t>n</a:t>
            </a:r>
            <a:endParaRPr lang="en-US" altLang="zh-CN" sz="2200" dirty="0">
              <a:latin typeface="宋体" panose="02010600030101010101" pitchFamily="2" charset="-122"/>
              <a:ea typeface="宋体" panose="02010600030101010101" pitchFamily="2" charset="-122"/>
            </a:endParaRPr>
          </a:p>
          <a:p>
            <a:pPr algn="l"/>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输出格式</a:t>
            </a:r>
            <a:r>
              <a:rPr lang="en-US" altLang="zh-CN"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algn="l"/>
            <a:r>
              <a:rPr lang="zh-CN" altLang="en-US" sz="2200" dirty="0">
                <a:latin typeface="宋体" panose="02010600030101010101" pitchFamily="2" charset="-122"/>
                <a:ea typeface="宋体" panose="02010600030101010101" pitchFamily="2" charset="-122"/>
              </a:rPr>
              <a:t>每行输出可选的课程组合，组合中课程按字母序排列（空格分隔）。排在前面的课程较小的组合先输出。</a:t>
            </a:r>
            <a:endParaRPr lang="zh-CN" altLang="en-US" sz="2200" dirty="0"/>
          </a:p>
        </p:txBody>
      </p:sp>
      <p:graphicFrame>
        <p:nvGraphicFramePr>
          <p:cNvPr id="6" name="表格 5"/>
          <p:cNvGraphicFramePr>
            <a:graphicFrameLocks noGrp="1"/>
          </p:cNvGraphicFramePr>
          <p:nvPr/>
        </p:nvGraphicFramePr>
        <p:xfrm>
          <a:off x="2002484" y="4962960"/>
          <a:ext cx="2253615" cy="1463040"/>
        </p:xfrm>
        <a:graphic>
          <a:graphicData uri="http://schemas.openxmlformats.org/drawingml/2006/table">
            <a:tbl>
              <a:tblPr/>
              <a:tblGrid>
                <a:gridCol w="2253615"/>
              </a:tblGrid>
              <a:tr h="289560">
                <a:tc>
                  <a:txBody>
                    <a:bodyPr/>
                    <a:lstStyle/>
                    <a:p>
                      <a:pPr latinLnBrk="1"/>
                      <a:r>
                        <a:rPr lang="en-US" altLang="zh-CN" sz="2400" dirty="0">
                          <a:effectLst/>
                          <a:latin typeface="宋体" panose="02010600030101010101" pitchFamily="2" charset="-122"/>
                          <a:ea typeface="宋体" panose="02010600030101010101" pitchFamily="2" charset="-122"/>
                        </a:rPr>
                        <a:t>【</a:t>
                      </a:r>
                      <a:r>
                        <a:rPr lang="zh-CN" altLang="en-US" sz="2400" dirty="0">
                          <a:effectLst/>
                          <a:latin typeface="宋体" panose="02010600030101010101" pitchFamily="2" charset="-122"/>
                          <a:ea typeface="宋体" panose="02010600030101010101" pitchFamily="2" charset="-122"/>
                        </a:rPr>
                        <a:t>输入样例</a:t>
                      </a:r>
                      <a:r>
                        <a:rPr lang="en-US" altLang="zh-CN" sz="2400" dirty="0">
                          <a:effectLst/>
                          <a:latin typeface="宋体" panose="02010600030101010101" pitchFamily="2" charset="-122"/>
                          <a:ea typeface="宋体" panose="02010600030101010101" pitchFamily="2" charset="-122"/>
                        </a:rPr>
                        <a:t>】</a:t>
                      </a:r>
                      <a:endParaRPr lang="zh-CN" altLang="en-US" sz="2400" dirty="0">
                        <a:effectLst/>
                      </a:endParaRPr>
                    </a:p>
                    <a:p>
                      <a:pPr latinLnBrk="1"/>
                      <a:r>
                        <a:rPr lang="en-US" altLang="zh-CN" sz="2400" dirty="0">
                          <a:effectLst/>
                          <a:latin typeface="Courier New" panose="02070309020205020404" pitchFamily="49" charset="0"/>
                        </a:rPr>
                        <a:t>4</a:t>
                      </a:r>
                      <a:endParaRPr lang="zh-CN" altLang="en-US" sz="2400" dirty="0">
                        <a:effectLst/>
                      </a:endParaRPr>
                    </a:p>
                    <a:p>
                      <a:pPr latinLnBrk="1"/>
                      <a:r>
                        <a:rPr lang="zh-CN" altLang="en-US" sz="2400" dirty="0">
                          <a:effectLst/>
                        </a:rPr>
                        <a:t> </a:t>
                      </a:r>
                      <a:endParaRPr lang="zh-CN" altLang="en-US" sz="2400" dirty="0">
                        <a:effectLst/>
                      </a:endParaRPr>
                    </a:p>
                  </a:txBody>
                  <a:tcPr marL="26670" marR="26670" marT="0" marB="0">
                    <a:lnL>
                      <a:noFill/>
                    </a:lnL>
                    <a:lnR>
                      <a:noFill/>
                    </a:lnR>
                    <a:lnT>
                      <a:noFill/>
                    </a:lnT>
                    <a:lnB>
                      <a:noFill/>
                    </a:lnB>
                  </a:tcPr>
                </a:tc>
              </a:tr>
              <a:tr h="289560">
                <a:tc>
                  <a:txBody>
                    <a:bodyPr/>
                    <a:lstStyle/>
                    <a:p>
                      <a:pPr latinLnBrk="1"/>
                      <a:endParaRPr lang="zh-CN" altLang="en-US" sz="2400" dirty="0">
                        <a:effectLst/>
                      </a:endParaRPr>
                    </a:p>
                  </a:txBody>
                  <a:tcPr marL="26670" marR="26670" marT="0" marB="0">
                    <a:lnL>
                      <a:noFill/>
                    </a:lnL>
                    <a:lnR>
                      <a:noFill/>
                    </a:lnR>
                    <a:lnT>
                      <a:noFill/>
                    </a:lnT>
                    <a:lnB>
                      <a:noFill/>
                    </a:lnB>
                  </a:tcPr>
                </a:tc>
              </a:tr>
            </a:tbl>
          </a:graphicData>
        </a:graphic>
      </p:graphicFrame>
      <p:sp>
        <p:nvSpPr>
          <p:cNvPr id="8" name="文本框 7"/>
          <p:cNvSpPr txBox="1"/>
          <p:nvPr/>
        </p:nvSpPr>
        <p:spPr>
          <a:xfrm>
            <a:off x="4887902" y="4875090"/>
            <a:ext cx="2340430" cy="1938992"/>
          </a:xfrm>
          <a:prstGeom prst="rect">
            <a:avLst/>
          </a:prstGeom>
          <a:noFill/>
        </p:spPr>
        <p:txBody>
          <a:bodyPr wrap="square">
            <a:spAutoFit/>
          </a:bodyPr>
          <a:lstStyle/>
          <a:p>
            <a:pPr latinLnBrk="1"/>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输出样例</a:t>
            </a:r>
            <a:r>
              <a:rPr lang="en-US" altLang="zh-CN"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a:p>
            <a:pPr latinLnBrk="1"/>
            <a:r>
              <a:rPr lang="en-US" altLang="zh-CN" sz="2400" dirty="0">
                <a:latin typeface="宋体" panose="02010600030101010101" pitchFamily="2" charset="-122"/>
                <a:ea typeface="宋体" panose="02010600030101010101" pitchFamily="2" charset="-122"/>
              </a:rPr>
              <a:t>1 2 3</a:t>
            </a:r>
            <a:endParaRPr lang="en-US" altLang="zh-CN" sz="2400" dirty="0">
              <a:latin typeface="宋体" panose="02010600030101010101" pitchFamily="2" charset="-122"/>
              <a:ea typeface="宋体" panose="02010600030101010101" pitchFamily="2" charset="-122"/>
            </a:endParaRPr>
          </a:p>
          <a:p>
            <a:pPr latinLnBrk="1"/>
            <a:r>
              <a:rPr lang="en-US" altLang="zh-CN" sz="2400" dirty="0">
                <a:latin typeface="宋体" panose="02010600030101010101" pitchFamily="2" charset="-122"/>
                <a:ea typeface="宋体" panose="02010600030101010101" pitchFamily="2" charset="-122"/>
              </a:rPr>
              <a:t>1 2 4</a:t>
            </a:r>
            <a:endParaRPr lang="en-US" altLang="zh-CN" sz="2400" dirty="0">
              <a:latin typeface="宋体" panose="02010600030101010101" pitchFamily="2" charset="-122"/>
              <a:ea typeface="宋体" panose="02010600030101010101" pitchFamily="2" charset="-122"/>
            </a:endParaRPr>
          </a:p>
          <a:p>
            <a:pPr latinLnBrk="1"/>
            <a:r>
              <a:rPr lang="en-US" altLang="zh-CN" sz="2400" dirty="0">
                <a:latin typeface="宋体" panose="02010600030101010101" pitchFamily="2" charset="-122"/>
                <a:ea typeface="宋体" panose="02010600030101010101" pitchFamily="2" charset="-122"/>
              </a:rPr>
              <a:t>1 3 4</a:t>
            </a:r>
            <a:endParaRPr lang="en-US" altLang="zh-CN" sz="2400" dirty="0">
              <a:latin typeface="宋体" panose="02010600030101010101" pitchFamily="2" charset="-122"/>
              <a:ea typeface="宋体" panose="02010600030101010101" pitchFamily="2" charset="-122"/>
            </a:endParaRPr>
          </a:p>
          <a:p>
            <a:pPr latinLnBrk="1"/>
            <a:r>
              <a:rPr lang="en-US" altLang="zh-CN" sz="2400" dirty="0">
                <a:latin typeface="宋体" panose="02010600030101010101" pitchFamily="2" charset="-122"/>
                <a:ea typeface="宋体" panose="02010600030101010101" pitchFamily="2" charset="-122"/>
              </a:rPr>
              <a:t>2 3 4</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枚举法难点</a:t>
            </a:r>
            <a:r>
              <a:rPr lang="en-US" altLang="zh-CN" dirty="0"/>
              <a:t>2</a:t>
            </a:r>
            <a:endParaRPr lang="zh-CN" altLang="en-US" dirty="0"/>
          </a:p>
        </p:txBody>
      </p:sp>
      <p:sp>
        <p:nvSpPr>
          <p:cNvPr id="3" name="内容占位符 2"/>
          <p:cNvSpPr>
            <a:spLocks noGrp="1"/>
          </p:cNvSpPr>
          <p:nvPr>
            <p:ph idx="1"/>
          </p:nvPr>
        </p:nvSpPr>
        <p:spPr/>
        <p:txBody>
          <a:bodyPr/>
          <a:lstStyle/>
          <a:p>
            <a:r>
              <a:rPr lang="zh-CN" altLang="en-US" dirty="0"/>
              <a:t>枚举对象不是整数</a:t>
            </a:r>
            <a:endParaRPr lang="en-US" altLang="zh-CN" dirty="0"/>
          </a:p>
          <a:p>
            <a:pPr lvl="1"/>
            <a:r>
              <a:rPr lang="zh-CN" altLang="en-US" sz="2400" dirty="0"/>
              <a:t>课程名选择</a:t>
            </a:r>
            <a:endParaRPr lang="en-US" altLang="zh-CN" sz="2400" dirty="0"/>
          </a:p>
          <a:p>
            <a:r>
              <a:rPr lang="zh-CN" altLang="en-US" dirty="0"/>
              <a:t>枚举对象不明确</a:t>
            </a:r>
            <a:endParaRPr lang="en-US" altLang="zh-CN" dirty="0"/>
          </a:p>
          <a:p>
            <a:pPr lvl="1"/>
            <a:r>
              <a:rPr lang="zh-CN" altLang="en-US" sz="2400" dirty="0"/>
              <a:t>鹿死谁手</a:t>
            </a:r>
            <a:endParaRPr lang="en-US" altLang="zh-CN" sz="2400" dirty="0"/>
          </a:p>
          <a:p>
            <a:pPr lvl="1"/>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
            </a:r>
            <a:r>
              <a:rPr lang="zh-CN" altLang="en-US" dirty="0"/>
              <a:t>选</a:t>
            </a:r>
            <a:r>
              <a:rPr lang="en-US" altLang="zh-CN" dirty="0"/>
              <a:t>k</a:t>
            </a:r>
            <a:r>
              <a:rPr lang="zh-CN" altLang="en-US" dirty="0"/>
              <a:t>问题例子：课程名选择</a:t>
            </a:r>
            <a:endParaRPr lang="zh-CN" altLang="en-US" dirty="0"/>
          </a:p>
        </p:txBody>
      </p:sp>
      <p:sp>
        <p:nvSpPr>
          <p:cNvPr id="3" name="内容占位符 2"/>
          <p:cNvSpPr>
            <a:spLocks noGrp="1"/>
          </p:cNvSpPr>
          <p:nvPr>
            <p:ph idx="1"/>
          </p:nvPr>
        </p:nvSpPr>
        <p:spPr>
          <a:xfrm>
            <a:off x="432000" y="1530394"/>
            <a:ext cx="8280000" cy="4764163"/>
          </a:xfrm>
        </p:spPr>
        <p:txBody>
          <a:bodyPr>
            <a:normAutofit/>
          </a:bodyPr>
          <a:lstStyle/>
          <a:p>
            <a:pPr algn="l"/>
            <a:r>
              <a:rPr lang="en-US" altLang="zh-CN" sz="2000" b="0" i="0" dirty="0">
                <a:effectLst/>
                <a:latin typeface="宋体" panose="02010600030101010101" pitchFamily="2" charset="-122"/>
                <a:ea typeface="宋体" panose="02010600030101010101" pitchFamily="2" charset="-122"/>
              </a:rPr>
              <a:t>【</a:t>
            </a:r>
            <a:r>
              <a:rPr lang="zh-CN" altLang="en-US" sz="2000" b="0" i="0" dirty="0">
                <a:effectLst/>
                <a:latin typeface="宋体" panose="02010600030101010101" pitchFamily="2" charset="-122"/>
                <a:ea typeface="宋体" panose="02010600030101010101" pitchFamily="2" charset="-122"/>
              </a:rPr>
              <a:t>问题描述</a:t>
            </a:r>
            <a:r>
              <a:rPr lang="en-US" altLang="zh-CN" sz="2000" b="0" i="0" dirty="0">
                <a:effectLst/>
                <a:latin typeface="宋体" panose="02010600030101010101" pitchFamily="2" charset="-122"/>
                <a:ea typeface="宋体" panose="02010600030101010101" pitchFamily="2" charset="-122"/>
              </a:rPr>
              <a:t>】</a:t>
            </a:r>
            <a:endParaRPr lang="zh-CN" altLang="en-US" sz="2000" b="0" i="0" dirty="0">
              <a:effectLst/>
              <a:latin typeface="Open Sans" panose="020B0606030504020204" pitchFamily="34" charset="0"/>
            </a:endParaRPr>
          </a:p>
          <a:p>
            <a:pPr algn="l"/>
            <a:r>
              <a:rPr lang="zh-CN" altLang="en-US" sz="2000" b="0" i="0" dirty="0">
                <a:effectLst/>
                <a:latin typeface="宋体" panose="02010600030101010101" pitchFamily="2" charset="-122"/>
                <a:ea typeface="宋体" panose="02010600030101010101" pitchFamily="2" charset="-122"/>
              </a:rPr>
              <a:t>有</a:t>
            </a:r>
            <a:r>
              <a:rPr lang="en-US" altLang="zh-CN" sz="2000" b="0" i="0" dirty="0">
                <a:effectLst/>
                <a:latin typeface="宋体" panose="02010600030101010101" pitchFamily="2" charset="-122"/>
                <a:ea typeface="宋体" panose="02010600030101010101" pitchFamily="2" charset="-122"/>
              </a:rPr>
              <a:t>n</a:t>
            </a:r>
            <a:r>
              <a:rPr lang="zh-CN" altLang="en-US" sz="2000" b="0" i="0" dirty="0">
                <a:effectLst/>
                <a:latin typeface="宋体" panose="02010600030101010101" pitchFamily="2" charset="-122"/>
                <a:ea typeface="宋体" panose="02010600030101010101" pitchFamily="2" charset="-122"/>
              </a:rPr>
              <a:t>门课，小</a:t>
            </a:r>
            <a:r>
              <a:rPr lang="en-US" altLang="zh-CN" sz="2000" b="0" i="0" dirty="0">
                <a:effectLst/>
                <a:latin typeface="宋体" panose="02010600030101010101" pitchFamily="2" charset="-122"/>
                <a:ea typeface="宋体" panose="02010600030101010101" pitchFamily="2" charset="-122"/>
              </a:rPr>
              <a:t>A</a:t>
            </a:r>
            <a:r>
              <a:rPr lang="zh-CN" altLang="en-US" sz="2000" b="0" i="0" dirty="0">
                <a:effectLst/>
                <a:latin typeface="宋体" panose="02010600030101010101" pitchFamily="2" charset="-122"/>
                <a:ea typeface="宋体" panose="02010600030101010101" pitchFamily="2" charset="-122"/>
              </a:rPr>
              <a:t>计划从中选择</a:t>
            </a:r>
            <a:r>
              <a:rPr lang="en-US" altLang="zh-CN" sz="2000" b="0" i="0" dirty="0">
                <a:effectLst/>
                <a:latin typeface="宋体" panose="02010600030101010101" pitchFamily="2" charset="-122"/>
                <a:ea typeface="宋体" panose="02010600030101010101" pitchFamily="2" charset="-122"/>
              </a:rPr>
              <a:t>3</a:t>
            </a:r>
            <a:r>
              <a:rPr lang="zh-CN" altLang="en-US" sz="2000" b="0" i="0" dirty="0">
                <a:effectLst/>
                <a:latin typeface="宋体" panose="02010600030101010101" pitchFamily="2" charset="-122"/>
                <a:ea typeface="宋体" panose="02010600030101010101" pitchFamily="2" charset="-122"/>
              </a:rPr>
              <a:t>门，请输出小</a:t>
            </a:r>
            <a:r>
              <a:rPr lang="en-US" altLang="zh-CN" sz="2000" b="0" i="0" dirty="0">
                <a:effectLst/>
                <a:latin typeface="宋体" panose="02010600030101010101" pitchFamily="2" charset="-122"/>
                <a:ea typeface="宋体" panose="02010600030101010101" pitchFamily="2" charset="-122"/>
              </a:rPr>
              <a:t>A</a:t>
            </a:r>
            <a:r>
              <a:rPr lang="zh-CN" altLang="en-US" sz="2000" b="0" i="0" dirty="0">
                <a:effectLst/>
                <a:latin typeface="宋体" panose="02010600030101010101" pitchFamily="2" charset="-122"/>
                <a:ea typeface="宋体" panose="02010600030101010101" pitchFamily="2" charset="-122"/>
              </a:rPr>
              <a:t>所有可能选择的课程组合。</a:t>
            </a:r>
            <a:endParaRPr lang="en-US" altLang="zh-CN" sz="2000" b="0" i="0" dirty="0">
              <a:effectLst/>
              <a:latin typeface="宋体" panose="02010600030101010101" pitchFamily="2" charset="-122"/>
              <a:ea typeface="宋体" panose="02010600030101010101" pitchFamily="2" charset="-122"/>
            </a:endParaRPr>
          </a:p>
          <a:p>
            <a:pPr algn="l"/>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输入格式</a:t>
            </a:r>
            <a:r>
              <a:rPr lang="en-US"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gn="l"/>
            <a:r>
              <a:rPr lang="zh-CN" altLang="en-US" sz="2000" dirty="0">
                <a:latin typeface="宋体" panose="02010600030101010101" pitchFamily="2" charset="-122"/>
                <a:ea typeface="宋体" panose="02010600030101010101" pitchFamily="2" charset="-122"/>
              </a:rPr>
              <a:t>一个数字</a:t>
            </a:r>
            <a:r>
              <a:rPr lang="en-US" altLang="zh-CN" sz="2000" dirty="0">
                <a:latin typeface="宋体" panose="02010600030101010101" pitchFamily="2" charset="-122"/>
                <a:ea typeface="宋体" panose="02010600030101010101" pitchFamily="2" charset="-122"/>
              </a:rPr>
              <a:t>n</a:t>
            </a:r>
            <a:r>
              <a:rPr lang="zh-CN" altLang="en-US" sz="2000" dirty="0">
                <a:latin typeface="宋体" panose="02010600030101010101" pitchFamily="2" charset="-122"/>
                <a:ea typeface="宋体" panose="02010600030101010101" pitchFamily="2" charset="-122"/>
              </a:rPr>
              <a:t>，以及</a:t>
            </a:r>
            <a:r>
              <a:rPr lang="en-US" altLang="zh-CN" sz="2000" dirty="0">
                <a:latin typeface="宋体" panose="02010600030101010101" pitchFamily="2" charset="-122"/>
                <a:ea typeface="宋体" panose="02010600030101010101" pitchFamily="2" charset="-122"/>
              </a:rPr>
              <a:t>n</a:t>
            </a:r>
            <a:r>
              <a:rPr lang="zh-CN" altLang="en-US" sz="2000" dirty="0">
                <a:latin typeface="宋体" panose="02010600030101010101" pitchFamily="2" charset="-122"/>
                <a:ea typeface="宋体" panose="02010600030101010101" pitchFamily="2" charset="-122"/>
              </a:rPr>
              <a:t>行代表课程名</a:t>
            </a:r>
            <a:endParaRPr lang="en-US" altLang="zh-CN" sz="2000" dirty="0">
              <a:latin typeface="宋体" panose="02010600030101010101" pitchFamily="2" charset="-122"/>
              <a:ea typeface="宋体" panose="02010600030101010101" pitchFamily="2" charset="-122"/>
            </a:endParaRPr>
          </a:p>
          <a:p>
            <a:pPr algn="l"/>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输出格式</a:t>
            </a:r>
            <a:r>
              <a:rPr lang="en-US"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gn="l"/>
            <a:r>
              <a:rPr lang="zh-CN" altLang="en-US" sz="2000" dirty="0">
                <a:latin typeface="宋体" panose="02010600030101010101" pitchFamily="2" charset="-122"/>
                <a:ea typeface="宋体" panose="02010600030101010101" pitchFamily="2" charset="-122"/>
              </a:rPr>
              <a:t>每行输出可选的课程组合，组合中课程按字母序排列（空格分隔）。排在前面的课程较小的组合先输出。</a:t>
            </a:r>
            <a:endParaRPr lang="zh-CN" altLang="en-US" sz="2000" dirty="0"/>
          </a:p>
        </p:txBody>
      </p:sp>
      <p:graphicFrame>
        <p:nvGraphicFramePr>
          <p:cNvPr id="6" name="表格 5"/>
          <p:cNvGraphicFramePr>
            <a:graphicFrameLocks noGrp="1"/>
          </p:cNvGraphicFramePr>
          <p:nvPr/>
        </p:nvGraphicFramePr>
        <p:xfrm>
          <a:off x="1918062" y="4594234"/>
          <a:ext cx="2253615" cy="2621280"/>
        </p:xfrm>
        <a:graphic>
          <a:graphicData uri="http://schemas.openxmlformats.org/drawingml/2006/table">
            <a:tbl>
              <a:tblPr/>
              <a:tblGrid>
                <a:gridCol w="2253615"/>
              </a:tblGrid>
              <a:tr h="289560">
                <a:tc>
                  <a:txBody>
                    <a:bodyPr/>
                    <a:lstStyle/>
                    <a:p>
                      <a:pPr latinLnBrk="1"/>
                      <a:r>
                        <a:rPr lang="en-US" altLang="zh-CN" sz="2400" dirty="0">
                          <a:effectLst/>
                          <a:latin typeface="宋体" panose="02010600030101010101" pitchFamily="2" charset="-122"/>
                          <a:ea typeface="宋体" panose="02010600030101010101" pitchFamily="2" charset="-122"/>
                        </a:rPr>
                        <a:t>【</a:t>
                      </a:r>
                      <a:r>
                        <a:rPr lang="zh-CN" altLang="en-US" sz="2400" dirty="0">
                          <a:effectLst/>
                          <a:latin typeface="宋体" panose="02010600030101010101" pitchFamily="2" charset="-122"/>
                          <a:ea typeface="宋体" panose="02010600030101010101" pitchFamily="2" charset="-122"/>
                        </a:rPr>
                        <a:t>输入样例</a:t>
                      </a:r>
                      <a:r>
                        <a:rPr lang="en-US" altLang="zh-CN" sz="2400" dirty="0">
                          <a:effectLst/>
                          <a:latin typeface="宋体" panose="02010600030101010101" pitchFamily="2" charset="-122"/>
                          <a:ea typeface="宋体" panose="02010600030101010101" pitchFamily="2" charset="-122"/>
                        </a:rPr>
                        <a:t>】</a:t>
                      </a:r>
                      <a:endParaRPr lang="zh-CN" altLang="en-US" sz="2400" dirty="0">
                        <a:effectLst/>
                      </a:endParaRPr>
                    </a:p>
                    <a:p>
                      <a:pPr latinLnBrk="1"/>
                      <a:r>
                        <a:rPr lang="en-US" altLang="zh-CN" sz="2000" dirty="0">
                          <a:effectLst/>
                          <a:latin typeface="Courier New" panose="02070309020205020404" pitchFamily="49" charset="0"/>
                        </a:rPr>
                        <a:t>4</a:t>
                      </a:r>
                      <a:endParaRPr lang="en-US" altLang="zh-CN" sz="2000" dirty="0">
                        <a:effectLst/>
                        <a:latin typeface="Courier New" panose="02070309020205020404" pitchFamily="49" charset="0"/>
                      </a:endParaRPr>
                    </a:p>
                    <a:p>
                      <a:pPr latinLnBrk="1"/>
                      <a:r>
                        <a:rPr lang="en-US" altLang="zh-CN" sz="2000" dirty="0" err="1">
                          <a:effectLst/>
                        </a:rPr>
                        <a:t>Chengxusheji</a:t>
                      </a:r>
                      <a:endParaRPr lang="en-US" altLang="zh-CN" sz="2000" dirty="0">
                        <a:effectLst/>
                      </a:endParaRPr>
                    </a:p>
                    <a:p>
                      <a:pPr latinLnBrk="1"/>
                      <a:r>
                        <a:rPr lang="en-US" altLang="zh-CN" sz="2000" dirty="0" err="1">
                          <a:effectLst/>
                        </a:rPr>
                        <a:t>Gaodai</a:t>
                      </a:r>
                      <a:endParaRPr lang="en-US" altLang="zh-CN" sz="2000" dirty="0">
                        <a:effectLst/>
                      </a:endParaRPr>
                    </a:p>
                    <a:p>
                      <a:pPr latinLnBrk="1"/>
                      <a:r>
                        <a:rPr lang="en-US" altLang="zh-CN" sz="2000" dirty="0" err="1">
                          <a:effectLst/>
                        </a:rPr>
                        <a:t>Gaoshu</a:t>
                      </a:r>
                      <a:endParaRPr lang="en-US" altLang="zh-CN" sz="2000" dirty="0">
                        <a:effectLst/>
                      </a:endParaRPr>
                    </a:p>
                    <a:p>
                      <a:pPr latinLnBrk="1"/>
                      <a:r>
                        <a:rPr lang="en-US" altLang="zh-CN" sz="2000" kern="1200" dirty="0" err="1">
                          <a:solidFill>
                            <a:schemeClr val="tx1"/>
                          </a:solidFill>
                          <a:effectLst/>
                          <a:latin typeface="+mn-lt"/>
                          <a:ea typeface="+mn-ea"/>
                          <a:cs typeface="+mn-cs"/>
                        </a:rPr>
                        <a:t>Yingyu</a:t>
                      </a:r>
                      <a:endParaRPr lang="en-US" altLang="zh-CN" sz="2000" dirty="0">
                        <a:effectLst/>
                      </a:endParaRPr>
                    </a:p>
                    <a:p>
                      <a:pPr latinLnBrk="1"/>
                      <a:r>
                        <a:rPr lang="zh-CN" altLang="en-US" sz="2400" dirty="0">
                          <a:effectLst/>
                        </a:rPr>
                        <a:t> </a:t>
                      </a:r>
                      <a:endParaRPr lang="zh-CN" altLang="en-US" sz="2400" dirty="0">
                        <a:effectLst/>
                      </a:endParaRPr>
                    </a:p>
                  </a:txBody>
                  <a:tcPr marL="26670" marR="26670" marT="0" marB="0">
                    <a:lnL>
                      <a:noFill/>
                    </a:lnL>
                    <a:lnR>
                      <a:noFill/>
                    </a:lnR>
                    <a:lnT>
                      <a:noFill/>
                    </a:lnT>
                    <a:lnB>
                      <a:noFill/>
                    </a:lnB>
                  </a:tcPr>
                </a:tc>
              </a:tr>
              <a:tr h="289560">
                <a:tc>
                  <a:txBody>
                    <a:bodyPr/>
                    <a:lstStyle/>
                    <a:p>
                      <a:pPr latinLnBrk="1"/>
                      <a:endParaRPr lang="zh-CN" altLang="en-US" sz="2400" dirty="0">
                        <a:effectLst/>
                      </a:endParaRPr>
                    </a:p>
                  </a:txBody>
                  <a:tcPr marL="26670" marR="26670" marT="0" marB="0">
                    <a:lnL>
                      <a:noFill/>
                    </a:lnL>
                    <a:lnR>
                      <a:noFill/>
                    </a:lnR>
                    <a:lnT>
                      <a:noFill/>
                    </a:lnT>
                    <a:lnB>
                      <a:noFill/>
                    </a:lnB>
                  </a:tcPr>
                </a:tc>
              </a:tr>
            </a:tbl>
          </a:graphicData>
        </a:graphic>
      </p:graphicFrame>
      <p:sp>
        <p:nvSpPr>
          <p:cNvPr id="8" name="文本框 7"/>
          <p:cNvSpPr txBox="1"/>
          <p:nvPr/>
        </p:nvSpPr>
        <p:spPr>
          <a:xfrm>
            <a:off x="4359727" y="4549676"/>
            <a:ext cx="3853544" cy="2616101"/>
          </a:xfrm>
          <a:prstGeom prst="rect">
            <a:avLst/>
          </a:prstGeom>
          <a:noFill/>
        </p:spPr>
        <p:txBody>
          <a:bodyPr wrap="square">
            <a:spAutoFit/>
          </a:bodyPr>
          <a:lstStyle/>
          <a:p>
            <a:pPr latinLnBrk="1"/>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输出样例</a:t>
            </a:r>
            <a:r>
              <a:rPr lang="en-US" altLang="zh-CN"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a:p>
            <a:pPr latinLnBrk="1"/>
            <a:r>
              <a:rPr lang="en-US" altLang="zh-CN" sz="2400" dirty="0" err="1">
                <a:effectLst/>
              </a:rPr>
              <a:t>Chengxusheji</a:t>
            </a:r>
            <a:r>
              <a:rPr lang="en-US" altLang="zh-CN" sz="2400" dirty="0">
                <a:effectLst/>
              </a:rPr>
              <a:t> </a:t>
            </a:r>
            <a:r>
              <a:rPr lang="en-US" altLang="zh-CN" sz="2400" dirty="0" err="1">
                <a:effectLst/>
              </a:rPr>
              <a:t>Gaodai</a:t>
            </a:r>
            <a:r>
              <a:rPr lang="en-US" altLang="zh-CN" sz="2400" dirty="0">
                <a:effectLst/>
              </a:rPr>
              <a:t> </a:t>
            </a:r>
            <a:r>
              <a:rPr lang="en-US" altLang="zh-CN" sz="2400" dirty="0" err="1">
                <a:effectLst/>
              </a:rPr>
              <a:t>Gaoshu</a:t>
            </a:r>
            <a:endParaRPr lang="en-US" altLang="zh-CN" sz="2400" dirty="0">
              <a:effectLst/>
            </a:endParaRPr>
          </a:p>
          <a:p>
            <a:pPr latinLnBrk="1"/>
            <a:r>
              <a:rPr lang="en-US" altLang="zh-CN" sz="2400" dirty="0" err="1">
                <a:effectLst/>
              </a:rPr>
              <a:t>Chengxusheji</a:t>
            </a:r>
            <a:r>
              <a:rPr lang="en-US" altLang="zh-CN" sz="2400" dirty="0">
                <a:effectLst/>
              </a:rPr>
              <a:t> </a:t>
            </a:r>
            <a:r>
              <a:rPr lang="en-US" altLang="zh-CN" sz="2400" dirty="0" err="1">
                <a:effectLst/>
              </a:rPr>
              <a:t>Gaodai</a:t>
            </a:r>
            <a:r>
              <a:rPr lang="en-US" altLang="zh-CN" sz="2400" dirty="0">
                <a:effectLst/>
              </a:rPr>
              <a:t> </a:t>
            </a:r>
            <a:r>
              <a:rPr lang="en-US" altLang="zh-CN" sz="2400" dirty="0" err="1">
                <a:effectLst/>
              </a:rPr>
              <a:t>Yingyu</a:t>
            </a:r>
            <a:endParaRPr lang="en-US" altLang="zh-CN" sz="2400" dirty="0">
              <a:effectLst/>
            </a:endParaRPr>
          </a:p>
          <a:p>
            <a:pPr latinLnBrk="1"/>
            <a:r>
              <a:rPr lang="en-US" altLang="zh-CN" sz="2400" dirty="0" err="1">
                <a:effectLst/>
              </a:rPr>
              <a:t>Chengxusheji</a:t>
            </a:r>
            <a:r>
              <a:rPr lang="en-US" altLang="zh-CN" sz="2400" dirty="0">
                <a:effectLst/>
              </a:rPr>
              <a:t> </a:t>
            </a:r>
            <a:r>
              <a:rPr lang="en-US" altLang="zh-CN" sz="2400" dirty="0" err="1">
                <a:effectLst/>
              </a:rPr>
              <a:t>Gaoshu</a:t>
            </a:r>
            <a:r>
              <a:rPr lang="en-US" altLang="zh-CN" sz="2400" dirty="0">
                <a:effectLst/>
              </a:rPr>
              <a:t> </a:t>
            </a:r>
            <a:r>
              <a:rPr lang="en-US" altLang="zh-CN" sz="2400" dirty="0" err="1">
                <a:effectLst/>
              </a:rPr>
              <a:t>Yingyu</a:t>
            </a:r>
            <a:endParaRPr lang="en-US" altLang="zh-CN" sz="2400" dirty="0">
              <a:effectLst/>
            </a:endParaRPr>
          </a:p>
          <a:p>
            <a:pPr latinLnBrk="1"/>
            <a:r>
              <a:rPr lang="en-US" altLang="zh-CN" sz="2400" dirty="0" err="1">
                <a:effectLst/>
              </a:rPr>
              <a:t>Gaodai</a:t>
            </a:r>
            <a:r>
              <a:rPr lang="en-US" altLang="zh-CN" sz="2400" dirty="0">
                <a:effectLst/>
              </a:rPr>
              <a:t> </a:t>
            </a:r>
            <a:r>
              <a:rPr lang="en-US" altLang="zh-CN" sz="2400" dirty="0" err="1">
                <a:effectLst/>
              </a:rPr>
              <a:t>Gaoshu</a:t>
            </a:r>
            <a:r>
              <a:rPr lang="en-US" altLang="zh-CN" sz="2400" dirty="0">
                <a:effectLst/>
              </a:rPr>
              <a:t> </a:t>
            </a:r>
            <a:r>
              <a:rPr lang="en-US" altLang="zh-CN" sz="2400" dirty="0" err="1">
                <a:effectLst/>
              </a:rPr>
              <a:t>Yingyu</a:t>
            </a:r>
            <a:endParaRPr lang="en-US" altLang="zh-CN" sz="2400" dirty="0">
              <a:effectLst/>
            </a:endParaRPr>
          </a:p>
          <a:p>
            <a:pPr latinLnBrk="1"/>
            <a:endParaRPr lang="en-US" altLang="zh-CN" sz="2400" dirty="0">
              <a:effectLst/>
            </a:endParaRPr>
          </a:p>
          <a:p>
            <a:pPr latinLnBrk="1"/>
            <a:endParaRPr lang="zh-CN" altLang="en-US" sz="2000" dirty="0">
              <a:latin typeface="宋体" panose="02010600030101010101" pitchFamily="2" charset="-122"/>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Yoj182. </a:t>
            </a:r>
            <a:r>
              <a:rPr lang="zh-CN" altLang="en-US" dirty="0"/>
              <a:t>鹿死谁手</a:t>
            </a:r>
            <a:endParaRPr lang="zh-CN" altLang="en-US" dirty="0"/>
          </a:p>
        </p:txBody>
      </p:sp>
      <p:sp>
        <p:nvSpPr>
          <p:cNvPr id="3" name="内容占位符 2"/>
          <p:cNvSpPr>
            <a:spLocks noGrp="1"/>
          </p:cNvSpPr>
          <p:nvPr>
            <p:ph idx="1"/>
          </p:nvPr>
        </p:nvSpPr>
        <p:spPr>
          <a:xfrm>
            <a:off x="432000" y="1535837"/>
            <a:ext cx="8280000" cy="5153434"/>
          </a:xfrm>
        </p:spPr>
        <p:txBody>
          <a:bodyPr>
            <a:normAutofit fontScale="77500" lnSpcReduction="20000"/>
          </a:bodyPr>
          <a:lstStyle/>
          <a:p>
            <a:pPr algn="l"/>
            <a:r>
              <a:rPr lang="zh-CN" altLang="en-US" b="0" i="0" dirty="0">
                <a:effectLst/>
                <a:latin typeface="Open Sans" panose="020B0606030504020204" pitchFamily="34" charset="0"/>
              </a:rPr>
              <a:t>　　古代有一个皇帝，命令</a:t>
            </a:r>
            <a:r>
              <a:rPr lang="en-US" altLang="zh-CN" b="0" i="0" dirty="0">
                <a:effectLst/>
                <a:latin typeface="Open Sans" panose="020B0606030504020204" pitchFamily="34" charset="0"/>
              </a:rPr>
              <a:t>A</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B</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C</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D</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E</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F</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G</a:t>
            </a:r>
            <a:r>
              <a:rPr lang="zh-CN" altLang="en-US" b="0" i="0" dirty="0">
                <a:effectLst/>
                <a:latin typeface="Open Sans" panose="020B0606030504020204" pitchFamily="34" charset="0"/>
              </a:rPr>
              <a:t>、</a:t>
            </a:r>
            <a:r>
              <a:rPr lang="en-US" altLang="zh-CN" b="0" i="0" dirty="0">
                <a:effectLst/>
                <a:latin typeface="Open Sans" panose="020B0606030504020204" pitchFamily="34" charset="0"/>
              </a:rPr>
              <a:t>H</a:t>
            </a:r>
            <a:r>
              <a:rPr lang="zh-CN" altLang="en-US" b="0" i="0" dirty="0">
                <a:effectLst/>
                <a:latin typeface="Open Sans" panose="020B0606030504020204" pitchFamily="34" charset="0"/>
              </a:rPr>
              <a:t>的八员大将陪同他外出打猎。经过一番追逐，有一员大将的一支箭射中了一只鹿，是哪一员大将射中的，开始谁也不清楚。这时候，皇帝叫大家先不要去看箭上刻写的姓名，而要大家先猜猜究竟是谁射中的。八员大将众说纷纭。</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en-US" altLang="zh-CN" b="0" i="0" dirty="0">
                <a:effectLst/>
                <a:latin typeface="Open Sans" panose="020B0606030504020204" pitchFamily="34" charset="0"/>
              </a:rPr>
              <a:t>A</a:t>
            </a:r>
            <a:r>
              <a:rPr lang="zh-CN" altLang="en-US" b="0" i="0" dirty="0">
                <a:effectLst/>
                <a:latin typeface="Open Sans" panose="020B0606030504020204" pitchFamily="34" charset="0"/>
              </a:rPr>
              <a:t>说：“或者是</a:t>
            </a:r>
            <a:r>
              <a:rPr lang="en-US" altLang="zh-CN" b="0" i="0" dirty="0">
                <a:effectLst/>
                <a:latin typeface="Open Sans" panose="020B0606030504020204" pitchFamily="34" charset="0"/>
              </a:rPr>
              <a:t>H</a:t>
            </a:r>
            <a:r>
              <a:rPr lang="zh-CN" altLang="en-US" b="0" i="0" dirty="0">
                <a:effectLst/>
                <a:latin typeface="Open Sans" panose="020B0606030504020204" pitchFamily="34" charset="0"/>
              </a:rPr>
              <a:t>将军射中的，或者是</a:t>
            </a:r>
            <a:r>
              <a:rPr lang="en-US" altLang="zh-CN" b="0" i="0" dirty="0">
                <a:effectLst/>
                <a:latin typeface="Open Sans" panose="020B0606030504020204" pitchFamily="34" charset="0"/>
              </a:rPr>
              <a:t>F</a:t>
            </a:r>
            <a:r>
              <a:rPr lang="zh-CN" altLang="en-US" b="0" i="0" dirty="0">
                <a:effectLst/>
                <a:latin typeface="Open Sans" panose="020B0606030504020204" pitchFamily="34" charset="0"/>
              </a:rPr>
              <a:t>将军射中的。”</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en-US" altLang="zh-CN" b="0" i="0" dirty="0">
                <a:effectLst/>
                <a:latin typeface="Open Sans" panose="020B0606030504020204" pitchFamily="34" charset="0"/>
              </a:rPr>
              <a:t>B</a:t>
            </a:r>
            <a:r>
              <a:rPr lang="zh-CN" altLang="en-US" b="0" i="0" dirty="0">
                <a:effectLst/>
                <a:latin typeface="Open Sans" panose="020B0606030504020204" pitchFamily="34" charset="0"/>
              </a:rPr>
              <a:t>说：“鹿肯定是我射中的啦。”</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en-US" altLang="zh-CN" b="0" i="0" dirty="0">
                <a:effectLst/>
                <a:latin typeface="Open Sans" panose="020B0606030504020204" pitchFamily="34" charset="0"/>
              </a:rPr>
              <a:t>C</a:t>
            </a:r>
            <a:r>
              <a:rPr lang="zh-CN" altLang="en-US" b="0" i="0" dirty="0">
                <a:effectLst/>
                <a:latin typeface="Open Sans" panose="020B0606030504020204" pitchFamily="34" charset="0"/>
              </a:rPr>
              <a:t>说：“我可以断定是</a:t>
            </a:r>
            <a:r>
              <a:rPr lang="en-US" altLang="zh-CN" b="0" i="0" dirty="0">
                <a:effectLst/>
                <a:latin typeface="Open Sans" panose="020B0606030504020204" pitchFamily="34" charset="0"/>
              </a:rPr>
              <a:t>G</a:t>
            </a:r>
            <a:r>
              <a:rPr lang="zh-CN" altLang="en-US" b="0" i="0" dirty="0">
                <a:effectLst/>
                <a:latin typeface="Open Sans" panose="020B0606030504020204" pitchFamily="34" charset="0"/>
              </a:rPr>
              <a:t>将军射中的。”</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en-US" altLang="zh-CN" b="0" i="0" dirty="0">
                <a:effectLst/>
                <a:latin typeface="Open Sans" panose="020B0606030504020204" pitchFamily="34" charset="0"/>
              </a:rPr>
              <a:t>D</a:t>
            </a:r>
            <a:r>
              <a:rPr lang="zh-CN" altLang="en-US" b="0" i="0" dirty="0">
                <a:effectLst/>
                <a:latin typeface="Open Sans" panose="020B0606030504020204" pitchFamily="34" charset="0"/>
              </a:rPr>
              <a:t>说：“怎么说也不可能是</a:t>
            </a:r>
            <a:r>
              <a:rPr lang="en-US" altLang="zh-CN" b="0" i="0" dirty="0">
                <a:effectLst/>
                <a:latin typeface="Open Sans" panose="020B0606030504020204" pitchFamily="34" charset="0"/>
              </a:rPr>
              <a:t>B</a:t>
            </a:r>
            <a:r>
              <a:rPr lang="zh-CN" altLang="en-US" b="0" i="0" dirty="0">
                <a:effectLst/>
                <a:latin typeface="Open Sans" panose="020B0606030504020204" pitchFamily="34" charset="0"/>
              </a:rPr>
              <a:t>将军射中的！”</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en-US" altLang="zh-CN" b="0" i="0" dirty="0">
                <a:effectLst/>
                <a:latin typeface="Open Sans" panose="020B0606030504020204" pitchFamily="34" charset="0"/>
              </a:rPr>
              <a:t>E</a:t>
            </a:r>
            <a:r>
              <a:rPr lang="zh-CN" altLang="en-US" b="0" i="0" dirty="0">
                <a:effectLst/>
                <a:latin typeface="Open Sans" panose="020B0606030504020204" pitchFamily="34" charset="0"/>
              </a:rPr>
              <a:t>说：“</a:t>
            </a:r>
            <a:r>
              <a:rPr lang="en-US" altLang="zh-CN" b="0" i="0" dirty="0">
                <a:effectLst/>
                <a:latin typeface="Open Sans" panose="020B0606030504020204" pitchFamily="34" charset="0"/>
              </a:rPr>
              <a:t>A</a:t>
            </a:r>
            <a:r>
              <a:rPr lang="zh-CN" altLang="en-US" b="0" i="0" dirty="0">
                <a:effectLst/>
                <a:latin typeface="Open Sans" panose="020B0606030504020204" pitchFamily="34" charset="0"/>
              </a:rPr>
              <a:t>将军猜错了。”</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en-US" altLang="zh-CN" b="0" i="0" dirty="0">
                <a:effectLst/>
                <a:latin typeface="Open Sans" panose="020B0606030504020204" pitchFamily="34" charset="0"/>
              </a:rPr>
              <a:t>F</a:t>
            </a:r>
            <a:r>
              <a:rPr lang="zh-CN" altLang="en-US" b="0" i="0" dirty="0">
                <a:effectLst/>
                <a:latin typeface="Open Sans" panose="020B0606030504020204" pitchFamily="34" charset="0"/>
              </a:rPr>
              <a:t>说：“不会是我射中的，也不是</a:t>
            </a:r>
            <a:r>
              <a:rPr lang="en-US" altLang="zh-CN" b="0" i="0" dirty="0">
                <a:effectLst/>
                <a:latin typeface="Open Sans" panose="020B0606030504020204" pitchFamily="34" charset="0"/>
              </a:rPr>
              <a:t>H</a:t>
            </a:r>
            <a:r>
              <a:rPr lang="zh-CN" altLang="en-US" b="0" i="0" dirty="0">
                <a:effectLst/>
                <a:latin typeface="Open Sans" panose="020B0606030504020204" pitchFamily="34" charset="0"/>
              </a:rPr>
              <a:t>将军射中的。”</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en-US" altLang="zh-CN" b="0" i="0" dirty="0">
                <a:effectLst/>
                <a:latin typeface="Open Sans" panose="020B0606030504020204" pitchFamily="34" charset="0"/>
              </a:rPr>
              <a:t>G</a:t>
            </a:r>
            <a:r>
              <a:rPr lang="zh-CN" altLang="en-US" b="0" i="0" dirty="0">
                <a:effectLst/>
                <a:latin typeface="Open Sans" panose="020B0606030504020204" pitchFamily="34" charset="0"/>
              </a:rPr>
              <a:t>说：“绝对不是</a:t>
            </a:r>
            <a:r>
              <a:rPr lang="en-US" altLang="zh-CN" b="0" i="0" dirty="0">
                <a:effectLst/>
                <a:latin typeface="Open Sans" panose="020B0606030504020204" pitchFamily="34" charset="0"/>
              </a:rPr>
              <a:t>C</a:t>
            </a:r>
            <a:r>
              <a:rPr lang="zh-CN" altLang="en-US" b="0" i="0" dirty="0">
                <a:effectLst/>
                <a:latin typeface="Open Sans" panose="020B0606030504020204" pitchFamily="34" charset="0"/>
              </a:rPr>
              <a:t>将军射中的。”</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a:t>
            </a:r>
            <a:r>
              <a:rPr lang="en-US" altLang="zh-CN" b="0" i="0" dirty="0">
                <a:effectLst/>
                <a:latin typeface="Open Sans" panose="020B0606030504020204" pitchFamily="34" charset="0"/>
              </a:rPr>
              <a:t>H</a:t>
            </a:r>
            <a:r>
              <a:rPr lang="zh-CN" altLang="en-US" b="0" i="0" dirty="0">
                <a:effectLst/>
                <a:latin typeface="Open Sans" panose="020B0606030504020204" pitchFamily="34" charset="0"/>
              </a:rPr>
              <a:t>说：“我同意</a:t>
            </a:r>
            <a:r>
              <a:rPr lang="en-US" altLang="zh-CN" b="0" i="0" dirty="0">
                <a:effectLst/>
                <a:latin typeface="Open Sans" panose="020B0606030504020204" pitchFamily="34" charset="0"/>
              </a:rPr>
              <a:t>A</a:t>
            </a:r>
            <a:r>
              <a:rPr lang="zh-CN" altLang="en-US" b="0" i="0" dirty="0">
                <a:effectLst/>
                <a:latin typeface="Open Sans" panose="020B0606030504020204" pitchFamily="34" charset="0"/>
              </a:rPr>
              <a:t>将军的观点。”</a:t>
            </a:r>
            <a:endParaRPr lang="zh-CN" altLang="en-US" b="0" i="0" dirty="0">
              <a:effectLst/>
              <a:latin typeface="Open Sans" panose="020B0606030504020204" pitchFamily="34" charset="0"/>
            </a:endParaRPr>
          </a:p>
          <a:p>
            <a:pPr algn="l"/>
            <a:r>
              <a:rPr lang="zh-CN" altLang="en-US" b="0" i="0" dirty="0">
                <a:effectLst/>
                <a:latin typeface="Open Sans" panose="020B0606030504020204" pitchFamily="34" charset="0"/>
              </a:rPr>
              <a:t>    猜完之后，皇帝命令把鹿身上的箭拨出来验看，证实八员大将中有</a:t>
            </a:r>
            <a:r>
              <a:rPr lang="en-US" altLang="zh-CN" b="0" i="0" dirty="0">
                <a:effectLst/>
                <a:latin typeface="Open Sans" panose="020B0606030504020204" pitchFamily="34" charset="0"/>
              </a:rPr>
              <a:t>n</a:t>
            </a:r>
            <a:r>
              <a:rPr lang="zh-CN" altLang="en-US" b="0" i="0" dirty="0">
                <a:effectLst/>
                <a:latin typeface="Open Sans" panose="020B0606030504020204" pitchFamily="34" charset="0"/>
              </a:rPr>
              <a:t>个人猜对了。问：鹿是谁射死的</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r>
              <a:rPr lang="en-US" altLang="zh-CN" b="0" i="0" dirty="0">
                <a:effectLst/>
                <a:latin typeface="Open Sans" panose="020B0606030504020204" pitchFamily="34" charset="0"/>
              </a:rPr>
              <a:t>    </a:t>
            </a:r>
            <a:r>
              <a:rPr lang="zh-CN" altLang="en-US" b="0" i="0" dirty="0">
                <a:effectLst/>
                <a:latin typeface="Open Sans" panose="020B0606030504020204" pitchFamily="34" charset="0"/>
              </a:rPr>
              <a:t>提示：耐心，耐心</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查找</a:t>
            </a:r>
            <a:endParaRPr lang="zh-CN" altLang="en-US" dirty="0"/>
          </a:p>
        </p:txBody>
      </p:sp>
      <p:pic>
        <p:nvPicPr>
          <p:cNvPr id="778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2244" y="1331650"/>
            <a:ext cx="7466170" cy="48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32000" y="432000"/>
            <a:ext cx="8230387" cy="768839"/>
          </a:xfrm>
        </p:spPr>
        <p:txBody>
          <a:bodyPr/>
          <a:lstStyle/>
          <a:p>
            <a:r>
              <a:rPr lang="zh-CN" altLang="en-US" dirty="0"/>
              <a:t>排序和查找算法应用举例</a:t>
            </a:r>
            <a:endParaRPr lang="zh-CN" altLang="en-US" dirty="0"/>
          </a:p>
        </p:txBody>
      </p:sp>
      <p:sp>
        <p:nvSpPr>
          <p:cNvPr id="2" name="内容占位符 1"/>
          <p:cNvSpPr>
            <a:spLocks noGrp="1"/>
          </p:cNvSpPr>
          <p:nvPr>
            <p:ph idx="1"/>
          </p:nvPr>
        </p:nvSpPr>
        <p:spPr>
          <a:xfrm>
            <a:off x="432000" y="1322479"/>
            <a:ext cx="8280000" cy="4977522"/>
          </a:xfrm>
        </p:spPr>
        <p:txBody>
          <a:bodyPr/>
          <a:lstStyle/>
          <a:p>
            <a:r>
              <a:rPr lang="zh-CN" altLang="en-US" dirty="0"/>
              <a:t>使用</a:t>
            </a:r>
            <a:r>
              <a:rPr lang="zh-CN" altLang="en-US" dirty="0">
                <a:solidFill>
                  <a:srgbClr val="FF0000"/>
                </a:solidFill>
              </a:rPr>
              <a:t>选择排序</a:t>
            </a:r>
            <a:r>
              <a:rPr lang="zh-CN" altLang="en-US" dirty="0"/>
              <a:t>将通讯录按学号信息排序</a:t>
            </a:r>
            <a:endParaRPr lang="zh-CN" altLang="en-US" dirty="0"/>
          </a:p>
        </p:txBody>
      </p:sp>
      <p:sp>
        <p:nvSpPr>
          <p:cNvPr id="5" name="圆角矩形 4"/>
          <p:cNvSpPr/>
          <p:nvPr/>
        </p:nvSpPr>
        <p:spPr>
          <a:xfrm>
            <a:off x="481613" y="1799915"/>
            <a:ext cx="8230387" cy="4752528"/>
          </a:xfrm>
          <a:prstGeom prst="roundRect">
            <a:avLst>
              <a:gd name="adj" fmla="val 1628"/>
            </a:avLst>
          </a:prstGeom>
          <a:solidFill>
            <a:sysClr val="window" lastClr="FFFFFF"/>
          </a:solidFill>
          <a:ln w="12700" cap="flat" cmpd="sng" algn="ctr">
            <a:solidFill>
              <a:srgbClr val="E84C22"/>
            </a:solidFill>
            <a:prstDash val="solid"/>
            <a:miter lim="800000"/>
          </a:ln>
          <a:effectLst/>
        </p:spPr>
        <p:txBody>
          <a:bodyPr rtlCol="0" anchor="t"/>
          <a:lstStyle/>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#include &lt;</a:t>
            </a:r>
            <a:r>
              <a:rPr lang="en-US" altLang="zh-CN" sz="1100" dirty="0" err="1">
                <a:latin typeface="Courier New" panose="02070309020205020404" pitchFamily="49" charset="0"/>
                <a:cs typeface="Courier New" panose="02070309020205020404" pitchFamily="49" charset="0"/>
              </a:rPr>
              <a:t>stdio.h</a:t>
            </a:r>
            <a:r>
              <a:rPr lang="en-US" altLang="zh-CN" sz="1100" dirty="0">
                <a:latin typeface="Courier New" panose="02070309020205020404" pitchFamily="49" charset="0"/>
                <a:cs typeface="Courier New" panose="02070309020205020404" pitchFamily="49" charset="0"/>
              </a:rPr>
              <a:t>&gt;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err="1">
                <a:latin typeface="Courier New" panose="02070309020205020404" pitchFamily="49" charset="0"/>
                <a:cs typeface="Courier New" panose="02070309020205020404" pitchFamily="49" charset="0"/>
              </a:rPr>
              <a:t>typedef</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enum</a:t>
            </a:r>
            <a:r>
              <a:rPr lang="en-US" altLang="zh-CN" sz="1100" dirty="0">
                <a:latin typeface="Courier New" panose="02070309020205020404" pitchFamily="49" charset="0"/>
                <a:cs typeface="Courier New" panose="02070309020205020404" pitchFamily="49" charset="0"/>
              </a:rPr>
              <a:t> { </a:t>
            </a:r>
            <a:r>
              <a:rPr lang="en-US" altLang="zh-CN" sz="1100" dirty="0" err="1">
                <a:latin typeface="Courier New" panose="02070309020205020404" pitchFamily="49" charset="0"/>
                <a:cs typeface="Courier New" panose="02070309020205020404" pitchFamily="49" charset="0"/>
              </a:rPr>
              <a:t>bai</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chaoxian</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han</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tujia</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yao</a:t>
            </a:r>
            <a:r>
              <a:rPr lang="en-US" altLang="zh-CN" sz="1100" dirty="0">
                <a:latin typeface="Courier New" panose="02070309020205020404" pitchFamily="49" charset="0"/>
                <a:cs typeface="Courier New" panose="02070309020205020404" pitchFamily="49" charset="0"/>
              </a:rPr>
              <a:t> } Nation;</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err="1">
                <a:latin typeface="Courier New" panose="02070309020205020404" pitchFamily="49" charset="0"/>
                <a:cs typeface="Courier New" panose="02070309020205020404" pitchFamily="49" charset="0"/>
              </a:rPr>
              <a:t>typedef</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struct</a:t>
            </a:r>
            <a:r>
              <a:rPr lang="en-US" altLang="zh-CN" sz="1100" dirty="0">
                <a:latin typeface="Courier New" panose="02070309020205020404" pitchFamily="49" charset="0"/>
                <a:cs typeface="Courier New" panose="02070309020205020404" pitchFamily="49" charset="0"/>
              </a:rPr>
              <a:t> { int year; int month; int day; } Date;</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err="1">
                <a:latin typeface="Courier New" panose="02070309020205020404" pitchFamily="49" charset="0"/>
                <a:cs typeface="Courier New" panose="02070309020205020404" pitchFamily="49" charset="0"/>
              </a:rPr>
              <a:t>typedef</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struct</a:t>
            </a:r>
            <a:r>
              <a:rPr lang="en-US" altLang="zh-CN" sz="1100" dirty="0">
                <a:latin typeface="Courier New" panose="02070309020205020404" pitchFamily="49" charset="0"/>
                <a:cs typeface="Courier New" panose="02070309020205020404" pitchFamily="49" charset="0"/>
              </a:rPr>
              <a:t> {</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int </a:t>
            </a:r>
            <a:r>
              <a:rPr lang="en-US" altLang="zh-CN" sz="1100" dirty="0" err="1">
                <a:latin typeface="Courier New" panose="02070309020205020404" pitchFamily="49" charset="0"/>
                <a:cs typeface="Courier New" panose="02070309020205020404" pitchFamily="49" charset="0"/>
              </a:rPr>
              <a:t>sno</a:t>
            </a: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char name[20];</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char sex;</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char class;</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Nation </a:t>
            </a:r>
            <a:r>
              <a:rPr lang="en-US" altLang="zh-CN" sz="1100" dirty="0" err="1">
                <a:latin typeface="Courier New" panose="02070309020205020404" pitchFamily="49" charset="0"/>
                <a:cs typeface="Courier New" panose="02070309020205020404" pitchFamily="49" charset="0"/>
              </a:rPr>
              <a:t>nation</a:t>
            </a: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int age;</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Date birthday;</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Student;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int main()</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char nations[][10] = {"</a:t>
            </a:r>
            <a:r>
              <a:rPr lang="en-US" altLang="zh-CN" sz="1100" dirty="0" err="1">
                <a:solidFill>
                  <a:srgbClr val="FF0000"/>
                </a:solidFill>
                <a:latin typeface="Courier New" panose="02070309020205020404" pitchFamily="49" charset="0"/>
                <a:cs typeface="Courier New" panose="02070309020205020404" pitchFamily="49" charset="0"/>
              </a:rPr>
              <a:t>bai</a:t>
            </a:r>
            <a:r>
              <a:rPr lang="en-US" altLang="zh-CN" sz="1100" dirty="0">
                <a:solidFill>
                  <a:srgbClr val="FF0000"/>
                </a:solidFill>
                <a:latin typeface="Courier New" panose="02070309020205020404" pitchFamily="49" charset="0"/>
                <a:cs typeface="Courier New" panose="02070309020205020404" pitchFamily="49" charset="0"/>
              </a:rPr>
              <a:t>", "</a:t>
            </a:r>
            <a:r>
              <a:rPr lang="en-US" altLang="zh-CN" sz="1100" dirty="0" err="1">
                <a:solidFill>
                  <a:srgbClr val="FF0000"/>
                </a:solidFill>
                <a:latin typeface="Courier New" panose="02070309020205020404" pitchFamily="49" charset="0"/>
                <a:cs typeface="Courier New" panose="02070309020205020404" pitchFamily="49" charset="0"/>
              </a:rPr>
              <a:t>chaoxian</a:t>
            </a:r>
            <a:r>
              <a:rPr lang="en-US" altLang="zh-CN" sz="1100" dirty="0">
                <a:solidFill>
                  <a:srgbClr val="FF0000"/>
                </a:solidFill>
                <a:latin typeface="Courier New" panose="02070309020205020404" pitchFamily="49" charset="0"/>
                <a:cs typeface="Courier New" panose="02070309020205020404" pitchFamily="49" charset="0"/>
              </a:rPr>
              <a:t>", "</a:t>
            </a:r>
            <a:r>
              <a:rPr lang="en-US" altLang="zh-CN" sz="1100" dirty="0" err="1">
                <a:solidFill>
                  <a:srgbClr val="FF0000"/>
                </a:solidFill>
                <a:latin typeface="Courier New" panose="02070309020205020404" pitchFamily="49" charset="0"/>
                <a:cs typeface="Courier New" panose="02070309020205020404" pitchFamily="49" charset="0"/>
              </a:rPr>
              <a:t>han</a:t>
            </a:r>
            <a:r>
              <a:rPr lang="en-US" altLang="zh-CN" sz="1100" dirty="0">
                <a:solidFill>
                  <a:srgbClr val="FF0000"/>
                </a:solidFill>
                <a:latin typeface="Courier New" panose="02070309020205020404" pitchFamily="49" charset="0"/>
                <a:cs typeface="Courier New" panose="02070309020205020404" pitchFamily="49" charset="0"/>
              </a:rPr>
              <a:t>", "</a:t>
            </a:r>
            <a:r>
              <a:rPr lang="en-US" altLang="zh-CN" sz="1100" dirty="0" err="1">
                <a:solidFill>
                  <a:srgbClr val="FF0000"/>
                </a:solidFill>
                <a:latin typeface="Courier New" panose="02070309020205020404" pitchFamily="49" charset="0"/>
                <a:cs typeface="Courier New" panose="02070309020205020404" pitchFamily="49" charset="0"/>
              </a:rPr>
              <a:t>tujia</a:t>
            </a:r>
            <a:r>
              <a:rPr lang="en-US" altLang="zh-CN" sz="1100" dirty="0">
                <a:solidFill>
                  <a:srgbClr val="FF0000"/>
                </a:solidFill>
                <a:latin typeface="Courier New" panose="02070309020205020404" pitchFamily="49" charset="0"/>
                <a:cs typeface="Courier New" panose="02070309020205020404" pitchFamily="49" charset="0"/>
              </a:rPr>
              <a:t>", "</a:t>
            </a:r>
            <a:r>
              <a:rPr lang="en-US" altLang="zh-CN" sz="1100" dirty="0" err="1">
                <a:solidFill>
                  <a:srgbClr val="FF0000"/>
                </a:solidFill>
                <a:latin typeface="Courier New" panose="02070309020205020404" pitchFamily="49" charset="0"/>
                <a:cs typeface="Courier New" panose="02070309020205020404" pitchFamily="49" charset="0"/>
              </a:rPr>
              <a:t>yao</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Student students[] =</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{2021123456, "</a:t>
            </a:r>
            <a:r>
              <a:rPr lang="en-US" altLang="zh-CN" sz="1100" dirty="0" err="1">
                <a:latin typeface="Courier New" panose="02070309020205020404" pitchFamily="49" charset="0"/>
                <a:cs typeface="Courier New" panose="02070309020205020404" pitchFamily="49" charset="0"/>
              </a:rPr>
              <a:t>ZhangSan</a:t>
            </a:r>
            <a:r>
              <a:rPr lang="en-US" altLang="zh-CN" sz="1100" dirty="0">
                <a:latin typeface="Courier New" panose="02070309020205020404" pitchFamily="49" charset="0"/>
                <a:cs typeface="Courier New" panose="02070309020205020404" pitchFamily="49" charset="0"/>
              </a:rPr>
              <a:t>", 'F', 'T', </a:t>
            </a:r>
            <a:r>
              <a:rPr lang="en-US" altLang="zh-CN" sz="1100" dirty="0" err="1">
                <a:latin typeface="Courier New" panose="02070309020205020404" pitchFamily="49" charset="0"/>
                <a:cs typeface="Courier New" panose="02070309020205020404" pitchFamily="49" charset="0"/>
              </a:rPr>
              <a:t>han</a:t>
            </a:r>
            <a:r>
              <a:rPr lang="en-US" altLang="zh-CN" sz="1100" dirty="0">
                <a:latin typeface="Courier New" panose="02070309020205020404" pitchFamily="49" charset="0"/>
                <a:cs typeface="Courier New" panose="02070309020205020404" pitchFamily="49" charset="0"/>
              </a:rPr>
              <a:t>, 18, {2003, 8, 1}},</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{2021200834, "</a:t>
            </a:r>
            <a:r>
              <a:rPr lang="en-US" altLang="zh-CN" sz="1100" dirty="0" err="1">
                <a:latin typeface="Courier New" panose="02070309020205020404" pitchFamily="49" charset="0"/>
                <a:cs typeface="Courier New" panose="02070309020205020404" pitchFamily="49" charset="0"/>
              </a:rPr>
              <a:t>LiSi</a:t>
            </a:r>
            <a:r>
              <a:rPr lang="en-US" altLang="zh-CN" sz="1100" dirty="0">
                <a:latin typeface="Courier New" panose="02070309020205020404" pitchFamily="49" charset="0"/>
                <a:cs typeface="Courier New" panose="02070309020205020404" pitchFamily="49" charset="0"/>
              </a:rPr>
              <a:t>", 'M', 'D', </a:t>
            </a:r>
            <a:r>
              <a:rPr lang="en-US" altLang="zh-CN" sz="1100" dirty="0" err="1">
                <a:latin typeface="Courier New" panose="02070309020205020404" pitchFamily="49" charset="0"/>
                <a:cs typeface="Courier New" panose="02070309020205020404" pitchFamily="49" charset="0"/>
              </a:rPr>
              <a:t>yao</a:t>
            </a:r>
            <a:r>
              <a:rPr lang="en-US" altLang="zh-CN" sz="1100" dirty="0">
                <a:latin typeface="Courier New" panose="02070309020205020404" pitchFamily="49" charset="0"/>
                <a:cs typeface="Courier New" panose="02070309020205020404" pitchFamily="49" charset="0"/>
              </a:rPr>
              <a:t>, 19, {2002, 6, 25}},</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a:t>
            </a:r>
            <a:endParaRPr lang="en-US" altLang="zh-CN" sz="1100" dirty="0">
              <a:latin typeface="Courier New" panose="02070309020205020404" pitchFamily="49" charset="0"/>
              <a:cs typeface="Courier New" panose="02070309020205020404" pitchFamily="49"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72705" y="776984"/>
            <a:ext cx="8242485" cy="5039922"/>
          </a:xfrm>
          <a:prstGeom prst="roundRect">
            <a:avLst>
              <a:gd name="adj" fmla="val 1628"/>
            </a:avLst>
          </a:prstGeom>
          <a:solidFill>
            <a:sysClr val="window" lastClr="FFFFFF"/>
          </a:solidFill>
          <a:ln w="12700" cap="flat" cmpd="sng" algn="ctr">
            <a:solidFill>
              <a:srgbClr val="E84C22"/>
            </a:solidFill>
            <a:prstDash val="solid"/>
            <a:miter lim="800000"/>
          </a:ln>
          <a:effectLst/>
        </p:spPr>
        <p:txBody>
          <a:bodyPr rtlCol="0" anchor="t"/>
          <a:lstStyle/>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int </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 j, min;</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Student temp;</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for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 0;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&lt;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(students) /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 - 1;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min =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for (j =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+ 1; j &lt;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(students) /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 </a:t>
            </a:r>
            <a:r>
              <a:rPr lang="en-US" altLang="zh-CN" sz="1100" dirty="0" err="1">
                <a:solidFill>
                  <a:srgbClr val="FF0000"/>
                </a:solidFill>
                <a:latin typeface="Courier New" panose="02070309020205020404" pitchFamily="49" charset="0"/>
                <a:cs typeface="Courier New" panose="02070309020205020404" pitchFamily="49" charset="0"/>
              </a:rPr>
              <a:t>j++</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if (students[min].</a:t>
            </a:r>
            <a:r>
              <a:rPr lang="en-US" altLang="zh-CN" sz="1100" dirty="0" err="1">
                <a:solidFill>
                  <a:srgbClr val="FF0000"/>
                </a:solidFill>
                <a:latin typeface="Courier New" panose="02070309020205020404" pitchFamily="49" charset="0"/>
                <a:cs typeface="Courier New" panose="02070309020205020404" pitchFamily="49" charset="0"/>
              </a:rPr>
              <a:t>sno</a:t>
            </a:r>
            <a:r>
              <a:rPr lang="en-US" altLang="zh-CN" sz="1100" dirty="0">
                <a:solidFill>
                  <a:srgbClr val="FF0000"/>
                </a:solidFill>
                <a:latin typeface="Courier New" panose="02070309020205020404" pitchFamily="49" charset="0"/>
                <a:cs typeface="Courier New" panose="02070309020205020404" pitchFamily="49" charset="0"/>
              </a:rPr>
              <a:t> &gt; students[j].</a:t>
            </a:r>
            <a:r>
              <a:rPr lang="en-US" altLang="zh-CN" sz="1100" dirty="0" err="1">
                <a:solidFill>
                  <a:srgbClr val="FF0000"/>
                </a:solidFill>
                <a:latin typeface="Courier New" panose="02070309020205020404" pitchFamily="49" charset="0"/>
                <a:cs typeface="Courier New" panose="02070309020205020404" pitchFamily="49" charset="0"/>
              </a:rPr>
              <a:t>sno</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min = j;</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if (min !=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temp = students[</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students[</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 students[min];</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students[min] = temp;</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for (</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 = 0; </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 &lt; </a:t>
            </a:r>
            <a:r>
              <a:rPr lang="en-US" altLang="zh-CN" sz="1100" dirty="0" err="1">
                <a:latin typeface="Courier New" panose="02070309020205020404" pitchFamily="49" charset="0"/>
                <a:cs typeface="Courier New" panose="02070309020205020404" pitchFamily="49" charset="0"/>
              </a:rPr>
              <a:t>sizeof</a:t>
            </a:r>
            <a:r>
              <a:rPr lang="en-US" altLang="zh-CN" sz="1100" dirty="0">
                <a:latin typeface="Courier New" panose="02070309020205020404" pitchFamily="49" charset="0"/>
                <a:cs typeface="Courier New" panose="02070309020205020404" pitchFamily="49" charset="0"/>
              </a:rPr>
              <a:t>(students) / </a:t>
            </a:r>
            <a:r>
              <a:rPr lang="en-US" altLang="zh-CN" sz="1100" dirty="0" err="1">
                <a:latin typeface="Courier New" panose="02070309020205020404" pitchFamily="49" charset="0"/>
                <a:cs typeface="Courier New" panose="02070309020205020404" pitchFamily="49" charset="0"/>
              </a:rPr>
              <a:t>sizeof</a:t>
            </a:r>
            <a:r>
              <a:rPr lang="en-US" altLang="zh-CN" sz="1100" dirty="0">
                <a:latin typeface="Courier New" panose="02070309020205020404" pitchFamily="49" charset="0"/>
                <a:cs typeface="Courier New" panose="02070309020205020404" pitchFamily="49" charset="0"/>
              </a:rPr>
              <a:t>(Student); </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printf</a:t>
            </a:r>
            <a:r>
              <a:rPr lang="en-US" altLang="zh-CN" sz="1100" dirty="0">
                <a:latin typeface="Courier New" panose="02070309020205020404" pitchFamily="49" charset="0"/>
                <a:cs typeface="Courier New" panose="02070309020205020404" pitchFamily="49" charset="0"/>
              </a:rPr>
              <a:t>("%d %s %c %c %s %d %d-%d-%d\n",</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students[</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a:t>
            </a:r>
            <a:r>
              <a:rPr lang="en-US" altLang="zh-CN" sz="1100" dirty="0" err="1">
                <a:latin typeface="Courier New" panose="02070309020205020404" pitchFamily="49" charset="0"/>
                <a:cs typeface="Courier New" panose="02070309020205020404" pitchFamily="49" charset="0"/>
              </a:rPr>
              <a:t>sno</a:t>
            </a:r>
            <a:r>
              <a:rPr lang="en-US" altLang="zh-CN" sz="1100" dirty="0">
                <a:latin typeface="Courier New" panose="02070309020205020404" pitchFamily="49" charset="0"/>
                <a:cs typeface="Courier New" panose="02070309020205020404" pitchFamily="49" charset="0"/>
              </a:rPr>
              <a:t>, students[</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].name,</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students[</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].sex, students[</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].class,</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nations[students[</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].nation], students[</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].age,</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students[</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a:t>
            </a:r>
            <a:r>
              <a:rPr lang="en-US" altLang="zh-CN" sz="1100" dirty="0" err="1">
                <a:latin typeface="Courier New" panose="02070309020205020404" pitchFamily="49" charset="0"/>
                <a:cs typeface="Courier New" panose="02070309020205020404" pitchFamily="49" charset="0"/>
              </a:rPr>
              <a:t>birthday.year</a:t>
            </a:r>
            <a:r>
              <a:rPr lang="en-US" altLang="zh-CN" sz="1100" dirty="0">
                <a:latin typeface="Courier New" panose="02070309020205020404" pitchFamily="49" charset="0"/>
                <a:cs typeface="Courier New" panose="02070309020205020404" pitchFamily="49" charset="0"/>
              </a:rPr>
              <a:t>, students[</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a:t>
            </a:r>
            <a:r>
              <a:rPr lang="en-US" altLang="zh-CN" sz="1100" dirty="0" err="1">
                <a:latin typeface="Courier New" panose="02070309020205020404" pitchFamily="49" charset="0"/>
                <a:cs typeface="Courier New" panose="02070309020205020404" pitchFamily="49" charset="0"/>
              </a:rPr>
              <a:t>birthday.month</a:t>
            </a:r>
            <a:r>
              <a:rPr lang="en-US" altLang="zh-CN" sz="1100" dirty="0">
                <a:latin typeface="Courier New" panose="02070309020205020404" pitchFamily="49" charset="0"/>
                <a:cs typeface="Courier New" panose="02070309020205020404" pitchFamily="49" charset="0"/>
              </a:rPr>
              <a:t>, students[</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a:t>
            </a:r>
            <a:r>
              <a:rPr lang="en-US" altLang="zh-CN" sz="1100" dirty="0" err="1">
                <a:latin typeface="Courier New" panose="02070309020205020404" pitchFamily="49" charset="0"/>
                <a:cs typeface="Courier New" panose="02070309020205020404" pitchFamily="49" charset="0"/>
              </a:rPr>
              <a:t>birthday.day</a:t>
            </a: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br>
              <a:rPr lang="en-US" altLang="zh-CN" sz="1100" dirty="0"/>
            </a:br>
            <a:endParaRPr lang="en-US" altLang="zh-CN" sz="1100" dirty="0"/>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latin typeface="Courier New" panose="02070309020205020404" pitchFamily="49" charset="0"/>
              <a:cs typeface="Courier New" panose="02070309020205020404" pitchFamily="49"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排序和查找算法应用举例</a:t>
            </a:r>
            <a:endParaRPr lang="zh-CN" altLang="en-US" dirty="0"/>
          </a:p>
        </p:txBody>
      </p:sp>
      <p:sp>
        <p:nvSpPr>
          <p:cNvPr id="2" name="内容占位符 1"/>
          <p:cNvSpPr>
            <a:spLocks noGrp="1"/>
          </p:cNvSpPr>
          <p:nvPr>
            <p:ph idx="1"/>
          </p:nvPr>
        </p:nvSpPr>
        <p:spPr/>
        <p:txBody>
          <a:bodyPr/>
          <a:lstStyle/>
          <a:p>
            <a:r>
              <a:rPr lang="en-US" altLang="zh-CN" dirty="0"/>
              <a:t>2. </a:t>
            </a:r>
            <a:r>
              <a:rPr lang="zh-CN" altLang="en-US" dirty="0"/>
              <a:t>使用</a:t>
            </a:r>
            <a:r>
              <a:rPr lang="zh-CN" altLang="en-US" dirty="0">
                <a:solidFill>
                  <a:srgbClr val="FF0000"/>
                </a:solidFill>
              </a:rPr>
              <a:t>冒泡排序</a:t>
            </a:r>
            <a:r>
              <a:rPr lang="zh-CN" altLang="en-US" dirty="0"/>
              <a:t>将通讯录按姓名信息排序</a:t>
            </a:r>
            <a:endParaRPr lang="zh-CN" altLang="en-US" dirty="0"/>
          </a:p>
        </p:txBody>
      </p:sp>
      <p:sp>
        <p:nvSpPr>
          <p:cNvPr id="6" name="圆角矩形 5"/>
          <p:cNvSpPr/>
          <p:nvPr/>
        </p:nvSpPr>
        <p:spPr>
          <a:xfrm>
            <a:off x="197776" y="2111541"/>
            <a:ext cx="8640960" cy="3126842"/>
          </a:xfrm>
          <a:prstGeom prst="roundRect">
            <a:avLst>
              <a:gd name="adj" fmla="val 1628"/>
            </a:avLst>
          </a:prstGeom>
          <a:solidFill>
            <a:sysClr val="window" lastClr="FFFFFF"/>
          </a:solidFill>
          <a:ln w="12700" cap="flat" cmpd="sng" algn="ctr">
            <a:solidFill>
              <a:srgbClr val="E84C22"/>
            </a:solidFill>
            <a:prstDash val="solid"/>
            <a:miter lim="800000"/>
          </a:ln>
          <a:effectLst/>
        </p:spPr>
        <p:txBody>
          <a:bodyPr rtlCol="0" anchor="t"/>
          <a:lstStyle/>
          <a:p>
            <a:pPr marL="228600" indent="-228600" algn="just" fontAlgn="base">
              <a:spcBef>
                <a:spcPct val="0"/>
              </a:spcBef>
              <a:spcAft>
                <a:spcPct val="0"/>
              </a:spcAft>
              <a:buClr>
                <a:schemeClr val="bg1">
                  <a:lumMod val="65000"/>
                </a:schemeClr>
              </a:buClr>
              <a:buFont typeface="+mj-lt"/>
              <a:buAutoNum type="arabicPeriod"/>
              <a:defRPr/>
            </a:pPr>
            <a:r>
              <a:rPr lang="en-US" altLang="zh-CN" sz="1500" dirty="0">
                <a:latin typeface="Courier New" panose="02070309020205020404" pitchFamily="49" charset="0"/>
                <a:cs typeface="Courier New" panose="02070309020205020404" pitchFamily="49" charset="0"/>
              </a:rPr>
              <a:t>  int </a:t>
            </a:r>
            <a:r>
              <a:rPr lang="en-US" altLang="zh-CN" sz="1500" dirty="0" err="1">
                <a:latin typeface="Courier New" panose="02070309020205020404" pitchFamily="49" charset="0"/>
                <a:cs typeface="Courier New" panose="02070309020205020404" pitchFamily="49" charset="0"/>
              </a:rPr>
              <a:t>i</a:t>
            </a:r>
            <a:r>
              <a:rPr lang="en-US" altLang="zh-CN" sz="1500" dirty="0">
                <a:latin typeface="Courier New" panose="02070309020205020404" pitchFamily="49" charset="0"/>
                <a:cs typeface="Courier New" panose="02070309020205020404" pitchFamily="49" charset="0"/>
              </a:rPr>
              <a:t>, j;</a:t>
            </a:r>
            <a:endParaRPr lang="en-US" altLang="zh-CN" sz="1500" dirty="0">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latin typeface="Courier New" panose="02070309020205020404" pitchFamily="49" charset="0"/>
                <a:cs typeface="Courier New" panose="02070309020205020404" pitchFamily="49" charset="0"/>
              </a:rPr>
              <a:t>  Student temp;</a:t>
            </a:r>
            <a:endParaRPr lang="en-US" altLang="zh-CN" sz="1500" dirty="0">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endParaRPr lang="en-US" altLang="zh-CN" sz="1500" dirty="0">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solidFill>
                  <a:srgbClr val="FF0000"/>
                </a:solidFill>
                <a:latin typeface="Courier New" panose="02070309020205020404" pitchFamily="49" charset="0"/>
                <a:cs typeface="Courier New" panose="02070309020205020404" pitchFamily="49" charset="0"/>
              </a:rPr>
              <a:t>  for (</a:t>
            </a:r>
            <a:r>
              <a:rPr lang="en-US" altLang="zh-CN" sz="1500" dirty="0" err="1">
                <a:solidFill>
                  <a:srgbClr val="FF0000"/>
                </a:solidFill>
                <a:latin typeface="Courier New" panose="02070309020205020404" pitchFamily="49" charset="0"/>
                <a:cs typeface="Courier New" panose="02070309020205020404" pitchFamily="49" charset="0"/>
              </a:rPr>
              <a:t>i</a:t>
            </a:r>
            <a:r>
              <a:rPr lang="en-US" altLang="zh-CN" sz="1500" dirty="0">
                <a:solidFill>
                  <a:srgbClr val="FF0000"/>
                </a:solidFill>
                <a:latin typeface="Courier New" panose="02070309020205020404" pitchFamily="49" charset="0"/>
                <a:cs typeface="Courier New" panose="02070309020205020404" pitchFamily="49" charset="0"/>
              </a:rPr>
              <a:t> = 0; </a:t>
            </a:r>
            <a:r>
              <a:rPr lang="en-US" altLang="zh-CN" sz="1500" dirty="0" err="1">
                <a:solidFill>
                  <a:srgbClr val="FF0000"/>
                </a:solidFill>
                <a:latin typeface="Courier New" panose="02070309020205020404" pitchFamily="49" charset="0"/>
                <a:cs typeface="Courier New" panose="02070309020205020404" pitchFamily="49" charset="0"/>
              </a:rPr>
              <a:t>i</a:t>
            </a:r>
            <a:r>
              <a:rPr lang="en-US" altLang="zh-CN" sz="1500" dirty="0">
                <a:solidFill>
                  <a:srgbClr val="FF0000"/>
                </a:solidFill>
                <a:latin typeface="Courier New" panose="02070309020205020404" pitchFamily="49" charset="0"/>
                <a:cs typeface="Courier New" panose="02070309020205020404" pitchFamily="49" charset="0"/>
              </a:rPr>
              <a:t> &lt; </a:t>
            </a:r>
            <a:r>
              <a:rPr lang="en-US" altLang="zh-CN" sz="1500" dirty="0" err="1">
                <a:solidFill>
                  <a:srgbClr val="FF0000"/>
                </a:solidFill>
                <a:latin typeface="Courier New" panose="02070309020205020404" pitchFamily="49" charset="0"/>
                <a:cs typeface="Courier New" panose="02070309020205020404" pitchFamily="49" charset="0"/>
              </a:rPr>
              <a:t>sizeof</a:t>
            </a:r>
            <a:r>
              <a:rPr lang="en-US" altLang="zh-CN" sz="1500" dirty="0">
                <a:solidFill>
                  <a:srgbClr val="FF0000"/>
                </a:solidFill>
                <a:latin typeface="Courier New" panose="02070309020205020404" pitchFamily="49" charset="0"/>
                <a:cs typeface="Courier New" panose="02070309020205020404" pitchFamily="49" charset="0"/>
              </a:rPr>
              <a:t>(students) / </a:t>
            </a:r>
            <a:r>
              <a:rPr lang="en-US" altLang="zh-CN" sz="1500" dirty="0" err="1">
                <a:solidFill>
                  <a:srgbClr val="FF0000"/>
                </a:solidFill>
                <a:latin typeface="Courier New" panose="02070309020205020404" pitchFamily="49" charset="0"/>
                <a:cs typeface="Courier New" panose="02070309020205020404" pitchFamily="49" charset="0"/>
              </a:rPr>
              <a:t>sizeof</a:t>
            </a:r>
            <a:r>
              <a:rPr lang="en-US" altLang="zh-CN" sz="1500" dirty="0">
                <a:solidFill>
                  <a:srgbClr val="FF0000"/>
                </a:solidFill>
                <a:latin typeface="Courier New" panose="02070309020205020404" pitchFamily="49" charset="0"/>
                <a:cs typeface="Courier New" panose="02070309020205020404" pitchFamily="49" charset="0"/>
              </a:rPr>
              <a:t>(Student) - 1; </a:t>
            </a:r>
            <a:r>
              <a:rPr lang="en-US" altLang="zh-CN" sz="1500" dirty="0" err="1">
                <a:solidFill>
                  <a:srgbClr val="FF0000"/>
                </a:solidFill>
                <a:latin typeface="Courier New" panose="02070309020205020404" pitchFamily="49" charset="0"/>
                <a:cs typeface="Courier New" panose="02070309020205020404" pitchFamily="49" charset="0"/>
              </a:rPr>
              <a:t>i</a:t>
            </a:r>
            <a:r>
              <a:rPr lang="en-US" altLang="zh-CN" sz="1500" dirty="0">
                <a:solidFill>
                  <a:srgbClr val="FF0000"/>
                </a:solidFill>
                <a:latin typeface="Courier New" panose="02070309020205020404" pitchFamily="49" charset="0"/>
                <a:cs typeface="Courier New" panose="02070309020205020404" pitchFamily="49" charset="0"/>
              </a:rPr>
              <a:t>++)</a:t>
            </a:r>
            <a:endParaRPr lang="en-US" altLang="zh-CN" sz="1500" dirty="0">
              <a:solidFill>
                <a:srgbClr val="FF0000"/>
              </a:solidFill>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solidFill>
                  <a:srgbClr val="FF0000"/>
                </a:solidFill>
                <a:latin typeface="Courier New" panose="02070309020205020404" pitchFamily="49" charset="0"/>
                <a:cs typeface="Courier New" panose="02070309020205020404" pitchFamily="49" charset="0"/>
              </a:rPr>
              <a:t>  {</a:t>
            </a:r>
            <a:endParaRPr lang="en-US" altLang="zh-CN" sz="1500" dirty="0">
              <a:solidFill>
                <a:srgbClr val="FF0000"/>
              </a:solidFill>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solidFill>
                  <a:srgbClr val="FF0000"/>
                </a:solidFill>
                <a:latin typeface="Courier New" panose="02070309020205020404" pitchFamily="49" charset="0"/>
                <a:cs typeface="Courier New" panose="02070309020205020404" pitchFamily="49" charset="0"/>
              </a:rPr>
              <a:t>        for (j = 0; j &lt; </a:t>
            </a:r>
            <a:r>
              <a:rPr lang="en-US" altLang="zh-CN" sz="1500" dirty="0" err="1">
                <a:solidFill>
                  <a:srgbClr val="FF0000"/>
                </a:solidFill>
                <a:latin typeface="Courier New" panose="02070309020205020404" pitchFamily="49" charset="0"/>
                <a:cs typeface="Courier New" panose="02070309020205020404" pitchFamily="49" charset="0"/>
              </a:rPr>
              <a:t>sizeof</a:t>
            </a:r>
            <a:r>
              <a:rPr lang="en-US" altLang="zh-CN" sz="1500" dirty="0">
                <a:solidFill>
                  <a:srgbClr val="FF0000"/>
                </a:solidFill>
                <a:latin typeface="Courier New" panose="02070309020205020404" pitchFamily="49" charset="0"/>
                <a:cs typeface="Courier New" panose="02070309020205020404" pitchFamily="49" charset="0"/>
              </a:rPr>
              <a:t>(students) / </a:t>
            </a:r>
            <a:r>
              <a:rPr lang="en-US" altLang="zh-CN" sz="1500" dirty="0" err="1">
                <a:solidFill>
                  <a:srgbClr val="FF0000"/>
                </a:solidFill>
                <a:latin typeface="Courier New" panose="02070309020205020404" pitchFamily="49" charset="0"/>
                <a:cs typeface="Courier New" panose="02070309020205020404" pitchFamily="49" charset="0"/>
              </a:rPr>
              <a:t>sizeof</a:t>
            </a:r>
            <a:r>
              <a:rPr lang="en-US" altLang="zh-CN" sz="1500" dirty="0">
                <a:solidFill>
                  <a:srgbClr val="FF0000"/>
                </a:solidFill>
                <a:latin typeface="Courier New" panose="02070309020205020404" pitchFamily="49" charset="0"/>
                <a:cs typeface="Courier New" panose="02070309020205020404" pitchFamily="49" charset="0"/>
              </a:rPr>
              <a:t>(Student) - </a:t>
            </a:r>
            <a:r>
              <a:rPr lang="en-US" altLang="zh-CN" sz="1500" dirty="0" err="1">
                <a:solidFill>
                  <a:srgbClr val="FF0000"/>
                </a:solidFill>
                <a:latin typeface="Courier New" panose="02070309020205020404" pitchFamily="49" charset="0"/>
                <a:cs typeface="Courier New" panose="02070309020205020404" pitchFamily="49" charset="0"/>
              </a:rPr>
              <a:t>i</a:t>
            </a:r>
            <a:r>
              <a:rPr lang="en-US" altLang="zh-CN" sz="1500" dirty="0">
                <a:solidFill>
                  <a:srgbClr val="FF0000"/>
                </a:solidFill>
                <a:latin typeface="Courier New" panose="02070309020205020404" pitchFamily="49" charset="0"/>
                <a:cs typeface="Courier New" panose="02070309020205020404" pitchFamily="49" charset="0"/>
              </a:rPr>
              <a:t> - 1; </a:t>
            </a:r>
            <a:r>
              <a:rPr lang="en-US" altLang="zh-CN" sz="1500" dirty="0" err="1">
                <a:solidFill>
                  <a:srgbClr val="FF0000"/>
                </a:solidFill>
                <a:latin typeface="Courier New" panose="02070309020205020404" pitchFamily="49" charset="0"/>
                <a:cs typeface="Courier New" panose="02070309020205020404" pitchFamily="49" charset="0"/>
              </a:rPr>
              <a:t>j++</a:t>
            </a:r>
            <a:r>
              <a:rPr lang="en-US" altLang="zh-CN" sz="1500" dirty="0">
                <a:solidFill>
                  <a:srgbClr val="FF0000"/>
                </a:solidFill>
                <a:latin typeface="Courier New" panose="02070309020205020404" pitchFamily="49" charset="0"/>
                <a:cs typeface="Courier New" panose="02070309020205020404" pitchFamily="49" charset="0"/>
              </a:rPr>
              <a:t>)</a:t>
            </a:r>
            <a:endParaRPr lang="en-US" altLang="zh-CN" sz="1500" dirty="0">
              <a:solidFill>
                <a:srgbClr val="FF0000"/>
              </a:solidFill>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solidFill>
                  <a:srgbClr val="FF0000"/>
                </a:solidFill>
                <a:latin typeface="Courier New" panose="02070309020205020404" pitchFamily="49" charset="0"/>
                <a:cs typeface="Courier New" panose="02070309020205020404" pitchFamily="49" charset="0"/>
              </a:rPr>
              <a:t>            if (</a:t>
            </a:r>
            <a:r>
              <a:rPr lang="en-US" altLang="zh-CN" sz="1500" u="sng" dirty="0" err="1">
                <a:solidFill>
                  <a:srgbClr val="FF0000"/>
                </a:solidFill>
                <a:latin typeface="Courier New" panose="02070309020205020404" pitchFamily="49" charset="0"/>
                <a:cs typeface="Courier New" panose="02070309020205020404" pitchFamily="49" charset="0"/>
              </a:rPr>
              <a:t>strcmp</a:t>
            </a:r>
            <a:r>
              <a:rPr lang="en-US" altLang="zh-CN" sz="1500" u="sng" dirty="0">
                <a:solidFill>
                  <a:srgbClr val="FF0000"/>
                </a:solidFill>
                <a:latin typeface="Courier New" panose="02070309020205020404" pitchFamily="49" charset="0"/>
                <a:cs typeface="Courier New" panose="02070309020205020404" pitchFamily="49" charset="0"/>
              </a:rPr>
              <a:t>(students[j].name, students[j + 1].name) &gt; 0</a:t>
            </a:r>
            <a:r>
              <a:rPr lang="en-US" altLang="zh-CN" sz="1500" dirty="0">
                <a:solidFill>
                  <a:srgbClr val="FF0000"/>
                </a:solidFill>
                <a:latin typeface="Courier New" panose="02070309020205020404" pitchFamily="49" charset="0"/>
                <a:cs typeface="Courier New" panose="02070309020205020404" pitchFamily="49" charset="0"/>
              </a:rPr>
              <a:t>)</a:t>
            </a:r>
            <a:endParaRPr lang="en-US" altLang="zh-CN" sz="1500" dirty="0">
              <a:solidFill>
                <a:srgbClr val="FF0000"/>
              </a:solidFill>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solidFill>
                  <a:srgbClr val="FF0000"/>
                </a:solidFill>
                <a:latin typeface="Courier New" panose="02070309020205020404" pitchFamily="49" charset="0"/>
                <a:cs typeface="Courier New" panose="02070309020205020404" pitchFamily="49" charset="0"/>
              </a:rPr>
              <a:t>            {</a:t>
            </a:r>
            <a:endParaRPr lang="en-US" altLang="zh-CN" sz="1500" dirty="0">
              <a:solidFill>
                <a:srgbClr val="FF0000"/>
              </a:solidFill>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solidFill>
                  <a:srgbClr val="FF0000"/>
                </a:solidFill>
                <a:latin typeface="Courier New" panose="02070309020205020404" pitchFamily="49" charset="0"/>
                <a:cs typeface="Courier New" panose="02070309020205020404" pitchFamily="49" charset="0"/>
              </a:rPr>
              <a:t>                temp = students[j];</a:t>
            </a:r>
            <a:endParaRPr lang="en-US" altLang="zh-CN" sz="1500" dirty="0">
              <a:solidFill>
                <a:srgbClr val="FF0000"/>
              </a:solidFill>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solidFill>
                  <a:srgbClr val="FF0000"/>
                </a:solidFill>
                <a:latin typeface="Courier New" panose="02070309020205020404" pitchFamily="49" charset="0"/>
                <a:cs typeface="Courier New" panose="02070309020205020404" pitchFamily="49" charset="0"/>
              </a:rPr>
              <a:t>                students[j] = students[j + 1];</a:t>
            </a:r>
            <a:endParaRPr lang="en-US" altLang="zh-CN" sz="1500" dirty="0">
              <a:solidFill>
                <a:srgbClr val="FF0000"/>
              </a:solidFill>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solidFill>
                  <a:srgbClr val="FF0000"/>
                </a:solidFill>
                <a:latin typeface="Courier New" panose="02070309020205020404" pitchFamily="49" charset="0"/>
                <a:cs typeface="Courier New" panose="02070309020205020404" pitchFamily="49" charset="0"/>
              </a:rPr>
              <a:t>                students[j + 1] = temp;</a:t>
            </a:r>
            <a:endParaRPr lang="en-US" altLang="zh-CN" sz="1500" dirty="0">
              <a:solidFill>
                <a:srgbClr val="FF0000"/>
              </a:solidFill>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solidFill>
                  <a:srgbClr val="FF0000"/>
                </a:solidFill>
                <a:latin typeface="Courier New" panose="02070309020205020404" pitchFamily="49" charset="0"/>
                <a:cs typeface="Courier New" panose="02070309020205020404" pitchFamily="49" charset="0"/>
              </a:rPr>
              <a:t>            }</a:t>
            </a:r>
            <a:endParaRPr lang="en-US" altLang="zh-CN" sz="1500" dirty="0">
              <a:solidFill>
                <a:srgbClr val="FF0000"/>
              </a:solidFill>
              <a:latin typeface="Courier New" panose="02070309020205020404" pitchFamily="49" charset="0"/>
              <a:cs typeface="Courier New" panose="02070309020205020404" pitchFamily="49" charset="0"/>
            </a:endParaRPr>
          </a:p>
          <a:p>
            <a:pPr marL="228600" indent="-228600" algn="just" fontAlgn="base">
              <a:spcBef>
                <a:spcPct val="0"/>
              </a:spcBef>
              <a:spcAft>
                <a:spcPct val="0"/>
              </a:spcAft>
              <a:buClr>
                <a:schemeClr val="bg1">
                  <a:lumMod val="65000"/>
                </a:schemeClr>
              </a:buClr>
              <a:buFont typeface="+mj-lt"/>
              <a:buAutoNum type="arabicPeriod"/>
              <a:defRPr/>
            </a:pPr>
            <a:r>
              <a:rPr lang="en-US" altLang="zh-CN" sz="1500" dirty="0">
                <a:solidFill>
                  <a:srgbClr val="FF0000"/>
                </a:solidFill>
                <a:latin typeface="Courier New" panose="02070309020205020404" pitchFamily="49" charset="0"/>
                <a:cs typeface="Courier New" panose="02070309020205020404" pitchFamily="49" charset="0"/>
              </a:rPr>
              <a:t> }</a:t>
            </a:r>
            <a:endParaRPr lang="en-US" altLang="zh-CN" sz="1500" dirty="0">
              <a:latin typeface="Courier New" panose="02070309020205020404" pitchFamily="49" charset="0"/>
              <a:cs typeface="Courier New" panose="02070309020205020404" pitchFamily="49" charset="0"/>
            </a:endParaRPr>
          </a:p>
        </p:txBody>
      </p:sp>
      <p:sp>
        <p:nvSpPr>
          <p:cNvPr id="4" name="箭头: 右 3"/>
          <p:cNvSpPr/>
          <p:nvPr/>
        </p:nvSpPr>
        <p:spPr>
          <a:xfrm>
            <a:off x="1163256" y="3429000"/>
            <a:ext cx="231494" cy="2459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32000" y="432000"/>
            <a:ext cx="8230387" cy="620736"/>
          </a:xfrm>
        </p:spPr>
        <p:txBody>
          <a:bodyPr>
            <a:normAutofit fontScale="90000"/>
          </a:bodyPr>
          <a:lstStyle/>
          <a:p>
            <a:r>
              <a:rPr lang="zh-CN" altLang="en-US" dirty="0"/>
              <a:t>排序和查找算法应用举例</a:t>
            </a:r>
            <a:endParaRPr lang="zh-CN" altLang="en-US" dirty="0"/>
          </a:p>
        </p:txBody>
      </p:sp>
      <p:sp>
        <p:nvSpPr>
          <p:cNvPr id="2" name="内容占位符 1"/>
          <p:cNvSpPr>
            <a:spLocks noGrp="1"/>
          </p:cNvSpPr>
          <p:nvPr>
            <p:ph idx="1"/>
          </p:nvPr>
        </p:nvSpPr>
        <p:spPr>
          <a:xfrm>
            <a:off x="432000" y="1255521"/>
            <a:ext cx="8280000" cy="5044480"/>
          </a:xfrm>
        </p:spPr>
        <p:txBody>
          <a:bodyPr/>
          <a:lstStyle/>
          <a:p>
            <a:r>
              <a:rPr lang="en-US" altLang="zh-CN" dirty="0"/>
              <a:t>3. </a:t>
            </a:r>
            <a:r>
              <a:rPr lang="zh-CN" altLang="en-US" dirty="0"/>
              <a:t>多字段排序</a:t>
            </a:r>
            <a:r>
              <a:rPr lang="en-US" altLang="zh-CN" dirty="0"/>
              <a:t>——</a:t>
            </a:r>
            <a:r>
              <a:rPr lang="zh-CN" altLang="en-US" dirty="0"/>
              <a:t>按生日排序</a:t>
            </a:r>
            <a:endParaRPr lang="zh-CN" altLang="en-US" dirty="0"/>
          </a:p>
        </p:txBody>
      </p:sp>
      <p:sp>
        <p:nvSpPr>
          <p:cNvPr id="6" name="圆角矩形 5"/>
          <p:cNvSpPr/>
          <p:nvPr/>
        </p:nvSpPr>
        <p:spPr>
          <a:xfrm>
            <a:off x="251520" y="1731469"/>
            <a:ext cx="8640960" cy="4968552"/>
          </a:xfrm>
          <a:prstGeom prst="roundRect">
            <a:avLst>
              <a:gd name="adj" fmla="val 1628"/>
            </a:avLst>
          </a:prstGeom>
          <a:solidFill>
            <a:sysClr val="window" lastClr="FFFFFF"/>
          </a:solidFill>
          <a:ln w="12700" cap="flat" cmpd="sng" algn="ctr">
            <a:solidFill>
              <a:srgbClr val="E84C22"/>
            </a:solidFill>
            <a:prstDash val="solid"/>
            <a:miter lim="800000"/>
          </a:ln>
          <a:effectLst/>
        </p:spPr>
        <p:txBody>
          <a:bodyPr rtlCol="0" anchor="t"/>
          <a:lstStyle/>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int </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 j;</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int </a:t>
            </a:r>
            <a:r>
              <a:rPr lang="en-US" altLang="zh-CN" sz="1100" dirty="0" err="1">
                <a:latin typeface="Courier New" panose="02070309020205020404" pitchFamily="49" charset="0"/>
                <a:cs typeface="Courier New" panose="02070309020205020404" pitchFamily="49" charset="0"/>
              </a:rPr>
              <a:t>is_big</a:t>
            </a:r>
            <a:r>
              <a:rPr lang="en-US" altLang="zh-CN" sz="1100" dirty="0">
                <a:latin typeface="Courier New" panose="02070309020205020404" pitchFamily="49" charset="0"/>
                <a:cs typeface="Courier New" panose="02070309020205020404" pitchFamily="49" charset="0"/>
              </a:rPr>
              <a:t>, encode1, encode2;</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Student temp;</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4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for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 0;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&lt;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(students) /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 - 1;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for (j = 0; j &lt;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(students) /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 -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- 1; </a:t>
            </a:r>
            <a:r>
              <a:rPr lang="en-US" altLang="zh-CN" sz="1100" dirty="0" err="1">
                <a:solidFill>
                  <a:srgbClr val="FF0000"/>
                </a:solidFill>
                <a:latin typeface="Courier New" panose="02070309020205020404" pitchFamily="49" charset="0"/>
                <a:cs typeface="Courier New" panose="02070309020205020404" pitchFamily="49" charset="0"/>
              </a:rPr>
              <a:t>j++</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b="1" dirty="0">
                <a:solidFill>
                  <a:srgbClr val="FF0000"/>
                </a:solidFill>
                <a:latin typeface="Courier New" panose="02070309020205020404" pitchFamily="49" charset="0"/>
                <a:cs typeface="Courier New" panose="02070309020205020404" pitchFamily="49" charset="0"/>
              </a:rPr>
              <a:t>            </a:t>
            </a:r>
            <a:r>
              <a:rPr lang="en-US" altLang="zh-CN" sz="1100" b="1" u="sng" dirty="0">
                <a:solidFill>
                  <a:srgbClr val="FF0000"/>
                </a:solidFill>
                <a:latin typeface="Courier New" panose="02070309020205020404" pitchFamily="49" charset="0"/>
                <a:cs typeface="Courier New" panose="02070309020205020404" pitchFamily="49" charset="0"/>
              </a:rPr>
              <a:t>encode1 = students[j].</a:t>
            </a:r>
            <a:r>
              <a:rPr lang="en-US" altLang="zh-CN" sz="1100" b="1" u="sng" dirty="0" err="1">
                <a:solidFill>
                  <a:srgbClr val="FF0000"/>
                </a:solidFill>
                <a:latin typeface="Courier New" panose="02070309020205020404" pitchFamily="49" charset="0"/>
                <a:cs typeface="Courier New" panose="02070309020205020404" pitchFamily="49" charset="0"/>
              </a:rPr>
              <a:t>birthday.year</a:t>
            </a:r>
            <a:r>
              <a:rPr lang="en-US" altLang="zh-CN" sz="1100" b="1" u="sng" dirty="0">
                <a:solidFill>
                  <a:srgbClr val="FF0000"/>
                </a:solidFill>
                <a:latin typeface="Courier New" panose="02070309020205020404" pitchFamily="49" charset="0"/>
                <a:cs typeface="Courier New" panose="02070309020205020404" pitchFamily="49" charset="0"/>
              </a:rPr>
              <a:t> * 10000 + students[j].</a:t>
            </a:r>
            <a:r>
              <a:rPr lang="en-US" altLang="zh-CN" sz="1100" b="1" u="sng" dirty="0" err="1">
                <a:solidFill>
                  <a:srgbClr val="FF0000"/>
                </a:solidFill>
                <a:latin typeface="Courier New" panose="02070309020205020404" pitchFamily="49" charset="0"/>
                <a:cs typeface="Courier New" panose="02070309020205020404" pitchFamily="49" charset="0"/>
              </a:rPr>
              <a:t>birthday.month</a:t>
            </a:r>
            <a:r>
              <a:rPr lang="en-US" altLang="zh-CN" sz="1100" b="1" u="sng" dirty="0">
                <a:solidFill>
                  <a:srgbClr val="FF0000"/>
                </a:solidFill>
                <a:latin typeface="Courier New" panose="02070309020205020404" pitchFamily="49" charset="0"/>
                <a:cs typeface="Courier New" panose="02070309020205020404" pitchFamily="49" charset="0"/>
              </a:rPr>
              <a:t> * 100 +</a:t>
            </a:r>
            <a:r>
              <a:rPr lang="en-US" altLang="zh-CN" sz="1100" b="1" dirty="0">
                <a:solidFill>
                  <a:srgbClr val="FF0000"/>
                </a:solidFill>
                <a:latin typeface="Courier New" panose="02070309020205020404" pitchFamily="49" charset="0"/>
                <a:cs typeface="Courier New" panose="02070309020205020404" pitchFamily="49" charset="0"/>
              </a:rPr>
              <a:t> </a:t>
            </a:r>
            <a:endParaRPr lang="en-US" altLang="zh-CN" sz="1100" b="1"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b="1" dirty="0">
                <a:solidFill>
                  <a:srgbClr val="FF0000"/>
                </a:solidFill>
                <a:latin typeface="Courier New" panose="02070309020205020404" pitchFamily="49" charset="0"/>
                <a:cs typeface="Courier New" panose="02070309020205020404" pitchFamily="49" charset="0"/>
              </a:rPr>
              <a:t>                      </a:t>
            </a:r>
            <a:r>
              <a:rPr lang="en-US" altLang="zh-CN" sz="1100" b="1" u="sng" dirty="0">
                <a:solidFill>
                  <a:srgbClr val="FF0000"/>
                </a:solidFill>
                <a:latin typeface="Courier New" panose="02070309020205020404" pitchFamily="49" charset="0"/>
                <a:cs typeface="Courier New" panose="02070309020205020404" pitchFamily="49" charset="0"/>
              </a:rPr>
              <a:t>students[j].</a:t>
            </a:r>
            <a:r>
              <a:rPr lang="en-US" altLang="zh-CN" sz="1100" b="1" u="sng" dirty="0" err="1">
                <a:solidFill>
                  <a:srgbClr val="FF0000"/>
                </a:solidFill>
                <a:latin typeface="Courier New" panose="02070309020205020404" pitchFamily="49" charset="0"/>
                <a:cs typeface="Courier New" panose="02070309020205020404" pitchFamily="49" charset="0"/>
              </a:rPr>
              <a:t>birthday.day</a:t>
            </a:r>
            <a:r>
              <a:rPr lang="en-US" altLang="zh-CN" sz="1100" b="1" u="sng" dirty="0">
                <a:solidFill>
                  <a:srgbClr val="FF0000"/>
                </a:solidFill>
                <a:latin typeface="Courier New" panose="02070309020205020404" pitchFamily="49" charset="0"/>
                <a:cs typeface="Courier New" panose="02070309020205020404" pitchFamily="49" charset="0"/>
              </a:rPr>
              <a:t>;</a:t>
            </a:r>
            <a:endParaRPr lang="en-US" altLang="zh-CN" sz="1100" b="1" u="sng"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b="1" dirty="0">
                <a:solidFill>
                  <a:srgbClr val="FF0000"/>
                </a:solidFill>
                <a:latin typeface="Courier New" panose="02070309020205020404" pitchFamily="49" charset="0"/>
                <a:cs typeface="Courier New" panose="02070309020205020404" pitchFamily="49" charset="0"/>
              </a:rPr>
              <a:t>            </a:t>
            </a:r>
            <a:r>
              <a:rPr lang="en-US" altLang="zh-CN" sz="1100" b="1" u="sng" dirty="0">
                <a:solidFill>
                  <a:srgbClr val="FF0000"/>
                </a:solidFill>
                <a:latin typeface="Courier New" panose="02070309020205020404" pitchFamily="49" charset="0"/>
                <a:cs typeface="Courier New" panose="02070309020205020404" pitchFamily="49" charset="0"/>
              </a:rPr>
              <a:t>encode2 = students[j+1].</a:t>
            </a:r>
            <a:r>
              <a:rPr lang="en-US" altLang="zh-CN" sz="1100" b="1" u="sng" dirty="0" err="1">
                <a:solidFill>
                  <a:srgbClr val="FF0000"/>
                </a:solidFill>
                <a:latin typeface="Courier New" panose="02070309020205020404" pitchFamily="49" charset="0"/>
                <a:cs typeface="Courier New" panose="02070309020205020404" pitchFamily="49" charset="0"/>
              </a:rPr>
              <a:t>birthday.year</a:t>
            </a:r>
            <a:r>
              <a:rPr lang="en-US" altLang="zh-CN" sz="1100" b="1" u="sng" dirty="0">
                <a:solidFill>
                  <a:srgbClr val="FF0000"/>
                </a:solidFill>
                <a:latin typeface="Courier New" panose="02070309020205020404" pitchFamily="49" charset="0"/>
                <a:cs typeface="Courier New" panose="02070309020205020404" pitchFamily="49" charset="0"/>
              </a:rPr>
              <a:t> * 10000 + students[j+1].</a:t>
            </a:r>
            <a:r>
              <a:rPr lang="en-US" altLang="zh-CN" sz="1100" b="1" u="sng" dirty="0" err="1">
                <a:solidFill>
                  <a:srgbClr val="FF0000"/>
                </a:solidFill>
                <a:latin typeface="Courier New" panose="02070309020205020404" pitchFamily="49" charset="0"/>
                <a:cs typeface="Courier New" panose="02070309020205020404" pitchFamily="49" charset="0"/>
              </a:rPr>
              <a:t>birthday.month</a:t>
            </a:r>
            <a:r>
              <a:rPr lang="en-US" altLang="zh-CN" sz="1100" b="1" u="sng" dirty="0">
                <a:solidFill>
                  <a:srgbClr val="FF0000"/>
                </a:solidFill>
                <a:latin typeface="Courier New" panose="02070309020205020404" pitchFamily="49" charset="0"/>
                <a:cs typeface="Courier New" panose="02070309020205020404" pitchFamily="49" charset="0"/>
              </a:rPr>
              <a:t> * 100 +</a:t>
            </a:r>
            <a:endParaRPr lang="en-US" altLang="zh-CN" sz="1100" b="1" u="sng"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b="1" dirty="0">
                <a:solidFill>
                  <a:srgbClr val="FF0000"/>
                </a:solidFill>
                <a:latin typeface="Courier New" panose="02070309020205020404" pitchFamily="49" charset="0"/>
                <a:cs typeface="Courier New" panose="02070309020205020404" pitchFamily="49" charset="0"/>
              </a:rPr>
              <a:t>                      </a:t>
            </a:r>
            <a:r>
              <a:rPr lang="en-US" altLang="zh-CN" sz="1100" b="1" u="sng" dirty="0">
                <a:solidFill>
                  <a:srgbClr val="FF0000"/>
                </a:solidFill>
                <a:latin typeface="Courier New" panose="02070309020205020404" pitchFamily="49" charset="0"/>
                <a:cs typeface="Courier New" panose="02070309020205020404" pitchFamily="49" charset="0"/>
              </a:rPr>
              <a:t>students[j + 1].</a:t>
            </a:r>
            <a:r>
              <a:rPr lang="en-US" altLang="zh-CN" sz="1100" b="1" u="sng" dirty="0" err="1">
                <a:solidFill>
                  <a:srgbClr val="FF0000"/>
                </a:solidFill>
                <a:latin typeface="Courier New" panose="02070309020205020404" pitchFamily="49" charset="0"/>
                <a:cs typeface="Courier New" panose="02070309020205020404" pitchFamily="49" charset="0"/>
              </a:rPr>
              <a:t>birthday.day</a:t>
            </a:r>
            <a:r>
              <a:rPr lang="en-US" altLang="zh-CN" sz="1100" b="1" u="sng" dirty="0">
                <a:solidFill>
                  <a:srgbClr val="FF0000"/>
                </a:solidFill>
                <a:latin typeface="Courier New" panose="02070309020205020404" pitchFamily="49" charset="0"/>
                <a:cs typeface="Courier New" panose="02070309020205020404" pitchFamily="49" charset="0"/>
              </a:rPr>
              <a:t>;</a:t>
            </a:r>
            <a:endParaRPr lang="en-US" altLang="zh-CN" sz="1100" b="1" u="sng"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7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if (encode1 &lt; encode2)</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temp = students[j];</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students[j] = students[j + 1];</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students[j + 1] = temp;</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latin typeface="Courier New" panose="02070309020205020404" pitchFamily="49" charset="0"/>
              <a:cs typeface="Courier New" panose="02070309020205020404" pitchFamily="49" charset="0"/>
            </a:endParaRPr>
          </a:p>
        </p:txBody>
      </p:sp>
      <p:sp>
        <p:nvSpPr>
          <p:cNvPr id="7" name="线形标注 2 6"/>
          <p:cNvSpPr/>
          <p:nvPr/>
        </p:nvSpPr>
        <p:spPr>
          <a:xfrm>
            <a:off x="6084168" y="5085184"/>
            <a:ext cx="2554858" cy="720080"/>
          </a:xfrm>
          <a:prstGeom prst="borderCallout2">
            <a:avLst>
              <a:gd name="adj1" fmla="val 18750"/>
              <a:gd name="adj2" fmla="val -8333"/>
              <a:gd name="adj3" fmla="val 18750"/>
              <a:gd name="adj4" fmla="val -16667"/>
              <a:gd name="adj5" fmla="val -113432"/>
              <a:gd name="adj6" fmla="val -447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巧用自定义编码</a:t>
            </a:r>
            <a:endParaRPr lang="en-US" altLang="zh-CN" dirty="0"/>
          </a:p>
          <a:p>
            <a:pPr algn="ctr"/>
            <a:r>
              <a:rPr lang="zh-CN" altLang="en-US" dirty="0"/>
              <a:t>进行多字段排序</a:t>
            </a:r>
            <a:endParaRPr lang="zh-CN" altLang="en-US" dirty="0"/>
          </a:p>
        </p:txBody>
      </p:sp>
      <p:sp>
        <p:nvSpPr>
          <p:cNvPr id="9" name="云形 8"/>
          <p:cNvSpPr/>
          <p:nvPr/>
        </p:nvSpPr>
        <p:spPr>
          <a:xfrm>
            <a:off x="5745745" y="229216"/>
            <a:ext cx="3231704" cy="115212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tIns="360000" rtlCol="0" anchor="ctr"/>
          <a:lstStyle/>
          <a:p>
            <a:r>
              <a:rPr lang="zh-CN" altLang="en-US" dirty="0"/>
              <a:t>适用场景：各字段类型相同且取值范围固定</a:t>
            </a:r>
            <a:endParaRPr lang="en-US" altLang="zh-CN" dirty="0"/>
          </a:p>
          <a:p>
            <a:pPr algn="ct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32000" y="432000"/>
            <a:ext cx="8230387" cy="460366"/>
          </a:xfrm>
        </p:spPr>
        <p:txBody>
          <a:bodyPr>
            <a:normAutofit fontScale="90000"/>
          </a:bodyPr>
          <a:lstStyle/>
          <a:p>
            <a:r>
              <a:rPr lang="zh-CN" altLang="en-US" dirty="0"/>
              <a:t>排序和查找算法应用举例</a:t>
            </a:r>
            <a:endParaRPr lang="zh-CN" altLang="en-US" dirty="0"/>
          </a:p>
        </p:txBody>
      </p:sp>
      <p:sp>
        <p:nvSpPr>
          <p:cNvPr id="2" name="内容占位符 1"/>
          <p:cNvSpPr>
            <a:spLocks noGrp="1"/>
          </p:cNvSpPr>
          <p:nvPr>
            <p:ph idx="1"/>
          </p:nvPr>
        </p:nvSpPr>
        <p:spPr>
          <a:xfrm>
            <a:off x="432000" y="1002535"/>
            <a:ext cx="8280000" cy="5297465"/>
          </a:xfrm>
        </p:spPr>
        <p:txBody>
          <a:bodyPr/>
          <a:lstStyle/>
          <a:p>
            <a:r>
              <a:rPr lang="en-US" altLang="zh-CN" dirty="0"/>
              <a:t>3. </a:t>
            </a:r>
            <a:r>
              <a:rPr lang="zh-CN" altLang="en-US" dirty="0"/>
              <a:t>多字段排序</a:t>
            </a:r>
            <a:r>
              <a:rPr lang="en-US" altLang="zh-CN" dirty="0"/>
              <a:t>——</a:t>
            </a:r>
            <a:r>
              <a:rPr lang="zh-CN" altLang="en-US" dirty="0"/>
              <a:t>按生日排序</a:t>
            </a:r>
            <a:endParaRPr lang="zh-CN" altLang="en-US" dirty="0"/>
          </a:p>
        </p:txBody>
      </p:sp>
      <p:sp>
        <p:nvSpPr>
          <p:cNvPr id="6" name="圆角矩形 5"/>
          <p:cNvSpPr/>
          <p:nvPr/>
        </p:nvSpPr>
        <p:spPr>
          <a:xfrm>
            <a:off x="251520" y="1597446"/>
            <a:ext cx="8640960" cy="5215930"/>
          </a:xfrm>
          <a:prstGeom prst="roundRect">
            <a:avLst>
              <a:gd name="adj" fmla="val 1628"/>
            </a:avLst>
          </a:prstGeom>
          <a:solidFill>
            <a:sysClr val="window" lastClr="FFFFFF"/>
          </a:solidFill>
          <a:ln w="12700" cap="flat" cmpd="sng" algn="ctr">
            <a:solidFill>
              <a:srgbClr val="E84C22"/>
            </a:solidFill>
            <a:prstDash val="solid"/>
            <a:miter lim="800000"/>
          </a:ln>
          <a:effectLst/>
        </p:spPr>
        <p:txBody>
          <a:bodyPr rtlCol="0" anchor="t"/>
          <a:lstStyle/>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int </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 j;</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int</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is_big</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diff_year</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diff_month</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diff_day</a:t>
            </a: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Student temp;</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for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 0;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&lt;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(students) /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 - 1;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for (j = 0; j &lt;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(students) /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 -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- 1; </a:t>
            </a:r>
            <a:r>
              <a:rPr lang="en-US" altLang="zh-CN" sz="1100" dirty="0" err="1">
                <a:solidFill>
                  <a:srgbClr val="FF0000"/>
                </a:solidFill>
                <a:latin typeface="Courier New" panose="02070309020205020404" pitchFamily="49" charset="0"/>
                <a:cs typeface="Courier New" panose="02070309020205020404" pitchFamily="49" charset="0"/>
              </a:rPr>
              <a:t>j++</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r>
              <a:rPr lang="en-US" altLang="zh-CN" sz="1100" dirty="0" err="1">
                <a:solidFill>
                  <a:srgbClr val="FF0000"/>
                </a:solidFill>
                <a:latin typeface="Courier New" panose="02070309020205020404" pitchFamily="49" charset="0"/>
                <a:cs typeface="Courier New" panose="02070309020205020404" pitchFamily="49" charset="0"/>
              </a:rPr>
              <a:t>diff_year</a:t>
            </a:r>
            <a:r>
              <a:rPr lang="en-US" altLang="zh-CN" sz="1100" dirty="0">
                <a:solidFill>
                  <a:srgbClr val="FF0000"/>
                </a:solidFill>
                <a:latin typeface="Courier New" panose="02070309020205020404" pitchFamily="49" charset="0"/>
                <a:cs typeface="Courier New" panose="02070309020205020404" pitchFamily="49" charset="0"/>
              </a:rPr>
              <a:t> = students[j].</a:t>
            </a:r>
            <a:r>
              <a:rPr lang="en-US" altLang="zh-CN" sz="1100" dirty="0" err="1">
                <a:solidFill>
                  <a:srgbClr val="FF0000"/>
                </a:solidFill>
                <a:latin typeface="Courier New" panose="02070309020205020404" pitchFamily="49" charset="0"/>
                <a:cs typeface="Courier New" panose="02070309020205020404" pitchFamily="49" charset="0"/>
              </a:rPr>
              <a:t>birthday.year</a:t>
            </a:r>
            <a:r>
              <a:rPr lang="en-US" altLang="zh-CN" sz="1100" dirty="0">
                <a:solidFill>
                  <a:srgbClr val="FF0000"/>
                </a:solidFill>
                <a:latin typeface="Courier New" panose="02070309020205020404" pitchFamily="49" charset="0"/>
                <a:cs typeface="Courier New" panose="02070309020205020404" pitchFamily="49" charset="0"/>
              </a:rPr>
              <a:t> - students[j + 1].</a:t>
            </a:r>
            <a:r>
              <a:rPr lang="en-US" altLang="zh-CN" sz="1100" dirty="0" err="1">
                <a:solidFill>
                  <a:srgbClr val="FF0000"/>
                </a:solidFill>
                <a:latin typeface="Courier New" panose="02070309020205020404" pitchFamily="49" charset="0"/>
                <a:cs typeface="Courier New" panose="02070309020205020404" pitchFamily="49" charset="0"/>
              </a:rPr>
              <a:t>birthday.year</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r>
              <a:rPr lang="en-US" altLang="zh-CN" sz="1100" dirty="0" err="1">
                <a:solidFill>
                  <a:srgbClr val="FF0000"/>
                </a:solidFill>
                <a:latin typeface="Courier New" panose="02070309020205020404" pitchFamily="49" charset="0"/>
                <a:cs typeface="Courier New" panose="02070309020205020404" pitchFamily="49" charset="0"/>
              </a:rPr>
              <a:t>diff_month</a:t>
            </a:r>
            <a:r>
              <a:rPr lang="en-US" altLang="zh-CN" sz="1100" dirty="0">
                <a:solidFill>
                  <a:srgbClr val="FF0000"/>
                </a:solidFill>
                <a:latin typeface="Courier New" panose="02070309020205020404" pitchFamily="49" charset="0"/>
                <a:cs typeface="Courier New" panose="02070309020205020404" pitchFamily="49" charset="0"/>
              </a:rPr>
              <a:t> = students[j].</a:t>
            </a:r>
            <a:r>
              <a:rPr lang="en-US" altLang="zh-CN" sz="1100" dirty="0" err="1">
                <a:solidFill>
                  <a:srgbClr val="FF0000"/>
                </a:solidFill>
                <a:latin typeface="Courier New" panose="02070309020205020404" pitchFamily="49" charset="0"/>
                <a:cs typeface="Courier New" panose="02070309020205020404" pitchFamily="49" charset="0"/>
              </a:rPr>
              <a:t>birthday.month</a:t>
            </a:r>
            <a:r>
              <a:rPr lang="en-US" altLang="zh-CN" sz="1100" dirty="0">
                <a:solidFill>
                  <a:srgbClr val="FF0000"/>
                </a:solidFill>
                <a:latin typeface="Courier New" panose="02070309020205020404" pitchFamily="49" charset="0"/>
                <a:cs typeface="Courier New" panose="02070309020205020404" pitchFamily="49" charset="0"/>
              </a:rPr>
              <a:t> - students[j + 1].</a:t>
            </a:r>
            <a:r>
              <a:rPr lang="en-US" altLang="zh-CN" sz="1100" dirty="0" err="1">
                <a:solidFill>
                  <a:srgbClr val="FF0000"/>
                </a:solidFill>
                <a:latin typeface="Courier New" panose="02070309020205020404" pitchFamily="49" charset="0"/>
                <a:cs typeface="Courier New" panose="02070309020205020404" pitchFamily="49" charset="0"/>
              </a:rPr>
              <a:t>birthday.month</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r>
              <a:rPr lang="en-US" altLang="zh-CN" sz="1100" dirty="0" err="1">
                <a:solidFill>
                  <a:srgbClr val="FF0000"/>
                </a:solidFill>
                <a:latin typeface="Courier New" panose="02070309020205020404" pitchFamily="49" charset="0"/>
                <a:cs typeface="Courier New" panose="02070309020205020404" pitchFamily="49" charset="0"/>
              </a:rPr>
              <a:t>diff_day</a:t>
            </a:r>
            <a:r>
              <a:rPr lang="en-US" altLang="zh-CN" sz="1100" dirty="0">
                <a:solidFill>
                  <a:srgbClr val="FF0000"/>
                </a:solidFill>
                <a:latin typeface="Courier New" panose="02070309020205020404" pitchFamily="49" charset="0"/>
                <a:cs typeface="Courier New" panose="02070309020205020404" pitchFamily="49" charset="0"/>
              </a:rPr>
              <a:t> = students[j].</a:t>
            </a:r>
            <a:r>
              <a:rPr lang="en-US" altLang="zh-CN" sz="1100" dirty="0" err="1">
                <a:solidFill>
                  <a:srgbClr val="FF0000"/>
                </a:solidFill>
                <a:latin typeface="Courier New" panose="02070309020205020404" pitchFamily="49" charset="0"/>
                <a:cs typeface="Courier New" panose="02070309020205020404" pitchFamily="49" charset="0"/>
              </a:rPr>
              <a:t>birthday.day</a:t>
            </a:r>
            <a:r>
              <a:rPr lang="en-US" altLang="zh-CN" sz="1100" dirty="0">
                <a:solidFill>
                  <a:srgbClr val="FF0000"/>
                </a:solidFill>
                <a:latin typeface="Courier New" panose="02070309020205020404" pitchFamily="49" charset="0"/>
                <a:cs typeface="Courier New" panose="02070309020205020404" pitchFamily="49" charset="0"/>
              </a:rPr>
              <a:t> - students[j + 1].</a:t>
            </a:r>
            <a:r>
              <a:rPr lang="en-US" altLang="zh-CN" sz="1100" dirty="0" err="1">
                <a:solidFill>
                  <a:srgbClr val="FF0000"/>
                </a:solidFill>
                <a:latin typeface="Courier New" panose="02070309020205020404" pitchFamily="49" charset="0"/>
                <a:cs typeface="Courier New" panose="02070309020205020404" pitchFamily="49" charset="0"/>
              </a:rPr>
              <a:t>birthday.day</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7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r>
              <a:rPr lang="en-US" altLang="zh-CN" sz="1100" b="1" u="sng" dirty="0" err="1">
                <a:solidFill>
                  <a:srgbClr val="FF0000"/>
                </a:solidFill>
                <a:latin typeface="Courier New" panose="02070309020205020404" pitchFamily="49" charset="0"/>
                <a:cs typeface="Courier New" panose="02070309020205020404" pitchFamily="49" charset="0"/>
              </a:rPr>
              <a:t>is_big</a:t>
            </a:r>
            <a:r>
              <a:rPr lang="en-US" altLang="zh-CN" sz="1100" b="1" u="sng" dirty="0">
                <a:solidFill>
                  <a:srgbClr val="FF0000"/>
                </a:solidFill>
                <a:latin typeface="Courier New" panose="02070309020205020404" pitchFamily="49" charset="0"/>
                <a:cs typeface="Courier New" panose="02070309020205020404" pitchFamily="49" charset="0"/>
              </a:rPr>
              <a:t> = (</a:t>
            </a:r>
            <a:r>
              <a:rPr lang="en-US" altLang="zh-CN" sz="1100" b="1" u="sng" dirty="0" err="1">
                <a:solidFill>
                  <a:srgbClr val="FF0000"/>
                </a:solidFill>
                <a:latin typeface="Courier New" panose="02070309020205020404" pitchFamily="49" charset="0"/>
                <a:cs typeface="Courier New" panose="02070309020205020404" pitchFamily="49" charset="0"/>
              </a:rPr>
              <a:t>diff_year</a:t>
            </a:r>
            <a:r>
              <a:rPr lang="en-US" altLang="zh-CN" sz="1100" b="1" u="sng" dirty="0">
                <a:solidFill>
                  <a:srgbClr val="FF0000"/>
                </a:solidFill>
                <a:latin typeface="Courier New" panose="02070309020205020404" pitchFamily="49" charset="0"/>
                <a:cs typeface="Courier New" panose="02070309020205020404" pitchFamily="49" charset="0"/>
              </a:rPr>
              <a:t> != 0 ? </a:t>
            </a:r>
            <a:r>
              <a:rPr lang="en-US" altLang="zh-CN" sz="1100" b="1" u="sng" dirty="0" err="1">
                <a:solidFill>
                  <a:srgbClr val="FF0000"/>
                </a:solidFill>
                <a:latin typeface="Courier New" panose="02070309020205020404" pitchFamily="49" charset="0"/>
                <a:cs typeface="Courier New" panose="02070309020205020404" pitchFamily="49" charset="0"/>
              </a:rPr>
              <a:t>diff_year</a:t>
            </a:r>
            <a:r>
              <a:rPr lang="en-US" altLang="zh-CN" sz="1100" b="1" u="sng" dirty="0">
                <a:solidFill>
                  <a:srgbClr val="FF0000"/>
                </a:solidFill>
                <a:latin typeface="Courier New" panose="02070309020205020404" pitchFamily="49" charset="0"/>
                <a:cs typeface="Courier New" panose="02070309020205020404" pitchFamily="49" charset="0"/>
              </a:rPr>
              <a:t> &lt; 0 : </a:t>
            </a:r>
            <a:endParaRPr lang="en-US" altLang="zh-CN" sz="1100" b="1" u="sng"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r>
              <a:rPr lang="en-US" altLang="zh-CN" sz="1100" b="1" u="sng" dirty="0">
                <a:solidFill>
                  <a:srgbClr val="FF0000"/>
                </a:solidFill>
                <a:latin typeface="Courier New" panose="02070309020205020404" pitchFamily="49" charset="0"/>
                <a:cs typeface="Courier New" panose="02070309020205020404" pitchFamily="49" charset="0"/>
              </a:rPr>
              <a:t>(</a:t>
            </a:r>
            <a:r>
              <a:rPr lang="en-US" altLang="zh-CN" sz="1100" b="1" u="sng" dirty="0" err="1">
                <a:solidFill>
                  <a:srgbClr val="FF0000"/>
                </a:solidFill>
                <a:latin typeface="Courier New" panose="02070309020205020404" pitchFamily="49" charset="0"/>
                <a:cs typeface="Courier New" panose="02070309020205020404" pitchFamily="49" charset="0"/>
              </a:rPr>
              <a:t>diff_month</a:t>
            </a:r>
            <a:r>
              <a:rPr lang="en-US" altLang="zh-CN" sz="1100" b="1" u="sng" dirty="0">
                <a:solidFill>
                  <a:srgbClr val="FF0000"/>
                </a:solidFill>
                <a:latin typeface="Courier New" panose="02070309020205020404" pitchFamily="49" charset="0"/>
                <a:cs typeface="Courier New" panose="02070309020205020404" pitchFamily="49" charset="0"/>
              </a:rPr>
              <a:t> != 0 ? </a:t>
            </a:r>
            <a:r>
              <a:rPr lang="en-US" altLang="zh-CN" sz="1100" b="1" u="sng" dirty="0" err="1">
                <a:solidFill>
                  <a:srgbClr val="FF0000"/>
                </a:solidFill>
                <a:latin typeface="Courier New" panose="02070309020205020404" pitchFamily="49" charset="0"/>
                <a:cs typeface="Courier New" panose="02070309020205020404" pitchFamily="49" charset="0"/>
              </a:rPr>
              <a:t>diff_month</a:t>
            </a:r>
            <a:r>
              <a:rPr lang="en-US" altLang="zh-CN" sz="1100" b="1" u="sng" dirty="0">
                <a:solidFill>
                  <a:srgbClr val="FF0000"/>
                </a:solidFill>
                <a:latin typeface="Courier New" panose="02070309020205020404" pitchFamily="49" charset="0"/>
                <a:cs typeface="Courier New" panose="02070309020205020404" pitchFamily="49" charset="0"/>
              </a:rPr>
              <a:t> &lt; 0 : </a:t>
            </a:r>
            <a:r>
              <a:rPr lang="en-US" altLang="zh-CN" sz="1100" b="1" u="sng" dirty="0" err="1">
                <a:solidFill>
                  <a:srgbClr val="FF0000"/>
                </a:solidFill>
                <a:latin typeface="Courier New" panose="02070309020205020404" pitchFamily="49" charset="0"/>
                <a:cs typeface="Courier New" panose="02070309020205020404" pitchFamily="49" charset="0"/>
              </a:rPr>
              <a:t>diff_day</a:t>
            </a:r>
            <a:r>
              <a:rPr lang="en-US" altLang="zh-CN" sz="1100" b="1" u="sng" dirty="0">
                <a:solidFill>
                  <a:srgbClr val="FF0000"/>
                </a:solidFill>
                <a:latin typeface="Courier New" panose="02070309020205020404" pitchFamily="49" charset="0"/>
                <a:cs typeface="Courier New" panose="02070309020205020404" pitchFamily="49" charset="0"/>
              </a:rPr>
              <a:t> &lt; 0));</a:t>
            </a:r>
            <a:endParaRPr lang="en-US" altLang="zh-CN" sz="1100" b="1" u="sng"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6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if (</a:t>
            </a:r>
            <a:r>
              <a:rPr lang="en-US" altLang="zh-CN" sz="1100" dirty="0" err="1">
                <a:solidFill>
                  <a:srgbClr val="FF0000"/>
                </a:solidFill>
                <a:latin typeface="Courier New" panose="02070309020205020404" pitchFamily="49" charset="0"/>
                <a:cs typeface="Courier New" panose="02070309020205020404" pitchFamily="49" charset="0"/>
              </a:rPr>
              <a:t>is_big</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temp = students[j];</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students[j] = students[j + 1];</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students[j + 1] = temp;</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latin typeface="Courier New" panose="02070309020205020404" pitchFamily="49" charset="0"/>
              <a:cs typeface="Courier New" panose="02070309020205020404" pitchFamily="49" charset="0"/>
            </a:endParaRPr>
          </a:p>
        </p:txBody>
      </p:sp>
      <p:sp>
        <p:nvSpPr>
          <p:cNvPr id="5" name="线形标注 2 4"/>
          <p:cNvSpPr/>
          <p:nvPr/>
        </p:nvSpPr>
        <p:spPr>
          <a:xfrm>
            <a:off x="6084168" y="5409788"/>
            <a:ext cx="2554858" cy="720080"/>
          </a:xfrm>
          <a:prstGeom prst="borderCallout2">
            <a:avLst>
              <a:gd name="adj1" fmla="val 18750"/>
              <a:gd name="adj2" fmla="val -8333"/>
              <a:gd name="adj3" fmla="val 18750"/>
              <a:gd name="adj4" fmla="val -16667"/>
              <a:gd name="adj5" fmla="val -113432"/>
              <a:gd name="adj6" fmla="val -447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巧用逻辑表达式</a:t>
            </a:r>
            <a:endParaRPr lang="en-US" altLang="zh-CN" dirty="0"/>
          </a:p>
          <a:p>
            <a:pPr algn="ctr"/>
            <a:r>
              <a:rPr lang="zh-CN" altLang="en-US" dirty="0"/>
              <a:t>进行多字段排序</a:t>
            </a:r>
            <a:endParaRPr lang="zh-CN" altLang="en-US" dirty="0"/>
          </a:p>
        </p:txBody>
      </p:sp>
      <p:sp>
        <p:nvSpPr>
          <p:cNvPr id="8" name="云形 7"/>
          <p:cNvSpPr/>
          <p:nvPr/>
        </p:nvSpPr>
        <p:spPr>
          <a:xfrm>
            <a:off x="5745745" y="1021382"/>
            <a:ext cx="3231704" cy="115212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tIns="180000" rtlCol="0" anchor="ctr"/>
          <a:lstStyle/>
          <a:p>
            <a:r>
              <a:rPr lang="zh-CN" altLang="en-US" dirty="0"/>
              <a:t>相比于自定义编码的方式更为通用</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32000" y="432000"/>
            <a:ext cx="8230387" cy="515451"/>
          </a:xfrm>
        </p:spPr>
        <p:txBody>
          <a:bodyPr>
            <a:normAutofit fontScale="90000"/>
          </a:bodyPr>
          <a:lstStyle/>
          <a:p>
            <a:r>
              <a:rPr lang="zh-CN" altLang="en-US" dirty="0"/>
              <a:t>排序和查找算法应用举例</a:t>
            </a:r>
            <a:endParaRPr lang="zh-CN" altLang="en-US" dirty="0"/>
          </a:p>
        </p:txBody>
      </p:sp>
      <p:sp>
        <p:nvSpPr>
          <p:cNvPr id="2" name="内容占位符 1"/>
          <p:cNvSpPr>
            <a:spLocks noGrp="1"/>
          </p:cNvSpPr>
          <p:nvPr>
            <p:ph idx="1"/>
          </p:nvPr>
        </p:nvSpPr>
        <p:spPr>
          <a:xfrm>
            <a:off x="432000" y="1134737"/>
            <a:ext cx="8280000" cy="5165263"/>
          </a:xfrm>
        </p:spPr>
        <p:txBody>
          <a:bodyPr/>
          <a:lstStyle/>
          <a:p>
            <a:r>
              <a:rPr lang="en-US" altLang="zh-CN" dirty="0"/>
              <a:t>4. </a:t>
            </a:r>
            <a:r>
              <a:rPr lang="zh-CN" altLang="en-US" dirty="0"/>
              <a:t>顺序查找学号</a:t>
            </a:r>
            <a:endParaRPr lang="zh-CN" altLang="en-US" dirty="0"/>
          </a:p>
          <a:p>
            <a:endParaRPr lang="zh-CN" altLang="en-US" dirty="0"/>
          </a:p>
        </p:txBody>
      </p:sp>
      <p:sp>
        <p:nvSpPr>
          <p:cNvPr id="4" name="圆角矩形 3"/>
          <p:cNvSpPr/>
          <p:nvPr/>
        </p:nvSpPr>
        <p:spPr>
          <a:xfrm>
            <a:off x="351309" y="1691488"/>
            <a:ext cx="8311078" cy="4608512"/>
          </a:xfrm>
          <a:prstGeom prst="roundRect">
            <a:avLst>
              <a:gd name="adj" fmla="val 1628"/>
            </a:avLst>
          </a:prstGeom>
          <a:solidFill>
            <a:sysClr val="window" lastClr="FFFFFF"/>
          </a:solidFill>
          <a:ln w="12700" cap="flat" cmpd="sng" algn="ctr">
            <a:solidFill>
              <a:srgbClr val="E84C22"/>
            </a:solidFill>
            <a:prstDash val="solid"/>
            <a:miter lim="800000"/>
          </a:ln>
          <a:effectLst/>
        </p:spPr>
        <p:txBody>
          <a:bodyPr rtlCol="0" anchor="t"/>
          <a:lstStyle/>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int </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sno</a:t>
            </a:r>
            <a:r>
              <a:rPr lang="en-US" altLang="zh-CN" sz="1100" dirty="0">
                <a:latin typeface="Courier New" panose="02070309020205020404" pitchFamily="49" charset="0"/>
                <a:cs typeface="Courier New" panose="02070309020205020404" pitchFamily="49" charset="0"/>
              </a:rPr>
              <a:t>, found = -1;</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scanf</a:t>
            </a:r>
            <a:r>
              <a:rPr lang="en-US" altLang="zh-CN" sz="1100" dirty="0">
                <a:latin typeface="Courier New" panose="02070309020205020404" pitchFamily="49" charset="0"/>
                <a:cs typeface="Courier New" panose="02070309020205020404" pitchFamily="49" charset="0"/>
              </a:rPr>
              <a:t>("%d", &amp;</a:t>
            </a:r>
            <a:r>
              <a:rPr lang="en-US" altLang="zh-CN" sz="1100" dirty="0" err="1">
                <a:latin typeface="Courier New" panose="02070309020205020404" pitchFamily="49" charset="0"/>
                <a:cs typeface="Courier New" panose="02070309020205020404" pitchFamily="49" charset="0"/>
              </a:rPr>
              <a:t>sno</a:t>
            </a: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for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 0;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 &lt;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(students) / </a:t>
            </a:r>
            <a:r>
              <a:rPr lang="en-US" altLang="zh-CN" sz="1100" dirty="0" err="1">
                <a:solidFill>
                  <a:srgbClr val="FF0000"/>
                </a:solidFill>
                <a:latin typeface="Courier New" panose="02070309020205020404" pitchFamily="49" charset="0"/>
                <a:cs typeface="Courier New" panose="02070309020205020404" pitchFamily="49" charset="0"/>
              </a:rPr>
              <a:t>sizeof</a:t>
            </a:r>
            <a:r>
              <a:rPr lang="en-US" altLang="zh-CN" sz="1100" dirty="0">
                <a:solidFill>
                  <a:srgbClr val="FF0000"/>
                </a:solidFill>
                <a:latin typeface="Courier New" panose="02070309020205020404" pitchFamily="49" charset="0"/>
                <a:cs typeface="Courier New" panose="02070309020205020404" pitchFamily="49" charset="0"/>
              </a:rPr>
              <a:t>(Student) - 1;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if (students[</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a:t>
            </a:r>
            <a:r>
              <a:rPr lang="en-US" altLang="zh-CN" sz="1100" dirty="0" err="1">
                <a:solidFill>
                  <a:srgbClr val="FF0000"/>
                </a:solidFill>
                <a:latin typeface="Courier New" panose="02070309020205020404" pitchFamily="49" charset="0"/>
                <a:cs typeface="Courier New" panose="02070309020205020404" pitchFamily="49" charset="0"/>
              </a:rPr>
              <a:t>sno</a:t>
            </a:r>
            <a:r>
              <a:rPr lang="en-US" altLang="zh-CN" sz="1100" dirty="0">
                <a:solidFill>
                  <a:srgbClr val="FF0000"/>
                </a:solidFill>
                <a:latin typeface="Courier New" panose="02070309020205020404" pitchFamily="49" charset="0"/>
                <a:cs typeface="Courier New" panose="02070309020205020404" pitchFamily="49" charset="0"/>
              </a:rPr>
              <a:t> == </a:t>
            </a:r>
            <a:r>
              <a:rPr lang="en-US" altLang="zh-CN" sz="1100" dirty="0" err="1">
                <a:solidFill>
                  <a:srgbClr val="FF0000"/>
                </a:solidFill>
                <a:latin typeface="Courier New" panose="02070309020205020404" pitchFamily="49" charset="0"/>
                <a:cs typeface="Courier New" panose="02070309020205020404" pitchFamily="49" charset="0"/>
              </a:rPr>
              <a:t>sno</a:t>
            </a: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found = </a:t>
            </a:r>
            <a:r>
              <a:rPr lang="en-US" altLang="zh-CN" sz="1100" dirty="0" err="1">
                <a:solidFill>
                  <a:srgbClr val="FF0000"/>
                </a:solidFill>
                <a:latin typeface="Courier New" panose="02070309020205020404" pitchFamily="49" charset="0"/>
                <a:cs typeface="Courier New" panose="02070309020205020404" pitchFamily="49" charset="0"/>
              </a:rPr>
              <a:t>i</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break;</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if (found &gt;= 0)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printf</a:t>
            </a:r>
            <a:r>
              <a:rPr lang="en-US" altLang="zh-CN" sz="1100" dirty="0">
                <a:latin typeface="Courier New" panose="02070309020205020404" pitchFamily="49" charset="0"/>
                <a:cs typeface="Courier New" panose="02070309020205020404" pitchFamily="49" charset="0"/>
              </a:rPr>
              <a:t>("%d %s %c %c %s %d %d-%d-%d\n",</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students[found].</a:t>
            </a:r>
            <a:r>
              <a:rPr lang="en-US" altLang="zh-CN" sz="1100" dirty="0" err="1">
                <a:latin typeface="Courier New" panose="02070309020205020404" pitchFamily="49" charset="0"/>
                <a:cs typeface="Courier New" panose="02070309020205020404" pitchFamily="49" charset="0"/>
              </a:rPr>
              <a:t>sno</a:t>
            </a:r>
            <a:r>
              <a:rPr lang="en-US" altLang="zh-CN" sz="1100" dirty="0">
                <a:latin typeface="Courier New" panose="02070309020205020404" pitchFamily="49" charset="0"/>
                <a:cs typeface="Courier New" panose="02070309020205020404" pitchFamily="49" charset="0"/>
              </a:rPr>
              <a:t>, students[found].name,</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students[found].sex, students[found].class,</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nations[students[found].nation], students[found].age,</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students[found].</a:t>
            </a:r>
            <a:r>
              <a:rPr lang="en-US" altLang="zh-CN" sz="1100" dirty="0" err="1">
                <a:latin typeface="Courier New" panose="02070309020205020404" pitchFamily="49" charset="0"/>
                <a:cs typeface="Courier New" panose="02070309020205020404" pitchFamily="49" charset="0"/>
              </a:rPr>
              <a:t>birthday.year</a:t>
            </a: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students[found].</a:t>
            </a:r>
            <a:r>
              <a:rPr lang="en-US" altLang="zh-CN" sz="1100" dirty="0" err="1">
                <a:latin typeface="Courier New" panose="02070309020205020404" pitchFamily="49" charset="0"/>
                <a:cs typeface="Courier New" panose="02070309020205020404" pitchFamily="49" charset="0"/>
              </a:rPr>
              <a:t>birthday.month</a:t>
            </a:r>
            <a:r>
              <a:rPr lang="en-US" altLang="zh-CN" sz="1100" dirty="0">
                <a:latin typeface="Courier New" panose="02070309020205020404" pitchFamily="49" charset="0"/>
                <a:cs typeface="Courier New" panose="02070309020205020404" pitchFamily="49" charset="0"/>
              </a:rPr>
              <a:t>, </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students[found].</a:t>
            </a:r>
            <a:r>
              <a:rPr lang="en-US" altLang="zh-CN" sz="1100" dirty="0" err="1">
                <a:latin typeface="Courier New" panose="02070309020205020404" pitchFamily="49" charset="0"/>
                <a:cs typeface="Courier New" panose="02070309020205020404" pitchFamily="49" charset="0"/>
              </a:rPr>
              <a:t>birthday.day</a:t>
            </a: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startAt="21"/>
              <a:defRPr/>
            </a:pPr>
            <a:r>
              <a:rPr lang="en-US" altLang="zh-CN" sz="1100" dirty="0">
                <a:latin typeface="Courier New" panose="02070309020205020404" pitchFamily="49" charset="0"/>
                <a:cs typeface="Courier New" panose="02070309020205020404" pitchFamily="49" charset="0"/>
              </a:rPr>
              <a:t>  } else </a:t>
            </a:r>
            <a:r>
              <a:rPr lang="en-US" altLang="zh-CN" sz="1100" dirty="0" err="1">
                <a:latin typeface="Courier New" panose="02070309020205020404" pitchFamily="49" charset="0"/>
                <a:cs typeface="Courier New" panose="02070309020205020404" pitchFamily="49" charset="0"/>
              </a:rPr>
              <a:t>printf</a:t>
            </a:r>
            <a:r>
              <a:rPr lang="en-US" altLang="zh-CN" sz="1100" dirty="0">
                <a:latin typeface="Courier New" panose="02070309020205020404" pitchFamily="49" charset="0"/>
                <a:cs typeface="Courier New" panose="02070309020205020404" pitchFamily="49" charset="0"/>
              </a:rPr>
              <a:t>("not found\n");</a:t>
            </a:r>
            <a:endParaRPr lang="en-US" altLang="zh-CN" sz="1100" dirty="0">
              <a:solidFill>
                <a:srgbClr val="FF0000"/>
              </a:solidFill>
              <a:latin typeface="Courier New" panose="02070309020205020404" pitchFamily="49" charset="0"/>
              <a:cs typeface="Courier New" panose="02070309020205020404" pitchFamily="49"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排序和查找算法应用举例</a:t>
            </a:r>
            <a:endParaRPr lang="zh-CN" altLang="en-US" dirty="0"/>
          </a:p>
        </p:txBody>
      </p:sp>
      <p:sp>
        <p:nvSpPr>
          <p:cNvPr id="2" name="内容占位符 1"/>
          <p:cNvSpPr>
            <a:spLocks noGrp="1"/>
          </p:cNvSpPr>
          <p:nvPr>
            <p:ph idx="1"/>
          </p:nvPr>
        </p:nvSpPr>
        <p:spPr/>
        <p:txBody>
          <a:bodyPr/>
          <a:lstStyle/>
          <a:p>
            <a:r>
              <a:rPr lang="en-US" altLang="zh-CN" dirty="0"/>
              <a:t>5. </a:t>
            </a:r>
            <a:r>
              <a:rPr lang="zh-CN" altLang="en-US" dirty="0"/>
              <a:t>折半查找学号</a:t>
            </a:r>
            <a:endParaRPr lang="zh-CN" altLang="en-US" dirty="0"/>
          </a:p>
          <a:p>
            <a:endParaRPr lang="zh-CN" altLang="en-US" dirty="0"/>
          </a:p>
        </p:txBody>
      </p:sp>
      <p:sp>
        <p:nvSpPr>
          <p:cNvPr id="4" name="圆角矩形 3"/>
          <p:cNvSpPr/>
          <p:nvPr/>
        </p:nvSpPr>
        <p:spPr>
          <a:xfrm>
            <a:off x="251520" y="2060848"/>
            <a:ext cx="8640960" cy="4176464"/>
          </a:xfrm>
          <a:prstGeom prst="roundRect">
            <a:avLst>
              <a:gd name="adj" fmla="val 1628"/>
            </a:avLst>
          </a:prstGeom>
          <a:solidFill>
            <a:sysClr val="window" lastClr="FFFFFF"/>
          </a:solidFill>
          <a:ln w="12700" cap="flat" cmpd="sng" algn="ctr">
            <a:solidFill>
              <a:srgbClr val="E84C22"/>
            </a:solidFill>
            <a:prstDash val="solid"/>
            <a:miter lim="800000"/>
          </a:ln>
          <a:effectLst/>
        </p:spPr>
        <p:txBody>
          <a:bodyPr rtlCol="0" anchor="t"/>
          <a:lstStyle/>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int </a:t>
            </a:r>
            <a:r>
              <a:rPr lang="en-US" altLang="zh-CN" sz="1100" dirty="0" err="1">
                <a:latin typeface="Courier New" panose="02070309020205020404" pitchFamily="49" charset="0"/>
                <a:cs typeface="Courier New" panose="02070309020205020404" pitchFamily="49" charset="0"/>
              </a:rPr>
              <a:t>i</a:t>
            </a: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sno</a:t>
            </a:r>
            <a:r>
              <a:rPr lang="en-US" altLang="zh-CN" sz="1100" dirty="0">
                <a:latin typeface="Courier New" panose="02070309020205020404" pitchFamily="49" charset="0"/>
                <a:cs typeface="Courier New" panose="02070309020205020404" pitchFamily="49" charset="0"/>
              </a:rPr>
              <a:t>, found = -1;</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int low = 0, high = </a:t>
            </a:r>
            <a:r>
              <a:rPr lang="en-US" altLang="zh-CN" sz="1100" dirty="0" err="1">
                <a:latin typeface="Courier New" panose="02070309020205020404" pitchFamily="49" charset="0"/>
                <a:cs typeface="Courier New" panose="02070309020205020404" pitchFamily="49" charset="0"/>
              </a:rPr>
              <a:t>sizeof</a:t>
            </a:r>
            <a:r>
              <a:rPr lang="en-US" altLang="zh-CN" sz="1100" dirty="0">
                <a:latin typeface="Courier New" panose="02070309020205020404" pitchFamily="49" charset="0"/>
                <a:cs typeface="Courier New" panose="02070309020205020404" pitchFamily="49" charset="0"/>
              </a:rPr>
              <a:t>(students) / </a:t>
            </a:r>
            <a:r>
              <a:rPr lang="en-US" altLang="zh-CN" sz="1100" dirty="0" err="1">
                <a:latin typeface="Courier New" panose="02070309020205020404" pitchFamily="49" charset="0"/>
                <a:cs typeface="Courier New" panose="02070309020205020404" pitchFamily="49" charset="0"/>
              </a:rPr>
              <a:t>sizeof</a:t>
            </a:r>
            <a:r>
              <a:rPr lang="en-US" altLang="zh-CN" sz="1100" dirty="0">
                <a:latin typeface="Courier New" panose="02070309020205020404" pitchFamily="49" charset="0"/>
                <a:cs typeface="Courier New" panose="02070309020205020404" pitchFamily="49" charset="0"/>
              </a:rPr>
              <a:t>(Student) - 1;</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int mid;</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latin typeface="Courier New" panose="02070309020205020404" pitchFamily="49" charset="0"/>
                <a:cs typeface="Courier New" panose="02070309020205020404" pitchFamily="49" charset="0"/>
              </a:rPr>
              <a:t>  </a:t>
            </a:r>
            <a:r>
              <a:rPr lang="en-US" altLang="zh-CN" sz="1100" dirty="0" err="1">
                <a:latin typeface="Courier New" panose="02070309020205020404" pitchFamily="49" charset="0"/>
                <a:cs typeface="Courier New" panose="02070309020205020404" pitchFamily="49" charset="0"/>
              </a:rPr>
              <a:t>scanf</a:t>
            </a:r>
            <a:r>
              <a:rPr lang="en-US" altLang="zh-CN" sz="1100" dirty="0">
                <a:latin typeface="Courier New" panose="02070309020205020404" pitchFamily="49" charset="0"/>
                <a:cs typeface="Courier New" panose="02070309020205020404" pitchFamily="49" charset="0"/>
              </a:rPr>
              <a:t>("%d", &amp;</a:t>
            </a:r>
            <a:r>
              <a:rPr lang="en-US" altLang="zh-CN" sz="1100" dirty="0" err="1">
                <a:latin typeface="Courier New" panose="02070309020205020404" pitchFamily="49" charset="0"/>
                <a:cs typeface="Courier New" panose="02070309020205020404" pitchFamily="49" charset="0"/>
              </a:rPr>
              <a:t>sno</a:t>
            </a:r>
            <a:r>
              <a:rPr lang="en-US" altLang="zh-CN" sz="1100" dirty="0">
                <a:latin typeface="Courier New" panose="02070309020205020404" pitchFamily="49" charset="0"/>
                <a:cs typeface="Courier New" panose="02070309020205020404" pitchFamily="49" charset="0"/>
              </a:rPr>
              <a:t>);</a:t>
            </a: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while (low &lt;= high)</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mid = (low + high) / 2;</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if (</a:t>
            </a:r>
            <a:r>
              <a:rPr lang="en-US" altLang="zh-CN" sz="1100" dirty="0" err="1">
                <a:solidFill>
                  <a:srgbClr val="FF0000"/>
                </a:solidFill>
                <a:latin typeface="Courier New" panose="02070309020205020404" pitchFamily="49" charset="0"/>
                <a:cs typeface="Courier New" panose="02070309020205020404" pitchFamily="49" charset="0"/>
              </a:rPr>
              <a:t>sno</a:t>
            </a:r>
            <a:r>
              <a:rPr lang="en-US" altLang="zh-CN" sz="1100" dirty="0">
                <a:solidFill>
                  <a:srgbClr val="FF0000"/>
                </a:solidFill>
                <a:latin typeface="Courier New" panose="02070309020205020404" pitchFamily="49" charset="0"/>
                <a:cs typeface="Courier New" panose="02070309020205020404" pitchFamily="49" charset="0"/>
              </a:rPr>
              <a:t> &gt; students[mid].</a:t>
            </a:r>
            <a:r>
              <a:rPr lang="en-US" altLang="zh-CN" sz="1100" dirty="0" err="1">
                <a:solidFill>
                  <a:srgbClr val="FF0000"/>
                </a:solidFill>
                <a:latin typeface="Courier New" panose="02070309020205020404" pitchFamily="49" charset="0"/>
                <a:cs typeface="Courier New" panose="02070309020205020404" pitchFamily="49" charset="0"/>
              </a:rPr>
              <a:t>sno</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low = mid + 1;</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else if (</a:t>
            </a:r>
            <a:r>
              <a:rPr lang="en-US" altLang="zh-CN" sz="1100" dirty="0" err="1">
                <a:solidFill>
                  <a:srgbClr val="FF0000"/>
                </a:solidFill>
                <a:latin typeface="Courier New" panose="02070309020205020404" pitchFamily="49" charset="0"/>
                <a:cs typeface="Courier New" panose="02070309020205020404" pitchFamily="49" charset="0"/>
              </a:rPr>
              <a:t>sno</a:t>
            </a:r>
            <a:r>
              <a:rPr lang="en-US" altLang="zh-CN" sz="1100" dirty="0">
                <a:solidFill>
                  <a:srgbClr val="FF0000"/>
                </a:solidFill>
                <a:latin typeface="Courier New" panose="02070309020205020404" pitchFamily="49" charset="0"/>
                <a:cs typeface="Courier New" panose="02070309020205020404" pitchFamily="49" charset="0"/>
              </a:rPr>
              <a:t> &lt; students[mid].</a:t>
            </a:r>
            <a:r>
              <a:rPr lang="en-US" altLang="zh-CN" sz="1100" dirty="0" err="1">
                <a:solidFill>
                  <a:srgbClr val="FF0000"/>
                </a:solidFill>
                <a:latin typeface="Courier New" panose="02070309020205020404" pitchFamily="49" charset="0"/>
                <a:cs typeface="Courier New" panose="02070309020205020404" pitchFamily="49" charset="0"/>
              </a:rPr>
              <a:t>sno</a:t>
            </a:r>
            <a:r>
              <a:rPr lang="en-US" altLang="zh-CN" sz="1100" dirty="0">
                <a:solidFill>
                  <a:srgbClr val="FF0000"/>
                </a:solidFill>
                <a:latin typeface="Courier New" panose="02070309020205020404" pitchFamily="49" charset="0"/>
                <a:cs typeface="Courier New" panose="02070309020205020404" pitchFamily="49" charset="0"/>
              </a:rPr>
              <a:t>)</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high = mid - 1;</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else</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found = mid;</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break;</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100" dirty="0">
                <a:solidFill>
                  <a:srgbClr val="FF0000"/>
                </a:solidFill>
                <a:latin typeface="Courier New" panose="02070309020205020404" pitchFamily="49" charset="0"/>
                <a:cs typeface="Courier New" panose="02070309020205020404" pitchFamily="49" charset="0"/>
              </a:rPr>
              <a:t>  }</a:t>
            </a:r>
            <a:endParaRPr lang="en-US" altLang="zh-CN" sz="1100" dirty="0">
              <a:solidFill>
                <a:srgbClr val="FF0000"/>
              </a:solidFill>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100" dirty="0">
              <a:solidFill>
                <a:srgbClr val="FF0000"/>
              </a:solidFill>
              <a:latin typeface="Courier New" panose="02070309020205020404" pitchFamily="49" charset="0"/>
              <a:cs typeface="Courier New" panose="02070309020205020404"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Lato" panose="020F0502020204030203" pitchFamily="34" charset="0"/>
              </a:rPr>
              <a:t>Yoj90. </a:t>
            </a:r>
            <a:r>
              <a:rPr lang="zh-CN" altLang="en-US" dirty="0">
                <a:latin typeface="Lato" panose="020F0502020204030203" pitchFamily="34" charset="0"/>
              </a:rPr>
              <a:t>刷题高手</a:t>
            </a:r>
            <a:endParaRPr lang="zh-CN" altLang="en-US" dirty="0">
              <a:latin typeface="Lato" panose="020F0502020204030203" pitchFamily="34" charset="0"/>
            </a:endParaRPr>
          </a:p>
        </p:txBody>
      </p:sp>
      <p:sp>
        <p:nvSpPr>
          <p:cNvPr id="3" name="内容占位符 2"/>
          <p:cNvSpPr>
            <a:spLocks noGrp="1"/>
          </p:cNvSpPr>
          <p:nvPr>
            <p:ph idx="1"/>
          </p:nvPr>
        </p:nvSpPr>
        <p:spPr/>
        <p:txBody>
          <a:bodyPr>
            <a:normAutofit fontScale="92500" lnSpcReduction="10000"/>
          </a:bodyPr>
          <a:lstStyle/>
          <a:p>
            <a:pPr>
              <a:lnSpc>
                <a:spcPct val="120000"/>
              </a:lnSpc>
              <a:spcBef>
                <a:spcPts val="0"/>
              </a:spcBef>
            </a:pPr>
            <a:r>
              <a:rPr lang="zh-CN" altLang="en-US" sz="2000" dirty="0">
                <a:latin typeface="Open Sans" panose="020B0606030504020204" pitchFamily="34" charset="0"/>
              </a:rPr>
              <a:t>注意</a:t>
            </a:r>
            <a:endParaRPr lang="zh-CN" altLang="en-US"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1</a:t>
            </a:r>
            <a:r>
              <a:rPr lang="zh-CN" altLang="en-US" sz="2000" dirty="0">
                <a:latin typeface="Open Sans" panose="020B0606030504020204" pitchFamily="34" charset="0"/>
              </a:rPr>
              <a:t>）若同学们刷的题目不是老师所要求的，则不计入成绩。</a:t>
            </a:r>
            <a:endParaRPr lang="zh-CN" altLang="en-US"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2</a:t>
            </a:r>
            <a:r>
              <a:rPr lang="zh-CN" altLang="en-US" sz="2000" dirty="0">
                <a:latin typeface="Open Sans" panose="020B0606030504020204" pitchFamily="34" charset="0"/>
              </a:rPr>
              <a:t>）允许并列。例如若</a:t>
            </a:r>
            <a:r>
              <a:rPr lang="en-US" altLang="zh-CN" sz="2000" dirty="0">
                <a:latin typeface="Open Sans" panose="020B0606030504020204" pitchFamily="34" charset="0"/>
              </a:rPr>
              <a:t>k=3</a:t>
            </a:r>
            <a:r>
              <a:rPr lang="zh-CN" altLang="en-US" sz="2000" dirty="0">
                <a:latin typeface="Open Sans" panose="020B0606030504020204" pitchFamily="34" charset="0"/>
              </a:rPr>
              <a:t>，且有多位同学并列排名第</a:t>
            </a:r>
            <a:r>
              <a:rPr lang="en-US" altLang="zh-CN" sz="2000" dirty="0">
                <a:latin typeface="Open Sans" panose="020B0606030504020204" pitchFamily="34" charset="0"/>
              </a:rPr>
              <a:t>2</a:t>
            </a:r>
            <a:r>
              <a:rPr lang="zh-CN" altLang="en-US" sz="2000" dirty="0">
                <a:latin typeface="Open Sans" panose="020B0606030504020204" pitchFamily="34" charset="0"/>
              </a:rPr>
              <a:t>，则成绩第</a:t>
            </a:r>
            <a:r>
              <a:rPr lang="en-US" altLang="zh-CN" sz="2000" dirty="0">
                <a:latin typeface="Open Sans" panose="020B0606030504020204" pitchFamily="34" charset="0"/>
              </a:rPr>
              <a:t>3</a:t>
            </a:r>
            <a:r>
              <a:rPr lang="zh-CN" altLang="en-US" sz="2000" dirty="0">
                <a:latin typeface="Open Sans" panose="020B0606030504020204" pitchFamily="34" charset="0"/>
              </a:rPr>
              <a:t>的同学也应该输出。当有并列情况时，有可能出现所有学生的排名均小于</a:t>
            </a:r>
            <a:r>
              <a:rPr lang="en-US" altLang="zh-CN" sz="2000" dirty="0">
                <a:latin typeface="Open Sans" panose="020B0606030504020204" pitchFamily="34" charset="0"/>
              </a:rPr>
              <a:t>k</a:t>
            </a:r>
            <a:r>
              <a:rPr lang="zh-CN" altLang="en-US" sz="2000" dirty="0">
                <a:latin typeface="Open Sans" panose="020B0606030504020204" pitchFamily="34" charset="0"/>
              </a:rPr>
              <a:t>。此时，将所有同学学号按成绩高低输出即可。</a:t>
            </a:r>
            <a:endParaRPr lang="zh-CN" altLang="en-US"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3</a:t>
            </a:r>
            <a:r>
              <a:rPr lang="zh-CN" altLang="en-US" sz="2000" dirty="0">
                <a:latin typeface="Open Sans" panose="020B0606030504020204" pitchFamily="34" charset="0"/>
              </a:rPr>
              <a:t>）出现并列时，学号较小的同学先输出。</a:t>
            </a:r>
            <a:endParaRPr lang="zh-CN" altLang="en-US"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a:t>
            </a:r>
            <a:r>
              <a:rPr lang="zh-CN" altLang="en-US" sz="2000" dirty="0">
                <a:latin typeface="Open Sans" panose="020B0606030504020204" pitchFamily="34" charset="0"/>
              </a:rPr>
              <a:t>输入样例</a:t>
            </a:r>
            <a:r>
              <a:rPr lang="en-US" altLang="zh-CN" sz="2000" dirty="0">
                <a:latin typeface="Open Sans" panose="020B0606030504020204" pitchFamily="34" charset="0"/>
              </a:rPr>
              <a:t>】</a:t>
            </a:r>
            <a:endParaRPr lang="en-US" altLang="zh-CN"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5 1 3 5 7 9</a:t>
            </a:r>
            <a:endParaRPr lang="en-US" altLang="zh-CN"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3 1</a:t>
            </a:r>
            <a:endParaRPr lang="en-US" altLang="zh-CN"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10016655 5 2 4 6 8 10</a:t>
            </a:r>
            <a:endParaRPr lang="en-US" altLang="zh-CN"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10055236 1 5</a:t>
            </a:r>
            <a:endParaRPr lang="en-US" altLang="zh-CN"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10001799 4 1 2 4 6</a:t>
            </a:r>
            <a:endParaRPr lang="en-US" altLang="zh-CN"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a:t>
            </a:r>
            <a:r>
              <a:rPr lang="zh-CN" altLang="en-US" sz="2000" dirty="0">
                <a:latin typeface="Open Sans" panose="020B0606030504020204" pitchFamily="34" charset="0"/>
              </a:rPr>
              <a:t>输出样例</a:t>
            </a:r>
            <a:r>
              <a:rPr lang="en-US" altLang="zh-CN" sz="2000" dirty="0">
                <a:latin typeface="Open Sans" panose="020B0606030504020204" pitchFamily="34" charset="0"/>
              </a:rPr>
              <a:t>】</a:t>
            </a:r>
            <a:endParaRPr lang="en-US" altLang="zh-CN" sz="2000" dirty="0">
              <a:latin typeface="Open Sans" panose="020B0606030504020204" pitchFamily="34" charset="0"/>
            </a:endParaRPr>
          </a:p>
          <a:p>
            <a:pPr>
              <a:lnSpc>
                <a:spcPct val="120000"/>
              </a:lnSpc>
              <a:spcBef>
                <a:spcPts val="0"/>
              </a:spcBef>
            </a:pPr>
            <a:r>
              <a:rPr lang="en-US" altLang="zh-CN" sz="2000" dirty="0">
                <a:latin typeface="Open Sans" panose="020B0606030504020204" pitchFamily="34" charset="0"/>
              </a:rPr>
              <a:t>10001799 10055236</a:t>
            </a:r>
            <a:endParaRPr lang="en-US" altLang="zh-CN" sz="2000" dirty="0">
              <a:latin typeface="Open Sans" panose="020B0606030504020204" pitchFamily="34" charset="0"/>
            </a:endParaRPr>
          </a:p>
          <a:p>
            <a:pPr>
              <a:lnSpc>
                <a:spcPct val="120000"/>
              </a:lnSpc>
              <a:spcBef>
                <a:spcPts val="0"/>
              </a:spcBef>
            </a:pPr>
            <a:endParaRPr lang="zh-CN" altLang="en-US" sz="2000" dirty="0">
              <a:latin typeface="Open Sans" panose="020B0606030504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Lato" panose="020F0502020204030203" pitchFamily="34" charset="0"/>
              </a:rPr>
              <a:t>Yoj90. </a:t>
            </a:r>
            <a:r>
              <a:rPr lang="zh-CN" altLang="en-US" dirty="0">
                <a:latin typeface="Lato" panose="020F0502020204030203" pitchFamily="34" charset="0"/>
              </a:rPr>
              <a:t>刷题高手</a:t>
            </a:r>
            <a:endParaRPr lang="zh-CN" altLang="en-US" dirty="0">
              <a:latin typeface="Lato" panose="020F0502020204030203" pitchFamily="34" charset="0"/>
            </a:endParaRPr>
          </a:p>
        </p:txBody>
      </p:sp>
      <p:sp>
        <p:nvSpPr>
          <p:cNvPr id="3" name="内容占位符 2"/>
          <p:cNvSpPr>
            <a:spLocks noGrp="1"/>
          </p:cNvSpPr>
          <p:nvPr>
            <p:ph idx="1"/>
          </p:nvPr>
        </p:nvSpPr>
        <p:spPr/>
        <p:txBody>
          <a:bodyPr>
            <a:normAutofit fontScale="85000" lnSpcReduction="20000"/>
          </a:bodyPr>
          <a:lstStyle/>
          <a:p>
            <a:pPr algn="l">
              <a:lnSpc>
                <a:spcPct val="120000"/>
              </a:lnSpc>
              <a:spcBef>
                <a:spcPts val="0"/>
              </a:spcBef>
            </a:pPr>
            <a:r>
              <a:rPr lang="en-US" altLang="zh-CN" b="0" i="0" dirty="0">
                <a:effectLst/>
                <a:latin typeface="Open Sans" panose="020B0606030504020204" pitchFamily="34" charset="0"/>
              </a:rPr>
              <a:t>【</a:t>
            </a:r>
            <a:r>
              <a:rPr lang="zh-CN" altLang="en-US" b="0" i="0" dirty="0">
                <a:effectLst/>
                <a:latin typeface="Open Sans" panose="020B0606030504020204" pitchFamily="34" charset="0"/>
              </a:rPr>
              <a:t>问题描述</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lnSpc>
                <a:spcPct val="120000"/>
              </a:lnSpc>
              <a:spcBef>
                <a:spcPts val="0"/>
              </a:spcBef>
            </a:pPr>
            <a:r>
              <a:rPr lang="zh-CN" altLang="en-US" b="0" i="0" dirty="0">
                <a:effectLst/>
                <a:latin typeface="Open Sans" panose="020B0606030504020204" pitchFamily="34" charset="0"/>
              </a:rPr>
              <a:t>老师给了一个题目的列表，要求同学们在</a:t>
            </a:r>
            <a:r>
              <a:rPr lang="en-US" altLang="zh-CN" b="0" i="0" dirty="0">
                <a:effectLst/>
                <a:latin typeface="Open Sans" panose="020B0606030504020204" pitchFamily="34" charset="0"/>
              </a:rPr>
              <a:t>YOJ</a:t>
            </a:r>
            <a:r>
              <a:rPr lang="zh-CN" altLang="en-US" b="0" i="0" dirty="0">
                <a:effectLst/>
                <a:latin typeface="Open Sans" panose="020B0606030504020204" pitchFamily="34" charset="0"/>
              </a:rPr>
              <a:t>上做题。一段时间后，老师想统计一下同学们刷题的数量，找出刷题高手。</a:t>
            </a:r>
            <a:endParaRPr lang="zh-CN" altLang="en-US" b="0" i="0" dirty="0">
              <a:effectLst/>
              <a:latin typeface="Open Sans" panose="020B0606030504020204" pitchFamily="34" charset="0"/>
            </a:endParaRPr>
          </a:p>
          <a:p>
            <a:pPr algn="l">
              <a:lnSpc>
                <a:spcPct val="120000"/>
              </a:lnSpc>
              <a:spcBef>
                <a:spcPts val="0"/>
              </a:spcBef>
            </a:pPr>
            <a:r>
              <a:rPr lang="en-US" altLang="zh-CN" b="0" i="0" dirty="0">
                <a:effectLst/>
                <a:latin typeface="Open Sans" panose="020B0606030504020204" pitchFamily="34" charset="0"/>
              </a:rPr>
              <a:t>【</a:t>
            </a:r>
            <a:r>
              <a:rPr lang="zh-CN" altLang="en-US" b="0" i="0" dirty="0">
                <a:effectLst/>
                <a:latin typeface="Open Sans" panose="020B0606030504020204" pitchFamily="34" charset="0"/>
              </a:rPr>
              <a:t>输入格式</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lnSpc>
                <a:spcPct val="120000"/>
              </a:lnSpc>
              <a:spcBef>
                <a:spcPts val="0"/>
              </a:spcBef>
            </a:pPr>
            <a:r>
              <a:rPr lang="zh-CN" altLang="en-US" b="0" i="0" dirty="0">
                <a:effectLst/>
                <a:latin typeface="Open Sans" panose="020B0606030504020204" pitchFamily="34" charset="0"/>
              </a:rPr>
              <a:t>第一行，多个整数，第一个整数</a:t>
            </a:r>
            <a:r>
              <a:rPr lang="en-US" altLang="zh-CN" b="0" i="0" dirty="0">
                <a:effectLst/>
                <a:latin typeface="Open Sans" panose="020B0606030504020204" pitchFamily="34" charset="0"/>
              </a:rPr>
              <a:t>n</a:t>
            </a:r>
            <a:r>
              <a:rPr lang="zh-CN" altLang="en-US" b="0" i="0" dirty="0">
                <a:effectLst/>
                <a:latin typeface="Open Sans" panose="020B0606030504020204" pitchFamily="34" charset="0"/>
              </a:rPr>
              <a:t>表示老师要求的题目个数</a:t>
            </a:r>
            <a:r>
              <a:rPr lang="en-US" altLang="zh-CN" b="0" i="0" dirty="0">
                <a:effectLst/>
                <a:latin typeface="Open Sans" panose="020B0606030504020204" pitchFamily="34" charset="0"/>
              </a:rPr>
              <a:t>(1≤n≤100)</a:t>
            </a:r>
            <a:r>
              <a:rPr lang="zh-CN" altLang="en-US" b="0" i="0" dirty="0">
                <a:effectLst/>
                <a:latin typeface="Open Sans" panose="020B0606030504020204" pitchFamily="34" charset="0"/>
              </a:rPr>
              <a:t>。后面有</a:t>
            </a:r>
            <a:r>
              <a:rPr lang="en-US" altLang="zh-CN" b="0" i="0" dirty="0">
                <a:effectLst/>
                <a:latin typeface="Open Sans" panose="020B0606030504020204" pitchFamily="34" charset="0"/>
              </a:rPr>
              <a:t>n</a:t>
            </a:r>
            <a:r>
              <a:rPr lang="zh-CN" altLang="en-US" b="0" i="0" dirty="0">
                <a:effectLst/>
                <a:latin typeface="Open Sans" panose="020B0606030504020204" pitchFamily="34" charset="0"/>
              </a:rPr>
              <a:t>个整数，表示老师要求的题号。</a:t>
            </a:r>
            <a:endParaRPr lang="zh-CN" altLang="en-US" b="0" i="0" dirty="0">
              <a:effectLst/>
              <a:latin typeface="Open Sans" panose="020B0606030504020204" pitchFamily="34" charset="0"/>
            </a:endParaRPr>
          </a:p>
          <a:p>
            <a:pPr algn="l">
              <a:lnSpc>
                <a:spcPct val="120000"/>
              </a:lnSpc>
              <a:spcBef>
                <a:spcPts val="0"/>
              </a:spcBef>
            </a:pPr>
            <a:r>
              <a:rPr lang="zh-CN" altLang="en-US" b="0" i="0" dirty="0">
                <a:effectLst/>
                <a:latin typeface="Open Sans" panose="020B0606030504020204" pitchFamily="34" charset="0"/>
              </a:rPr>
              <a:t>第二行，两个整数</a:t>
            </a:r>
            <a:r>
              <a:rPr lang="en-US" altLang="zh-CN" b="0" i="0" dirty="0">
                <a:effectLst/>
                <a:latin typeface="Open Sans" panose="020B0606030504020204" pitchFamily="34" charset="0"/>
              </a:rPr>
              <a:t>m</a:t>
            </a:r>
            <a:r>
              <a:rPr lang="zh-CN" altLang="en-US" b="0" i="0" dirty="0">
                <a:effectLst/>
                <a:latin typeface="Open Sans" panose="020B0606030504020204" pitchFamily="34" charset="0"/>
              </a:rPr>
              <a:t>和</a:t>
            </a:r>
            <a:r>
              <a:rPr lang="en-US" altLang="zh-CN" b="0" i="0" dirty="0">
                <a:effectLst/>
                <a:latin typeface="Open Sans" panose="020B0606030504020204" pitchFamily="34" charset="0"/>
              </a:rPr>
              <a:t>k</a:t>
            </a:r>
            <a:r>
              <a:rPr lang="zh-CN" altLang="en-US" b="0" i="0" dirty="0">
                <a:effectLst/>
                <a:latin typeface="Open Sans" panose="020B0606030504020204" pitchFamily="34" charset="0"/>
              </a:rPr>
              <a:t>，表示有</a:t>
            </a:r>
            <a:r>
              <a:rPr lang="en-US" altLang="zh-CN" b="0" i="0" dirty="0">
                <a:effectLst/>
                <a:latin typeface="Open Sans" panose="020B0606030504020204" pitchFamily="34" charset="0"/>
              </a:rPr>
              <a:t>m</a:t>
            </a:r>
            <a:r>
              <a:rPr lang="zh-CN" altLang="en-US" b="0" i="0" dirty="0">
                <a:effectLst/>
                <a:latin typeface="Open Sans" panose="020B0606030504020204" pitchFamily="34" charset="0"/>
              </a:rPr>
              <a:t>个学生 </a:t>
            </a:r>
            <a:r>
              <a:rPr lang="en-US" altLang="zh-CN" b="0" i="0" dirty="0">
                <a:effectLst/>
                <a:latin typeface="Open Sans" panose="020B0606030504020204" pitchFamily="34" charset="0"/>
              </a:rPr>
              <a:t>(1≤m≤100)</a:t>
            </a:r>
            <a:r>
              <a:rPr lang="zh-CN" altLang="en-US" b="0" i="0" dirty="0">
                <a:effectLst/>
                <a:latin typeface="Open Sans" panose="020B0606030504020204" pitchFamily="34" charset="0"/>
              </a:rPr>
              <a:t>，以及老师希望找出刷题最多的</a:t>
            </a:r>
            <a:r>
              <a:rPr lang="en-US" altLang="zh-CN" b="0" i="0" dirty="0">
                <a:effectLst/>
                <a:latin typeface="Open Sans" panose="020B0606030504020204" pitchFamily="34" charset="0"/>
              </a:rPr>
              <a:t>k</a:t>
            </a:r>
            <a:r>
              <a:rPr lang="zh-CN" altLang="en-US" b="0" i="0" dirty="0">
                <a:effectLst/>
                <a:latin typeface="Open Sans" panose="020B0606030504020204" pitchFamily="34" charset="0"/>
              </a:rPr>
              <a:t>个同学（</a:t>
            </a:r>
            <a:r>
              <a:rPr lang="en-US" altLang="zh-CN" b="0" i="0" dirty="0">
                <a:effectLst/>
                <a:latin typeface="Open Sans" panose="020B0606030504020204" pitchFamily="34" charset="0"/>
              </a:rPr>
              <a:t>1≤k≤m)</a:t>
            </a:r>
            <a:r>
              <a:rPr lang="zh-CN" altLang="en-US" b="0" i="0" dirty="0">
                <a:effectLst/>
                <a:latin typeface="Open Sans" panose="020B0606030504020204" pitchFamily="34" charset="0"/>
              </a:rPr>
              <a:t>。</a:t>
            </a:r>
            <a:endParaRPr lang="zh-CN" altLang="en-US" b="0" i="0" dirty="0">
              <a:effectLst/>
              <a:latin typeface="Open Sans" panose="020B0606030504020204" pitchFamily="34" charset="0"/>
            </a:endParaRPr>
          </a:p>
          <a:p>
            <a:pPr algn="l">
              <a:lnSpc>
                <a:spcPct val="120000"/>
              </a:lnSpc>
              <a:spcBef>
                <a:spcPts val="0"/>
              </a:spcBef>
            </a:pPr>
            <a:r>
              <a:rPr lang="zh-CN" altLang="en-US" b="0" i="0" dirty="0">
                <a:effectLst/>
                <a:latin typeface="Open Sans" panose="020B0606030504020204" pitchFamily="34" charset="0"/>
              </a:rPr>
              <a:t>后面</a:t>
            </a:r>
            <a:r>
              <a:rPr lang="en-US" altLang="zh-CN" b="0" i="0" dirty="0">
                <a:effectLst/>
                <a:latin typeface="Open Sans" panose="020B0606030504020204" pitchFamily="34" charset="0"/>
              </a:rPr>
              <a:t>m</a:t>
            </a:r>
            <a:r>
              <a:rPr lang="zh-CN" altLang="en-US" b="0" i="0" dirty="0">
                <a:effectLst/>
                <a:latin typeface="Open Sans" panose="020B0606030504020204" pitchFamily="34" charset="0"/>
              </a:rPr>
              <a:t>行，每行格式如下：</a:t>
            </a:r>
            <a:endParaRPr lang="zh-CN" altLang="en-US" b="0" i="0" dirty="0">
              <a:effectLst/>
              <a:latin typeface="Open Sans" panose="020B0606030504020204" pitchFamily="34" charset="0"/>
            </a:endParaRPr>
          </a:p>
          <a:p>
            <a:pPr algn="l">
              <a:lnSpc>
                <a:spcPct val="120000"/>
              </a:lnSpc>
              <a:spcBef>
                <a:spcPts val="0"/>
              </a:spcBef>
            </a:pPr>
            <a:r>
              <a:rPr lang="zh-CN" altLang="en-US" b="0" i="0" dirty="0">
                <a:effectLst/>
                <a:latin typeface="Open Sans" panose="020B0606030504020204" pitchFamily="34" charset="0"/>
              </a:rPr>
              <a:t>一个正整数</a:t>
            </a:r>
            <a:r>
              <a:rPr lang="en-US" altLang="zh-CN" b="0" i="0" dirty="0" err="1">
                <a:effectLst/>
                <a:latin typeface="Open Sans" panose="020B0606030504020204" pitchFamily="34" charset="0"/>
              </a:rPr>
              <a:t>sno</a:t>
            </a:r>
            <a:r>
              <a:rPr lang="zh-CN" altLang="en-US" b="0" i="0" dirty="0">
                <a:effectLst/>
                <a:latin typeface="Open Sans" panose="020B0606030504020204" pitchFamily="34" charset="0"/>
              </a:rPr>
              <a:t>，表示同学的学号，</a:t>
            </a:r>
            <a:r>
              <a:rPr lang="en-US" altLang="zh-CN" b="0" i="0" dirty="0">
                <a:effectLst/>
                <a:latin typeface="Open Sans" panose="020B0606030504020204" pitchFamily="34" charset="0"/>
              </a:rPr>
              <a:t>8</a:t>
            </a:r>
            <a:r>
              <a:rPr lang="zh-CN" altLang="en-US" b="0" i="0" dirty="0">
                <a:effectLst/>
                <a:latin typeface="Open Sans" panose="020B0606030504020204" pitchFamily="34" charset="0"/>
              </a:rPr>
              <a:t>位数字；</a:t>
            </a:r>
            <a:endParaRPr lang="zh-CN" altLang="en-US" b="0" i="0" dirty="0">
              <a:effectLst/>
              <a:latin typeface="Open Sans" panose="020B0606030504020204" pitchFamily="34" charset="0"/>
            </a:endParaRPr>
          </a:p>
          <a:p>
            <a:pPr algn="l">
              <a:lnSpc>
                <a:spcPct val="120000"/>
              </a:lnSpc>
              <a:spcBef>
                <a:spcPts val="0"/>
              </a:spcBef>
            </a:pPr>
            <a:r>
              <a:rPr lang="zh-CN" altLang="en-US" b="0" i="0" dirty="0">
                <a:effectLst/>
                <a:latin typeface="Open Sans" panose="020B0606030504020204" pitchFamily="34" charset="0"/>
              </a:rPr>
              <a:t>一个正整数</a:t>
            </a:r>
            <a:r>
              <a:rPr lang="en-US" altLang="zh-CN" b="0" i="0" dirty="0">
                <a:effectLst/>
                <a:latin typeface="Open Sans" panose="020B0606030504020204" pitchFamily="34" charset="0"/>
              </a:rPr>
              <a:t>p</a:t>
            </a:r>
            <a:r>
              <a:rPr lang="zh-CN" altLang="en-US" b="0" i="0" dirty="0">
                <a:effectLst/>
                <a:latin typeface="Open Sans" panose="020B0606030504020204" pitchFamily="34" charset="0"/>
              </a:rPr>
              <a:t>，表示该同学刷了多少题，</a:t>
            </a:r>
            <a:r>
              <a:rPr lang="en-US" altLang="zh-CN" b="0" i="0" dirty="0">
                <a:effectLst/>
                <a:latin typeface="Open Sans" panose="020B0606030504020204" pitchFamily="34" charset="0"/>
              </a:rPr>
              <a:t>0≤p≤100</a:t>
            </a:r>
            <a:r>
              <a:rPr lang="zh-CN" altLang="en-US" b="0" i="0" dirty="0">
                <a:effectLst/>
                <a:latin typeface="Open Sans" panose="020B0606030504020204" pitchFamily="34" charset="0"/>
              </a:rPr>
              <a:t>；</a:t>
            </a:r>
            <a:endParaRPr lang="zh-CN" altLang="en-US" b="0" i="0" dirty="0">
              <a:effectLst/>
              <a:latin typeface="Open Sans" panose="020B0606030504020204" pitchFamily="34" charset="0"/>
            </a:endParaRPr>
          </a:p>
          <a:p>
            <a:pPr algn="l">
              <a:lnSpc>
                <a:spcPct val="120000"/>
              </a:lnSpc>
              <a:spcBef>
                <a:spcPts val="0"/>
              </a:spcBef>
            </a:pPr>
            <a:r>
              <a:rPr lang="zh-CN" altLang="en-US" b="0" i="0" dirty="0">
                <a:effectLst/>
                <a:latin typeface="Open Sans" panose="020B0606030504020204" pitchFamily="34" charset="0"/>
              </a:rPr>
              <a:t>后面</a:t>
            </a:r>
            <a:r>
              <a:rPr lang="en-US" altLang="zh-CN" b="0" i="0" dirty="0">
                <a:effectLst/>
                <a:latin typeface="Open Sans" panose="020B0606030504020204" pitchFamily="34" charset="0"/>
              </a:rPr>
              <a:t>p</a:t>
            </a:r>
            <a:r>
              <a:rPr lang="zh-CN" altLang="en-US" b="0" i="0" dirty="0">
                <a:effectLst/>
                <a:latin typeface="Open Sans" panose="020B0606030504020204" pitchFamily="34" charset="0"/>
              </a:rPr>
              <a:t>个正整数，表示该同学成功通过的题目编号。</a:t>
            </a:r>
            <a:endParaRPr lang="zh-CN" altLang="en-US" b="0" i="0" dirty="0">
              <a:effectLst/>
              <a:latin typeface="Open Sans" panose="020B0606030504020204" pitchFamily="34" charset="0"/>
            </a:endParaRPr>
          </a:p>
          <a:p>
            <a:pPr algn="l">
              <a:lnSpc>
                <a:spcPct val="120000"/>
              </a:lnSpc>
              <a:spcBef>
                <a:spcPts val="0"/>
              </a:spcBef>
            </a:pPr>
            <a:r>
              <a:rPr lang="en-US" altLang="zh-CN" b="0" i="0" dirty="0">
                <a:effectLst/>
                <a:latin typeface="Open Sans" panose="020B0606030504020204" pitchFamily="34" charset="0"/>
              </a:rPr>
              <a:t>【</a:t>
            </a:r>
            <a:r>
              <a:rPr lang="zh-CN" altLang="en-US" b="0" i="0" dirty="0">
                <a:effectLst/>
                <a:latin typeface="Open Sans" panose="020B0606030504020204" pitchFamily="34" charset="0"/>
              </a:rPr>
              <a:t>输出格式</a:t>
            </a:r>
            <a:r>
              <a:rPr lang="en-US" altLang="zh-CN" b="0" i="0" dirty="0">
                <a:effectLst/>
                <a:latin typeface="Open Sans" panose="020B0606030504020204" pitchFamily="34" charset="0"/>
              </a:rPr>
              <a:t>】</a:t>
            </a:r>
            <a:endParaRPr lang="en-US" altLang="zh-CN" b="0" i="0" dirty="0">
              <a:effectLst/>
              <a:latin typeface="Open Sans" panose="020B0606030504020204" pitchFamily="34" charset="0"/>
            </a:endParaRPr>
          </a:p>
          <a:p>
            <a:pPr algn="l">
              <a:lnSpc>
                <a:spcPct val="120000"/>
              </a:lnSpc>
              <a:spcBef>
                <a:spcPts val="0"/>
              </a:spcBef>
            </a:pPr>
            <a:r>
              <a:rPr lang="zh-CN" altLang="en-US" b="0" i="0" dirty="0">
                <a:effectLst/>
                <a:latin typeface="Open Sans" panose="020B0606030504020204" pitchFamily="34" charset="0"/>
              </a:rPr>
              <a:t>输出为一行，至少</a:t>
            </a:r>
            <a:r>
              <a:rPr lang="en-US" altLang="zh-CN" b="0" i="0" dirty="0">
                <a:effectLst/>
                <a:latin typeface="Open Sans" panose="020B0606030504020204" pitchFamily="34" charset="0"/>
              </a:rPr>
              <a:t>k</a:t>
            </a:r>
            <a:r>
              <a:rPr lang="zh-CN" altLang="en-US" b="0" i="0" dirty="0">
                <a:effectLst/>
                <a:latin typeface="Open Sans" panose="020B0606030504020204" pitchFamily="34" charset="0"/>
              </a:rPr>
              <a:t>个整数，表示刷题数量最多的前</a:t>
            </a:r>
            <a:r>
              <a:rPr lang="en-US" altLang="zh-CN" b="0" i="0" dirty="0">
                <a:effectLst/>
                <a:latin typeface="Open Sans" panose="020B0606030504020204" pitchFamily="34" charset="0"/>
              </a:rPr>
              <a:t>k</a:t>
            </a:r>
            <a:r>
              <a:rPr lang="zh-CN" altLang="en-US" b="0" i="0" dirty="0">
                <a:effectLst/>
                <a:latin typeface="Open Sans" panose="020B0606030504020204" pitchFamily="34" charset="0"/>
              </a:rPr>
              <a:t>名同学的学号，按刷题数量从高到低排列，输出的学号之间用一个空格分隔。</a:t>
            </a:r>
            <a:endParaRPr lang="zh-CN" altLang="en-US" b="0" i="0" dirty="0">
              <a:effectLst/>
              <a:latin typeface="Open Sans" panose="020B0606030504020204" pitchFamily="34" charset="0"/>
            </a:endParaRPr>
          </a:p>
          <a:p>
            <a:pPr>
              <a:lnSpc>
                <a:spcPct val="120000"/>
              </a:lnSpc>
              <a:spcBef>
                <a:spcPts val="0"/>
              </a:spcBef>
            </a:pP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全局变量</a:t>
            </a:r>
            <a:r>
              <a:rPr lang="en-US" altLang="zh-CN" dirty="0"/>
              <a:t>vs</a:t>
            </a:r>
            <a:r>
              <a:rPr lang="zh-CN" altLang="en-US" dirty="0"/>
              <a:t>局部变量</a:t>
            </a:r>
            <a:endParaRPr lang="zh-CN" altLang="en-US" dirty="0"/>
          </a:p>
        </p:txBody>
      </p:sp>
      <p:sp>
        <p:nvSpPr>
          <p:cNvPr id="3" name="内容占位符 2"/>
          <p:cNvSpPr>
            <a:spLocks noGrp="1"/>
          </p:cNvSpPr>
          <p:nvPr>
            <p:ph idx="1"/>
          </p:nvPr>
        </p:nvSpPr>
        <p:spPr/>
        <p:txBody>
          <a:bodyPr/>
          <a:lstStyle/>
          <a:p>
            <a:r>
              <a:rPr lang="zh-CN" altLang="en-US" dirty="0"/>
              <a:t>全局变量可申请内存空间大</a:t>
            </a:r>
            <a:endParaRPr lang="en-US" altLang="zh-CN" dirty="0"/>
          </a:p>
          <a:p>
            <a:r>
              <a:rPr lang="zh-CN" altLang="en-US" dirty="0"/>
              <a:t>局部变量可申请内存空间小</a:t>
            </a:r>
            <a:endParaRPr lang="en-US" altLang="zh-CN" dirty="0"/>
          </a:p>
          <a:p>
            <a:endParaRPr lang="en-US" altLang="zh-CN" dirty="0"/>
          </a:p>
          <a:p>
            <a:r>
              <a:rPr lang="zh-CN" altLang="en-US" dirty="0">
                <a:solidFill>
                  <a:srgbClr val="FF0000"/>
                </a:solidFill>
              </a:rPr>
              <a:t>全局变量无需初始化，自动置为</a:t>
            </a:r>
            <a:r>
              <a:rPr lang="en-US" altLang="zh-CN" dirty="0">
                <a:solidFill>
                  <a:srgbClr val="FF0000"/>
                </a:solidFill>
              </a:rPr>
              <a:t>0</a:t>
            </a:r>
            <a:endParaRPr lang="en-US" altLang="zh-CN" dirty="0">
              <a:solidFill>
                <a:srgbClr val="FF0000"/>
              </a:solidFill>
            </a:endParaRPr>
          </a:p>
          <a:p>
            <a:r>
              <a:rPr lang="zh-CN" altLang="en-US" dirty="0"/>
              <a:t>局部变量需要初始化，否则初值随机</a:t>
            </a:r>
            <a:endParaRPr lang="en-US" altLang="zh-CN" dirty="0"/>
          </a:p>
          <a:p>
            <a:endParaRPr lang="en-US" altLang="zh-CN" dirty="0"/>
          </a:p>
          <a:p>
            <a:endParaRPr lang="zh-CN" altLang="en-US" dirty="0"/>
          </a:p>
          <a:p>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Tips</a:t>
            </a:r>
            <a:endParaRPr lang="zh-CN" altLang="en-US" dirty="0"/>
          </a:p>
        </p:txBody>
      </p:sp>
      <p:sp>
        <p:nvSpPr>
          <p:cNvPr id="3" name="内容占位符 2"/>
          <p:cNvSpPr>
            <a:spLocks noGrp="1"/>
          </p:cNvSpPr>
          <p:nvPr>
            <p:ph idx="1"/>
          </p:nvPr>
        </p:nvSpPr>
        <p:spPr/>
        <p:txBody>
          <a:bodyPr/>
          <a:lstStyle/>
          <a:p>
            <a:r>
              <a:rPr lang="zh-CN" altLang="en-US" dirty="0"/>
              <a:t>运行错误</a:t>
            </a:r>
            <a:r>
              <a:rPr lang="en-US" altLang="zh-CN" dirty="0"/>
              <a:t>bug</a:t>
            </a:r>
            <a:r>
              <a:rPr lang="zh-CN" altLang="en-US" dirty="0"/>
              <a:t>怎么调：一段段注释程序，注释掉哪段程序不报错了，就意味着是哪里的问题</a:t>
            </a:r>
            <a:endParaRPr lang="en-US" altLang="zh-CN" dirty="0"/>
          </a:p>
          <a:p>
            <a:endParaRPr lang="en-US" altLang="zh-CN" dirty="0"/>
          </a:p>
          <a:p>
            <a:r>
              <a:rPr lang="zh-CN" altLang="en-US" dirty="0"/>
              <a:t>不用担心考试出超纲的问题：用现有知识都可以解答的</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程序调错技巧</a:t>
            </a:r>
            <a:endParaRPr lang="zh-CN" altLang="en-US" dirty="0"/>
          </a:p>
        </p:txBody>
      </p:sp>
      <p:sp>
        <p:nvSpPr>
          <p:cNvPr id="3" name="内容占位符 2"/>
          <p:cNvSpPr>
            <a:spLocks noGrp="1"/>
          </p:cNvSpPr>
          <p:nvPr>
            <p:ph idx="1"/>
          </p:nvPr>
        </p:nvSpPr>
        <p:spPr>
          <a:xfrm>
            <a:off x="432000" y="1535837"/>
            <a:ext cx="7775566" cy="4764163"/>
          </a:xfrm>
        </p:spPr>
        <p:txBody>
          <a:bodyPr>
            <a:normAutofit lnSpcReduction="10000"/>
          </a:bodyPr>
          <a:lstStyle/>
          <a:p>
            <a:r>
              <a:rPr lang="zh-CN" altLang="en-US" dirty="0"/>
              <a:t>用小样例进行调错</a:t>
            </a:r>
            <a:endParaRPr lang="en-US" altLang="zh-CN" dirty="0"/>
          </a:p>
          <a:p>
            <a:r>
              <a:rPr lang="zh-CN" altLang="en-US" dirty="0"/>
              <a:t>将程序功能划分成几个步骤，查看每个步骤的关键中间结果是否正确</a:t>
            </a:r>
            <a:endParaRPr lang="en-US" altLang="zh-CN" dirty="0"/>
          </a:p>
          <a:p>
            <a:r>
              <a:rPr lang="zh-CN" altLang="en-US" dirty="0"/>
              <a:t>对于循环，可以打出每一轮循环的关键中间结果，查看是否正确</a:t>
            </a:r>
            <a:endParaRPr lang="en-US" altLang="zh-CN" dirty="0"/>
          </a:p>
          <a:p>
            <a:r>
              <a:rPr lang="zh-CN" altLang="en-US" dirty="0"/>
              <a:t>对于分支，可以在分支前打出判断表达式的值，在每个分支打出一句话，看是否运行到这个分支</a:t>
            </a:r>
            <a:endParaRPr lang="en-US" altLang="zh-CN" dirty="0"/>
          </a:p>
          <a:p>
            <a:r>
              <a:rPr lang="zh-CN" altLang="en-US" dirty="0"/>
              <a:t>对于死循环，打出每一轮循环的循环变量，查看是哪里出了问题</a:t>
            </a:r>
            <a:endParaRPr lang="en-US" altLang="zh-CN" dirty="0"/>
          </a:p>
          <a:p>
            <a:r>
              <a:rPr lang="zh-CN" altLang="en-US" dirty="0"/>
              <a:t>对于数组越界，在每一次数组访问之前，打出下标值</a:t>
            </a:r>
            <a:endParaRPr lang="en-US" altLang="zh-CN" dirty="0"/>
          </a:p>
          <a:p>
            <a:r>
              <a:rPr lang="zh-CN" altLang="en-US" dirty="0"/>
              <a:t>条件输出</a:t>
            </a:r>
            <a:endParaRPr lang="zh-CN" altLang="en-US" dirty="0"/>
          </a:p>
        </p:txBody>
      </p:sp>
    </p:spTree>
  </p:cSld>
  <p:clrMapOvr>
    <a:masterClrMapping/>
  </p:clrMapOvr>
</p:sld>
</file>

<file path=ppt/tags/tag1.xml><?xml version="1.0" encoding="utf-8"?>
<p:tagLst xmlns:p="http://schemas.openxmlformats.org/presentationml/2006/main">
  <p:tag name="COMMONDATA" val="eyJoZGlkIjoiYTE2NDQwOTYwZDM4YTlkMmQ4MTRlNzczMWE2MTg2MjEifQ=="/>
</p:tagLst>
</file>

<file path=ppt/theme/theme1.xml><?xml version="1.0" encoding="utf-8"?>
<a:theme xmlns:a="http://schemas.openxmlformats.org/drawingml/2006/main" name="课程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雅黑-Calibri">
      <a:majorFont>
        <a:latin typeface="Calibri"/>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17167</Words>
  <Application>WPS 演示</Application>
  <PresentationFormat>On-screen Show (4:3)</PresentationFormat>
  <Paragraphs>1241</Paragraphs>
  <Slides>71</Slides>
  <Notes>21</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71</vt:i4>
      </vt:variant>
    </vt:vector>
  </HeadingPairs>
  <TitlesOfParts>
    <vt:vector size="93" baseType="lpstr">
      <vt:lpstr>Arial</vt:lpstr>
      <vt:lpstr>宋体</vt:lpstr>
      <vt:lpstr>Wingdings</vt:lpstr>
      <vt:lpstr>Calibri</vt:lpstr>
      <vt:lpstr>Gill Sans MT</vt:lpstr>
      <vt:lpstr>华文中宋</vt:lpstr>
      <vt:lpstr>Cambria Math</vt:lpstr>
      <vt:lpstr>Open Sans</vt:lpstr>
      <vt:lpstr>Segoe Print</vt:lpstr>
      <vt:lpstr>Consolas</vt:lpstr>
      <vt:lpstr>Calibri Light</vt:lpstr>
      <vt:lpstr>微软雅黑</vt:lpstr>
      <vt:lpstr>微软雅黑 Light</vt:lpstr>
      <vt:lpstr>Arial Unicode MS</vt:lpstr>
      <vt:lpstr>等线</vt:lpstr>
      <vt:lpstr>Lato</vt:lpstr>
      <vt:lpstr>Times New Roman</vt:lpstr>
      <vt:lpstr>Fira Mono</vt:lpstr>
      <vt:lpstr>NumberOnly</vt:lpstr>
      <vt:lpstr>黑体</vt:lpstr>
      <vt:lpstr>Courier New</vt:lpstr>
      <vt:lpstr>课程PPT模板</vt:lpstr>
      <vt:lpstr>期中复习				</vt:lpstr>
      <vt:lpstr>知识脉络</vt:lpstr>
      <vt:lpstr>进制转换</vt:lpstr>
      <vt:lpstr>进制转换</vt:lpstr>
      <vt:lpstr>进制转换</vt:lpstr>
      <vt:lpstr>yoj129. 外星数字</vt:lpstr>
      <vt:lpstr>yoj129. 外星数字</vt:lpstr>
      <vt:lpstr>yoj129. 外星数字</vt:lpstr>
      <vt:lpstr>范例代码（by 高光昊）</vt:lpstr>
      <vt:lpstr>PowerPoint 演示文稿</vt:lpstr>
      <vt:lpstr>数据范围与精度损失</vt:lpstr>
      <vt:lpstr>yoj215. 提货单</vt:lpstr>
      <vt:lpstr>yoj10. 温度转换</vt:lpstr>
      <vt:lpstr>yoj180.  计算cosx的近似值 </vt:lpstr>
      <vt:lpstr>基本数据类型：字符</vt:lpstr>
      <vt:lpstr>基本数据类型：字符</vt:lpstr>
      <vt:lpstr>区分字符与数字</vt:lpstr>
      <vt:lpstr>sscanf与ssprintf</vt:lpstr>
      <vt:lpstr>yoj492. 加法表达式</vt:lpstr>
      <vt:lpstr>基本概念——运算符和表达式</vt:lpstr>
      <vt:lpstr>逻辑运算符与逻辑表达式</vt:lpstr>
      <vt:lpstr>程序控制语句</vt:lpstr>
      <vt:lpstr>yoj490. 促销方案</vt:lpstr>
      <vt:lpstr>PowerPoint 演示文稿</vt:lpstr>
      <vt:lpstr>yoj215. 提货单</vt:lpstr>
      <vt:lpstr>PowerPoint 演示文稿</vt:lpstr>
      <vt:lpstr>数据结构——数组与自定义数据类型</vt:lpstr>
      <vt:lpstr>二维数组</vt:lpstr>
      <vt:lpstr>数组重点</vt:lpstr>
      <vt:lpstr>yoj475. 序列长度和大小比较</vt:lpstr>
      <vt:lpstr>数组用法</vt:lpstr>
      <vt:lpstr>yoj484. 重复元素</vt:lpstr>
      <vt:lpstr>yoj664. 矩阵元素X近邻</vt:lpstr>
      <vt:lpstr>PowerPoint 演示文稿</vt:lpstr>
      <vt:lpstr>Yoj134. 猜数字</vt:lpstr>
      <vt:lpstr>循环遍历</vt:lpstr>
      <vt:lpstr>检验条件1（正确位置上的数字个数）</vt:lpstr>
      <vt:lpstr>检验条件2（正确数字个数）</vt:lpstr>
      <vt:lpstr>字符串处理函数</vt:lpstr>
      <vt:lpstr>字符串处理函数</vt:lpstr>
      <vt:lpstr>字符串处理函数</vt:lpstr>
      <vt:lpstr>字符串注意事项</vt:lpstr>
      <vt:lpstr>补充函数</vt:lpstr>
      <vt:lpstr>纯字符处理</vt:lpstr>
      <vt:lpstr>字符数组/整数数组/整数混合</vt:lpstr>
      <vt:lpstr>yoj448. 按要求读入并输出数据</vt:lpstr>
      <vt:lpstr>yoj186. 数字反转</vt:lpstr>
      <vt:lpstr>yoj492. 加法表达式</vt:lpstr>
      <vt:lpstr>yoj486. 碱基串排序</vt:lpstr>
      <vt:lpstr>yoj867. 迭代回文数</vt:lpstr>
      <vt:lpstr>8.1.4 算法1——枚举法</vt:lpstr>
      <vt:lpstr>枚举法难点1</vt:lpstr>
      <vt:lpstr>yoj270. 分数约简</vt:lpstr>
      <vt:lpstr>枚举法难点1</vt:lpstr>
      <vt:lpstr>n选k问题例子：课程选择</vt:lpstr>
      <vt:lpstr>枚举法难点2</vt:lpstr>
      <vt:lpstr>n选k问题例子：课程名选择</vt:lpstr>
      <vt:lpstr>Yoj182. 鹿死谁手</vt:lpstr>
      <vt:lpstr>查找</vt:lpstr>
      <vt:lpstr>排序和查找算法应用举例</vt:lpstr>
      <vt:lpstr>PowerPoint 演示文稿</vt:lpstr>
      <vt:lpstr>排序和查找算法应用举例</vt:lpstr>
      <vt:lpstr>排序和查找算法应用举例</vt:lpstr>
      <vt:lpstr>排序和查找算法应用举例</vt:lpstr>
      <vt:lpstr>排序和查找算法应用举例</vt:lpstr>
      <vt:lpstr>排序和查找算法应用举例</vt:lpstr>
      <vt:lpstr>Yoj90. 刷题高手</vt:lpstr>
      <vt:lpstr>Yoj90. 刷题高手</vt:lpstr>
      <vt:lpstr>全局变量vs局部变量</vt:lpstr>
      <vt:lpstr>Tips</vt:lpstr>
      <vt:lpstr>程序调错技巧</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 I</dc:title>
  <dc:creator>sun hui</dc:creator>
  <cp:lastModifiedBy>Yi.</cp:lastModifiedBy>
  <cp:revision>1610</cp:revision>
  <dcterms:created xsi:type="dcterms:W3CDTF">2020-10-14T02:47:00Z</dcterms:created>
  <dcterms:modified xsi:type="dcterms:W3CDTF">2025-11-06T03:37:14Z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30DB2A7CB4AE462E917DD56C7EC36815</vt:lpwstr>
  </property>
  <property fmtid="{D5CDD505-2E9C-101B-9397-08002B2CF9AE}" pid="3" name="KSOProductBuildVer">
    <vt:lpwstr>2052-11.1.0.12173</vt:lpwstr>
  </property>
</Properties>
</file>