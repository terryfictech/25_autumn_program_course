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3"/>
  </p:handoutMasterIdLst>
  <p:sldIdLst>
    <p:sldId id="1092" r:id="rId3"/>
    <p:sldId id="1177" r:id="rId5"/>
    <p:sldId id="1176" r:id="rId6"/>
    <p:sldId id="1047" r:id="rId7"/>
    <p:sldId id="1078" r:id="rId8"/>
    <p:sldId id="1157" r:id="rId9"/>
    <p:sldId id="1159" r:id="rId10"/>
    <p:sldId id="380" r:id="rId11"/>
    <p:sldId id="1160" r:id="rId12"/>
    <p:sldId id="1096" r:id="rId13"/>
    <p:sldId id="1156" r:id="rId14"/>
    <p:sldId id="1161" r:id="rId15"/>
    <p:sldId id="1178" r:id="rId16"/>
    <p:sldId id="1173" r:id="rId17"/>
    <p:sldId id="1082" r:id="rId18"/>
    <p:sldId id="1081" r:id="rId19"/>
    <p:sldId id="1150" r:id="rId20"/>
    <p:sldId id="1151" r:id="rId21"/>
    <p:sldId id="1152" r:id="rId22"/>
    <p:sldId id="1153" r:id="rId23"/>
    <p:sldId id="1103" r:id="rId24"/>
    <p:sldId id="1180" r:id="rId25"/>
    <p:sldId id="1179" r:id="rId26"/>
    <p:sldId id="1086" r:id="rId27"/>
    <p:sldId id="1087" r:id="rId28"/>
    <p:sldId id="1098" r:id="rId29"/>
    <p:sldId id="1090" r:id="rId30"/>
    <p:sldId id="1091" r:id="rId31"/>
    <p:sldId id="1174" r:id="rId32"/>
    <p:sldId id="1088" r:id="rId33"/>
    <p:sldId id="1099" r:id="rId34"/>
    <p:sldId id="1183" r:id="rId35"/>
    <p:sldId id="1184" r:id="rId36"/>
    <p:sldId id="1182" r:id="rId37"/>
    <p:sldId id="1185" r:id="rId38"/>
    <p:sldId id="1093" r:id="rId39"/>
    <p:sldId id="1094" r:id="rId40"/>
    <p:sldId id="1100" r:id="rId41"/>
    <p:sldId id="1191" r:id="rId42"/>
    <p:sldId id="1192" r:id="rId43"/>
    <p:sldId id="1193" r:id="rId44"/>
    <p:sldId id="1194" r:id="rId45"/>
    <p:sldId id="1181" r:id="rId46"/>
    <p:sldId id="1187" r:id="rId47"/>
    <p:sldId id="1190" r:id="rId48"/>
    <p:sldId id="1175" r:id="rId49"/>
    <p:sldId id="1188" r:id="rId50"/>
    <p:sldId id="1189" r:id="rId51"/>
    <p:sldId id="682" r:id="rId52"/>
  </p:sldIdLst>
  <p:sldSz cx="9144000" cy="6858000" type="screen4x3"/>
  <p:notesSz cx="6858000" cy="9144000"/>
  <p:custDataLst>
    <p:tags r:id="rId5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700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88" autoAdjust="0"/>
    <p:restoredTop sz="81552" autoAdjust="0"/>
  </p:normalViewPr>
  <p:slideViewPr>
    <p:cSldViewPr snapToGrid="0">
      <p:cViewPr varScale="1">
        <p:scale>
          <a:sx n="70" d="100"/>
          <a:sy n="70" d="100"/>
        </p:scale>
        <p:origin x="1783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7" Type="http://schemas.openxmlformats.org/officeDocument/2006/relationships/tags" Target="tags/tag1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handoutMaster" Target="handoutMasters/handoutMaster1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有个练习：右循环移位还需要出测试点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文本数据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整数数组没有停止符</a:t>
            </a:r>
            <a:r>
              <a:rPr lang="en-US" altLang="zh-CN" dirty="0"/>
              <a:t>——</a:t>
            </a:r>
            <a:r>
              <a:rPr lang="zh-CN" altLang="en-US" dirty="0"/>
              <a:t>所以必须要用一个数单独记录数组有效长度</a:t>
            </a:r>
            <a:endParaRPr lang="en-US" altLang="zh-CN" dirty="0"/>
          </a:p>
          <a:p>
            <a:r>
              <a:rPr lang="zh-CN" altLang="en-US" dirty="0"/>
              <a:t>思考题答案：有了</a:t>
            </a:r>
            <a:r>
              <a:rPr lang="en-US" altLang="zh-CN" dirty="0"/>
              <a:t>\0</a:t>
            </a:r>
            <a:r>
              <a:rPr lang="zh-CN" altLang="en-US" dirty="0"/>
              <a:t>，可以不需要另一个变量记录长度了</a:t>
            </a:r>
            <a:endParaRPr lang="en-US" altLang="zh-CN" dirty="0"/>
          </a:p>
          <a:p>
            <a:r>
              <a:rPr lang="zh-CN" altLang="en-US" dirty="0"/>
              <a:t>整数数组其实设不了停止符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思考：可以，因为会自动补</a:t>
            </a:r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思考：可以，因为会自动补</a:t>
            </a:r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等价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等价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思考：可以，因为会自动补</a:t>
            </a:r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gets_s</a:t>
            </a:r>
            <a:r>
              <a:rPr lang="zh-CN" altLang="en-US" dirty="0"/>
              <a:t>可以</a:t>
            </a:r>
            <a:r>
              <a:rPr lang="en-US" altLang="zh-CN" dirty="0"/>
              <a:t>”hello world”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</a:t>
            </a:r>
            <a:r>
              <a:rPr lang="zh-CN" altLang="en-US" dirty="0"/>
              <a:t>改成</a:t>
            </a:r>
            <a:r>
              <a:rPr lang="en-US" altLang="zh-CN" dirty="0"/>
              <a:t>5</a:t>
            </a:r>
            <a:r>
              <a:rPr lang="zh-CN" altLang="en-US" dirty="0"/>
              <a:t>就不能</a:t>
            </a:r>
            <a:r>
              <a:rPr lang="en-US" altLang="zh-CN" dirty="0" err="1"/>
              <a:t>strcpy</a:t>
            </a:r>
            <a:r>
              <a:rPr lang="zh-CN" altLang="en-US" dirty="0"/>
              <a:t>了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21</a:t>
            </a:r>
            <a:r>
              <a:rPr lang="zh-CN" altLang="en-US" dirty="0"/>
              <a:t>删掉不行了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/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/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685564" y="2155124"/>
            <a:ext cx="544750" cy="558709"/>
          </a:xfrm>
          <a:prstGeom prst="donut">
            <a:avLst>
              <a:gd name="adj" fmla="val 3476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410" indent="-342900">
              <a:buFont typeface="Wingdings" panose="05000000000000000000" pitchFamily="2" charset="2"/>
              <a:buChar char="§"/>
              <a:defRPr sz="2000"/>
            </a:lvl2pPr>
            <a:lvl3pPr marL="1198245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7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762CE59C-CF32-4C0B-98F6-36A6A0274684}" type="datetime1">
              <a:rPr lang="en-US" altLang="zh-CN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6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1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751EAF42-C692-4271-8CB7-3D9B314629A6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21DBE8-CEA6-48DA-8F06-44190DA2A0F8}" type="datetime1">
              <a:rPr lang="en-US" altLang="zh-CN" smtClean="0"/>
            </a:fld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0DC657-BB46-4EF7-9D66-BFB8C6F8FE0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/>
          <p:nvPr/>
        </p:nvSpPr>
        <p:spPr>
          <a:xfrm>
            <a:off x="1014414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invGray">
          <a:xfrm>
            <a:off x="1014414" y="0"/>
            <a:ext cx="7302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00" dir="10800000" algn="tl" rotWithShape="0">
              <a:srgbClr val="73726C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064A42-05FC-484D-98E8-9F09568243FA}" type="datetime1">
              <a:rPr lang="en-US" altLang="zh-CN" smtClean="0"/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2C4C4-4215-4352-B597-B2750E65EFF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5.emf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4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hyperlink" Target="http://en.cppreference.com/w/c/types/size_t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299357" y="1773237"/>
            <a:ext cx="8844643" cy="1655763"/>
          </a:xfrm>
        </p:spPr>
        <p:txBody>
          <a:bodyPr>
            <a:normAutofit/>
          </a:bodyPr>
          <a:lstStyle/>
          <a:p>
            <a:r>
              <a:rPr lang="en-US" altLang="zh-CN" dirty="0"/>
              <a:t>11.</a:t>
            </a:r>
            <a:r>
              <a:rPr lang="zh-CN" altLang="en-US" dirty="0"/>
              <a:t> 数据的组织（二）</a:t>
            </a:r>
            <a:br>
              <a:rPr lang="en-US" altLang="zh-CN" dirty="0"/>
            </a:br>
            <a:r>
              <a:rPr lang="en-US" altLang="zh-CN" dirty="0"/>
              <a:t>		     </a:t>
            </a:r>
            <a:r>
              <a:rPr lang="en-US" altLang="zh-CN" sz="4800" dirty="0"/>
              <a:t>——</a:t>
            </a:r>
            <a:r>
              <a:rPr lang="zh-CN" altLang="en-US" sz="4800" dirty="0"/>
              <a:t>字符数组与字符串</a:t>
            </a:r>
            <a:endParaRPr 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字符数组与字符串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字符串输入输出（复习）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常见的字符串操作函数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字符数组与字符串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如何让程序存储名字？</a:t>
            </a:r>
            <a:endParaRPr lang="zh-CN" altLang="en-US" dirty="0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737911" y="2636838"/>
            <a:ext cx="2519362" cy="2677656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楷体_GB2312" panose="02010609030101010101" pitchFamily="49" charset="-122"/>
              </a:rPr>
              <a:t>char a = 'W';</a:t>
            </a:r>
            <a:endParaRPr lang="en-US" altLang="zh-CN" sz="2400" b="1" dirty="0"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楷体_GB2312" panose="02010609030101010101" pitchFamily="49" charset="-122"/>
              </a:rPr>
              <a:t>char b = 'a';</a:t>
            </a:r>
            <a:endParaRPr lang="en-US" altLang="zh-CN" sz="2400" b="1" dirty="0"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楷体_GB2312" panose="02010609030101010101" pitchFamily="49" charset="-122"/>
              </a:rPr>
              <a:t>char c = 'n';</a:t>
            </a:r>
            <a:endParaRPr lang="en-US" altLang="zh-CN" sz="2400" b="1" dirty="0"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楷体_GB2312" panose="02010609030101010101" pitchFamily="49" charset="-122"/>
              </a:rPr>
              <a:t>char d = 'g';</a:t>
            </a:r>
            <a:endParaRPr lang="en-US" altLang="zh-CN" sz="2400" b="1" dirty="0"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just">
              <a:buClr>
                <a:srgbClr val="A50021"/>
              </a:buClr>
              <a:buSzPct val="75000"/>
            </a:pPr>
            <a:r>
              <a:rPr lang="en-US" altLang="zh-CN" sz="2400" b="1" dirty="0">
                <a:latin typeface="Arial" panose="020B0604020202020204" pitchFamily="34" charset="0"/>
                <a:ea typeface="楷体_GB2312" panose="02010609030101010101" pitchFamily="49" charset="-122"/>
              </a:rPr>
              <a:t>char e = ' '</a:t>
            </a:r>
            <a:r>
              <a:rPr lang="zh-CN" altLang="en-US" sz="2400" b="1" dirty="0">
                <a:latin typeface="Arial" panose="020B0604020202020204" pitchFamily="34" charset="0"/>
                <a:ea typeface="楷体_GB2312" panose="02010609030101010101" pitchFamily="49" charset="-122"/>
              </a:rPr>
              <a:t>；</a:t>
            </a:r>
            <a:endParaRPr lang="en-US" altLang="zh-CN" sz="2400" b="1" dirty="0"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楷体_GB2312" panose="02010609030101010101" pitchFamily="49" charset="-122"/>
              </a:rPr>
              <a:t>char f = 'L';</a:t>
            </a:r>
            <a:endParaRPr lang="en-US" altLang="zh-CN" sz="2400" b="1" dirty="0"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楷体_GB2312" panose="02010609030101010101" pitchFamily="49" charset="-122"/>
              </a:rPr>
              <a:t>char g = '</a:t>
            </a:r>
            <a:r>
              <a:rPr lang="en-US" altLang="zh-CN" sz="2400" b="1" dirty="0" err="1">
                <a:latin typeface="Arial" panose="020B0604020202020204" pitchFamily="34" charset="0"/>
                <a:ea typeface="楷体_GB2312" panose="02010609030101010101" pitchFamily="49" charset="-122"/>
              </a:rPr>
              <a:t>i</a:t>
            </a:r>
            <a:r>
              <a:rPr lang="en-US" altLang="zh-CN" sz="2400" b="1" dirty="0">
                <a:latin typeface="Arial" panose="020B0604020202020204" pitchFamily="34" charset="0"/>
                <a:ea typeface="楷体_GB2312" panose="02010609030101010101" pitchFamily="49" charset="-122"/>
              </a:rPr>
              <a:t>';</a:t>
            </a:r>
            <a:endParaRPr lang="en-US" altLang="zh-CN" sz="2400" b="1" dirty="0"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989134" y="1602731"/>
            <a:ext cx="1367490" cy="46166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pPr algn="ctr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hlink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Wang Li</a:t>
            </a:r>
            <a:endParaRPr lang="en-US" altLang="zh-CN" sz="2400" b="1" dirty="0">
              <a:solidFill>
                <a:schemeClr val="hlink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4662888" y="3215324"/>
            <a:ext cx="3889375" cy="830997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just">
              <a:buClr>
                <a:srgbClr val="A50021"/>
              </a:buClr>
              <a:buSzPct val="75000"/>
            </a:pPr>
            <a:r>
              <a:rPr lang="en-US" altLang="zh-CN" sz="2400" b="1" dirty="0">
                <a:latin typeface="Arial" panose="020B0604020202020204" pitchFamily="34" charset="0"/>
                <a:ea typeface="楷体_GB2312" panose="02010609030101010101" pitchFamily="49" charset="-122"/>
              </a:rPr>
              <a:t>char name[15] = { ‘W’, ‘a’, ‘n’, ‘g’, ‘ ', 'L', '</a:t>
            </a:r>
            <a:r>
              <a:rPr lang="en-US" altLang="zh-CN" sz="2400" b="1" dirty="0" err="1">
                <a:latin typeface="Arial" panose="020B0604020202020204" pitchFamily="34" charset="0"/>
                <a:ea typeface="楷体_GB2312" panose="02010609030101010101" pitchFamily="49" charset="-122"/>
              </a:rPr>
              <a:t>i</a:t>
            </a:r>
            <a:r>
              <a:rPr lang="en-US" altLang="zh-CN" sz="2400" b="1" dirty="0">
                <a:latin typeface="Arial" panose="020B0604020202020204" pitchFamily="34" charset="0"/>
                <a:ea typeface="楷体_GB2312" panose="02010609030101010101" pitchFamily="49" charset="-122"/>
              </a:rPr>
              <a:t>'}; </a:t>
            </a:r>
            <a:endParaRPr lang="en-US" altLang="zh-CN" sz="2400" b="1" dirty="0"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2793698" y="4638787"/>
            <a:ext cx="2339102" cy="523220"/>
          </a:xfrm>
          <a:prstGeom prst="rect">
            <a:avLst/>
          </a:prstGeom>
          <a:solidFill>
            <a:srgbClr val="C4ECF6"/>
          </a:solidFill>
          <a:ln w="9525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Courier New" panose="02070309020205020404" pitchFamily="49" charset="0"/>
              </a:rPr>
              <a:t>用若干个字符</a:t>
            </a:r>
            <a:endParaRPr lang="zh-CN" altLang="en-US" sz="2800" b="1" dirty="0">
              <a:latin typeface="Courier New" panose="02070309020205020404" pitchFamily="49" charset="0"/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5712812" y="4040722"/>
            <a:ext cx="1980029" cy="523220"/>
          </a:xfrm>
          <a:prstGeom prst="rect">
            <a:avLst/>
          </a:prstGeom>
          <a:solidFill>
            <a:srgbClr val="C4ECF6"/>
          </a:solidFill>
          <a:ln w="9525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Courier New" panose="02070309020205020404" pitchFamily="49" charset="0"/>
              </a:rPr>
              <a:t>用字符数组</a:t>
            </a:r>
            <a:endParaRPr lang="zh-CN" altLang="en-US" sz="2800" b="1" dirty="0">
              <a:latin typeface="Courier New" panose="02070309020205020404" pitchFamily="49" charset="0"/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737911" y="7556391"/>
            <a:ext cx="7243458" cy="584775"/>
          </a:xfrm>
          <a:prstGeom prst="rect">
            <a:avLst/>
          </a:prstGeom>
          <a:solidFill>
            <a:srgbClr val="C4ECF6"/>
          </a:solidFill>
          <a:ln w="9525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Courier New" panose="02070309020205020404" pitchFamily="49" charset="0"/>
              </a:rPr>
              <a:t>用字符串</a:t>
            </a:r>
            <a:r>
              <a:rPr lang="en-US" altLang="zh-CN" sz="3200" b="1" dirty="0">
                <a:latin typeface="Arial" panose="020B0604020202020204" pitchFamily="34" charset="0"/>
                <a:ea typeface="楷体_GB2312" panose="02010609030101010101" pitchFamily="49" charset="-122"/>
              </a:rPr>
              <a:t>char name[15] = "Wang Li"；</a:t>
            </a:r>
            <a:endParaRPr lang="zh-CN" altLang="en-US" sz="3200" b="1" dirty="0"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字符数组</a:t>
            </a:r>
            <a:endParaRPr lang="zh-CN" altLang="en-US" dirty="0"/>
          </a:p>
        </p:txBody>
      </p:sp>
      <p:sp>
        <p:nvSpPr>
          <p:cNvPr id="13" name="Rectangle 3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  <a:miter lim="800000"/>
          </a:ln>
        </p:spPr>
        <p:txBody>
          <a:bodyPr vert="horz" wrap="square" lIns="90488" tIns="44450" rIns="90488" bIns="44450" numCol="1" anchor="t" anchorCtr="0" compatLnSpc="1"/>
          <a:lstStyle/>
          <a:p>
            <a:pPr marL="0" indent="457200" eaLnBrk="1" latinLnBrk="0" hangingPunct="1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ea typeface="华文新魏" panose="02010800040101010101" pitchFamily="2" charset="-122"/>
              </a:rPr>
              <a:t>字符数组的定义、引用、初始化与其他类型的数组一样。</a:t>
            </a:r>
            <a:endParaRPr lang="zh-CN" altLang="en-US" sz="2800" dirty="0">
              <a:ea typeface="华文新魏" panose="020108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ea typeface="华文新魏" panose="02010800040101010101" pitchFamily="2" charset="-122"/>
              </a:rPr>
              <a:t>char  str[80];</a:t>
            </a:r>
            <a:endParaRPr lang="en-US" altLang="zh-CN" sz="2800" dirty="0">
              <a:solidFill>
                <a:srgbClr val="FF0000"/>
              </a:solidFill>
              <a:ea typeface="华文新魏" panose="0201080004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ea typeface="华文新魏" panose="02010800040101010101" pitchFamily="2" charset="-122"/>
              </a:rPr>
              <a:t>定义一个含有80个字符型元素的数组</a:t>
            </a:r>
            <a:r>
              <a:rPr lang="en-US" altLang="zh-CN" sz="2400" dirty="0">
                <a:ea typeface="华文新魏" panose="02010800040101010101" pitchFamily="2" charset="-122"/>
              </a:rPr>
              <a:t>str</a:t>
            </a:r>
            <a:endParaRPr lang="en-US" altLang="zh-CN" dirty="0">
              <a:ea typeface="华文新魏" panose="02010800040101010101" pitchFamily="2" charset="-122"/>
            </a:endParaRP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ea typeface="华文新魏" panose="02010800040101010101" pitchFamily="2" charset="-122"/>
              </a:rPr>
              <a:t>char t[5] = {'H', 'a', 'p', 'p', 'y’};</a:t>
            </a:r>
            <a:endParaRPr lang="en-US" altLang="zh-CN" sz="2800" dirty="0">
              <a:solidFill>
                <a:srgbClr val="FF0000"/>
              </a:solidFill>
              <a:ea typeface="华文新魏" panose="02010800040101010101" pitchFamily="2" charset="-122"/>
            </a:endParaRP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ea typeface="华文新魏" panose="02010800040101010101" pitchFamily="2" charset="-122"/>
              </a:rPr>
              <a:t>定义并初始化数组 </a:t>
            </a:r>
            <a:r>
              <a:rPr lang="en-US" altLang="zh-CN" sz="2400" dirty="0">
                <a:ea typeface="华文新魏" panose="02010800040101010101" pitchFamily="2" charset="-122"/>
              </a:rPr>
              <a:t>t</a:t>
            </a:r>
            <a:endParaRPr lang="en-US" altLang="zh-CN" sz="2400" dirty="0">
              <a:ea typeface="华文新魏" panose="02010800040101010101" pitchFamily="2" charset="-122"/>
            </a:endParaRPr>
          </a:p>
        </p:txBody>
      </p:sp>
      <p:grpSp>
        <p:nvGrpSpPr>
          <p:cNvPr id="14" name="Group 4"/>
          <p:cNvGrpSpPr/>
          <p:nvPr/>
        </p:nvGrpSpPr>
        <p:grpSpPr bwMode="auto">
          <a:xfrm>
            <a:off x="490534" y="4735513"/>
            <a:ext cx="3581400" cy="977900"/>
            <a:chOff x="0" y="143"/>
            <a:chExt cx="2256" cy="616"/>
          </a:xfrm>
        </p:grpSpPr>
        <p:sp>
          <p:nvSpPr>
            <p:cNvPr id="15" name="Text Box 5"/>
            <p:cNvSpPr txBox="1">
              <a:spLocks noChangeArrowheads="1"/>
            </p:cNvSpPr>
            <p:nvPr/>
          </p:nvSpPr>
          <p:spPr bwMode="auto">
            <a:xfrm>
              <a:off x="192" y="528"/>
              <a:ext cx="2064" cy="23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0488" tIns="44450" rIns="90488" bIns="44450">
              <a:spAutoFit/>
            </a:bodyPr>
            <a:lstStyle/>
            <a:p>
              <a:pPr algn="just" eaLnBrk="1" hangingPunct="1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dirty="0">
                  <a:latin typeface="Book Antiqua" panose="02040602050305030304" pitchFamily="18" charset="0"/>
                </a:rPr>
                <a:t>     </a:t>
              </a:r>
              <a:r>
                <a:rPr lang="en-US" altLang="zh-CN" dirty="0">
                  <a:latin typeface="Arial" panose="020B0604020202020204" pitchFamily="34" charset="0"/>
                </a:rPr>
                <a:t>t[0]   t[1]                      t[4]</a:t>
              </a:r>
              <a:endParaRPr lang="en-US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16" name="Text Box 11"/>
            <p:cNvSpPr txBox="1">
              <a:spLocks noChangeArrowheads="1"/>
            </p:cNvSpPr>
            <p:nvPr/>
          </p:nvSpPr>
          <p:spPr bwMode="auto">
            <a:xfrm>
              <a:off x="0" y="143"/>
              <a:ext cx="336" cy="36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90488" tIns="44450" rIns="90488" bIns="44450">
              <a:spAutoFit/>
            </a:bodyPr>
            <a:lstStyle/>
            <a:p>
              <a:pPr algn="r" eaLnBrk="1" hangingPunct="1">
                <a:spcBef>
                  <a:spcPct val="50000"/>
                </a:spcBef>
                <a:buClr>
                  <a:schemeClr val="tx2"/>
                </a:buClr>
                <a:buSzPct val="75000"/>
                <a:buFont typeface="Monotype Sorts" pitchFamily="2" charset="2"/>
                <a:buNone/>
              </a:pPr>
              <a:r>
                <a:rPr lang="en-US" altLang="zh-CN" sz="3200">
                  <a:latin typeface="Arial" panose="020B0604020202020204" pitchFamily="34" charset="0"/>
                </a:rPr>
                <a:t>t</a:t>
              </a:r>
              <a:endParaRPr lang="en-US" altLang="zh-CN" sz="3200" b="1">
                <a:latin typeface="Arial" panose="020B0604020202020204" pitchFamily="34" charset="0"/>
              </a:endParaRPr>
            </a:p>
          </p:txBody>
        </p:sp>
      </p:grp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4155082" y="3926982"/>
            <a:ext cx="4572000" cy="156845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</a:ln>
        </p:spPr>
        <p:txBody>
          <a:bodyPr lIns="92075" tIns="46038" rIns="92075" bIns="46038">
            <a:spAutoFit/>
          </a:bodyPr>
          <a:lstStyle/>
          <a:p>
            <a:pPr eaLnBrk="1" hangingPunct="1">
              <a:buClr>
                <a:srgbClr val="33CCCC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b="1" u="sng" dirty="0">
                <a:solidFill>
                  <a:srgbClr val="92D050"/>
                </a:solidFill>
                <a:ea typeface="华文楷体" panose="02010600040101010101" pitchFamily="2" charset="-122"/>
              </a:rPr>
              <a:t>  </a:t>
            </a:r>
            <a:r>
              <a:rPr lang="zh-CN" altLang="en-US" sz="2400" b="1" u="sng" dirty="0">
                <a:solidFill>
                  <a:srgbClr val="92D050"/>
                </a:solidFill>
                <a:ea typeface="华文楷体" panose="02010600040101010101" pitchFamily="2" charset="-122"/>
              </a:rPr>
              <a:t>作为普通数组，可以用如下循环输出数组</a:t>
            </a:r>
            <a:r>
              <a:rPr lang="en-US" altLang="zh-CN" sz="2400" b="1" u="sng" dirty="0">
                <a:solidFill>
                  <a:srgbClr val="92D050"/>
                </a:solidFill>
                <a:ea typeface="华文楷体" panose="02010600040101010101" pitchFamily="2" charset="-122"/>
              </a:rPr>
              <a:t>t</a:t>
            </a:r>
            <a:r>
              <a:rPr lang="zh-CN" altLang="en-US" sz="2400" b="1" u="sng" dirty="0">
                <a:solidFill>
                  <a:srgbClr val="92D050"/>
                </a:solidFill>
                <a:ea typeface="华文楷体" panose="02010600040101010101" pitchFamily="2" charset="-122"/>
              </a:rPr>
              <a:t>的所有元素</a:t>
            </a:r>
            <a:endParaRPr lang="zh-CN" altLang="en-US" sz="2400" b="1" u="sng" dirty="0">
              <a:solidFill>
                <a:srgbClr val="92D050"/>
              </a:solidFill>
              <a:ea typeface="华文楷体" panose="02010600040101010101" pitchFamily="2" charset="-122"/>
            </a:endParaRPr>
          </a:p>
          <a:p>
            <a:pPr lvl="1" eaLnBrk="1" hangingPunct="1">
              <a:buClr>
                <a:srgbClr val="33CCCC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ea typeface="华文楷体" panose="02010600040101010101" pitchFamily="2" charset="-122"/>
              </a:rPr>
              <a:t>for(</a:t>
            </a:r>
            <a:r>
              <a:rPr lang="en-US" altLang="zh-CN" sz="2400" b="1" dirty="0" err="1">
                <a:solidFill>
                  <a:schemeClr val="tx2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ea typeface="华文楷体" panose="02010600040101010101" pitchFamily="2" charset="-122"/>
              </a:rPr>
              <a:t> = 0; </a:t>
            </a:r>
            <a:r>
              <a:rPr lang="en-US" altLang="zh-CN" sz="2400" b="1" dirty="0" err="1">
                <a:solidFill>
                  <a:schemeClr val="tx2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ea typeface="华文楷体" panose="02010600040101010101" pitchFamily="2" charset="-122"/>
              </a:rPr>
              <a:t> &lt; 5; </a:t>
            </a:r>
            <a:r>
              <a:rPr lang="en-US" altLang="zh-CN" sz="2400" b="1" dirty="0" err="1">
                <a:solidFill>
                  <a:schemeClr val="tx2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ea typeface="华文楷体" panose="02010600040101010101" pitchFamily="2" charset="-122"/>
              </a:rPr>
              <a:t>++)</a:t>
            </a:r>
            <a:endParaRPr lang="en-US" altLang="zh-CN" sz="2400" b="1" dirty="0">
              <a:solidFill>
                <a:schemeClr val="tx2"/>
              </a:solidFill>
              <a:ea typeface="华文楷体" panose="02010600040101010101" pitchFamily="2" charset="-122"/>
            </a:endParaRPr>
          </a:p>
          <a:p>
            <a:pPr lvl="1" eaLnBrk="1" hangingPunct="1">
              <a:buClr>
                <a:srgbClr val="33CCCC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ea typeface="华文楷体" panose="02010600040101010101" pitchFamily="2" charset="-122"/>
              </a:rPr>
              <a:t>    </a:t>
            </a:r>
            <a:r>
              <a:rPr lang="en-US" altLang="zh-CN" sz="2400" b="1" dirty="0" err="1">
                <a:solidFill>
                  <a:schemeClr val="tx2"/>
                </a:solidFill>
                <a:ea typeface="华文楷体" panose="02010600040101010101" pitchFamily="2" charset="-122"/>
              </a:rPr>
              <a:t>printf</a:t>
            </a:r>
            <a:r>
              <a:rPr lang="en-US" altLang="zh-CN" sz="2400" b="1" dirty="0">
                <a:solidFill>
                  <a:schemeClr val="tx2"/>
                </a:solidFill>
                <a:ea typeface="华文楷体" panose="02010600040101010101" pitchFamily="2" charset="-122"/>
              </a:rPr>
              <a:t>(“%c”, t[</a:t>
            </a:r>
            <a:r>
              <a:rPr lang="en-US" altLang="zh-CN" sz="2400" b="1" dirty="0" err="1">
                <a:solidFill>
                  <a:schemeClr val="tx2"/>
                </a:solidFill>
                <a:ea typeface="华文楷体" panose="02010600040101010101" pitchFamily="2" charset="-122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ea typeface="华文楷体" panose="02010600040101010101" pitchFamily="2" charset="-122"/>
              </a:rPr>
              <a:t>] );</a:t>
            </a:r>
            <a:endParaRPr lang="en-US" altLang="zh-CN" sz="2400" b="1" dirty="0">
              <a:solidFill>
                <a:schemeClr val="tx2"/>
              </a:solidFill>
              <a:ea typeface="华文楷体" panose="02010600040101010101" pitchFamily="2" charset="-122"/>
            </a:endParaRPr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4140200" y="5597525"/>
            <a:ext cx="4679950" cy="768350"/>
          </a:xfrm>
          <a:prstGeom prst="rect">
            <a:avLst/>
          </a:prstGeom>
          <a:solidFill>
            <a:srgbClr val="C4ECF6"/>
          </a:solidFill>
          <a:ln w="9525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200" b="1" dirty="0">
                <a:ea typeface="华文楷体" panose="02010600040101010101" pitchFamily="2" charset="-122"/>
              </a:rPr>
              <a:t>   </a:t>
            </a:r>
            <a:r>
              <a:rPr lang="zh-CN" altLang="en-US" sz="2200" b="1" dirty="0">
                <a:ea typeface="华文楷体" panose="02010600040101010101" pitchFamily="2" charset="-122"/>
              </a:rPr>
              <a:t>但是，</a:t>
            </a:r>
            <a:r>
              <a:rPr lang="en-US" altLang="zh-CN" sz="2200" b="1" dirty="0">
                <a:ea typeface="华文楷体" panose="02010600040101010101" pitchFamily="2" charset="-122"/>
              </a:rPr>
              <a:t>Happy</a:t>
            </a:r>
            <a:r>
              <a:rPr lang="zh-CN" altLang="en-US" sz="2200" b="1" dirty="0">
                <a:ea typeface="华文楷体" panose="02010600040101010101" pitchFamily="2" charset="-122"/>
              </a:rPr>
              <a:t>作为一个单词，如果能整体输入输出，显然更方便一些</a:t>
            </a:r>
            <a:r>
              <a:rPr lang="en-US" altLang="zh-CN" sz="2200" b="1" dirty="0">
                <a:ea typeface="华文楷体" panose="02010600040101010101" pitchFamily="2" charset="-122"/>
              </a:rPr>
              <a:t>!</a:t>
            </a:r>
            <a:endParaRPr lang="zh-CN" altLang="en-US" sz="2200" b="1" dirty="0">
              <a:ea typeface="华文楷体" panose="02010600040101010101" pitchFamily="2" charset="-122"/>
            </a:endParaRPr>
          </a:p>
        </p:txBody>
      </p:sp>
      <p:graphicFrame>
        <p:nvGraphicFramePr>
          <p:cNvPr id="19" name="表格 18"/>
          <p:cNvGraphicFramePr/>
          <p:nvPr/>
        </p:nvGraphicFramePr>
        <p:xfrm>
          <a:off x="1054098" y="4792664"/>
          <a:ext cx="2917825" cy="519112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49746"/>
                <a:gridCol w="517638"/>
                <a:gridCol w="583057"/>
                <a:gridCol w="583692"/>
                <a:gridCol w="583692"/>
              </a:tblGrid>
              <a:tr h="519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sym typeface="+mn-ea"/>
                        </a:rPr>
                        <a:t>'H'</a:t>
                      </a:r>
                      <a:endParaRPr lang="en-US" altLang="zh-CN" sz="2400" dirty="0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 marL="91460" marR="91460" marT="45804" marB="458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sym typeface="+mn-ea"/>
                        </a:rPr>
                        <a:t>'a'</a:t>
                      </a:r>
                      <a:endParaRPr lang="zh-CN" altLang="en-US" sz="2400" dirty="0"/>
                    </a:p>
                  </a:txBody>
                  <a:tcPr marL="91460" marR="91460" marT="45804" marB="458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sym typeface="+mn-ea"/>
                        </a:rPr>
                        <a:t>'p'</a:t>
                      </a:r>
                      <a:endParaRPr lang="zh-CN" altLang="en-US" sz="2400"/>
                    </a:p>
                  </a:txBody>
                  <a:tcPr marL="91460" marR="91460" marT="45804" marB="458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sym typeface="+mn-ea"/>
                        </a:rPr>
                        <a:t>'p'</a:t>
                      </a:r>
                      <a:endParaRPr lang="zh-CN" altLang="en-US" sz="2400"/>
                    </a:p>
                  </a:txBody>
                  <a:tcPr marL="91460" marR="91460" marT="45804" marB="45804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sym typeface="+mn-ea"/>
                        </a:rPr>
                        <a:t>'y'</a:t>
                      </a:r>
                      <a:endParaRPr lang="zh-CN" altLang="en-US" sz="2400" dirty="0"/>
                    </a:p>
                  </a:txBody>
                  <a:tcPr marL="91460" marR="91460" marT="45804" marB="45804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535837"/>
            <a:ext cx="8475780" cy="47641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字符串的目的：方便对一组字符进行整体处理，用</a:t>
            </a:r>
            <a:r>
              <a:rPr lang="zh-CN" altLang="en-US" sz="2800" b="1" dirty="0"/>
              <a:t>一句话</a:t>
            </a:r>
            <a:r>
              <a:rPr lang="zh-CN" altLang="en-US" sz="2800" dirty="0"/>
              <a:t>（而不是一个循环）进行</a:t>
            </a:r>
            <a:endParaRPr lang="en-US" altLang="zh-CN" sz="2400" dirty="0"/>
          </a:p>
          <a:p>
            <a:pPr lvl="1"/>
            <a:r>
              <a:rPr lang="zh-CN" altLang="en-US" sz="2800" dirty="0"/>
              <a:t>一组字符的输入，输出</a:t>
            </a:r>
            <a:endParaRPr lang="en-US" altLang="zh-CN" sz="2800" dirty="0"/>
          </a:p>
          <a:p>
            <a:pPr lvl="1"/>
            <a:r>
              <a:rPr lang="zh-CN" altLang="en-US" sz="2800" dirty="0"/>
              <a:t>一组字符的复制</a:t>
            </a:r>
            <a:endParaRPr lang="en-US" altLang="zh-CN" sz="2800" dirty="0"/>
          </a:p>
          <a:p>
            <a:pPr lvl="1"/>
            <a:r>
              <a:rPr lang="zh-CN" altLang="en-US" sz="2800" dirty="0"/>
              <a:t>一组字符的长度计算</a:t>
            </a:r>
            <a:endParaRPr lang="en-US" altLang="zh-CN" sz="2800" dirty="0"/>
          </a:p>
          <a:p>
            <a:pPr lvl="1"/>
            <a:r>
              <a:rPr lang="zh-CN" altLang="en-US" sz="2800" dirty="0"/>
              <a:t>两组字符之间的比较</a:t>
            </a:r>
            <a:endParaRPr lang="en-US" altLang="zh-CN" sz="2800" dirty="0"/>
          </a:p>
          <a:p>
            <a:pPr lvl="1"/>
            <a:r>
              <a:rPr lang="zh-CN" altLang="en-US" sz="2800" dirty="0"/>
              <a:t>两组字符的拼接</a:t>
            </a:r>
            <a:endParaRPr lang="zh-CN" altLang="en-US" sz="2800" dirty="0"/>
          </a:p>
          <a:p>
            <a:pPr lvl="1"/>
            <a:r>
              <a:rPr lang="en-US" altLang="zh-CN" sz="2800" dirty="0"/>
              <a:t>……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语言中的字符串与字符数组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华文新魏" panose="02010800040101010101" pitchFamily="2" charset="-122"/>
              </a:rPr>
              <a:t>在Ｃ语言中没有专门的字符串变量，通常用一个字符数组来存放一个字符串。</a:t>
            </a:r>
            <a:endParaRPr lang="zh-CN" altLang="en-US" dirty="0">
              <a:ea typeface="华文新魏" panose="02010800040101010101" pitchFamily="2" charset="-122"/>
            </a:endParaRPr>
          </a:p>
          <a:p>
            <a:pPr eaLnBrk="1" hangingPunct="1"/>
            <a:r>
              <a:rPr lang="zh-CN" altLang="en-US" dirty="0">
                <a:ea typeface="华文新魏" panose="02010800040101010101" pitchFamily="2" charset="-122"/>
              </a:rPr>
              <a:t>字符数组和字符串的区别是：字符串的末尾有一个特殊字符 </a:t>
            </a:r>
            <a:r>
              <a:rPr lang="en-US" altLang="zh-CN" dirty="0">
                <a:ea typeface="华文新魏" panose="02010800040101010101" pitchFamily="2" charset="-122"/>
              </a:rPr>
              <a:t>‘</a:t>
            </a:r>
            <a:r>
              <a:rPr lang="en-US" altLang="zh-CN" b="1" dirty="0">
                <a:solidFill>
                  <a:srgbClr val="FF0000"/>
                </a:solidFill>
                <a:ea typeface="华文新魏" panose="02010800040101010101" pitchFamily="2" charset="-122"/>
              </a:rPr>
              <a:t>\0</a:t>
            </a:r>
            <a:r>
              <a:rPr lang="en-US" altLang="zh-CN" dirty="0">
                <a:ea typeface="华文新魏" panose="02010800040101010101" pitchFamily="2" charset="-122"/>
              </a:rPr>
              <a:t>’</a:t>
            </a:r>
            <a:r>
              <a:rPr lang="zh-CN" altLang="en-US" dirty="0">
                <a:ea typeface="华文新魏" panose="02010800040101010101" pitchFamily="2" charset="-122"/>
              </a:rPr>
              <a:t>，这个特殊字符帮助界定字符串的结束 </a:t>
            </a:r>
            <a:endParaRPr lang="zh-CN" altLang="en-US" dirty="0">
              <a:ea typeface="华文新魏" panose="020108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826816" y="3299461"/>
            <a:ext cx="6937963" cy="235458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85340" y="3464441"/>
            <a:ext cx="92377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字符数组，不能作为字符串用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打印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'g'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n'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'g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   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    //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字符串，能用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打印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'g'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n'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'g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\0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     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6660942" y="4841052"/>
            <a:ext cx="670560" cy="48111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9407" y="5933850"/>
            <a:ext cx="1722154" cy="861077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370097" y="6069167"/>
            <a:ext cx="1516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输出结果：</a:t>
            </a:r>
            <a:endParaRPr lang="zh-CN" altLang="en-US" sz="2400" b="1" dirty="0"/>
          </a:p>
        </p:txBody>
      </p:sp>
      <p:sp>
        <p:nvSpPr>
          <p:cNvPr id="21" name="文本框 20"/>
          <p:cNvSpPr txBox="1"/>
          <p:nvPr/>
        </p:nvSpPr>
        <p:spPr>
          <a:xfrm>
            <a:off x="5756598" y="5884500"/>
            <a:ext cx="31498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思考：为什么一定需要字符串结束符‘</a:t>
            </a:r>
            <a:r>
              <a:rPr lang="en-US" altLang="zh-CN" sz="2400" b="1" dirty="0"/>
              <a:t>\0</a:t>
            </a:r>
            <a:r>
              <a:rPr lang="zh-CN" altLang="en-US" sz="2400" b="1" dirty="0"/>
              <a:t>’</a:t>
            </a:r>
            <a:r>
              <a:rPr lang="en-US" altLang="zh-CN" sz="2400" b="1" dirty="0"/>
              <a:t>?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字符串以结束标志 ‘</a:t>
            </a:r>
            <a:r>
              <a:rPr lang="en-US" altLang="zh-CN" sz="2800" dirty="0">
                <a:solidFill>
                  <a:srgbClr val="FF0000"/>
                </a:solidFill>
              </a:rPr>
              <a:t>\0</a:t>
            </a:r>
            <a:r>
              <a:rPr lang="zh-CN" altLang="en-US" sz="2800" dirty="0">
                <a:solidFill>
                  <a:srgbClr val="FF0000"/>
                </a:solidFill>
              </a:rPr>
              <a:t>’为结尾，否则无法正常使用字符串相关功能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en-US" sz="2800" dirty="0"/>
              <a:t>字符数组长度应该设置为最大字符个数</a:t>
            </a:r>
            <a:r>
              <a:rPr lang="en-US" altLang="zh-CN" sz="2800" dirty="0"/>
              <a:t>+1</a:t>
            </a:r>
            <a:r>
              <a:rPr lang="zh-CN" altLang="en-US" sz="2800" dirty="0"/>
              <a:t>，最后一定要多一个位置用来存放字符串结束符！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dirty="0"/>
              <a:t>char s1[5] = {'A','B','C','D','\0'};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char s2[4] = {'A','B','C','D'};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‘</a:t>
            </a:r>
            <a:r>
              <a:rPr lang="en-US" altLang="zh-CN" dirty="0">
                <a:solidFill>
                  <a:srgbClr val="FF0000"/>
                </a:solidFill>
              </a:rPr>
              <a:t>\0</a:t>
            </a:r>
            <a:r>
              <a:rPr lang="zh-CN" altLang="en-US" dirty="0">
                <a:solidFill>
                  <a:srgbClr val="FF0000"/>
                </a:solidFill>
              </a:rPr>
              <a:t>’的</a:t>
            </a:r>
            <a:r>
              <a:rPr lang="en-US" altLang="zh-CN" dirty="0">
                <a:solidFill>
                  <a:srgbClr val="FF0000"/>
                </a:solidFill>
              </a:rPr>
              <a:t>ASCII</a:t>
            </a:r>
            <a:r>
              <a:rPr lang="zh-CN" altLang="en-US" dirty="0">
                <a:solidFill>
                  <a:srgbClr val="FF0000"/>
                </a:solidFill>
              </a:rPr>
              <a:t>值为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sz="1800" dirty="0"/>
          </a:p>
          <a:p>
            <a:endParaRPr lang="zh-CN" altLang="en-US" sz="1800" dirty="0"/>
          </a:p>
        </p:txBody>
      </p:sp>
      <p:sp>
        <p:nvSpPr>
          <p:cNvPr id="15" name="矩形 14"/>
          <p:cNvSpPr/>
          <p:nvPr/>
        </p:nvSpPr>
        <p:spPr>
          <a:xfrm>
            <a:off x="5487629" y="3573780"/>
            <a:ext cx="458420" cy="441871"/>
          </a:xfrm>
          <a:prstGeom prst="rect">
            <a:avLst/>
          </a:prstGeom>
          <a:solidFill>
            <a:srgbClr val="1CADE4">
              <a:lumMod val="40000"/>
              <a:lumOff val="60000"/>
            </a:srgbClr>
          </a:solidFill>
          <a:ln w="15875" cap="flat" cmpd="sng" algn="ctr">
            <a:solidFill>
              <a:srgbClr val="1CADE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华文仿宋" panose="02010600040101010101" pitchFamily="2" charset="-122"/>
                <a:cs typeface="+mn-cs"/>
              </a:rPr>
              <a:t>A</a:t>
            </a: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946049" y="3573780"/>
            <a:ext cx="458420" cy="441871"/>
          </a:xfrm>
          <a:prstGeom prst="rect">
            <a:avLst/>
          </a:prstGeom>
          <a:solidFill>
            <a:srgbClr val="1CADE4">
              <a:lumMod val="40000"/>
              <a:lumOff val="60000"/>
            </a:srgbClr>
          </a:solidFill>
          <a:ln w="15875" cap="flat" cmpd="sng" algn="ctr">
            <a:solidFill>
              <a:srgbClr val="1CADE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华文仿宋" panose="02010600040101010101" pitchFamily="2" charset="-122"/>
                <a:cs typeface="+mn-cs"/>
              </a:rPr>
              <a:t>B</a:t>
            </a: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404469" y="3573780"/>
            <a:ext cx="458420" cy="441871"/>
          </a:xfrm>
          <a:prstGeom prst="rect">
            <a:avLst/>
          </a:prstGeom>
          <a:solidFill>
            <a:srgbClr val="1CADE4">
              <a:lumMod val="40000"/>
              <a:lumOff val="60000"/>
            </a:srgbClr>
          </a:solidFill>
          <a:ln w="15875" cap="flat" cmpd="sng" algn="ctr">
            <a:solidFill>
              <a:srgbClr val="1CADE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华文仿宋" panose="02010600040101010101" pitchFamily="2" charset="-122"/>
                <a:cs typeface="+mn-cs"/>
              </a:rPr>
              <a:t>C</a:t>
            </a: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862889" y="3573780"/>
            <a:ext cx="458420" cy="441871"/>
          </a:xfrm>
          <a:prstGeom prst="rect">
            <a:avLst/>
          </a:prstGeom>
          <a:solidFill>
            <a:srgbClr val="1CADE4">
              <a:lumMod val="40000"/>
              <a:lumOff val="60000"/>
            </a:srgbClr>
          </a:solidFill>
          <a:ln w="15875" cap="flat" cmpd="sng" algn="ctr">
            <a:solidFill>
              <a:srgbClr val="1CADE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华文仿宋" panose="02010600040101010101" pitchFamily="2" charset="-122"/>
                <a:cs typeface="+mn-cs"/>
              </a:rPr>
              <a:t>D</a:t>
            </a: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321308" y="3573780"/>
            <a:ext cx="541191" cy="441871"/>
          </a:xfrm>
          <a:prstGeom prst="rect">
            <a:avLst/>
          </a:prstGeom>
          <a:solidFill>
            <a:srgbClr val="1CADE4">
              <a:lumMod val="40000"/>
              <a:lumOff val="60000"/>
            </a:srgbClr>
          </a:solidFill>
          <a:ln w="15875" cap="flat" cmpd="sng" algn="ctr">
            <a:solidFill>
              <a:srgbClr val="1CADE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华文仿宋" panose="02010600040101010101" pitchFamily="2" charset="-122"/>
                <a:cs typeface="+mn-cs"/>
              </a:rPr>
              <a:t>\0</a:t>
            </a: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487628" y="4537119"/>
            <a:ext cx="541191" cy="441871"/>
          </a:xfrm>
          <a:prstGeom prst="rect">
            <a:avLst/>
          </a:prstGeom>
          <a:solidFill>
            <a:srgbClr val="1CADE4">
              <a:lumMod val="40000"/>
              <a:lumOff val="60000"/>
            </a:srgbClr>
          </a:solidFill>
          <a:ln w="15875" cap="flat" cmpd="sng" algn="ctr">
            <a:solidFill>
              <a:srgbClr val="1CADE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华文仿宋" panose="02010600040101010101" pitchFamily="2" charset="-122"/>
                <a:cs typeface="+mn-cs"/>
              </a:rPr>
              <a:t>A</a:t>
            </a: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946048" y="4537119"/>
            <a:ext cx="541191" cy="441871"/>
          </a:xfrm>
          <a:prstGeom prst="rect">
            <a:avLst/>
          </a:prstGeom>
          <a:solidFill>
            <a:srgbClr val="1CADE4">
              <a:lumMod val="40000"/>
              <a:lumOff val="60000"/>
            </a:srgbClr>
          </a:solidFill>
          <a:ln w="15875" cap="flat" cmpd="sng" algn="ctr">
            <a:solidFill>
              <a:srgbClr val="1CADE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华文仿宋" panose="02010600040101010101" pitchFamily="2" charset="-122"/>
                <a:cs typeface="+mn-cs"/>
              </a:rPr>
              <a:t>B</a:t>
            </a: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404468" y="4537119"/>
            <a:ext cx="541191" cy="441871"/>
          </a:xfrm>
          <a:prstGeom prst="rect">
            <a:avLst/>
          </a:prstGeom>
          <a:solidFill>
            <a:srgbClr val="1CADE4">
              <a:lumMod val="40000"/>
              <a:lumOff val="60000"/>
            </a:srgbClr>
          </a:solidFill>
          <a:ln w="15875" cap="flat" cmpd="sng" algn="ctr">
            <a:solidFill>
              <a:srgbClr val="1CADE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华文仿宋" panose="02010600040101010101" pitchFamily="2" charset="-122"/>
                <a:cs typeface="+mn-cs"/>
              </a:rPr>
              <a:t>C</a:t>
            </a: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862888" y="4537119"/>
            <a:ext cx="541191" cy="441871"/>
          </a:xfrm>
          <a:prstGeom prst="rect">
            <a:avLst/>
          </a:prstGeom>
          <a:solidFill>
            <a:srgbClr val="1CADE4">
              <a:lumMod val="40000"/>
              <a:lumOff val="60000"/>
            </a:srgbClr>
          </a:solidFill>
          <a:ln w="15875" cap="flat" cmpd="sng" algn="ctr">
            <a:solidFill>
              <a:srgbClr val="1CADE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华文仿宋" panose="02010600040101010101" pitchFamily="2" charset="-122"/>
                <a:cs typeface="+mn-cs"/>
              </a:rPr>
              <a:t>D</a:t>
            </a: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1068849" y="5626038"/>
            <a:ext cx="541191" cy="441871"/>
          </a:xfrm>
          <a:prstGeom prst="rect">
            <a:avLst/>
          </a:prstGeom>
          <a:solidFill>
            <a:srgbClr val="1CADE4">
              <a:lumMod val="40000"/>
              <a:lumOff val="60000"/>
            </a:srgbClr>
          </a:solidFill>
          <a:ln w="15875" cap="flat" cmpd="sng" algn="ctr">
            <a:solidFill>
              <a:srgbClr val="1CADE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华文仿宋" panose="02010600040101010101" pitchFamily="2" charset="-122"/>
                <a:cs typeface="+mn-cs"/>
              </a:rPr>
              <a:t>E</a:t>
            </a: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25" name="对话气泡: 圆角矩形 24"/>
          <p:cNvSpPr/>
          <p:nvPr/>
        </p:nvSpPr>
        <p:spPr>
          <a:xfrm>
            <a:off x="5574909" y="5742771"/>
            <a:ext cx="3117147" cy="745333"/>
          </a:xfrm>
          <a:prstGeom prst="wedgeRoundRectCallout">
            <a:avLst>
              <a:gd name="adj1" fmla="val -17842"/>
              <a:gd name="adj2" fmla="val -140342"/>
              <a:gd name="adj3" fmla="val 16667"/>
            </a:avLst>
          </a:prstGeom>
          <a:solidFill>
            <a:srgbClr val="1CADE4"/>
          </a:solidFill>
          <a:ln w="15875" cap="flat" cmpd="sng" algn="ctr">
            <a:solidFill>
              <a:srgbClr val="1CADE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" panose="020B0602020104020603"/>
                <a:ea typeface="华文仿宋" panose="02010600040101010101" pitchFamily="2" charset="-122"/>
                <a:cs typeface="+mn-cs"/>
              </a:rPr>
              <a:t>危！没有结束符！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31929" y="5581277"/>
            <a:ext cx="5810250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lr>
                <a:schemeClr val="accent4"/>
              </a:buClr>
            </a:pPr>
            <a:r>
              <a:rPr lang="zh-CN" altLang="en-US" sz="2400" dirty="0">
                <a:latin typeface="+mj-ea"/>
                <a:ea typeface="+mj-ea"/>
              </a:rPr>
              <a:t>思考：下面这样初始化可以吗？</a:t>
            </a:r>
            <a:endParaRPr lang="en-US" altLang="zh-CN" sz="2400" dirty="0">
              <a:latin typeface="+mj-ea"/>
              <a:ea typeface="+mj-ea"/>
            </a:endParaRPr>
          </a:p>
          <a:p>
            <a:pPr>
              <a:spcBef>
                <a:spcPts val="1000"/>
              </a:spcBef>
              <a:buClr>
                <a:schemeClr val="accent4"/>
              </a:buClr>
            </a:pPr>
            <a:r>
              <a:rPr lang="en-US" altLang="zh-CN" sz="2400" dirty="0">
                <a:latin typeface="+mj-ea"/>
                <a:ea typeface="+mj-ea"/>
              </a:rPr>
              <a:t>char s3[5] = {'A','B','C'</a:t>
            </a:r>
            <a:r>
              <a:rPr lang="en-US" altLang="zh-CN" sz="2400" dirty="0"/>
              <a:t>,</a:t>
            </a:r>
            <a:r>
              <a:rPr lang="en-US" altLang="zh-CN" sz="2400" dirty="0">
                <a:latin typeface="+mj-ea"/>
                <a:ea typeface="+mj-ea"/>
              </a:rPr>
              <a:t>'D</a:t>
            </a:r>
            <a:r>
              <a:rPr lang="en-US" altLang="zh-CN" sz="2400" dirty="0">
                <a:latin typeface="+mj-ea"/>
              </a:rPr>
              <a:t>'</a:t>
            </a:r>
            <a:r>
              <a:rPr lang="en-US" altLang="zh-CN" sz="2400" dirty="0">
                <a:latin typeface="+mj-ea"/>
                <a:ea typeface="+mj-ea"/>
              </a:rPr>
              <a:t>};</a:t>
            </a:r>
            <a:endParaRPr lang="en-US" altLang="zh-CN" sz="2400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字符数组长度应该设置为最大字符个数</a:t>
            </a:r>
            <a:r>
              <a:rPr lang="en-US" altLang="zh-CN" sz="2800" dirty="0">
                <a:solidFill>
                  <a:srgbClr val="FF0000"/>
                </a:solidFill>
              </a:rPr>
              <a:t>+1</a:t>
            </a:r>
            <a:r>
              <a:rPr lang="zh-CN" altLang="en-US" sz="2800" dirty="0">
                <a:solidFill>
                  <a:srgbClr val="FF0000"/>
                </a:solidFill>
              </a:rPr>
              <a:t>，最后一定要多一个位置用来存放字符串结束符！</a:t>
            </a:r>
            <a:r>
              <a:rPr lang="zh-CN" altLang="en-US" sz="2800" dirty="0"/>
              <a:t>否则无法正常使用字符串相关功能</a:t>
            </a:r>
            <a:endParaRPr lang="en-US" altLang="zh-CN" sz="2800" dirty="0"/>
          </a:p>
          <a:p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  <a:p>
            <a:endParaRPr lang="zh-CN" altLang="en-US" sz="1800" dirty="0"/>
          </a:p>
        </p:txBody>
      </p:sp>
      <p:sp>
        <p:nvSpPr>
          <p:cNvPr id="24" name="矩形 23"/>
          <p:cNvSpPr/>
          <p:nvPr/>
        </p:nvSpPr>
        <p:spPr>
          <a:xfrm>
            <a:off x="11068849" y="5626038"/>
            <a:ext cx="541191" cy="441871"/>
          </a:xfrm>
          <a:prstGeom prst="rect">
            <a:avLst/>
          </a:prstGeom>
          <a:solidFill>
            <a:srgbClr val="1CADE4">
              <a:lumMod val="40000"/>
              <a:lumOff val="60000"/>
            </a:srgbClr>
          </a:solidFill>
          <a:ln w="15875" cap="flat" cmpd="sng" algn="ctr">
            <a:solidFill>
              <a:srgbClr val="1CADE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华文仿宋" panose="02010600040101010101" pitchFamily="2" charset="-122"/>
                <a:cs typeface="+mn-cs"/>
              </a:rPr>
              <a:t>E</a:t>
            </a: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39257" y="3299461"/>
            <a:ext cx="5535884" cy="32047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59708" y="3332163"/>
            <a:ext cx="58102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\0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s3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"s1: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"s2: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"s3: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s3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41892" y="332676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输出什么结果？</a:t>
            </a:r>
            <a:endParaRPr lang="zh-CN" altLang="en-US" sz="28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499" y="4174499"/>
            <a:ext cx="2094793" cy="9982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字符串常量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华文新魏" panose="02010800040101010101" pitchFamily="2" charset="-122"/>
              </a:rPr>
              <a:t>字符串常量是双引号括起的任意字符序列</a:t>
            </a:r>
            <a:endParaRPr lang="zh-CN" altLang="en-US" dirty="0">
              <a:ea typeface="华文新魏" panose="02010800040101010101" pitchFamily="2" charset="-122"/>
            </a:endParaRPr>
          </a:p>
          <a:p>
            <a:endParaRPr lang="zh-CN" altLang="en-US" dirty="0"/>
          </a:p>
        </p:txBody>
      </p:sp>
      <p:graphicFrame>
        <p:nvGraphicFramePr>
          <p:cNvPr id="6" name="内容占位符 27651"/>
          <p:cNvGraphicFramePr/>
          <p:nvPr/>
        </p:nvGraphicFramePr>
        <p:xfrm>
          <a:off x="546514" y="4814956"/>
          <a:ext cx="7772400" cy="720725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  <a:gridCol w="647700"/>
                <a:gridCol w="646113"/>
                <a:gridCol w="650875"/>
                <a:gridCol w="647700"/>
                <a:gridCol w="646112"/>
                <a:gridCol w="647700"/>
                <a:gridCol w="649288"/>
                <a:gridCol w="646112"/>
                <a:gridCol w="647700"/>
              </a:tblGrid>
              <a:tr h="720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\0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52989" y="2197169"/>
            <a:ext cx="5761038" cy="206210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200" b="1" dirty="0">
                <a:ea typeface="楷体_GB2312" panose="02010609030101010101" pitchFamily="49" charset="-122"/>
              </a:rPr>
              <a:t>"Hello World"</a:t>
            </a:r>
            <a:endParaRPr lang="en-US" altLang="zh-CN" sz="3200" b="1" dirty="0"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200" b="1" dirty="0">
                <a:ea typeface="楷体_GB2312" panose="02010609030101010101" pitchFamily="49" charset="-122"/>
              </a:rPr>
              <a:t>"</a:t>
            </a:r>
            <a:r>
              <a:rPr lang="en-US" altLang="zh-CN" sz="3200" b="1" dirty="0" err="1">
                <a:ea typeface="楷体_GB2312" panose="02010609030101010101" pitchFamily="49" charset="-122"/>
              </a:rPr>
              <a:t>WangPing</a:t>
            </a:r>
            <a:r>
              <a:rPr lang="en-US" altLang="zh-CN" sz="3200" b="1" dirty="0">
                <a:ea typeface="楷体_GB2312" panose="02010609030101010101" pitchFamily="49" charset="-122"/>
              </a:rPr>
              <a:t>"</a:t>
            </a:r>
            <a:endParaRPr lang="en-US" altLang="zh-CN" sz="3200" b="1" dirty="0"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200" b="1" dirty="0">
                <a:ea typeface="楷体_GB2312" panose="02010609030101010101" pitchFamily="49" charset="-122"/>
              </a:rPr>
              <a:t>"Please enter your full name:" </a:t>
            </a:r>
            <a:endParaRPr lang="en-US" altLang="zh-CN" sz="3200" b="1" dirty="0">
              <a:ea typeface="楷体_GB2312" panose="02010609030101010101" pitchFamily="49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3200" b="1" dirty="0">
                <a:ea typeface="楷体_GB2312" panose="02010609030101010101" pitchFamily="49" charset="-122"/>
              </a:rPr>
              <a:t>"Hello!\n"</a:t>
            </a:r>
            <a:endParaRPr lang="en-US" altLang="zh-CN" sz="3200" b="1" dirty="0">
              <a:ea typeface="楷体_GB2312" panose="02010609030101010101" pitchFamily="49" charset="-122"/>
            </a:endParaRPr>
          </a:p>
        </p:txBody>
      </p:sp>
      <p:sp>
        <p:nvSpPr>
          <p:cNvPr id="11" name="Oval 38"/>
          <p:cNvSpPr>
            <a:spLocks noChangeArrowheads="1"/>
          </p:cNvSpPr>
          <p:nvPr/>
        </p:nvSpPr>
        <p:spPr bwMode="auto">
          <a:xfrm>
            <a:off x="7752177" y="4835594"/>
            <a:ext cx="431800" cy="700087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2" name="Text Box 39"/>
          <p:cNvSpPr txBox="1">
            <a:spLocks noChangeArrowheads="1"/>
          </p:cNvSpPr>
          <p:nvPr/>
        </p:nvSpPr>
        <p:spPr bwMode="auto">
          <a:xfrm>
            <a:off x="6051125" y="5830223"/>
            <a:ext cx="2945037" cy="830997"/>
          </a:xfrm>
          <a:prstGeom prst="rect">
            <a:avLst/>
          </a:prstGeom>
          <a:solidFill>
            <a:srgbClr val="C4ECF6"/>
          </a:solidFill>
          <a:ln w="9525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ctr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\0: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字符串结束符</a:t>
            </a:r>
            <a:endParaRPr lang="en-US" altLang="zh-CN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ASCII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码值为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的字符</a:t>
            </a:r>
            <a:endParaRPr lang="zh-CN" altLang="en-US" sz="24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AutoShape 43"/>
          <p:cNvSpPr/>
          <p:nvPr/>
        </p:nvSpPr>
        <p:spPr>
          <a:xfrm rot="-5400000">
            <a:off x="3928683" y="2436088"/>
            <a:ext cx="407987" cy="6604000"/>
          </a:xfrm>
          <a:prstGeom prst="leftBrace">
            <a:avLst>
              <a:gd name="adj1" fmla="val 119220"/>
              <a:gd name="adj2" fmla="val 34143"/>
            </a:avLst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vert="eaVert" wrap="none" lIns="92075" tIns="46038" rIns="92075" bIns="46038" anchor="ctr"/>
          <a:lstStyle/>
          <a:p>
            <a:pPr algn="ctr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defRPr/>
            </a:pPr>
            <a:endParaRPr lang="zh-CN" altLang="en-US" noProof="1">
              <a:solidFill>
                <a:schemeClr val="bg2"/>
              </a:solidFill>
            </a:endParaRPr>
          </a:p>
        </p:txBody>
      </p:sp>
      <p:sp>
        <p:nvSpPr>
          <p:cNvPr id="14" name="Rectangle 44"/>
          <p:cNvSpPr>
            <a:spLocks noChangeArrowheads="1"/>
          </p:cNvSpPr>
          <p:nvPr/>
        </p:nvSpPr>
        <p:spPr bwMode="auto">
          <a:xfrm>
            <a:off x="0" y="5906303"/>
            <a:ext cx="6400800" cy="762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0488" tIns="44450" rIns="90488" bIns="44450"/>
          <a:lstStyle/>
          <a:p>
            <a:pPr marL="342900" indent="-342900" algn="ctr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字符串的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有效长度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342900" indent="-342900" algn="ctr" eaLnBrk="1" hangingPunct="1"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有效字符的个数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14854" y="2228671"/>
            <a:ext cx="6506108" cy="13493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字符串常量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华文新魏" panose="02010800040101010101" pitchFamily="2" charset="-122"/>
              </a:rPr>
              <a:t>字符串常量是双引号括起的任意字符序列</a:t>
            </a:r>
            <a:endParaRPr lang="zh-CN" altLang="en-US" dirty="0">
              <a:ea typeface="华文新魏" panose="020108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432000" y="2228671"/>
            <a:ext cx="47250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World"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H'</a:t>
            </a:r>
            <a:r>
              <a:rPr lang="en-US" altLang="zh-CN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altLang="zh-CN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en-US" altLang="zh-CN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en-US" altLang="zh-CN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W'</a:t>
            </a:r>
            <a:r>
              <a:rPr lang="en-US" altLang="zh-CN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'o'</a:t>
            </a:r>
            <a:r>
              <a:rPr lang="en-US" altLang="zh-CN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'r'</a:t>
            </a:r>
            <a:r>
              <a:rPr lang="en-US" altLang="zh-CN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en-US" altLang="zh-CN" sz="1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sz="1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\0</a:t>
            </a:r>
            <a:r>
              <a:rPr lang="en-US" altLang="zh-C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’</a:t>
            </a:r>
            <a:r>
              <a:rPr lang="en-US" altLang="zh-CN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14854" y="3739923"/>
            <a:ext cx="6506108" cy="13493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32000" y="3952936"/>
            <a:ext cx="828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"Hello!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H'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'l'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'!'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\0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451094" y="4634125"/>
            <a:ext cx="22666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两种初始化方式等价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5609382" y="4468998"/>
            <a:ext cx="670560" cy="49717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/>
          <p:cNvSpPr/>
          <p:nvPr/>
        </p:nvSpPr>
        <p:spPr>
          <a:xfrm>
            <a:off x="3216702" y="3037791"/>
            <a:ext cx="670560" cy="48111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291634" y="5302294"/>
            <a:ext cx="6529328" cy="13493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08780" y="5515307"/>
            <a:ext cx="828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CN" dirty="0" err="1">
                <a:solidFill>
                  <a:srgbClr val="CE9178"/>
                </a:solidFill>
                <a:latin typeface="Consolas" panose="020B0609020204030204" pitchFamily="49" charset="0"/>
              </a:rPr>
              <a:t>WangPing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'W','a','n','g','P','</a:t>
            </a:r>
            <a:r>
              <a:rPr lang="en-US" altLang="zh-CN" dirty="0" err="1">
                <a:solidFill>
                  <a:srgbClr val="CE9178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','</a:t>
            </a:r>
            <a:r>
              <a:rPr lang="en-US" altLang="zh-CN" dirty="0" err="1">
                <a:solidFill>
                  <a:srgbClr val="CE9178"/>
                </a:solidFill>
                <a:latin typeface="Consolas" panose="020B0609020204030204" pitchFamily="49" charset="0"/>
              </a:rPr>
              <a:t>n','g</a:t>
            </a:r>
            <a:r>
              <a:rPr lang="en-US" altLang="zh-CN" dirty="0">
                <a:solidFill>
                  <a:srgbClr val="CE9178"/>
                </a:solidFill>
                <a:latin typeface="Consolas" panose="020B0609020204030204" pitchFamily="49" charset="0"/>
              </a:rPr>
              <a:t>','</a:t>
            </a:r>
            <a:r>
              <a:rPr lang="en-US" altLang="zh-CN" dirty="0">
                <a:solidFill>
                  <a:srgbClr val="D7BA7D"/>
                </a:solidFill>
                <a:latin typeface="Consolas" panose="020B0609020204030204" pitchFamily="49" charset="0"/>
              </a:rPr>
              <a:t>\0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184635" y="5404060"/>
            <a:ext cx="22666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两种方式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等价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6830004" y="5535979"/>
            <a:ext cx="709263" cy="19380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6862570" y="5944251"/>
            <a:ext cx="690696" cy="2915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矩形: 圆角 30"/>
          <p:cNvSpPr/>
          <p:nvPr/>
        </p:nvSpPr>
        <p:spPr>
          <a:xfrm>
            <a:off x="5996959" y="6010401"/>
            <a:ext cx="542063" cy="49717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7184679" y="3872466"/>
            <a:ext cx="22666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两种方式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等价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6830048" y="4004385"/>
            <a:ext cx="709263" cy="19380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V="1">
            <a:off x="6862614" y="4412657"/>
            <a:ext cx="690696" cy="2915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7184635" y="2291686"/>
            <a:ext cx="22666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两种方式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等价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6830004" y="2423605"/>
            <a:ext cx="709263" cy="193800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6862570" y="2831877"/>
            <a:ext cx="690696" cy="291535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3656681" y="2192836"/>
            <a:ext cx="3551237" cy="427038"/>
          </a:xfrm>
          <a:prstGeom prst="rect">
            <a:avLst/>
          </a:prstGeom>
          <a:solidFill>
            <a:srgbClr val="C4ECF6"/>
          </a:solidFill>
          <a:ln w="12700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Courier New" panose="02070309020205020404" pitchFamily="49" charset="0"/>
              </a:rPr>
              <a:t>系统将自动加入一个空字符</a:t>
            </a:r>
            <a:endParaRPr lang="zh-CN" altLang="en-US" sz="2200" b="1" dirty="0">
              <a:latin typeface="Courier New" panose="02070309020205020404" pitchFamily="49" charset="0"/>
            </a:endParaRPr>
          </a:p>
        </p:txBody>
      </p:sp>
      <p:sp>
        <p:nvSpPr>
          <p:cNvPr id="39" name="Text Box 8"/>
          <p:cNvSpPr txBox="1">
            <a:spLocks noChangeArrowheads="1"/>
          </p:cNvSpPr>
          <p:nvPr/>
        </p:nvSpPr>
        <p:spPr bwMode="auto">
          <a:xfrm>
            <a:off x="3662231" y="3877513"/>
            <a:ext cx="3551237" cy="427038"/>
          </a:xfrm>
          <a:prstGeom prst="rect">
            <a:avLst/>
          </a:prstGeom>
          <a:solidFill>
            <a:srgbClr val="C4ECF6"/>
          </a:solidFill>
          <a:ln w="12700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Courier New" panose="02070309020205020404" pitchFamily="49" charset="0"/>
              </a:rPr>
              <a:t>系统将自动加入一个空字符</a:t>
            </a:r>
            <a:endParaRPr lang="zh-CN" altLang="en-US" sz="2200" b="1" dirty="0">
              <a:latin typeface="Courier New" panose="02070309020205020404" pitchFamily="49" charset="0"/>
            </a:endParaRPr>
          </a:p>
        </p:txBody>
      </p:sp>
      <p:sp>
        <p:nvSpPr>
          <p:cNvPr id="40" name="Text Box 8"/>
          <p:cNvSpPr txBox="1">
            <a:spLocks noChangeArrowheads="1"/>
          </p:cNvSpPr>
          <p:nvPr/>
        </p:nvSpPr>
        <p:spPr bwMode="auto">
          <a:xfrm>
            <a:off x="3610178" y="5439283"/>
            <a:ext cx="3551237" cy="427038"/>
          </a:xfrm>
          <a:prstGeom prst="rect">
            <a:avLst/>
          </a:prstGeom>
          <a:solidFill>
            <a:srgbClr val="C4ECF6"/>
          </a:solidFill>
          <a:ln w="12700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 wrap="non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Courier New" panose="02070309020205020404" pitchFamily="49" charset="0"/>
              </a:rPr>
              <a:t>系统将自动加入一个空字符</a:t>
            </a:r>
            <a:endParaRPr lang="zh-CN" altLang="en-US" sz="2200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31" grpId="0" animBg="1"/>
      <p:bldP spid="38" grpId="0" animBg="1"/>
      <p:bldP spid="39" grpId="0" animBg="1"/>
      <p:bldP spid="4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字符串常量</a:t>
            </a:r>
            <a:endParaRPr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11068849" y="5626038"/>
            <a:ext cx="541191" cy="441871"/>
          </a:xfrm>
          <a:prstGeom prst="rect">
            <a:avLst/>
          </a:prstGeom>
          <a:solidFill>
            <a:srgbClr val="1CADE4">
              <a:lumMod val="40000"/>
              <a:lumOff val="60000"/>
            </a:srgbClr>
          </a:solidFill>
          <a:ln w="15875" cap="flat" cmpd="sng" algn="ctr">
            <a:solidFill>
              <a:srgbClr val="1CADE4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/>
                <a:ea typeface="华文仿宋" panose="02010600040101010101" pitchFamily="2" charset="-122"/>
                <a:cs typeface="+mn-cs"/>
              </a:rPr>
              <a:t>E</a:t>
            </a:r>
            <a:endParaRPr kumimoji="0" lang="zh-CN" altLang="en-US" sz="2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华文仿宋" panose="02010600040101010101" pitchFamily="2" charset="-122"/>
              <a:cs typeface="+mn-cs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290420" y="1666890"/>
            <a:ext cx="6563160" cy="32047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1495267" y="1732295"/>
            <a:ext cx="802553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\0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'D'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s3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"ABCD"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s3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s3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45985" y="573519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输出什么结果？</a:t>
            </a:r>
            <a:endParaRPr lang="zh-CN" altLang="en-US" sz="28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9107" y="5272261"/>
            <a:ext cx="2348908" cy="12521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7205972" cy="1655763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字符串输入输出</a:t>
            </a:r>
            <a:br>
              <a:rPr lang="en-US" altLang="zh-CN" dirty="0">
                <a:solidFill>
                  <a:schemeClr val="tx1"/>
                </a:solidFill>
              </a:rPr>
            </a:br>
            <a:r>
              <a:rPr lang="zh-CN" altLang="en-US" dirty="0">
                <a:solidFill>
                  <a:schemeClr val="tx1"/>
                </a:solidFill>
              </a:rPr>
              <a:t>（复习）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scanf</a:t>
            </a:r>
            <a:r>
              <a:rPr lang="en-US" altLang="zh-CN" dirty="0"/>
              <a:t>/</a:t>
            </a:r>
            <a:r>
              <a:rPr lang="en-US" altLang="zh-CN" dirty="0" err="1"/>
              <a:t>cin</a:t>
            </a:r>
            <a:r>
              <a:rPr lang="zh-CN" altLang="en-US" dirty="0"/>
              <a:t>的用法回顾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9292" y="1615735"/>
            <a:ext cx="8152707" cy="5029993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目的：从字符转成需要的数据类型（如整形）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分隔符是什么？</a:t>
            </a:r>
            <a:r>
              <a:rPr lang="en-US" altLang="zh-CN" dirty="0" err="1">
                <a:solidFill>
                  <a:schemeClr val="tx1"/>
                </a:solidFill>
              </a:rPr>
              <a:t>scanf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en-US" altLang="zh-CN" dirty="0" err="1">
                <a:solidFill>
                  <a:schemeClr val="tx1"/>
                </a:solidFill>
              </a:rPr>
              <a:t>cin</a:t>
            </a:r>
            <a:r>
              <a:rPr lang="zh-CN" altLang="en-US" dirty="0">
                <a:solidFill>
                  <a:schemeClr val="tx1"/>
                </a:solidFill>
              </a:rPr>
              <a:t>支持什么分隔符？回车和其他分隔符的区别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 err="1">
                <a:solidFill>
                  <a:schemeClr val="tx1"/>
                </a:solidFill>
              </a:rPr>
              <a:t>scanf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en-US" altLang="zh-CN" dirty="0" err="1">
                <a:solidFill>
                  <a:schemeClr val="tx1"/>
                </a:solidFill>
              </a:rPr>
              <a:t>cin</a:t>
            </a:r>
            <a:r>
              <a:rPr lang="zh-CN" altLang="en-US" dirty="0">
                <a:solidFill>
                  <a:schemeClr val="tx1"/>
                </a:solidFill>
              </a:rPr>
              <a:t>默认的分隔符：</a:t>
            </a:r>
            <a:r>
              <a:rPr lang="zh-CN" altLang="en-US" sz="2400" dirty="0">
                <a:solidFill>
                  <a:srgbClr val="FF0000"/>
                </a:solidFill>
              </a:rPr>
              <a:t>空格、缩进、换行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不是只有回车是分隔符！回车比一般分隔符多一个功能；判断是继续等待输入，还是要中止输入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其他分隔符（自定义）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其他字符：逗号，</a:t>
            </a:r>
            <a:r>
              <a:rPr lang="en-US" altLang="zh-CN" dirty="0" err="1">
                <a:solidFill>
                  <a:schemeClr val="tx1"/>
                </a:solidFill>
              </a:rPr>
              <a:t>a+b</a:t>
            </a:r>
            <a:r>
              <a:rPr lang="en-US" altLang="zh-CN" dirty="0">
                <a:solidFill>
                  <a:schemeClr val="tx1"/>
                </a:solidFill>
              </a:rPr>
              <a:t>=1, a-b=3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指定宽度：</a:t>
            </a:r>
            <a:r>
              <a:rPr lang="en-US" altLang="zh-CN" dirty="0">
                <a:solidFill>
                  <a:schemeClr val="tx1"/>
                </a:solidFill>
              </a:rPr>
              <a:t>1345</a:t>
            </a:r>
            <a:r>
              <a:rPr lang="zh-CN" altLang="en-US" dirty="0">
                <a:solidFill>
                  <a:schemeClr val="tx1"/>
                </a:solidFill>
              </a:rPr>
              <a:t>分别识别为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个一位整数，如何写？</a:t>
            </a:r>
            <a:r>
              <a:rPr lang="en-US" altLang="zh-CN" dirty="0">
                <a:solidFill>
                  <a:schemeClr val="tx1"/>
                </a:solidFill>
              </a:rPr>
              <a:t>%1d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善用外部工具（搜索搜索）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字符串的输入输出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方法1：用%s整体输入输出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515674" y="2870802"/>
            <a:ext cx="309880" cy="52197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 b="1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151762" y="2471070"/>
            <a:ext cx="2879725" cy="58928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5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latin typeface="Arial" panose="020B0604020202020204" pitchFamily="34" charset="0"/>
                <a:ea typeface="楷体_GB2312" panose="02010609030101010101" pitchFamily="49" charset="-122"/>
              </a:rPr>
              <a:t>char name[10];</a:t>
            </a:r>
            <a:endParaRPr lang="en-US" altLang="zh-CN" sz="2400" b="1"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151762" y="3117182"/>
            <a:ext cx="2879725" cy="58928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5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latin typeface="Arial" panose="020B0604020202020204" pitchFamily="34" charset="0"/>
                <a:ea typeface="楷体_GB2312" panose="02010609030101010101" pitchFamily="49" charset="-122"/>
              </a:rPr>
              <a:t>scanf("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%s</a:t>
            </a:r>
            <a:r>
              <a:rPr lang="en-US" altLang="zh-CN" sz="2400" b="1">
                <a:latin typeface="Arial" panose="020B0604020202020204" pitchFamily="34" charset="0"/>
                <a:ea typeface="楷体_GB2312" panose="02010609030101010101" pitchFamily="49" charset="-122"/>
              </a:rPr>
              <a:t>", name);</a:t>
            </a:r>
            <a:endParaRPr lang="en-US" altLang="zh-CN" sz="2400" b="1"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1151762" y="3837907"/>
            <a:ext cx="2879725" cy="58928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5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latin typeface="Arial" panose="020B0604020202020204" pitchFamily="34" charset="0"/>
                <a:ea typeface="楷体_GB2312" panose="02010609030101010101" pitchFamily="49" charset="-122"/>
              </a:rPr>
              <a:t>printf("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%s</a:t>
            </a:r>
            <a:r>
              <a:rPr lang="en-US" altLang="zh-CN" sz="2400" b="1">
                <a:latin typeface="Arial" panose="020B0604020202020204" pitchFamily="34" charset="0"/>
                <a:ea typeface="楷体_GB2312" panose="02010609030101010101" pitchFamily="49" charset="-122"/>
              </a:rPr>
              <a:t>", name);</a:t>
            </a:r>
            <a:endParaRPr lang="en-US" altLang="zh-CN" sz="2400" b="1"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4515674" y="2471387"/>
            <a:ext cx="2745740" cy="14655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思考</a:t>
            </a:r>
            <a:endParaRPr lang="zh-CN" altLang="en-US" sz="2400" b="1">
              <a:solidFill>
                <a:schemeClr val="tx1"/>
              </a:solidFill>
              <a:uFillTx/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若输入：</a:t>
            </a:r>
            <a:r>
              <a:rPr lang="en-US" altLang="zh-CN" sz="24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Wang Lin</a:t>
            </a:r>
            <a:endParaRPr lang="en-US" altLang="zh-CN" sz="2400" b="1">
              <a:solidFill>
                <a:schemeClr val="tx1"/>
              </a:solidFill>
              <a:uFillTx/>
              <a:latin typeface="Times New Roman" panose="02020603050405020304" pitchFamily="18" charset="0"/>
              <a:ea typeface="华文楷体" panose="02010600040101010101" pitchFamily="2" charset="-122"/>
              <a:sym typeface="+mn-ea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输出为：？</a:t>
            </a:r>
            <a:endParaRPr lang="zh-CN" altLang="en-US" sz="2400" b="1">
              <a:solidFill>
                <a:schemeClr val="tx1"/>
              </a:solidFill>
              <a:uFillTx/>
              <a:latin typeface="Times New Roman" panose="02020603050405020304" pitchFamily="18" charset="0"/>
              <a:ea typeface="华文楷体" panose="02010600040101010101" pitchFamily="2" charset="-122"/>
              <a:sym typeface="+mn-ea"/>
            </a:endParaRPr>
          </a:p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 sz="2400" b="1">
              <a:solidFill>
                <a:schemeClr val="tx1"/>
              </a:solidFill>
              <a:uFillTx/>
              <a:latin typeface="Times New Roman" panose="02020603050405020304" pitchFamily="18" charset="0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4881434" y="4780565"/>
            <a:ext cx="309880" cy="52197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 b="1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190304" y="5107907"/>
          <a:ext cx="6532880" cy="518160"/>
        </p:xfrm>
        <a:graphic>
          <a:graphicData uri="http://schemas.openxmlformats.org/drawingml/2006/table">
            <a:tbl>
              <a:tblPr/>
              <a:tblGrid>
                <a:gridCol w="654050"/>
                <a:gridCol w="652780"/>
                <a:gridCol w="654050"/>
                <a:gridCol w="631825"/>
                <a:gridCol w="674370"/>
                <a:gridCol w="652780"/>
                <a:gridCol w="652145"/>
                <a:gridCol w="654050"/>
                <a:gridCol w="652780"/>
                <a:gridCol w="654050"/>
              </a:tblGrid>
              <a:tr h="518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\0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Text Box 45"/>
          <p:cNvSpPr txBox="1">
            <a:spLocks noChangeArrowheads="1"/>
          </p:cNvSpPr>
          <p:nvPr/>
        </p:nvSpPr>
        <p:spPr bwMode="auto">
          <a:xfrm>
            <a:off x="4515674" y="4098257"/>
            <a:ext cx="4337685" cy="6469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2075" tIns="46038" rIns="92075" bIns="46038">
            <a:spAutoFit/>
          </a:bodyPr>
          <a:lstStyle/>
          <a:p>
            <a:pPr algn="just" eaLnBrk="1" hangingPunct="1">
              <a:spcBef>
                <a:spcPct val="50000"/>
              </a:spcBef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  <a:uFillTx/>
                <a:ea typeface="华文楷体" panose="02010600040101010101" pitchFamily="2" charset="-122"/>
              </a:rPr>
              <a:t>分隔符（空格</a:t>
            </a:r>
            <a:r>
              <a:rPr lang="zh-CN" altLang="en-US" b="1" dirty="0">
                <a:solidFill>
                  <a:srgbClr val="FF0000"/>
                </a:solidFill>
                <a:ea typeface="华文楷体" panose="02010600040101010101" pitchFamily="2" charset="-122"/>
              </a:rPr>
              <a:t>、制表符、回车）</a:t>
            </a:r>
            <a:r>
              <a:rPr lang="zh-CN" altLang="en-US" b="1" dirty="0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是</a:t>
            </a:r>
            <a:r>
              <a:rPr lang="en-US" altLang="zh-CN" b="1" dirty="0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%s</a:t>
            </a:r>
            <a:r>
              <a:rPr lang="zh-CN" altLang="en-US" b="1" dirty="0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输入结束的标志</a:t>
            </a:r>
            <a:endParaRPr lang="zh-CN" altLang="en-US" b="1" dirty="0">
              <a:solidFill>
                <a:schemeClr val="tx1"/>
              </a:solidFill>
              <a:uFillTx/>
              <a:ea typeface="华文楷体" panose="02010600040101010101" pitchFamily="2" charset="-122"/>
            </a:endParaRPr>
          </a:p>
        </p:txBody>
      </p:sp>
      <p:sp>
        <p:nvSpPr>
          <p:cNvPr id="15" name="文本框 3"/>
          <p:cNvSpPr txBox="1"/>
          <p:nvPr/>
        </p:nvSpPr>
        <p:spPr>
          <a:xfrm>
            <a:off x="5729159" y="3184492"/>
            <a:ext cx="944880" cy="460375"/>
          </a:xfrm>
          <a:prstGeom prst="rect">
            <a:avLst/>
          </a:prstGeom>
          <a:solidFill>
            <a:srgbClr val="E3EEF8"/>
          </a:solidFill>
          <a:ln>
            <a:solidFill>
              <a:srgbClr val="E2EDF8"/>
            </a:solidFill>
          </a:ln>
        </p:spPr>
        <p:txBody>
          <a:bodyPr wrap="none" rtlCol="0" anchor="t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uFillTx/>
                <a:ea typeface="华文楷体" panose="02010600040101010101" pitchFamily="2" charset="-122"/>
                <a:sym typeface="+mn-ea"/>
              </a:rPr>
              <a:t>Wang</a:t>
            </a:r>
            <a:endParaRPr lang="en-US" altLang="zh-CN" sz="2400" b="1" dirty="0">
              <a:solidFill>
                <a:srgbClr val="FF0000"/>
              </a:solidFill>
              <a:uFillTx/>
              <a:ea typeface="华文楷体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type="title"/>
          </p:nvPr>
        </p:nvSpPr>
        <p:spPr/>
        <p:txBody>
          <a:bodyPr anchor="b"/>
          <a:lstStyle/>
          <a:p>
            <a:pPr eaLnBrk="1" hangingPunct="1"/>
            <a:r>
              <a:rPr lang="zh-CN" altLang="en-US" sz="3600" dirty="0">
                <a:ea typeface="黑体" panose="02010609060101010101" pitchFamily="49" charset="-122"/>
              </a:rPr>
              <a:t>方法</a:t>
            </a:r>
            <a:r>
              <a:rPr lang="en-US" altLang="zh-CN" sz="3600" dirty="0">
                <a:ea typeface="黑体" panose="02010609060101010101" pitchFamily="49" charset="-122"/>
              </a:rPr>
              <a:t>2</a:t>
            </a:r>
            <a:r>
              <a:rPr lang="zh-CN" altLang="en-US" sz="3600" dirty="0">
                <a:ea typeface="黑体" panose="02010609060101010101" pitchFamily="49" charset="-122"/>
              </a:rPr>
              <a:t>：用</a:t>
            </a:r>
            <a:r>
              <a:rPr lang="en-US" altLang="zh-CN" sz="3600" dirty="0">
                <a:ea typeface="黑体" panose="02010609060101010101" pitchFamily="49" charset="-122"/>
              </a:rPr>
              <a:t>gets</a:t>
            </a:r>
            <a:r>
              <a:rPr lang="zh-CN" altLang="en-US" sz="3600" dirty="0">
                <a:ea typeface="黑体" panose="02010609060101010101" pitchFamily="49" charset="-122"/>
              </a:rPr>
              <a:t>和</a:t>
            </a:r>
            <a:r>
              <a:rPr lang="en-US" altLang="zh-CN" sz="3600" dirty="0">
                <a:ea typeface="黑体" panose="02010609060101010101" pitchFamily="49" charset="-122"/>
              </a:rPr>
              <a:t>puts</a:t>
            </a:r>
            <a:r>
              <a:rPr lang="zh-CN" altLang="en-US" sz="3600" dirty="0">
                <a:ea typeface="黑体" panose="02010609060101010101" pitchFamily="49" charset="-122"/>
              </a:rPr>
              <a:t>函数</a:t>
            </a:r>
            <a:endParaRPr lang="zh-CN" altLang="en-US" sz="3600" dirty="0">
              <a:ea typeface="黑体" panose="02010609060101010101" pitchFamily="49" charset="-122"/>
            </a:endParaRPr>
          </a:p>
        </p:txBody>
      </p:sp>
      <p:sp>
        <p:nvSpPr>
          <p:cNvPr id="36868" name="Rectangle 4"/>
          <p:cNvSpPr>
            <a:spLocks noChangeArrowheads="1"/>
          </p:cNvSpPr>
          <p:nvPr/>
        </p:nvSpPr>
        <p:spPr bwMode="auto">
          <a:xfrm>
            <a:off x="0" y="3355975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1762125" y="1327150"/>
            <a:ext cx="2346325" cy="15716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5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楷体_GB2312" panose="02010609030101010101" pitchFamily="49" charset="-122"/>
              </a:rPr>
              <a:t>char name[10];</a:t>
            </a:r>
            <a:endParaRPr lang="en-US" altLang="zh-CN" sz="2400" b="1" dirty="0"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just" eaLnBrk="1" hangingPunct="1">
              <a:lnSpc>
                <a:spcPct val="135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gets(name);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  <a:p>
            <a:pPr algn="just" eaLnBrk="1" hangingPunct="1">
              <a:lnSpc>
                <a:spcPct val="135000"/>
              </a:lnSpc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ea typeface="楷体_GB2312" panose="02010609030101010101" pitchFamily="49" charset="-122"/>
              </a:rPr>
              <a:t>puts(name);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楷体_GB2312" panose="02010609030101010101" pitchFamily="49" charset="-122"/>
            </a:endParaRPr>
          </a:p>
        </p:txBody>
      </p:sp>
      <p:graphicFrame>
        <p:nvGraphicFramePr>
          <p:cNvPr id="31751" name="表格 31750"/>
          <p:cNvGraphicFramePr>
            <a:graphicFrameLocks noGrp="1"/>
          </p:cNvGraphicFramePr>
          <p:nvPr/>
        </p:nvGraphicFramePr>
        <p:xfrm>
          <a:off x="2426970" y="5407025"/>
          <a:ext cx="5473700" cy="518160"/>
        </p:xfrm>
        <a:graphic>
          <a:graphicData uri="http://schemas.openxmlformats.org/drawingml/2006/table">
            <a:tbl>
              <a:tblPr/>
              <a:tblGrid>
                <a:gridCol w="546100"/>
                <a:gridCol w="549275"/>
                <a:gridCol w="546100"/>
                <a:gridCol w="546100"/>
                <a:gridCol w="547688"/>
                <a:gridCol w="506412"/>
                <a:gridCol w="590550"/>
                <a:gridCol w="546100"/>
                <a:gridCol w="546100"/>
                <a:gridCol w="549275"/>
              </a:tblGrid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02" marB="455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sz="2800" b="1">
                          <a:ln>
                            <a:noFill/>
                          </a:ln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sym typeface="+mn-ea"/>
                        </a:rPr>
                        <a:t>\0</a:t>
                      </a: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777" name="Oval 33"/>
          <p:cNvSpPr>
            <a:spLocks noChangeArrowheads="1"/>
          </p:cNvSpPr>
          <p:nvPr/>
        </p:nvSpPr>
        <p:spPr bwMode="auto">
          <a:xfrm>
            <a:off x="1690688" y="1974850"/>
            <a:ext cx="2016125" cy="4318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31778" name="Text Box 34"/>
          <p:cNvSpPr txBox="1">
            <a:spLocks noChangeArrowheads="1"/>
          </p:cNvSpPr>
          <p:nvPr/>
        </p:nvSpPr>
        <p:spPr bwMode="auto">
          <a:xfrm>
            <a:off x="755650" y="3198813"/>
            <a:ext cx="3743325" cy="1106805"/>
          </a:xfrm>
          <a:prstGeom prst="rect">
            <a:avLst/>
          </a:prstGeom>
          <a:solidFill>
            <a:srgbClr val="C4ECF6"/>
          </a:solidFill>
          <a:ln w="9525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200" b="1">
                <a:latin typeface="Courier New" panose="02070309020205020404" pitchFamily="49" charset="0"/>
              </a:rPr>
              <a:t>从键盘上读入一个完整的行，存入字符数组</a:t>
            </a:r>
            <a:r>
              <a:rPr lang="en-US" altLang="zh-CN" sz="2200" b="1">
                <a:latin typeface="Arial" panose="020B0604020202020204" pitchFamily="34" charset="0"/>
              </a:rPr>
              <a:t>name</a:t>
            </a:r>
            <a:r>
              <a:rPr lang="zh-CN" altLang="en-US" sz="2200" b="1">
                <a:latin typeface="Courier New" panose="02070309020205020404" pitchFamily="49" charset="0"/>
              </a:rPr>
              <a:t>。并在最后添加字符串结束标识</a:t>
            </a:r>
            <a:r>
              <a:rPr lang="en-US" altLang="zh-CN" sz="2200" b="1">
                <a:ea typeface="楷体_GB2312" panose="02010609030101010101" pitchFamily="49" charset="-122"/>
                <a:sym typeface="+mn-ea"/>
              </a:rPr>
              <a:t>'</a:t>
            </a:r>
            <a:r>
              <a:rPr lang="en-US" altLang="zh-CN" sz="2200" b="1">
                <a:latin typeface="Courier New" panose="02070309020205020404" pitchFamily="49" charset="0"/>
              </a:rPr>
              <a:t>\0</a:t>
            </a:r>
            <a:r>
              <a:rPr lang="en-US" altLang="zh-CN" sz="2200" b="1">
                <a:ea typeface="楷体_GB2312" panose="02010609030101010101" pitchFamily="49" charset="-122"/>
                <a:sym typeface="+mn-ea"/>
              </a:rPr>
              <a:t>'</a:t>
            </a:r>
            <a:r>
              <a:rPr lang="zh-CN" altLang="en-US" sz="2200" b="1">
                <a:ea typeface="楷体_GB2312" panose="02010609030101010101" pitchFamily="49" charset="-122"/>
                <a:sym typeface="+mn-ea"/>
              </a:rPr>
              <a:t>。</a:t>
            </a:r>
            <a:endParaRPr lang="zh-CN" altLang="en-US" sz="2200" b="1">
              <a:latin typeface="Arial" panose="020B0604020202020204" pitchFamily="34" charset="0"/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31779" name="Oval 35"/>
          <p:cNvSpPr>
            <a:spLocks noChangeArrowheads="1"/>
          </p:cNvSpPr>
          <p:nvPr/>
        </p:nvSpPr>
        <p:spPr bwMode="auto">
          <a:xfrm>
            <a:off x="1619250" y="2478088"/>
            <a:ext cx="2016125" cy="4318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</a:ln>
        </p:spPr>
        <p:txBody>
          <a:bodyPr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31780" name="Text Box 36"/>
          <p:cNvSpPr txBox="1">
            <a:spLocks noChangeArrowheads="1"/>
          </p:cNvSpPr>
          <p:nvPr/>
        </p:nvSpPr>
        <p:spPr bwMode="auto">
          <a:xfrm>
            <a:off x="504190" y="4422775"/>
            <a:ext cx="3744913" cy="762000"/>
          </a:xfrm>
          <a:prstGeom prst="rect">
            <a:avLst/>
          </a:prstGeom>
          <a:solidFill>
            <a:srgbClr val="C4ECF6"/>
          </a:solidFill>
          <a:ln w="9525">
            <a:solidFill>
              <a:schemeClr val="tx1"/>
            </a:solidFill>
            <a:miter lim="800000"/>
          </a:ln>
          <a:effectLst>
            <a:outerShdw dist="53882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200" b="1">
                <a:latin typeface="Courier New" panose="02070309020205020404" pitchFamily="49" charset="0"/>
              </a:rPr>
              <a:t>把字符数组中的字符串输出到显示器。</a:t>
            </a:r>
            <a:endParaRPr lang="zh-CN" altLang="en-US" sz="2200" b="1">
              <a:latin typeface="Courier New" panose="02070309020205020404" pitchFamily="49" charset="0"/>
            </a:endParaRPr>
          </a:p>
        </p:txBody>
      </p:sp>
      <p:grpSp>
        <p:nvGrpSpPr>
          <p:cNvPr id="31782" name="Group 38"/>
          <p:cNvGrpSpPr/>
          <p:nvPr/>
        </p:nvGrpSpPr>
        <p:grpSpPr bwMode="auto">
          <a:xfrm>
            <a:off x="4789683" y="2866350"/>
            <a:ext cx="2648495" cy="2030867"/>
            <a:chOff x="-184" y="-30"/>
            <a:chExt cx="1491" cy="1879"/>
          </a:xfrm>
        </p:grpSpPr>
        <p:sp>
          <p:nvSpPr>
            <p:cNvPr id="36905" name="Oval 39"/>
            <p:cNvSpPr>
              <a:spLocks noChangeArrowheads="1"/>
            </p:cNvSpPr>
            <p:nvPr/>
          </p:nvSpPr>
          <p:spPr bwMode="auto">
            <a:xfrm>
              <a:off x="-184" y="-30"/>
              <a:ext cx="1491" cy="1879"/>
            </a:xfrm>
            <a:prstGeom prst="ellipse">
              <a:avLst/>
            </a:prstGeom>
            <a:gradFill rotWithShape="1">
              <a:gsLst>
                <a:gs pos="0">
                  <a:srgbClr val="FF0000">
                    <a:alpha val="70000"/>
                  </a:srgbClr>
                </a:gs>
                <a:gs pos="100000">
                  <a:srgbClr val="FFFFFF"/>
                </a:gs>
              </a:gsLst>
              <a:lin ang="5400000" scaled="1"/>
            </a:gradFill>
            <a:ln w="12700">
              <a:solidFill>
                <a:srgbClr val="FFCC00"/>
              </a:solidFill>
              <a:round/>
            </a:ln>
          </p:spPr>
          <p:txBody>
            <a:bodyPr wrap="square" anchor="ctr">
              <a:spAutoFit/>
            </a:bodyPr>
            <a:lstStyle/>
            <a:p>
              <a:pPr algn="just" eaLnBrk="1" hangingPunct="1">
                <a:buClr>
                  <a:srgbClr val="A50021"/>
                </a:buClr>
                <a:buSzPct val="75000"/>
                <a:buFont typeface="Wingdings" panose="05000000000000000000" pitchFamily="2" charset="2"/>
                <a:buNone/>
              </a:pPr>
              <a:endParaRPr lang="zh-CN" altLang="en-US" b="1"/>
            </a:p>
          </p:txBody>
        </p:sp>
        <p:sp>
          <p:nvSpPr>
            <p:cNvPr id="36906" name="Text Box 40"/>
            <p:cNvSpPr txBox="1">
              <a:spLocks noChangeArrowheads="1"/>
            </p:cNvSpPr>
            <p:nvPr/>
          </p:nvSpPr>
          <p:spPr bwMode="auto">
            <a:xfrm>
              <a:off x="16" y="288"/>
              <a:ext cx="1119" cy="133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1" hangingPunct="1">
                <a:buClr>
                  <a:srgbClr val="A50021"/>
                </a:buClr>
                <a:buSzPct val="75000"/>
                <a:buFont typeface="Wingdings" panose="05000000000000000000" pitchFamily="2" charset="2"/>
                <a:buNone/>
              </a:pPr>
              <a:r>
                <a:rPr lang="zh-CN" altLang="en-US" sz="2200" b="1" dirty="0">
                  <a:latin typeface="Arial" panose="020B0604020202020204" pitchFamily="34" charset="0"/>
                </a:rPr>
                <a:t>使用 </a:t>
              </a:r>
              <a:r>
                <a:rPr lang="en-US" altLang="zh-CN" sz="2200" b="1" dirty="0">
                  <a:latin typeface="Arial" panose="020B0604020202020204" pitchFamily="34" charset="0"/>
                </a:rPr>
                <a:t>gets</a:t>
              </a:r>
              <a:r>
                <a:rPr lang="zh-CN" altLang="en-US" sz="2200" b="1" dirty="0">
                  <a:latin typeface="Arial" panose="020B0604020202020204" pitchFamily="34" charset="0"/>
                </a:rPr>
                <a:t>函数允许输入空格，</a:t>
              </a:r>
              <a:endParaRPr lang="en-US" altLang="zh-CN" sz="2200" b="1" dirty="0">
                <a:latin typeface="Arial" panose="020B0604020202020204" pitchFamily="34" charset="0"/>
              </a:endParaRPr>
            </a:p>
            <a:p>
              <a:pPr algn="ctr" eaLnBrk="1" hangingPunct="1">
                <a:buClr>
                  <a:srgbClr val="A50021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200" b="1" dirty="0">
                  <a:latin typeface="Arial" panose="020B0604020202020204" pitchFamily="34" charset="0"/>
                </a:rPr>
                <a:t>gets</a:t>
              </a:r>
              <a:r>
                <a:rPr lang="zh-CN" altLang="en-US" sz="2200" b="1" dirty="0">
                  <a:latin typeface="Arial" panose="020B0604020202020204" pitchFamily="34" charset="0"/>
                </a:rPr>
                <a:t>函数的结束标志是回车</a:t>
              </a:r>
              <a:endParaRPr lang="zh-CN" altLang="en-US" sz="22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2" name="Freeform 41"/>
          <p:cNvSpPr>
            <a:spLocks noChangeArrowheads="1"/>
          </p:cNvSpPr>
          <p:nvPr/>
        </p:nvSpPr>
        <p:spPr bwMode="auto">
          <a:xfrm>
            <a:off x="1258888" y="2190750"/>
            <a:ext cx="433387" cy="1008063"/>
          </a:xfrm>
          <a:custGeom>
            <a:avLst/>
            <a:gdLst>
              <a:gd name="T0" fmla="*/ 433387 w 287"/>
              <a:gd name="T1" fmla="*/ 0 h 734"/>
              <a:gd name="T2" fmla="*/ 92114 w 287"/>
              <a:gd name="T3" fmla="*/ 249956 h 734"/>
              <a:gd name="T4" fmla="*/ 22651 w 287"/>
              <a:gd name="T5" fmla="*/ 560340 h 734"/>
              <a:gd name="T6" fmla="*/ 228019 w 287"/>
              <a:gd name="T7" fmla="*/ 935274 h 734"/>
              <a:gd name="T8" fmla="*/ 297482 w 287"/>
              <a:gd name="T9" fmla="*/ 997076 h 73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7" h="734">
                <a:moveTo>
                  <a:pt x="287" y="0"/>
                </a:moveTo>
                <a:cubicBezTo>
                  <a:pt x="196" y="57"/>
                  <a:pt x="106" y="114"/>
                  <a:pt x="61" y="182"/>
                </a:cubicBezTo>
                <a:cubicBezTo>
                  <a:pt x="16" y="250"/>
                  <a:pt x="0" y="325"/>
                  <a:pt x="15" y="408"/>
                </a:cubicBezTo>
                <a:cubicBezTo>
                  <a:pt x="30" y="491"/>
                  <a:pt x="121" y="628"/>
                  <a:pt x="151" y="681"/>
                </a:cubicBezTo>
                <a:cubicBezTo>
                  <a:pt x="181" y="734"/>
                  <a:pt x="189" y="730"/>
                  <a:pt x="197" y="726"/>
                </a:cubicBezTo>
              </a:path>
            </a:pathLst>
          </a:custGeom>
          <a:noFill/>
          <a:ln w="25400">
            <a:solidFill>
              <a:srgbClr val="FF0000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42"/>
          <p:cNvSpPr>
            <a:spLocks noChangeArrowheads="1"/>
          </p:cNvSpPr>
          <p:nvPr/>
        </p:nvSpPr>
        <p:spPr bwMode="auto">
          <a:xfrm>
            <a:off x="384175" y="2746375"/>
            <a:ext cx="1235710" cy="1676400"/>
          </a:xfrm>
          <a:custGeom>
            <a:avLst/>
            <a:gdLst>
              <a:gd name="T0" fmla="*/ 407987 w 257"/>
              <a:gd name="T1" fmla="*/ 0 h 643"/>
              <a:gd name="T2" fmla="*/ 47625 w 257"/>
              <a:gd name="T3" fmla="*/ 497759 h 643"/>
              <a:gd name="T4" fmla="*/ 120650 w 257"/>
              <a:gd name="T5" fmla="*/ 926428 h 643"/>
              <a:gd name="T6" fmla="*/ 120650 w 257"/>
              <a:gd name="T7" fmla="*/ 997088 h 64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7" h="643">
                <a:moveTo>
                  <a:pt x="257" y="0"/>
                </a:moveTo>
                <a:cubicBezTo>
                  <a:pt x="158" y="109"/>
                  <a:pt x="60" y="219"/>
                  <a:pt x="30" y="317"/>
                </a:cubicBezTo>
                <a:cubicBezTo>
                  <a:pt x="0" y="415"/>
                  <a:pt x="68" y="537"/>
                  <a:pt x="76" y="590"/>
                </a:cubicBezTo>
                <a:cubicBezTo>
                  <a:pt x="84" y="643"/>
                  <a:pt x="80" y="639"/>
                  <a:pt x="76" y="635"/>
                </a:cubicBezTo>
              </a:path>
            </a:pathLst>
          </a:custGeom>
          <a:noFill/>
          <a:ln w="25400">
            <a:solidFill>
              <a:srgbClr val="FF0000"/>
            </a:solidFill>
            <a:beve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32" name="Rectangle 12"/>
          <p:cNvSpPr>
            <a:spLocks noChangeArrowheads="1"/>
          </p:cNvSpPr>
          <p:nvPr/>
        </p:nvSpPr>
        <p:spPr bwMode="auto">
          <a:xfrm>
            <a:off x="4630420" y="1327150"/>
            <a:ext cx="2745740" cy="104330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若输入：</a:t>
            </a:r>
            <a:r>
              <a:rPr lang="en-US" altLang="zh-CN" sz="24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Wang Lin</a:t>
            </a:r>
            <a:endParaRPr lang="en-US" altLang="zh-CN" sz="2400" b="1">
              <a:solidFill>
                <a:schemeClr val="tx1"/>
              </a:solidFill>
              <a:uFillTx/>
              <a:latin typeface="Times New Roman" panose="02020603050405020304" pitchFamily="18" charset="0"/>
              <a:ea typeface="华文楷体" panose="02010600040101010101" pitchFamily="2" charset="-122"/>
              <a:sym typeface="+mn-ea"/>
            </a:endParaRPr>
          </a:p>
          <a:p>
            <a:pPr algn="ctr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输出为：</a:t>
            </a:r>
            <a:r>
              <a:rPr lang="en-US" altLang="zh-CN" sz="24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Wang Lin</a:t>
            </a:r>
            <a:endParaRPr lang="zh-CN" altLang="en-US" sz="2400" b="1">
              <a:solidFill>
                <a:schemeClr val="tx1"/>
              </a:solidFill>
              <a:uFillTx/>
              <a:latin typeface="Times New Roman" panose="02020603050405020304" pitchFamily="18" charset="0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2884" y="6139233"/>
            <a:ext cx="7634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还可以用</a:t>
            </a:r>
            <a:r>
              <a:rPr lang="en-US" altLang="zh-CN" sz="2800" dirty="0" err="1"/>
              <a:t>fgets</a:t>
            </a:r>
            <a:r>
              <a:rPr lang="en-US" altLang="zh-CN" sz="2800" dirty="0"/>
              <a:t>——</a:t>
            </a:r>
            <a:r>
              <a:rPr lang="zh-CN" altLang="en-US" sz="2800" dirty="0"/>
              <a:t>在格式化输入输出部分讲过了</a:t>
            </a:r>
            <a:endParaRPr lang="zh-CN" altLang="en-US" sz="2800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如何读入一行字符？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200" dirty="0"/>
              <a:t>gets</a:t>
            </a:r>
            <a:r>
              <a:rPr lang="zh-CN" altLang="en-US" sz="2200" dirty="0"/>
              <a:t>函数：从终端输入一个字符串到字符数组</a:t>
            </a:r>
            <a:endParaRPr lang="en-US" altLang="zh-CN" sz="2200" dirty="0"/>
          </a:p>
          <a:p>
            <a:pPr lvl="1"/>
            <a:r>
              <a:rPr lang="zh-CN" altLang="en-US" sz="2400" dirty="0"/>
              <a:t>该函数值是字符数组的起始地址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893167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10227" y="2767618"/>
            <a:ext cx="3900669" cy="34163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dirty="0">
                <a:solidFill>
                  <a:srgbClr val="DCDCAA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printf</a:t>
            </a:r>
            <a:r>
              <a:rPr lang="en-US" altLang="zh-CN" sz="2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400" dirty="0">
                <a:solidFill>
                  <a:srgbClr val="9CDCFE"/>
                </a:solidFill>
                <a:latin typeface="Consolas" panose="020B0609020204030204" pitchFamily="49" charset="0"/>
              </a:rPr>
              <a:t>%</a:t>
            </a:r>
            <a:r>
              <a:rPr lang="en-US" altLang="zh-CN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s</a:t>
            </a:r>
            <a:r>
              <a:rPr lang="en-US" altLang="zh-CN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2400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2400" dirty="0">
                <a:solidFill>
                  <a:srgbClr val="CCCCCC"/>
                </a:solidFill>
                <a:latin typeface="Consolas" panose="020B0609020204030204" pitchFamily="49" charset="0"/>
              </a:rPr>
              <a:t>);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6329" y="3622973"/>
            <a:ext cx="2754780" cy="5304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46329" y="265142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输入：</a:t>
            </a:r>
            <a:endParaRPr lang="zh-CN" alt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5446329" y="445900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输出：</a:t>
            </a:r>
            <a:endParaRPr lang="zh-CN" altLang="en-US" sz="28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898" y="5076024"/>
            <a:ext cx="3900669" cy="42495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2783" y="5741625"/>
            <a:ext cx="2795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name</a:t>
            </a:r>
            <a:r>
              <a:rPr lang="zh-CN" altLang="en-US" sz="2800" dirty="0">
                <a:solidFill>
                  <a:srgbClr val="FF0000"/>
                </a:solidFill>
              </a:rPr>
              <a:t>中没有回车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如何读入一行字符？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200" dirty="0"/>
              <a:t>gets</a:t>
            </a:r>
            <a:r>
              <a:rPr lang="zh-CN" altLang="en-US" sz="2200" dirty="0"/>
              <a:t>函数：从终端输入一个字符串到字符数组</a:t>
            </a:r>
            <a:endParaRPr lang="en-US" altLang="zh-CN" sz="2200" dirty="0"/>
          </a:p>
          <a:p>
            <a:pPr lvl="1"/>
            <a:r>
              <a:rPr lang="zh-CN" altLang="en-US" sz="2400" dirty="0"/>
              <a:t>该函数值是字符数组的起始地址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893167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390" y="2595884"/>
            <a:ext cx="4281000" cy="3760466"/>
          </a:xfrm>
          <a:prstGeom prst="rect">
            <a:avLst/>
          </a:prstGeom>
        </p:spPr>
      </p:pic>
      <p:sp>
        <p:nvSpPr>
          <p:cNvPr id="12" name="Rectangle: Rounded Corners 11"/>
          <p:cNvSpPr/>
          <p:nvPr/>
        </p:nvSpPr>
        <p:spPr>
          <a:xfrm>
            <a:off x="1765140" y="4143737"/>
            <a:ext cx="1111170" cy="22570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: Rounded Corners 13"/>
          <p:cNvSpPr/>
          <p:nvPr/>
        </p:nvSpPr>
        <p:spPr>
          <a:xfrm>
            <a:off x="1136248" y="5979970"/>
            <a:ext cx="3910313" cy="32002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: Rounded Corners 14"/>
          <p:cNvSpPr/>
          <p:nvPr/>
        </p:nvSpPr>
        <p:spPr>
          <a:xfrm>
            <a:off x="1207627" y="2622148"/>
            <a:ext cx="1668684" cy="3699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370653" y="2847854"/>
            <a:ext cx="351291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黄色的是警告：可以运行，但是不建议这么做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可以用</a:t>
            </a:r>
            <a:r>
              <a:rPr lang="en-US" altLang="zh-CN" sz="2400" dirty="0"/>
              <a:t>gets</a:t>
            </a:r>
            <a:r>
              <a:rPr lang="zh-CN" altLang="en-US" sz="2400" dirty="0"/>
              <a:t>：在</a:t>
            </a:r>
            <a:r>
              <a:rPr lang="en-US" altLang="zh-CN" sz="2400" dirty="0" err="1"/>
              <a:t>yoj</a:t>
            </a:r>
            <a:r>
              <a:rPr lang="zh-CN" altLang="en-US" sz="2400" dirty="0"/>
              <a:t>上可以得到正确结果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也可以换成</a:t>
            </a:r>
            <a:r>
              <a:rPr lang="en-US" altLang="zh-CN" sz="2400" dirty="0" err="1"/>
              <a:t>fgets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如何读入一行字符？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200" dirty="0" err="1"/>
              <a:t>fgets</a:t>
            </a:r>
            <a:r>
              <a:rPr lang="zh-CN" altLang="en-US" sz="2200" dirty="0"/>
              <a:t>函数：从终端输入一个字符串到字符数组</a:t>
            </a:r>
            <a:endParaRPr lang="en-US" altLang="zh-CN" sz="2200" dirty="0"/>
          </a:p>
          <a:p>
            <a:pPr lvl="1"/>
            <a:r>
              <a:rPr lang="zh-CN" altLang="en-US" sz="2400" dirty="0"/>
              <a:t>示例：</a:t>
            </a:r>
            <a:r>
              <a:rPr lang="en-US" altLang="zh-CN" sz="2400" dirty="0" err="1"/>
              <a:t>fgets</a:t>
            </a:r>
            <a:r>
              <a:rPr lang="en-US" altLang="zh-CN" sz="2400" dirty="0"/>
              <a:t>(name, 50, stdin); </a:t>
            </a:r>
            <a:endParaRPr lang="en-US" altLang="zh-CN" sz="2400" dirty="0"/>
          </a:p>
          <a:p>
            <a:pPr lvl="2"/>
            <a:r>
              <a:rPr lang="en-US" altLang="zh-CN" sz="2400" dirty="0"/>
              <a:t>50</a:t>
            </a:r>
            <a:r>
              <a:rPr lang="zh-CN" altLang="en-US" sz="2400" dirty="0"/>
              <a:t>和</a:t>
            </a:r>
            <a:r>
              <a:rPr lang="en-US" altLang="zh-CN" sz="2400" dirty="0"/>
              <a:t>name</a:t>
            </a:r>
            <a:r>
              <a:rPr lang="zh-CN" altLang="en-US" sz="2400" dirty="0"/>
              <a:t>的长度一样</a:t>
            </a:r>
            <a:endParaRPr lang="en-US" altLang="zh-CN" sz="2400" dirty="0"/>
          </a:p>
          <a:p>
            <a:pPr lvl="2"/>
            <a:r>
              <a:rPr lang="en-US" altLang="zh-CN" sz="2400" dirty="0"/>
              <a:t>stdin</a:t>
            </a:r>
            <a:r>
              <a:rPr lang="zh-CN" altLang="en-US" sz="2400" dirty="0"/>
              <a:t>背下来，是个关键词指的标注输入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893167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75940" y="3335933"/>
            <a:ext cx="3863894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stdin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9560" y="3977215"/>
            <a:ext cx="2592289" cy="4991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49560" y="3335933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输入：</a:t>
            </a:r>
            <a:endParaRPr lang="zh-CN" altLang="en-US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5209049" y="458299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输出：</a:t>
            </a:r>
            <a:endParaRPr lang="zh-CN" altLang="en-US" sz="2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560" y="5130204"/>
            <a:ext cx="2561474" cy="95140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7053" y="6222240"/>
            <a:ext cx="776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name</a:t>
            </a:r>
            <a:r>
              <a:rPr lang="zh-CN" altLang="en-US" sz="2400" dirty="0">
                <a:solidFill>
                  <a:srgbClr val="FF0000"/>
                </a:solidFill>
              </a:rPr>
              <a:t>中有回车（不需要背，用其中一个</a:t>
            </a:r>
            <a:r>
              <a:rPr lang="en-US" altLang="zh-CN" sz="2400" dirty="0">
                <a:solidFill>
                  <a:srgbClr val="FF0000"/>
                </a:solidFill>
              </a:rPr>
              <a:t>/</a:t>
            </a:r>
            <a:r>
              <a:rPr lang="zh-CN" altLang="en-US" sz="2400" dirty="0">
                <a:solidFill>
                  <a:srgbClr val="FF0000"/>
                </a:solidFill>
              </a:rPr>
              <a:t>注意试试就行）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如何读入一行字符？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200" dirty="0" err="1"/>
              <a:t>fgets</a:t>
            </a:r>
            <a:r>
              <a:rPr lang="zh-CN" altLang="en-US" sz="2200" dirty="0"/>
              <a:t>函数：从终端输入一个字符串到字符数组</a:t>
            </a:r>
            <a:endParaRPr lang="en-US" altLang="zh-CN" sz="2200" dirty="0"/>
          </a:p>
          <a:p>
            <a:pPr lvl="1"/>
            <a:r>
              <a:rPr lang="zh-CN" altLang="en-US" sz="2400" dirty="0"/>
              <a:t>示例：</a:t>
            </a:r>
            <a:r>
              <a:rPr lang="en-US" altLang="zh-CN" sz="2400" dirty="0" err="1"/>
              <a:t>fgets</a:t>
            </a:r>
            <a:r>
              <a:rPr lang="en-US" altLang="zh-CN" sz="2400" dirty="0"/>
              <a:t>(name, 50, stdin); </a:t>
            </a:r>
            <a:endParaRPr lang="en-US" altLang="zh-CN" sz="2400" dirty="0"/>
          </a:p>
          <a:p>
            <a:pPr lvl="2"/>
            <a:r>
              <a:rPr lang="en-US" altLang="zh-CN" sz="2400" dirty="0"/>
              <a:t>50</a:t>
            </a:r>
            <a:r>
              <a:rPr lang="zh-CN" altLang="en-US" sz="2400" dirty="0"/>
              <a:t>和</a:t>
            </a:r>
            <a:r>
              <a:rPr lang="en-US" altLang="zh-CN" sz="2400" dirty="0"/>
              <a:t>name</a:t>
            </a:r>
            <a:r>
              <a:rPr lang="zh-CN" altLang="en-US" sz="2400" dirty="0"/>
              <a:t>的长度一样</a:t>
            </a:r>
            <a:endParaRPr lang="en-US" altLang="zh-CN" sz="2400" dirty="0"/>
          </a:p>
          <a:p>
            <a:pPr lvl="2"/>
            <a:r>
              <a:rPr lang="en-US" altLang="zh-CN" sz="2400" dirty="0"/>
              <a:t>stdin</a:t>
            </a:r>
            <a:r>
              <a:rPr lang="zh-CN" altLang="en-US" sz="2400" dirty="0"/>
              <a:t>背下来，是个关键词指的标注输入</a:t>
            </a: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893167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282157" y="3955693"/>
            <a:ext cx="35129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vscode</a:t>
            </a:r>
            <a:r>
              <a:rPr lang="zh-CN" altLang="en-US" sz="2400" dirty="0"/>
              <a:t>、</a:t>
            </a:r>
            <a:r>
              <a:rPr lang="en-US" altLang="zh-CN" sz="2400" dirty="0"/>
              <a:t>visual studio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yoj</a:t>
            </a:r>
            <a:r>
              <a:rPr lang="zh-CN" altLang="en-US" sz="2400" dirty="0"/>
              <a:t>上都可以正常运行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visual studio</a:t>
            </a:r>
            <a:r>
              <a:rPr lang="zh-CN" altLang="en-US" sz="2400" dirty="0"/>
              <a:t>上不能用</a:t>
            </a:r>
            <a:r>
              <a:rPr lang="en-US" altLang="zh-CN" sz="2400" dirty="0"/>
              <a:t>gets</a:t>
            </a:r>
            <a:r>
              <a:rPr lang="zh-CN" altLang="en-US" sz="2400" dirty="0"/>
              <a:t>，能用这个</a:t>
            </a:r>
            <a:endParaRPr lang="en-US" altLang="zh-CN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875940" y="3335933"/>
            <a:ext cx="3863894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fgets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stdin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altLang="zh-CN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其他输入输出函数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999" y="1436777"/>
            <a:ext cx="8444963" cy="4764163"/>
          </a:xfrm>
        </p:spPr>
        <p:txBody>
          <a:bodyPr>
            <a:normAutofit/>
          </a:bodyPr>
          <a:lstStyle/>
          <a:p>
            <a:r>
              <a:rPr lang="en-US" altLang="zh-CN" sz="2200" dirty="0"/>
              <a:t>puts</a:t>
            </a:r>
            <a:r>
              <a:rPr lang="zh-CN" altLang="en-US" sz="2200" dirty="0"/>
              <a:t>函数：将一个字符串</a:t>
            </a:r>
            <a:r>
              <a:rPr lang="en-US" altLang="zh-CN" sz="2200" dirty="0"/>
              <a:t>(</a:t>
            </a:r>
            <a:r>
              <a:rPr lang="zh-CN" altLang="en-US" sz="2200" dirty="0"/>
              <a:t>以</a:t>
            </a:r>
            <a:r>
              <a:rPr lang="en-US" altLang="zh-CN" sz="2200" dirty="0"/>
              <a:t>′\0′</a:t>
            </a:r>
            <a:r>
              <a:rPr lang="zh-CN" altLang="en-US" sz="2200" dirty="0"/>
              <a:t>结束的字符序列</a:t>
            </a:r>
            <a:r>
              <a:rPr lang="en-US" altLang="zh-CN" sz="2200" dirty="0"/>
              <a:t>)</a:t>
            </a:r>
            <a:r>
              <a:rPr lang="zh-CN" altLang="en-US" sz="2200" dirty="0"/>
              <a:t>输出到终端</a:t>
            </a:r>
            <a:endParaRPr lang="en-US" altLang="zh-CN" sz="2200" dirty="0"/>
          </a:p>
          <a:p>
            <a:pPr lvl="1"/>
            <a:r>
              <a:rPr lang="zh-CN" altLang="en-US" sz="1900" dirty="0"/>
              <a:t>用</a:t>
            </a:r>
            <a:r>
              <a:rPr lang="en-US" altLang="zh-CN" sz="1900" dirty="0"/>
              <a:t>puts</a:t>
            </a:r>
            <a:r>
              <a:rPr lang="zh-CN" altLang="en-US" sz="1900" dirty="0"/>
              <a:t>函数输出的字符串中可以包含转义字符。</a:t>
            </a:r>
            <a:endParaRPr lang="zh-CN" altLang="en-US" sz="1900" dirty="0"/>
          </a:p>
          <a:p>
            <a:pPr lvl="1"/>
            <a:r>
              <a:rPr lang="zh-CN" altLang="en-US" sz="1900" dirty="0"/>
              <a:t>用</a:t>
            </a:r>
            <a:r>
              <a:rPr lang="en-US" altLang="zh-CN" sz="1900" dirty="0"/>
              <a:t>puts</a:t>
            </a:r>
            <a:r>
              <a:rPr lang="zh-CN" altLang="en-US" sz="1900" dirty="0"/>
              <a:t>输出时将字符串结束标志</a:t>
            </a:r>
            <a:r>
              <a:rPr lang="en-US" altLang="zh-CN" sz="1900" dirty="0"/>
              <a:t>′\0′</a:t>
            </a:r>
            <a:r>
              <a:rPr lang="zh-CN" altLang="en-US" sz="1900" dirty="0"/>
              <a:t>转换成</a:t>
            </a:r>
            <a:r>
              <a:rPr lang="en-US" altLang="zh-CN" sz="1900" dirty="0"/>
              <a:t>′\n′</a:t>
            </a:r>
            <a:r>
              <a:rPr lang="zh-CN" altLang="en-US" sz="1900" dirty="0"/>
              <a:t>，即输出完字符串后换行</a:t>
            </a:r>
            <a:endParaRPr lang="en-US" altLang="zh-CN" sz="1900" dirty="0"/>
          </a:p>
          <a:p>
            <a:pPr lvl="1"/>
            <a:r>
              <a:rPr lang="en-US" altLang="zh-CN" sz="1900" dirty="0">
                <a:solidFill>
                  <a:srgbClr val="FF0000"/>
                </a:solidFill>
              </a:rPr>
              <a:t>puts(str)</a:t>
            </a:r>
            <a:r>
              <a:rPr lang="zh-CN" altLang="en-US" sz="1900" dirty="0">
                <a:solidFill>
                  <a:srgbClr val="FF0000"/>
                </a:solidFill>
              </a:rPr>
              <a:t>相当于</a:t>
            </a:r>
            <a:r>
              <a:rPr lang="en-US" altLang="zh-CN" sz="1900" dirty="0" err="1">
                <a:solidFill>
                  <a:srgbClr val="FF0000"/>
                </a:solidFill>
              </a:rPr>
              <a:t>printf</a:t>
            </a:r>
            <a:r>
              <a:rPr lang="en-US" altLang="zh-CN" sz="1900" dirty="0">
                <a:solidFill>
                  <a:srgbClr val="FF0000"/>
                </a:solidFill>
              </a:rPr>
              <a:t>("%s</a:t>
            </a:r>
            <a:r>
              <a:rPr lang="en-US" altLang="zh-CN" sz="1900" b="1" dirty="0">
                <a:solidFill>
                  <a:srgbClr val="FF0000"/>
                </a:solidFill>
              </a:rPr>
              <a:t>\n</a:t>
            </a:r>
            <a:r>
              <a:rPr lang="en-US" altLang="zh-CN" sz="1900" dirty="0">
                <a:solidFill>
                  <a:srgbClr val="FF0000"/>
                </a:solidFill>
              </a:rPr>
              <a:t>", str)</a:t>
            </a:r>
            <a:endParaRPr lang="en-US" altLang="zh-CN" sz="1900" dirty="0">
              <a:solidFill>
                <a:srgbClr val="FF0000"/>
              </a:solidFill>
            </a:endParaRPr>
          </a:p>
          <a:p>
            <a:pPr lvl="1"/>
            <a:r>
              <a:rPr lang="zh-CN" altLang="en-US" sz="1900" dirty="0">
                <a:solidFill>
                  <a:srgbClr val="FF0000"/>
                </a:solidFill>
              </a:rPr>
              <a:t>注意：会自动加上</a:t>
            </a:r>
            <a:r>
              <a:rPr lang="en-US" altLang="zh-CN" sz="1900" dirty="0">
                <a:solidFill>
                  <a:srgbClr val="FF0000"/>
                </a:solidFill>
              </a:rPr>
              <a:t>\n</a:t>
            </a:r>
            <a:r>
              <a:rPr lang="zh-CN" altLang="en-US" sz="1900" dirty="0">
                <a:solidFill>
                  <a:srgbClr val="FF0000"/>
                </a:solidFill>
              </a:rPr>
              <a:t>（如果</a:t>
            </a:r>
            <a:r>
              <a:rPr lang="en-US" altLang="zh-CN" sz="1900" dirty="0" err="1">
                <a:solidFill>
                  <a:srgbClr val="FF0000"/>
                </a:solidFill>
              </a:rPr>
              <a:t>fgets</a:t>
            </a:r>
            <a:r>
              <a:rPr lang="zh-CN" altLang="en-US" sz="1900" dirty="0">
                <a:solidFill>
                  <a:srgbClr val="FF0000"/>
                </a:solidFill>
              </a:rPr>
              <a:t>读入本来就用回车，则会输出两个回车）</a:t>
            </a:r>
            <a:endParaRPr lang="en-US" altLang="zh-CN" sz="1900" dirty="0">
              <a:solidFill>
                <a:srgbClr val="FF0000"/>
              </a:solidFill>
            </a:endParaRPr>
          </a:p>
          <a:p>
            <a:endParaRPr lang="en-US" altLang="zh-CN" sz="900" dirty="0"/>
          </a:p>
          <a:p>
            <a:r>
              <a:rPr lang="en-US" altLang="zh-CN" sz="2200" dirty="0" err="1"/>
              <a:t>putchar</a:t>
            </a:r>
            <a:r>
              <a:rPr lang="zh-CN" altLang="en-US" sz="2200" dirty="0"/>
              <a:t>函数：从计算机向显示器输出一个字符</a:t>
            </a:r>
            <a:endParaRPr lang="en-US" altLang="zh-CN" sz="2200" dirty="0"/>
          </a:p>
          <a:p>
            <a:pPr lvl="1"/>
            <a:r>
              <a:rPr lang="en-US" altLang="zh-CN" sz="1900" dirty="0" err="1"/>
              <a:t>putchar</a:t>
            </a:r>
            <a:r>
              <a:rPr lang="en-US" altLang="zh-CN" sz="1900" dirty="0"/>
              <a:t>(c) </a:t>
            </a:r>
            <a:r>
              <a:rPr lang="zh-CN" altLang="en-US" sz="1900" dirty="0"/>
              <a:t>等价于 </a:t>
            </a:r>
            <a:r>
              <a:rPr lang="en-US" altLang="zh-CN" sz="1900" dirty="0" err="1"/>
              <a:t>printf</a:t>
            </a:r>
            <a:r>
              <a:rPr lang="en-US" altLang="zh-CN" sz="1900" dirty="0"/>
              <a:t>("%c", c)</a:t>
            </a:r>
            <a:endParaRPr lang="en-US" altLang="zh-CN" sz="1900" dirty="0"/>
          </a:p>
          <a:p>
            <a:pPr lvl="1"/>
            <a:endParaRPr lang="en-US" altLang="zh-CN" sz="1900" dirty="0"/>
          </a:p>
          <a:p>
            <a:r>
              <a:rPr lang="en-US" altLang="zh-CN" sz="2200" dirty="0" err="1"/>
              <a:t>getchar</a:t>
            </a:r>
            <a:r>
              <a:rPr lang="zh-CN" altLang="en-US" sz="2200" dirty="0"/>
              <a:t>函数：从键盘读入一个字符</a:t>
            </a:r>
            <a:endParaRPr lang="en-US" altLang="zh-CN" sz="2200" dirty="0"/>
          </a:p>
          <a:p>
            <a:pPr lvl="1"/>
            <a:r>
              <a:rPr lang="en-US" altLang="zh-CN" sz="1900" dirty="0"/>
              <a:t>c=</a:t>
            </a:r>
            <a:r>
              <a:rPr lang="en-US" altLang="zh-CN" sz="1900" dirty="0" err="1"/>
              <a:t>getchar</a:t>
            </a:r>
            <a:r>
              <a:rPr lang="en-US" altLang="zh-CN" sz="1900" dirty="0"/>
              <a:t>() </a:t>
            </a:r>
            <a:r>
              <a:rPr lang="zh-CN" altLang="en-US" sz="1900" dirty="0"/>
              <a:t>等价于 </a:t>
            </a:r>
            <a:r>
              <a:rPr lang="en-US" altLang="zh-CN" sz="1900" dirty="0" err="1"/>
              <a:t>scanf</a:t>
            </a:r>
            <a:r>
              <a:rPr lang="en-US" altLang="zh-CN" sz="1900" dirty="0"/>
              <a:t>("%c", c)</a:t>
            </a:r>
            <a:endParaRPr lang="en-US" altLang="zh-CN" sz="1900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893167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A41B9E-92BD-4C63-BD7B-3AC68C662F28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练习：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#287.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拆分数字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452" y="1478922"/>
            <a:ext cx="8531962" cy="526387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7205972" cy="1655763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常见的字符串</a:t>
            </a:r>
            <a:r>
              <a:rPr lang="zh-CN" altLang="en-US" dirty="0"/>
              <a:t>操作函数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常用字符串的操作函数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645920"/>
            <a:ext cx="8280000" cy="4654080"/>
          </a:xfrm>
        </p:spPr>
        <p:txBody>
          <a:bodyPr>
            <a:normAutofit/>
          </a:bodyPr>
          <a:lstStyle/>
          <a:p>
            <a:pPr lvl="0" indent="0">
              <a:buNone/>
            </a:pPr>
            <a:r>
              <a:rPr lang="en-US" altLang="zh-CN" sz="3200" dirty="0">
                <a:solidFill>
                  <a:schemeClr val="accent1"/>
                </a:solidFill>
              </a:rPr>
              <a:t>#include&lt;string.h&gt;</a:t>
            </a:r>
            <a:endParaRPr lang="en-US" altLang="zh-CN" sz="3200" dirty="0">
              <a:solidFill>
                <a:schemeClr val="accent1"/>
              </a:solidFill>
            </a:endParaRPr>
          </a:p>
          <a:p>
            <a:pPr lvl="0" indent="0">
              <a:buNone/>
            </a:pPr>
            <a:r>
              <a:rPr lang="en-US" altLang="zh-CN" sz="3200" dirty="0"/>
              <a:t>(</a:t>
            </a:r>
            <a:r>
              <a:rPr lang="zh-CN" altLang="en-US" sz="3200" dirty="0"/>
              <a:t>1</a:t>
            </a:r>
            <a:r>
              <a:rPr lang="en-US" altLang="zh-CN" sz="3200" dirty="0"/>
              <a:t>) </a:t>
            </a:r>
            <a:r>
              <a:rPr lang="zh-CN" altLang="en-US" sz="3200" dirty="0"/>
              <a:t>strlen: 求字符串长度</a:t>
            </a:r>
            <a:endParaRPr lang="zh-CN" altLang="en-US" sz="3200" dirty="0"/>
          </a:p>
          <a:p>
            <a:pPr indent="0">
              <a:buNone/>
            </a:pPr>
            <a:r>
              <a:rPr lang="en-US" altLang="zh-CN" sz="3200" dirty="0"/>
              <a:t>(</a:t>
            </a:r>
            <a:r>
              <a:rPr lang="zh-CN" altLang="en-US" sz="3200" dirty="0"/>
              <a:t>2</a:t>
            </a:r>
            <a:r>
              <a:rPr lang="en-US" altLang="zh-CN" sz="3200" dirty="0"/>
              <a:t>) </a:t>
            </a:r>
            <a:r>
              <a:rPr lang="zh-CN" altLang="en-US" sz="3200" dirty="0"/>
              <a:t>strcmp:字符串比较</a:t>
            </a:r>
            <a:endParaRPr lang="zh-CN" altLang="en-US" sz="3200" dirty="0"/>
          </a:p>
          <a:p>
            <a:pPr lvl="0" indent="0">
              <a:buNone/>
            </a:pPr>
            <a:r>
              <a:rPr lang="en-US" altLang="zh-CN" sz="3200" dirty="0"/>
              <a:t>(3) </a:t>
            </a:r>
            <a:r>
              <a:rPr lang="zh-CN" altLang="en-US" sz="3200" dirty="0"/>
              <a:t>strcpy</a:t>
            </a:r>
            <a:r>
              <a:rPr lang="zh-CN" altLang="en-US" sz="3200" dirty="0">
                <a:sym typeface="+mn-ea"/>
              </a:rPr>
              <a:t>:</a:t>
            </a:r>
            <a:r>
              <a:rPr lang="zh-CN" altLang="en-US" sz="3200" dirty="0"/>
              <a:t>字符串复制</a:t>
            </a:r>
            <a:endParaRPr lang="en-US" altLang="zh-CN" sz="3200" dirty="0"/>
          </a:p>
          <a:p>
            <a:pPr lvl="0" indent="0">
              <a:buNone/>
            </a:pPr>
            <a:r>
              <a:rPr lang="en-US" altLang="zh-CN" sz="3200" dirty="0"/>
              <a:t>(4) </a:t>
            </a:r>
            <a:r>
              <a:rPr lang="zh-CN" altLang="en-US" sz="3200" dirty="0"/>
              <a:t>strcat:字符串合并</a:t>
            </a:r>
            <a:endParaRPr lang="en-US" altLang="zh-CN" sz="3200" dirty="0"/>
          </a:p>
          <a:p>
            <a:pPr lvl="0" indent="0">
              <a:buNone/>
            </a:pPr>
            <a:r>
              <a:rPr lang="en-US" altLang="zh-CN" sz="3200" dirty="0">
                <a:solidFill>
                  <a:schemeClr val="bg2">
                    <a:lumMod val="50000"/>
                  </a:schemeClr>
                </a:solidFill>
              </a:rPr>
              <a:t>(5)</a:t>
            </a:r>
            <a:r>
              <a:rPr lang="zh-CN" altLang="en-US" sz="3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CN" sz="3200" dirty="0" err="1">
                <a:solidFill>
                  <a:schemeClr val="bg2">
                    <a:lumMod val="50000"/>
                  </a:schemeClr>
                </a:solidFill>
              </a:rPr>
              <a:t>strstr</a:t>
            </a:r>
            <a:r>
              <a:rPr lang="zh-CN" altLang="en-US" sz="3200" dirty="0">
                <a:solidFill>
                  <a:schemeClr val="bg2">
                    <a:lumMod val="50000"/>
                  </a:schemeClr>
                </a:solidFill>
              </a:rPr>
              <a:t>：字符查找 </a:t>
            </a:r>
            <a:r>
              <a:rPr lang="en-US" altLang="zh-CN" sz="3200" dirty="0">
                <a:solidFill>
                  <a:schemeClr val="bg2">
                    <a:lumMod val="50000"/>
                  </a:schemeClr>
                </a:solidFill>
              </a:rPr>
              <a:t>//</a:t>
            </a:r>
            <a:r>
              <a:rPr lang="zh-CN" altLang="en-US" sz="3200" dirty="0">
                <a:solidFill>
                  <a:schemeClr val="bg2">
                    <a:lumMod val="50000"/>
                  </a:schemeClr>
                </a:solidFill>
              </a:rPr>
              <a:t>不太容易掌握</a:t>
            </a:r>
            <a:endParaRPr lang="zh-CN" alt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lvl="0" indent="0">
              <a:buNone/>
            </a:pPr>
            <a:r>
              <a:rPr lang="en-US" altLang="zh-CN" sz="3200" dirty="0">
                <a:solidFill>
                  <a:schemeClr val="bg2">
                    <a:lumMod val="90000"/>
                  </a:schemeClr>
                </a:solidFill>
              </a:rPr>
              <a:t>(6) </a:t>
            </a:r>
            <a:r>
              <a:rPr lang="zh-CN" altLang="en-US" sz="3200" dirty="0">
                <a:solidFill>
                  <a:schemeClr val="bg2">
                    <a:lumMod val="90000"/>
                  </a:schemeClr>
                </a:solidFill>
              </a:rPr>
              <a:t>strrev: 字符串逆置 </a:t>
            </a:r>
            <a:r>
              <a:rPr lang="en-US" altLang="zh-CN" sz="3200" dirty="0">
                <a:solidFill>
                  <a:schemeClr val="bg2">
                    <a:lumMod val="75000"/>
                  </a:schemeClr>
                </a:solidFill>
              </a:rPr>
              <a:t>//</a:t>
            </a:r>
            <a:r>
              <a:rPr lang="en-US" altLang="zh-CN" sz="3200" dirty="0" err="1">
                <a:solidFill>
                  <a:schemeClr val="bg2">
                    <a:lumMod val="75000"/>
                  </a:schemeClr>
                </a:solidFill>
              </a:rPr>
              <a:t>yoj</a:t>
            </a:r>
            <a:r>
              <a:rPr lang="zh-CN" altLang="en-US" sz="3200" dirty="0">
                <a:solidFill>
                  <a:schemeClr val="bg2">
                    <a:lumMod val="75000"/>
                  </a:schemeClr>
                </a:solidFill>
              </a:rPr>
              <a:t>不支持</a:t>
            </a:r>
            <a:endParaRPr lang="zh-CN" altLang="en-US" sz="3200" dirty="0">
              <a:solidFill>
                <a:schemeClr val="bg2">
                  <a:lumMod val="75000"/>
                </a:schemeClr>
              </a:solidFill>
            </a:endParaRPr>
          </a:p>
          <a:p>
            <a:endParaRPr lang="zh-CN" altLang="en-US" sz="2800" dirty="0"/>
          </a:p>
        </p:txBody>
      </p:sp>
      <p:sp>
        <p:nvSpPr>
          <p:cNvPr id="6" name="Rectangle 1"/>
          <p:cNvSpPr/>
          <p:nvPr/>
        </p:nvSpPr>
        <p:spPr>
          <a:xfrm>
            <a:off x="432000" y="6052720"/>
            <a:ext cx="8392041" cy="4945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3200" dirty="0">
                <a:solidFill>
                  <a:srgbClr val="C00000"/>
                </a:solidFill>
              </a:rPr>
              <a:t>课后任务：自己编写代码实现上述字符串操作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(1) 求字符串长度 strlen( )</a:t>
            </a:r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调用格式：strlen(str)</a:t>
            </a:r>
            <a:endParaRPr lang="zh-CN" altLang="en-US" dirty="0"/>
          </a:p>
          <a:p>
            <a:r>
              <a:rPr lang="zh-CN" altLang="en-US" dirty="0"/>
              <a:t>功能：测试字符串</a:t>
            </a:r>
            <a:r>
              <a:rPr lang="zh-CN" altLang="en-US" dirty="0">
                <a:solidFill>
                  <a:srgbClr val="FF0000"/>
                </a:solidFill>
              </a:rPr>
              <a:t>长度</a:t>
            </a:r>
            <a:r>
              <a:rPr lang="zh-CN" altLang="en-US" dirty="0"/>
              <a:t>。函数值就是str中</a:t>
            </a:r>
            <a:r>
              <a:rPr lang="zh-CN" altLang="en-US" dirty="0">
                <a:solidFill>
                  <a:srgbClr val="FF0000"/>
                </a:solidFill>
              </a:rPr>
              <a:t>有效字符</a:t>
            </a:r>
            <a:r>
              <a:rPr lang="zh-CN" altLang="en-US" dirty="0"/>
              <a:t>的个数。</a:t>
            </a:r>
            <a:endParaRPr lang="zh-CN" altLang="en-US" dirty="0"/>
          </a:p>
        </p:txBody>
      </p:sp>
      <p:sp>
        <p:nvSpPr>
          <p:cNvPr id="39942" name="Rectangle 5"/>
          <p:cNvSpPr/>
          <p:nvPr/>
        </p:nvSpPr>
        <p:spPr>
          <a:xfrm>
            <a:off x="6000115" y="4401651"/>
            <a:ext cx="2353310" cy="477054"/>
          </a:xfrm>
          <a:prstGeom prst="rect">
            <a:avLst/>
          </a:prstGeom>
          <a:solidFill>
            <a:srgbClr val="FFFF99">
              <a:alpha val="50000"/>
            </a:srgbClr>
          </a:solidFill>
          <a:ln w="254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en-US" sz="2500" b="1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输出结果：</a:t>
            </a:r>
            <a:r>
              <a:rPr lang="en-US" altLang="x-none" sz="2500" b="1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5</a:t>
            </a:r>
            <a:endParaRPr lang="en-US" altLang="x-none" sz="2500" b="1" noProof="1">
              <a:solidFill>
                <a:srgbClr val="000000"/>
              </a:solidFill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39944" name="Rectangle 6"/>
          <p:cNvSpPr>
            <a:spLocks noChangeArrowheads="1"/>
          </p:cNvSpPr>
          <p:nvPr/>
        </p:nvSpPr>
        <p:spPr bwMode="auto">
          <a:xfrm>
            <a:off x="827405" y="5229225"/>
            <a:ext cx="7545705" cy="477054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</a:ln>
        </p:spPr>
        <p:txBody>
          <a:bodyPr/>
          <a:lstStyle/>
          <a:p>
            <a:pPr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600" b="1" dirty="0" err="1">
                <a:solidFill>
                  <a:srgbClr val="000000"/>
                </a:solidFill>
              </a:rPr>
              <a:t>printf</a:t>
            </a:r>
            <a:r>
              <a:rPr lang="en-US" altLang="zh-CN" sz="2600" b="1" dirty="0">
                <a:solidFill>
                  <a:srgbClr val="000000"/>
                </a:solidFill>
              </a:rPr>
              <a:t>("%d",  </a:t>
            </a:r>
            <a:r>
              <a:rPr lang="en-US" altLang="zh-CN" sz="2600" b="1" dirty="0" err="1">
                <a:solidFill>
                  <a:srgbClr val="000000"/>
                </a:solidFill>
              </a:rPr>
              <a:t>strlen</a:t>
            </a:r>
            <a:r>
              <a:rPr lang="en-US" altLang="zh-CN" sz="2600" b="1" dirty="0">
                <a:solidFill>
                  <a:srgbClr val="000000"/>
                </a:solidFill>
              </a:rPr>
              <a:t>("\</a:t>
            </a:r>
            <a:r>
              <a:rPr lang="en-US" altLang="zh-CN" sz="2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161bcd</a:t>
            </a:r>
            <a:r>
              <a:rPr lang="en-US" altLang="zh-CN" sz="2600" b="1" dirty="0">
                <a:solidFill>
                  <a:srgbClr val="000000"/>
                </a:solidFill>
              </a:rPr>
              <a:t>\n"));</a:t>
            </a:r>
            <a:endParaRPr lang="en-US" altLang="zh-CN" sz="2600" b="1" dirty="0">
              <a:solidFill>
                <a:srgbClr val="000000"/>
              </a:solidFill>
            </a:endParaRPr>
          </a:p>
        </p:txBody>
      </p:sp>
      <p:sp>
        <p:nvSpPr>
          <p:cNvPr id="39945" name="Rectangle 5"/>
          <p:cNvSpPr/>
          <p:nvPr/>
        </p:nvSpPr>
        <p:spPr>
          <a:xfrm>
            <a:off x="6000115" y="5229225"/>
            <a:ext cx="2360295" cy="477054"/>
          </a:xfrm>
          <a:prstGeom prst="rect">
            <a:avLst/>
          </a:prstGeom>
          <a:solidFill>
            <a:srgbClr val="FFFF99">
              <a:alpha val="50000"/>
            </a:srgbClr>
          </a:solidFill>
          <a:ln w="254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lvl="0"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en-US" sz="2500" b="1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+mn-ea"/>
              </a:rPr>
              <a:t>输出结果：5</a:t>
            </a:r>
            <a:endParaRPr lang="en-US" altLang="en-US" sz="2500" b="1" dirty="0">
              <a:solidFill>
                <a:srgbClr val="000000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  <a:sym typeface="+mn-ea"/>
            </a:endParaRPr>
          </a:p>
        </p:txBody>
      </p:sp>
      <p:sp>
        <p:nvSpPr>
          <p:cNvPr id="39943" name="Rectangle 6"/>
          <p:cNvSpPr>
            <a:spLocks noChangeArrowheads="1"/>
          </p:cNvSpPr>
          <p:nvPr/>
        </p:nvSpPr>
        <p:spPr bwMode="auto">
          <a:xfrm>
            <a:off x="826770" y="2844800"/>
            <a:ext cx="7526655" cy="2033905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</a:ln>
        </p:spPr>
        <p:txBody>
          <a:bodyPr/>
          <a:lstStyle/>
          <a:p>
            <a:pPr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>
                <a:ea typeface="华文楷体" panose="02010600040101010101" pitchFamily="2" charset="-122"/>
              </a:rPr>
              <a:t>例如：</a:t>
            </a:r>
            <a:endParaRPr lang="zh-CN" altLang="en-US" sz="2600" b="1">
              <a:ea typeface="华文楷体" panose="02010600040101010101" pitchFamily="2" charset="-122"/>
            </a:endParaRPr>
          </a:p>
          <a:p>
            <a:pPr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00"/>
                </a:solidFill>
                <a:ea typeface="华文楷体" panose="02010600040101010101" pitchFamily="2" charset="-122"/>
              </a:rPr>
              <a:t>char str[10] = "China";</a:t>
            </a:r>
            <a:endParaRPr lang="en-US" altLang="zh-CN" sz="2600" b="1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00"/>
                </a:solidFill>
                <a:ea typeface="华文楷体" panose="02010600040101010101" pitchFamily="2" charset="-122"/>
              </a:rPr>
              <a:t>printf("%d",  strlen(str));</a:t>
            </a:r>
            <a:endParaRPr lang="en-US" altLang="zh-CN" sz="2600" b="1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000000"/>
                </a:solidFill>
                <a:ea typeface="华文楷体" panose="02010600040101010101" pitchFamily="2" charset="-122"/>
              </a:rPr>
              <a:t>或</a:t>
            </a:r>
            <a:endParaRPr lang="zh-CN" altLang="en-US" sz="2600" b="1">
              <a:solidFill>
                <a:srgbClr val="000000"/>
              </a:solidFill>
              <a:ea typeface="华文楷体" panose="02010600040101010101" pitchFamily="2" charset="-122"/>
            </a:endParaRPr>
          </a:p>
          <a:p>
            <a:pPr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600" b="1">
                <a:solidFill>
                  <a:srgbClr val="000000"/>
                </a:solidFill>
                <a:ea typeface="华文楷体" panose="02010600040101010101" pitchFamily="2" charset="-122"/>
              </a:rPr>
              <a:t>printf("%d",  strlen("China"));</a:t>
            </a:r>
            <a:endParaRPr lang="en-US" altLang="zh-CN" sz="2600" b="1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27405" y="5948946"/>
            <a:ext cx="7545705" cy="477054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</a:ln>
        </p:spPr>
        <p:txBody>
          <a:bodyPr/>
          <a:lstStyle/>
          <a:p>
            <a:pPr indent="12700" algn="just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altLang="zh-CN" sz="2600" b="1" dirty="0" err="1">
                <a:solidFill>
                  <a:srgbClr val="000000"/>
                </a:solidFill>
              </a:rPr>
              <a:t>printf</a:t>
            </a:r>
            <a:r>
              <a:rPr lang="en-US" altLang="zh-CN" sz="2600" b="1" dirty="0">
                <a:solidFill>
                  <a:srgbClr val="000000"/>
                </a:solidFill>
              </a:rPr>
              <a:t>(“%d”,  </a:t>
            </a:r>
            <a:r>
              <a:rPr lang="en-US" altLang="zh-CN" sz="2600" b="1" dirty="0" err="1">
                <a:solidFill>
                  <a:srgbClr val="000000"/>
                </a:solidFill>
              </a:rPr>
              <a:t>strlen</a:t>
            </a:r>
            <a:r>
              <a:rPr lang="en-US" altLang="zh-CN" sz="2600" b="1" dirty="0">
                <a:solidFill>
                  <a:srgbClr val="000000"/>
                </a:solidFill>
              </a:rPr>
              <a:t>(“</a:t>
            </a:r>
            <a:r>
              <a:rPr lang="zh-CN" altLang="en-US" sz="2600" b="1" dirty="0">
                <a:solidFill>
                  <a:srgbClr val="000000"/>
                </a:solidFill>
              </a:rPr>
              <a:t>早上好</a:t>
            </a:r>
            <a:r>
              <a:rPr lang="en-US" altLang="zh-CN" sz="2600" b="1" dirty="0">
                <a:solidFill>
                  <a:srgbClr val="000000"/>
                </a:solidFill>
              </a:rPr>
              <a:t>"));</a:t>
            </a:r>
            <a:endParaRPr lang="en-US" altLang="zh-CN" sz="2600" b="1" dirty="0">
              <a:solidFill>
                <a:srgbClr val="000000"/>
              </a:solidFill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6000115" y="5948946"/>
            <a:ext cx="2360295" cy="477054"/>
          </a:xfrm>
          <a:prstGeom prst="rect">
            <a:avLst/>
          </a:prstGeom>
          <a:solidFill>
            <a:srgbClr val="FFFF99">
              <a:alpha val="50000"/>
            </a:srgbClr>
          </a:solidFill>
          <a:ln w="254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/>
          <a:p>
            <a:pPr lvl="0"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en-US" sz="2500" b="1" dirty="0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  <a:sym typeface="+mn-ea"/>
              </a:rPr>
              <a:t>输出结果：9</a:t>
            </a:r>
            <a:endParaRPr lang="en-US" altLang="en-US" sz="2500" b="1" dirty="0">
              <a:solidFill>
                <a:srgbClr val="000000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2" grpId="0" animBg="1"/>
      <p:bldP spid="39945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自己实现</a:t>
            </a:r>
            <a:r>
              <a:rPr lang="en-US" altLang="zh-CN" dirty="0" err="1"/>
              <a:t>strlen</a:t>
            </a:r>
            <a:r>
              <a:rPr lang="zh-CN" altLang="en-US" dirty="0"/>
              <a:t>的功能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07165" y="1755916"/>
            <a:ext cx="780155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#define MAX_SIZE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buf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MAX_SIZE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gets(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buf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buf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 !=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'\0'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len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 of %s is %d\n 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buf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(</a:t>
            </a:r>
            <a:r>
              <a:rPr lang="en-US" altLang="zh-CN" dirty="0"/>
              <a:t>2</a:t>
            </a:r>
            <a:r>
              <a:rPr lang="zh-CN" altLang="en-US" dirty="0">
                <a:sym typeface="+mn-ea"/>
              </a:rPr>
              <a:t>)</a:t>
            </a:r>
            <a:r>
              <a:rPr lang="zh-CN" altLang="en-US" dirty="0"/>
              <a:t>字符串比较函数 strcmp( )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调用格式：strcmp(str1, str2)</a:t>
            </a:r>
            <a:endParaRPr lang="zh-CN" altLang="en-US" sz="2800" dirty="0"/>
          </a:p>
          <a:p>
            <a:pPr latinLnBrk="0">
              <a:lnSpc>
                <a:spcPct val="115000"/>
              </a:lnSpc>
              <a:spcBef>
                <a:spcPts val="0"/>
              </a:spcBef>
            </a:pPr>
            <a:r>
              <a:rPr lang="zh-CN" altLang="en-US" sz="2800" dirty="0"/>
              <a:t>功能：比较str1和str2的</a:t>
            </a:r>
            <a:r>
              <a:rPr lang="zh-CN" altLang="en-US" sz="2800" dirty="0">
                <a:solidFill>
                  <a:srgbClr val="FF0000"/>
                </a:solidFill>
              </a:rPr>
              <a:t>大小</a:t>
            </a:r>
            <a:r>
              <a:rPr lang="zh-CN" altLang="en-US" sz="2800" dirty="0"/>
              <a:t>。</a:t>
            </a:r>
            <a:endParaRPr lang="zh-CN" altLang="en-US" sz="2800" dirty="0"/>
          </a:p>
          <a:p>
            <a:pPr latinLnBrk="0">
              <a:lnSpc>
                <a:spcPct val="115000"/>
              </a:lnSpc>
              <a:spcBef>
                <a:spcPts val="0"/>
              </a:spcBef>
            </a:pPr>
            <a:r>
              <a:rPr lang="zh-CN" altLang="en-US" sz="2800" dirty="0"/>
              <a:t>比较原则：对两个字符串自</a:t>
            </a:r>
            <a:r>
              <a:rPr lang="zh-CN" altLang="en-US" sz="2800" dirty="0">
                <a:solidFill>
                  <a:srgbClr val="FF0000"/>
                </a:solidFill>
              </a:rPr>
              <a:t>左至右逐个</a:t>
            </a:r>
            <a:r>
              <a:rPr lang="zh-CN" altLang="en-US" sz="2800" dirty="0"/>
              <a:t>字符相比</a:t>
            </a:r>
            <a:r>
              <a:rPr lang="en-US" altLang="zh-CN" sz="2800" dirty="0"/>
              <a:t>(</a:t>
            </a:r>
            <a:r>
              <a:rPr lang="zh-CN" altLang="en-US" sz="2800" dirty="0">
                <a:solidFill>
                  <a:srgbClr val="FF0000"/>
                </a:solidFill>
              </a:rPr>
              <a:t>按ASCII码</a:t>
            </a:r>
            <a:r>
              <a:rPr lang="zh-CN" altLang="en-US" sz="2800" dirty="0"/>
              <a:t>值大小比较</a:t>
            </a:r>
            <a:r>
              <a:rPr lang="en-US" altLang="zh-CN" sz="2800" dirty="0"/>
              <a:t>)</a:t>
            </a:r>
            <a:r>
              <a:rPr lang="zh-CN" altLang="en-US" sz="2800" dirty="0"/>
              <a:t>，直到出现不同的字符或遇到</a:t>
            </a:r>
            <a:r>
              <a:rPr lang="en-US" altLang="zh-CN" sz="2800" dirty="0">
                <a:sym typeface="+mn-ea"/>
              </a:rPr>
              <a:t>'</a:t>
            </a:r>
            <a:r>
              <a:rPr lang="zh-CN" altLang="en-US" sz="2800" dirty="0"/>
              <a:t>\0</a:t>
            </a:r>
            <a:r>
              <a:rPr lang="en-US" altLang="zh-CN" sz="2800" dirty="0">
                <a:sym typeface="+mn-ea"/>
              </a:rPr>
              <a:t>'</a:t>
            </a:r>
            <a:r>
              <a:rPr lang="zh-CN" altLang="en-US" sz="2800" dirty="0"/>
              <a:t>为止。</a:t>
            </a:r>
            <a:endParaRPr lang="zh-CN" altLang="en-US" sz="2800" dirty="0"/>
          </a:p>
          <a:p>
            <a:pPr marL="0" indent="457200" latinLnBrk="0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2800" dirty="0"/>
              <a:t>(1)str1与str2完全相等，返回0</a:t>
            </a:r>
            <a:endParaRPr lang="zh-CN" altLang="en-US" sz="2800" dirty="0"/>
          </a:p>
          <a:p>
            <a:pPr marL="0" indent="457200" latinLnBrk="0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2800" dirty="0"/>
              <a:t>(2) str1大于str2，返回一个正整数</a:t>
            </a:r>
            <a:endParaRPr lang="zh-CN" altLang="en-US" sz="2800" dirty="0"/>
          </a:p>
          <a:p>
            <a:pPr marL="0" indent="457200" latinLnBrk="0">
              <a:lnSpc>
                <a:spcPct val="115000"/>
              </a:lnSpc>
              <a:spcBef>
                <a:spcPts val="0"/>
              </a:spcBef>
              <a:buNone/>
            </a:pPr>
            <a:r>
              <a:rPr lang="zh-CN" altLang="en-US" sz="2800" dirty="0"/>
              <a:t>(3) str1小于str2 ，返回一个负整数。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字符串比较函数 strcmp( )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33880" y="1233805"/>
            <a:ext cx="8280000" cy="4764163"/>
          </a:xfrm>
        </p:spPr>
        <p:txBody>
          <a:bodyPr/>
          <a:lstStyle/>
          <a:p>
            <a:r>
              <a:rPr lang="zh-CN" altLang="zh-CN"/>
              <a:t>举例</a:t>
            </a:r>
            <a:endParaRPr lang="zh-CN" altLang="zh-CN"/>
          </a:p>
        </p:txBody>
      </p:sp>
      <p:graphicFrame>
        <p:nvGraphicFramePr>
          <p:cNvPr id="6" name="表格 5"/>
          <p:cNvGraphicFramePr/>
          <p:nvPr/>
        </p:nvGraphicFramePr>
        <p:xfrm>
          <a:off x="936625" y="1936750"/>
          <a:ext cx="7292340" cy="25908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456690"/>
                <a:gridCol w="1663700"/>
                <a:gridCol w="4171950"/>
              </a:tblGrid>
              <a:tr h="5181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str1</a:t>
                      </a:r>
                      <a:endParaRPr lang="en-US" altLang="zh-CN" sz="2800" b="1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str2</a:t>
                      </a:r>
                      <a:endParaRPr lang="en-US" altLang="zh-CN" sz="2800" b="1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strcmp(str1, str2)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返回值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cat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fan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2800" b="1" dirty="0">
                        <a:solidFill>
                          <a:schemeClr val="tx1"/>
                        </a:solidFill>
                        <a:uFillTx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Abd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abd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2800" b="1" dirty="0">
                        <a:solidFill>
                          <a:schemeClr val="tx1"/>
                        </a:solidFill>
                        <a:uFillTx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abcd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abc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2800" b="1" dirty="0">
                        <a:solidFill>
                          <a:schemeClr val="tx1"/>
                        </a:solidFill>
                        <a:uFillTx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abc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r>
                        <a:rPr lang="en-US" altLang="zh-CN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abc</a:t>
                      </a:r>
                      <a:r>
                        <a:rPr lang="zh-CN" altLang="en-US" sz="2800" b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ea typeface="华文楷体" panose="02010600040101010101" pitchFamily="2" charset="-122"/>
                        </a:rPr>
                        <a:t>"</a:t>
                      </a:r>
                      <a:endParaRPr lang="zh-CN" altLang="en-US" sz="2800" b="1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2800" b="1" dirty="0">
                        <a:solidFill>
                          <a:schemeClr val="tx1"/>
                        </a:solidFill>
                        <a:uFillTx/>
                        <a:ea typeface="华文楷体" panose="02010600040101010101" pitchFamily="2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761355" y="2454910"/>
            <a:ext cx="537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&lt;0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61355" y="2972435"/>
            <a:ext cx="537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</a:rPr>
              <a:t>&lt;0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61355" y="3489960"/>
            <a:ext cx="537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</a:rPr>
              <a:t>&gt;0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761355" y="4007485"/>
            <a:ext cx="537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>
                <a:solidFill>
                  <a:srgbClr val="FF0000"/>
                </a:solidFill>
              </a:rPr>
              <a:t>=0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43025" name="Rectangle 115"/>
          <p:cNvSpPr>
            <a:spLocks noChangeArrowheads="1"/>
          </p:cNvSpPr>
          <p:nvPr/>
        </p:nvSpPr>
        <p:spPr bwMode="auto">
          <a:xfrm>
            <a:off x="756285" y="4794250"/>
            <a:ext cx="7472680" cy="829945"/>
          </a:xfrm>
          <a:prstGeom prst="rect">
            <a:avLst/>
          </a:prstGeom>
          <a:solidFill>
            <a:schemeClr val="bg1"/>
          </a:solidFill>
          <a:ln w="9525">
            <a:solidFill>
              <a:srgbClr val="FF0066"/>
            </a:solidFill>
            <a:miter lim="800000"/>
          </a:ln>
        </p:spPr>
        <p:txBody>
          <a:bodyPr wrap="square" lIns="92075" tIns="46038" rIns="92075" bIns="46038" anchor="ctr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chemeClr val="tx2"/>
                </a:solidFill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   </a:t>
            </a:r>
            <a:r>
              <a:rPr lang="zh-CN" altLang="en-US" sz="2400" b="1">
                <a:solidFill>
                  <a:schemeClr val="tx2"/>
                </a:solidFill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注意</a:t>
            </a:r>
            <a:r>
              <a:rPr lang="en-US" altLang="zh-CN" sz="2400" b="1">
                <a:solidFill>
                  <a:schemeClr val="tx2"/>
                </a:solidFill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: </a:t>
            </a:r>
            <a:r>
              <a:rPr lang="zh-CN" altLang="en-US" sz="2400" b="1">
                <a:solidFill>
                  <a:schemeClr val="tx2"/>
                </a:solidFill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比较两个字符串的大小只能使用此函数，而</a:t>
            </a:r>
            <a:r>
              <a:rPr lang="zh-CN" altLang="en-US" sz="24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不能使用</a:t>
            </a:r>
            <a:r>
              <a:rPr lang="zh-CN" altLang="en-US" sz="2400" b="1">
                <a:solidFill>
                  <a:schemeClr val="tx2"/>
                </a:solidFill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“</a:t>
            </a:r>
            <a:r>
              <a:rPr lang="en-US" altLang="zh-CN" sz="2400" b="1">
                <a:solidFill>
                  <a:schemeClr val="tx2"/>
                </a:solidFill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&gt;”</a:t>
            </a:r>
            <a:r>
              <a:rPr lang="zh-CN" altLang="en-US" sz="2400" b="1">
                <a:solidFill>
                  <a:schemeClr val="tx2"/>
                </a:solidFill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、“</a:t>
            </a:r>
            <a:r>
              <a:rPr lang="en-US" altLang="zh-CN" sz="2400" b="1">
                <a:solidFill>
                  <a:schemeClr val="tx2"/>
                </a:solidFill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&lt;”</a:t>
            </a:r>
            <a:r>
              <a:rPr lang="zh-CN" altLang="en-US" sz="2400" b="1">
                <a:solidFill>
                  <a:schemeClr val="tx2"/>
                </a:solidFill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、“</a:t>
            </a:r>
            <a:r>
              <a:rPr lang="en-US" altLang="zh-CN" sz="2400" b="1">
                <a:solidFill>
                  <a:schemeClr val="tx2"/>
                </a:solidFill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==”</a:t>
            </a:r>
            <a:r>
              <a:rPr lang="zh-CN" altLang="en-US" sz="2400" b="1">
                <a:solidFill>
                  <a:schemeClr val="tx2"/>
                </a:solidFill>
                <a:uFillTx/>
                <a:latin typeface="Arial" panose="020B0604020202020204" pitchFamily="34" charset="0"/>
                <a:ea typeface="华文楷体" panose="02010600040101010101" pitchFamily="2" charset="-122"/>
              </a:rPr>
              <a:t>等关系运算符。</a:t>
            </a:r>
            <a:endParaRPr lang="zh-CN" altLang="en-US" sz="2400" b="1">
              <a:solidFill>
                <a:schemeClr val="tx2"/>
              </a:solidFill>
              <a:uFillTx/>
              <a:latin typeface="Arial" panose="020B0604020202020204" pitchFamily="34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这段代码在做什么？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682795"/>
            <a:ext cx="8280000" cy="4255362"/>
          </a:xfrm>
          <a:solidFill>
            <a:schemeClr val="tx1"/>
          </a:solidFill>
        </p:spPr>
        <p:txBody>
          <a:bodyPr>
            <a:normAutofit fontScale="92500" lnSpcReduction="20000"/>
          </a:bodyPr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&lt;string.h&gt;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scanf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strcmp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"end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zh-CN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zh-CN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个输入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(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)字符串复制函数 strcpy( )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252331"/>
            <a:ext cx="8280000" cy="5047670"/>
          </a:xfrm>
        </p:spPr>
        <p:txBody>
          <a:bodyPr/>
          <a:lstStyle/>
          <a:p>
            <a:r>
              <a:rPr lang="zh-CN" altLang="en-US" sz="2800" dirty="0"/>
              <a:t>调用格式：strcpy(str1,str2)</a:t>
            </a:r>
            <a:endParaRPr lang="zh-CN" altLang="en-US" sz="2800" dirty="0"/>
          </a:p>
          <a:p>
            <a:r>
              <a:rPr lang="zh-CN" altLang="en-US" sz="2800" dirty="0"/>
              <a:t>功能：将str2中的字符串</a:t>
            </a:r>
            <a:r>
              <a:rPr lang="zh-CN" altLang="en-US" sz="2800" dirty="0">
                <a:solidFill>
                  <a:srgbClr val="FF0000"/>
                </a:solidFill>
              </a:rPr>
              <a:t>复制</a:t>
            </a:r>
            <a:r>
              <a:rPr lang="zh-CN" altLang="en-US" sz="2800" dirty="0"/>
              <a:t>到str1数组中。</a:t>
            </a:r>
            <a:endParaRPr lang="zh-CN" altLang="en-US" sz="2800" dirty="0"/>
          </a:p>
        </p:txBody>
      </p:sp>
      <p:sp>
        <p:nvSpPr>
          <p:cNvPr id="40992" name="Rectangle 35"/>
          <p:cNvSpPr>
            <a:spLocks noChangeArrowheads="1"/>
          </p:cNvSpPr>
          <p:nvPr/>
        </p:nvSpPr>
        <p:spPr bwMode="auto">
          <a:xfrm>
            <a:off x="952500" y="2415858"/>
            <a:ext cx="7239000" cy="1689100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</a:ln>
        </p:spPr>
        <p:txBody>
          <a:bodyPr>
            <a:noAutofit/>
          </a:bodyPr>
          <a:lstStyle/>
          <a:p>
            <a:pPr lvl="0"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600" b="1" dirty="0">
                <a:ea typeface="华文楷体" panose="02010600040101010101" pitchFamily="2" charset="-122"/>
                <a:sym typeface="+mn-ea"/>
              </a:rPr>
              <a:t>例如：</a:t>
            </a:r>
            <a:endParaRPr lang="zh-CN" altLang="en-US" sz="2600" b="1" dirty="0">
              <a:ea typeface="华文楷体" panose="02010600040101010101" pitchFamily="2" charset="-122"/>
              <a:sym typeface="+mn-ea"/>
            </a:endParaRPr>
          </a:p>
          <a:p>
            <a:pPr lvl="0"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600" b="1" dirty="0">
                <a:ea typeface="华文楷体" panose="02010600040101010101" pitchFamily="2" charset="-122"/>
                <a:sym typeface="+mn-ea"/>
              </a:rPr>
              <a:t>char s1[10],s2[ ] = "Beijing";</a:t>
            </a:r>
            <a:endParaRPr lang="zh-CN" altLang="en-US" sz="2600" b="1" dirty="0">
              <a:ea typeface="华文楷体" panose="02010600040101010101" pitchFamily="2" charset="-122"/>
              <a:sym typeface="+mn-ea"/>
            </a:endParaRPr>
          </a:p>
          <a:p>
            <a:pPr lvl="0"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600" b="1" dirty="0">
                <a:ea typeface="华文楷体" panose="02010600040101010101" pitchFamily="2" charset="-122"/>
                <a:sym typeface="+mn-ea"/>
              </a:rPr>
              <a:t>        strcpy(s1,s2);</a:t>
            </a:r>
            <a:endParaRPr lang="zh-CN" altLang="en-US" sz="2600" b="1" dirty="0">
              <a:ea typeface="华文楷体" panose="02010600040101010101" pitchFamily="2" charset="-122"/>
              <a:sym typeface="+mn-ea"/>
            </a:endParaRPr>
          </a:p>
          <a:p>
            <a:pPr lvl="0" indent="12700" algn="just" eaLnBrk="1" hangingPunct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</a:pPr>
            <a:r>
              <a:rPr lang="zh-CN" altLang="en-US" sz="2600" b="1" dirty="0">
                <a:ea typeface="华文楷体" panose="02010600040101010101" pitchFamily="2" charset="-122"/>
                <a:sym typeface="+mn-ea"/>
              </a:rPr>
              <a:t>或：strcpy(s1,"Beijing");</a:t>
            </a:r>
            <a:endParaRPr lang="zh-CN" altLang="en-US" sz="2600" b="1" dirty="0"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40991" name="Rectangle 34"/>
          <p:cNvSpPr>
            <a:spLocks noChangeArrowheads="1"/>
          </p:cNvSpPr>
          <p:nvPr/>
        </p:nvSpPr>
        <p:spPr bwMode="auto">
          <a:xfrm>
            <a:off x="899795" y="4124960"/>
            <a:ext cx="1419225" cy="517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/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s1</a:t>
            </a:r>
            <a:r>
              <a:rPr lang="zh-CN" altLang="en-US" sz="2400" b="1">
                <a:solidFill>
                  <a:srgbClr val="FF0000"/>
                </a:solidFill>
              </a:rPr>
              <a:t>的结果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40965" name="表格 40964"/>
          <p:cNvGraphicFramePr>
            <a:graphicFrameLocks noGrp="1"/>
          </p:cNvGraphicFramePr>
          <p:nvPr/>
        </p:nvGraphicFramePr>
        <p:xfrm>
          <a:off x="990600" y="4713605"/>
          <a:ext cx="7772400" cy="579755"/>
        </p:xfrm>
        <a:graphic>
          <a:graphicData uri="http://schemas.openxmlformats.org/drawingml/2006/table">
            <a:tbl>
              <a:tblPr/>
              <a:tblGrid>
                <a:gridCol w="777240"/>
                <a:gridCol w="776605"/>
                <a:gridCol w="778510"/>
                <a:gridCol w="777240"/>
                <a:gridCol w="776605"/>
                <a:gridCol w="777240"/>
                <a:gridCol w="776605"/>
                <a:gridCol w="778510"/>
                <a:gridCol w="777240"/>
                <a:gridCol w="776605"/>
              </a:tblGrid>
              <a:tr h="579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B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e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j</a:t>
                      </a:r>
                      <a:endParaRPr kumimoji="0" 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n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g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\0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990" name="Rectangle 33"/>
          <p:cNvSpPr>
            <a:spLocks noChangeArrowheads="1"/>
          </p:cNvSpPr>
          <p:nvPr/>
        </p:nvSpPr>
        <p:spPr bwMode="auto">
          <a:xfrm>
            <a:off x="917575" y="5450672"/>
            <a:ext cx="7845425" cy="95410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indent="266700"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思考：这样赋值</a:t>
            </a:r>
            <a:endParaRPr lang="zh-CN" altLang="en-US" sz="2800" b="1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indent="266700"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s1 = "Beijing" ; 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或  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s1 = s2;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可以吗？为什么？</a:t>
            </a:r>
            <a:endParaRPr lang="zh-CN" altLang="en-US" sz="2800" b="1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(4) 字符串连接函数 strcat( )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443355"/>
            <a:ext cx="8280000" cy="4856645"/>
          </a:xfrm>
        </p:spPr>
        <p:txBody>
          <a:bodyPr/>
          <a:lstStyle/>
          <a:p>
            <a:r>
              <a:rPr lang="zh-CN" altLang="en-US" sz="2800" dirty="0"/>
              <a:t>调用格式：strcat(str1,str2)</a:t>
            </a:r>
            <a:endParaRPr lang="zh-CN" altLang="en-US" sz="2800" dirty="0"/>
          </a:p>
          <a:p>
            <a:r>
              <a:rPr lang="zh-CN" altLang="en-US" sz="2800" dirty="0"/>
              <a:t>功能：把str2中的字符串</a:t>
            </a:r>
            <a:r>
              <a:rPr lang="zh-CN" altLang="en-US" sz="2800" dirty="0">
                <a:solidFill>
                  <a:srgbClr val="FF0000"/>
                </a:solidFill>
              </a:rPr>
              <a:t>连接</a:t>
            </a:r>
            <a:r>
              <a:rPr lang="zh-CN" altLang="en-US" sz="2800" dirty="0"/>
              <a:t>到str1字符串的后面，结果放在str1数组中。</a:t>
            </a:r>
            <a:endParaRPr lang="zh-CN" altLang="en-US" sz="2800" dirty="0"/>
          </a:p>
          <a:p>
            <a:r>
              <a:rPr lang="zh-CN" altLang="en-US" sz="2800" dirty="0"/>
              <a:t>举例</a:t>
            </a:r>
            <a:endParaRPr lang="zh-CN" altLang="en-US" sz="2800" dirty="0"/>
          </a:p>
          <a:p>
            <a:pPr marL="571500" lvl="1" indent="0">
              <a:buNone/>
            </a:pPr>
            <a:r>
              <a:rPr lang="zh-CN" altLang="en-US" sz="2450" dirty="0"/>
              <a:t>char str1[21]= "beijing and ";</a:t>
            </a:r>
            <a:endParaRPr lang="zh-CN" altLang="en-US" sz="2450" dirty="0"/>
          </a:p>
          <a:p>
            <a:pPr marL="571500" lvl="1" indent="0">
              <a:buNone/>
            </a:pPr>
            <a:r>
              <a:rPr lang="zh-CN" altLang="en-US" sz="2450" dirty="0"/>
              <a:t>char str2[ ]= "shanghai";</a:t>
            </a:r>
            <a:endParaRPr lang="zh-CN" altLang="en-US" sz="2450" dirty="0"/>
          </a:p>
          <a:p>
            <a:pPr marL="571500" lvl="1" indent="0">
              <a:buNone/>
            </a:pPr>
            <a:r>
              <a:rPr lang="zh-CN" altLang="en-US" sz="2450" dirty="0"/>
              <a:t>strcat(str1,str2);</a:t>
            </a:r>
            <a:endParaRPr lang="zh-CN" altLang="en-US" sz="2450" dirty="0"/>
          </a:p>
          <a:p>
            <a:pPr marL="571500" lvl="1" indent="0">
              <a:buNone/>
            </a:pPr>
            <a:r>
              <a:rPr lang="zh-CN" altLang="en-US" sz="2450" dirty="0"/>
              <a:t>printf("%s",str1);</a:t>
            </a:r>
            <a:endParaRPr lang="zh-CN" altLang="en-US" sz="2450" dirty="0"/>
          </a:p>
          <a:p>
            <a:pPr marL="571500" lvl="1" indent="0">
              <a:buNone/>
            </a:pPr>
            <a:r>
              <a:rPr lang="zh-CN" altLang="en-US" sz="2450" dirty="0"/>
              <a:t>？输出结果</a:t>
            </a:r>
            <a:endParaRPr lang="zh-CN" altLang="en-US" sz="2450" dirty="0"/>
          </a:p>
        </p:txBody>
      </p:sp>
      <p:sp>
        <p:nvSpPr>
          <p:cNvPr id="44084" name="Rectangle 64"/>
          <p:cNvSpPr/>
          <p:nvPr/>
        </p:nvSpPr>
        <p:spPr>
          <a:xfrm>
            <a:off x="3556870" y="5113296"/>
            <a:ext cx="3185795" cy="4603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x-none" sz="2400" b="1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beijing and shanghai</a:t>
            </a:r>
            <a:endParaRPr lang="en-US" altLang="x-none" sz="2400" b="1" noProof="1">
              <a:solidFill>
                <a:srgbClr val="000000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graphicFrame>
        <p:nvGraphicFramePr>
          <p:cNvPr id="44037" name="表格 44036"/>
          <p:cNvGraphicFramePr>
            <a:graphicFrameLocks noGrp="1"/>
          </p:cNvGraphicFramePr>
          <p:nvPr/>
        </p:nvGraphicFramePr>
        <p:xfrm>
          <a:off x="756285" y="5772896"/>
          <a:ext cx="7403465" cy="457200"/>
        </p:xfrm>
        <a:graphic>
          <a:graphicData uri="http://schemas.openxmlformats.org/drawingml/2006/table">
            <a:tbl>
              <a:tblPr/>
              <a:tblGrid>
                <a:gridCol w="353695"/>
                <a:gridCol w="353695"/>
                <a:gridCol w="349250"/>
                <a:gridCol w="354330"/>
                <a:gridCol w="350520"/>
                <a:gridCol w="354330"/>
                <a:gridCol w="351790"/>
                <a:gridCol w="353695"/>
                <a:gridCol w="353695"/>
                <a:gridCol w="351155"/>
                <a:gridCol w="351155"/>
                <a:gridCol w="351155"/>
                <a:gridCol w="353695"/>
                <a:gridCol w="353695"/>
                <a:gridCol w="351790"/>
                <a:gridCol w="354330"/>
                <a:gridCol w="350520"/>
                <a:gridCol w="354330"/>
                <a:gridCol w="306070"/>
                <a:gridCol w="326390"/>
                <a:gridCol w="42418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b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e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j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n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g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n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d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s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h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n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g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h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a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\0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8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补充函数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2800" dirty="0"/>
              <a:t>int </a:t>
            </a:r>
            <a:r>
              <a:rPr lang="en-US" altLang="zh-CN" sz="2800" dirty="0" err="1"/>
              <a:t>strncmp</a:t>
            </a:r>
            <a:r>
              <a:rPr lang="en-US" altLang="zh-CN" sz="2800" dirty="0"/>
              <a:t>(const char *str1, const char *str2, </a:t>
            </a:r>
            <a:r>
              <a:rPr lang="en-US" altLang="zh-CN" sz="2800" dirty="0" err="1"/>
              <a:t>size_t</a:t>
            </a:r>
            <a:r>
              <a:rPr lang="en-US" altLang="zh-CN" sz="2800" dirty="0"/>
              <a:t> n) </a:t>
            </a:r>
            <a:endParaRPr lang="en-US" altLang="zh-CN" sz="2800" dirty="0"/>
          </a:p>
          <a:p>
            <a:r>
              <a:rPr lang="zh-CN" altLang="en-US" sz="2800" dirty="0"/>
              <a:t>用于比较两个字符串的前 </a:t>
            </a:r>
            <a:r>
              <a:rPr lang="en-US" altLang="zh-CN" sz="2800" b="1" dirty="0"/>
              <a:t>n</a:t>
            </a:r>
            <a:r>
              <a:rPr lang="zh-CN" altLang="en-US" sz="2800" dirty="0"/>
              <a:t> 个字符是否相等。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 err="1"/>
              <a:t>strncpy</a:t>
            </a:r>
            <a:r>
              <a:rPr lang="en-US" altLang="zh-CN" sz="2800" dirty="0"/>
              <a:t>( char *restrict </a:t>
            </a:r>
            <a:r>
              <a:rPr lang="en-US" altLang="zh-CN" sz="2800" dirty="0" err="1"/>
              <a:t>dest</a:t>
            </a:r>
            <a:r>
              <a:rPr lang="en-US" altLang="zh-CN" sz="2800" dirty="0"/>
              <a:t>, const char *restrict </a:t>
            </a:r>
            <a:r>
              <a:rPr lang="en-US" altLang="zh-CN" sz="2800" dirty="0" err="1"/>
              <a:t>src</a:t>
            </a:r>
            <a:r>
              <a:rPr lang="en-US" altLang="zh-CN" sz="2800" dirty="0"/>
              <a:t>, </a:t>
            </a:r>
            <a:r>
              <a:rPr lang="en-US" altLang="zh-CN" sz="2800" dirty="0" err="1">
                <a:hlinkClick r:id="rId1"/>
              </a:rPr>
              <a:t>size_t</a:t>
            </a:r>
            <a:r>
              <a:rPr lang="en-US" altLang="zh-CN" sz="2800" dirty="0"/>
              <a:t> n);</a:t>
            </a:r>
            <a:endParaRPr lang="en-US" altLang="zh-CN" sz="2800" dirty="0"/>
          </a:p>
          <a:p>
            <a:r>
              <a:rPr lang="zh-CN" altLang="en-US" sz="2800" dirty="0"/>
              <a:t>往</a:t>
            </a:r>
            <a:r>
              <a:rPr lang="en-US" altLang="zh-CN" sz="2800" dirty="0" err="1"/>
              <a:t>dest</a:t>
            </a:r>
            <a:r>
              <a:rPr lang="zh-CN" altLang="en-US" sz="2800" dirty="0"/>
              <a:t>中复制最多</a:t>
            </a:r>
            <a:r>
              <a:rPr lang="en-US" altLang="zh-CN" sz="2800" b="1" dirty="0"/>
              <a:t>n</a:t>
            </a:r>
            <a:r>
              <a:rPr lang="zh-CN" altLang="en-US" sz="2800" dirty="0"/>
              <a:t>个</a:t>
            </a:r>
            <a:r>
              <a:rPr lang="en-US" altLang="zh-CN" sz="2800" dirty="0" err="1"/>
              <a:t>src</a:t>
            </a:r>
            <a:r>
              <a:rPr lang="zh-CN" altLang="en-US" sz="2800" dirty="0"/>
              <a:t>中的字符</a:t>
            </a:r>
            <a:endParaRPr lang="en-US" altLang="zh-CN" sz="2800" dirty="0"/>
          </a:p>
          <a:p>
            <a:endParaRPr lang="fr-FR" altLang="zh-CN" sz="2800" dirty="0"/>
          </a:p>
          <a:p>
            <a:r>
              <a:rPr lang="fr-FR" altLang="zh-CN" sz="2800" dirty="0"/>
              <a:t>strncat(char *dest, const char *src, size_t n)</a:t>
            </a:r>
            <a:endParaRPr lang="fr-FR" altLang="zh-CN" sz="2800" dirty="0"/>
          </a:p>
          <a:p>
            <a:r>
              <a:rPr lang="zh-CN" altLang="en-US" sz="2800" dirty="0"/>
              <a:t>在</a:t>
            </a:r>
            <a:r>
              <a:rPr lang="en-US" altLang="zh-CN" sz="2800" dirty="0" err="1"/>
              <a:t>dest</a:t>
            </a:r>
            <a:r>
              <a:rPr lang="zh-CN" altLang="en-US" sz="2800" dirty="0"/>
              <a:t>后面拼接最多</a:t>
            </a:r>
            <a:r>
              <a:rPr lang="en-US" altLang="zh-CN" sz="2800" b="1" dirty="0"/>
              <a:t>n</a:t>
            </a:r>
            <a:r>
              <a:rPr lang="zh-CN" altLang="en-US" sz="2800" dirty="0"/>
              <a:t>个</a:t>
            </a:r>
            <a:r>
              <a:rPr lang="en-US" altLang="zh-CN" sz="2800" dirty="0" err="1"/>
              <a:t>src</a:t>
            </a:r>
            <a:r>
              <a:rPr lang="zh-CN" altLang="en-US" sz="2800" dirty="0"/>
              <a:t>中的字符</a:t>
            </a:r>
            <a:endParaRPr lang="en-US" altLang="zh-CN" sz="2800" dirty="0"/>
          </a:p>
          <a:p>
            <a:endParaRPr lang="en-US" altLang="zh-CN" sz="2800" dirty="0"/>
          </a:p>
          <a:p>
            <a:endParaRPr lang="fr-FR" altLang="zh-CN" sz="2800" dirty="0"/>
          </a:p>
          <a:p>
            <a:endParaRPr lang="en-US" altLang="zh-CN" sz="32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常用字符串的操作函数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645920"/>
            <a:ext cx="8280000" cy="4654080"/>
          </a:xfrm>
        </p:spPr>
        <p:txBody>
          <a:bodyPr>
            <a:normAutofit/>
          </a:bodyPr>
          <a:lstStyle/>
          <a:p>
            <a:pPr lvl="0" indent="0">
              <a:buNone/>
            </a:pPr>
            <a:r>
              <a:rPr lang="en-US" altLang="zh-CN" sz="3200" dirty="0">
                <a:solidFill>
                  <a:schemeClr val="accent1"/>
                </a:solidFill>
              </a:rPr>
              <a:t>#include&lt;string.h&gt;</a:t>
            </a:r>
            <a:endParaRPr lang="en-US" altLang="zh-CN" sz="3200" dirty="0">
              <a:solidFill>
                <a:schemeClr val="accent1"/>
              </a:solidFill>
            </a:endParaRPr>
          </a:p>
          <a:p>
            <a:pPr lvl="0" indent="0">
              <a:buNone/>
            </a:pPr>
            <a:r>
              <a:rPr lang="en-US" altLang="zh-CN" sz="3200" dirty="0"/>
              <a:t>(</a:t>
            </a:r>
            <a:r>
              <a:rPr lang="zh-CN" altLang="en-US" sz="3200" dirty="0"/>
              <a:t>1</a:t>
            </a:r>
            <a:r>
              <a:rPr lang="en-US" altLang="zh-CN" sz="3200" dirty="0"/>
              <a:t>) </a:t>
            </a:r>
            <a:r>
              <a:rPr lang="zh-CN" altLang="en-US" sz="3200" dirty="0"/>
              <a:t>求字符串长度： strlen</a:t>
            </a:r>
            <a:endParaRPr lang="zh-CN" altLang="en-US" sz="3200" dirty="0"/>
          </a:p>
          <a:p>
            <a:pPr indent="0">
              <a:buNone/>
            </a:pPr>
            <a:r>
              <a:rPr lang="en-US" altLang="zh-CN" sz="3200" dirty="0"/>
              <a:t>(</a:t>
            </a:r>
            <a:r>
              <a:rPr lang="zh-CN" altLang="en-US" sz="3200" dirty="0"/>
              <a:t>2</a:t>
            </a:r>
            <a:r>
              <a:rPr lang="en-US" altLang="zh-CN" sz="3200" dirty="0"/>
              <a:t>) </a:t>
            </a:r>
            <a:r>
              <a:rPr lang="zh-CN" altLang="en-US" sz="3200" dirty="0"/>
              <a:t>字符串比较： strcmp</a:t>
            </a:r>
            <a:r>
              <a:rPr lang="en-US" altLang="zh-CN" sz="3200" dirty="0"/>
              <a:t>, </a:t>
            </a:r>
            <a:r>
              <a:rPr lang="en-US" altLang="zh-CN" sz="3200" dirty="0" err="1"/>
              <a:t>strncmp</a:t>
            </a:r>
            <a:endParaRPr lang="zh-CN" altLang="en-US" sz="3200" dirty="0"/>
          </a:p>
          <a:p>
            <a:pPr lvl="0" indent="0">
              <a:buNone/>
            </a:pPr>
            <a:r>
              <a:rPr lang="en-US" altLang="zh-CN" sz="3200" dirty="0"/>
              <a:t>(3) </a:t>
            </a:r>
            <a:r>
              <a:rPr lang="zh-CN" altLang="en-US" sz="3200" dirty="0"/>
              <a:t>字符串复制： strcpy</a:t>
            </a:r>
            <a:r>
              <a:rPr lang="en-US" altLang="zh-CN" sz="3200" dirty="0">
                <a:sym typeface="+mn-ea"/>
              </a:rPr>
              <a:t>, </a:t>
            </a:r>
            <a:r>
              <a:rPr lang="en-US" altLang="zh-CN" sz="3200" dirty="0" err="1">
                <a:sym typeface="+mn-ea"/>
              </a:rPr>
              <a:t>strncpy</a:t>
            </a:r>
            <a:endParaRPr lang="en-US" altLang="zh-CN" sz="3200" dirty="0"/>
          </a:p>
          <a:p>
            <a:pPr lvl="0" indent="0">
              <a:buNone/>
            </a:pPr>
            <a:r>
              <a:rPr lang="en-US" altLang="zh-CN" sz="3200" dirty="0"/>
              <a:t>(4) </a:t>
            </a:r>
            <a:r>
              <a:rPr lang="zh-CN" altLang="en-US" sz="3200" dirty="0"/>
              <a:t>字符串合并： strcat</a:t>
            </a:r>
            <a:r>
              <a:rPr lang="en-US" altLang="zh-CN" sz="3200" dirty="0"/>
              <a:t>, </a:t>
            </a:r>
            <a:r>
              <a:rPr lang="en-US" altLang="zh-CN" sz="3200" dirty="0" err="1"/>
              <a:t>strncat</a:t>
            </a:r>
            <a:endParaRPr lang="en-US" altLang="zh-CN" sz="3200" dirty="0"/>
          </a:p>
          <a:p>
            <a:pPr lvl="0" indent="0">
              <a:buNone/>
            </a:pPr>
            <a:r>
              <a:rPr lang="en-US" altLang="zh-CN" sz="3200" dirty="0">
                <a:solidFill>
                  <a:schemeClr val="bg2">
                    <a:lumMod val="50000"/>
                  </a:schemeClr>
                </a:solidFill>
              </a:rPr>
              <a:t>(5)</a:t>
            </a:r>
            <a:r>
              <a:rPr lang="zh-CN" altLang="en-US" sz="32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altLang="zh-CN" sz="3200" dirty="0" err="1">
                <a:solidFill>
                  <a:schemeClr val="bg2">
                    <a:lumMod val="50000"/>
                  </a:schemeClr>
                </a:solidFill>
              </a:rPr>
              <a:t>strstr</a:t>
            </a:r>
            <a:r>
              <a:rPr lang="zh-CN" altLang="en-US" sz="3200" dirty="0">
                <a:solidFill>
                  <a:schemeClr val="bg2">
                    <a:lumMod val="50000"/>
                  </a:schemeClr>
                </a:solidFill>
              </a:rPr>
              <a:t>：字符查找 </a:t>
            </a:r>
            <a:r>
              <a:rPr lang="en-US" altLang="zh-CN" sz="3200" dirty="0">
                <a:solidFill>
                  <a:schemeClr val="bg2">
                    <a:lumMod val="50000"/>
                  </a:schemeClr>
                </a:solidFill>
              </a:rPr>
              <a:t>//</a:t>
            </a:r>
            <a:r>
              <a:rPr lang="zh-CN" altLang="en-US" sz="3200" dirty="0">
                <a:solidFill>
                  <a:schemeClr val="bg2">
                    <a:lumMod val="50000"/>
                  </a:schemeClr>
                </a:solidFill>
              </a:rPr>
              <a:t>不太容易掌握</a:t>
            </a:r>
            <a:endParaRPr lang="zh-CN" altLang="en-US" sz="3200" dirty="0">
              <a:solidFill>
                <a:schemeClr val="bg2">
                  <a:lumMod val="50000"/>
                </a:schemeClr>
              </a:solidFill>
            </a:endParaRPr>
          </a:p>
          <a:p>
            <a:pPr lvl="0" indent="0">
              <a:buNone/>
            </a:pPr>
            <a:r>
              <a:rPr lang="en-US" altLang="zh-CN" sz="3200" dirty="0">
                <a:solidFill>
                  <a:schemeClr val="bg2">
                    <a:lumMod val="90000"/>
                  </a:schemeClr>
                </a:solidFill>
              </a:rPr>
              <a:t>(6) </a:t>
            </a:r>
            <a:r>
              <a:rPr lang="zh-CN" altLang="en-US" sz="3200" dirty="0">
                <a:solidFill>
                  <a:schemeClr val="bg2">
                    <a:lumMod val="90000"/>
                  </a:schemeClr>
                </a:solidFill>
              </a:rPr>
              <a:t>strrev: 字符串逆置 </a:t>
            </a:r>
            <a:r>
              <a:rPr lang="en-US" altLang="zh-CN" sz="3200" dirty="0">
                <a:solidFill>
                  <a:schemeClr val="bg2">
                    <a:lumMod val="75000"/>
                  </a:schemeClr>
                </a:solidFill>
              </a:rPr>
              <a:t>//</a:t>
            </a:r>
            <a:r>
              <a:rPr lang="en-US" altLang="zh-CN" sz="3200" dirty="0" err="1">
                <a:solidFill>
                  <a:schemeClr val="bg2">
                    <a:lumMod val="75000"/>
                  </a:schemeClr>
                </a:solidFill>
              </a:rPr>
              <a:t>yoj</a:t>
            </a:r>
            <a:r>
              <a:rPr lang="zh-CN" altLang="en-US" sz="3200" dirty="0">
                <a:solidFill>
                  <a:schemeClr val="bg2">
                    <a:lumMod val="75000"/>
                  </a:schemeClr>
                </a:solidFill>
              </a:rPr>
              <a:t>不支持</a:t>
            </a:r>
            <a:endParaRPr lang="zh-CN" altLang="en-US" sz="3200" dirty="0">
              <a:solidFill>
                <a:schemeClr val="bg2">
                  <a:lumMod val="75000"/>
                </a:schemeClr>
              </a:solidFill>
            </a:endParaRPr>
          </a:p>
          <a:p>
            <a:endParaRPr lang="zh-CN" altLang="en-US" sz="2800" dirty="0"/>
          </a:p>
        </p:txBody>
      </p:sp>
      <p:sp>
        <p:nvSpPr>
          <p:cNvPr id="6" name="Rectangle 1"/>
          <p:cNvSpPr/>
          <p:nvPr/>
        </p:nvSpPr>
        <p:spPr>
          <a:xfrm>
            <a:off x="432000" y="6052720"/>
            <a:ext cx="8392041" cy="4945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3200" dirty="0">
                <a:solidFill>
                  <a:srgbClr val="C00000"/>
                </a:solidFill>
              </a:rPr>
              <a:t>课后任务：自己编写代码实现上述字符串操作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) 字符串查找 str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str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( )，选学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331651"/>
            <a:ext cx="8280000" cy="4968350"/>
          </a:xfrm>
        </p:spPr>
        <p:txBody>
          <a:bodyPr/>
          <a:lstStyle/>
          <a:p>
            <a:r>
              <a:rPr lang="zh-CN" altLang="en-US" sz="2400" dirty="0"/>
              <a:t>调用格式：str</a:t>
            </a:r>
            <a:r>
              <a:rPr lang="en-US" altLang="zh-CN" sz="2400" dirty="0"/>
              <a:t>str</a:t>
            </a:r>
            <a:r>
              <a:rPr lang="zh-CN" altLang="en-US" sz="2400" dirty="0"/>
              <a:t>(str1,str2)</a:t>
            </a:r>
            <a:endParaRPr lang="zh-CN" altLang="en-US" sz="2400" dirty="0"/>
          </a:p>
          <a:p>
            <a:r>
              <a:rPr lang="zh-CN" altLang="en-US" dirty="0"/>
              <a:t>返回：</a:t>
            </a:r>
            <a:r>
              <a:rPr lang="en-US" altLang="zh-CN" dirty="0"/>
              <a:t>str3</a:t>
            </a:r>
            <a:r>
              <a:rPr lang="zh-CN" altLang="en-US" dirty="0"/>
              <a:t>，或者为</a:t>
            </a:r>
            <a:r>
              <a:rPr lang="en-US" altLang="zh-CN" dirty="0"/>
              <a:t>NULL</a:t>
            </a:r>
            <a:r>
              <a:rPr lang="zh-CN" altLang="en-US" dirty="0"/>
              <a:t>（如果</a:t>
            </a:r>
            <a:r>
              <a:rPr lang="en-US" altLang="zh-CN" dirty="0"/>
              <a:t>str2</a:t>
            </a:r>
            <a:r>
              <a:rPr lang="zh-CN" altLang="en-US" dirty="0"/>
              <a:t>不在</a:t>
            </a:r>
            <a:r>
              <a:rPr lang="en-US" altLang="zh-CN" dirty="0"/>
              <a:t>str1</a:t>
            </a:r>
            <a:r>
              <a:rPr lang="zh-CN" altLang="en-US" dirty="0"/>
              <a:t>中），或者为一个字符串，为</a:t>
            </a:r>
            <a:r>
              <a:rPr lang="en-US" altLang="zh-CN" dirty="0"/>
              <a:t>str1</a:t>
            </a:r>
            <a:r>
              <a:rPr lang="zh-CN" altLang="en-US" dirty="0"/>
              <a:t>中</a:t>
            </a:r>
            <a:r>
              <a:rPr lang="zh-CN" altLang="en-US" b="1" dirty="0"/>
              <a:t>第一次</a:t>
            </a:r>
            <a:r>
              <a:rPr lang="zh-CN" altLang="en-US" dirty="0"/>
              <a:t>找到</a:t>
            </a:r>
            <a:r>
              <a:rPr lang="en-US" altLang="zh-CN" dirty="0"/>
              <a:t>str2</a:t>
            </a:r>
            <a:r>
              <a:rPr lang="zh-CN" altLang="en-US" dirty="0"/>
              <a:t>的起始位置</a:t>
            </a:r>
            <a:endParaRPr lang="en-US" altLang="zh-CN" dirty="0"/>
          </a:p>
        </p:txBody>
      </p:sp>
      <p:sp>
        <p:nvSpPr>
          <p:cNvPr id="5" name="TextBox 4"/>
          <p:cNvSpPr txBox="1"/>
          <p:nvPr/>
        </p:nvSpPr>
        <p:spPr>
          <a:xfrm>
            <a:off x="-446314" y="2728355"/>
            <a:ext cx="9590314" cy="28623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</a:t>
            </a:r>
            <a:r>
              <a:rPr lang="en-US" altLang="zh-CN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hello </a:t>
            </a:r>
            <a:r>
              <a:rPr lang="en-US" altLang="zh-CN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hahaha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123"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abc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str3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hahaha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str4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</a:t>
            </a:r>
            <a:r>
              <a:rPr lang="en-US" altLang="zh-CN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str5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appeared"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strstr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strstr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str2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strstr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str3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strstr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str3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strstr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str4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strstr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str4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%s</a:t>
            </a:r>
            <a:r>
              <a:rPr lang="en-US" altLang="zh-CN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zh-CN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strstr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str5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strstr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str1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str5</a:t>
            </a:r>
            <a:r>
              <a:rPr lang="en-US" altLang="zh-CN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altLang="zh-CN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5672723"/>
            <a:ext cx="3609320" cy="11004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30186" y="5930536"/>
            <a:ext cx="1839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输出</a:t>
            </a:r>
            <a:r>
              <a:rPr lang="en-US" altLang="zh-CN" sz="3200" dirty="0"/>
              <a:t>: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5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) 字符串查找 str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str</a:t>
            </a:r>
            <a:r>
              <a:rPr lang="zh-CN" altLang="en-US" dirty="0">
                <a:solidFill>
                  <a:schemeClr val="bg2">
                    <a:lumMod val="50000"/>
                  </a:schemeClr>
                </a:solidFill>
              </a:rPr>
              <a:t>( )，选学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strstr</a:t>
            </a:r>
            <a:r>
              <a:rPr lang="zh-CN" altLang="en-US" dirty="0"/>
              <a:t>的结果需要用</a:t>
            </a:r>
            <a:r>
              <a:rPr lang="en-US" altLang="zh-CN" dirty="0"/>
              <a:t>char * str3</a:t>
            </a:r>
            <a:r>
              <a:rPr lang="zh-CN" altLang="en-US" dirty="0"/>
              <a:t>这样的变量来存储，</a:t>
            </a:r>
            <a:r>
              <a:rPr lang="en-US" altLang="zh-CN" dirty="0"/>
              <a:t>char *</a:t>
            </a:r>
            <a:r>
              <a:rPr lang="zh-CN" altLang="en-US" dirty="0"/>
              <a:t>可以和数组一样使用，如</a:t>
            </a:r>
            <a:r>
              <a:rPr lang="en-US" altLang="zh-CN" dirty="0"/>
              <a:t>str3[0]</a:t>
            </a:r>
            <a:r>
              <a:rPr lang="zh-CN" altLang="en-US" dirty="0"/>
              <a:t>为</a:t>
            </a:r>
            <a:r>
              <a:rPr lang="zh-CN" altLang="en-US" dirty="0"/>
              <a:t>该数组的第一个数字</a:t>
            </a:r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2">
                    <a:lumMod val="90000"/>
                  </a:schemeClr>
                </a:solidFill>
              </a:rPr>
              <a:t>(</a:t>
            </a:r>
            <a:r>
              <a:rPr lang="en-US" altLang="zh-CN" dirty="0">
                <a:solidFill>
                  <a:schemeClr val="bg2">
                    <a:lumMod val="90000"/>
                  </a:schemeClr>
                </a:solidFill>
              </a:rPr>
              <a:t>6</a:t>
            </a:r>
            <a:r>
              <a:rPr lang="zh-CN" altLang="en-US" dirty="0">
                <a:solidFill>
                  <a:schemeClr val="bg2">
                    <a:lumMod val="90000"/>
                  </a:schemeClr>
                </a:solidFill>
              </a:rPr>
              <a:t>) 字符串逆置函数 strrev( )</a:t>
            </a:r>
            <a:endParaRPr lang="zh-CN" alt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331651"/>
            <a:ext cx="8280000" cy="4968350"/>
          </a:xfrm>
        </p:spPr>
        <p:txBody>
          <a:bodyPr/>
          <a:lstStyle/>
          <a:p>
            <a:r>
              <a:rPr lang="en-US" altLang="zh-CN" sz="2800" dirty="0" err="1">
                <a:solidFill>
                  <a:schemeClr val="bg2">
                    <a:lumMod val="90000"/>
                  </a:schemeClr>
                </a:solidFill>
              </a:rPr>
              <a:t>yoj</a:t>
            </a:r>
            <a:r>
              <a:rPr lang="zh-CN" altLang="en-US" sz="2800" dirty="0">
                <a:solidFill>
                  <a:schemeClr val="bg2">
                    <a:lumMod val="90000"/>
                  </a:schemeClr>
                </a:solidFill>
              </a:rPr>
              <a:t>上不支持</a:t>
            </a:r>
            <a:endParaRPr lang="en-US" altLang="zh-CN" sz="2800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zh-CN" altLang="en-US" sz="2800" dirty="0"/>
              <a:t>调用格式： strrev(str)</a:t>
            </a:r>
            <a:endParaRPr lang="zh-CN" altLang="en-US" sz="2800" dirty="0"/>
          </a:p>
          <a:p>
            <a:r>
              <a:rPr lang="zh-CN" altLang="en-US" sz="2800" dirty="0"/>
              <a:t>功能：字符串str的所有字符的顺序</a:t>
            </a:r>
            <a:r>
              <a:rPr lang="zh-CN" altLang="en-US" sz="2800" dirty="0">
                <a:solidFill>
                  <a:srgbClr val="FF0000"/>
                </a:solidFill>
              </a:rPr>
              <a:t>颠倒</a:t>
            </a:r>
            <a:r>
              <a:rPr lang="zh-CN" altLang="en-US" sz="2800" dirty="0"/>
              <a:t>过来(不包括</a:t>
            </a:r>
            <a:r>
              <a:rPr lang="en-US" altLang="zh-CN" sz="2800" dirty="0">
                <a:sym typeface="+mn-ea"/>
              </a:rPr>
              <a:t>'</a:t>
            </a:r>
            <a:r>
              <a:rPr lang="zh-CN" altLang="en-US" sz="2800" dirty="0">
                <a:sym typeface="+mn-ea"/>
              </a:rPr>
              <a:t>\0</a:t>
            </a:r>
            <a:r>
              <a:rPr lang="en-US" altLang="zh-CN" sz="2800" dirty="0">
                <a:sym typeface="+mn-ea"/>
              </a:rPr>
              <a:t>'</a:t>
            </a:r>
            <a:r>
              <a:rPr lang="zh-CN" altLang="en-US" sz="2800" dirty="0"/>
              <a:t>)。</a:t>
            </a:r>
            <a:endParaRPr lang="zh-CN" altLang="en-US" sz="2800" dirty="0"/>
          </a:p>
          <a:p>
            <a:r>
              <a:rPr lang="zh-CN" altLang="zh-CN" sz="2800" dirty="0"/>
              <a:t>举例</a:t>
            </a:r>
            <a:endParaRPr lang="zh-CN" altLang="zh-CN" sz="2800" dirty="0"/>
          </a:p>
          <a:p>
            <a:pPr marL="0" lvl="1" indent="457200" algn="l" latinLnBrk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50" dirty="0">
                <a:sym typeface="+mn-ea"/>
              </a:rPr>
              <a:t>char str[10]="hello";</a:t>
            </a:r>
            <a:endParaRPr lang="zh-CN" altLang="en-US" sz="2450" b="1" dirty="0"/>
          </a:p>
          <a:p>
            <a:pPr marL="0" lvl="1" indent="457200" algn="l" latinLnBrk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50" dirty="0">
                <a:sym typeface="+mn-ea"/>
              </a:rPr>
              <a:t>strrev( str );</a:t>
            </a:r>
            <a:endParaRPr lang="zh-CN" altLang="en-US" sz="2450" b="1" dirty="0"/>
          </a:p>
          <a:p>
            <a:pPr marL="0" lvl="1" indent="457200" algn="l" latinLnBrk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50" dirty="0">
                <a:sym typeface="+mn-ea"/>
              </a:rPr>
              <a:t>printf("%s",str);</a:t>
            </a:r>
            <a:endParaRPr lang="zh-CN" altLang="en-US" sz="2450" dirty="0">
              <a:sym typeface="+mn-ea"/>
            </a:endParaRPr>
          </a:p>
          <a:p>
            <a:pPr marL="0" lvl="1" indent="457200" algn="l" latinLnBrk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2450" dirty="0">
                <a:sym typeface="+mn-ea"/>
              </a:rPr>
              <a:t>？输出结果</a:t>
            </a:r>
            <a:endParaRPr lang="zh-CN" altLang="en-US" sz="2450" dirty="0"/>
          </a:p>
        </p:txBody>
      </p:sp>
      <p:sp>
        <p:nvSpPr>
          <p:cNvPr id="45061" name="Rectangle 64"/>
          <p:cNvSpPr/>
          <p:nvPr/>
        </p:nvSpPr>
        <p:spPr>
          <a:xfrm>
            <a:off x="3426239" y="4113019"/>
            <a:ext cx="1624965" cy="4603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 eaLnBrk="1" hangingPunct="1">
              <a:buClr>
                <a:srgbClr val="A5002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x-none" sz="2400" b="1" noProof="1">
                <a:solidFill>
                  <a:srgbClr val="000000"/>
                </a:solidFill>
                <a:effectLst>
                  <a:outerShdw blurRad="38100" dist="38100" dir="2700000">
                    <a:srgbClr val="C0C0C0"/>
                  </a:outerShdw>
                </a:effectLst>
                <a:ea typeface="宋体" panose="02010600030101010101" pitchFamily="2" charset="-122"/>
              </a:rPr>
              <a:t>olleh</a:t>
            </a:r>
            <a:endParaRPr lang="en-US" altLang="x-none" sz="2400" b="1" noProof="1">
              <a:solidFill>
                <a:srgbClr val="000000"/>
              </a:solidFill>
              <a:effectLst>
                <a:outerShdw blurRad="38100" dist="38100" dir="2700000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45063" name="Rectangle 65"/>
          <p:cNvSpPr>
            <a:spLocks noChangeArrowheads="1"/>
          </p:cNvSpPr>
          <p:nvPr/>
        </p:nvSpPr>
        <p:spPr bwMode="auto">
          <a:xfrm>
            <a:off x="621121" y="5549065"/>
            <a:ext cx="8131175" cy="8769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indent="12700" algn="just" eaLnBrk="1" hangingPunct="1"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uFillTx/>
                <a:ea typeface="华文楷体" panose="02010600040101010101" pitchFamily="2" charset="-122"/>
              </a:rPr>
              <a:t>     </a:t>
            </a:r>
            <a:r>
              <a:rPr lang="zh-CN" altLang="en-US" sz="2400" b="1" dirty="0">
                <a:solidFill>
                  <a:srgbClr val="FF0000"/>
                </a:solidFill>
                <a:uFillTx/>
                <a:ea typeface="华文楷体" panose="02010600040101010101" pitchFamily="2" charset="-122"/>
              </a:rPr>
              <a:t>注意</a:t>
            </a:r>
            <a:r>
              <a:rPr lang="zh-CN" altLang="en-US" sz="2400" b="1" dirty="0">
                <a:solidFill>
                  <a:srgbClr val="000000"/>
                </a:solidFill>
                <a:uFillTx/>
                <a:ea typeface="华文楷体" panose="02010600040101010101" pitchFamily="2" charset="-122"/>
              </a:rPr>
              <a:t>：</a:t>
            </a:r>
            <a:r>
              <a:rPr lang="en-US" altLang="zh-CN" sz="2400" b="1" dirty="0" err="1">
                <a:solidFill>
                  <a:srgbClr val="000000"/>
                </a:solidFill>
                <a:uFillTx/>
                <a:ea typeface="华文楷体" panose="02010600040101010101" pitchFamily="2" charset="-122"/>
              </a:rPr>
              <a:t>strrev</a:t>
            </a:r>
            <a:r>
              <a:rPr lang="en-US" altLang="zh-CN" sz="2400" b="1" dirty="0">
                <a:solidFill>
                  <a:srgbClr val="000000"/>
                </a:solidFill>
                <a:uFillTx/>
                <a:ea typeface="华文楷体" panose="02010600040101010101" pitchFamily="2" charset="-122"/>
              </a:rPr>
              <a:t>()</a:t>
            </a:r>
            <a:r>
              <a:rPr lang="zh-CN" altLang="en-US" sz="2400" b="1" dirty="0">
                <a:solidFill>
                  <a:srgbClr val="000000"/>
                </a:solidFill>
                <a:uFillTx/>
                <a:ea typeface="华文楷体" panose="02010600040101010101" pitchFamily="2" charset="-122"/>
              </a:rPr>
              <a:t>函数</a:t>
            </a:r>
            <a:r>
              <a:rPr lang="zh-CN" altLang="en-US" sz="2400" b="1" dirty="0">
                <a:solidFill>
                  <a:srgbClr val="FF0000"/>
                </a:solidFill>
                <a:uFillTx/>
                <a:ea typeface="华文楷体" panose="02010600040101010101" pitchFamily="2" charset="-122"/>
              </a:rPr>
              <a:t>不是标准</a:t>
            </a:r>
            <a:r>
              <a:rPr lang="en-US" altLang="zh-CN" sz="2400" b="1" dirty="0">
                <a:solidFill>
                  <a:srgbClr val="FF0000"/>
                </a:solidFill>
                <a:uFillTx/>
                <a:ea typeface="华文楷体" panose="02010600040101010101" pitchFamily="2" charset="-122"/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  <a:uFillTx/>
                <a:ea typeface="华文楷体" panose="02010600040101010101" pitchFamily="2" charset="-122"/>
              </a:rPr>
              <a:t>的库函数</a:t>
            </a:r>
            <a:r>
              <a:rPr lang="zh-CN" altLang="en-US" sz="2400" b="1" dirty="0">
                <a:solidFill>
                  <a:srgbClr val="000000"/>
                </a:solidFill>
                <a:uFillTx/>
                <a:ea typeface="华文楷体" panose="02010600040101010101" pitchFamily="2" charset="-122"/>
              </a:rPr>
              <a:t>，某些编译器没有包含该函数的定义。</a:t>
            </a:r>
            <a:endParaRPr lang="zh-CN" altLang="en-US" sz="2400" b="1" dirty="0">
              <a:solidFill>
                <a:srgbClr val="000000"/>
              </a:solidFill>
              <a:uFillTx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97205" y="1449208"/>
            <a:ext cx="4827905" cy="503110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400" dirty="0"/>
              <a:t>int main()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{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 int i, j, len;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 len = strlen(str);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for(i = 0, j = len-1; i &lt; j;  i++, j--)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{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   char temp = str[i];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   str[i] = str[j];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   str[j] = temp;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    }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return 0;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}</a:t>
            </a:r>
            <a:endParaRPr lang="zh-CN" alt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自己实现字符串逆置功能</a:t>
            </a:r>
            <a:endParaRPr lang="zh-CN" altLang="en-US" dirty="0"/>
          </a:p>
        </p:txBody>
      </p:sp>
      <p:graphicFrame>
        <p:nvGraphicFramePr>
          <p:cNvPr id="44037" name="表格 44036"/>
          <p:cNvGraphicFramePr>
            <a:graphicFrameLocks noGrp="1"/>
          </p:cNvGraphicFramePr>
          <p:nvPr/>
        </p:nvGraphicFramePr>
        <p:xfrm>
          <a:off x="5611495" y="2366010"/>
          <a:ext cx="2891790" cy="530225"/>
        </p:xfrm>
        <a:graphic>
          <a:graphicData uri="http://schemas.openxmlformats.org/drawingml/2006/table">
            <a:tbl>
              <a:tblPr/>
              <a:tblGrid>
                <a:gridCol w="353695"/>
                <a:gridCol w="353695"/>
                <a:gridCol w="349250"/>
                <a:gridCol w="354330"/>
                <a:gridCol w="350520"/>
                <a:gridCol w="354330"/>
                <a:gridCol w="351790"/>
                <a:gridCol w="424180"/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b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e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j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n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g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\0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502" marB="455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5516880" y="2944495"/>
            <a:ext cx="267335" cy="661035"/>
            <a:chOff x="8257" y="7571"/>
            <a:chExt cx="421" cy="1041"/>
          </a:xfrm>
        </p:grpSpPr>
        <p:cxnSp>
          <p:nvCxnSpPr>
            <p:cNvPr id="7" name="直接箭头连接符 6"/>
            <p:cNvCxnSpPr/>
            <p:nvPr/>
          </p:nvCxnSpPr>
          <p:spPr>
            <a:xfrm flipV="1">
              <a:off x="8678" y="7571"/>
              <a:ext cx="0" cy="83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8257" y="7888"/>
              <a:ext cx="421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rgbClr val="FF0000"/>
                  </a:solidFill>
                </a:rPr>
                <a:t>i</a:t>
              </a:r>
              <a:endParaRPr lang="en-US" altLang="zh-CN" sz="240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637145" y="2944495"/>
            <a:ext cx="267335" cy="661670"/>
            <a:chOff x="8257" y="7571"/>
            <a:chExt cx="421" cy="1042"/>
          </a:xfrm>
        </p:grpSpPr>
        <p:cxnSp>
          <p:nvCxnSpPr>
            <p:cNvPr id="11" name="直接箭头连接符 10"/>
            <p:cNvCxnSpPr/>
            <p:nvPr/>
          </p:nvCxnSpPr>
          <p:spPr>
            <a:xfrm flipV="1">
              <a:off x="8678" y="7571"/>
              <a:ext cx="0" cy="833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arrow" w="med" len="med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12" name="文本框 11"/>
            <p:cNvSpPr txBox="1"/>
            <p:nvPr/>
          </p:nvSpPr>
          <p:spPr>
            <a:xfrm>
              <a:off x="8257" y="7888"/>
              <a:ext cx="421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solidFill>
                    <a:schemeClr val="bg2">
                      <a:lumMod val="50000"/>
                    </a:schemeClr>
                  </a:solidFill>
                </a:rPr>
                <a:t>j</a:t>
              </a:r>
              <a:endParaRPr lang="en-US" altLang="zh-CN" sz="240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5884545" y="1339215"/>
            <a:ext cx="2345055" cy="82994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zh-CN" sz="2400" b="1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初始：</a:t>
            </a:r>
            <a:endParaRPr lang="zh-CN" altLang="zh-CN" sz="2400" b="1">
              <a:solidFill>
                <a:schemeClr val="tx1"/>
              </a:solidFill>
              <a:uFillTx/>
              <a:ea typeface="华文楷体" panose="02010600040101010101" pitchFamily="2" charset="-122"/>
            </a:endParaRPr>
          </a:p>
          <a:p>
            <a:r>
              <a:rPr lang="en-US" altLang="zh-CN" sz="2400" b="1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i=0</a:t>
            </a:r>
            <a:r>
              <a:rPr lang="zh-CN" altLang="en-US" sz="2400" b="1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；</a:t>
            </a:r>
            <a:r>
              <a:rPr lang="en-US" altLang="zh-CN" sz="2400" b="1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j=</a:t>
            </a:r>
            <a:r>
              <a:rPr lang="zh-CN" altLang="en-US" sz="2400" b="1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串长度</a:t>
            </a:r>
            <a:r>
              <a:rPr lang="en-US" altLang="zh-CN" sz="2400" b="1">
                <a:solidFill>
                  <a:schemeClr val="tx1"/>
                </a:solidFill>
                <a:uFillTx/>
                <a:ea typeface="华文楷体" panose="02010600040101010101" pitchFamily="2" charset="-122"/>
              </a:rPr>
              <a:t>-1</a:t>
            </a:r>
            <a:endParaRPr lang="en-US" altLang="zh-CN" sz="2400" b="1">
              <a:solidFill>
                <a:schemeClr val="tx1"/>
              </a:solidFill>
              <a:uFillTx/>
              <a:ea typeface="华文楷体" panose="020106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611495" y="3655060"/>
            <a:ext cx="3166110" cy="82994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zh-CN" sz="24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循环体内：</a:t>
            </a:r>
            <a:endParaRPr lang="zh-CN" altLang="zh-CN" sz="2400" b="1">
              <a:solidFill>
                <a:schemeClr val="tx1"/>
              </a:solidFill>
              <a:uFillTx/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algn="l"/>
            <a:r>
              <a:rPr lang="zh-CN" altLang="en-US" sz="24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交换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str[i] 和 str[j]的值</a:t>
            </a:r>
            <a:endParaRPr lang="zh-CN" altLang="en-US" sz="2400" b="1">
              <a:solidFill>
                <a:schemeClr val="tx1"/>
              </a:solidFill>
              <a:uFillTx/>
              <a:latin typeface="Times New Roman" panose="02020603050405020304" pitchFamily="18" charset="0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806055" y="2416175"/>
            <a:ext cx="197485" cy="430530"/>
          </a:xfrm>
          <a:prstGeom prst="rect">
            <a:avLst/>
          </a:prstGeom>
          <a:solidFill>
            <a:srgbClr val="F2F2F2"/>
          </a:solidFill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b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anose="02010609030101010101" pitchFamily="49" charset="-122"/>
                <a:sym typeface="+mn-ea"/>
              </a:rPr>
              <a:t>b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687060" y="2414905"/>
            <a:ext cx="197485" cy="430530"/>
          </a:xfrm>
          <a:prstGeom prst="rect">
            <a:avLst/>
          </a:prstGeom>
          <a:solidFill>
            <a:srgbClr val="F2F2F2"/>
          </a:solidFill>
        </p:spPr>
        <p:txBody>
          <a:bodyPr wrap="square" lIns="0" tIns="0" rIns="0" bIns="0" rtlCol="0" anchor="t">
            <a:spAutoFit/>
          </a:bodyPr>
          <a:lstStyle/>
          <a:p>
            <a:pPr lvl="0" algn="l" defTabSz="9144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b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anose="02010609030101010101" pitchFamily="49" charset="-122"/>
                <a:sym typeface="+mn-ea"/>
              </a:rPr>
              <a:t>g</a:t>
            </a:r>
            <a:endParaRPr lang="en-US" b="1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611495" y="4603115"/>
            <a:ext cx="1710055" cy="82994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zh-CN" sz="24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移动指针：</a:t>
            </a:r>
            <a:endParaRPr lang="zh-CN" altLang="zh-CN" sz="2400" b="1">
              <a:solidFill>
                <a:schemeClr val="tx1"/>
              </a:solidFill>
              <a:uFillTx/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algn="l"/>
            <a:r>
              <a:rPr lang="en-US" altLang="zh-CN" sz="24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i++;	j--;</a:t>
            </a:r>
            <a:endParaRPr lang="en-US" altLang="zh-CN" sz="2400" b="1">
              <a:solidFill>
                <a:schemeClr val="tx1"/>
              </a:solidFill>
              <a:uFillTx/>
              <a:latin typeface="Times New Roman" panose="02020603050405020304" pitchFamily="18" charset="0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54900" y="2409190"/>
            <a:ext cx="197485" cy="430530"/>
          </a:xfrm>
          <a:prstGeom prst="rect">
            <a:avLst/>
          </a:prstGeom>
          <a:solidFill>
            <a:srgbClr val="F2F2F2"/>
          </a:solidFill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b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anose="02010609030101010101" pitchFamily="49" charset="-122"/>
                <a:sym typeface="+mn-ea"/>
              </a:rPr>
              <a:t>e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051550" y="2424430"/>
            <a:ext cx="197485" cy="430530"/>
          </a:xfrm>
          <a:prstGeom prst="rect">
            <a:avLst/>
          </a:prstGeom>
          <a:solidFill>
            <a:srgbClr val="F2F2F2"/>
          </a:solidFill>
        </p:spPr>
        <p:txBody>
          <a:bodyPr wrap="square" lIns="0" tIns="0" rIns="0" bIns="0" rtlCol="0" anchor="t">
            <a:spAutoFit/>
          </a:bodyPr>
          <a:lstStyle/>
          <a:p>
            <a:pPr lvl="0" algn="l" defTabSz="9144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b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anose="02010609030101010101" pitchFamily="49" charset="-122"/>
                <a:sym typeface="+mn-ea"/>
              </a:rPr>
              <a:t>n</a:t>
            </a:r>
            <a:endParaRPr lang="en-US" b="1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403975" y="2442845"/>
            <a:ext cx="197485" cy="430530"/>
          </a:xfrm>
          <a:prstGeom prst="rect">
            <a:avLst/>
          </a:prstGeom>
          <a:solidFill>
            <a:srgbClr val="F2F2F2"/>
          </a:solidFill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b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anose="02010609030101010101" pitchFamily="49" charset="-122"/>
                <a:sym typeface="+mn-ea"/>
              </a:rPr>
              <a:t>i</a:t>
            </a:r>
            <a:endParaRPr lang="en-US"/>
          </a:p>
        </p:txBody>
      </p:sp>
      <p:sp>
        <p:nvSpPr>
          <p:cNvPr id="21" name="文本框 20"/>
          <p:cNvSpPr txBox="1"/>
          <p:nvPr/>
        </p:nvSpPr>
        <p:spPr>
          <a:xfrm>
            <a:off x="7110730" y="2430145"/>
            <a:ext cx="197485" cy="430530"/>
          </a:xfrm>
          <a:prstGeom prst="rect">
            <a:avLst/>
          </a:prstGeom>
          <a:solidFill>
            <a:srgbClr val="F2F2F2"/>
          </a:solidFill>
        </p:spPr>
        <p:txBody>
          <a:bodyPr wrap="square" lIns="0" tIns="0" rIns="0" bIns="0" rtlCol="0" anchor="t">
            <a:spAutoFit/>
          </a:bodyPr>
          <a:lstStyle/>
          <a:p>
            <a:pPr lvl="0" algn="l" defTabSz="914400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en-US" b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anose="02010609030101010101" pitchFamily="49" charset="-122"/>
                <a:sym typeface="+mn-ea"/>
              </a:rPr>
              <a:t>i</a:t>
            </a:r>
            <a:endParaRPr lang="en-US" b="1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楷体_GB2312" panose="02010609030101010101" pitchFamily="49" charset="-122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598160" y="5582920"/>
            <a:ext cx="1710055" cy="82994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zh-CN" altLang="zh-CN" sz="24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</a:rPr>
              <a:t>循环条件：</a:t>
            </a:r>
            <a:endParaRPr lang="zh-CN" altLang="zh-CN" sz="2400" b="1">
              <a:solidFill>
                <a:schemeClr val="tx1"/>
              </a:solidFill>
              <a:uFillTx/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algn="l"/>
            <a:r>
              <a:rPr lang="en-US" altLang="zh-CN" sz="2400" b="1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楷体" panose="02010600040101010101" pitchFamily="2" charset="-122"/>
                <a:sym typeface="+mn-ea"/>
              </a:rPr>
              <a:t>i&lt;j;</a:t>
            </a:r>
            <a:endParaRPr lang="en-US" altLang="zh-CN" sz="2400" b="1">
              <a:solidFill>
                <a:schemeClr val="tx1"/>
              </a:solidFill>
              <a:uFillTx/>
              <a:latin typeface="Times New Roman" panose="02020603050405020304" pitchFamily="18" charset="0"/>
              <a:ea typeface="华文楷体" panose="0201060004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课后练习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编写代码实现字符串操作（不要调用字符串操作函数）：</a:t>
            </a:r>
            <a:endParaRPr lang="en-US" altLang="zh-CN" dirty="0"/>
          </a:p>
          <a:p>
            <a:pPr lvl="1"/>
            <a:r>
              <a:rPr lang="zh-CN" altLang="en-US" sz="2800" dirty="0"/>
              <a:t>求字符串长度</a:t>
            </a:r>
            <a:endParaRPr lang="en-US" altLang="zh-CN" sz="2800" dirty="0"/>
          </a:p>
          <a:p>
            <a:pPr lvl="1"/>
            <a:r>
              <a:rPr lang="zh-CN" altLang="en-US" sz="2800" dirty="0"/>
              <a:t>字符串复制</a:t>
            </a:r>
            <a:endParaRPr lang="en-US" altLang="zh-CN" sz="2800" dirty="0"/>
          </a:p>
          <a:p>
            <a:pPr lvl="1"/>
            <a:r>
              <a:rPr lang="zh-CN" altLang="en-US" sz="2800" dirty="0"/>
              <a:t>字符串比较</a:t>
            </a:r>
            <a:endParaRPr lang="en-US" altLang="zh-CN" sz="2800" dirty="0"/>
          </a:p>
          <a:p>
            <a:pPr lvl="1"/>
            <a:r>
              <a:rPr lang="zh-CN" altLang="en-US" sz="2800" dirty="0"/>
              <a:t>字符串合并</a:t>
            </a:r>
            <a:endParaRPr lang="en-US" altLang="zh-CN" sz="2800" dirty="0"/>
          </a:p>
          <a:p>
            <a:pPr lvl="1"/>
            <a:r>
              <a:rPr lang="zh-CN" altLang="en-US" sz="2800" dirty="0"/>
              <a:t>字符串逆置</a:t>
            </a:r>
            <a:endParaRPr lang="en-US" altLang="zh-CN" sz="2800" dirty="0"/>
          </a:p>
          <a:p>
            <a:pPr lvl="1"/>
            <a:endParaRPr lang="zh-CN" altLang="en-US" dirty="0"/>
          </a:p>
          <a:p>
            <a:pPr>
              <a:lnSpc>
                <a:spcPct val="80000"/>
              </a:lnSpc>
            </a:pPr>
            <a:r>
              <a:rPr lang="zh-CN" altLang="en-US" dirty="0"/>
              <a:t>改进随机点器，避免重复选择相同的同学</a:t>
            </a:r>
            <a:endParaRPr lang="zh-CN" altLang="en-US" dirty="0"/>
          </a:p>
          <a:p>
            <a:pPr lvl="1"/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使用库函数的技巧（较重要）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&amp;str[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</a:t>
            </a:r>
            <a:r>
              <a:rPr lang="zh-CN" altLang="en-US" sz="2800" dirty="0"/>
              <a:t>这个也是一个数组，可以作为字符串库函数输入的一个库函数使用。这个数组对应的是</a:t>
            </a:r>
            <a:r>
              <a:rPr lang="en-US" altLang="zh-CN" sz="2800" dirty="0"/>
              <a:t>str</a:t>
            </a:r>
            <a:r>
              <a:rPr lang="zh-CN" altLang="en-US" sz="2800" dirty="0"/>
              <a:t>数组中从</a:t>
            </a:r>
            <a:r>
              <a:rPr lang="en-US" altLang="zh-CN" sz="2800" dirty="0" err="1"/>
              <a:t>i</a:t>
            </a:r>
            <a:r>
              <a:rPr lang="zh-CN" altLang="en-US" sz="2800" dirty="0"/>
              <a:t>元素开始的新数组。</a:t>
            </a:r>
            <a:endParaRPr lang="en-US" altLang="zh-CN" sz="280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有了这个技巧，大部分的库函数才比较容易使用</a:t>
            </a: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4" name="表格 40964"/>
          <p:cNvGraphicFramePr>
            <a:graphicFrameLocks noGrp="1"/>
          </p:cNvGraphicFramePr>
          <p:nvPr/>
        </p:nvGraphicFramePr>
        <p:xfrm>
          <a:off x="685800" y="3158219"/>
          <a:ext cx="7772400" cy="579755"/>
        </p:xfrm>
        <a:graphic>
          <a:graphicData uri="http://schemas.openxmlformats.org/drawingml/2006/table">
            <a:tbl>
              <a:tblPr/>
              <a:tblGrid>
                <a:gridCol w="777240"/>
                <a:gridCol w="776605"/>
                <a:gridCol w="778510"/>
                <a:gridCol w="777240"/>
                <a:gridCol w="776605"/>
                <a:gridCol w="777240"/>
                <a:gridCol w="776605"/>
                <a:gridCol w="778510"/>
                <a:gridCol w="777240"/>
                <a:gridCol w="776605"/>
              </a:tblGrid>
              <a:tr h="579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B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e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j</a:t>
                      </a:r>
                      <a:endParaRPr kumimoji="0" 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i</a:t>
                      </a:r>
                      <a:endParaRPr kumimoji="0" 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n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g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楷体_GB2312" panose="02010609030101010101" pitchFamily="49" charset="-122"/>
                        </a:rPr>
                        <a:t>\0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anose="02010609030101010101" pitchFamily="49" charset="-122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3296" y="3667116"/>
            <a:ext cx="3626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s</a:t>
            </a:r>
            <a:endParaRPr lang="zh-CN" alt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2872452" y="3942161"/>
            <a:ext cx="1181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&amp;s[3]</a:t>
            </a:r>
            <a:endParaRPr lang="zh-CN" altLang="en-US" sz="3600" dirty="0"/>
          </a:p>
        </p:txBody>
      </p:sp>
      <p:sp>
        <p:nvSpPr>
          <p:cNvPr id="7" name="Left Bracket 6"/>
          <p:cNvSpPr/>
          <p:nvPr/>
        </p:nvSpPr>
        <p:spPr>
          <a:xfrm rot="16200000">
            <a:off x="4895907" y="2298372"/>
            <a:ext cx="126663" cy="3160914"/>
          </a:xfrm>
          <a:prstGeom prst="leftBracke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练习：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#1557.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字符串循环右移</a:t>
            </a:r>
            <a:endParaRPr lang="zh-CN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17934"/>
            <a:ext cx="9011431" cy="46752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解法及思路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解法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：完全按照数组单个元素处理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解法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：用上</a:t>
            </a:r>
            <a:r>
              <a:rPr lang="en-US" altLang="zh-CN" dirty="0" err="1">
                <a:solidFill>
                  <a:schemeClr val="tx1"/>
                </a:solidFill>
              </a:rPr>
              <a:t>strncpy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 err="1">
                <a:solidFill>
                  <a:schemeClr val="tx1"/>
                </a:solidFill>
              </a:rPr>
              <a:t>strncat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快速处理字符串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练习：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#1185.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数字字符</a:t>
            </a:r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56" y="1734562"/>
            <a:ext cx="8659137" cy="425802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7205972" cy="1655763"/>
          </a:xfrm>
        </p:spPr>
        <p:txBody>
          <a:bodyPr/>
          <a:lstStyle/>
          <a:p>
            <a:r>
              <a:rPr lang="zh-CN" altLang="en-US" dirty="0"/>
              <a:t>字符串解题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案例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 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#160.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字符串移位包含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给定两个字符串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s1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和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s2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，要求判定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s2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是否能够被通过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s1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作向右循环移位（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rotate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）得到的字符串包含。例如，给定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s1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为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AABCD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和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s2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为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CDAA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，返回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true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；给定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s1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为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ABCD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和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s2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为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ACBD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，返回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false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。注：右循环移位是指将字符串中每个字符向右侧移动一个位置，最右侧的字符移动到最左侧。例如字符串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ABC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做一次循环移位是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CAB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。</a:t>
            </a:r>
            <a:endParaRPr lang="zh-CN" altLang="en-US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输入格式</a:t>
            </a:r>
            <a:endParaRPr lang="zh-CN" altLang="en-US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　　输入为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2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行，依次为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s1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和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s2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字符串。两个字符串的长度都不超过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26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，字符为大写英文字母。</a:t>
            </a:r>
            <a:b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endParaRPr lang="zh-CN" altLang="en-US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输出格式</a:t>
            </a:r>
            <a:endParaRPr lang="zh-CN" altLang="en-US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　　分别为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true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或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false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。</a:t>
            </a:r>
            <a:endParaRPr lang="zh-CN" altLang="en-US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14622"/>
          <a:stretch>
            <a:fillRect/>
          </a:stretch>
        </p:blipFill>
        <p:spPr>
          <a:xfrm>
            <a:off x="5428073" y="4535753"/>
            <a:ext cx="1730869" cy="22806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23261"/>
          <a:stretch>
            <a:fillRect/>
          </a:stretch>
        </p:blipFill>
        <p:spPr>
          <a:xfrm>
            <a:off x="7036387" y="4775108"/>
            <a:ext cx="1798168" cy="179612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解法及思路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292" y="1603094"/>
            <a:ext cx="8152707" cy="5116010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解法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：完全按照数组单个元素处理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两重循环修改数组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一重循环遍历起始位置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一重循环判定是否处处相等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解法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：用上</a:t>
            </a:r>
            <a:r>
              <a:rPr lang="en-US" altLang="zh-CN" dirty="0" err="1">
                <a:solidFill>
                  <a:schemeClr val="tx1"/>
                </a:solidFill>
              </a:rPr>
              <a:t>strncpy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 err="1">
                <a:solidFill>
                  <a:schemeClr val="tx1"/>
                </a:solidFill>
              </a:rPr>
              <a:t>strncmp</a:t>
            </a:r>
            <a:r>
              <a:rPr lang="zh-CN" altLang="en-US" dirty="0">
                <a:solidFill>
                  <a:schemeClr val="tx1"/>
                </a:solidFill>
              </a:rPr>
              <a:t>快速寻找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一重循环修改数组：</a:t>
            </a:r>
            <a:r>
              <a:rPr lang="en-US" altLang="zh-CN" dirty="0" err="1">
                <a:solidFill>
                  <a:schemeClr val="tx1"/>
                </a:solidFill>
              </a:rPr>
              <a:t>strncpy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一重循环遍历起始位置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判定是否处处相等：</a:t>
            </a:r>
            <a:r>
              <a:rPr lang="en-US" altLang="zh-CN" dirty="0" err="1">
                <a:solidFill>
                  <a:schemeClr val="tx1"/>
                </a:solidFill>
              </a:rPr>
              <a:t>strncmp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解法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：用上</a:t>
            </a:r>
            <a:r>
              <a:rPr lang="en-US" altLang="zh-CN" dirty="0" err="1">
                <a:solidFill>
                  <a:schemeClr val="tx1"/>
                </a:solidFill>
              </a:rPr>
              <a:t>strstr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查找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一重循环修改数组：</a:t>
            </a:r>
            <a:r>
              <a:rPr lang="en-US" altLang="zh-CN" dirty="0" err="1">
                <a:solidFill>
                  <a:schemeClr val="tx1"/>
                </a:solidFill>
              </a:rPr>
              <a:t>strncpy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查找：</a:t>
            </a:r>
            <a:r>
              <a:rPr lang="en-US" altLang="zh-CN" dirty="0" err="1">
                <a:solidFill>
                  <a:schemeClr val="tx1"/>
                </a:solidFill>
              </a:rPr>
              <a:t>strstr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15337" y="4236334"/>
            <a:ext cx="36286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思考：</a:t>
            </a:r>
            <a:endParaRPr lang="en-US" altLang="zh-CN" sz="2800" dirty="0"/>
          </a:p>
          <a:p>
            <a:r>
              <a:rPr lang="zh-CN" altLang="en-US" sz="2800" dirty="0"/>
              <a:t>一重循环遍历起始位置是否可以省略？</a:t>
            </a:r>
            <a:endParaRPr lang="en-US" altLang="zh-CN" sz="2800" dirty="0"/>
          </a:p>
          <a:p>
            <a:r>
              <a:rPr lang="zh-CN" altLang="en-US" sz="2800" dirty="0"/>
              <a:t>有没有更加简单的方法，完全不需要循环？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案例</a:t>
            </a:r>
            <a:r>
              <a:rPr lang="en-US" altLang="zh-CN" dirty="0"/>
              <a:t>2</a:t>
            </a:r>
            <a:r>
              <a:rPr lang="zh-CN" altLang="en-US" dirty="0"/>
              <a:t>：统计子串个数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给定一个字符串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，其长度不超过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200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，现需要通过统计字符串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str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在其中</a:t>
            </a:r>
            <a:r>
              <a:rPr lang="zh-CN" altLang="en-US" b="1" dirty="0">
                <a:solidFill>
                  <a:schemeClr val="tx1"/>
                </a:solidFill>
                <a:latin typeface="Open Sans" panose="020B0606030504020204" pitchFamily="34" charset="0"/>
              </a:rPr>
              <a:t>无重叠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出现的次数</a:t>
            </a:r>
            <a:endParaRPr lang="en-US" altLang="zh-CN" dirty="0">
              <a:solidFill>
                <a:schemeClr val="tx1"/>
              </a:solidFill>
              <a:latin typeface="Open Sans" panose="020B0606030504020204" pitchFamily="34" charset="0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输入格式：共两行，第一行为字符串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，第二行为字符串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str</a:t>
            </a:r>
            <a:endParaRPr lang="en-US" altLang="zh-CN" dirty="0">
              <a:solidFill>
                <a:schemeClr val="tx1"/>
              </a:solidFill>
              <a:latin typeface="Open Sans" panose="020B0606030504020204" pitchFamily="34" charset="0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输出格式：整数，为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str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出现次数</a:t>
            </a:r>
            <a:endParaRPr lang="en-US" altLang="zh-CN" dirty="0">
              <a:solidFill>
                <a:schemeClr val="tx1"/>
              </a:solidFill>
              <a:latin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解法及思路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解法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：完全按照数组单个元素处理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解法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：用上</a:t>
            </a:r>
            <a:r>
              <a:rPr lang="en-US" altLang="zh-CN" dirty="0" err="1">
                <a:solidFill>
                  <a:schemeClr val="tx1"/>
                </a:solidFill>
              </a:rPr>
              <a:t>strncmp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快速寻找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解法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：用上</a:t>
            </a:r>
            <a:r>
              <a:rPr lang="en-US" altLang="zh-CN" dirty="0" err="1">
                <a:solidFill>
                  <a:schemeClr val="tx1"/>
                </a:solidFill>
              </a:rPr>
              <a:t>strstr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  <a:r>
              <a:rPr lang="zh-CN" altLang="en-US" dirty="0">
                <a:solidFill>
                  <a:schemeClr val="tx1"/>
                </a:solidFill>
              </a:rPr>
              <a:t>查找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思考：如果是有重叠呢，应该怎么写？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思考：如果需要进行子串的插入呢？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给定一个字符串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，其长度不超过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200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，现需要将子串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str2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插入到子串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str1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的前面。若原串中有多个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str1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，则插入在最后一个子串的前面，若找不到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str1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则不做任何操作。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str1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和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str2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的长度都不超过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100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。</a:t>
            </a:r>
            <a:endParaRPr lang="en-US" altLang="zh-CN" dirty="0">
              <a:solidFill>
                <a:schemeClr val="tx1"/>
              </a:solidFill>
              <a:latin typeface="Open Sans" panose="020B0606030504020204" pitchFamily="34" charset="0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输入格式：共三行，第一行为字符串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，第二行为字符串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str1</a:t>
            </a:r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，第三行为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str2</a:t>
            </a:r>
            <a:endParaRPr lang="en-US" altLang="zh-CN" dirty="0">
              <a:solidFill>
                <a:schemeClr val="tx1"/>
              </a:solidFill>
              <a:latin typeface="Open Sans" panose="020B0606030504020204" pitchFamily="34" charset="0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Open Sans" panose="020B0606030504020204" pitchFamily="34" charset="0"/>
              </a:rPr>
              <a:t>输出格式：执行完插入操作后的</a:t>
            </a:r>
            <a:r>
              <a:rPr lang="en-US" altLang="zh-CN" dirty="0">
                <a:solidFill>
                  <a:schemeClr val="tx1"/>
                </a:solidFill>
                <a:latin typeface="Open Sans" panose="020B0606030504020204" pitchFamily="34" charset="0"/>
              </a:rPr>
              <a:t>s</a:t>
            </a: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0173"/>
            <a:ext cx="9144000" cy="6657654"/>
          </a:xfrm>
          <a:prstGeom prst="rect">
            <a:avLst/>
          </a:prstGeom>
        </p:spPr>
      </p:pic>
      <p:sp>
        <p:nvSpPr>
          <p:cNvPr id="2" name="右大括号 1"/>
          <p:cNvSpPr/>
          <p:nvPr/>
        </p:nvSpPr>
        <p:spPr>
          <a:xfrm>
            <a:off x="5818414" y="4795157"/>
            <a:ext cx="70757" cy="1279072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112329" y="520386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这部分在输出什么？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E2NDQwOTYwZDM4YTlkMmQ4MTRlNzczMWE2MTg2MjEifQ=="/>
</p:tagLst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8038</Words>
  <Application>WPS 演示</Application>
  <PresentationFormat>On-screen Show (4:3)</PresentationFormat>
  <Paragraphs>851</Paragraphs>
  <Slides>49</Slides>
  <Notes>20</Notes>
  <HiddenSlides>2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75" baseType="lpstr">
      <vt:lpstr>Arial</vt:lpstr>
      <vt:lpstr>宋体</vt:lpstr>
      <vt:lpstr>Wingdings</vt:lpstr>
      <vt:lpstr>Calibri</vt:lpstr>
      <vt:lpstr>楷体_GB2312</vt:lpstr>
      <vt:lpstr>新宋体</vt:lpstr>
      <vt:lpstr>Courier New</vt:lpstr>
      <vt:lpstr>华文新魏</vt:lpstr>
      <vt:lpstr>Monotype Sorts</vt:lpstr>
      <vt:lpstr>Wingdings</vt:lpstr>
      <vt:lpstr>Book Antiqua</vt:lpstr>
      <vt:lpstr>华文楷体</vt:lpstr>
      <vt:lpstr>Consolas</vt:lpstr>
      <vt:lpstr>Tw Cen MT</vt:lpstr>
      <vt:lpstr>华文仿宋</vt:lpstr>
      <vt:lpstr>Calibri Light</vt:lpstr>
      <vt:lpstr>微软雅黑</vt:lpstr>
      <vt:lpstr>微软雅黑 Light</vt:lpstr>
      <vt:lpstr>Arial Unicode MS</vt:lpstr>
      <vt:lpstr>等线</vt:lpstr>
      <vt:lpstr>Times New Roman</vt:lpstr>
      <vt:lpstr>黑体</vt:lpstr>
      <vt:lpstr>Lato</vt:lpstr>
      <vt:lpstr>Open Sans</vt:lpstr>
      <vt:lpstr>Segoe Print</vt:lpstr>
      <vt:lpstr>课程PPT模板</vt:lpstr>
      <vt:lpstr>11. 数据的组织（二） 		     ——字符数组与字符串</vt:lpstr>
      <vt:lpstr>内容</vt:lpstr>
      <vt:lpstr>字符数组与字符串</vt:lpstr>
      <vt:lpstr>如何让程序存储名字？</vt:lpstr>
      <vt:lpstr>字符数组</vt:lpstr>
      <vt:lpstr>字符串</vt:lpstr>
      <vt:lpstr>C语言中的字符串与字符数组</vt:lpstr>
      <vt:lpstr>重点</vt:lpstr>
      <vt:lpstr>重点</vt:lpstr>
      <vt:lpstr>字符串常量</vt:lpstr>
      <vt:lpstr>字符串常量</vt:lpstr>
      <vt:lpstr>字符串常量</vt:lpstr>
      <vt:lpstr>字符串输入输出 （复习）</vt:lpstr>
      <vt:lpstr>scanf/cin的用法回顾</vt:lpstr>
      <vt:lpstr>字符串的输入输出</vt:lpstr>
      <vt:lpstr>方法2：用gets和puts函数</vt:lpstr>
      <vt:lpstr>如何读入一行字符？</vt:lpstr>
      <vt:lpstr>如何读入一行字符？</vt:lpstr>
      <vt:lpstr>如何读入一行字符？</vt:lpstr>
      <vt:lpstr>如何读入一行字符？</vt:lpstr>
      <vt:lpstr>其他输入输出函数</vt:lpstr>
      <vt:lpstr>练习：#287. 拆分数字</vt:lpstr>
      <vt:lpstr>常见的字符串操作函数</vt:lpstr>
      <vt:lpstr>常用字符串的操作函数</vt:lpstr>
      <vt:lpstr>(1) 求字符串长度 strlen( )</vt:lpstr>
      <vt:lpstr>自己实现strlen的功能</vt:lpstr>
      <vt:lpstr>(2)字符串比较函数 strcmp( )</vt:lpstr>
      <vt:lpstr>字符串比较函数 strcmp( )</vt:lpstr>
      <vt:lpstr>这段代码在做什么？</vt:lpstr>
      <vt:lpstr>(3)字符串复制函数 strcpy( )</vt:lpstr>
      <vt:lpstr>(4) 字符串连接函数 strcat( )</vt:lpstr>
      <vt:lpstr>补充函数</vt:lpstr>
      <vt:lpstr>常用字符串的操作函数</vt:lpstr>
      <vt:lpstr>(5) 字符串查找 strstr( )，选学</vt:lpstr>
      <vt:lpstr>(5) 字符串查找 strstr( )，选学</vt:lpstr>
      <vt:lpstr>(6) 字符串逆置函数 strrev( )</vt:lpstr>
      <vt:lpstr>自己实现字符串逆置功能</vt:lpstr>
      <vt:lpstr>课后练习</vt:lpstr>
      <vt:lpstr>使用库函数的技巧（较重要）</vt:lpstr>
      <vt:lpstr>练习：#1557. 字符串循环右移</vt:lpstr>
      <vt:lpstr>解法及思路</vt:lpstr>
      <vt:lpstr>练习：#1185. 数字字符</vt:lpstr>
      <vt:lpstr>字符串解题</vt:lpstr>
      <vt:lpstr>案例1： #160. 字符串移位包含</vt:lpstr>
      <vt:lpstr>解法及思路</vt:lpstr>
      <vt:lpstr>案例2：统计子串个数</vt:lpstr>
      <vt:lpstr>解法及思路</vt:lpstr>
      <vt:lpstr>思考：如果需要进行子串的插入呢？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Yi.</cp:lastModifiedBy>
  <cp:revision>1530</cp:revision>
  <dcterms:created xsi:type="dcterms:W3CDTF">2020-10-14T02:47:00Z</dcterms:created>
  <dcterms:modified xsi:type="dcterms:W3CDTF">2025-11-11T07:02:56Z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82346E7727434E8E9C00E70C189F2A30</vt:lpwstr>
  </property>
  <property fmtid="{D5CDD505-2E9C-101B-9397-08002B2CF9AE}" pid="3" name="KSOProductBuildVer">
    <vt:lpwstr>2052-11.1.0.12173</vt:lpwstr>
  </property>
</Properties>
</file>