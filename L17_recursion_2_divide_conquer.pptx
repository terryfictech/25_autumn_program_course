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wmf" ContentType="image/x-wmf"/>
  <Default Extension="jpeg" ContentType="image/jpeg"/>
  <Default Extension="JPG" ContentType="image/.jp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8"/>
  </p:handoutMasterIdLst>
  <p:sldIdLst>
    <p:sldId id="1092" r:id="rId3"/>
    <p:sldId id="1224" r:id="rId5"/>
    <p:sldId id="1094" r:id="rId6"/>
    <p:sldId id="1106" r:id="rId7"/>
    <p:sldId id="542" r:id="rId8"/>
    <p:sldId id="1107" r:id="rId9"/>
    <p:sldId id="889" r:id="rId10"/>
    <p:sldId id="560" r:id="rId11"/>
    <p:sldId id="1233" r:id="rId12"/>
    <p:sldId id="1234" r:id="rId13"/>
    <p:sldId id="1235" r:id="rId14"/>
    <p:sldId id="1236" r:id="rId15"/>
    <p:sldId id="1095" r:id="rId16"/>
    <p:sldId id="1108" r:id="rId17"/>
    <p:sldId id="559" r:id="rId18"/>
    <p:sldId id="1109" r:id="rId19"/>
    <p:sldId id="1223" r:id="rId20"/>
    <p:sldId id="567" r:id="rId21"/>
    <p:sldId id="1040" r:id="rId22"/>
    <p:sldId id="1135" r:id="rId23"/>
    <p:sldId id="1041" r:id="rId24"/>
    <p:sldId id="1043" r:id="rId25"/>
    <p:sldId id="1042" r:id="rId26"/>
    <p:sldId id="1044" r:id="rId27"/>
    <p:sldId id="1046" r:id="rId28"/>
    <p:sldId id="1047" r:id="rId29"/>
    <p:sldId id="1048" r:id="rId30"/>
    <p:sldId id="1049" r:id="rId31"/>
    <p:sldId id="1050" r:id="rId32"/>
    <p:sldId id="1051" r:id="rId33"/>
    <p:sldId id="1052" r:id="rId34"/>
    <p:sldId id="1053" r:id="rId35"/>
    <p:sldId id="1054" r:id="rId36"/>
    <p:sldId id="1055" r:id="rId37"/>
    <p:sldId id="1056" r:id="rId38"/>
    <p:sldId id="1057" r:id="rId39"/>
    <p:sldId id="1058" r:id="rId40"/>
    <p:sldId id="1059" r:id="rId41"/>
    <p:sldId id="1060" r:id="rId42"/>
    <p:sldId id="1061" r:id="rId43"/>
    <p:sldId id="1062" r:id="rId44"/>
    <p:sldId id="1063" r:id="rId45"/>
    <p:sldId id="1064" r:id="rId46"/>
    <p:sldId id="1090" r:id="rId47"/>
  </p:sldIdLst>
  <p:sldSz cx="9144000" cy="6858000" type="screen4x3"/>
  <p:notesSz cx="6858000" cy="9144000"/>
  <p:custDataLst>
    <p:tags r:id="rId5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6700E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39" autoAdjust="0"/>
    <p:restoredTop sz="83985" autoAdjust="0"/>
  </p:normalViewPr>
  <p:slideViewPr>
    <p:cSldViewPr snapToGrid="0" showGuides="1">
      <p:cViewPr varScale="1">
        <p:scale>
          <a:sx n="72" d="100"/>
          <a:sy n="72" d="100"/>
        </p:scale>
        <p:origin x="1133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95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2" Type="http://schemas.openxmlformats.org/officeDocument/2006/relationships/tags" Target="tags/tag1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2.xml"/><Relationship Id="rId49" Type="http://schemas.openxmlformats.org/officeDocument/2006/relationships/presProps" Target="presProps.xml"/><Relationship Id="rId48" Type="http://schemas.openxmlformats.org/officeDocument/2006/relationships/handoutMaster" Target="handoutMasters/handoutMaster1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63B7C-F87A-4992-9D16-F63F1FA43DB6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5AF18-CFCB-48CD-B900-85FE73933DD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6F8E1-D84A-44BD-AFC6-9B54380022BF}" type="datetimeFigureOut">
              <a:rPr 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7%AC%AC%E4%BA%8C%E6%95%B0%E5%AD%A6%E5%BD%92%E7%BA%B3%E6%B3%95/4641553?fromModule=lemma_inlink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课程大难点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i="0" dirty="0">
                <a:effectLst/>
                <a:latin typeface="Lato" panose="020F0502020204030203" pitchFamily="34" charset="0"/>
              </a:rPr>
              <a:t>课上练习：</a:t>
            </a:r>
            <a:r>
              <a:rPr lang="en-US" altLang="zh-CN" b="1" i="0" dirty="0">
                <a:effectLst/>
                <a:latin typeface="Lato" panose="020F0502020204030203" pitchFamily="34" charset="0"/>
              </a:rPr>
              <a:t>#112. 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二分查找的递归实现</a:t>
            </a:r>
            <a:endParaRPr lang="zh-CN" altLang="en-US" b="1" i="0" dirty="0">
              <a:effectLst/>
              <a:latin typeface="Lato" panose="020F050202020403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课下作业：</a:t>
            </a:r>
            <a:r>
              <a:rPr lang="en-US" altLang="zh-CN" b="1" dirty="0"/>
              <a:t>,672,673,120,135</a:t>
            </a:r>
            <a:r>
              <a:rPr lang="zh-CN" altLang="en-US" b="1" dirty="0"/>
              <a:t>（都是排序）</a:t>
            </a:r>
            <a:endParaRPr lang="zh-CN" altLang="en-US" dirty="0"/>
          </a:p>
          <a:p>
            <a:r>
              <a:rPr lang="zh-CN" altLang="en-US"/>
              <a:t>用得比较广泛的思考问题的方式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距离：二分查找；斐波那契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9E12BC-05D8-4320-BDA9-523357A1B366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最简单和常见的数学归纳法是证明当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Helvetica Neue"/>
              </a:rPr>
              <a:t>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等于任意一个自然数时某命题成立。证明分下面两步：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1.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证明当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Helvetica Neue"/>
              </a:rPr>
              <a:t>n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= 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时命题成立。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2.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假设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Helvetica Neue"/>
              </a:rPr>
              <a:t>n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=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Helvetica Neue"/>
              </a:rPr>
              <a:t>m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时命题成立，那么可以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推导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出在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Helvetica Neue"/>
              </a:rPr>
              <a:t>n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=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Helvetica Neue"/>
              </a:rPr>
              <a:t>m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+1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时命题也成立。（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Helvetica Neue"/>
              </a:rPr>
              <a:t>m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代表任意自然数）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  <a:p>
            <a:pPr algn="l"/>
            <a:r>
              <a:rPr lang="zh-CN" altLang="en-US" b="1" i="0" u="none" strike="noStrike" dirty="0">
                <a:solidFill>
                  <a:srgbClr val="136EC2"/>
                </a:solidFill>
                <a:effectLst/>
                <a:latin typeface="Helvetica Neue"/>
                <a:hlinkClick r:id="rId3"/>
              </a:rPr>
              <a:t>第二数学归纳法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（完整归纳法）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另一个一般化的方法叫完整归纳法（也称第二数学归纳法），在第二步中我们假定式子不仅当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Helvetica Neue"/>
              </a:rPr>
              <a:t>n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=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Helvetica Neue"/>
              </a:rPr>
              <a:t>m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时成立，当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Helvetica Neue"/>
              </a:rPr>
              <a:t>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小于或等于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Helvetica Neue"/>
              </a:rPr>
              <a:t>m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时也成立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.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这样可以设计出这样两步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1.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证明当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Helvetica Neue"/>
              </a:rPr>
              <a:t>n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= 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时式子成立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.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2.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假设当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Helvetica Neue"/>
              </a:rPr>
              <a:t>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≤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Helvetica Neue"/>
              </a:rPr>
              <a:t>m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时成立，证明当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Helvetica Neue"/>
              </a:rPr>
              <a:t>n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=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Helvetica Neue"/>
              </a:rPr>
              <a:t>m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+ 1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时式子也成立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.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这个图不好理解？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低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9E12BC-05D8-4320-BDA9-523357A1B366}" type="slidenum">
              <a:rPr lang="zh-CN" altLang="en-US" smtClean="0">
                <a:solidFill>
                  <a:prstClr val="black"/>
                </a:solidFill>
                <a:ea typeface="宋体" panose="02010600030101010101" pitchFamily="2" charset="-122"/>
              </a:rPr>
            </a:fld>
            <a:endParaRPr lang="en-US" altLang="zh-CN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9E12BC-05D8-4320-BDA9-523357A1B366}" type="slidenum">
              <a:rPr lang="zh-CN" altLang="en-US" smtClean="0">
                <a:solidFill>
                  <a:prstClr val="black"/>
                </a:solidFill>
                <a:ea typeface="宋体" panose="02010600030101010101" pitchFamily="2" charset="-122"/>
              </a:rPr>
            </a:fld>
            <a:endParaRPr lang="en-US" altLang="zh-CN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多少数据的排序？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/>
          <p:cNvSpPr/>
          <p:nvPr/>
        </p:nvSpPr>
        <p:spPr>
          <a:xfrm>
            <a:off x="8177483" y="5910463"/>
            <a:ext cx="504000" cy="50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椭圆 11"/>
          <p:cNvSpPr/>
          <p:nvPr/>
        </p:nvSpPr>
        <p:spPr>
          <a:xfrm>
            <a:off x="7414927" y="813765"/>
            <a:ext cx="742237" cy="7422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-2459620" y="610564"/>
            <a:ext cx="5400000" cy="5400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8874" y="3811522"/>
            <a:ext cx="5429250" cy="1655762"/>
          </a:xfrm>
        </p:spPr>
        <p:txBody>
          <a:bodyPr/>
          <a:lstStyle>
            <a:lvl1pPr marL="0" indent="0" algn="l">
              <a:buNone/>
              <a:defRPr sz="2400" baseline="0">
                <a:latin typeface="Calibri" panose="020F0502020204030204" pitchFamily="34" charset="0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8875" y="2063685"/>
            <a:ext cx="6606253" cy="1655763"/>
          </a:xfrm>
        </p:spPr>
        <p:txBody>
          <a:bodyPr anchor="b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弧形 3"/>
          <p:cNvSpPr/>
          <p:nvPr userDrawn="1"/>
        </p:nvSpPr>
        <p:spPr>
          <a:xfrm>
            <a:off x="-1790184" y="-1709103"/>
            <a:ext cx="3960000" cy="3883419"/>
          </a:xfrm>
          <a:prstGeom prst="arc">
            <a:avLst>
              <a:gd name="adj1" fmla="val 21064148"/>
              <a:gd name="adj2" fmla="val 5986293"/>
            </a:avLst>
          </a:prstGeom>
          <a:noFill/>
          <a:ln w="635000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62471" y="2155124"/>
            <a:ext cx="6711517" cy="1655763"/>
          </a:xfrm>
        </p:spPr>
        <p:txBody>
          <a:bodyPr anchor="t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685564" y="2155124"/>
            <a:ext cx="544750" cy="558709"/>
          </a:xfrm>
          <a:prstGeom prst="donut">
            <a:avLst>
              <a:gd name="adj" fmla="val 3476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293" y="431999"/>
            <a:ext cx="8152708" cy="935161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59292" y="1615736"/>
            <a:ext cx="8152707" cy="4710344"/>
          </a:xfrm>
        </p:spPr>
        <p:txBody>
          <a:bodyPr anchor="t">
            <a:normAutofit/>
          </a:bodyPr>
          <a:lstStyle>
            <a:lvl1pPr marL="514350" indent="-514350">
              <a:lnSpc>
                <a:spcPct val="114000"/>
              </a:lnSpc>
              <a:buFont typeface="+mj-lt"/>
              <a:buAutoNum type="arabicPeriod"/>
              <a:defRPr sz="28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1pPr>
            <a:lvl2pPr marL="78295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36969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7145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1717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目录项目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899650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535837"/>
            <a:ext cx="8280000" cy="47641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 marL="740410" indent="-342900">
              <a:buFont typeface="Wingdings" panose="05000000000000000000" pitchFamily="2" charset="2"/>
              <a:buChar char="§"/>
              <a:defRPr sz="2000"/>
            </a:lvl2pPr>
            <a:lvl3pPr marL="1198245" indent="-285750">
              <a:buFont typeface="Wingdings" panose="05000000000000000000" pitchFamily="2" charset="2"/>
              <a:buChar char="§"/>
              <a:defRPr sz="1800"/>
            </a:lvl3pPr>
            <a:lvl4pPr marL="1657350" indent="-285750">
              <a:buFont typeface="Wingdings" panose="05000000000000000000" pitchFamily="2" charset="2"/>
              <a:buChar char="§"/>
              <a:defRPr sz="1600"/>
            </a:lvl4pPr>
            <a:lvl5pPr marL="2114550" indent="-285750"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32000" y="1260000"/>
            <a:ext cx="4082850" cy="5040000"/>
          </a:xfrm>
        </p:spPr>
        <p:txBody>
          <a:bodyPr/>
          <a:lstStyle>
            <a:lvl1pPr marL="360045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260000"/>
            <a:ext cx="4082850" cy="5040000"/>
          </a:xfrm>
        </p:spPr>
        <p:txBody>
          <a:bodyPr/>
          <a:lstStyle>
            <a:lvl1pPr marL="360045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32000" y="1188000"/>
            <a:ext cx="406618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000" y="2037716"/>
            <a:ext cx="4066182" cy="43882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188000"/>
            <a:ext cx="4082850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037716"/>
            <a:ext cx="4082850" cy="438828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683692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54133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541337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，致谢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268875" y="2155125"/>
            <a:ext cx="6606253" cy="1655763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8088487" y="5873868"/>
            <a:ext cx="720000" cy="720000"/>
          </a:xfrm>
          <a:prstGeom prst="donut">
            <a:avLst>
              <a:gd name="adj" fmla="val 2415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7969050" cy="4570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CBF01F0-5869-42E2-A8FD-A9376291A2A2}" type="slidenum">
              <a:rPr lang="en-US" altLang="zh-CN"/>
            </a:fld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C3C198E-E57D-4B2A-95E3-85F2315DF394}" type="slidenum">
              <a:rPr lang="en-US" altLang="zh-CN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/>
          <p:nvPr/>
        </p:nvSpPr>
        <p:spPr>
          <a:xfrm>
            <a:off x="1014414" y="0"/>
            <a:ext cx="8129587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3" name="Rectangle 13"/>
          <p:cNvSpPr>
            <a:spLocks noChangeArrowheads="1"/>
          </p:cNvSpPr>
          <p:nvPr/>
        </p:nvSpPr>
        <p:spPr bwMode="invGray">
          <a:xfrm>
            <a:off x="1014414" y="0"/>
            <a:ext cx="7302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38000" dir="10800000" algn="tl" rotWithShape="0">
              <a:srgbClr val="73726C">
                <a:alpha val="2500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FE84CC-6310-4C80-9154-19F585E2599D}" type="datetime5">
              <a:rPr lang="en-US" altLang="zh-CN" smtClean="0"/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22C4C4-4215-4352-B597-B2750E65EFF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1.emf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8866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447062"/>
            <a:ext cx="8280000" cy="4705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45" indent="-360045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Tx/>
        <a:buBlip>
          <a:blip r:embed="rId16"/>
        </a:buBlip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8829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3050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4.jpeg"/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8.GIF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3.wmf"/><Relationship Id="rId1" Type="http://schemas.openxmlformats.org/officeDocument/2006/relationships/oleObject" Target="../embeddings/oleObject2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194229" y="1556237"/>
            <a:ext cx="7875127" cy="2255285"/>
          </a:xfrm>
        </p:spPr>
        <p:txBody>
          <a:bodyPr>
            <a:normAutofit/>
          </a:bodyPr>
          <a:lstStyle/>
          <a:p>
            <a:r>
              <a:rPr lang="en-US" altLang="zh-CN" sz="4800" dirty="0"/>
              <a:t>17.</a:t>
            </a:r>
            <a:r>
              <a:rPr lang="zh-CN" altLang="en-US" sz="4800" dirty="0"/>
              <a:t> 递归</a:t>
            </a:r>
            <a:r>
              <a:rPr lang="en-US" altLang="zh-CN" sz="4800" dirty="0"/>
              <a:t>		</a:t>
            </a:r>
            <a:br>
              <a:rPr lang="en-US" altLang="zh-CN" sz="4800" dirty="0"/>
            </a:br>
            <a:r>
              <a:rPr lang="en-US" altLang="zh-CN" sz="4800" dirty="0"/>
              <a:t>			—— </a:t>
            </a:r>
            <a:r>
              <a:rPr lang="zh-CN" altLang="en-US" sz="4800" dirty="0"/>
              <a:t>分治算法</a:t>
            </a:r>
            <a:endParaRPr lang="en-US" sz="4800" dirty="0"/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800" dirty="0">
                <a:solidFill>
                  <a:srgbClr val="FF0000"/>
                </a:solidFill>
              </a:rPr>
              <a:t>递归函数</a:t>
            </a:r>
            <a:r>
              <a:rPr kumimoji="1" lang="zh-CN" altLang="en-US" sz="2800" dirty="0"/>
              <a:t>的概念：</a:t>
            </a:r>
            <a:endParaRPr kumimoji="1" lang="zh-CN" altLang="en-US" sz="2800" dirty="0"/>
          </a:p>
          <a:p>
            <a:pPr lvl="1"/>
            <a:r>
              <a:rPr kumimoji="1" lang="zh-CN" altLang="en-US" sz="2400" dirty="0"/>
              <a:t>一个函数</a:t>
            </a:r>
            <a:r>
              <a:rPr kumimoji="1" lang="en-US" altLang="zh-CN" sz="2400" dirty="0"/>
              <a:t>(</a:t>
            </a:r>
            <a:r>
              <a:rPr kumimoji="1" lang="zh-CN" altLang="en-US" sz="2400" dirty="0"/>
              <a:t>或过程</a:t>
            </a:r>
            <a:r>
              <a:rPr kumimoji="1" lang="en-US" altLang="zh-CN" sz="2400" dirty="0"/>
              <a:t>)</a:t>
            </a:r>
            <a:r>
              <a:rPr kumimoji="1" lang="zh-CN" altLang="en-US" sz="2400" dirty="0"/>
              <a:t>直接或间接调用自己本身，这种函数（或过程）叫递归函数</a:t>
            </a:r>
            <a:r>
              <a:rPr kumimoji="1" lang="en-US" altLang="zh-CN" sz="2400" dirty="0"/>
              <a:t>(</a:t>
            </a:r>
            <a:r>
              <a:rPr kumimoji="1" lang="zh-CN" altLang="en-US" sz="2400" dirty="0"/>
              <a:t>或过程</a:t>
            </a:r>
            <a:r>
              <a:rPr kumimoji="1" lang="en-US" altLang="zh-CN" sz="2400" dirty="0"/>
              <a:t>)</a:t>
            </a:r>
            <a:r>
              <a:rPr kumimoji="1" lang="zh-CN" altLang="en-US" sz="2400" dirty="0"/>
              <a:t>。 </a:t>
            </a:r>
            <a:endParaRPr kumimoji="1" lang="zh-CN" altLang="en-US" sz="2400" dirty="0"/>
          </a:p>
          <a:p>
            <a:endParaRPr lang="en-US" altLang="zh-CN" sz="2800" dirty="0"/>
          </a:p>
          <a:p>
            <a:r>
              <a:rPr lang="zh-CN" altLang="en-US" sz="2800" dirty="0">
                <a:solidFill>
                  <a:srgbClr val="FF0000"/>
                </a:solidFill>
              </a:rPr>
              <a:t>递归算法</a:t>
            </a:r>
            <a:r>
              <a:rPr lang="zh-CN" altLang="en-US" sz="2800" dirty="0"/>
              <a:t>是把问题转化为规模缩小了的同类问题。然后递归调用函数</a:t>
            </a:r>
            <a:r>
              <a:rPr lang="en-US" altLang="zh-CN" sz="2800" dirty="0"/>
              <a:t>(</a:t>
            </a:r>
            <a:r>
              <a:rPr lang="zh-CN" altLang="en-US" sz="2800" dirty="0"/>
              <a:t>或过程</a:t>
            </a:r>
            <a:r>
              <a:rPr lang="en-US" altLang="zh-CN" sz="2800" dirty="0"/>
              <a:t>)</a:t>
            </a:r>
            <a:r>
              <a:rPr lang="zh-CN" altLang="en-US" sz="2800" dirty="0"/>
              <a:t>来表示问题的解</a:t>
            </a:r>
            <a:endParaRPr lang="zh-CN" altLang="en-US" sz="2800" dirty="0"/>
          </a:p>
          <a:p>
            <a:pPr lvl="1"/>
            <a:r>
              <a:rPr lang="zh-CN" altLang="en-US" sz="2400" dirty="0"/>
              <a:t>具体到编程中，让函数不断引用自身，直到引用的对象已知（</a:t>
            </a:r>
            <a:r>
              <a:rPr lang="zh-CN" altLang="en-US" sz="2400" dirty="0">
                <a:solidFill>
                  <a:schemeClr val="hlink"/>
                </a:solidFill>
              </a:rPr>
              <a:t>递归边界</a:t>
            </a:r>
            <a:r>
              <a:rPr lang="zh-CN" altLang="en-US" sz="2400" dirty="0"/>
              <a:t>）。 </a:t>
            </a:r>
            <a:endParaRPr lang="zh-CN" altLang="en-US" sz="2400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递归函数</a:t>
            </a:r>
            <a:r>
              <a:rPr lang="en-US" altLang="zh-CN" dirty="0"/>
              <a:t>&amp;</a:t>
            </a:r>
            <a:r>
              <a:rPr lang="zh-CN" altLang="en-US" dirty="0"/>
              <a:t>递归算法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递归算法举例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分治问题</a:t>
            </a:r>
            <a:endParaRPr lang="en-US" altLang="zh-CN" dirty="0"/>
          </a:p>
          <a:p>
            <a:pPr lvl="1"/>
            <a:r>
              <a:rPr lang="zh-CN" altLang="en-US" dirty="0"/>
              <a:t>二分查找</a:t>
            </a:r>
            <a:endParaRPr lang="en-US" altLang="zh-CN" dirty="0"/>
          </a:p>
          <a:p>
            <a:pPr lvl="1"/>
            <a:r>
              <a:rPr lang="zh-CN" altLang="en-US" dirty="0"/>
              <a:t>归并排序</a:t>
            </a:r>
            <a:endParaRPr lang="en-US" altLang="zh-CN" dirty="0"/>
          </a:p>
          <a:p>
            <a:pPr lvl="1"/>
            <a:r>
              <a:rPr lang="zh-CN" altLang="en-US" dirty="0"/>
              <a:t>快速排序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搜索问题</a:t>
            </a:r>
            <a:endParaRPr lang="en-US" altLang="zh-CN" dirty="0"/>
          </a:p>
          <a:p>
            <a:pPr lvl="1"/>
            <a:r>
              <a:rPr lang="zh-CN" altLang="en-US" dirty="0"/>
              <a:t>分书问题</a:t>
            </a:r>
            <a:endParaRPr lang="en-US" altLang="zh-CN" dirty="0"/>
          </a:p>
          <a:p>
            <a:pPr lvl="2"/>
            <a:r>
              <a:rPr lang="zh-CN" altLang="en-US" dirty="0"/>
              <a:t>递归分析工具</a:t>
            </a:r>
            <a:r>
              <a:rPr lang="en-US" altLang="zh-CN" dirty="0"/>
              <a:t>——</a:t>
            </a:r>
            <a:r>
              <a:rPr lang="zh-CN" altLang="en-US" dirty="0"/>
              <a:t>与或图</a:t>
            </a:r>
            <a:endParaRPr lang="zh-CN" altLang="en-US" dirty="0"/>
          </a:p>
          <a:p>
            <a:pPr lvl="1"/>
            <a:r>
              <a:rPr lang="zh-CN" altLang="en-US" dirty="0"/>
              <a:t>八皇后问题</a:t>
            </a:r>
            <a:endParaRPr lang="en-US" altLang="zh-CN" dirty="0"/>
          </a:p>
          <a:p>
            <a:pPr lvl="1"/>
            <a:r>
              <a:rPr lang="zh-CN" altLang="en-US" dirty="0"/>
              <a:t>全排列问题</a:t>
            </a:r>
            <a:endParaRPr lang="en-US" altLang="zh-CN" dirty="0"/>
          </a:p>
          <a:p>
            <a:pPr marL="397510" lvl="1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分治法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基本思想：将一个规模为</a:t>
            </a:r>
            <a:r>
              <a:rPr lang="en-US" altLang="zh-CN" dirty="0"/>
              <a:t>n</a:t>
            </a:r>
            <a:r>
              <a:rPr lang="zh-CN" altLang="en-US" dirty="0"/>
              <a:t>的问题分解为</a:t>
            </a:r>
            <a:r>
              <a:rPr lang="en-US" altLang="zh-CN" dirty="0"/>
              <a:t>k</a:t>
            </a:r>
            <a:r>
              <a:rPr lang="zh-CN" altLang="en-US" dirty="0"/>
              <a:t>个规模较小的子问题，这些子问题</a:t>
            </a:r>
            <a:r>
              <a:rPr lang="zh-CN" altLang="en-US" dirty="0">
                <a:solidFill>
                  <a:srgbClr val="0070C0"/>
                </a:solidFill>
              </a:rPr>
              <a:t>与原问题相同</a:t>
            </a:r>
            <a:r>
              <a:rPr lang="zh-CN" altLang="en-US" dirty="0"/>
              <a:t>且</a:t>
            </a:r>
            <a:r>
              <a:rPr lang="zh-CN" altLang="en-US" dirty="0">
                <a:solidFill>
                  <a:srgbClr val="0070C0"/>
                </a:solidFill>
              </a:rPr>
              <a:t>互相独立</a:t>
            </a:r>
            <a:endParaRPr lang="en-US" altLang="zh-CN" dirty="0">
              <a:solidFill>
                <a:srgbClr val="0070C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对这</a:t>
            </a:r>
            <a:r>
              <a:rPr lang="en-US" altLang="zh-CN" dirty="0"/>
              <a:t>k</a:t>
            </a:r>
            <a:r>
              <a:rPr lang="zh-CN" altLang="en-US" dirty="0"/>
              <a:t>个子问题分别求解。如果子问题的规模仍然不够小，则再划分为</a:t>
            </a:r>
            <a:r>
              <a:rPr lang="en-US" altLang="zh-CN" dirty="0"/>
              <a:t>k</a:t>
            </a:r>
            <a:r>
              <a:rPr lang="zh-CN" altLang="en-US" dirty="0"/>
              <a:t>个子问题，如此递归的进行下去，直到问题规模足够小，很容易求出其解为止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将求出的小规模的问题的解合并为一个更大规模的问题的解，自底向上逐步求出原来问题的解</a:t>
            </a:r>
            <a:endParaRPr lang="zh-CN" alt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28650" y="1367998"/>
            <a:ext cx="7886700" cy="5301361"/>
          </a:xfrm>
        </p:spPr>
        <p:txBody>
          <a:bodyPr>
            <a:norm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由于分治法要求分解成</a:t>
            </a:r>
            <a:r>
              <a:rPr lang="zh-CN" altLang="en-US" dirty="0">
                <a:solidFill>
                  <a:schemeClr val="hlink"/>
                </a:solidFill>
                <a:ea typeface="楷体_GB2312" pitchFamily="49" charset="-122"/>
              </a:rPr>
              <a:t>同类子问题</a:t>
            </a:r>
            <a:r>
              <a:rPr lang="zh-CN" altLang="en-US" dirty="0"/>
              <a:t>，并允许不断分解，使问题规模逐步减小，最终可用已知的方法求解足够小的问题</a:t>
            </a:r>
            <a:endParaRPr lang="en-US" altLang="zh-CN" dirty="0"/>
          </a:p>
          <a:p>
            <a:r>
              <a:rPr lang="zh-CN" altLang="en-US" dirty="0"/>
              <a:t>因此，</a:t>
            </a:r>
            <a:r>
              <a:rPr lang="zh-CN" altLang="en-US" dirty="0">
                <a:solidFill>
                  <a:srgbClr val="D60093"/>
                </a:solidFill>
                <a:ea typeface="楷体_GB2312" pitchFamily="49" charset="-122"/>
              </a:rPr>
              <a:t>分治法求解显然是一个</a:t>
            </a:r>
            <a:r>
              <a:rPr lang="zh-CN" altLang="en-US" u="sng" dirty="0">
                <a:solidFill>
                  <a:srgbClr val="D60093"/>
                </a:solidFill>
                <a:ea typeface="楷体_GB2312" pitchFamily="49" charset="-122"/>
              </a:rPr>
              <a:t>递归算法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分治法</a:t>
            </a:r>
            <a:endParaRPr lang="zh-CN" altLang="en-US" dirty="0"/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2499940" y="1537320"/>
            <a:ext cx="2514600" cy="533400"/>
          </a:xfrm>
          <a:prstGeom prst="rect">
            <a:avLst/>
          </a:prstGeom>
          <a:solidFill>
            <a:srgbClr val="F3DFF9"/>
          </a:solidFill>
          <a:ln w="9525">
            <a:solidFill>
              <a:srgbClr val="B21BEF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问题（</a:t>
            </a:r>
            <a:r>
              <a:rPr lang="zh-CN" altLang="en-US" b="1" kern="0" dirty="0">
                <a:solidFill>
                  <a:srgbClr val="000000"/>
                </a:solidFill>
              </a:rPr>
              <a:t>规模为</a:t>
            </a:r>
            <a:r>
              <a:rPr lang="en-US" altLang="zh-CN" b="1" kern="0" dirty="0">
                <a:solidFill>
                  <a:srgbClr val="000000"/>
                </a:solidFill>
              </a:rPr>
              <a:t>n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0" name="Group 5"/>
          <p:cNvGrpSpPr/>
          <p:nvPr/>
        </p:nvGrpSpPr>
        <p:grpSpPr bwMode="auto">
          <a:xfrm>
            <a:off x="1331540" y="2108820"/>
            <a:ext cx="4876800" cy="969963"/>
            <a:chOff x="920" y="2136"/>
            <a:chExt cx="3072" cy="611"/>
          </a:xfrm>
        </p:grpSpPr>
        <p:sp>
          <p:nvSpPr>
            <p:cNvPr id="21" name="Rectangle 6"/>
            <p:cNvSpPr>
              <a:spLocks noChangeArrowheads="1"/>
            </p:cNvSpPr>
            <p:nvPr/>
          </p:nvSpPr>
          <p:spPr bwMode="auto">
            <a:xfrm>
              <a:off x="920" y="2450"/>
              <a:ext cx="624" cy="29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3366FF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子问题</a:t>
              </a: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Rectangle 7"/>
            <p:cNvSpPr>
              <a:spLocks noChangeArrowheads="1"/>
            </p:cNvSpPr>
            <p:nvPr/>
          </p:nvSpPr>
          <p:spPr bwMode="auto">
            <a:xfrm>
              <a:off x="2024" y="2450"/>
              <a:ext cx="624" cy="29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3366FF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子问题</a:t>
              </a: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" name="Rectangle 8"/>
            <p:cNvSpPr>
              <a:spLocks noChangeArrowheads="1"/>
            </p:cNvSpPr>
            <p:nvPr/>
          </p:nvSpPr>
          <p:spPr bwMode="auto">
            <a:xfrm>
              <a:off x="3368" y="2450"/>
              <a:ext cx="624" cy="29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3366FF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子问题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" name="Text Box 9"/>
            <p:cNvSpPr txBox="1">
              <a:spLocks noChangeArrowheads="1"/>
            </p:cNvSpPr>
            <p:nvPr/>
          </p:nvSpPr>
          <p:spPr bwMode="auto">
            <a:xfrm>
              <a:off x="2868" y="2420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…</a:t>
              </a:r>
              <a:endPara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" name="Line 10"/>
            <p:cNvSpPr>
              <a:spLocks noChangeShapeType="1"/>
            </p:cNvSpPr>
            <p:nvPr/>
          </p:nvSpPr>
          <p:spPr bwMode="auto">
            <a:xfrm flipH="1">
              <a:off x="1208" y="2136"/>
              <a:ext cx="1152" cy="31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Line 11"/>
            <p:cNvSpPr>
              <a:spLocks noChangeShapeType="1"/>
            </p:cNvSpPr>
            <p:nvPr/>
          </p:nvSpPr>
          <p:spPr bwMode="auto">
            <a:xfrm>
              <a:off x="2360" y="2136"/>
              <a:ext cx="0" cy="31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" name="Line 12"/>
            <p:cNvSpPr>
              <a:spLocks noChangeShapeType="1"/>
            </p:cNvSpPr>
            <p:nvPr/>
          </p:nvSpPr>
          <p:spPr bwMode="auto">
            <a:xfrm>
              <a:off x="2360" y="2136"/>
              <a:ext cx="1344" cy="31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8" name="Group 13"/>
          <p:cNvGrpSpPr/>
          <p:nvPr/>
        </p:nvGrpSpPr>
        <p:grpSpPr bwMode="auto">
          <a:xfrm>
            <a:off x="1407740" y="3112120"/>
            <a:ext cx="4724400" cy="1295400"/>
            <a:chOff x="968" y="2768"/>
            <a:chExt cx="2976" cy="816"/>
          </a:xfrm>
        </p:grpSpPr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968" y="3257"/>
              <a:ext cx="624" cy="279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8000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子问题</a:t>
              </a: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" name="Rectangle 15"/>
            <p:cNvSpPr>
              <a:spLocks noChangeArrowheads="1"/>
            </p:cNvSpPr>
            <p:nvPr/>
          </p:nvSpPr>
          <p:spPr bwMode="auto">
            <a:xfrm>
              <a:off x="2072" y="3257"/>
              <a:ext cx="624" cy="279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8000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子问题</a:t>
              </a: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" name="Rectangle 16"/>
            <p:cNvSpPr>
              <a:spLocks noChangeArrowheads="1"/>
            </p:cNvSpPr>
            <p:nvPr/>
          </p:nvSpPr>
          <p:spPr bwMode="auto">
            <a:xfrm>
              <a:off x="3320" y="3257"/>
              <a:ext cx="624" cy="279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8000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子问题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" name="Text Box 17"/>
            <p:cNvSpPr txBox="1">
              <a:spLocks noChangeArrowheads="1"/>
            </p:cNvSpPr>
            <p:nvPr/>
          </p:nvSpPr>
          <p:spPr bwMode="auto">
            <a:xfrm>
              <a:off x="2840" y="3257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…</a:t>
              </a:r>
              <a:endPara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Line 18"/>
            <p:cNvSpPr>
              <a:spLocks noChangeShapeType="1"/>
            </p:cNvSpPr>
            <p:nvPr/>
          </p:nvSpPr>
          <p:spPr bwMode="auto">
            <a:xfrm flipH="1">
              <a:off x="1256" y="2768"/>
              <a:ext cx="1104" cy="48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" name="Line 19"/>
            <p:cNvSpPr>
              <a:spLocks noChangeShapeType="1"/>
            </p:cNvSpPr>
            <p:nvPr/>
          </p:nvSpPr>
          <p:spPr bwMode="auto">
            <a:xfrm>
              <a:off x="2360" y="2768"/>
              <a:ext cx="0" cy="48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" name="Line 20"/>
            <p:cNvSpPr>
              <a:spLocks noChangeShapeType="1"/>
            </p:cNvSpPr>
            <p:nvPr/>
          </p:nvSpPr>
          <p:spPr bwMode="auto">
            <a:xfrm>
              <a:off x="2360" y="2768"/>
              <a:ext cx="1296" cy="48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6" name="Group 21"/>
          <p:cNvGrpSpPr/>
          <p:nvPr/>
        </p:nvGrpSpPr>
        <p:grpSpPr bwMode="auto">
          <a:xfrm>
            <a:off x="5147890" y="1813545"/>
            <a:ext cx="3384550" cy="2384425"/>
            <a:chOff x="3212" y="1950"/>
            <a:chExt cx="2503" cy="1502"/>
          </a:xfrm>
        </p:grpSpPr>
        <p:sp>
          <p:nvSpPr>
            <p:cNvPr id="37" name="Text Box 22"/>
            <p:cNvSpPr txBox="1">
              <a:spLocks noChangeArrowheads="1"/>
            </p:cNvSpPr>
            <p:nvPr/>
          </p:nvSpPr>
          <p:spPr bwMode="auto">
            <a:xfrm>
              <a:off x="4568" y="2448"/>
              <a:ext cx="1147" cy="29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FF9900"/>
              </a:solidFill>
              <a:miter lim="800000"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>
                  <a:solidFill>
                    <a:srgbClr val="000000"/>
                  </a:solidFill>
                  <a:latin typeface="Tahoma" panose="020B0604030504040204" pitchFamily="34" charset="0"/>
                </a:rPr>
                <a:t>相同类型</a:t>
              </a:r>
              <a:endParaRPr lang="zh-CN" altLang="en-US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" name="Line 23"/>
            <p:cNvSpPr>
              <a:spLocks noChangeShapeType="1"/>
            </p:cNvSpPr>
            <p:nvPr/>
          </p:nvSpPr>
          <p:spPr bwMode="auto">
            <a:xfrm>
              <a:off x="3212" y="1950"/>
              <a:ext cx="1313" cy="563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" name="Line 24"/>
            <p:cNvSpPr>
              <a:spLocks noChangeShapeType="1"/>
            </p:cNvSpPr>
            <p:nvPr/>
          </p:nvSpPr>
          <p:spPr bwMode="auto">
            <a:xfrm>
              <a:off x="4032" y="2610"/>
              <a:ext cx="477" cy="0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" name="Line 25"/>
            <p:cNvSpPr>
              <a:spLocks noChangeShapeType="1"/>
            </p:cNvSpPr>
            <p:nvPr/>
          </p:nvSpPr>
          <p:spPr bwMode="auto">
            <a:xfrm flipV="1">
              <a:off x="3977" y="2674"/>
              <a:ext cx="566" cy="778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1" name="Group 26"/>
          <p:cNvGrpSpPr/>
          <p:nvPr/>
        </p:nvGrpSpPr>
        <p:grpSpPr bwMode="auto">
          <a:xfrm>
            <a:off x="569540" y="1918320"/>
            <a:ext cx="611188" cy="2590800"/>
            <a:chOff x="720" y="1584"/>
            <a:chExt cx="385" cy="1632"/>
          </a:xfrm>
        </p:grpSpPr>
        <p:sp>
          <p:nvSpPr>
            <p:cNvPr id="42" name="Line 27"/>
            <p:cNvSpPr>
              <a:spLocks noChangeShapeType="1"/>
            </p:cNvSpPr>
            <p:nvPr/>
          </p:nvSpPr>
          <p:spPr bwMode="auto">
            <a:xfrm flipV="1">
              <a:off x="768" y="1584"/>
              <a:ext cx="0" cy="16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" name="Text Box 28"/>
            <p:cNvSpPr txBox="1">
              <a:spLocks noChangeArrowheads="1"/>
            </p:cNvSpPr>
            <p:nvPr/>
          </p:nvSpPr>
          <p:spPr bwMode="auto">
            <a:xfrm>
              <a:off x="720" y="2131"/>
              <a:ext cx="385" cy="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ahoma" panose="020B0604030504040204" pitchFamily="34" charset="0"/>
                </a:rPr>
                <a:t>合并解</a:t>
              </a:r>
              <a:endParaRPr lang="zh-CN" altLang="en-US" sz="2800" b="1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二分查找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基本思想</a:t>
            </a:r>
            <a:endParaRPr lang="en-US" altLang="zh-CN" dirty="0"/>
          </a:p>
          <a:p>
            <a:pPr lvl="1"/>
            <a:r>
              <a:rPr lang="zh-CN" altLang="en-US" dirty="0"/>
              <a:t>适用范围：有序表</a:t>
            </a:r>
            <a:endParaRPr lang="en-US" altLang="zh-CN" dirty="0"/>
          </a:p>
          <a:p>
            <a:pPr lvl="1"/>
            <a:r>
              <a:rPr lang="zh-CN" altLang="en-US" dirty="0"/>
              <a:t>方法：</a:t>
            </a:r>
            <a:endParaRPr lang="en-US" altLang="zh-CN" dirty="0"/>
          </a:p>
          <a:p>
            <a:pPr lvl="2"/>
            <a:r>
              <a:rPr lang="zh-CN" altLang="en-US" dirty="0"/>
              <a:t>设置变量</a:t>
            </a:r>
            <a:r>
              <a:rPr lang="en-US" altLang="zh-CN" dirty="0"/>
              <a:t>low</a:t>
            </a:r>
            <a:r>
              <a:rPr lang="zh-CN" altLang="en-US" dirty="0"/>
              <a:t>和</a:t>
            </a:r>
            <a:r>
              <a:rPr lang="en-US" altLang="zh-CN" dirty="0"/>
              <a:t>high</a:t>
            </a:r>
            <a:r>
              <a:rPr lang="zh-CN" altLang="en-US" dirty="0"/>
              <a:t>分别指向查找数据段的起止位置，用</a:t>
            </a:r>
            <a:r>
              <a:rPr lang="en-US" altLang="zh-CN" dirty="0"/>
              <a:t>mid</a:t>
            </a:r>
            <a:r>
              <a:rPr lang="zh-CN" altLang="en-US" dirty="0"/>
              <a:t>指向中间位置，</a:t>
            </a:r>
            <a:endParaRPr lang="en-US" altLang="zh-CN" dirty="0"/>
          </a:p>
          <a:p>
            <a:pPr lvl="2"/>
            <a:r>
              <a:rPr lang="zh-CN" altLang="en-US" dirty="0"/>
              <a:t>将被查找数与</a:t>
            </a:r>
            <a:r>
              <a:rPr lang="en-US" altLang="zh-CN" dirty="0"/>
              <a:t>mid</a:t>
            </a:r>
            <a:r>
              <a:rPr lang="zh-CN" altLang="en-US" dirty="0"/>
              <a:t>位置指向的数进行比较</a:t>
            </a:r>
            <a:endParaRPr lang="en-US" altLang="zh-CN" dirty="0"/>
          </a:p>
          <a:p>
            <a:pPr lvl="2"/>
            <a:r>
              <a:rPr lang="zh-CN" altLang="en-US" dirty="0"/>
              <a:t>若被查找数大于</a:t>
            </a:r>
            <a:r>
              <a:rPr lang="en-US" altLang="zh-CN" dirty="0"/>
              <a:t>mid</a:t>
            </a:r>
            <a:r>
              <a:rPr lang="zh-CN" altLang="en-US" dirty="0"/>
              <a:t>位置指向的数，则将</a:t>
            </a:r>
            <a:r>
              <a:rPr lang="en-US" altLang="zh-CN" dirty="0"/>
              <a:t>low</a:t>
            </a:r>
            <a:r>
              <a:rPr lang="zh-CN" altLang="en-US" dirty="0"/>
              <a:t>与</a:t>
            </a:r>
            <a:r>
              <a:rPr lang="en-US" altLang="zh-CN" dirty="0"/>
              <a:t>mid</a:t>
            </a:r>
            <a:r>
              <a:rPr lang="zh-CN" altLang="en-US" dirty="0"/>
              <a:t>之间的数折掉， </a:t>
            </a:r>
            <a:r>
              <a:rPr lang="en-US" altLang="zh-CN" dirty="0"/>
              <a:t>low</a:t>
            </a:r>
            <a:r>
              <a:rPr lang="zh-CN" altLang="en-US" dirty="0"/>
              <a:t>定位于</a:t>
            </a:r>
            <a:r>
              <a:rPr lang="en-US" altLang="zh-CN" dirty="0"/>
              <a:t>mid+1</a:t>
            </a:r>
            <a:r>
              <a:rPr lang="zh-CN" altLang="en-US" dirty="0"/>
              <a:t>位置；</a:t>
            </a:r>
            <a:endParaRPr lang="en-US" altLang="zh-CN" dirty="0"/>
          </a:p>
          <a:p>
            <a:pPr lvl="2"/>
            <a:r>
              <a:rPr lang="zh-CN" altLang="en-US" dirty="0"/>
              <a:t>若被查找数小于</a:t>
            </a:r>
            <a:r>
              <a:rPr lang="en-US" altLang="zh-CN" dirty="0"/>
              <a:t>mid</a:t>
            </a:r>
            <a:r>
              <a:rPr lang="zh-CN" altLang="en-US" dirty="0"/>
              <a:t>位置指向的数，则将</a:t>
            </a:r>
            <a:r>
              <a:rPr lang="en-US" altLang="zh-CN" dirty="0"/>
              <a:t>mid</a:t>
            </a:r>
            <a:r>
              <a:rPr lang="zh-CN" altLang="en-US" dirty="0"/>
              <a:t> 与</a:t>
            </a:r>
            <a:r>
              <a:rPr lang="en-US" altLang="zh-CN" dirty="0"/>
              <a:t>high</a:t>
            </a:r>
            <a:r>
              <a:rPr lang="zh-CN" altLang="en-US" dirty="0"/>
              <a:t>之间的数折掉， </a:t>
            </a:r>
            <a:r>
              <a:rPr lang="en-US" altLang="zh-CN" dirty="0"/>
              <a:t>high</a:t>
            </a:r>
            <a:r>
              <a:rPr lang="zh-CN" altLang="en-US" dirty="0"/>
              <a:t>定位于</a:t>
            </a:r>
            <a:r>
              <a:rPr lang="en-US" altLang="zh-CN" dirty="0"/>
              <a:t>mid-1</a:t>
            </a:r>
            <a:r>
              <a:rPr lang="zh-CN" altLang="en-US" dirty="0"/>
              <a:t>位置；</a:t>
            </a:r>
            <a:endParaRPr lang="en-US" altLang="zh-CN" dirty="0"/>
          </a:p>
          <a:p>
            <a:pPr lvl="2"/>
            <a:r>
              <a:rPr lang="zh-CN" altLang="en-US" dirty="0"/>
              <a:t>继续求</a:t>
            </a:r>
            <a:r>
              <a:rPr lang="en-US" altLang="zh-CN" dirty="0"/>
              <a:t>mid</a:t>
            </a:r>
            <a:r>
              <a:rPr lang="zh-CN" altLang="en-US" dirty="0"/>
              <a:t>位置，并比较被查找数与</a:t>
            </a:r>
            <a:r>
              <a:rPr lang="en-US" altLang="zh-CN" dirty="0"/>
              <a:t>mid</a:t>
            </a:r>
            <a:r>
              <a:rPr lang="zh-CN" altLang="en-US" dirty="0"/>
              <a:t>位置指向的数，直到找到或确定不存在为止</a:t>
            </a:r>
            <a:endParaRPr lang="zh-CN" alt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二分查找</a:t>
            </a:r>
            <a:endParaRPr lang="zh-CN" altLang="en-US" dirty="0"/>
          </a:p>
        </p:txBody>
      </p:sp>
      <p:sp>
        <p:nvSpPr>
          <p:cNvPr id="143363" name="Text Box 3"/>
          <p:cNvSpPr txBox="1"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/>
              <a:t>一组升序排列的数</a:t>
            </a:r>
            <a:endParaRPr lang="en-US" altLang="zh-CN" dirty="0"/>
          </a:p>
          <a:p>
            <a:pPr marL="0" indent="0">
              <a:spcBef>
                <a:spcPct val="50000"/>
              </a:spcBef>
              <a:buNone/>
            </a:pPr>
            <a:r>
              <a:rPr lang="en-US" altLang="zh-CN" sz="2800" dirty="0"/>
              <a:t>8,13,21,28,35,41,52,63,71,76,81,95,101,150,164</a:t>
            </a:r>
            <a:endParaRPr lang="en-US" altLang="zh-CN" sz="2800" dirty="0"/>
          </a:p>
        </p:txBody>
      </p:sp>
      <p:grpSp>
        <p:nvGrpSpPr>
          <p:cNvPr id="143364" name="Group 4"/>
          <p:cNvGrpSpPr/>
          <p:nvPr/>
        </p:nvGrpSpPr>
        <p:grpSpPr bwMode="auto">
          <a:xfrm>
            <a:off x="533400" y="3035969"/>
            <a:ext cx="8077200" cy="2438400"/>
            <a:chOff x="240" y="2112"/>
            <a:chExt cx="5088" cy="1536"/>
          </a:xfrm>
        </p:grpSpPr>
        <p:sp>
          <p:nvSpPr>
            <p:cNvPr id="143365" name="Text Box 5"/>
            <p:cNvSpPr txBox="1">
              <a:spLocks noChangeArrowheads="1"/>
            </p:cNvSpPr>
            <p:nvPr/>
          </p:nvSpPr>
          <p:spPr bwMode="auto">
            <a:xfrm>
              <a:off x="2640" y="211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dirty="0">
                  <a:latin typeface="Times New Roman" panose="02020603050405020304" pitchFamily="18" charset="0"/>
                </a:rPr>
                <a:t>63</a:t>
              </a:r>
              <a:endParaRPr kumimoji="1"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43366" name="Text Box 6"/>
            <p:cNvSpPr txBox="1">
              <a:spLocks noChangeArrowheads="1"/>
            </p:cNvSpPr>
            <p:nvPr/>
          </p:nvSpPr>
          <p:spPr bwMode="auto">
            <a:xfrm>
              <a:off x="3696" y="2496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95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43367" name="Text Box 7"/>
            <p:cNvSpPr txBox="1">
              <a:spLocks noChangeArrowheads="1"/>
            </p:cNvSpPr>
            <p:nvPr/>
          </p:nvSpPr>
          <p:spPr bwMode="auto">
            <a:xfrm>
              <a:off x="4416" y="2832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150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43368" name="Text Box 8"/>
            <p:cNvSpPr txBox="1">
              <a:spLocks noChangeArrowheads="1"/>
            </p:cNvSpPr>
            <p:nvPr/>
          </p:nvSpPr>
          <p:spPr bwMode="auto">
            <a:xfrm>
              <a:off x="4896" y="3360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164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43369" name="Text Box 9"/>
            <p:cNvSpPr txBox="1">
              <a:spLocks noChangeArrowheads="1"/>
            </p:cNvSpPr>
            <p:nvPr/>
          </p:nvSpPr>
          <p:spPr bwMode="auto">
            <a:xfrm>
              <a:off x="4128" y="3360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101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43370" name="Text Box 10"/>
            <p:cNvSpPr txBox="1">
              <a:spLocks noChangeArrowheads="1"/>
            </p:cNvSpPr>
            <p:nvPr/>
          </p:nvSpPr>
          <p:spPr bwMode="auto">
            <a:xfrm>
              <a:off x="3264" y="288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76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43371" name="Text Box 11"/>
            <p:cNvSpPr txBox="1">
              <a:spLocks noChangeArrowheads="1"/>
            </p:cNvSpPr>
            <p:nvPr/>
          </p:nvSpPr>
          <p:spPr bwMode="auto">
            <a:xfrm>
              <a:off x="3600" y="336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81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43372" name="Text Box 12"/>
            <p:cNvSpPr txBox="1">
              <a:spLocks noChangeArrowheads="1"/>
            </p:cNvSpPr>
            <p:nvPr/>
          </p:nvSpPr>
          <p:spPr bwMode="auto">
            <a:xfrm>
              <a:off x="2832" y="331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71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43373" name="Text Box 13"/>
            <p:cNvSpPr txBox="1">
              <a:spLocks noChangeArrowheads="1"/>
            </p:cNvSpPr>
            <p:nvPr/>
          </p:nvSpPr>
          <p:spPr bwMode="auto">
            <a:xfrm>
              <a:off x="1344" y="244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28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43374" name="Text Box 14"/>
            <p:cNvSpPr txBox="1">
              <a:spLocks noChangeArrowheads="1"/>
            </p:cNvSpPr>
            <p:nvPr/>
          </p:nvSpPr>
          <p:spPr bwMode="auto">
            <a:xfrm>
              <a:off x="1872" y="292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41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43375" name="Text Box 15"/>
            <p:cNvSpPr txBox="1">
              <a:spLocks noChangeArrowheads="1"/>
            </p:cNvSpPr>
            <p:nvPr/>
          </p:nvSpPr>
          <p:spPr bwMode="auto">
            <a:xfrm>
              <a:off x="528" y="288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13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43376" name="Text Box 16"/>
            <p:cNvSpPr txBox="1">
              <a:spLocks noChangeArrowheads="1"/>
            </p:cNvSpPr>
            <p:nvPr/>
          </p:nvSpPr>
          <p:spPr bwMode="auto">
            <a:xfrm>
              <a:off x="240" y="331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8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43377" name="Text Box 17"/>
            <p:cNvSpPr txBox="1">
              <a:spLocks noChangeArrowheads="1"/>
            </p:cNvSpPr>
            <p:nvPr/>
          </p:nvSpPr>
          <p:spPr bwMode="auto">
            <a:xfrm>
              <a:off x="960" y="331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21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43378" name="Text Box 18"/>
            <p:cNvSpPr txBox="1">
              <a:spLocks noChangeArrowheads="1"/>
            </p:cNvSpPr>
            <p:nvPr/>
          </p:nvSpPr>
          <p:spPr bwMode="auto">
            <a:xfrm>
              <a:off x="1440" y="331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35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43379" name="Text Box 19"/>
            <p:cNvSpPr txBox="1">
              <a:spLocks noChangeArrowheads="1"/>
            </p:cNvSpPr>
            <p:nvPr/>
          </p:nvSpPr>
          <p:spPr bwMode="auto">
            <a:xfrm>
              <a:off x="2256" y="331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52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43380" name="Line 20"/>
            <p:cNvSpPr>
              <a:spLocks noChangeShapeType="1"/>
            </p:cNvSpPr>
            <p:nvPr/>
          </p:nvSpPr>
          <p:spPr bwMode="auto">
            <a:xfrm flipH="1">
              <a:off x="1680" y="2256"/>
              <a:ext cx="96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381" name="Line 21"/>
            <p:cNvSpPr>
              <a:spLocks noChangeShapeType="1"/>
            </p:cNvSpPr>
            <p:nvPr/>
          </p:nvSpPr>
          <p:spPr bwMode="auto">
            <a:xfrm flipH="1">
              <a:off x="816" y="2640"/>
              <a:ext cx="52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382" name="Line 22"/>
            <p:cNvSpPr>
              <a:spLocks noChangeShapeType="1"/>
            </p:cNvSpPr>
            <p:nvPr/>
          </p:nvSpPr>
          <p:spPr bwMode="auto">
            <a:xfrm flipH="1">
              <a:off x="432" y="3120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383" name="Line 23"/>
            <p:cNvSpPr>
              <a:spLocks noChangeShapeType="1"/>
            </p:cNvSpPr>
            <p:nvPr/>
          </p:nvSpPr>
          <p:spPr bwMode="auto">
            <a:xfrm>
              <a:off x="768" y="3120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384" name="Line 24"/>
            <p:cNvSpPr>
              <a:spLocks noChangeShapeType="1"/>
            </p:cNvSpPr>
            <p:nvPr/>
          </p:nvSpPr>
          <p:spPr bwMode="auto">
            <a:xfrm>
              <a:off x="1584" y="2688"/>
              <a:ext cx="33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385" name="Line 25"/>
            <p:cNvSpPr>
              <a:spLocks noChangeShapeType="1"/>
            </p:cNvSpPr>
            <p:nvPr/>
          </p:nvSpPr>
          <p:spPr bwMode="auto">
            <a:xfrm flipH="1">
              <a:off x="1680" y="3168"/>
              <a:ext cx="24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386" name="Line 26"/>
            <p:cNvSpPr>
              <a:spLocks noChangeShapeType="1"/>
            </p:cNvSpPr>
            <p:nvPr/>
          </p:nvSpPr>
          <p:spPr bwMode="auto">
            <a:xfrm>
              <a:off x="2112" y="3168"/>
              <a:ext cx="24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387" name="Line 27"/>
            <p:cNvSpPr>
              <a:spLocks noChangeShapeType="1"/>
            </p:cNvSpPr>
            <p:nvPr/>
          </p:nvSpPr>
          <p:spPr bwMode="auto">
            <a:xfrm>
              <a:off x="2928" y="2304"/>
              <a:ext cx="76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388" name="Line 28"/>
            <p:cNvSpPr>
              <a:spLocks noChangeShapeType="1"/>
            </p:cNvSpPr>
            <p:nvPr/>
          </p:nvSpPr>
          <p:spPr bwMode="auto">
            <a:xfrm flipH="1">
              <a:off x="3552" y="2736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389" name="Line 29"/>
            <p:cNvSpPr>
              <a:spLocks noChangeShapeType="1"/>
            </p:cNvSpPr>
            <p:nvPr/>
          </p:nvSpPr>
          <p:spPr bwMode="auto">
            <a:xfrm flipH="1">
              <a:off x="3024" y="3120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390" name="Line 30"/>
            <p:cNvSpPr>
              <a:spLocks noChangeShapeType="1"/>
            </p:cNvSpPr>
            <p:nvPr/>
          </p:nvSpPr>
          <p:spPr bwMode="auto">
            <a:xfrm>
              <a:off x="3456" y="3120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391" name="Line 31"/>
            <p:cNvSpPr>
              <a:spLocks noChangeShapeType="1"/>
            </p:cNvSpPr>
            <p:nvPr/>
          </p:nvSpPr>
          <p:spPr bwMode="auto">
            <a:xfrm>
              <a:off x="3984" y="2688"/>
              <a:ext cx="48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392" name="Line 32"/>
            <p:cNvSpPr>
              <a:spLocks noChangeShapeType="1"/>
            </p:cNvSpPr>
            <p:nvPr/>
          </p:nvSpPr>
          <p:spPr bwMode="auto">
            <a:xfrm flipH="1">
              <a:off x="4368" y="3072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393" name="Line 33"/>
            <p:cNvSpPr>
              <a:spLocks noChangeShapeType="1"/>
            </p:cNvSpPr>
            <p:nvPr/>
          </p:nvSpPr>
          <p:spPr bwMode="auto">
            <a:xfrm>
              <a:off x="4704" y="3072"/>
              <a:ext cx="33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Rot="1" noChangeArrowheads="1"/>
          </p:cNvSpPr>
          <p:nvPr/>
        </p:nvSpPr>
        <p:spPr bwMode="auto">
          <a:xfrm>
            <a:off x="35496" y="3789040"/>
            <a:ext cx="4032448" cy="266429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4008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46240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737360" indent="-210185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 panose="05020102010507070707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 panose="05020102010507070707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75000"/>
              </a:lnSpc>
              <a:buNone/>
              <a:defRPr/>
            </a:pP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rgbClr val="009DD9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int</a:t>
            </a: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 BinSearch(</a:t>
            </a: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rgbClr val="009DD9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long</a:t>
            </a: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 a[], </a:t>
            </a:r>
            <a:r>
              <a:rPr lang="fr-FR" altLang="zh-CN" sz="1250" b="1" dirty="0">
                <a:solidFill>
                  <a:srgbClr val="009DD9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long</a:t>
            </a:r>
            <a:r>
              <a:rPr lang="fr-FR" altLang="zh-CN" sz="1250" b="1" dirty="0">
                <a:solidFill>
                  <a:sysClr val="windowText" lastClr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x</a:t>
            </a:r>
            <a:r>
              <a:rPr lang="en-US" altLang="zh-CN" sz="1250" b="1" dirty="0">
                <a:solidFill>
                  <a:sysClr val="windowText" lastClr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,</a:t>
            </a:r>
            <a:r>
              <a:rPr lang="fr-FR" altLang="zh-CN" sz="1250" b="1" dirty="0">
                <a:solidFill>
                  <a:sysClr val="windowText" lastClr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rgbClr val="009DD9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int</a:t>
            </a: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 n) </a:t>
            </a:r>
            <a:endParaRPr kumimoji="0" lang="fr-FR" altLang="zh-CN" sz="125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{</a:t>
            </a:r>
            <a:endParaRPr kumimoji="0" lang="fr-FR" altLang="zh-CN" sz="125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fr-FR" altLang="zh-CN" sz="1250" b="1" dirty="0">
                <a:solidFill>
                  <a:sysClr val="windowText" lastClr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</a:t>
            </a: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rgbClr val="009DD9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int</a:t>
            </a: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 low, high, mid;</a:t>
            </a:r>
            <a:endParaRPr kumimoji="0" lang="fr-FR" altLang="zh-CN" sz="125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fr-FR" altLang="zh-CN" sz="1250" b="1" dirty="0">
                <a:solidFill>
                  <a:sysClr val="windowText" lastClr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</a:t>
            </a: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low = 0;  </a:t>
            </a:r>
            <a:endParaRPr kumimoji="0" lang="fr-FR" altLang="zh-CN" sz="125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fr-FR" altLang="zh-CN" sz="1250" b="1" dirty="0">
                <a:solidFill>
                  <a:sysClr val="windowText" lastClr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</a:t>
            </a: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high = n - 1;              </a:t>
            </a:r>
            <a:endParaRPr kumimoji="0" lang="fr-FR" altLang="zh-CN" sz="125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fr-FR" altLang="zh-CN" sz="1250" b="1" dirty="0">
                <a:solidFill>
                  <a:sysClr val="windowText" lastClr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</a:t>
            </a: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rgbClr val="009DD9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while</a:t>
            </a: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 (low &lt;= high)</a:t>
            </a:r>
            <a:endParaRPr kumimoji="0" lang="fr-FR" altLang="zh-CN" sz="125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fr-FR" altLang="zh-CN" sz="1250" b="1" dirty="0">
                <a:solidFill>
                  <a:sysClr val="windowText" lastClr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</a:t>
            </a: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{</a:t>
            </a:r>
            <a:endParaRPr kumimoji="0" lang="fr-FR" altLang="zh-CN" sz="125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fr-FR" altLang="zh-CN" sz="1250" b="1" dirty="0">
                <a:solidFill>
                  <a:sysClr val="windowText" lastClr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 </a:t>
            </a: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mid = (high + low) / 2; </a:t>
            </a:r>
            <a:endParaRPr kumimoji="0" lang="fr-FR" altLang="zh-CN" sz="125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lang="fr-FR" altLang="zh-CN" sz="1250" b="1" dirty="0">
                <a:solidFill>
                  <a:sysClr val="windowText" lastClr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 </a:t>
            </a: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rgbClr val="009DD9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if</a:t>
            </a: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 (x &gt; a[mid]) low = mid + 1; </a:t>
            </a:r>
            <a:endParaRPr kumimoji="0" lang="fr-FR" altLang="zh-CN" sz="125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kumimoji="0" lang="fr-FR" altLang="zh-CN" sz="1250" b="1" i="0" u="none" strike="noStrike" kern="1200" cap="none" spc="0" normalizeH="0" noProof="0" dirty="0">
                <a:ln>
                  <a:noFill/>
                </a:ln>
                <a:solidFill>
                  <a:srgbClr val="009DD9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    </a:t>
            </a: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rgbClr val="009DD9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else</a:t>
            </a: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rgbClr val="009DD9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if</a:t>
            </a: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 (x &lt; a[mid]) high = mid - 1; </a:t>
            </a:r>
            <a:endParaRPr kumimoji="0" lang="fr-FR" altLang="zh-CN" sz="125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    </a:t>
            </a: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rgbClr val="009DD9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else</a:t>
            </a: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rgbClr val="009DD9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return</a:t>
            </a: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 (mid); </a:t>
            </a:r>
            <a:endParaRPr kumimoji="0" lang="fr-FR" altLang="zh-CN" sz="125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  }</a:t>
            </a:r>
            <a:endParaRPr kumimoji="0" lang="fr-FR" altLang="zh-CN" sz="125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  </a:t>
            </a: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rgbClr val="009DD9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return</a:t>
            </a: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(-1); </a:t>
            </a:r>
            <a:endParaRPr kumimoji="0" lang="fr-FR" altLang="zh-CN" sz="125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kumimoji="0" lang="fr-FR" altLang="zh-CN" sz="125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rPr>
              <a:t>}</a:t>
            </a:r>
            <a:endParaRPr kumimoji="0" lang="en-US" altLang="zh-CN" sz="125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907704" y="804664"/>
          <a:ext cx="6096000" cy="457200"/>
        </p:xfrm>
        <a:graphic>
          <a:graphicData uri="http://schemas.openxmlformats.org/drawingml/2006/table">
            <a:tbl>
              <a:tblPr firstRow="1" bandRow="1"/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9pPr>
                    </a:lstStyle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9pPr>
                    </a:lstStyle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9pPr>
                    </a:lstStyle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9pPr>
                    </a:lstStyle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9pPr>
                    </a:lstStyle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9pPr>
                    </a:lstStyle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7" name="组合 23"/>
          <p:cNvGrpSpPr/>
          <p:nvPr/>
        </p:nvGrpSpPr>
        <p:grpSpPr bwMode="auto">
          <a:xfrm>
            <a:off x="2136304" y="1338064"/>
            <a:ext cx="762000" cy="766763"/>
            <a:chOff x="2743200" y="4114800"/>
            <a:chExt cx="762000" cy="766465"/>
          </a:xfrm>
        </p:grpSpPr>
        <p:sp>
          <p:nvSpPr>
            <p:cNvPr id="8" name="TextBox 259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CC00CC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上箭头 8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  <a:solidFill>
              <a:srgbClr val="0F6FC6"/>
            </a:solidFill>
            <a:ln w="25400" cap="flat" cmpd="sng" algn="ctr">
              <a:solidFill>
                <a:srgbClr val="0F6FC6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971600" y="188640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x=34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" name="组合 23"/>
          <p:cNvGrpSpPr/>
          <p:nvPr/>
        </p:nvGrpSpPr>
        <p:grpSpPr bwMode="auto">
          <a:xfrm>
            <a:off x="7241704" y="1338064"/>
            <a:ext cx="990600" cy="766763"/>
            <a:chOff x="2743200" y="4114800"/>
            <a:chExt cx="990600" cy="766465"/>
          </a:xfrm>
        </p:grpSpPr>
        <p:sp>
          <p:nvSpPr>
            <p:cNvPr id="12" name="TextBox 263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990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" name="上箭头 12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  <a:solidFill>
              <a:srgbClr val="0F6FC6"/>
            </a:solidFill>
            <a:ln w="25400" cap="flat" cmpd="sng" algn="ctr">
              <a:solidFill>
                <a:srgbClr val="0F6FC6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4" name="组合 23"/>
          <p:cNvGrpSpPr/>
          <p:nvPr/>
        </p:nvGrpSpPr>
        <p:grpSpPr bwMode="auto">
          <a:xfrm>
            <a:off x="4117504" y="1338064"/>
            <a:ext cx="762000" cy="766763"/>
            <a:chOff x="2743200" y="4114800"/>
            <a:chExt cx="762000" cy="766465"/>
          </a:xfrm>
        </p:grpSpPr>
        <p:sp>
          <p:nvSpPr>
            <p:cNvPr id="15" name="TextBox 14"/>
            <p:cNvSpPr txBox="1"/>
            <p:nvPr/>
          </p:nvSpPr>
          <p:spPr>
            <a:xfrm>
              <a:off x="2743200" y="4419482"/>
              <a:ext cx="762000" cy="46178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7CCA62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mid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7CCA6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上箭头 15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  <a:solidFill>
              <a:srgbClr val="0F6FC6"/>
            </a:solidFill>
            <a:ln w="25400" cap="flat" cmpd="sng" algn="ctr">
              <a:solidFill>
                <a:srgbClr val="0F6FC6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7" name="TextBox 271"/>
          <p:cNvSpPr txBox="1">
            <a:spLocks noChangeArrowheads="1"/>
          </p:cNvSpPr>
          <p:nvPr/>
        </p:nvSpPr>
        <p:spPr bwMode="auto">
          <a:xfrm>
            <a:off x="1907704" y="195064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TextBox 272"/>
          <p:cNvSpPr txBox="1">
            <a:spLocks noChangeArrowheads="1"/>
          </p:cNvSpPr>
          <p:nvPr/>
        </p:nvSpPr>
        <p:spPr bwMode="auto">
          <a:xfrm>
            <a:off x="2898304" y="195064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TextBox 273"/>
          <p:cNvSpPr txBox="1">
            <a:spLocks noChangeArrowheads="1"/>
          </p:cNvSpPr>
          <p:nvPr/>
        </p:nvSpPr>
        <p:spPr bwMode="auto">
          <a:xfrm>
            <a:off x="3965104" y="195064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TextBox 274"/>
          <p:cNvSpPr txBox="1">
            <a:spLocks noChangeArrowheads="1"/>
          </p:cNvSpPr>
          <p:nvPr/>
        </p:nvSpPr>
        <p:spPr bwMode="auto">
          <a:xfrm>
            <a:off x="4955704" y="195064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TextBox 275"/>
          <p:cNvSpPr txBox="1">
            <a:spLocks noChangeArrowheads="1"/>
          </p:cNvSpPr>
          <p:nvPr/>
        </p:nvSpPr>
        <p:spPr bwMode="auto">
          <a:xfrm>
            <a:off x="6022504" y="195064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TextBox 276"/>
          <p:cNvSpPr txBox="1">
            <a:spLocks noChangeArrowheads="1"/>
          </p:cNvSpPr>
          <p:nvPr/>
        </p:nvSpPr>
        <p:spPr bwMode="auto">
          <a:xfrm>
            <a:off x="7013104" y="195064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3" name="组合 23"/>
          <p:cNvGrpSpPr/>
          <p:nvPr/>
        </p:nvGrpSpPr>
        <p:grpSpPr bwMode="auto">
          <a:xfrm>
            <a:off x="4879504" y="1338064"/>
            <a:ext cx="762000" cy="766763"/>
            <a:chOff x="2743200" y="4114800"/>
            <a:chExt cx="762000" cy="766465"/>
          </a:xfrm>
        </p:grpSpPr>
        <p:sp>
          <p:nvSpPr>
            <p:cNvPr id="24" name="TextBox 278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CC00CC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" name="上箭头 24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  <a:solidFill>
              <a:srgbClr val="0F6FC6"/>
            </a:solidFill>
            <a:ln w="25400" cap="flat" cmpd="sng" algn="ctr">
              <a:solidFill>
                <a:srgbClr val="0F6FC6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6" name="组合 23"/>
          <p:cNvGrpSpPr/>
          <p:nvPr/>
        </p:nvGrpSpPr>
        <p:grpSpPr bwMode="auto">
          <a:xfrm>
            <a:off x="6174904" y="1338064"/>
            <a:ext cx="762000" cy="766763"/>
            <a:chOff x="2743200" y="4114800"/>
            <a:chExt cx="762000" cy="766465"/>
          </a:xfrm>
        </p:grpSpPr>
        <p:sp>
          <p:nvSpPr>
            <p:cNvPr id="27" name="TextBox 26"/>
            <p:cNvSpPr txBox="1"/>
            <p:nvPr/>
          </p:nvSpPr>
          <p:spPr>
            <a:xfrm>
              <a:off x="2743200" y="4419482"/>
              <a:ext cx="762000" cy="46178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7CCA62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mid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7CCA6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" name="上箭头 27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  <a:solidFill>
              <a:srgbClr val="0F6FC6"/>
            </a:solidFill>
            <a:ln w="25400" cap="flat" cmpd="sng" algn="ctr">
              <a:solidFill>
                <a:srgbClr val="0F6FC6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9" name="组合 23"/>
          <p:cNvGrpSpPr/>
          <p:nvPr/>
        </p:nvGrpSpPr>
        <p:grpSpPr bwMode="auto">
          <a:xfrm>
            <a:off x="5412904" y="1338064"/>
            <a:ext cx="838200" cy="766763"/>
            <a:chOff x="2743200" y="4114800"/>
            <a:chExt cx="838200" cy="766465"/>
          </a:xfrm>
        </p:grpSpPr>
        <p:sp>
          <p:nvSpPr>
            <p:cNvPr id="30" name="TextBox 284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838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" name="上箭头 30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  <a:solidFill>
              <a:srgbClr val="0F6FC6"/>
            </a:solidFill>
            <a:ln w="25400" cap="flat" cmpd="sng" algn="ctr">
              <a:solidFill>
                <a:srgbClr val="0F6FC6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" name="组合 23"/>
          <p:cNvGrpSpPr/>
          <p:nvPr/>
        </p:nvGrpSpPr>
        <p:grpSpPr bwMode="auto">
          <a:xfrm>
            <a:off x="5184304" y="2137048"/>
            <a:ext cx="762000" cy="766763"/>
            <a:chOff x="2743200" y="4114800"/>
            <a:chExt cx="762000" cy="766465"/>
          </a:xfrm>
        </p:grpSpPr>
        <p:sp>
          <p:nvSpPr>
            <p:cNvPr id="33" name="TextBox 32"/>
            <p:cNvSpPr txBox="1"/>
            <p:nvPr/>
          </p:nvSpPr>
          <p:spPr>
            <a:xfrm>
              <a:off x="2743200" y="4419482"/>
              <a:ext cx="762000" cy="46178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7CCA62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mid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7CCA6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" name="上箭头 33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  <a:solidFill>
              <a:srgbClr val="0F6FC6"/>
            </a:solidFill>
            <a:ln w="25400" cap="flat" cmpd="sng" algn="ctr">
              <a:solidFill>
                <a:srgbClr val="0F6FC6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5" name="矩形 34"/>
          <p:cNvSpPr/>
          <p:nvPr/>
        </p:nvSpPr>
        <p:spPr>
          <a:xfrm>
            <a:off x="3888904" y="2137048"/>
            <a:ext cx="1143000" cy="533400"/>
          </a:xfrm>
          <a:prstGeom prst="rect">
            <a:avLst/>
          </a:prstGeom>
          <a:solidFill>
            <a:srgbClr val="0F6FC6"/>
          </a:solidFill>
          <a:ln w="25400" cap="flat" cmpd="sng" algn="ctr">
            <a:solidFill>
              <a:srgbClr val="0F6FC6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34&gt; 22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174904" y="2060848"/>
            <a:ext cx="1143000" cy="533400"/>
          </a:xfrm>
          <a:prstGeom prst="rect">
            <a:avLst/>
          </a:prstGeom>
          <a:solidFill>
            <a:srgbClr val="0F6FC6"/>
          </a:solidFill>
          <a:ln w="25400" cap="flat" cmpd="sng" algn="ctr">
            <a:solidFill>
              <a:srgbClr val="0F6FC6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34&lt;45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108104" y="3051448"/>
            <a:ext cx="1143000" cy="533400"/>
          </a:xfrm>
          <a:prstGeom prst="rect">
            <a:avLst/>
          </a:prstGeom>
          <a:solidFill>
            <a:srgbClr val="0F6FC6"/>
          </a:solidFill>
          <a:ln w="25400" cap="flat" cmpd="sng" algn="ctr">
            <a:solidFill>
              <a:srgbClr val="0F6FC6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34=34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Rectangle 2"/>
          <p:cNvSpPr txBox="1">
            <a:spLocks noRot="1" noChangeArrowheads="1"/>
          </p:cNvSpPr>
          <p:nvPr/>
        </p:nvSpPr>
        <p:spPr bwMode="auto">
          <a:xfrm>
            <a:off x="4139952" y="3789040"/>
            <a:ext cx="4956448" cy="266429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273050" lvl="0" indent="-273050" eaLnBrk="0" fontAlgn="base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 kumimoji="0" sz="1250" b="1" i="0" u="none" strike="noStrike" cap="none" spc="0" normalizeH="0" baseline="0">
                <a:ln>
                  <a:noFill/>
                </a:ln>
                <a:solidFill>
                  <a:srgbClr val="009DD9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640080" indent="-24638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 baseline="0">
                <a:latin typeface="Arial" panose="020B0604020202020204" pitchFamily="34" charset="0"/>
              </a:defRPr>
            </a:lvl2pPr>
            <a:lvl3pPr indent="-24638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 baseline="0">
                <a:latin typeface="Arial" panose="020B0604020202020204" pitchFamily="34" charset="0"/>
              </a:defRPr>
            </a:lvl3pPr>
            <a:lvl4pPr marL="1187450" indent="-2095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 baseline="0">
                <a:latin typeface="Arial" panose="020B0604020202020204" pitchFamily="34" charset="0"/>
              </a:defRPr>
            </a:lvl4pPr>
            <a:lvl5pPr marL="1462405" indent="-2095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 baseline="0">
                <a:latin typeface="Arial" panose="020B0604020202020204" pitchFamily="34" charset="0"/>
              </a:defRPr>
            </a:lvl5pPr>
            <a:lvl6pPr marL="1737360" indent="-210185">
              <a:spcBef>
                <a:spcPct val="20000"/>
              </a:spcBef>
              <a:buClr>
                <a:schemeClr val="accent5"/>
              </a:buClr>
              <a:buSzPct val="80000"/>
              <a:buFont typeface="Wingdings 2" panose="05020102010507070707"/>
              <a:buChar char=""/>
              <a:defRPr kumimoji="0"/>
            </a:lvl6pPr>
            <a:lvl7pPr marL="1920240" indent="-182880">
              <a:spcBef>
                <a:spcPct val="20000"/>
              </a:spcBef>
              <a:buClr>
                <a:schemeClr val="accent6"/>
              </a:buClr>
              <a:buSzPct val="80000"/>
              <a:buFont typeface="Wingdings 2" panose="05020102010507070707"/>
              <a:buChar char=""/>
              <a:defRPr kumimoji="0" sz="1600" baseline="0"/>
            </a:lvl7pPr>
            <a:lvl8pPr marL="2194560" indent="-182880">
              <a:spcBef>
                <a:spcPct val="20000"/>
              </a:spcBef>
              <a:buClr>
                <a:schemeClr val="tx2"/>
              </a:buClr>
              <a:buChar char="•"/>
              <a:defRPr kumimoji="0" sz="1600"/>
            </a:lvl8pPr>
            <a:lvl9pPr marL="2468880" indent="-182880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baseline="0"/>
            </a:lvl9pPr>
          </a:lstStyle>
          <a:p>
            <a:r>
              <a:rPr lang="fr-FR" altLang="zh-CN" dirty="0"/>
              <a:t>int</a:t>
            </a:r>
            <a:r>
              <a:rPr lang="fr-FR" altLang="zh-CN" dirty="0">
                <a:solidFill>
                  <a:sysClr val="windowText" lastClr="000000"/>
                </a:solidFill>
              </a:rPr>
              <a:t> </a:t>
            </a:r>
            <a:r>
              <a:rPr lang="fr-FR" altLang="zh-CN" dirty="0"/>
              <a:t>BinSearch</a:t>
            </a:r>
            <a:r>
              <a:rPr lang="fr-FR" altLang="zh-CN" dirty="0">
                <a:solidFill>
                  <a:sysClr val="windowText" lastClr="000000"/>
                </a:solidFill>
              </a:rPr>
              <a:t>(</a:t>
            </a:r>
            <a:r>
              <a:rPr lang="fr-FR" altLang="zh-CN" dirty="0"/>
              <a:t>long</a:t>
            </a:r>
            <a:r>
              <a:rPr lang="fr-FR" altLang="zh-CN" dirty="0">
                <a:solidFill>
                  <a:sysClr val="windowText" lastClr="000000"/>
                </a:solidFill>
              </a:rPr>
              <a:t> a[], </a:t>
            </a:r>
            <a:r>
              <a:rPr lang="fr-FR" altLang="zh-CN" dirty="0"/>
              <a:t>long</a:t>
            </a:r>
            <a:r>
              <a:rPr lang="fr-FR" altLang="zh-CN" dirty="0">
                <a:solidFill>
                  <a:sysClr val="windowText" lastClr="000000"/>
                </a:solidFill>
              </a:rPr>
              <a:t> x, </a:t>
            </a:r>
            <a:r>
              <a:rPr lang="fr-FR" altLang="zh-CN" dirty="0"/>
              <a:t>int</a:t>
            </a:r>
            <a:r>
              <a:rPr lang="fr-FR" altLang="zh-CN" dirty="0">
                <a:solidFill>
                  <a:sysClr val="windowText" lastClr="000000"/>
                </a:solidFill>
              </a:rPr>
              <a:t> low, </a:t>
            </a:r>
            <a:r>
              <a:rPr lang="fr-FR" altLang="zh-CN" dirty="0"/>
              <a:t>int</a:t>
            </a:r>
            <a:r>
              <a:rPr lang="fr-FR" altLang="zh-CN" dirty="0">
                <a:solidFill>
                  <a:sysClr val="windowText" lastClr="000000"/>
                </a:solidFill>
              </a:rPr>
              <a:t> high) </a:t>
            </a:r>
            <a:endParaRPr lang="fr-FR" altLang="zh-CN" dirty="0">
              <a:solidFill>
                <a:sysClr val="windowText" lastClr="000000"/>
              </a:solidFill>
            </a:endParaRPr>
          </a:p>
          <a:p>
            <a:r>
              <a:rPr lang="fr-FR" altLang="zh-CN" dirty="0">
                <a:solidFill>
                  <a:sysClr val="windowText" lastClr="000000"/>
                </a:solidFill>
              </a:rPr>
              <a:t>{</a:t>
            </a:r>
            <a:endParaRPr lang="fr-FR" altLang="zh-CN" dirty="0">
              <a:solidFill>
                <a:sysClr val="windowText" lastClr="000000"/>
              </a:solidFill>
            </a:endParaRPr>
          </a:p>
          <a:p>
            <a:r>
              <a:rPr lang="fr-FR" altLang="zh-CN" dirty="0">
                <a:solidFill>
                  <a:sysClr val="windowText" lastClr="000000"/>
                </a:solidFill>
              </a:rPr>
              <a:t>  </a:t>
            </a:r>
            <a:r>
              <a:rPr lang="fr-FR" altLang="zh-CN" dirty="0"/>
              <a:t>int</a:t>
            </a:r>
            <a:r>
              <a:rPr lang="fr-FR" altLang="zh-CN" dirty="0">
                <a:solidFill>
                  <a:sysClr val="windowText" lastClr="000000"/>
                </a:solidFill>
              </a:rPr>
              <a:t> mid;</a:t>
            </a:r>
            <a:endParaRPr lang="fr-FR" altLang="zh-CN" dirty="0">
              <a:solidFill>
                <a:sysClr val="windowText" lastClr="000000"/>
              </a:solidFill>
            </a:endParaRPr>
          </a:p>
          <a:p>
            <a:endParaRPr lang="fr-FR" altLang="zh-CN" dirty="0">
              <a:solidFill>
                <a:sysClr val="windowText" lastClr="000000"/>
              </a:solidFill>
            </a:endParaRPr>
          </a:p>
          <a:p>
            <a:r>
              <a:rPr lang="fr-FR" altLang="zh-CN" dirty="0">
                <a:solidFill>
                  <a:sysClr val="windowText" lastClr="000000"/>
                </a:solidFill>
              </a:rPr>
              <a:t>  </a:t>
            </a:r>
            <a:r>
              <a:rPr lang="fr-FR" altLang="zh-CN" dirty="0"/>
              <a:t>if</a:t>
            </a:r>
            <a:r>
              <a:rPr lang="fr-FR" altLang="zh-CN" dirty="0">
                <a:solidFill>
                  <a:sysClr val="windowText" lastClr="000000"/>
                </a:solidFill>
              </a:rPr>
              <a:t> (low &gt; high) </a:t>
            </a:r>
            <a:r>
              <a:rPr lang="fr-FR" altLang="zh-CN" dirty="0"/>
              <a:t>return</a:t>
            </a:r>
            <a:r>
              <a:rPr lang="fr-FR" altLang="zh-CN" dirty="0">
                <a:solidFill>
                  <a:sysClr val="windowText" lastClr="000000"/>
                </a:solidFill>
              </a:rPr>
              <a:t> -1;</a:t>
            </a:r>
            <a:endParaRPr lang="fr-FR" altLang="zh-CN" dirty="0">
              <a:solidFill>
                <a:sysClr val="windowText" lastClr="000000"/>
              </a:solidFill>
            </a:endParaRPr>
          </a:p>
          <a:p>
            <a:endParaRPr lang="fr-FR" altLang="zh-CN" dirty="0">
              <a:solidFill>
                <a:sysClr val="windowText" lastClr="000000"/>
              </a:solidFill>
            </a:endParaRPr>
          </a:p>
          <a:p>
            <a:r>
              <a:rPr lang="fr-FR" altLang="zh-CN" dirty="0">
                <a:solidFill>
                  <a:sysClr val="windowText" lastClr="000000"/>
                </a:solidFill>
              </a:rPr>
              <a:t>  mid = (high + low) / 2;</a:t>
            </a:r>
            <a:endParaRPr lang="fr-FR" altLang="zh-CN" dirty="0">
              <a:solidFill>
                <a:sysClr val="windowText" lastClr="000000"/>
              </a:solidFill>
            </a:endParaRPr>
          </a:p>
          <a:p>
            <a:endParaRPr lang="fr-FR" altLang="zh-CN" dirty="0">
              <a:solidFill>
                <a:sysClr val="windowText" lastClr="000000"/>
              </a:solidFill>
            </a:endParaRPr>
          </a:p>
          <a:p>
            <a:r>
              <a:rPr lang="fr-FR" altLang="zh-CN" dirty="0">
                <a:solidFill>
                  <a:sysClr val="windowText" lastClr="000000"/>
                </a:solidFill>
              </a:rPr>
              <a:t>  </a:t>
            </a:r>
            <a:r>
              <a:rPr lang="fr-FR" altLang="zh-CN" dirty="0"/>
              <a:t>if</a:t>
            </a:r>
            <a:r>
              <a:rPr lang="fr-FR" altLang="zh-CN" dirty="0">
                <a:solidFill>
                  <a:sysClr val="windowText" lastClr="000000"/>
                </a:solidFill>
              </a:rPr>
              <a:t> (x &gt; a[mid]) </a:t>
            </a:r>
            <a:endParaRPr lang="fr-FR" altLang="zh-CN" dirty="0">
              <a:solidFill>
                <a:sysClr val="windowText" lastClr="000000"/>
              </a:solidFill>
            </a:endParaRPr>
          </a:p>
          <a:p>
            <a:r>
              <a:rPr lang="fr-FR" altLang="zh-CN" dirty="0">
                <a:solidFill>
                  <a:sysClr val="windowText" lastClr="000000"/>
                </a:solidFill>
              </a:rPr>
              <a:t>    </a:t>
            </a:r>
            <a:r>
              <a:rPr lang="fr-FR" altLang="zh-CN" dirty="0"/>
              <a:t>return</a:t>
            </a:r>
            <a:r>
              <a:rPr lang="fr-FR" altLang="zh-CN" dirty="0">
                <a:solidFill>
                  <a:sysClr val="windowText" lastClr="000000"/>
                </a:solidFill>
              </a:rPr>
              <a:t> BinSearch(a, x, mid+1, high);  </a:t>
            </a:r>
            <a:endParaRPr lang="fr-FR" altLang="zh-CN" dirty="0">
              <a:solidFill>
                <a:sysClr val="windowText" lastClr="000000"/>
              </a:solidFill>
            </a:endParaRPr>
          </a:p>
          <a:p>
            <a:r>
              <a:rPr lang="fr-FR" altLang="zh-CN" dirty="0">
                <a:solidFill>
                  <a:sysClr val="windowText" lastClr="000000"/>
                </a:solidFill>
              </a:rPr>
              <a:t>  </a:t>
            </a:r>
            <a:r>
              <a:rPr lang="fr-FR" altLang="zh-CN" dirty="0"/>
              <a:t>else</a:t>
            </a:r>
            <a:r>
              <a:rPr lang="fr-FR" altLang="zh-CN" dirty="0">
                <a:solidFill>
                  <a:sysClr val="windowText" lastClr="000000"/>
                </a:solidFill>
              </a:rPr>
              <a:t> </a:t>
            </a:r>
            <a:r>
              <a:rPr lang="fr-FR" altLang="zh-CN" dirty="0"/>
              <a:t>if</a:t>
            </a:r>
            <a:r>
              <a:rPr lang="fr-FR" altLang="zh-CN" dirty="0">
                <a:solidFill>
                  <a:sysClr val="windowText" lastClr="000000"/>
                </a:solidFill>
              </a:rPr>
              <a:t> (x &lt; a[mid]) </a:t>
            </a:r>
            <a:endParaRPr lang="fr-FR" altLang="zh-CN" dirty="0">
              <a:solidFill>
                <a:sysClr val="windowText" lastClr="000000"/>
              </a:solidFill>
            </a:endParaRPr>
          </a:p>
          <a:p>
            <a:r>
              <a:rPr lang="fr-FR" altLang="zh-CN" dirty="0">
                <a:solidFill>
                  <a:sysClr val="windowText" lastClr="000000"/>
                </a:solidFill>
              </a:rPr>
              <a:t>    </a:t>
            </a:r>
            <a:r>
              <a:rPr lang="fr-FR" altLang="zh-CN" dirty="0"/>
              <a:t>return</a:t>
            </a:r>
            <a:r>
              <a:rPr lang="fr-FR" altLang="zh-CN" dirty="0">
                <a:solidFill>
                  <a:sysClr val="windowText" lastClr="000000"/>
                </a:solidFill>
              </a:rPr>
              <a:t> BinSearch(a, x, low, mid-1);</a:t>
            </a:r>
            <a:endParaRPr lang="fr-FR" altLang="zh-CN" dirty="0">
              <a:solidFill>
                <a:sysClr val="windowText" lastClr="000000"/>
              </a:solidFill>
            </a:endParaRPr>
          </a:p>
          <a:p>
            <a:r>
              <a:rPr lang="fr-FR" altLang="zh-CN" dirty="0">
                <a:solidFill>
                  <a:sysClr val="windowText" lastClr="000000"/>
                </a:solidFill>
              </a:rPr>
              <a:t>  </a:t>
            </a:r>
            <a:r>
              <a:rPr lang="fr-FR" altLang="zh-CN" dirty="0"/>
              <a:t>else</a:t>
            </a:r>
            <a:r>
              <a:rPr lang="fr-FR" altLang="zh-CN" dirty="0">
                <a:solidFill>
                  <a:sysClr val="windowText" lastClr="000000"/>
                </a:solidFill>
              </a:rPr>
              <a:t> </a:t>
            </a:r>
            <a:r>
              <a:rPr lang="fr-FR" altLang="zh-CN" dirty="0"/>
              <a:t>return</a:t>
            </a:r>
            <a:r>
              <a:rPr lang="fr-FR" altLang="zh-CN" dirty="0">
                <a:solidFill>
                  <a:sysClr val="windowText" lastClr="000000"/>
                </a:solidFill>
              </a:rPr>
              <a:t> mid;</a:t>
            </a:r>
            <a:endParaRPr lang="fr-FR" altLang="zh-CN" dirty="0">
              <a:solidFill>
                <a:sysClr val="windowText" lastClr="000000"/>
              </a:solidFill>
            </a:endParaRPr>
          </a:p>
          <a:p>
            <a:r>
              <a:rPr lang="fr-FR" altLang="zh-CN" dirty="0">
                <a:solidFill>
                  <a:sysClr val="windowText" lastClr="000000"/>
                </a:solidFill>
              </a:rPr>
              <a:t>}</a:t>
            </a:r>
            <a:endParaRPr lang="en-US" altLang="zh-CN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  <p:bldP spid="35" grpId="0" animBg="1"/>
      <p:bldP spid="36" grpId="0" animBg="1"/>
      <p:bldP spid="37" grpId="0" animBg="1"/>
      <p:bldP spid="3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以下代码有什么问题？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altLang="zh-CN" dirty="0"/>
              <a:t>int</a:t>
            </a:r>
            <a:r>
              <a:rPr lang="fr-FR" altLang="zh-CN" dirty="0">
                <a:solidFill>
                  <a:sysClr val="windowText" lastClr="000000"/>
                </a:solidFill>
              </a:rPr>
              <a:t> </a:t>
            </a:r>
            <a:r>
              <a:rPr lang="fr-FR" altLang="zh-CN" dirty="0"/>
              <a:t>BinSearch</a:t>
            </a:r>
            <a:r>
              <a:rPr lang="fr-FR" altLang="zh-CN" dirty="0">
                <a:solidFill>
                  <a:sysClr val="windowText" lastClr="000000"/>
                </a:solidFill>
              </a:rPr>
              <a:t>(</a:t>
            </a:r>
            <a:r>
              <a:rPr lang="fr-FR" altLang="zh-CN" dirty="0"/>
              <a:t>long</a:t>
            </a:r>
            <a:r>
              <a:rPr lang="fr-FR" altLang="zh-CN" dirty="0">
                <a:solidFill>
                  <a:sysClr val="windowText" lastClr="000000"/>
                </a:solidFill>
              </a:rPr>
              <a:t> a[], </a:t>
            </a:r>
            <a:r>
              <a:rPr lang="fr-FR" altLang="zh-CN" dirty="0"/>
              <a:t>long</a:t>
            </a:r>
            <a:r>
              <a:rPr lang="fr-FR" altLang="zh-CN" dirty="0">
                <a:solidFill>
                  <a:sysClr val="windowText" lastClr="000000"/>
                </a:solidFill>
              </a:rPr>
              <a:t> x, </a:t>
            </a:r>
            <a:r>
              <a:rPr lang="fr-FR" altLang="zh-CN" dirty="0"/>
              <a:t>int</a:t>
            </a:r>
            <a:r>
              <a:rPr lang="fr-FR" altLang="zh-CN" dirty="0">
                <a:solidFill>
                  <a:sysClr val="windowText" lastClr="000000"/>
                </a:solidFill>
              </a:rPr>
              <a:t> low, </a:t>
            </a:r>
            <a:r>
              <a:rPr lang="fr-FR" altLang="zh-CN" dirty="0"/>
              <a:t>int</a:t>
            </a:r>
            <a:r>
              <a:rPr lang="fr-FR" altLang="zh-CN" dirty="0">
                <a:solidFill>
                  <a:sysClr val="windowText" lastClr="000000"/>
                </a:solidFill>
              </a:rPr>
              <a:t> high) </a:t>
            </a:r>
            <a:endParaRPr lang="fr-FR" altLang="zh-CN" dirty="0">
              <a:solidFill>
                <a:sysClr val="windowText" lastClr="000000"/>
              </a:solidFill>
            </a:endParaRPr>
          </a:p>
          <a:p>
            <a:r>
              <a:rPr lang="fr-FR" altLang="zh-CN" dirty="0">
                <a:solidFill>
                  <a:sysClr val="windowText" lastClr="000000"/>
                </a:solidFill>
              </a:rPr>
              <a:t>{</a:t>
            </a:r>
            <a:endParaRPr lang="fr-FR" altLang="zh-CN" dirty="0">
              <a:solidFill>
                <a:sysClr val="windowText" lastClr="000000"/>
              </a:solidFill>
            </a:endParaRPr>
          </a:p>
          <a:p>
            <a:r>
              <a:rPr lang="fr-FR" altLang="zh-CN" dirty="0">
                <a:solidFill>
                  <a:sysClr val="windowText" lastClr="000000"/>
                </a:solidFill>
              </a:rPr>
              <a:t>     </a:t>
            </a:r>
            <a:r>
              <a:rPr lang="fr-FR" altLang="zh-CN" dirty="0"/>
              <a:t>int</a:t>
            </a:r>
            <a:r>
              <a:rPr lang="fr-FR" altLang="zh-CN" dirty="0">
                <a:solidFill>
                  <a:sysClr val="windowText" lastClr="000000"/>
                </a:solidFill>
              </a:rPr>
              <a:t> mid;</a:t>
            </a:r>
            <a:endParaRPr lang="fr-FR" altLang="zh-CN" dirty="0">
              <a:solidFill>
                <a:sysClr val="windowText" lastClr="000000"/>
              </a:solidFill>
            </a:endParaRPr>
          </a:p>
          <a:p>
            <a:r>
              <a:rPr lang="fr-FR" altLang="zh-CN" dirty="0">
                <a:solidFill>
                  <a:sysClr val="windowText" lastClr="000000"/>
                </a:solidFill>
              </a:rPr>
              <a:t>     </a:t>
            </a:r>
            <a:r>
              <a:rPr lang="fr-FR" altLang="zh-CN" dirty="0"/>
              <a:t>if</a:t>
            </a:r>
            <a:r>
              <a:rPr lang="fr-FR" altLang="zh-CN" dirty="0">
                <a:solidFill>
                  <a:sysClr val="windowText" lastClr="000000"/>
                </a:solidFill>
              </a:rPr>
              <a:t> (low &gt; high) </a:t>
            </a:r>
            <a:r>
              <a:rPr lang="fr-FR" altLang="zh-CN" dirty="0"/>
              <a:t>return</a:t>
            </a:r>
            <a:r>
              <a:rPr lang="fr-FR" altLang="zh-CN" dirty="0">
                <a:solidFill>
                  <a:sysClr val="windowText" lastClr="000000"/>
                </a:solidFill>
              </a:rPr>
              <a:t> -1;</a:t>
            </a:r>
            <a:endParaRPr lang="fr-FR" altLang="zh-CN" dirty="0">
              <a:solidFill>
                <a:sysClr val="windowText" lastClr="000000"/>
              </a:solidFill>
            </a:endParaRPr>
          </a:p>
          <a:p>
            <a:r>
              <a:rPr lang="fr-FR" altLang="zh-CN" dirty="0">
                <a:solidFill>
                  <a:sysClr val="windowText" lastClr="000000"/>
                </a:solidFill>
              </a:rPr>
              <a:t>     mid = (high + low) / 2;</a:t>
            </a:r>
            <a:endParaRPr lang="fr-FR" altLang="zh-CN" dirty="0">
              <a:solidFill>
                <a:sysClr val="windowText" lastClr="000000"/>
              </a:solidFill>
            </a:endParaRPr>
          </a:p>
          <a:p>
            <a:r>
              <a:rPr lang="fr-FR" altLang="zh-CN" dirty="0">
                <a:solidFill>
                  <a:sysClr val="windowText" lastClr="000000"/>
                </a:solidFill>
              </a:rPr>
              <a:t>     </a:t>
            </a:r>
            <a:r>
              <a:rPr lang="fr-FR" altLang="zh-CN" dirty="0"/>
              <a:t>if</a:t>
            </a:r>
            <a:r>
              <a:rPr lang="fr-FR" altLang="zh-CN" dirty="0">
                <a:solidFill>
                  <a:sysClr val="windowText" lastClr="000000"/>
                </a:solidFill>
              </a:rPr>
              <a:t> (x &gt; a[mid]) </a:t>
            </a:r>
            <a:endParaRPr lang="fr-FR" altLang="zh-CN" dirty="0">
              <a:solidFill>
                <a:sysClr val="windowText" lastClr="000000"/>
              </a:solidFill>
            </a:endParaRPr>
          </a:p>
          <a:p>
            <a:r>
              <a:rPr lang="fr-FR" altLang="zh-CN" dirty="0">
                <a:solidFill>
                  <a:sysClr val="windowText" lastClr="000000"/>
                </a:solidFill>
              </a:rPr>
              <a:t>         BinSearch(a, x, mid+1, high);  </a:t>
            </a:r>
            <a:endParaRPr lang="fr-FR" altLang="zh-CN" dirty="0">
              <a:solidFill>
                <a:sysClr val="windowText" lastClr="000000"/>
              </a:solidFill>
            </a:endParaRPr>
          </a:p>
          <a:p>
            <a:r>
              <a:rPr lang="fr-FR" altLang="zh-CN" dirty="0">
                <a:solidFill>
                  <a:sysClr val="windowText" lastClr="000000"/>
                </a:solidFill>
              </a:rPr>
              <a:t>     </a:t>
            </a:r>
            <a:r>
              <a:rPr lang="fr-FR" altLang="zh-CN" dirty="0"/>
              <a:t>else</a:t>
            </a:r>
            <a:r>
              <a:rPr lang="fr-FR" altLang="zh-CN" dirty="0">
                <a:solidFill>
                  <a:sysClr val="windowText" lastClr="000000"/>
                </a:solidFill>
              </a:rPr>
              <a:t> </a:t>
            </a:r>
            <a:r>
              <a:rPr lang="fr-FR" altLang="zh-CN" dirty="0"/>
              <a:t>if</a:t>
            </a:r>
            <a:r>
              <a:rPr lang="fr-FR" altLang="zh-CN" dirty="0">
                <a:solidFill>
                  <a:sysClr val="windowText" lastClr="000000"/>
                </a:solidFill>
              </a:rPr>
              <a:t> (x &lt; a[mid]) </a:t>
            </a:r>
            <a:endParaRPr lang="fr-FR" altLang="zh-CN" dirty="0">
              <a:solidFill>
                <a:sysClr val="windowText" lastClr="000000"/>
              </a:solidFill>
            </a:endParaRPr>
          </a:p>
          <a:p>
            <a:r>
              <a:rPr lang="fr-FR" altLang="zh-CN" dirty="0">
                <a:solidFill>
                  <a:sysClr val="windowText" lastClr="000000"/>
                </a:solidFill>
              </a:rPr>
              <a:t>    </a:t>
            </a:r>
            <a:r>
              <a:rPr lang="fr-FR" altLang="zh-CN" dirty="0"/>
              <a:t>     </a:t>
            </a:r>
            <a:r>
              <a:rPr lang="fr-FR" altLang="zh-CN" dirty="0">
                <a:solidFill>
                  <a:sysClr val="windowText" lastClr="000000"/>
                </a:solidFill>
              </a:rPr>
              <a:t>BinSearch(a, x, low, mid-1);</a:t>
            </a:r>
            <a:endParaRPr lang="fr-FR" altLang="zh-CN" dirty="0">
              <a:solidFill>
                <a:sysClr val="windowText" lastClr="000000"/>
              </a:solidFill>
            </a:endParaRPr>
          </a:p>
          <a:p>
            <a:r>
              <a:rPr lang="fr-FR" altLang="zh-CN" dirty="0">
                <a:solidFill>
                  <a:sysClr val="windowText" lastClr="000000"/>
                </a:solidFill>
              </a:rPr>
              <a:t>     </a:t>
            </a:r>
            <a:r>
              <a:rPr lang="fr-FR" altLang="zh-CN" dirty="0"/>
              <a:t>else</a:t>
            </a:r>
            <a:r>
              <a:rPr lang="fr-FR" altLang="zh-CN" dirty="0">
                <a:solidFill>
                  <a:sysClr val="windowText" lastClr="000000"/>
                </a:solidFill>
              </a:rPr>
              <a:t> </a:t>
            </a:r>
            <a:r>
              <a:rPr lang="fr-FR" altLang="zh-CN" dirty="0"/>
              <a:t>return</a:t>
            </a:r>
            <a:r>
              <a:rPr lang="fr-FR" altLang="zh-CN" dirty="0">
                <a:solidFill>
                  <a:sysClr val="windowText" lastClr="000000"/>
                </a:solidFill>
              </a:rPr>
              <a:t> mid;</a:t>
            </a:r>
            <a:endParaRPr lang="fr-FR" altLang="zh-CN" dirty="0">
              <a:solidFill>
                <a:sysClr val="windowText" lastClr="000000"/>
              </a:solidFill>
            </a:endParaRPr>
          </a:p>
          <a:p>
            <a:r>
              <a:rPr lang="fr-FR" altLang="zh-CN" dirty="0">
                <a:solidFill>
                  <a:sysClr val="windowText" lastClr="000000"/>
                </a:solidFill>
              </a:rPr>
              <a:t>}</a:t>
            </a:r>
            <a:endParaRPr lang="en-US" altLang="zh-CN" dirty="0">
              <a:solidFill>
                <a:sysClr val="windowText" lastClr="000000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练习：</a:t>
            </a:r>
            <a:r>
              <a:rPr lang="en-US" altLang="zh-CN" dirty="0"/>
              <a:t>#112. </a:t>
            </a:r>
            <a:r>
              <a:rPr lang="zh-CN" altLang="en-US" dirty="0"/>
              <a:t>二分查找的递归实现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zh-CN" altLang="en-US" b="0" i="0" dirty="0">
                <a:effectLst/>
                <a:latin typeface="Open Sans" panose="020B0606030504020204" pitchFamily="34" charset="0"/>
              </a:rPr>
              <a:t>    在集合中查找某个特定元素是编程中经常遇到的操作。</a:t>
            </a:r>
            <a:endParaRPr lang="zh-CN" altLang="en-US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b="0" i="0" dirty="0">
                <a:effectLst/>
                <a:latin typeface="Open Sans" panose="020B0606030504020204" pitchFamily="34" charset="0"/>
              </a:rPr>
              <a:t>    在一个有序的集合中查找元素，可以使用二分查找算法。二分查找法充分利用了元素间的次序关系，是一种效率较好的查找算法。 　　</a:t>
            </a:r>
            <a:endParaRPr lang="zh-CN" altLang="en-US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b="0" i="0" dirty="0">
                <a:effectLst/>
                <a:latin typeface="Open Sans" panose="020B0606030504020204" pitchFamily="34" charset="0"/>
              </a:rPr>
              <a:t>    </a:t>
            </a:r>
            <a:endParaRPr lang="zh-CN" altLang="en-US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b="0" i="0" dirty="0">
                <a:effectLst/>
                <a:latin typeface="Open Sans" panose="020B0606030504020204" pitchFamily="34" charset="0"/>
              </a:rPr>
              <a:t>      二分查找的基本思想是：</a:t>
            </a:r>
            <a:endParaRPr lang="zh-CN" altLang="en-US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b="0" i="0" dirty="0">
                <a:effectLst/>
                <a:latin typeface="Open Sans" panose="020B0606030504020204" pitchFamily="34" charset="0"/>
              </a:rPr>
              <a:t>对于含有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n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个元素的一个有序集合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a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，将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n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个元素分成个数大致相同的两半，取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a[n-1/2]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与欲查找的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x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作比较，结果有三种情况：     </a:t>
            </a:r>
            <a:endParaRPr lang="zh-CN" altLang="en-US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b="0" i="0" dirty="0">
                <a:effectLst/>
                <a:latin typeface="Open Sans" panose="020B0606030504020204" pitchFamily="34" charset="0"/>
              </a:rPr>
              <a:t>    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1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．如果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x = a[n-1/2]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，则找到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x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，算法终止。 　　</a:t>
            </a:r>
            <a:endParaRPr lang="zh-CN" altLang="en-US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b="0" i="0" dirty="0">
                <a:effectLst/>
                <a:latin typeface="Open Sans" panose="020B0606030504020204" pitchFamily="34" charset="0"/>
              </a:rPr>
              <a:t>    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2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．如果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x &lt; a[n-1/2]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，则只要在数组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a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的左半部继续搜索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x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（这里假设数组元素呈升序排列）。　</a:t>
            </a:r>
            <a:endParaRPr lang="zh-CN" altLang="en-US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b="0" i="0" dirty="0">
                <a:effectLst/>
                <a:latin typeface="Open Sans" panose="020B0606030504020204" pitchFamily="34" charset="0"/>
              </a:rPr>
              <a:t>    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3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．如果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x &gt; a[n-1/2]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，则我们只要在数组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a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的右半部继续搜索</a:t>
            </a:r>
            <a:r>
              <a:rPr lang="en-US" altLang="zh-CN" b="0" i="0" dirty="0">
                <a:effectLst/>
                <a:latin typeface="Open Sans" panose="020B0606030504020204" pitchFamily="34" charset="0"/>
              </a:rPr>
              <a:t>x</a:t>
            </a:r>
            <a:r>
              <a:rPr lang="zh-CN" altLang="en-US" b="0" i="0" dirty="0">
                <a:effectLst/>
                <a:latin typeface="Open Sans" panose="020B0606030504020204" pitchFamily="34" charset="0"/>
              </a:rPr>
              <a:t>。</a:t>
            </a:r>
            <a:endParaRPr lang="zh-CN" altLang="en-US" b="0" i="0" dirty="0">
              <a:effectLst/>
              <a:latin typeface="Open Sans" panose="020B0606030504020204" pitchFamily="34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练习：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 </a:t>
            </a:r>
            <a:r>
              <a:rPr lang="en-US" altLang="zh-CN" b="1" i="0" dirty="0">
                <a:effectLst/>
                <a:latin typeface="Lato" panose="020F0502020204030203" pitchFamily="34" charset="0"/>
              </a:rPr>
              <a:t>#</a:t>
            </a:r>
            <a:r>
              <a:rPr lang="en-US" altLang="zh-CN" dirty="0"/>
              <a:t>112</a:t>
            </a:r>
            <a:r>
              <a:rPr lang="en-US" altLang="zh-CN" b="1" i="0" dirty="0">
                <a:effectLst/>
                <a:latin typeface="Lato" panose="020F0502020204030203" pitchFamily="34" charset="0"/>
              </a:rPr>
              <a:t>. 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二分查找的递归实现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b="0" i="0" dirty="0">
                <a:effectLst/>
                <a:latin typeface="Open Sans" panose="020B0606030504020204" pitchFamily="34" charset="0"/>
              </a:rPr>
              <a:t>输入样例</a:t>
            </a:r>
            <a:endParaRPr lang="zh-CN" altLang="en-US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en-US" altLang="zh-CN" b="0" i="0" dirty="0">
                <a:effectLst/>
                <a:latin typeface="Open Sans" panose="020B0606030504020204" pitchFamily="34" charset="0"/>
              </a:rPr>
              <a:t>10</a:t>
            </a:r>
            <a:br>
              <a:rPr lang="en-US" altLang="zh-CN" b="0" i="0" dirty="0"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effectLst/>
                <a:latin typeface="Open Sans" panose="020B0606030504020204" pitchFamily="34" charset="0"/>
              </a:rPr>
              <a:t>16</a:t>
            </a:r>
            <a:br>
              <a:rPr lang="en-US" altLang="zh-CN" b="0" i="0" dirty="0"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effectLst/>
                <a:latin typeface="Open Sans" panose="020B0606030504020204" pitchFamily="34" charset="0"/>
              </a:rPr>
              <a:t>8 10 12 16 24 27 29 31 42 58</a:t>
            </a:r>
            <a:br>
              <a:rPr lang="en-US" altLang="zh-CN" b="0" i="0" dirty="0">
                <a:effectLst/>
                <a:latin typeface="Open Sans" panose="020B0606030504020204" pitchFamily="34" charset="0"/>
              </a:rPr>
            </a:br>
            <a:endParaRPr lang="en-US" altLang="zh-CN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b="0" i="0" dirty="0">
                <a:effectLst/>
                <a:latin typeface="Open Sans" panose="020B0606030504020204" pitchFamily="34" charset="0"/>
              </a:rPr>
              <a:t>输出样例</a:t>
            </a:r>
            <a:endParaRPr lang="zh-CN" altLang="en-US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en-US" altLang="zh-CN" b="0" i="0" dirty="0">
                <a:effectLst/>
                <a:latin typeface="Open Sans" panose="020B0606030504020204" pitchFamily="34" charset="0"/>
              </a:rPr>
              <a:t>search 16 from 0 to 9</a:t>
            </a:r>
            <a:br>
              <a:rPr lang="en-US" altLang="zh-CN" b="0" i="0" dirty="0"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effectLst/>
                <a:latin typeface="Open Sans" panose="020B0606030504020204" pitchFamily="34" charset="0"/>
              </a:rPr>
              <a:t>search 16 from 0 to 3</a:t>
            </a:r>
            <a:br>
              <a:rPr lang="en-US" altLang="zh-CN" b="0" i="0" dirty="0"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effectLst/>
                <a:latin typeface="Open Sans" panose="020B0606030504020204" pitchFamily="34" charset="0"/>
              </a:rPr>
              <a:t>search 16 from 2 to 3</a:t>
            </a:r>
            <a:br>
              <a:rPr lang="en-US" altLang="zh-CN" b="0" i="0" dirty="0"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effectLst/>
                <a:latin typeface="Open Sans" panose="020B0606030504020204" pitchFamily="34" charset="0"/>
              </a:rPr>
              <a:t>search 16 from 3 to 3</a:t>
            </a:r>
            <a:br>
              <a:rPr lang="en-US" altLang="zh-CN" b="0" i="0" dirty="0"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effectLst/>
                <a:latin typeface="Open Sans" panose="020B0606030504020204" pitchFamily="34" charset="0"/>
              </a:rPr>
              <a:t>3</a:t>
            </a:r>
            <a:endParaRPr lang="en-US" altLang="zh-CN" b="0" i="0" dirty="0">
              <a:effectLst/>
              <a:latin typeface="Open Sans" panose="020B0606030504020204" pitchFamily="34" charset="0"/>
            </a:endParaRPr>
          </a:p>
          <a:p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47193" y="1536511"/>
            <a:ext cx="4572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400" b="0" i="0" dirty="0">
                <a:effectLst/>
                <a:latin typeface="Open Sans" panose="020B0606030504020204" pitchFamily="34" charset="0"/>
              </a:rPr>
              <a:t>输入格式：（主函数负责处理）</a:t>
            </a:r>
            <a:br>
              <a:rPr lang="zh-CN" altLang="en-US" sz="2400" b="0" i="0" dirty="0">
                <a:effectLst/>
                <a:latin typeface="Open Sans" panose="020B0606030504020204" pitchFamily="34" charset="0"/>
              </a:rPr>
            </a:br>
            <a:endParaRPr lang="zh-CN" altLang="en-US" sz="2400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sz="2400" b="0" i="0" dirty="0">
                <a:effectLst/>
                <a:latin typeface="Open Sans" panose="020B0606030504020204" pitchFamily="34" charset="0"/>
              </a:rPr>
              <a:t>　　只实现函数无输入输出格式。</a:t>
            </a:r>
            <a:br>
              <a:rPr lang="zh-CN" altLang="en-US" sz="2400" b="0" i="0" dirty="0">
                <a:effectLst/>
                <a:latin typeface="Open Sans" panose="020B0606030504020204" pitchFamily="34" charset="0"/>
              </a:rPr>
            </a:br>
            <a:r>
              <a:rPr lang="zh-CN" altLang="en-US" sz="2400" b="0" i="0" dirty="0">
                <a:effectLst/>
                <a:latin typeface="Open Sans" panose="020B0606030504020204" pitchFamily="34" charset="0"/>
              </a:rPr>
              <a:t>　　主函数的输入为</a:t>
            </a:r>
            <a:r>
              <a:rPr lang="en-US" altLang="zh-CN" sz="2400" b="0" i="0" dirty="0">
                <a:effectLst/>
                <a:latin typeface="Open Sans" panose="020B0606030504020204" pitchFamily="34" charset="0"/>
              </a:rPr>
              <a:t>3</a:t>
            </a:r>
            <a:r>
              <a:rPr lang="zh-CN" altLang="en-US" sz="2400" b="0" i="0" dirty="0">
                <a:effectLst/>
                <a:latin typeface="Open Sans" panose="020B0606030504020204" pitchFamily="34" charset="0"/>
              </a:rPr>
              <a:t>行：</a:t>
            </a:r>
            <a:br>
              <a:rPr lang="zh-CN" altLang="en-US" sz="2400" b="0" i="0" dirty="0">
                <a:effectLst/>
                <a:latin typeface="Open Sans" panose="020B0606030504020204" pitchFamily="34" charset="0"/>
              </a:rPr>
            </a:br>
            <a:r>
              <a:rPr lang="zh-CN" altLang="en-US" sz="2400" b="0" i="0" dirty="0">
                <a:effectLst/>
                <a:latin typeface="Open Sans" panose="020B0606030504020204" pitchFamily="34" charset="0"/>
              </a:rPr>
              <a:t>　　第一行数组个数</a:t>
            </a:r>
            <a:r>
              <a:rPr lang="en-US" altLang="zh-CN" sz="2400" b="0" i="0" dirty="0">
                <a:effectLst/>
                <a:latin typeface="Open Sans" panose="020B0606030504020204" pitchFamily="34" charset="0"/>
              </a:rPr>
              <a:t>n</a:t>
            </a:r>
            <a:r>
              <a:rPr lang="zh-CN" altLang="en-US" sz="2400" b="0" i="0" dirty="0">
                <a:effectLst/>
                <a:latin typeface="Open Sans" panose="020B0606030504020204" pitchFamily="34" charset="0"/>
              </a:rPr>
              <a:t>，第二行待查找元素，第三行排序数组。</a:t>
            </a:r>
            <a:br>
              <a:rPr lang="zh-CN" altLang="en-US" sz="2400" b="0" i="0" dirty="0">
                <a:effectLst/>
                <a:latin typeface="Open Sans" panose="020B0606030504020204" pitchFamily="34" charset="0"/>
              </a:rPr>
            </a:br>
            <a:endParaRPr lang="zh-CN" altLang="en-US" sz="2400" b="0" i="0" dirty="0">
              <a:effectLst/>
              <a:latin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练习：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 </a:t>
            </a:r>
            <a:r>
              <a:rPr lang="en-US" altLang="zh-CN" b="1" i="0" dirty="0">
                <a:effectLst/>
                <a:latin typeface="Lato" panose="020F0502020204030203" pitchFamily="34" charset="0"/>
              </a:rPr>
              <a:t>#</a:t>
            </a:r>
            <a:r>
              <a:rPr lang="en-US" altLang="zh-CN" dirty="0"/>
              <a:t>112</a:t>
            </a:r>
            <a:r>
              <a:rPr lang="en-US" altLang="zh-CN" b="1" i="0" dirty="0">
                <a:effectLst/>
                <a:latin typeface="Lato" panose="020F0502020204030203" pitchFamily="34" charset="0"/>
              </a:rPr>
              <a:t>. 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二分查找的递归实现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b="0" i="0" dirty="0">
                <a:effectLst/>
                <a:latin typeface="Open Sans" panose="020B0606030504020204" pitchFamily="34" charset="0"/>
              </a:rPr>
              <a:t>输入样例</a:t>
            </a:r>
            <a:endParaRPr lang="zh-CN" altLang="en-US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en-US" altLang="zh-CN" b="0" i="0" dirty="0">
                <a:effectLst/>
                <a:latin typeface="Open Sans" panose="020B0606030504020204" pitchFamily="34" charset="0"/>
              </a:rPr>
              <a:t>10</a:t>
            </a:r>
            <a:br>
              <a:rPr lang="en-US" altLang="zh-CN" b="0" i="0" dirty="0"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effectLst/>
                <a:latin typeface="Open Sans" panose="020B0606030504020204" pitchFamily="34" charset="0"/>
              </a:rPr>
              <a:t>16</a:t>
            </a:r>
            <a:br>
              <a:rPr lang="en-US" altLang="zh-CN" b="0" i="0" dirty="0"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effectLst/>
                <a:latin typeface="Open Sans" panose="020B0606030504020204" pitchFamily="34" charset="0"/>
              </a:rPr>
              <a:t>8 10 12 16 24 27 29 31 42 58</a:t>
            </a:r>
            <a:br>
              <a:rPr lang="en-US" altLang="zh-CN" b="0" i="0" dirty="0">
                <a:effectLst/>
                <a:latin typeface="Open Sans" panose="020B0606030504020204" pitchFamily="34" charset="0"/>
              </a:rPr>
            </a:br>
            <a:endParaRPr lang="en-US" altLang="zh-CN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b="0" i="0" dirty="0">
                <a:effectLst/>
                <a:latin typeface="Open Sans" panose="020B0606030504020204" pitchFamily="34" charset="0"/>
              </a:rPr>
              <a:t>输出样例</a:t>
            </a:r>
            <a:endParaRPr lang="zh-CN" altLang="en-US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en-US" altLang="zh-CN" b="0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finish searching 16 from 3 to 3</a:t>
            </a:r>
            <a:br>
              <a:rPr lang="en-US" altLang="zh-CN" b="0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finish searching 16 from 2 to 3</a:t>
            </a:r>
            <a:br>
              <a:rPr lang="en-US" altLang="zh-CN" b="0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finish searching 16 from 0 to 3</a:t>
            </a:r>
            <a:endParaRPr lang="en-US" altLang="zh-CN" b="0" i="0" dirty="0">
              <a:solidFill>
                <a:srgbClr val="FF0000"/>
              </a:solidFill>
              <a:effectLst/>
              <a:latin typeface="Open Sans" panose="020B0606030504020204" pitchFamily="34" charset="0"/>
            </a:endParaRPr>
          </a:p>
          <a:p>
            <a:pPr marL="0" indent="0" algn="l">
              <a:spcBef>
                <a:spcPts val="0"/>
              </a:spcBef>
              <a:buNone/>
            </a:pPr>
            <a:r>
              <a:rPr lang="en-US" altLang="zh-CN" dirty="0">
                <a:solidFill>
                  <a:srgbClr val="FF0000"/>
                </a:solidFill>
                <a:latin typeface="Open Sans" panose="020B0606030504020204" pitchFamily="34" charset="0"/>
              </a:rPr>
              <a:t>   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finish searching 16 from 0 to 9</a:t>
            </a:r>
            <a:br>
              <a:rPr lang="en-US" altLang="zh-CN" b="0" i="0" dirty="0"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effectLst/>
                <a:latin typeface="Open Sans" panose="020B0606030504020204" pitchFamily="34" charset="0"/>
              </a:rPr>
              <a:t>    3</a:t>
            </a:r>
            <a:endParaRPr lang="en-US" altLang="zh-CN" b="0" i="0" dirty="0">
              <a:effectLst/>
              <a:latin typeface="Open Sans" panose="020B0606030504020204" pitchFamily="34" charset="0"/>
            </a:endParaRPr>
          </a:p>
          <a:p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318593" y="195649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400" b="0" i="0" dirty="0">
                <a:effectLst/>
                <a:latin typeface="Open Sans" panose="020B0606030504020204" pitchFamily="34" charset="0"/>
              </a:rPr>
              <a:t>思考：</a:t>
            </a:r>
            <a:r>
              <a:rPr lang="zh-CN" altLang="en-US" sz="2400" b="0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如果需要逆向输出过程呢？</a:t>
            </a:r>
            <a:endParaRPr lang="zh-CN" altLang="en-US" sz="2400" b="0" i="0" dirty="0">
              <a:solidFill>
                <a:srgbClr val="FF0000"/>
              </a:solidFill>
              <a:effectLst/>
              <a:latin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回顾：“递”与“归”的方向</a:t>
            </a:r>
            <a:endParaRPr 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795961" y="1705171"/>
            <a:ext cx="8280000" cy="4764163"/>
          </a:xfrm>
        </p:spPr>
        <p:txBody>
          <a:bodyPr/>
          <a:lstStyle/>
          <a:p>
            <a:r>
              <a:rPr lang="en-US" altLang="zh-CN" dirty="0"/>
              <a:t>f(6)</a:t>
            </a:r>
            <a:r>
              <a:rPr lang="zh-CN" altLang="en-US" dirty="0"/>
              <a:t>的计算过程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2" descr="https://pic1.zhimg.com/80/v2-1ad28b5063f58925acfbc5df639f61ec_720w.jpg?source=1940ef5c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973"/>
          <a:stretch>
            <a:fillRect/>
          </a:stretch>
        </p:blipFill>
        <p:spPr bwMode="auto">
          <a:xfrm>
            <a:off x="4845896" y="2201809"/>
            <a:ext cx="4090065" cy="356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288724" y="2199668"/>
          <a:ext cx="4322088" cy="2683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Visio" r:id="rId2" imgW="6026150" imgH="3736975" progId="Visio.Drawing.11">
                  <p:embed/>
                </p:oleObj>
              </mc:Choice>
              <mc:Fallback>
                <p:oleObj name="Visio" r:id="rId2" imgW="6026150" imgH="3736975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724" y="2199668"/>
                        <a:ext cx="4322088" cy="2683760"/>
                      </a:xfrm>
                      <a:prstGeom prst="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818578" y="1672441"/>
            <a:ext cx="3583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  <a:ea typeface="+mj-ea"/>
              </a:rPr>
              <a:t>3</a:t>
            </a:r>
            <a:r>
              <a:rPr lang="zh-CN" altLang="en-US" sz="2400" dirty="0">
                <a:latin typeface="+mj-ea"/>
                <a:ea typeface="+mj-ea"/>
              </a:rPr>
              <a:t>的</a:t>
            </a:r>
            <a:r>
              <a:rPr lang="zh-CN" altLang="en-US" sz="2400" b="1" dirty="0">
                <a:latin typeface="+mj-ea"/>
                <a:ea typeface="+mj-ea"/>
              </a:rPr>
              <a:t>阶乘</a:t>
            </a:r>
            <a:r>
              <a:rPr lang="en-US" altLang="zh-CN" sz="2400" dirty="0">
                <a:latin typeface="+mj-ea"/>
                <a:ea typeface="+mj-ea"/>
              </a:rPr>
              <a:t>f(3)</a:t>
            </a:r>
            <a:r>
              <a:rPr lang="zh-CN" altLang="en-US" sz="2400" dirty="0">
                <a:latin typeface="+mj-ea"/>
                <a:ea typeface="+mj-ea"/>
              </a:rPr>
              <a:t>的计算过程</a:t>
            </a:r>
            <a:endParaRPr lang="en-US" altLang="zh-CN" sz="2400" dirty="0">
              <a:latin typeface="+mj-ea"/>
              <a:ea typeface="+mj-ea"/>
            </a:endParaRPr>
          </a:p>
        </p:txBody>
      </p:sp>
      <p:pic>
        <p:nvPicPr>
          <p:cNvPr id="8442" name="Picture 250" descr="卷心菜品种及图片大全,卷心菜图片种植_大山谷图库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642" y="5014551"/>
            <a:ext cx="2296095" cy="1720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归并排序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基本思想：将两个或两个以上有序表合并成一个新的有序表</a:t>
            </a:r>
            <a:endParaRPr lang="en-US" altLang="zh-CN" dirty="0"/>
          </a:p>
          <a:p>
            <a:pPr lvl="1"/>
            <a:r>
              <a:rPr lang="zh-CN" altLang="en-US" dirty="0"/>
              <a:t>假设初始序列含有</a:t>
            </a:r>
            <a:r>
              <a:rPr lang="en-US" altLang="zh-CN" dirty="0"/>
              <a:t>n</a:t>
            </a:r>
            <a:r>
              <a:rPr lang="zh-CN" altLang="en-US" dirty="0"/>
              <a:t>个记录，首先将这</a:t>
            </a:r>
            <a:r>
              <a:rPr lang="en-US" altLang="zh-CN" dirty="0"/>
              <a:t>n</a:t>
            </a:r>
            <a:r>
              <a:rPr lang="zh-CN" altLang="en-US" dirty="0"/>
              <a:t>个记录看成</a:t>
            </a:r>
            <a:r>
              <a:rPr lang="en-US" altLang="zh-CN" dirty="0"/>
              <a:t>n</a:t>
            </a:r>
            <a:r>
              <a:rPr lang="zh-CN" altLang="en-US" dirty="0"/>
              <a:t>个有序的子序列，每个子序列的长度为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两两归并，得到</a:t>
            </a:r>
            <a:r>
              <a:rPr lang="zh-CN" altLang="en-US" dirty="0">
                <a:sym typeface="Symbol" panose="05050102010706020507" pitchFamily="18" charset="2"/>
              </a:rPr>
              <a:t></a:t>
            </a:r>
            <a:r>
              <a:rPr lang="en-US" altLang="zh-CN" dirty="0"/>
              <a:t>n/2</a:t>
            </a:r>
            <a:r>
              <a:rPr lang="en-US" altLang="zh-CN" dirty="0">
                <a:sym typeface="Symbol" panose="05050102010706020507" pitchFamily="18" charset="2"/>
              </a:rPr>
              <a:t></a:t>
            </a:r>
            <a:r>
              <a:rPr lang="zh-CN" altLang="en-US" dirty="0"/>
              <a:t>个长度为</a:t>
            </a:r>
            <a:r>
              <a:rPr lang="en-US" altLang="zh-CN" dirty="0"/>
              <a:t>2</a:t>
            </a:r>
            <a:r>
              <a:rPr lang="zh-CN" altLang="en-US" dirty="0"/>
              <a:t>（</a:t>
            </a:r>
            <a:r>
              <a:rPr lang="en-US" altLang="zh-CN" dirty="0"/>
              <a:t>n</a:t>
            </a:r>
            <a:r>
              <a:rPr lang="zh-CN" altLang="en-US" dirty="0"/>
              <a:t>为奇数时，最后一个序列长度为</a:t>
            </a:r>
            <a:r>
              <a:rPr lang="en-US" altLang="zh-CN" dirty="0"/>
              <a:t>1</a:t>
            </a:r>
            <a:r>
              <a:rPr lang="zh-CN" altLang="en-US" dirty="0"/>
              <a:t>）的有序子序列</a:t>
            </a:r>
            <a:endParaRPr lang="en-US" altLang="zh-CN" dirty="0"/>
          </a:p>
          <a:p>
            <a:pPr lvl="1"/>
            <a:r>
              <a:rPr lang="zh-CN" altLang="en-US" dirty="0"/>
              <a:t>在此基础上再进行两两归并，如此重复，直至得到一个长度为</a:t>
            </a:r>
            <a:r>
              <a:rPr lang="en-US" altLang="zh-CN" dirty="0"/>
              <a:t>n</a:t>
            </a:r>
            <a:r>
              <a:rPr lang="zh-CN" altLang="en-US" dirty="0"/>
              <a:t>的有序序列为止。这种方法被称作</a:t>
            </a:r>
            <a:r>
              <a:rPr lang="en-US" altLang="zh-CN" dirty="0"/>
              <a:t>2-</a:t>
            </a:r>
            <a:r>
              <a:rPr lang="zh-CN" altLang="en-US" dirty="0"/>
              <a:t>路归并排序</a:t>
            </a:r>
            <a:endParaRPr lang="zh-CN" alt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674" y="4414814"/>
            <a:ext cx="4960913" cy="2356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归并排序举例</a:t>
            </a:r>
            <a:endParaRPr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900113" y="1557239"/>
            <a:ext cx="431800" cy="503237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0" lang="en-US" altLang="zh-CN" sz="3600" b="1" dirty="0">
                <a:solidFill>
                  <a:srgbClr val="0000CC"/>
                </a:solidFill>
                <a:latin typeface="宋体" panose="02010600030101010101" pitchFamily="2" charset="-122"/>
              </a:rPr>
              <a:t>19</a:t>
            </a:r>
            <a:endParaRPr kumimoji="0" lang="en-US" altLang="zh-CN" sz="3600" b="1" dirty="0">
              <a:solidFill>
                <a:srgbClr val="0000CC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908175" y="1557239"/>
            <a:ext cx="431800" cy="503237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0" lang="en-US" altLang="zh-CN" sz="3600" b="1" dirty="0">
                <a:solidFill>
                  <a:srgbClr val="0000CC"/>
                </a:solidFill>
                <a:latin typeface="宋体" panose="02010600030101010101" pitchFamily="2" charset="-122"/>
              </a:rPr>
              <a:t>13</a:t>
            </a:r>
            <a:endParaRPr kumimoji="0" lang="en-US" altLang="zh-CN" sz="3600" b="1" dirty="0">
              <a:solidFill>
                <a:srgbClr val="0000CC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771775" y="1541364"/>
            <a:ext cx="431800" cy="503237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600" b="1" dirty="0">
                <a:solidFill>
                  <a:srgbClr val="0000CC"/>
                </a:solidFill>
                <a:latin typeface="宋体" panose="02010600030101010101" pitchFamily="2" charset="-122"/>
              </a:rPr>
              <a:t>05</a:t>
            </a:r>
            <a:endParaRPr kumimoji="0" lang="en-US" altLang="zh-CN" sz="3600" b="1" dirty="0">
              <a:solidFill>
                <a:srgbClr val="0000CC"/>
              </a:solidFill>
              <a:latin typeface="宋体" panose="02010600030101010101" pitchFamily="2" charset="-122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708400" y="1520726"/>
            <a:ext cx="431800" cy="503238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0" lang="en-US" altLang="zh-CN" sz="3600" b="1" dirty="0">
                <a:solidFill>
                  <a:srgbClr val="0000CC"/>
                </a:solidFill>
                <a:latin typeface="宋体" panose="02010600030101010101" pitchFamily="2" charset="-122"/>
              </a:rPr>
              <a:t>27</a:t>
            </a:r>
            <a:endParaRPr kumimoji="0" lang="en-US" altLang="zh-CN" sz="3600" b="1" dirty="0">
              <a:solidFill>
                <a:srgbClr val="0000CC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7380288" y="1485801"/>
            <a:ext cx="431800" cy="503238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0" lang="en-US" altLang="zh-CN" sz="3600" b="1" dirty="0">
                <a:solidFill>
                  <a:srgbClr val="0000CC"/>
                </a:solidFill>
                <a:latin typeface="宋体" panose="02010600030101010101" pitchFamily="2" charset="-122"/>
              </a:rPr>
              <a:t>16</a:t>
            </a:r>
            <a:endParaRPr kumimoji="0" lang="en-US" altLang="zh-CN" sz="3600" b="1" dirty="0">
              <a:solidFill>
                <a:srgbClr val="0000CC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6588125" y="1485801"/>
            <a:ext cx="431800" cy="503238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0" lang="en-US" altLang="zh-CN" sz="3600" b="1" dirty="0">
                <a:solidFill>
                  <a:srgbClr val="0000CC"/>
                </a:solidFill>
                <a:latin typeface="宋体" panose="02010600030101010101" pitchFamily="2" charset="-122"/>
              </a:rPr>
              <a:t>31</a:t>
            </a:r>
            <a:endParaRPr kumimoji="0" lang="en-US" altLang="zh-CN" sz="3600" b="1" dirty="0">
              <a:solidFill>
                <a:srgbClr val="0000CC"/>
              </a:solidFill>
              <a:latin typeface="宋体" panose="02010600030101010101" pitchFamily="2" charset="-122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5543550" y="1523901"/>
            <a:ext cx="431800" cy="503238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0" lang="en-US" altLang="zh-CN" sz="3600" b="1" dirty="0">
                <a:solidFill>
                  <a:srgbClr val="0000CC"/>
                </a:solidFill>
                <a:latin typeface="宋体" panose="02010600030101010101" pitchFamily="2" charset="-122"/>
              </a:rPr>
              <a:t>26</a:t>
            </a:r>
            <a:endParaRPr kumimoji="0" lang="en-US" altLang="zh-CN" sz="3600" b="1" dirty="0">
              <a:solidFill>
                <a:srgbClr val="0000CC"/>
              </a:solidFill>
              <a:latin typeface="宋体" panose="02010600030101010101" pitchFamily="2" charset="-122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4643438" y="1504851"/>
            <a:ext cx="431800" cy="503238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0" lang="en-US" altLang="zh-CN" sz="3600" b="1" dirty="0">
                <a:solidFill>
                  <a:srgbClr val="0000CC"/>
                </a:solidFill>
                <a:latin typeface="宋体" panose="02010600030101010101" pitchFamily="2" charset="-122"/>
              </a:rPr>
              <a:t>01</a:t>
            </a:r>
            <a:endParaRPr kumimoji="0" lang="en-US" altLang="zh-CN" sz="3600" b="1" dirty="0">
              <a:solidFill>
                <a:srgbClr val="0000CC"/>
              </a:solidFill>
              <a:latin typeface="宋体" panose="02010600030101010101" pitchFamily="2" charset="-122"/>
            </a:endParaRPr>
          </a:p>
        </p:txBody>
      </p:sp>
      <p:grpSp>
        <p:nvGrpSpPr>
          <p:cNvPr id="12" name="Group 10"/>
          <p:cNvGrpSpPr/>
          <p:nvPr/>
        </p:nvGrpSpPr>
        <p:grpSpPr bwMode="auto">
          <a:xfrm>
            <a:off x="1325563" y="2800251"/>
            <a:ext cx="1230312" cy="565150"/>
            <a:chOff x="340" y="1310"/>
            <a:chExt cx="998" cy="454"/>
          </a:xfrm>
        </p:grpSpPr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340" y="1310"/>
              <a:ext cx="454" cy="45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0" lang="en-US" altLang="zh-CN" sz="3600" b="1" dirty="0">
                  <a:solidFill>
                    <a:srgbClr val="0000CC"/>
                  </a:solidFill>
                  <a:latin typeface="宋体" panose="02010600030101010101" pitchFamily="2" charset="-122"/>
                </a:rPr>
                <a:t>13</a:t>
              </a:r>
              <a:endParaRPr kumimoji="0" lang="en-US" altLang="zh-CN" sz="3600" b="1" dirty="0">
                <a:solidFill>
                  <a:srgbClr val="0000CC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884" y="1310"/>
              <a:ext cx="454" cy="45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0" lang="en-US" altLang="zh-CN" sz="3600" b="1" dirty="0">
                  <a:solidFill>
                    <a:srgbClr val="0000CC"/>
                  </a:solidFill>
                  <a:latin typeface="宋体" panose="02010600030101010101" pitchFamily="2" charset="-122"/>
                </a:rPr>
                <a:t>19</a:t>
              </a:r>
              <a:endParaRPr kumimoji="0" lang="en-US" altLang="zh-CN" sz="3600" b="1" dirty="0">
                <a:solidFill>
                  <a:srgbClr val="0000CC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15" name="Group 13"/>
          <p:cNvGrpSpPr/>
          <p:nvPr/>
        </p:nvGrpSpPr>
        <p:grpSpPr bwMode="auto">
          <a:xfrm>
            <a:off x="2959100" y="2781201"/>
            <a:ext cx="1255713" cy="576263"/>
            <a:chOff x="1725" y="1298"/>
            <a:chExt cx="1019" cy="463"/>
          </a:xfrm>
        </p:grpSpPr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1725" y="1307"/>
              <a:ext cx="454" cy="454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0" lang="en-US" altLang="zh-CN" sz="3600" b="1" dirty="0">
                  <a:solidFill>
                    <a:srgbClr val="0000CC"/>
                  </a:solidFill>
                  <a:latin typeface="宋体" panose="02010600030101010101" pitchFamily="2" charset="-122"/>
                </a:rPr>
                <a:t>05</a:t>
              </a:r>
              <a:endParaRPr kumimoji="0" lang="en-US" altLang="zh-CN" sz="3600" b="1" dirty="0">
                <a:solidFill>
                  <a:srgbClr val="0000CC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2290" y="1298"/>
              <a:ext cx="454" cy="454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0" lang="en-US" altLang="zh-CN" sz="3600" b="1" dirty="0">
                  <a:solidFill>
                    <a:srgbClr val="0000CC"/>
                  </a:solidFill>
                  <a:latin typeface="宋体" panose="02010600030101010101" pitchFamily="2" charset="-122"/>
                </a:rPr>
                <a:t>27</a:t>
              </a:r>
              <a:endParaRPr kumimoji="0" lang="en-US" altLang="zh-CN" sz="3600" b="1" dirty="0">
                <a:solidFill>
                  <a:srgbClr val="0000CC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18" name="Group 16"/>
          <p:cNvGrpSpPr/>
          <p:nvPr/>
        </p:nvGrpSpPr>
        <p:grpSpPr bwMode="auto">
          <a:xfrm>
            <a:off x="6516688" y="2800251"/>
            <a:ext cx="1285875" cy="565150"/>
            <a:chOff x="4468" y="1310"/>
            <a:chExt cx="1043" cy="454"/>
          </a:xfrm>
        </p:grpSpPr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5057" y="1310"/>
              <a:ext cx="454" cy="454"/>
            </a:xfrm>
            <a:prstGeom prst="rect">
              <a:avLst/>
            </a:prstGeom>
            <a:solidFill>
              <a:srgbClr val="5C7832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0" lang="en-US" altLang="zh-CN" sz="3600" b="1" dirty="0">
                  <a:latin typeface="宋体" panose="02010600030101010101" pitchFamily="2" charset="-122"/>
                </a:rPr>
                <a:t>31</a:t>
              </a:r>
              <a:endParaRPr kumimoji="0" lang="en-US" altLang="zh-CN" sz="3600" b="1" dirty="0">
                <a:latin typeface="宋体" panose="02010600030101010101" pitchFamily="2" charset="-122"/>
              </a:endParaRPr>
            </a:p>
          </p:txBody>
        </p:sp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4468" y="1310"/>
              <a:ext cx="454" cy="454"/>
            </a:xfrm>
            <a:prstGeom prst="rect">
              <a:avLst/>
            </a:prstGeom>
            <a:solidFill>
              <a:srgbClr val="5C7832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0" lang="en-US" altLang="zh-CN" sz="3600" b="1" dirty="0">
                  <a:latin typeface="宋体" panose="02010600030101010101" pitchFamily="2" charset="-122"/>
                </a:rPr>
                <a:t>16</a:t>
              </a:r>
              <a:endParaRPr kumimoji="0" lang="en-US" altLang="zh-CN" sz="36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21" name="Group 19"/>
          <p:cNvGrpSpPr/>
          <p:nvPr/>
        </p:nvGrpSpPr>
        <p:grpSpPr bwMode="auto">
          <a:xfrm>
            <a:off x="4716463" y="2800251"/>
            <a:ext cx="1230312" cy="565150"/>
            <a:chOff x="3107" y="1310"/>
            <a:chExt cx="998" cy="454"/>
          </a:xfrm>
        </p:grpSpPr>
        <p:sp>
          <p:nvSpPr>
            <p:cNvPr id="22" name="Rectangle 20"/>
            <p:cNvSpPr>
              <a:spLocks noChangeArrowheads="1"/>
            </p:cNvSpPr>
            <p:nvPr/>
          </p:nvSpPr>
          <p:spPr bwMode="auto">
            <a:xfrm>
              <a:off x="3651" y="1310"/>
              <a:ext cx="454" cy="45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0" lang="en-US" altLang="zh-CN" sz="3600" b="1" dirty="0">
                  <a:solidFill>
                    <a:srgbClr val="0000CC"/>
                  </a:solidFill>
                  <a:latin typeface="宋体" panose="02010600030101010101" pitchFamily="2" charset="-122"/>
                </a:rPr>
                <a:t>26</a:t>
              </a:r>
              <a:endParaRPr kumimoji="0" lang="en-US" altLang="zh-CN" sz="3600" b="1" dirty="0">
                <a:solidFill>
                  <a:srgbClr val="0000CC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3107" y="1310"/>
              <a:ext cx="454" cy="45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0" lang="en-US" altLang="zh-CN" sz="3600" b="1" dirty="0">
                  <a:solidFill>
                    <a:srgbClr val="0000CC"/>
                  </a:solidFill>
                  <a:latin typeface="宋体" panose="02010600030101010101" pitchFamily="2" charset="-122"/>
                </a:rPr>
                <a:t>01</a:t>
              </a:r>
              <a:endParaRPr kumimoji="0" lang="en-US" altLang="zh-CN" sz="3600" b="1" dirty="0">
                <a:solidFill>
                  <a:srgbClr val="0000CC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24" name="Group 22"/>
          <p:cNvGrpSpPr/>
          <p:nvPr/>
        </p:nvGrpSpPr>
        <p:grpSpPr bwMode="auto">
          <a:xfrm>
            <a:off x="1260475" y="4365526"/>
            <a:ext cx="3095625" cy="595313"/>
            <a:chOff x="385" y="2341"/>
            <a:chExt cx="2132" cy="466"/>
          </a:xfrm>
        </p:grpSpPr>
        <p:sp>
          <p:nvSpPr>
            <p:cNvPr id="25" name="Rectangle 23"/>
            <p:cNvSpPr>
              <a:spLocks noChangeArrowheads="1"/>
            </p:cNvSpPr>
            <p:nvPr/>
          </p:nvSpPr>
          <p:spPr bwMode="auto">
            <a:xfrm>
              <a:off x="385" y="2353"/>
              <a:ext cx="454" cy="45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0" lang="en-US" altLang="zh-CN" sz="3600" b="1" dirty="0">
                  <a:solidFill>
                    <a:srgbClr val="0000CC"/>
                  </a:solidFill>
                  <a:latin typeface="宋体" panose="02010600030101010101" pitchFamily="2" charset="-122"/>
                </a:rPr>
                <a:t>05</a:t>
              </a:r>
              <a:endParaRPr kumimoji="0" lang="en-US" altLang="zh-CN" sz="3600" b="1" dirty="0">
                <a:solidFill>
                  <a:srgbClr val="0000CC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6" name="Rectangle 24"/>
            <p:cNvSpPr>
              <a:spLocks noChangeArrowheads="1"/>
            </p:cNvSpPr>
            <p:nvPr/>
          </p:nvSpPr>
          <p:spPr bwMode="auto">
            <a:xfrm>
              <a:off x="929" y="2353"/>
              <a:ext cx="454" cy="45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0" lang="en-US" altLang="zh-CN" sz="3600" b="1" dirty="0">
                  <a:solidFill>
                    <a:srgbClr val="0000CC"/>
                  </a:solidFill>
                  <a:latin typeface="宋体" panose="02010600030101010101" pitchFamily="2" charset="-122"/>
                </a:rPr>
                <a:t>13</a:t>
              </a:r>
              <a:endParaRPr kumimoji="0" lang="en-US" altLang="zh-CN" sz="3600" b="1" dirty="0">
                <a:solidFill>
                  <a:srgbClr val="0000CC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7" name="Rectangle 25"/>
            <p:cNvSpPr>
              <a:spLocks noChangeArrowheads="1"/>
            </p:cNvSpPr>
            <p:nvPr/>
          </p:nvSpPr>
          <p:spPr bwMode="auto">
            <a:xfrm>
              <a:off x="1498" y="2350"/>
              <a:ext cx="454" cy="45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0" lang="en-US" altLang="zh-CN" sz="3600" b="1" dirty="0">
                  <a:solidFill>
                    <a:srgbClr val="0000CC"/>
                  </a:solidFill>
                  <a:latin typeface="宋体" panose="02010600030101010101" pitchFamily="2" charset="-122"/>
                </a:rPr>
                <a:t>19</a:t>
              </a:r>
              <a:endParaRPr kumimoji="0" lang="en-US" altLang="zh-CN" sz="3600" b="1" dirty="0">
                <a:solidFill>
                  <a:srgbClr val="0000CC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8" name="Rectangle 26"/>
            <p:cNvSpPr>
              <a:spLocks noChangeArrowheads="1"/>
            </p:cNvSpPr>
            <p:nvPr/>
          </p:nvSpPr>
          <p:spPr bwMode="auto">
            <a:xfrm>
              <a:off x="2063" y="2341"/>
              <a:ext cx="454" cy="45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0" lang="en-US" altLang="zh-CN" sz="3600" b="1" dirty="0">
                  <a:solidFill>
                    <a:srgbClr val="0000CC"/>
                  </a:solidFill>
                  <a:latin typeface="宋体" panose="02010600030101010101" pitchFamily="2" charset="-122"/>
                </a:rPr>
                <a:t>27</a:t>
              </a:r>
              <a:endParaRPr kumimoji="0" lang="en-US" altLang="zh-CN" sz="3600" b="1" dirty="0">
                <a:solidFill>
                  <a:srgbClr val="0000CC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29" name="Group 27"/>
          <p:cNvGrpSpPr/>
          <p:nvPr/>
        </p:nvGrpSpPr>
        <p:grpSpPr bwMode="auto">
          <a:xfrm>
            <a:off x="4716463" y="4365526"/>
            <a:ext cx="3168650" cy="595313"/>
            <a:chOff x="3016" y="2353"/>
            <a:chExt cx="2132" cy="454"/>
          </a:xfrm>
        </p:grpSpPr>
        <p:sp>
          <p:nvSpPr>
            <p:cNvPr id="30" name="Rectangle 28"/>
            <p:cNvSpPr>
              <a:spLocks noChangeArrowheads="1"/>
            </p:cNvSpPr>
            <p:nvPr/>
          </p:nvSpPr>
          <p:spPr bwMode="auto">
            <a:xfrm>
              <a:off x="4694" y="2353"/>
              <a:ext cx="454" cy="45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0" lang="en-US" altLang="zh-CN" sz="3600" b="1" dirty="0">
                  <a:solidFill>
                    <a:srgbClr val="0000CC"/>
                  </a:solidFill>
                  <a:latin typeface="宋体" panose="02010600030101010101" pitchFamily="2" charset="-122"/>
                </a:rPr>
                <a:t>31</a:t>
              </a:r>
              <a:endParaRPr kumimoji="0" lang="en-US" altLang="zh-CN" sz="3600" b="1" dirty="0">
                <a:solidFill>
                  <a:srgbClr val="0000CC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auto">
            <a:xfrm>
              <a:off x="4105" y="2353"/>
              <a:ext cx="454" cy="45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0" lang="en-US" altLang="zh-CN" sz="3600" b="1" dirty="0">
                  <a:solidFill>
                    <a:srgbClr val="0000CC"/>
                  </a:solidFill>
                  <a:latin typeface="宋体" panose="02010600030101010101" pitchFamily="2" charset="-122"/>
                </a:rPr>
                <a:t>26</a:t>
              </a:r>
              <a:endParaRPr kumimoji="0" lang="en-US" altLang="zh-CN" sz="3600" b="1" dirty="0">
                <a:solidFill>
                  <a:srgbClr val="0000CC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2" name="Rectangle 30"/>
            <p:cNvSpPr>
              <a:spLocks noChangeArrowheads="1"/>
            </p:cNvSpPr>
            <p:nvPr/>
          </p:nvSpPr>
          <p:spPr bwMode="auto">
            <a:xfrm>
              <a:off x="3560" y="2353"/>
              <a:ext cx="454" cy="45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0" lang="en-US" altLang="zh-CN" sz="3600" b="1" dirty="0">
                  <a:solidFill>
                    <a:srgbClr val="0000CC"/>
                  </a:solidFill>
                  <a:latin typeface="宋体" panose="02010600030101010101" pitchFamily="2" charset="-122"/>
                </a:rPr>
                <a:t>16</a:t>
              </a:r>
              <a:endParaRPr kumimoji="0" lang="en-US" altLang="zh-CN" sz="3600" b="1" dirty="0">
                <a:solidFill>
                  <a:srgbClr val="0000CC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3" name="Rectangle 31"/>
            <p:cNvSpPr>
              <a:spLocks noChangeArrowheads="1"/>
            </p:cNvSpPr>
            <p:nvPr/>
          </p:nvSpPr>
          <p:spPr bwMode="auto">
            <a:xfrm>
              <a:off x="3016" y="2353"/>
              <a:ext cx="454" cy="45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0" lang="en-US" altLang="zh-CN" sz="3600" b="1" dirty="0">
                  <a:solidFill>
                    <a:srgbClr val="0000CC"/>
                  </a:solidFill>
                  <a:latin typeface="宋体" panose="02010600030101010101" pitchFamily="2" charset="-122"/>
                </a:rPr>
                <a:t>01</a:t>
              </a:r>
              <a:endParaRPr kumimoji="0" lang="en-US" altLang="zh-CN" sz="3600" b="1" dirty="0">
                <a:solidFill>
                  <a:srgbClr val="0000CC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34" name="Group 32"/>
          <p:cNvGrpSpPr/>
          <p:nvPr/>
        </p:nvGrpSpPr>
        <p:grpSpPr bwMode="auto">
          <a:xfrm>
            <a:off x="1042988" y="6021289"/>
            <a:ext cx="6985000" cy="647700"/>
            <a:chOff x="612" y="2478"/>
            <a:chExt cx="4400" cy="466"/>
          </a:xfrm>
        </p:grpSpPr>
        <p:sp>
          <p:nvSpPr>
            <p:cNvPr id="35" name="Rectangle 33"/>
            <p:cNvSpPr>
              <a:spLocks noChangeArrowheads="1"/>
            </p:cNvSpPr>
            <p:nvPr/>
          </p:nvSpPr>
          <p:spPr bwMode="auto">
            <a:xfrm>
              <a:off x="612" y="2490"/>
              <a:ext cx="454" cy="4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0" lang="en-US" altLang="zh-CN" sz="3600" b="1" dirty="0">
                  <a:solidFill>
                    <a:srgbClr val="0000CC"/>
                  </a:solidFill>
                  <a:latin typeface="宋体" panose="02010600030101010101" pitchFamily="2" charset="-122"/>
                </a:rPr>
                <a:t>01</a:t>
              </a:r>
              <a:endParaRPr kumimoji="0" lang="en-US" altLang="zh-CN" sz="3600" b="1" dirty="0">
                <a:solidFill>
                  <a:srgbClr val="0000CC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6" name="Rectangle 34"/>
            <p:cNvSpPr>
              <a:spLocks noChangeArrowheads="1"/>
            </p:cNvSpPr>
            <p:nvPr/>
          </p:nvSpPr>
          <p:spPr bwMode="auto">
            <a:xfrm>
              <a:off x="1156" y="2490"/>
              <a:ext cx="454" cy="4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0" lang="en-US" altLang="zh-CN" sz="3600" b="1" dirty="0">
                  <a:solidFill>
                    <a:srgbClr val="0000CC"/>
                  </a:solidFill>
                  <a:latin typeface="宋体" panose="02010600030101010101" pitchFamily="2" charset="-122"/>
                </a:rPr>
                <a:t>05</a:t>
              </a:r>
              <a:endParaRPr kumimoji="0" lang="en-US" altLang="zh-CN" sz="3600" b="1" dirty="0">
                <a:solidFill>
                  <a:srgbClr val="0000CC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7" name="Rectangle 35"/>
            <p:cNvSpPr>
              <a:spLocks noChangeArrowheads="1"/>
            </p:cNvSpPr>
            <p:nvPr/>
          </p:nvSpPr>
          <p:spPr bwMode="auto">
            <a:xfrm>
              <a:off x="1725" y="2487"/>
              <a:ext cx="454" cy="4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0" lang="en-US" altLang="zh-CN" sz="3600" b="1" dirty="0">
                  <a:solidFill>
                    <a:srgbClr val="0000CC"/>
                  </a:solidFill>
                  <a:latin typeface="宋体" panose="02010600030101010101" pitchFamily="2" charset="-122"/>
                </a:rPr>
                <a:t>13</a:t>
              </a:r>
              <a:endParaRPr kumimoji="0" lang="en-US" altLang="zh-CN" sz="3600" b="1" dirty="0">
                <a:solidFill>
                  <a:srgbClr val="0000CC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8" name="Rectangle 36"/>
            <p:cNvSpPr>
              <a:spLocks noChangeArrowheads="1"/>
            </p:cNvSpPr>
            <p:nvPr/>
          </p:nvSpPr>
          <p:spPr bwMode="auto">
            <a:xfrm>
              <a:off x="2290" y="2478"/>
              <a:ext cx="454" cy="4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0" lang="en-US" altLang="zh-CN" sz="3600" b="1" dirty="0">
                  <a:solidFill>
                    <a:srgbClr val="0000CC"/>
                  </a:solidFill>
                  <a:latin typeface="宋体" panose="02010600030101010101" pitchFamily="2" charset="-122"/>
                </a:rPr>
                <a:t>16</a:t>
              </a:r>
              <a:endParaRPr kumimoji="0" lang="en-US" altLang="zh-CN" sz="3600" b="1" dirty="0">
                <a:solidFill>
                  <a:srgbClr val="0000CC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9" name="Rectangle 37"/>
            <p:cNvSpPr>
              <a:spLocks noChangeArrowheads="1"/>
            </p:cNvSpPr>
            <p:nvPr/>
          </p:nvSpPr>
          <p:spPr bwMode="auto">
            <a:xfrm>
              <a:off x="4558" y="2490"/>
              <a:ext cx="454" cy="4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0" lang="en-US" altLang="zh-CN" sz="3600" b="1" dirty="0">
                  <a:solidFill>
                    <a:srgbClr val="0000CC"/>
                  </a:solidFill>
                  <a:latin typeface="宋体" panose="02010600030101010101" pitchFamily="2" charset="-122"/>
                </a:rPr>
                <a:t>31</a:t>
              </a:r>
              <a:endParaRPr kumimoji="0" lang="en-US" altLang="zh-CN" sz="3600" b="1" dirty="0">
                <a:solidFill>
                  <a:srgbClr val="0000CC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0" name="Rectangle 38"/>
            <p:cNvSpPr>
              <a:spLocks noChangeArrowheads="1"/>
            </p:cNvSpPr>
            <p:nvPr/>
          </p:nvSpPr>
          <p:spPr bwMode="auto">
            <a:xfrm>
              <a:off x="3969" y="2490"/>
              <a:ext cx="454" cy="4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0" lang="en-US" altLang="zh-CN" sz="3600" b="1" dirty="0">
                  <a:solidFill>
                    <a:srgbClr val="0000CC"/>
                  </a:solidFill>
                  <a:latin typeface="宋体" panose="02010600030101010101" pitchFamily="2" charset="-122"/>
                </a:rPr>
                <a:t>27</a:t>
              </a:r>
              <a:endParaRPr kumimoji="0" lang="en-US" altLang="zh-CN" sz="3600" b="1" dirty="0">
                <a:solidFill>
                  <a:srgbClr val="0000CC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1" name="Rectangle 39"/>
            <p:cNvSpPr>
              <a:spLocks noChangeArrowheads="1"/>
            </p:cNvSpPr>
            <p:nvPr/>
          </p:nvSpPr>
          <p:spPr bwMode="auto">
            <a:xfrm>
              <a:off x="3424" y="2490"/>
              <a:ext cx="454" cy="4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0" lang="en-US" altLang="zh-CN" sz="3600" b="1" dirty="0">
                  <a:solidFill>
                    <a:srgbClr val="0000CC"/>
                  </a:solidFill>
                  <a:latin typeface="宋体" panose="02010600030101010101" pitchFamily="2" charset="-122"/>
                </a:rPr>
                <a:t>26</a:t>
              </a:r>
              <a:endParaRPr kumimoji="0" lang="en-US" altLang="zh-CN" sz="3600" b="1" dirty="0">
                <a:solidFill>
                  <a:srgbClr val="0000CC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" name="Rectangle 40"/>
            <p:cNvSpPr>
              <a:spLocks noChangeArrowheads="1"/>
            </p:cNvSpPr>
            <p:nvPr/>
          </p:nvSpPr>
          <p:spPr bwMode="auto">
            <a:xfrm>
              <a:off x="2880" y="2490"/>
              <a:ext cx="454" cy="4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0" lang="en-US" altLang="zh-CN" sz="3600" b="1" dirty="0">
                  <a:solidFill>
                    <a:srgbClr val="0000CC"/>
                  </a:solidFill>
                  <a:latin typeface="宋体" panose="02010600030101010101" pitchFamily="2" charset="-122"/>
                </a:rPr>
                <a:t>19</a:t>
              </a:r>
              <a:endParaRPr kumimoji="0" lang="en-US" altLang="zh-CN" sz="3600" b="1" dirty="0">
                <a:solidFill>
                  <a:srgbClr val="0000CC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43" name="Rectangle 41"/>
          <p:cNvSpPr>
            <a:spLocks noChangeArrowheads="1"/>
          </p:cNvSpPr>
          <p:nvPr/>
        </p:nvSpPr>
        <p:spPr bwMode="auto">
          <a:xfrm>
            <a:off x="395288" y="1557239"/>
            <a:ext cx="433387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0" lang="en-US" altLang="zh-CN" sz="4000" b="1">
                <a:latin typeface="宋体" panose="02010600030101010101" pitchFamily="2" charset="-122"/>
              </a:rPr>
              <a:t>a:</a:t>
            </a:r>
            <a:endParaRPr kumimoji="0" lang="en-US" altLang="zh-CN" sz="4000" b="1">
              <a:latin typeface="宋体" panose="02010600030101010101" pitchFamily="2" charset="-122"/>
            </a:endParaRPr>
          </a:p>
        </p:txBody>
      </p:sp>
      <p:sp>
        <p:nvSpPr>
          <p:cNvPr id="44" name="Rectangle 42"/>
          <p:cNvSpPr>
            <a:spLocks noChangeArrowheads="1"/>
          </p:cNvSpPr>
          <p:nvPr/>
        </p:nvSpPr>
        <p:spPr bwMode="auto">
          <a:xfrm>
            <a:off x="466725" y="2782789"/>
            <a:ext cx="433388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0" lang="en-US" altLang="zh-CN" sz="4000" b="1">
                <a:latin typeface="宋体" panose="02010600030101010101" pitchFamily="2" charset="-122"/>
              </a:rPr>
              <a:t>b:</a:t>
            </a:r>
            <a:endParaRPr kumimoji="0" lang="en-US" altLang="zh-CN" sz="4000" b="1">
              <a:latin typeface="宋体" panose="02010600030101010101" pitchFamily="2" charset="-122"/>
            </a:endParaRPr>
          </a:p>
        </p:txBody>
      </p:sp>
      <p:sp>
        <p:nvSpPr>
          <p:cNvPr id="45" name="Rectangle 43"/>
          <p:cNvSpPr>
            <a:spLocks noChangeArrowheads="1"/>
          </p:cNvSpPr>
          <p:nvPr/>
        </p:nvSpPr>
        <p:spPr bwMode="auto">
          <a:xfrm>
            <a:off x="8172450" y="1412776"/>
            <a:ext cx="433388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0" lang="en-US" altLang="zh-CN" sz="4000" b="1">
                <a:latin typeface="宋体" panose="02010600030101010101" pitchFamily="2" charset="-122"/>
              </a:rPr>
              <a:t>s=1</a:t>
            </a:r>
            <a:endParaRPr kumimoji="0" lang="en-US" altLang="zh-CN" sz="4000" b="1">
              <a:latin typeface="宋体" panose="02010600030101010101" pitchFamily="2" charset="-122"/>
            </a:endParaRPr>
          </a:p>
        </p:txBody>
      </p:sp>
      <p:sp>
        <p:nvSpPr>
          <p:cNvPr id="46" name="Rectangle 44"/>
          <p:cNvSpPr>
            <a:spLocks noChangeArrowheads="1"/>
          </p:cNvSpPr>
          <p:nvPr/>
        </p:nvSpPr>
        <p:spPr bwMode="auto">
          <a:xfrm>
            <a:off x="8172450" y="2709764"/>
            <a:ext cx="433388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0" lang="en-US" altLang="zh-CN" sz="4000" b="1">
                <a:latin typeface="宋体" panose="02010600030101010101" pitchFamily="2" charset="-122"/>
              </a:rPr>
              <a:t>s=2</a:t>
            </a:r>
            <a:endParaRPr kumimoji="0" lang="en-US" altLang="zh-CN" sz="4000" b="1">
              <a:latin typeface="宋体" panose="02010600030101010101" pitchFamily="2" charset="-122"/>
            </a:endParaRPr>
          </a:p>
        </p:txBody>
      </p:sp>
      <p:sp>
        <p:nvSpPr>
          <p:cNvPr id="47" name="Rectangle 45"/>
          <p:cNvSpPr>
            <a:spLocks noChangeArrowheads="1"/>
          </p:cNvSpPr>
          <p:nvPr/>
        </p:nvSpPr>
        <p:spPr bwMode="auto">
          <a:xfrm>
            <a:off x="466725" y="4294089"/>
            <a:ext cx="433388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0" lang="en-US" altLang="zh-CN" sz="4000" b="1">
                <a:latin typeface="宋体" panose="02010600030101010101" pitchFamily="2" charset="-122"/>
              </a:rPr>
              <a:t>a:</a:t>
            </a:r>
            <a:endParaRPr kumimoji="0" lang="en-US" altLang="zh-CN" sz="4000" b="1">
              <a:latin typeface="宋体" panose="02010600030101010101" pitchFamily="2" charset="-122"/>
            </a:endParaRPr>
          </a:p>
        </p:txBody>
      </p:sp>
      <p:sp>
        <p:nvSpPr>
          <p:cNvPr id="48" name="Rectangle 46"/>
          <p:cNvSpPr>
            <a:spLocks noChangeArrowheads="1"/>
          </p:cNvSpPr>
          <p:nvPr/>
        </p:nvSpPr>
        <p:spPr bwMode="auto">
          <a:xfrm>
            <a:off x="8172450" y="4294089"/>
            <a:ext cx="433388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0" lang="en-US" altLang="zh-CN" sz="4000" b="1">
                <a:latin typeface="宋体" panose="02010600030101010101" pitchFamily="2" charset="-122"/>
              </a:rPr>
              <a:t>s=4</a:t>
            </a:r>
            <a:endParaRPr kumimoji="0" lang="en-US" altLang="zh-CN" sz="4000" b="1">
              <a:latin typeface="宋体" panose="02010600030101010101" pitchFamily="2" charset="-122"/>
            </a:endParaRPr>
          </a:p>
        </p:txBody>
      </p:sp>
      <p:sp>
        <p:nvSpPr>
          <p:cNvPr id="49" name="Rectangle 47"/>
          <p:cNvSpPr>
            <a:spLocks noChangeArrowheads="1"/>
          </p:cNvSpPr>
          <p:nvPr/>
        </p:nvSpPr>
        <p:spPr bwMode="auto">
          <a:xfrm>
            <a:off x="466725" y="6165751"/>
            <a:ext cx="433388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0" lang="en-US" altLang="zh-CN" sz="4000" b="1">
                <a:latin typeface="宋体" panose="02010600030101010101" pitchFamily="2" charset="-122"/>
              </a:rPr>
              <a:t>b:</a:t>
            </a:r>
            <a:endParaRPr kumimoji="0" lang="en-US" altLang="zh-CN" sz="4000" b="1">
              <a:latin typeface="宋体" panose="02010600030101010101" pitchFamily="2" charset="-122"/>
            </a:endParaRPr>
          </a:p>
        </p:txBody>
      </p:sp>
      <p:sp>
        <p:nvSpPr>
          <p:cNvPr id="50" name="Rectangle 48"/>
          <p:cNvSpPr>
            <a:spLocks noChangeArrowheads="1"/>
          </p:cNvSpPr>
          <p:nvPr/>
        </p:nvSpPr>
        <p:spPr bwMode="auto">
          <a:xfrm>
            <a:off x="8172450" y="5951439"/>
            <a:ext cx="433388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0" lang="en-US" altLang="zh-CN" sz="4000" b="1">
                <a:latin typeface="宋体" panose="02010600030101010101" pitchFamily="2" charset="-122"/>
              </a:rPr>
              <a:t>s=8</a:t>
            </a:r>
            <a:endParaRPr kumimoji="0" lang="en-US" altLang="zh-CN" sz="40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归并排序</a:t>
            </a:r>
            <a:endParaRPr lang="en-US" dirty="0"/>
          </a:p>
        </p:txBody>
      </p:sp>
      <p:sp>
        <p:nvSpPr>
          <p:cNvPr id="4" name="矩形 3"/>
          <p:cNvSpPr/>
          <p:nvPr/>
        </p:nvSpPr>
        <p:spPr>
          <a:xfrm>
            <a:off x="1130103" y="2054587"/>
            <a:ext cx="7046277" cy="34778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sort(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a[],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low,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high, int b[])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mid;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(low &lt; high)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mid = (low + high) / 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sort(a, low, mid, b);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sort(a, mid + 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high, b);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merge(a, low, mid, high, b);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3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92876" y="266364"/>
            <a:ext cx="8158248" cy="62478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merge(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a[],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low,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mid,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high, int b[])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low, j = mid + 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k = 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&lt;= mid) &amp;&amp; (j &lt;= high))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(a[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 &lt;= a[j])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b[k++] = a[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++];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b[k++] = a[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&lt;= mid)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b[k++] = a[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++];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(j &lt;= high)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b[k++] = a[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low, k = 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&lt;= high;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a[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 = b[k++];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3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算法分析</a:t>
            </a:r>
            <a:endParaRPr lang="en-US" altLang="zh-CN" dirty="0"/>
          </a:p>
          <a:p>
            <a:pPr lvl="1">
              <a:spcAft>
                <a:spcPct val="20000"/>
              </a:spcAft>
            </a:pPr>
            <a:r>
              <a:rPr lang="zh-CN" altLang="en-US" dirty="0"/>
              <a:t>假设：前后相邻的有序段长度为</a:t>
            </a:r>
            <a:r>
              <a:rPr lang="en-US" altLang="zh-CN" dirty="0"/>
              <a:t>h</a:t>
            </a:r>
            <a:r>
              <a:rPr lang="zh-CN" altLang="en-US" dirty="0"/>
              <a:t>，进行两两归并后，得到长度为</a:t>
            </a:r>
            <a:r>
              <a:rPr lang="en-US" altLang="zh-CN" dirty="0"/>
              <a:t>2h</a:t>
            </a:r>
            <a:r>
              <a:rPr lang="zh-CN" altLang="en-US" dirty="0"/>
              <a:t>的有序段，那么一趟归并排序将调用 </a:t>
            </a:r>
            <a:r>
              <a:rPr lang="zh-CN" altLang="en-US" dirty="0">
                <a:sym typeface="Symbol" panose="05050102010706020507" pitchFamily="18" charset="2"/>
              </a:rPr>
              <a:t></a:t>
            </a:r>
            <a:r>
              <a:rPr lang="en-US" altLang="zh-CN" dirty="0"/>
              <a:t>n/2h</a:t>
            </a:r>
            <a:r>
              <a:rPr lang="en-US" altLang="zh-CN" dirty="0">
                <a:sym typeface="Symbol" panose="05050102010706020507" pitchFamily="18" charset="2"/>
              </a:rPr>
              <a:t> </a:t>
            </a:r>
            <a:r>
              <a:rPr lang="zh-CN" altLang="en-US" dirty="0"/>
              <a:t>次算法</a:t>
            </a:r>
            <a:r>
              <a:rPr lang="en-US" altLang="zh-CN" dirty="0"/>
              <a:t>merge</a:t>
            </a:r>
            <a:r>
              <a:rPr lang="zh-CN" altLang="en-US" dirty="0"/>
              <a:t>将</a:t>
            </a:r>
            <a:r>
              <a:rPr lang="en-US" altLang="zh-CN" dirty="0"/>
              <a:t>a[0..n-1]</a:t>
            </a:r>
            <a:r>
              <a:rPr lang="zh-CN" altLang="en-US" dirty="0"/>
              <a:t>存放在</a:t>
            </a:r>
            <a:r>
              <a:rPr lang="en-US" altLang="zh-CN" dirty="0"/>
              <a:t>b[0..n-1]</a:t>
            </a:r>
            <a:r>
              <a:rPr lang="zh-CN" altLang="en-US" dirty="0"/>
              <a:t>中，因此时间复杂度为</a:t>
            </a:r>
            <a:r>
              <a:rPr lang="en-US" altLang="zh-CN" dirty="0"/>
              <a:t>O(n) 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>
              <a:spcAft>
                <a:spcPct val="20000"/>
              </a:spcAft>
            </a:pPr>
            <a:r>
              <a:rPr lang="zh-CN" altLang="en-US" dirty="0"/>
              <a:t>整个归并排序需进行</a:t>
            </a:r>
            <a:r>
              <a:rPr lang="en-US" altLang="zh-CN" dirty="0"/>
              <a:t>m</a:t>
            </a:r>
            <a:r>
              <a:rPr lang="zh-CN" altLang="en-US" dirty="0"/>
              <a:t>（</a:t>
            </a:r>
            <a:r>
              <a:rPr lang="en-US" altLang="zh-CN" dirty="0"/>
              <a:t>m=log</a:t>
            </a:r>
            <a:r>
              <a:rPr lang="en-US" altLang="zh-CN" baseline="-25000" dirty="0"/>
              <a:t>2</a:t>
            </a:r>
            <a:r>
              <a:rPr lang="en-US" altLang="zh-CN" dirty="0"/>
              <a:t>n</a:t>
            </a:r>
            <a:r>
              <a:rPr lang="zh-CN" altLang="en-US" dirty="0"/>
              <a:t>）趟</a:t>
            </a:r>
            <a:r>
              <a:rPr lang="en-US" altLang="zh-CN" dirty="0"/>
              <a:t>2-</a:t>
            </a:r>
            <a:r>
              <a:rPr lang="zh-CN" altLang="en-US" dirty="0"/>
              <a:t>路归并，所以归并排序的时间复杂度为</a:t>
            </a:r>
            <a:r>
              <a:rPr lang="en-US" altLang="zh-CN" dirty="0"/>
              <a:t>O</a:t>
            </a:r>
            <a:r>
              <a:rPr lang="zh-CN" altLang="en-US" dirty="0"/>
              <a:t>（</a:t>
            </a:r>
            <a:r>
              <a:rPr lang="en-US" altLang="zh-CN" dirty="0"/>
              <a:t>nlog</a:t>
            </a:r>
            <a:r>
              <a:rPr lang="en-US" altLang="zh-CN" baseline="-25000" dirty="0"/>
              <a:t>2</a:t>
            </a:r>
            <a:r>
              <a:rPr lang="en-US" altLang="zh-CN" dirty="0"/>
              <a:t>n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>
              <a:spcAft>
                <a:spcPct val="20000"/>
              </a:spcAft>
            </a:pPr>
            <a:r>
              <a:rPr lang="zh-CN" altLang="en-US" dirty="0"/>
              <a:t>在实现归并排序时，需要和待排记录等数量的辅助空间，空间复杂度为</a:t>
            </a:r>
            <a:r>
              <a:rPr lang="en-US" altLang="zh-CN" dirty="0"/>
              <a:t>O(n)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归并排序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分治法</a:t>
            </a:r>
            <a:r>
              <a:rPr lang="en-US" altLang="zh-CN" dirty="0"/>
              <a:t>-</a:t>
            </a:r>
            <a:r>
              <a:rPr lang="zh-CN" altLang="en-US" dirty="0"/>
              <a:t>快速排序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快速排序是图灵奖得主 </a:t>
            </a:r>
            <a:r>
              <a:rPr lang="en-US" dirty="0"/>
              <a:t>C. R. A. Hoare </a:t>
            </a:r>
            <a:r>
              <a:rPr lang="zh-CN" altLang="en-US" dirty="0"/>
              <a:t>于 </a:t>
            </a:r>
            <a:r>
              <a:rPr lang="en-US" altLang="zh-CN" dirty="0"/>
              <a:t>1960 </a:t>
            </a:r>
            <a:r>
              <a:rPr lang="zh-CN" altLang="en-US" dirty="0"/>
              <a:t>年提出的一种划分交换排序。它采用了一种分而治之的策略，通常称其为</a:t>
            </a:r>
            <a:r>
              <a:rPr lang="zh-CN" altLang="en-US" dirty="0">
                <a:solidFill>
                  <a:srgbClr val="FF0000"/>
                </a:solidFill>
              </a:rPr>
              <a:t>分治法</a:t>
            </a:r>
            <a:r>
              <a:rPr lang="en-US" altLang="zh-CN" dirty="0"/>
              <a:t>(</a:t>
            </a:r>
            <a:r>
              <a:rPr lang="en-US" dirty="0"/>
              <a:t>Divide-and-Conquer Method)。</a:t>
            </a:r>
            <a:endParaRPr lang="en-US" dirty="0"/>
          </a:p>
          <a:p>
            <a:r>
              <a:rPr lang="en-US" dirty="0"/>
              <a:t>Divide-and-Conquer</a:t>
            </a:r>
            <a:r>
              <a:rPr lang="zh-CN" altLang="en-US" dirty="0"/>
              <a:t>的设计思想：</a:t>
            </a:r>
            <a:endParaRPr lang="zh-CN" altLang="en-US" dirty="0"/>
          </a:p>
          <a:p>
            <a:pPr lvl="1"/>
            <a:r>
              <a:rPr lang="en-US" altLang="zh-CN" dirty="0"/>
              <a:t>Divide</a:t>
            </a:r>
            <a:r>
              <a:rPr lang="zh-CN" altLang="en-US" dirty="0"/>
              <a:t>：把问题划分为若干个子问题；</a:t>
            </a:r>
            <a:endParaRPr lang="zh-CN" altLang="en-US" dirty="0"/>
          </a:p>
          <a:p>
            <a:pPr lvl="1"/>
            <a:r>
              <a:rPr lang="en-US" altLang="zh-CN" dirty="0"/>
              <a:t>Conquer</a:t>
            </a:r>
            <a:r>
              <a:rPr lang="zh-CN" altLang="en-US" dirty="0"/>
              <a:t>：以同样的方式分别去处理各个子问题；</a:t>
            </a:r>
            <a:endParaRPr lang="zh-CN" altLang="en-US" dirty="0"/>
          </a:p>
          <a:p>
            <a:pPr lvl="1"/>
            <a:r>
              <a:rPr lang="en-US" altLang="zh-CN" dirty="0"/>
              <a:t>Combine</a:t>
            </a:r>
            <a:r>
              <a:rPr lang="zh-CN" altLang="en-US" dirty="0"/>
              <a:t>：把各个子问题的处理结果综合起来，形成最终的处理结果。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Content Placeholder 2"/>
          <p:cNvSpPr>
            <a:spLocks noGrp="1"/>
          </p:cNvSpPr>
          <p:nvPr>
            <p:ph idx="1"/>
          </p:nvPr>
        </p:nvSpPr>
        <p:spPr>
          <a:xfrm>
            <a:off x="432000" y="1187999"/>
            <a:ext cx="8280000" cy="4824873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发明者：</a:t>
            </a:r>
            <a:r>
              <a:rPr lang="en-US" altLang="zh-CN" dirty="0"/>
              <a:t>Tony</a:t>
            </a:r>
            <a:r>
              <a:rPr lang="zh-CN" altLang="en-US" dirty="0"/>
              <a:t> </a:t>
            </a:r>
            <a:r>
              <a:rPr lang="en-US" altLang="zh-CN" dirty="0"/>
              <a:t>Hoare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>
              <a:spcBef>
                <a:spcPts val="1200"/>
              </a:spcBef>
            </a:pPr>
            <a:endParaRPr lang="en-US" altLang="zh-CN" dirty="0"/>
          </a:p>
          <a:p>
            <a:pPr>
              <a:spcBef>
                <a:spcPts val="1200"/>
              </a:spcBef>
            </a:pP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dirty="0"/>
              <a:t>发明时间：</a:t>
            </a:r>
            <a:r>
              <a:rPr lang="en-US" altLang="zh-CN" dirty="0">
                <a:solidFill>
                  <a:srgbClr val="0000CC"/>
                </a:solidFill>
              </a:rPr>
              <a:t>1960</a:t>
            </a:r>
            <a:r>
              <a:rPr lang="zh-CN" altLang="en-US" dirty="0">
                <a:solidFill>
                  <a:srgbClr val="0000CC"/>
                </a:solidFill>
              </a:rPr>
              <a:t>年（</a:t>
            </a:r>
            <a:r>
              <a:rPr lang="en-US" altLang="zh-CN" dirty="0">
                <a:solidFill>
                  <a:srgbClr val="0000CC"/>
                </a:solidFill>
              </a:rPr>
              <a:t>26</a:t>
            </a:r>
            <a:r>
              <a:rPr lang="zh-CN" altLang="en-US" dirty="0">
                <a:solidFill>
                  <a:srgbClr val="0000CC"/>
                </a:solidFill>
              </a:rPr>
              <a:t>岁）</a:t>
            </a:r>
            <a:endParaRPr lang="en-US" altLang="en-US" dirty="0">
              <a:solidFill>
                <a:srgbClr val="0000CC"/>
              </a:solidFill>
              <a:ea typeface="华文中宋" panose="02010600040101010101" pitchFamily="2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快速排序算法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906" y="1719072"/>
            <a:ext cx="2450592" cy="34198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7894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3038" y="1916113"/>
            <a:ext cx="2990850" cy="223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5" name="Rectangle 7"/>
          <p:cNvSpPr>
            <a:spLocks noChangeArrowheads="1"/>
          </p:cNvSpPr>
          <p:nvPr/>
        </p:nvSpPr>
        <p:spPr bwMode="auto">
          <a:xfrm>
            <a:off x="5116513" y="4076700"/>
            <a:ext cx="3632200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1980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年图灵奖获得者</a:t>
            </a:r>
            <a:endParaRPr lang="en-US" altLang="zh-CN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对程序设计语言的定义和设计方面的基础性贡献</a:t>
            </a:r>
            <a:endParaRPr lang="en-US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device&#10;&#10;Description generated with high confidence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908720"/>
            <a:ext cx="6877772" cy="525658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39800" y="869032"/>
            <a:ext cx="6945313" cy="4648200"/>
            <a:chOff x="939800" y="457200"/>
            <a:chExt cx="6945313" cy="4648200"/>
          </a:xfrm>
        </p:grpSpPr>
        <p:sp>
          <p:nvSpPr>
            <p:cNvPr id="404483" name="Rectangle 3"/>
            <p:cNvSpPr>
              <a:spLocks noChangeArrowheads="1"/>
            </p:cNvSpPr>
            <p:nvPr/>
          </p:nvSpPr>
          <p:spPr bwMode="auto">
            <a:xfrm>
              <a:off x="1828800" y="457200"/>
              <a:ext cx="4724400" cy="304800"/>
            </a:xfrm>
            <a:prstGeom prst="rect">
              <a:avLst/>
            </a:prstGeom>
            <a:noFill/>
            <a:ln w="38100" cap="sq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000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484" name="Line 4"/>
            <p:cNvSpPr>
              <a:spLocks noChangeShapeType="1"/>
            </p:cNvSpPr>
            <p:nvPr/>
          </p:nvSpPr>
          <p:spPr bwMode="auto">
            <a:xfrm>
              <a:off x="2209800" y="457200"/>
              <a:ext cx="0" cy="3048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485" name="Line 5"/>
            <p:cNvSpPr>
              <a:spLocks noChangeShapeType="1"/>
            </p:cNvSpPr>
            <p:nvPr/>
          </p:nvSpPr>
          <p:spPr bwMode="auto">
            <a:xfrm>
              <a:off x="2590800" y="457200"/>
              <a:ext cx="0" cy="3048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486" name="Line 6"/>
            <p:cNvSpPr>
              <a:spLocks noChangeShapeType="1"/>
            </p:cNvSpPr>
            <p:nvPr/>
          </p:nvSpPr>
          <p:spPr bwMode="auto">
            <a:xfrm>
              <a:off x="2971800" y="457200"/>
              <a:ext cx="0" cy="3048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487" name="Line 7"/>
            <p:cNvSpPr>
              <a:spLocks noChangeShapeType="1"/>
            </p:cNvSpPr>
            <p:nvPr/>
          </p:nvSpPr>
          <p:spPr bwMode="auto">
            <a:xfrm>
              <a:off x="3352800" y="457200"/>
              <a:ext cx="0" cy="3048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488" name="Line 8"/>
            <p:cNvSpPr>
              <a:spLocks noChangeShapeType="1"/>
            </p:cNvSpPr>
            <p:nvPr/>
          </p:nvSpPr>
          <p:spPr bwMode="auto">
            <a:xfrm>
              <a:off x="3733800" y="457200"/>
              <a:ext cx="0" cy="3048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489" name="Line 9"/>
            <p:cNvSpPr>
              <a:spLocks noChangeShapeType="1"/>
            </p:cNvSpPr>
            <p:nvPr/>
          </p:nvSpPr>
          <p:spPr bwMode="auto">
            <a:xfrm>
              <a:off x="4191000" y="457200"/>
              <a:ext cx="0" cy="30480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490" name="Line 10"/>
            <p:cNvSpPr>
              <a:spLocks noChangeShapeType="1"/>
            </p:cNvSpPr>
            <p:nvPr/>
          </p:nvSpPr>
          <p:spPr bwMode="auto">
            <a:xfrm>
              <a:off x="4495800" y="457200"/>
              <a:ext cx="0" cy="3048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491" name="Line 11"/>
            <p:cNvSpPr>
              <a:spLocks noChangeShapeType="1"/>
            </p:cNvSpPr>
            <p:nvPr/>
          </p:nvSpPr>
          <p:spPr bwMode="auto">
            <a:xfrm>
              <a:off x="4800600" y="457200"/>
              <a:ext cx="0" cy="3048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492" name="Line 12"/>
            <p:cNvSpPr>
              <a:spLocks noChangeShapeType="1"/>
            </p:cNvSpPr>
            <p:nvPr/>
          </p:nvSpPr>
          <p:spPr bwMode="auto">
            <a:xfrm>
              <a:off x="5181600" y="457200"/>
              <a:ext cx="0" cy="3048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493" name="Line 13"/>
            <p:cNvSpPr>
              <a:spLocks noChangeShapeType="1"/>
            </p:cNvSpPr>
            <p:nvPr/>
          </p:nvSpPr>
          <p:spPr bwMode="auto">
            <a:xfrm>
              <a:off x="5562600" y="457200"/>
              <a:ext cx="0" cy="3048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494" name="Line 14"/>
            <p:cNvSpPr>
              <a:spLocks noChangeShapeType="1"/>
            </p:cNvSpPr>
            <p:nvPr/>
          </p:nvSpPr>
          <p:spPr bwMode="auto">
            <a:xfrm>
              <a:off x="6019800" y="457200"/>
              <a:ext cx="0" cy="3048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495" name="Line 15"/>
            <p:cNvSpPr>
              <a:spLocks noChangeShapeType="1"/>
            </p:cNvSpPr>
            <p:nvPr/>
          </p:nvSpPr>
          <p:spPr bwMode="auto">
            <a:xfrm>
              <a:off x="4191000" y="457200"/>
              <a:ext cx="0" cy="3048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496" name="Rectangle 16"/>
            <p:cNvSpPr>
              <a:spLocks noChangeArrowheads="1"/>
            </p:cNvSpPr>
            <p:nvPr/>
          </p:nvSpPr>
          <p:spPr bwMode="auto">
            <a:xfrm>
              <a:off x="3733800" y="1371600"/>
              <a:ext cx="457200" cy="304800"/>
            </a:xfrm>
            <a:prstGeom prst="rect">
              <a:avLst/>
            </a:prstGeom>
            <a:solidFill>
              <a:srgbClr val="FFFFFF">
                <a:alpha val="70000"/>
              </a:srgbClr>
            </a:solidFill>
            <a:ln w="38100" cap="sq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497" name="Rectangle 17"/>
            <p:cNvSpPr>
              <a:spLocks noChangeArrowheads="1"/>
            </p:cNvSpPr>
            <p:nvPr/>
          </p:nvSpPr>
          <p:spPr bwMode="auto">
            <a:xfrm>
              <a:off x="1828800" y="3048000"/>
              <a:ext cx="4876800" cy="381000"/>
            </a:xfrm>
            <a:prstGeom prst="rect">
              <a:avLst/>
            </a:prstGeom>
            <a:solidFill>
              <a:srgbClr val="66FF33">
                <a:alpha val="70000"/>
              </a:srgbClr>
            </a:solidFill>
            <a:ln w="38100" cap="sq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498" name="Line 18"/>
            <p:cNvSpPr>
              <a:spLocks noChangeShapeType="1"/>
            </p:cNvSpPr>
            <p:nvPr/>
          </p:nvSpPr>
          <p:spPr bwMode="auto">
            <a:xfrm>
              <a:off x="3733800" y="3048000"/>
              <a:ext cx="0" cy="3810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499" name="Line 19"/>
            <p:cNvSpPr>
              <a:spLocks noChangeShapeType="1"/>
            </p:cNvSpPr>
            <p:nvPr/>
          </p:nvSpPr>
          <p:spPr bwMode="auto">
            <a:xfrm>
              <a:off x="4191000" y="3048000"/>
              <a:ext cx="0" cy="3810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500" name="Rectangle 20"/>
            <p:cNvSpPr>
              <a:spLocks noChangeArrowheads="1"/>
            </p:cNvSpPr>
            <p:nvPr/>
          </p:nvSpPr>
          <p:spPr bwMode="auto">
            <a:xfrm>
              <a:off x="3733800" y="3048000"/>
              <a:ext cx="457200" cy="381000"/>
            </a:xfrm>
            <a:prstGeom prst="rect">
              <a:avLst/>
            </a:prstGeom>
            <a:solidFill>
              <a:srgbClr val="FFFFFF">
                <a:alpha val="7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501" name="Rectangle 21"/>
            <p:cNvSpPr>
              <a:spLocks noChangeArrowheads="1"/>
            </p:cNvSpPr>
            <p:nvPr/>
          </p:nvSpPr>
          <p:spPr bwMode="auto">
            <a:xfrm>
              <a:off x="4191000" y="3048000"/>
              <a:ext cx="2514600" cy="381000"/>
            </a:xfrm>
            <a:prstGeom prst="rect">
              <a:avLst/>
            </a:prstGeom>
            <a:solidFill>
              <a:schemeClr val="tx2">
                <a:alpha val="7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502" name="Line 22"/>
            <p:cNvSpPr>
              <a:spLocks noChangeShapeType="1"/>
            </p:cNvSpPr>
            <p:nvPr/>
          </p:nvSpPr>
          <p:spPr bwMode="auto">
            <a:xfrm>
              <a:off x="3352800" y="3048000"/>
              <a:ext cx="0" cy="3810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503" name="Line 23"/>
            <p:cNvSpPr>
              <a:spLocks noChangeShapeType="1"/>
            </p:cNvSpPr>
            <p:nvPr/>
          </p:nvSpPr>
          <p:spPr bwMode="auto">
            <a:xfrm>
              <a:off x="2209800" y="3048000"/>
              <a:ext cx="0" cy="3810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504" name="Line 24"/>
            <p:cNvSpPr>
              <a:spLocks noChangeShapeType="1"/>
            </p:cNvSpPr>
            <p:nvPr/>
          </p:nvSpPr>
          <p:spPr bwMode="auto">
            <a:xfrm>
              <a:off x="6248400" y="3048000"/>
              <a:ext cx="0" cy="3810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505" name="Line 25"/>
            <p:cNvSpPr>
              <a:spLocks noChangeShapeType="1"/>
            </p:cNvSpPr>
            <p:nvPr/>
          </p:nvSpPr>
          <p:spPr bwMode="auto">
            <a:xfrm flipV="1">
              <a:off x="3581400" y="3429000"/>
              <a:ext cx="0" cy="533400"/>
            </a:xfrm>
            <a:prstGeom prst="line">
              <a:avLst/>
            </a:prstGeom>
            <a:noFill/>
            <a:ln w="76200" cap="sq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506" name="Line 26"/>
            <p:cNvSpPr>
              <a:spLocks noChangeShapeType="1"/>
            </p:cNvSpPr>
            <p:nvPr/>
          </p:nvSpPr>
          <p:spPr bwMode="auto">
            <a:xfrm flipV="1">
              <a:off x="4495800" y="3429000"/>
              <a:ext cx="0" cy="533400"/>
            </a:xfrm>
            <a:prstGeom prst="line">
              <a:avLst/>
            </a:prstGeom>
            <a:noFill/>
            <a:ln w="76200" cap="sq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507" name="Line 27"/>
            <p:cNvSpPr>
              <a:spLocks noChangeShapeType="1"/>
            </p:cNvSpPr>
            <p:nvPr/>
          </p:nvSpPr>
          <p:spPr bwMode="auto">
            <a:xfrm>
              <a:off x="4648200" y="3048000"/>
              <a:ext cx="0" cy="3810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508" name="Line 28"/>
            <p:cNvSpPr>
              <a:spLocks noChangeShapeType="1"/>
            </p:cNvSpPr>
            <p:nvPr/>
          </p:nvSpPr>
          <p:spPr bwMode="auto">
            <a:xfrm>
              <a:off x="4038600" y="1524000"/>
              <a:ext cx="0" cy="1752600"/>
            </a:xfrm>
            <a:prstGeom prst="line">
              <a:avLst/>
            </a:prstGeom>
            <a:noFill/>
            <a:ln w="76200" cap="sq">
              <a:solidFill>
                <a:schemeClr val="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509" name="Freeform 29"/>
            <p:cNvSpPr/>
            <p:nvPr/>
          </p:nvSpPr>
          <p:spPr bwMode="auto">
            <a:xfrm>
              <a:off x="939800" y="609600"/>
              <a:ext cx="2946400" cy="914400"/>
            </a:xfrm>
            <a:custGeom>
              <a:avLst/>
              <a:gdLst>
                <a:gd name="T0" fmla="*/ 656 w 1856"/>
                <a:gd name="T1" fmla="*/ 0 h 576"/>
                <a:gd name="T2" fmla="*/ 224 w 1856"/>
                <a:gd name="T3" fmla="*/ 144 h 576"/>
                <a:gd name="T4" fmla="*/ 128 w 1856"/>
                <a:gd name="T5" fmla="*/ 432 h 576"/>
                <a:gd name="T6" fmla="*/ 992 w 1856"/>
                <a:gd name="T7" fmla="*/ 528 h 576"/>
                <a:gd name="T8" fmla="*/ 1856 w 1856"/>
                <a:gd name="T9" fmla="*/ 57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6" h="576">
                  <a:moveTo>
                    <a:pt x="656" y="0"/>
                  </a:moveTo>
                  <a:cubicBezTo>
                    <a:pt x="484" y="36"/>
                    <a:pt x="312" y="72"/>
                    <a:pt x="224" y="144"/>
                  </a:cubicBezTo>
                  <a:cubicBezTo>
                    <a:pt x="136" y="216"/>
                    <a:pt x="0" y="368"/>
                    <a:pt x="128" y="432"/>
                  </a:cubicBezTo>
                  <a:cubicBezTo>
                    <a:pt x="256" y="496"/>
                    <a:pt x="704" y="504"/>
                    <a:pt x="992" y="528"/>
                  </a:cubicBezTo>
                  <a:cubicBezTo>
                    <a:pt x="1280" y="552"/>
                    <a:pt x="1712" y="568"/>
                    <a:pt x="1856" y="576"/>
                  </a:cubicBezTo>
                </a:path>
              </a:pathLst>
            </a:custGeom>
            <a:noFill/>
            <a:ln w="76200" cap="sq" cmpd="sng">
              <a:solidFill>
                <a:schemeClr val="hlink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000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510" name="Rectangle 30"/>
            <p:cNvSpPr>
              <a:spLocks noChangeArrowheads="1"/>
            </p:cNvSpPr>
            <p:nvPr/>
          </p:nvSpPr>
          <p:spPr bwMode="auto">
            <a:xfrm>
              <a:off x="1828800" y="4724400"/>
              <a:ext cx="1143000" cy="381000"/>
            </a:xfrm>
            <a:prstGeom prst="rect">
              <a:avLst/>
            </a:prstGeom>
            <a:solidFill>
              <a:srgbClr val="66FF33">
                <a:alpha val="70000"/>
              </a:srgbClr>
            </a:solidFill>
            <a:ln w="38100" cap="sq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511" name="Rectangle 31"/>
            <p:cNvSpPr>
              <a:spLocks noChangeArrowheads="1"/>
            </p:cNvSpPr>
            <p:nvPr/>
          </p:nvSpPr>
          <p:spPr bwMode="auto">
            <a:xfrm>
              <a:off x="3886200" y="4724400"/>
              <a:ext cx="457200" cy="381000"/>
            </a:xfrm>
            <a:prstGeom prst="rect">
              <a:avLst/>
            </a:prstGeom>
            <a:solidFill>
              <a:srgbClr val="FFFFFF">
                <a:alpha val="70000"/>
              </a:srgbClr>
            </a:solidFill>
            <a:ln w="38100" cap="sq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516" name="Rectangle 36"/>
            <p:cNvSpPr>
              <a:spLocks noChangeArrowheads="1"/>
            </p:cNvSpPr>
            <p:nvPr/>
          </p:nvSpPr>
          <p:spPr bwMode="auto">
            <a:xfrm>
              <a:off x="939800" y="4724400"/>
              <a:ext cx="889000" cy="381000"/>
            </a:xfrm>
            <a:prstGeom prst="rect">
              <a:avLst/>
            </a:prstGeom>
            <a:solidFill>
              <a:srgbClr val="66FF33">
                <a:alpha val="70000"/>
              </a:srgbClr>
            </a:solidFill>
            <a:ln w="38100" cap="sq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517" name="Line 37"/>
            <p:cNvSpPr>
              <a:spLocks noChangeShapeType="1"/>
            </p:cNvSpPr>
            <p:nvPr/>
          </p:nvSpPr>
          <p:spPr bwMode="auto">
            <a:xfrm>
              <a:off x="1403350" y="4724400"/>
              <a:ext cx="0" cy="3810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518" name="Line 38"/>
            <p:cNvSpPr>
              <a:spLocks noChangeShapeType="1"/>
            </p:cNvSpPr>
            <p:nvPr/>
          </p:nvSpPr>
          <p:spPr bwMode="auto">
            <a:xfrm>
              <a:off x="2209800" y="4724400"/>
              <a:ext cx="0" cy="3810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519" name="Line 39"/>
            <p:cNvSpPr>
              <a:spLocks noChangeShapeType="1"/>
            </p:cNvSpPr>
            <p:nvPr/>
          </p:nvSpPr>
          <p:spPr bwMode="auto">
            <a:xfrm>
              <a:off x="2590800" y="4724400"/>
              <a:ext cx="0" cy="3810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520" name="Line 40"/>
            <p:cNvSpPr>
              <a:spLocks noChangeShapeType="1"/>
            </p:cNvSpPr>
            <p:nvPr/>
          </p:nvSpPr>
          <p:spPr bwMode="auto">
            <a:xfrm>
              <a:off x="5562600" y="4724400"/>
              <a:ext cx="0" cy="3810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521" name="Line 41"/>
            <p:cNvSpPr>
              <a:spLocks noChangeShapeType="1"/>
            </p:cNvSpPr>
            <p:nvPr/>
          </p:nvSpPr>
          <p:spPr bwMode="auto">
            <a:xfrm>
              <a:off x="6019800" y="4724400"/>
              <a:ext cx="0" cy="3810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522" name="Rectangle 42"/>
            <p:cNvSpPr>
              <a:spLocks noChangeArrowheads="1"/>
            </p:cNvSpPr>
            <p:nvPr/>
          </p:nvSpPr>
          <p:spPr bwMode="auto">
            <a:xfrm>
              <a:off x="5181600" y="4724400"/>
              <a:ext cx="2703513" cy="381000"/>
            </a:xfrm>
            <a:prstGeom prst="rect">
              <a:avLst/>
            </a:prstGeom>
            <a:solidFill>
              <a:schemeClr val="tx2">
                <a:alpha val="70000"/>
              </a:schemeClr>
            </a:solidFill>
            <a:ln w="38100" cap="sq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523" name="Line 43"/>
            <p:cNvSpPr>
              <a:spLocks noChangeShapeType="1"/>
            </p:cNvSpPr>
            <p:nvPr/>
          </p:nvSpPr>
          <p:spPr bwMode="auto">
            <a:xfrm>
              <a:off x="5562600" y="4724400"/>
              <a:ext cx="0" cy="3810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524" name="Line 44"/>
            <p:cNvSpPr>
              <a:spLocks noChangeShapeType="1"/>
            </p:cNvSpPr>
            <p:nvPr/>
          </p:nvSpPr>
          <p:spPr bwMode="auto">
            <a:xfrm>
              <a:off x="6553200" y="4724400"/>
              <a:ext cx="0" cy="3810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525" name="Line 45"/>
            <p:cNvSpPr>
              <a:spLocks noChangeShapeType="1"/>
            </p:cNvSpPr>
            <p:nvPr/>
          </p:nvSpPr>
          <p:spPr bwMode="auto">
            <a:xfrm>
              <a:off x="7019925" y="4724400"/>
              <a:ext cx="0" cy="3810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4526" name="Line 46"/>
            <p:cNvSpPr>
              <a:spLocks noChangeShapeType="1"/>
            </p:cNvSpPr>
            <p:nvPr/>
          </p:nvSpPr>
          <p:spPr bwMode="auto">
            <a:xfrm>
              <a:off x="7380288" y="4724400"/>
              <a:ext cx="0" cy="3810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457200"/>
              <a:endParaRPr lang="en-US">
                <a:solidFill>
                  <a:prstClr val="black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" name="TextBox 1"/>
                <p:cNvSpPr txBox="1"/>
                <p:nvPr/>
              </p:nvSpPr>
              <p:spPr>
                <a:xfrm>
                  <a:off x="3037055" y="4674513"/>
                  <a:ext cx="75448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45720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</m:oMath>
                    </m:oMathPara>
                  </a14:m>
                  <a:endParaRPr lang="en-US" sz="2800" dirty="0">
                    <a:solidFill>
                      <a:prstClr val="black"/>
                    </a:solidFill>
                  </a:endParaRPr>
                </a:p>
              </p:txBody>
            </p:sp>
          </mc:Choice>
          <mc:Fallback>
            <p:sp>
              <p:nvSpPr>
                <p:cNvPr id="2" name="TextBox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7055" y="4674513"/>
                  <a:ext cx="754488" cy="430887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Box 2"/>
                <p:cNvSpPr txBox="1"/>
                <p:nvPr/>
              </p:nvSpPr>
              <p:spPr>
                <a:xfrm>
                  <a:off x="4591050" y="4612957"/>
                  <a:ext cx="410369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defTabSz="45720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 sz="3200" dirty="0">
                    <a:solidFill>
                      <a:prstClr val="black"/>
                    </a:solidFill>
                  </a:endParaRPr>
                </a:p>
              </p:txBody>
            </p:sp>
          </mc:Choice>
          <mc:Fallback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1050" y="4612957"/>
                  <a:ext cx="410369" cy="492443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Rectangle 3"/>
            <p:cNvSpPr/>
            <p:nvPr/>
          </p:nvSpPr>
          <p:spPr>
            <a:xfrm>
              <a:off x="4384980" y="1351002"/>
              <a:ext cx="31771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457200">
                <a:buFont typeface="Wingdings" panose="05000000000000000000" pitchFamily="2" charset="2"/>
                <a:buNone/>
              </a:pPr>
              <a:r>
                <a:rPr lang="en-US" altLang="zh-CN" dirty="0">
                  <a:solidFill>
                    <a:prstClr val="black"/>
                  </a:solidFill>
                </a:rPr>
                <a:t>k</a:t>
              </a:r>
              <a:endParaRPr lang="en-US" altLang="zh-CN" dirty="0">
                <a:solidFill>
                  <a:prstClr val="black"/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898650" y="729734"/>
              <a:ext cx="2888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457200">
                <a:buFont typeface="Wingdings" panose="05000000000000000000" pitchFamily="2" charset="2"/>
                <a:buNone/>
              </a:pPr>
              <a:r>
                <a:rPr lang="en-US" altLang="zh-CN" dirty="0">
                  <a:solidFill>
                    <a:prstClr val="black"/>
                  </a:solidFill>
                </a:rPr>
                <a:t>z</a:t>
              </a:r>
              <a:endParaRPr lang="en-US" altLang="zh-CN" dirty="0">
                <a:solidFill>
                  <a:prstClr val="black"/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215640" y="799980"/>
              <a:ext cx="31451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457200">
                <a:buFont typeface="Wingdings" panose="05000000000000000000" pitchFamily="2" charset="2"/>
                <a:buNone/>
              </a:pPr>
              <a:r>
                <a:rPr lang="en-US" altLang="zh-CN" dirty="0">
                  <a:solidFill>
                    <a:prstClr val="black"/>
                  </a:solidFill>
                </a:rPr>
                <a:t>y</a:t>
              </a:r>
              <a:endParaRPr lang="en-US" altLang="zh-CN" dirty="0">
                <a:solidFill>
                  <a:prstClr val="black"/>
                </a:solidFill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6334795" y="3416300"/>
              <a:ext cx="31451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457200">
                <a:buFont typeface="Wingdings" panose="05000000000000000000" pitchFamily="2" charset="2"/>
                <a:buNone/>
              </a:pPr>
              <a:r>
                <a:rPr lang="en-US" altLang="zh-CN" dirty="0">
                  <a:solidFill>
                    <a:prstClr val="black"/>
                  </a:solidFill>
                </a:rPr>
                <a:t>y</a:t>
              </a:r>
              <a:endParaRPr lang="en-US" altLang="zh-CN" dirty="0">
                <a:solidFill>
                  <a:prstClr val="black"/>
                </a:solidFill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844738" y="3466980"/>
              <a:ext cx="2888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457200">
                <a:buFont typeface="Wingdings" panose="05000000000000000000" pitchFamily="2" charset="2"/>
                <a:buNone/>
              </a:pPr>
              <a:r>
                <a:rPr lang="en-US" altLang="zh-CN" dirty="0">
                  <a:solidFill>
                    <a:prstClr val="black"/>
                  </a:solidFill>
                </a:rPr>
                <a:t>z</a:t>
              </a:r>
              <a:endParaRPr lang="en-US" altLang="zh-CN" dirty="0">
                <a:solidFill>
                  <a:prstClr val="black"/>
                </a:solidFill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285485" y="4006850"/>
              <a:ext cx="59182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457200">
                <a:buFont typeface="Wingdings" panose="05000000000000000000" pitchFamily="2" charset="2"/>
                <a:buNone/>
              </a:pPr>
              <a:r>
                <a:rPr lang="en-US" altLang="zh-CN" dirty="0">
                  <a:solidFill>
                    <a:prstClr val="black"/>
                  </a:solidFill>
                </a:rPr>
                <a:t>m-1</a:t>
              </a:r>
              <a:endParaRPr lang="en-US" altLang="zh-CN" dirty="0">
                <a:solidFill>
                  <a:prstClr val="black"/>
                </a:solidFill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247923" y="4006850"/>
              <a:ext cx="6639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457200">
                <a:buFont typeface="Wingdings" panose="05000000000000000000" pitchFamily="2" charset="2"/>
                <a:buNone/>
              </a:pPr>
              <a:r>
                <a:rPr lang="en-US" altLang="zh-CN" dirty="0">
                  <a:solidFill>
                    <a:prstClr val="black"/>
                  </a:solidFill>
                </a:rPr>
                <a:t>m+1</a:t>
              </a:r>
              <a:endParaRPr lang="en-US" altLang="zh-CN" dirty="0">
                <a:solidFill>
                  <a:prstClr val="black"/>
                </a:solidFill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805958" y="3463409"/>
              <a:ext cx="38504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457200">
                <a:buFont typeface="Wingdings" panose="05000000000000000000" pitchFamily="2" charset="2"/>
                <a:buNone/>
              </a:pPr>
              <a:r>
                <a:rPr lang="en-US" altLang="zh-CN" dirty="0">
                  <a:solidFill>
                    <a:prstClr val="black"/>
                  </a:solidFill>
                </a:rPr>
                <a:t>m</a:t>
              </a:r>
              <a:endParaRPr lang="en-US" altLang="zh-CN" dirty="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快速排序的思路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609600" indent="-609600">
                  <a:buFont typeface="Wingdings" panose="05000000000000000000" pitchFamily="2" charset="2"/>
                  <a:buAutoNum type="arabicPeriod"/>
                </a:pPr>
                <a:r>
                  <a:rPr lang="zh-CN" altLang="en-US" dirty="0"/>
                  <a:t>将待排序的数据放入数组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中，下标从</a:t>
                </a:r>
                <a:r>
                  <a:rPr lang="en-US" altLang="zh-CN" dirty="0"/>
                  <a:t>z</a:t>
                </a:r>
                <a:r>
                  <a:rPr lang="zh-CN" altLang="en-US" dirty="0"/>
                  <a:t>到</a:t>
                </a:r>
                <a:r>
                  <a:rPr lang="en-US" altLang="zh-CN" dirty="0"/>
                  <a:t>y </a:t>
                </a:r>
                <a:r>
                  <a:rPr lang="zh-CN" altLang="en-US" dirty="0"/>
                  <a:t>；</a:t>
                </a:r>
                <a:endParaRPr lang="zh-CN" altLang="en-US" dirty="0"/>
              </a:p>
              <a:p>
                <a:pPr marL="609600" indent="-609600">
                  <a:buFont typeface="Wingdings" panose="05000000000000000000" pitchFamily="2" charset="2"/>
                  <a:buAutoNum type="arabicPeriod"/>
                </a:pPr>
                <a:r>
                  <a:rPr lang="zh-CN" altLang="en-US" dirty="0"/>
                  <a:t>取 </a:t>
                </a:r>
                <a:r>
                  <a:rPr lang="en-US" altLang="zh-CN" dirty="0"/>
                  <a:t>a[z] </a:t>
                </a:r>
                <a:r>
                  <a:rPr lang="zh-CN" altLang="en-US" dirty="0"/>
                  <a:t>放变量 </a:t>
                </a:r>
                <a:r>
                  <a:rPr lang="en-US" altLang="zh-CN" dirty="0"/>
                  <a:t>k </a:t>
                </a:r>
                <a:r>
                  <a:rPr lang="zh-CN" altLang="en-US" dirty="0"/>
                  <a:t>中，通过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分区处理</a:t>
                </a:r>
                <a:r>
                  <a:rPr lang="zh-CN" altLang="en-US" dirty="0"/>
                  <a:t>，为 </a:t>
                </a:r>
                <a:r>
                  <a:rPr lang="en-US" altLang="zh-CN" dirty="0"/>
                  <a:t>k </a:t>
                </a:r>
                <a:r>
                  <a:rPr lang="zh-CN" altLang="en-US" dirty="0"/>
                  <a:t>选择排序后应该在的位置，即</a:t>
                </a:r>
                <a:r>
                  <a:rPr lang="en-US" altLang="zh-CN" dirty="0"/>
                  <a:t>&gt;k</a:t>
                </a:r>
                <a:r>
                  <a:rPr lang="zh-CN" altLang="en-US" dirty="0"/>
                  <a:t>数放右边，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dirty="0"/>
                  <a:t>k</a:t>
                </a:r>
                <a:r>
                  <a:rPr lang="zh-CN" altLang="en-US" dirty="0"/>
                  <a:t>的数放左边。当 </a:t>
                </a:r>
                <a:r>
                  <a:rPr lang="en-US" altLang="zh-CN" dirty="0"/>
                  <a:t>k </a:t>
                </a:r>
                <a:r>
                  <a:rPr lang="zh-CN" altLang="en-US" dirty="0"/>
                  <a:t>到达最终位置后，由 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划分左右两个集合。然后再用同样的思路处理左集合与右集合。</a:t>
                </a:r>
                <a:endParaRPr lang="zh-CN" altLang="en-US" dirty="0"/>
              </a:p>
              <a:p>
                <a:pPr marL="609600" indent="-609600">
                  <a:buFont typeface="Wingdings" panose="05000000000000000000" pitchFamily="2" charset="2"/>
                  <a:buAutoNum type="arabicPeriod"/>
                </a:pPr>
                <a:r>
                  <a:rPr lang="zh-CN" altLang="en-US" dirty="0"/>
                  <a:t>令</a:t>
                </a:r>
                <a:r>
                  <a:rPr lang="en-US" altLang="zh-CN" dirty="0"/>
                  <a:t>sort( z ,y )</a:t>
                </a:r>
                <a:r>
                  <a:rPr lang="zh-CN" altLang="en-US" dirty="0"/>
                  <a:t>为将数组元素从下标为 </a:t>
                </a:r>
                <a:r>
                  <a:rPr lang="en-US" altLang="zh-CN" dirty="0"/>
                  <a:t>z </a:t>
                </a:r>
                <a:r>
                  <a:rPr lang="zh-CN" altLang="en-US" dirty="0"/>
                  <a:t>到下标为 </a:t>
                </a:r>
                <a:r>
                  <a:rPr lang="en-US" altLang="zh-CN" dirty="0"/>
                  <a:t>y </a:t>
                </a:r>
                <a:r>
                  <a:rPr lang="zh-CN" altLang="en-US" dirty="0"/>
                  <a:t>的 </a:t>
                </a:r>
                <a:r>
                  <a:rPr lang="en-US" altLang="zh-CN" dirty="0"/>
                  <a:t>y </a:t>
                </a:r>
                <a:r>
                  <a:rPr lang="en-US" altLang="zh-CN" dirty="0">
                    <a:latin typeface="Arial" panose="020B0604020202020204" pitchFamily="34" charset="0"/>
                  </a:rPr>
                  <a:t>–</a:t>
                </a:r>
                <a:r>
                  <a:rPr lang="en-US" altLang="zh-CN" dirty="0"/>
                  <a:t> z + 1 </a:t>
                </a:r>
                <a:r>
                  <a:rPr lang="zh-CN" altLang="en-US" dirty="0"/>
                  <a:t>个元素从小到大排序。</a:t>
                </a:r>
                <a:endParaRPr lang="zh-CN" alt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2" t="-9" r="5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Oval 2"/>
          <p:cNvSpPr>
            <a:spLocks noChangeArrowheads="1"/>
          </p:cNvSpPr>
          <p:nvPr/>
        </p:nvSpPr>
        <p:spPr bwMode="auto">
          <a:xfrm>
            <a:off x="863600" y="1366838"/>
            <a:ext cx="755650" cy="517525"/>
          </a:xfrm>
          <a:prstGeom prst="ellipse">
            <a:avLst/>
          </a:prstGeom>
          <a:solidFill>
            <a:schemeClr val="hlink">
              <a:alpha val="7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08579" name="Oval 3"/>
          <p:cNvSpPr>
            <a:spLocks noChangeArrowheads="1"/>
          </p:cNvSpPr>
          <p:nvPr/>
        </p:nvSpPr>
        <p:spPr bwMode="auto">
          <a:xfrm>
            <a:off x="5329238" y="4351338"/>
            <a:ext cx="755650" cy="517525"/>
          </a:xfrm>
          <a:prstGeom prst="ellipse">
            <a:avLst/>
          </a:prstGeom>
          <a:solidFill>
            <a:schemeClr val="hlink">
              <a:alpha val="7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408580" name="Group 4"/>
          <p:cNvGraphicFramePr>
            <a:graphicFrameLocks noGrp="1"/>
          </p:cNvGraphicFramePr>
          <p:nvPr>
            <p:ph/>
          </p:nvPr>
        </p:nvGraphicFramePr>
        <p:xfrm>
          <a:off x="457200" y="1409700"/>
          <a:ext cx="8229600" cy="518160"/>
        </p:xfrm>
        <a:graphic>
          <a:graphicData uri="http://schemas.openxmlformats.org/drawingml/2006/table">
            <a:tbl>
              <a:tblPr/>
              <a:tblGrid>
                <a:gridCol w="1176338"/>
                <a:gridCol w="1174750"/>
                <a:gridCol w="1176337"/>
                <a:gridCol w="1174750"/>
                <a:gridCol w="1176338"/>
                <a:gridCol w="1174750"/>
                <a:gridCol w="1176337"/>
              </a:tblGrid>
              <a:tr h="5064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08598" name="Text Box 22"/>
          <p:cNvSpPr txBox="1">
            <a:spLocks noChangeArrowheads="1"/>
          </p:cNvSpPr>
          <p:nvPr/>
        </p:nvSpPr>
        <p:spPr bwMode="auto">
          <a:xfrm>
            <a:off x="144463" y="1366838"/>
            <a:ext cx="395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08599" name="Group 23"/>
          <p:cNvGraphicFramePr>
            <a:graphicFrameLocks noGrp="1"/>
          </p:cNvGraphicFramePr>
          <p:nvPr/>
        </p:nvGraphicFramePr>
        <p:xfrm>
          <a:off x="685800" y="1981200"/>
          <a:ext cx="7772400" cy="490538"/>
        </p:xfrm>
        <a:graphic>
          <a:graphicData uri="http://schemas.openxmlformats.org/drawingml/2006/table">
            <a:tbl>
              <a:tblPr/>
              <a:tblGrid>
                <a:gridCol w="1111250"/>
                <a:gridCol w="1109663"/>
                <a:gridCol w="1111250"/>
                <a:gridCol w="1108075"/>
                <a:gridCol w="1111250"/>
                <a:gridCol w="1109662"/>
                <a:gridCol w="1111250"/>
              </a:tblGrid>
              <a:tr h="4905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08629" name="Text Box 53"/>
          <p:cNvSpPr txBox="1">
            <a:spLocks noChangeArrowheads="1"/>
          </p:cNvSpPr>
          <p:nvPr/>
        </p:nvSpPr>
        <p:spPr bwMode="auto">
          <a:xfrm>
            <a:off x="863600" y="862013"/>
            <a:ext cx="395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08630" name="Text Box 54"/>
          <p:cNvSpPr txBox="1">
            <a:spLocks noChangeArrowheads="1"/>
          </p:cNvSpPr>
          <p:nvPr/>
        </p:nvSpPr>
        <p:spPr bwMode="auto">
          <a:xfrm>
            <a:off x="7993063" y="836613"/>
            <a:ext cx="395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08631" name="Line 55"/>
          <p:cNvSpPr>
            <a:spLocks noChangeShapeType="1"/>
          </p:cNvSpPr>
          <p:nvPr/>
        </p:nvSpPr>
        <p:spPr bwMode="auto">
          <a:xfrm>
            <a:off x="1258888" y="862013"/>
            <a:ext cx="0" cy="43180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08632" name="Line 56"/>
          <p:cNvSpPr>
            <a:spLocks noChangeShapeType="1"/>
          </p:cNvSpPr>
          <p:nvPr/>
        </p:nvSpPr>
        <p:spPr bwMode="auto">
          <a:xfrm>
            <a:off x="7885113" y="862013"/>
            <a:ext cx="0" cy="43180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408633" name="Group 57"/>
          <p:cNvGraphicFramePr>
            <a:graphicFrameLocks noGrp="1"/>
          </p:cNvGraphicFramePr>
          <p:nvPr/>
        </p:nvGraphicFramePr>
        <p:xfrm>
          <a:off x="687388" y="4391025"/>
          <a:ext cx="7772400" cy="518160"/>
        </p:xfrm>
        <a:graphic>
          <a:graphicData uri="http://schemas.openxmlformats.org/drawingml/2006/table">
            <a:tbl>
              <a:tblPr/>
              <a:tblGrid>
                <a:gridCol w="1111250"/>
                <a:gridCol w="1109662"/>
                <a:gridCol w="1111250"/>
                <a:gridCol w="1108075"/>
                <a:gridCol w="1111250"/>
                <a:gridCol w="1109663"/>
                <a:gridCol w="1111250"/>
              </a:tblGrid>
              <a:tr h="5064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08651" name="Text Box 75"/>
          <p:cNvSpPr txBox="1">
            <a:spLocks noChangeArrowheads="1"/>
          </p:cNvSpPr>
          <p:nvPr/>
        </p:nvSpPr>
        <p:spPr bwMode="auto">
          <a:xfrm>
            <a:off x="146050" y="4391025"/>
            <a:ext cx="395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08652" name="Group 76"/>
          <p:cNvGraphicFramePr>
            <a:graphicFrameLocks noGrp="1"/>
          </p:cNvGraphicFramePr>
          <p:nvPr/>
        </p:nvGraphicFramePr>
        <p:xfrm>
          <a:off x="687388" y="5026025"/>
          <a:ext cx="7772400" cy="490538"/>
        </p:xfrm>
        <a:graphic>
          <a:graphicData uri="http://schemas.openxmlformats.org/drawingml/2006/table">
            <a:tbl>
              <a:tblPr/>
              <a:tblGrid>
                <a:gridCol w="1111250"/>
                <a:gridCol w="1109662"/>
                <a:gridCol w="1111250"/>
                <a:gridCol w="1108075"/>
                <a:gridCol w="1111250"/>
                <a:gridCol w="1109663"/>
                <a:gridCol w="1111250"/>
              </a:tblGrid>
              <a:tr h="4905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08682" name="Text Box 106"/>
          <p:cNvSpPr txBox="1">
            <a:spLocks noChangeArrowheads="1"/>
          </p:cNvSpPr>
          <p:nvPr/>
        </p:nvSpPr>
        <p:spPr bwMode="auto">
          <a:xfrm>
            <a:off x="5761038" y="3886200"/>
            <a:ext cx="395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m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08683" name="Line 107"/>
          <p:cNvSpPr>
            <a:spLocks noChangeShapeType="1"/>
          </p:cNvSpPr>
          <p:nvPr/>
        </p:nvSpPr>
        <p:spPr bwMode="auto">
          <a:xfrm>
            <a:off x="5651500" y="3886200"/>
            <a:ext cx="0" cy="43180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08684" name="Text Box 108"/>
          <p:cNvSpPr txBox="1">
            <a:spLocks noChangeArrowheads="1"/>
          </p:cNvSpPr>
          <p:nvPr/>
        </p:nvSpPr>
        <p:spPr bwMode="auto">
          <a:xfrm>
            <a:off x="107950" y="5013325"/>
            <a:ext cx="11509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zh-CN" altLang="en-US" sz="20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下标：</a:t>
            </a:r>
            <a:endParaRPr kumimoji="1" lang="zh-CN" altLang="en-US" sz="20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08685" name="Text Box 109"/>
          <p:cNvSpPr txBox="1">
            <a:spLocks noChangeArrowheads="1"/>
          </p:cNvSpPr>
          <p:nvPr/>
        </p:nvSpPr>
        <p:spPr bwMode="auto">
          <a:xfrm>
            <a:off x="107950" y="1989138"/>
            <a:ext cx="11509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zh-CN" altLang="en-US" sz="20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下标：</a:t>
            </a:r>
            <a:endParaRPr kumimoji="1" lang="zh-CN" altLang="en-US" sz="20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08686" name="Line 110"/>
          <p:cNvSpPr>
            <a:spLocks noChangeShapeType="1"/>
          </p:cNvSpPr>
          <p:nvPr/>
        </p:nvSpPr>
        <p:spPr bwMode="auto">
          <a:xfrm flipV="1">
            <a:off x="1258888" y="5516563"/>
            <a:ext cx="0" cy="649287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08687" name="Text Box 111"/>
          <p:cNvSpPr txBox="1">
            <a:spLocks noChangeArrowheads="1"/>
          </p:cNvSpPr>
          <p:nvPr/>
        </p:nvSpPr>
        <p:spPr bwMode="auto">
          <a:xfrm>
            <a:off x="1152525" y="6211888"/>
            <a:ext cx="395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08688" name="Line 112"/>
          <p:cNvSpPr>
            <a:spLocks noChangeShapeType="1"/>
          </p:cNvSpPr>
          <p:nvPr/>
        </p:nvSpPr>
        <p:spPr bwMode="auto">
          <a:xfrm flipV="1">
            <a:off x="4570413" y="5516563"/>
            <a:ext cx="0" cy="649287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08689" name="Text Box 113"/>
          <p:cNvSpPr txBox="1">
            <a:spLocks noChangeArrowheads="1"/>
          </p:cNvSpPr>
          <p:nvPr/>
        </p:nvSpPr>
        <p:spPr bwMode="auto">
          <a:xfrm>
            <a:off x="4464050" y="6211888"/>
            <a:ext cx="865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m-1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08690" name="Line 114"/>
          <p:cNvSpPr>
            <a:spLocks noChangeShapeType="1"/>
          </p:cNvSpPr>
          <p:nvPr/>
        </p:nvSpPr>
        <p:spPr bwMode="auto">
          <a:xfrm flipV="1">
            <a:off x="7918450" y="5516563"/>
            <a:ext cx="0" cy="649287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08691" name="Text Box 115"/>
          <p:cNvSpPr txBox="1">
            <a:spLocks noChangeArrowheads="1"/>
          </p:cNvSpPr>
          <p:nvPr/>
        </p:nvSpPr>
        <p:spPr bwMode="auto">
          <a:xfrm>
            <a:off x="7812088" y="6211888"/>
            <a:ext cx="395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08692" name="Line 116"/>
          <p:cNvSpPr>
            <a:spLocks noChangeShapeType="1"/>
          </p:cNvSpPr>
          <p:nvPr/>
        </p:nvSpPr>
        <p:spPr bwMode="auto">
          <a:xfrm flipV="1">
            <a:off x="6837363" y="5516563"/>
            <a:ext cx="0" cy="649287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08693" name="Text Box 117"/>
          <p:cNvSpPr txBox="1">
            <a:spLocks noChangeArrowheads="1"/>
          </p:cNvSpPr>
          <p:nvPr/>
        </p:nvSpPr>
        <p:spPr bwMode="auto">
          <a:xfrm>
            <a:off x="6731000" y="6211888"/>
            <a:ext cx="865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m+1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08694" name="Freeform 118"/>
          <p:cNvSpPr/>
          <p:nvPr/>
        </p:nvSpPr>
        <p:spPr bwMode="auto">
          <a:xfrm>
            <a:off x="1403350" y="1989138"/>
            <a:ext cx="4105275" cy="2232025"/>
          </a:xfrm>
          <a:custGeom>
            <a:avLst/>
            <a:gdLst>
              <a:gd name="T0" fmla="*/ 0 w 2586"/>
              <a:gd name="T1" fmla="*/ 0 h 1406"/>
              <a:gd name="T2" fmla="*/ 545 w 2586"/>
              <a:gd name="T3" fmla="*/ 862 h 1406"/>
              <a:gd name="T4" fmla="*/ 2223 w 2586"/>
              <a:gd name="T5" fmla="*/ 816 h 1406"/>
              <a:gd name="T6" fmla="*/ 2586 w 2586"/>
              <a:gd name="T7" fmla="*/ 1406 h 1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86" h="1406">
                <a:moveTo>
                  <a:pt x="0" y="0"/>
                </a:moveTo>
                <a:cubicBezTo>
                  <a:pt x="87" y="363"/>
                  <a:pt x="175" y="726"/>
                  <a:pt x="545" y="862"/>
                </a:cubicBezTo>
                <a:cubicBezTo>
                  <a:pt x="915" y="998"/>
                  <a:pt x="1883" y="725"/>
                  <a:pt x="2223" y="816"/>
                </a:cubicBezTo>
                <a:cubicBezTo>
                  <a:pt x="2563" y="907"/>
                  <a:pt x="2574" y="1156"/>
                  <a:pt x="2586" y="1406"/>
                </a:cubicBezTo>
              </a:path>
            </a:pathLst>
          </a:custGeom>
          <a:noFill/>
          <a:ln w="25400" cap="sq" cmpd="sng">
            <a:solidFill>
              <a:schemeClr val="tx2"/>
            </a:solidFill>
            <a:prstDash val="solid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4373" y="1560174"/>
            <a:ext cx="6815253" cy="4004097"/>
          </a:xfrm>
          <a:prstGeom prst="rect">
            <a:avLst/>
          </a:prstGeom>
        </p:spPr>
      </p:pic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快速排序的递归实现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0626" name="Group 2"/>
          <p:cNvGraphicFramePr>
            <a:graphicFrameLocks noGrp="1"/>
          </p:cNvGraphicFramePr>
          <p:nvPr/>
        </p:nvGraphicFramePr>
        <p:xfrm>
          <a:off x="685800" y="3644900"/>
          <a:ext cx="7772400" cy="518160"/>
        </p:xfrm>
        <a:graphic>
          <a:graphicData uri="http://schemas.openxmlformats.org/drawingml/2006/table">
            <a:tbl>
              <a:tblPr/>
              <a:tblGrid>
                <a:gridCol w="1111250"/>
                <a:gridCol w="1109663"/>
                <a:gridCol w="1111250"/>
                <a:gridCol w="1108075"/>
                <a:gridCol w="1111250"/>
                <a:gridCol w="1109662"/>
                <a:gridCol w="1111250"/>
              </a:tblGrid>
              <a:tr h="5032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10644" name="Group 20"/>
          <p:cNvGraphicFramePr>
            <a:graphicFrameLocks noGrp="1"/>
          </p:cNvGraphicFramePr>
          <p:nvPr/>
        </p:nvGraphicFramePr>
        <p:xfrm>
          <a:off x="685800" y="4306888"/>
          <a:ext cx="7772400" cy="490538"/>
        </p:xfrm>
        <a:graphic>
          <a:graphicData uri="http://schemas.openxmlformats.org/drawingml/2006/table">
            <a:tbl>
              <a:tblPr/>
              <a:tblGrid>
                <a:gridCol w="1111250"/>
                <a:gridCol w="1109663"/>
                <a:gridCol w="1111250"/>
                <a:gridCol w="1108075"/>
                <a:gridCol w="1111250"/>
                <a:gridCol w="1109662"/>
                <a:gridCol w="1111250"/>
              </a:tblGrid>
              <a:tr h="4905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10674" name="Text Box 50"/>
          <p:cNvSpPr txBox="1">
            <a:spLocks noChangeArrowheads="1"/>
          </p:cNvSpPr>
          <p:nvPr/>
        </p:nvSpPr>
        <p:spPr bwMode="auto">
          <a:xfrm>
            <a:off x="863600" y="3167063"/>
            <a:ext cx="395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0675" name="Text Box 51"/>
          <p:cNvSpPr txBox="1">
            <a:spLocks noChangeArrowheads="1"/>
          </p:cNvSpPr>
          <p:nvPr/>
        </p:nvSpPr>
        <p:spPr bwMode="auto">
          <a:xfrm>
            <a:off x="7993063" y="3141663"/>
            <a:ext cx="395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0676" name="Line 52"/>
          <p:cNvSpPr>
            <a:spLocks noChangeShapeType="1"/>
          </p:cNvSpPr>
          <p:nvPr/>
        </p:nvSpPr>
        <p:spPr bwMode="auto">
          <a:xfrm>
            <a:off x="1258888" y="2781300"/>
            <a:ext cx="0" cy="817563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0677" name="Line 53"/>
          <p:cNvSpPr>
            <a:spLocks noChangeShapeType="1"/>
          </p:cNvSpPr>
          <p:nvPr/>
        </p:nvSpPr>
        <p:spPr bwMode="auto">
          <a:xfrm>
            <a:off x="7885113" y="2781300"/>
            <a:ext cx="0" cy="817563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0678" name="Text Box 54"/>
          <p:cNvSpPr txBox="1">
            <a:spLocks noChangeArrowheads="1"/>
          </p:cNvSpPr>
          <p:nvPr/>
        </p:nvSpPr>
        <p:spPr bwMode="auto">
          <a:xfrm>
            <a:off x="323850" y="1985963"/>
            <a:ext cx="652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10679" name="Group 55"/>
          <p:cNvGraphicFramePr>
            <a:graphicFrameLocks noGrp="1"/>
          </p:cNvGraphicFramePr>
          <p:nvPr/>
        </p:nvGraphicFramePr>
        <p:xfrm>
          <a:off x="684213" y="3644900"/>
          <a:ext cx="1112837" cy="518160"/>
        </p:xfrm>
        <a:graphic>
          <a:graphicData uri="http://schemas.openxmlformats.org/drawingml/2006/table">
            <a:tbl>
              <a:tblPr/>
              <a:tblGrid>
                <a:gridCol w="1112837"/>
              </a:tblGrid>
              <a:tr h="5048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0685" name="Group 61"/>
          <p:cNvGraphicFramePr>
            <a:graphicFrameLocks noGrp="1"/>
          </p:cNvGraphicFramePr>
          <p:nvPr/>
        </p:nvGraphicFramePr>
        <p:xfrm>
          <a:off x="1797050" y="3644900"/>
          <a:ext cx="1106488" cy="518160"/>
        </p:xfrm>
        <a:graphic>
          <a:graphicData uri="http://schemas.openxmlformats.org/drawingml/2006/table">
            <a:tbl>
              <a:tblPr/>
              <a:tblGrid>
                <a:gridCol w="1106488"/>
              </a:tblGrid>
              <a:tr h="5048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0691" name="Group 67"/>
          <p:cNvGraphicFramePr>
            <a:graphicFrameLocks noGrp="1"/>
          </p:cNvGraphicFramePr>
          <p:nvPr/>
        </p:nvGraphicFramePr>
        <p:xfrm>
          <a:off x="2903538" y="3644900"/>
          <a:ext cx="1106487" cy="518160"/>
        </p:xfrm>
        <a:graphic>
          <a:graphicData uri="http://schemas.openxmlformats.org/drawingml/2006/table">
            <a:tbl>
              <a:tblPr/>
              <a:tblGrid>
                <a:gridCol w="1106487"/>
              </a:tblGrid>
              <a:tr h="5175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0697" name="Group 73"/>
          <p:cNvGraphicFramePr>
            <a:graphicFrameLocks noGrp="1"/>
          </p:cNvGraphicFramePr>
          <p:nvPr/>
        </p:nvGraphicFramePr>
        <p:xfrm>
          <a:off x="4019550" y="3644900"/>
          <a:ext cx="1106488" cy="518160"/>
        </p:xfrm>
        <a:graphic>
          <a:graphicData uri="http://schemas.openxmlformats.org/drawingml/2006/table">
            <a:tbl>
              <a:tblPr/>
              <a:tblGrid>
                <a:gridCol w="1106488"/>
              </a:tblGrid>
              <a:tr h="5175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0703" name="Group 79"/>
          <p:cNvGraphicFramePr>
            <a:graphicFrameLocks noGrp="1"/>
          </p:cNvGraphicFramePr>
          <p:nvPr/>
        </p:nvGraphicFramePr>
        <p:xfrm>
          <a:off x="5126038" y="3644900"/>
          <a:ext cx="1106487" cy="518160"/>
        </p:xfrm>
        <a:graphic>
          <a:graphicData uri="http://schemas.openxmlformats.org/drawingml/2006/table">
            <a:tbl>
              <a:tblPr/>
              <a:tblGrid>
                <a:gridCol w="1106487"/>
              </a:tblGrid>
              <a:tr h="5048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0709" name="Group 85"/>
          <p:cNvGraphicFramePr>
            <a:graphicFrameLocks noGrp="1"/>
          </p:cNvGraphicFramePr>
          <p:nvPr/>
        </p:nvGraphicFramePr>
        <p:xfrm>
          <a:off x="6240463" y="3644900"/>
          <a:ext cx="1106487" cy="518160"/>
        </p:xfrm>
        <a:graphic>
          <a:graphicData uri="http://schemas.openxmlformats.org/drawingml/2006/table">
            <a:tbl>
              <a:tblPr/>
              <a:tblGrid>
                <a:gridCol w="1106487"/>
              </a:tblGrid>
              <a:tr h="5175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0715" name="Group 91"/>
          <p:cNvGraphicFramePr>
            <a:graphicFrameLocks noGrp="1"/>
          </p:cNvGraphicFramePr>
          <p:nvPr/>
        </p:nvGraphicFramePr>
        <p:xfrm>
          <a:off x="7343775" y="3644900"/>
          <a:ext cx="1103313" cy="518160"/>
        </p:xfrm>
        <a:graphic>
          <a:graphicData uri="http://schemas.openxmlformats.org/drawingml/2006/table">
            <a:tbl>
              <a:tblPr/>
              <a:tblGrid>
                <a:gridCol w="1103313"/>
              </a:tblGrid>
              <a:tr h="5175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0721" name="Group 97"/>
          <p:cNvGraphicFramePr>
            <a:graphicFrameLocks noGrp="1"/>
          </p:cNvGraphicFramePr>
          <p:nvPr/>
        </p:nvGraphicFramePr>
        <p:xfrm>
          <a:off x="650875" y="2001838"/>
          <a:ext cx="1106488" cy="518160"/>
        </p:xfrm>
        <a:graphic>
          <a:graphicData uri="http://schemas.openxmlformats.org/drawingml/2006/table">
            <a:tbl>
              <a:tblPr/>
              <a:tblGrid>
                <a:gridCol w="1106488"/>
              </a:tblGrid>
              <a:tr h="5143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10727" name="Text Box 103"/>
          <p:cNvSpPr txBox="1">
            <a:spLocks noChangeArrowheads="1"/>
          </p:cNvSpPr>
          <p:nvPr/>
        </p:nvSpPr>
        <p:spPr bwMode="auto">
          <a:xfrm>
            <a:off x="4594225" y="1773238"/>
            <a:ext cx="1201738" cy="579437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457200">
              <a:spcBef>
                <a:spcPct val="50000"/>
              </a:spcBef>
            </a:pPr>
            <a:r>
              <a:rPr kumimoji="1" lang="en-US" altLang="zh-CN" sz="3200">
                <a:solidFill>
                  <a:srgbClr val="E9E5D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5&gt;4</a:t>
            </a:r>
            <a:endParaRPr kumimoji="1" lang="en-US" altLang="zh-CN" sz="3200">
              <a:solidFill>
                <a:srgbClr val="E9E5D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0728" name="Text Box 104"/>
          <p:cNvSpPr txBox="1">
            <a:spLocks noChangeArrowheads="1"/>
          </p:cNvSpPr>
          <p:nvPr/>
        </p:nvSpPr>
        <p:spPr bwMode="auto">
          <a:xfrm>
            <a:off x="3417888" y="1773238"/>
            <a:ext cx="1201737" cy="579437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457200">
              <a:spcBef>
                <a:spcPct val="50000"/>
              </a:spcBef>
            </a:pPr>
            <a:r>
              <a:rPr kumimoji="1" lang="en-US" altLang="zh-CN" sz="3200">
                <a:solidFill>
                  <a:srgbClr val="E9E5D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5&gt;2</a:t>
            </a:r>
            <a:endParaRPr kumimoji="1" lang="en-US" altLang="zh-CN" sz="3200">
              <a:solidFill>
                <a:srgbClr val="E9E5D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0729" name="Text Box 105"/>
          <p:cNvSpPr txBox="1">
            <a:spLocks noChangeArrowheads="1"/>
          </p:cNvSpPr>
          <p:nvPr/>
        </p:nvSpPr>
        <p:spPr bwMode="auto">
          <a:xfrm>
            <a:off x="3417888" y="2001838"/>
            <a:ext cx="1201737" cy="579437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457200">
              <a:spcBef>
                <a:spcPct val="50000"/>
              </a:spcBef>
            </a:pPr>
            <a:r>
              <a:rPr kumimoji="1" lang="en-US" altLang="zh-CN" sz="3200">
                <a:solidFill>
                  <a:srgbClr val="E9E5D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5&lt;6</a:t>
            </a:r>
            <a:endParaRPr kumimoji="1" lang="en-US" altLang="zh-CN" sz="3200">
              <a:solidFill>
                <a:srgbClr val="E9E5D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0730" name="Text Box 106"/>
          <p:cNvSpPr txBox="1">
            <a:spLocks noChangeArrowheads="1"/>
          </p:cNvSpPr>
          <p:nvPr/>
        </p:nvSpPr>
        <p:spPr bwMode="auto">
          <a:xfrm>
            <a:off x="4594225" y="2001838"/>
            <a:ext cx="1201738" cy="579437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457200">
              <a:spcBef>
                <a:spcPct val="50000"/>
              </a:spcBef>
            </a:pPr>
            <a:r>
              <a:rPr kumimoji="1" lang="en-US" altLang="zh-CN" sz="3200">
                <a:solidFill>
                  <a:srgbClr val="E9E5D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5&gt;3</a:t>
            </a:r>
            <a:endParaRPr kumimoji="1" lang="en-US" altLang="zh-CN" sz="3200">
              <a:solidFill>
                <a:srgbClr val="E9E5D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0731" name="Text Box 107"/>
          <p:cNvSpPr txBox="1">
            <a:spLocks noChangeArrowheads="1"/>
          </p:cNvSpPr>
          <p:nvPr/>
        </p:nvSpPr>
        <p:spPr bwMode="auto">
          <a:xfrm>
            <a:off x="4208463" y="2152650"/>
            <a:ext cx="1201737" cy="579438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457200">
              <a:spcBef>
                <a:spcPct val="50000"/>
              </a:spcBef>
            </a:pPr>
            <a:r>
              <a:rPr kumimoji="1" lang="en-US" altLang="zh-CN" sz="3200">
                <a:solidFill>
                  <a:srgbClr val="E9E5D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5&gt;1</a:t>
            </a:r>
            <a:endParaRPr kumimoji="1" lang="en-US" altLang="zh-CN" sz="3200">
              <a:solidFill>
                <a:srgbClr val="E9E5D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0732" name="Text Box 108"/>
          <p:cNvSpPr txBox="1">
            <a:spLocks noChangeArrowheads="1"/>
          </p:cNvSpPr>
          <p:nvPr/>
        </p:nvSpPr>
        <p:spPr bwMode="auto">
          <a:xfrm>
            <a:off x="4208463" y="1573213"/>
            <a:ext cx="1201737" cy="579437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457200">
              <a:spcBef>
                <a:spcPct val="50000"/>
              </a:spcBef>
            </a:pPr>
            <a:r>
              <a:rPr kumimoji="1" lang="en-US" altLang="zh-CN" sz="3200">
                <a:solidFill>
                  <a:srgbClr val="E9E5D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5&lt;7</a:t>
            </a:r>
            <a:endParaRPr kumimoji="1" lang="en-US" altLang="zh-CN" sz="3200">
              <a:solidFill>
                <a:srgbClr val="E9E5D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分区过程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91 0.00185 L -0.0033 -0.2391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106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" y="-120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1000" fill="hold"/>
                                        <p:tgtEl>
                                          <p:spTgt spid="41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500" fill="hold"/>
                                        <p:tgtEl>
                                          <p:spTgt spid="4106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106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000" tmFilter="0, 0; .2, .5; .8, .5; 1, 0"/>
                                        <p:tgtEl>
                                          <p:spTgt spid="4107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1000" autoRev="1" fill="hold"/>
                                        <p:tgtEl>
                                          <p:spTgt spid="4107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2000" tmFilter="0, 0; .2, .5; .8, .5; 1, 0"/>
                                        <p:tgtEl>
                                          <p:spTgt spid="4106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1000" autoRev="1" fill="hold"/>
                                        <p:tgtEl>
                                          <p:spTgt spid="4106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41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4107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2.53766E-6 C -0.03229 0.0832 -0.06389 0.17103 -0.15174 0.2058 C -0.23976 0.24056 -0.43108 0.24241 -0.52691 0.20835 C -0.62275 0.17428 -0.68525 0.04496 -0.72691 0.00186 " pathEditMode="relative" rAng="0" ptsTypes="aaaa">
                                      <p:cBhvr>
                                        <p:cTn id="33" dur="2000" fill="hold"/>
                                        <p:tgtEl>
                                          <p:spTgt spid="4107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354" y="121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2000" fill="hold"/>
                                        <p:tgtEl>
                                          <p:spTgt spid="4106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4106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1" dur="1000" fill="hold"/>
                                        <p:tgtEl>
                                          <p:spTgt spid="41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500" fill="hold"/>
                                        <p:tgtEl>
                                          <p:spTgt spid="4106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4106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4.83198E-6 L 0.12917 4.83198E-6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4106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5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2" dur="1000" fill="hold"/>
                                        <p:tgtEl>
                                          <p:spTgt spid="41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2000" tmFilter="0, 0; .2, .5; .8, .5; 1, 0"/>
                                        <p:tgtEl>
                                          <p:spTgt spid="4106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1000" autoRev="1" fill="hold"/>
                                        <p:tgtEl>
                                          <p:spTgt spid="4106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2000" tmFilter="0, 0; .2, .5; .8, .5; 1, 0"/>
                                        <p:tgtEl>
                                          <p:spTgt spid="4106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1000" autoRev="1" fill="hold"/>
                                        <p:tgtEl>
                                          <p:spTgt spid="4106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41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7" dur="500"/>
                                        <p:tgtEl>
                                          <p:spTgt spid="4107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605 4.83198E-6 L 0.25 4.83198E-6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4106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9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5" dur="1000" fill="hold"/>
                                        <p:tgtEl>
                                          <p:spTgt spid="41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2000" tmFilter="0, 0; .2, .5; .8, .5; 1, 0"/>
                                        <p:tgtEl>
                                          <p:spTgt spid="4106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1000" autoRev="1" fill="hold"/>
                                        <p:tgtEl>
                                          <p:spTgt spid="4106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2000" tmFilter="0, 0; .2, .5; .8, .5; 1, 0"/>
                                        <p:tgtEl>
                                          <p:spTgt spid="4106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3" dur="1000" autoRev="1" fill="hold"/>
                                        <p:tgtEl>
                                          <p:spTgt spid="4106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000"/>
                                        <p:tgtEl>
                                          <p:spTgt spid="41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0" dur="500"/>
                                        <p:tgtEl>
                                          <p:spTgt spid="4107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5" dur="1000" fill="hold"/>
                                        <p:tgtEl>
                                          <p:spTgt spid="41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5.24913E-6 C 0.05034 0.09317 0.10069 0.18657 0.16232 0.22179 C 0.22396 0.25702 0.31614 0.24844 0.36996 0.21159 C 0.42378 0.17475 0.4658 0.03523 0.48507 5.24913E-6 " pathEditMode="relative" ptsTypes="aaaA">
                                      <p:cBhvr>
                                        <p:cTn id="98" dur="2000" fill="hold"/>
                                        <p:tgtEl>
                                          <p:spTgt spid="4106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3000"/>
                            </p:stCondLst>
                            <p:childTnLst>
                              <p:par>
                                <p:cTn id="100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2000" fill="hold"/>
                                        <p:tgtEl>
                                          <p:spTgt spid="4106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2" dur="2000" fill="hold"/>
                                        <p:tgtEl>
                                          <p:spTgt spid="4106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6" dur="1000" fill="hold"/>
                                        <p:tgtEl>
                                          <p:spTgt spid="41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500" fill="hold"/>
                                        <p:tgtEl>
                                          <p:spTgt spid="4106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0" dur="500" fill="hold"/>
                                        <p:tgtEl>
                                          <p:spTgt spid="4106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4.83198E-6 L -0.12101 4.83198E-6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4106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5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16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7" dur="1000" fill="hold"/>
                                        <p:tgtEl>
                                          <p:spTgt spid="41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2000" tmFilter="0, 0; .2, .5; .8, .5; 1, 0"/>
                                        <p:tgtEl>
                                          <p:spTgt spid="4106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" dur="1000" autoRev="1" fill="hold"/>
                                        <p:tgtEl>
                                          <p:spTgt spid="4106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2000" tmFilter="0, 0; .2, .5; .8, .5; 1, 0"/>
                                        <p:tgtEl>
                                          <p:spTgt spid="4107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" dur="1000" autoRev="1" fill="hold"/>
                                        <p:tgtEl>
                                          <p:spTgt spid="4107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2000"/>
                                        <p:tgtEl>
                                          <p:spTgt spid="41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2" dur="500"/>
                                        <p:tgtEl>
                                          <p:spTgt spid="4107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7" dur="1000" fill="hold"/>
                                        <p:tgtEl>
                                          <p:spTgt spid="41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000"/>
                            </p:stCondLst>
                            <p:childTnLst>
                              <p:par>
                                <p:cTn id="13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6.00232E-6 C -0.01545 0.07556 -0.0309 0.15111 -0.07361 0.18633 C -0.11632 0.22156 -0.20816 0.24265 -0.25659 0.21159 C -0.30503 0.18054 -0.34618 0.03523 -0.36406 6.00232E-6 " pathEditMode="relative" rAng="0" ptsTypes="aaaA">
                                      <p:cBhvr>
                                        <p:cTn id="140" dur="2000" fill="hold"/>
                                        <p:tgtEl>
                                          <p:spTgt spid="4107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3000"/>
                            </p:stCondLst>
                            <p:childTnLst>
                              <p:par>
                                <p:cTn id="14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" dur="2000" fill="hold"/>
                                        <p:tgtEl>
                                          <p:spTgt spid="4106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4" dur="2000" fill="hold"/>
                                        <p:tgtEl>
                                          <p:spTgt spid="4106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8" dur="1000" fill="hold"/>
                                        <p:tgtEl>
                                          <p:spTgt spid="41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000"/>
                            </p:stCondLst>
                            <p:childTnLst>
                              <p:par>
                                <p:cTn id="150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" dur="500" fill="hold"/>
                                        <p:tgtEl>
                                          <p:spTgt spid="4106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2" dur="500" fill="hold"/>
                                        <p:tgtEl>
                                          <p:spTgt spid="4106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 4.83198E-6 L 0.36337 4.83198E-6 " pathEditMode="relative" ptsTypes="AA">
                                      <p:cBhvr>
                                        <p:cTn id="156" dur="2000" fill="hold"/>
                                        <p:tgtEl>
                                          <p:spTgt spid="4106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000"/>
                            </p:stCondLst>
                            <p:childTnLst>
                              <p:par>
                                <p:cTn id="158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9" dur="1000" fill="hold"/>
                                        <p:tgtEl>
                                          <p:spTgt spid="41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2000" tmFilter="0, 0; .2, .5; .8, .5; 1, 0"/>
                                        <p:tgtEl>
                                          <p:spTgt spid="41069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4" dur="1000" autoRev="1" fill="hold"/>
                                        <p:tgtEl>
                                          <p:spTgt spid="41069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2000" tmFilter="0, 0; .2, .5; .8, .5; 1, 0"/>
                                        <p:tgtEl>
                                          <p:spTgt spid="4106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7" dur="1000" autoRev="1" fill="hold"/>
                                        <p:tgtEl>
                                          <p:spTgt spid="4106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2000"/>
                                        <p:tgtEl>
                                          <p:spTgt spid="41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4" dur="500"/>
                                        <p:tgtEl>
                                          <p:spTgt spid="4107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6337 4.83198E-6 L 0.48073 4.83198E-6 " pathEditMode="relative" ptsTypes="AA">
                                      <p:cBhvr>
                                        <p:cTn id="179" dur="2000" fill="hold"/>
                                        <p:tgtEl>
                                          <p:spTgt spid="4106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2000"/>
                            </p:stCondLst>
                            <p:childTnLst>
                              <p:par>
                                <p:cTn id="181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2" dur="1000" fill="hold"/>
                                        <p:tgtEl>
                                          <p:spTgt spid="41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2000" tmFilter="0, 0; .2, .5; .8, .5; 1, 0"/>
                                        <p:tgtEl>
                                          <p:spTgt spid="41070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7" dur="1000" autoRev="1" fill="hold"/>
                                        <p:tgtEl>
                                          <p:spTgt spid="41070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8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9" dur="2000" tmFilter="0, 0; .2, .5; .8, .5; 1, 0"/>
                                        <p:tgtEl>
                                          <p:spTgt spid="4106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0" dur="1000" autoRev="1" fill="hold"/>
                                        <p:tgtEl>
                                          <p:spTgt spid="4106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2000"/>
                                        <p:tgtEl>
                                          <p:spTgt spid="41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7" dur="500"/>
                                        <p:tgtEl>
                                          <p:spTgt spid="4107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2" dur="1000" fill="hold"/>
                                        <p:tgtEl>
                                          <p:spTgt spid="410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1000"/>
                            </p:stCondLst>
                            <p:childTnLst>
                              <p:par>
                                <p:cTn id="20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61 0.04542 C 0.01892 0.10962 0.04062 0.17404 0.06146 0.16639 C 0.08229 0.15875 0.1118 0.02804 0.12187 4.49594E-6 " pathEditMode="relative" rAng="0" ptsTypes="aaA">
                                      <p:cBhvr>
                                        <p:cTn id="205" dur="2000" fill="hold"/>
                                        <p:tgtEl>
                                          <p:spTgt spid="4107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3000"/>
                            </p:stCondLst>
                            <p:childTnLst>
                              <p:par>
                                <p:cTn id="207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" dur="2000" fill="hold"/>
                                        <p:tgtEl>
                                          <p:spTgt spid="4106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9" dur="2000" fill="hold"/>
                                        <p:tgtEl>
                                          <p:spTgt spid="4106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3" dur="1000" fill="hold"/>
                                        <p:tgtEl>
                                          <p:spTgt spid="41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1000"/>
                            </p:stCondLst>
                            <p:childTnLst>
                              <p:par>
                                <p:cTn id="215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500" fill="hold"/>
                                        <p:tgtEl>
                                          <p:spTgt spid="4106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17" dur="500" fill="hold"/>
                                        <p:tgtEl>
                                          <p:spTgt spid="4106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101 4.83198E-6 L -0.24393 4.83198E-6 " pathEditMode="relative" rAng="0" ptsTypes="AA">
                                      <p:cBhvr>
                                        <p:cTn id="221" dur="2000" fill="hold"/>
                                        <p:tgtEl>
                                          <p:spTgt spid="4106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4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23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4" dur="100" fill="hold"/>
                                        <p:tgtEl>
                                          <p:spTgt spid="4106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25" dur="100" fill="hold"/>
                                        <p:tgtEl>
                                          <p:spTgt spid="4106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26" dur="100" fill="hold"/>
                                        <p:tgtEl>
                                          <p:spTgt spid="4106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7" dur="100" fill="hold"/>
                                        <p:tgtEl>
                                          <p:spTgt spid="4106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22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106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06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06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3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06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6" dur="500" tmFilter="0, 0; .2, .5; .8, .5; 1, 0"/>
                                        <p:tgtEl>
                                          <p:spTgt spid="4106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7" dur="250" autoRev="1" fill="hold"/>
                                        <p:tgtEl>
                                          <p:spTgt spid="4106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500"/>
                            </p:stCondLst>
                            <p:childTnLst>
                              <p:par>
                                <p:cTn id="23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91 -0.23546 C 0.07048 -0.24704 0.14305 -0.25817 0.22448 -0.219 C 0.3059 -0.17984 0.39618 -0.08969 0.4868 0.00093 " pathEditMode="relative" rAng="0" ptsTypes="aaA">
                                      <p:cBhvr>
                                        <p:cTn id="240" dur="2000" fill="hold"/>
                                        <p:tgtEl>
                                          <p:spTgt spid="4106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427" y="106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2500"/>
                            </p:stCondLst>
                            <p:childTnLst>
                              <p:par>
                                <p:cTn id="242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500" tmFilter="0, 0; .2, .5; .8, .5; 1, 0"/>
                                        <p:tgtEl>
                                          <p:spTgt spid="4106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4" dur="250" autoRev="1" fill="hold"/>
                                        <p:tgtEl>
                                          <p:spTgt spid="4106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727" grpId="0" animBg="1"/>
      <p:bldP spid="410727" grpId="1" animBg="1"/>
      <p:bldP spid="410728" grpId="0" animBg="1"/>
      <p:bldP spid="410728" grpId="1" animBg="1"/>
      <p:bldP spid="410729" grpId="0" animBg="1"/>
      <p:bldP spid="410729" grpId="1" animBg="1"/>
      <p:bldP spid="410730" grpId="0" animBg="1"/>
      <p:bldP spid="410730" grpId="1" animBg="1"/>
      <p:bldP spid="410731" grpId="0" animBg="1"/>
      <p:bldP spid="410731" grpId="1" animBg="1"/>
      <p:bldP spid="410732" grpId="0" animBg="1"/>
      <p:bldP spid="410732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3332" name="Object 4"/>
          <p:cNvGraphicFramePr>
            <a:graphicFrameLocks noChangeAspect="1"/>
          </p:cNvGraphicFramePr>
          <p:nvPr/>
        </p:nvGraphicFramePr>
        <p:xfrm>
          <a:off x="534988" y="-583033"/>
          <a:ext cx="11166475" cy="1048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1" name="Picture" r:id="rId1" imgW="30060900" imgH="42872025" progId="Word.Picture.8">
                  <p:embed/>
                </p:oleObj>
              </mc:Choice>
              <mc:Fallback>
                <p:oleObj name="Picture" r:id="rId1" imgW="30060900" imgH="42872025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988" y="-583033"/>
                        <a:ext cx="11166475" cy="1048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Text Box 2"/>
          <p:cNvSpPr txBox="1">
            <a:spLocks noChangeArrowheads="1"/>
          </p:cNvSpPr>
          <p:nvPr/>
        </p:nvSpPr>
        <p:spPr bwMode="auto">
          <a:xfrm>
            <a:off x="395288" y="333375"/>
            <a:ext cx="4730750" cy="579438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457200">
              <a:spcBef>
                <a:spcPct val="50000"/>
              </a:spcBef>
            </a:pPr>
            <a:r>
              <a:rPr kumimoji="1" lang="zh-CN" altLang="en-US" sz="3200">
                <a:solidFill>
                  <a:srgbClr val="E9E5D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下面举例说明排序过程</a:t>
            </a:r>
            <a:endParaRPr kumimoji="1" lang="zh-CN" altLang="en-US" sz="3200">
              <a:solidFill>
                <a:srgbClr val="E9E5D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2675" name="Text Box 3"/>
          <p:cNvSpPr txBox="1">
            <a:spLocks noChangeArrowheads="1"/>
          </p:cNvSpPr>
          <p:nvPr/>
        </p:nvSpPr>
        <p:spPr bwMode="auto">
          <a:xfrm>
            <a:off x="395288" y="1335088"/>
            <a:ext cx="8064500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/>
            <a:r>
              <a:rPr kumimoji="1" lang="zh-CN" altLang="en-US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</a:t>
            </a:r>
            <a:r>
              <a:rPr kumimoji="1" lang="en-US" altLang="zh-CN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a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数组中有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7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个元素待排序</a:t>
            </a:r>
            <a:endParaRPr kumimoji="1" lang="zh-CN" altLang="en-US" sz="28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defTabSz="457200"/>
            <a:endParaRPr kumimoji="1" lang="zh-CN" altLang="en-US" sz="28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defTabSz="457200"/>
            <a:r>
              <a:rPr kumimoji="1" lang="en-US" altLang="zh-CN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 </a:t>
            </a:r>
            <a:r>
              <a:rPr kumimoji="1" lang="zh-CN" altLang="en-US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让 </a:t>
            </a:r>
            <a:r>
              <a:rPr kumimoji="1" lang="en-US" altLang="zh-CN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 = a[ z ] = a[ 0 ] = 5</a:t>
            </a:r>
            <a:endParaRPr kumimoji="1" lang="en-US" altLang="zh-CN" sz="2800">
              <a:solidFill>
                <a:srgbClr val="CC99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12676" name="Group 4"/>
          <p:cNvGraphicFramePr>
            <a:graphicFrameLocks noGrp="1"/>
          </p:cNvGraphicFramePr>
          <p:nvPr/>
        </p:nvGraphicFramePr>
        <p:xfrm>
          <a:off x="685800" y="3644900"/>
          <a:ext cx="7772400" cy="518160"/>
        </p:xfrm>
        <a:graphic>
          <a:graphicData uri="http://schemas.openxmlformats.org/drawingml/2006/table">
            <a:tbl>
              <a:tblPr/>
              <a:tblGrid>
                <a:gridCol w="1111250"/>
                <a:gridCol w="1109663"/>
                <a:gridCol w="1111250"/>
                <a:gridCol w="1108075"/>
                <a:gridCol w="1111250"/>
                <a:gridCol w="1109662"/>
                <a:gridCol w="1111250"/>
              </a:tblGrid>
              <a:tr h="5032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12694" name="Group 22"/>
          <p:cNvGraphicFramePr>
            <a:graphicFrameLocks noGrp="1"/>
          </p:cNvGraphicFramePr>
          <p:nvPr/>
        </p:nvGraphicFramePr>
        <p:xfrm>
          <a:off x="685800" y="4306888"/>
          <a:ext cx="7772400" cy="490538"/>
        </p:xfrm>
        <a:graphic>
          <a:graphicData uri="http://schemas.openxmlformats.org/drawingml/2006/table">
            <a:tbl>
              <a:tblPr/>
              <a:tblGrid>
                <a:gridCol w="1111250"/>
                <a:gridCol w="1109663"/>
                <a:gridCol w="1111250"/>
                <a:gridCol w="1108075"/>
                <a:gridCol w="1111250"/>
                <a:gridCol w="1109662"/>
                <a:gridCol w="1111250"/>
              </a:tblGrid>
              <a:tr h="4905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12724" name="Text Box 52"/>
          <p:cNvSpPr txBox="1">
            <a:spLocks noChangeArrowheads="1"/>
          </p:cNvSpPr>
          <p:nvPr/>
        </p:nvSpPr>
        <p:spPr bwMode="auto">
          <a:xfrm>
            <a:off x="863600" y="3167063"/>
            <a:ext cx="395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2725" name="Text Box 53"/>
          <p:cNvSpPr txBox="1">
            <a:spLocks noChangeArrowheads="1"/>
          </p:cNvSpPr>
          <p:nvPr/>
        </p:nvSpPr>
        <p:spPr bwMode="auto">
          <a:xfrm>
            <a:off x="7993063" y="3141663"/>
            <a:ext cx="395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2726" name="Line 54"/>
          <p:cNvSpPr>
            <a:spLocks noChangeShapeType="1"/>
          </p:cNvSpPr>
          <p:nvPr/>
        </p:nvSpPr>
        <p:spPr bwMode="auto">
          <a:xfrm>
            <a:off x="1258888" y="3167063"/>
            <a:ext cx="0" cy="43180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2727" name="Line 55"/>
          <p:cNvSpPr>
            <a:spLocks noChangeShapeType="1"/>
          </p:cNvSpPr>
          <p:nvPr/>
        </p:nvSpPr>
        <p:spPr bwMode="auto">
          <a:xfrm>
            <a:off x="7885113" y="3167063"/>
            <a:ext cx="0" cy="43180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2728" name="Text Box 56"/>
          <p:cNvSpPr txBox="1">
            <a:spLocks noChangeArrowheads="1"/>
          </p:cNvSpPr>
          <p:nvPr/>
        </p:nvSpPr>
        <p:spPr bwMode="auto">
          <a:xfrm>
            <a:off x="3816350" y="5348288"/>
            <a:ext cx="1116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zh-CN" altLang="en-US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 </a:t>
            </a: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12729" name="Group 57"/>
          <p:cNvGraphicFramePr>
            <a:graphicFrameLocks noGrp="1"/>
          </p:cNvGraphicFramePr>
          <p:nvPr>
            <p:ph/>
          </p:nvPr>
        </p:nvGraphicFramePr>
        <p:xfrm>
          <a:off x="4879975" y="2317750"/>
          <a:ext cx="1216025" cy="579438"/>
        </p:xfrm>
        <a:graphic>
          <a:graphicData uri="http://schemas.openxmlformats.org/drawingml/2006/table">
            <a:tbl>
              <a:tblPr/>
              <a:tblGrid>
                <a:gridCol w="1216025"/>
              </a:tblGrid>
              <a:tr h="579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12735" name="Text Box 63"/>
          <p:cNvSpPr txBox="1">
            <a:spLocks noChangeArrowheads="1"/>
          </p:cNvSpPr>
          <p:nvPr/>
        </p:nvSpPr>
        <p:spPr bwMode="auto">
          <a:xfrm>
            <a:off x="4495800" y="2276475"/>
            <a:ext cx="652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2736" name="Line 64"/>
          <p:cNvSpPr>
            <a:spLocks noChangeShapeType="1"/>
          </p:cNvSpPr>
          <p:nvPr/>
        </p:nvSpPr>
        <p:spPr bwMode="auto">
          <a:xfrm flipV="1">
            <a:off x="1524000" y="2708275"/>
            <a:ext cx="3624263" cy="11779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2737" name="Line 65"/>
          <p:cNvSpPr>
            <a:spLocks noChangeShapeType="1"/>
          </p:cNvSpPr>
          <p:nvPr/>
        </p:nvSpPr>
        <p:spPr bwMode="auto">
          <a:xfrm flipV="1">
            <a:off x="1524000" y="2492375"/>
            <a:ext cx="3768725" cy="1393825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Text Box 2"/>
          <p:cNvSpPr txBox="1">
            <a:spLocks noChangeArrowheads="1"/>
          </p:cNvSpPr>
          <p:nvPr/>
        </p:nvSpPr>
        <p:spPr bwMode="auto">
          <a:xfrm>
            <a:off x="0" y="620713"/>
            <a:ext cx="9144000" cy="222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/>
            <a:r>
              <a:rPr kumimoji="1" lang="en-US" altLang="zh-CN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、进入直到型循环</a:t>
            </a:r>
            <a:endParaRPr kumimoji="1" lang="zh-CN" altLang="en-US" sz="2800">
              <a:solidFill>
                <a:srgbClr val="CC99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defTabSz="457200">
              <a:buClr>
                <a:srgbClr val="696464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执行（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a[y]=a[6]=4 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不满足当循环条件，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不动。</a:t>
            </a:r>
            <a:endParaRPr kumimoji="1" lang="zh-CN" altLang="en-US" sz="28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defTabSz="457200">
              <a:buClr>
                <a:srgbClr val="696464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执行（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z&lt;y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，做两件事：</a:t>
            </a:r>
            <a:endParaRPr kumimoji="1" lang="zh-CN" altLang="en-US" sz="28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 defTabSz="457200">
              <a:buClr>
                <a:srgbClr val="696464"/>
              </a:buClr>
              <a:buFont typeface="Wingdings" panose="05000000000000000000" pitchFamily="2" charset="2"/>
              <a:buChar char="ü"/>
            </a:pP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a[ z ] = a[ y ]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，即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a[ 0 ] = a[ 6 ] = 4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kumimoji="1" lang="zh-CN" altLang="en-US" sz="28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 defTabSz="457200">
              <a:buClr>
                <a:srgbClr val="696464"/>
              </a:buClr>
              <a:buFont typeface="Wingdings" panose="05000000000000000000" pitchFamily="2" charset="2"/>
              <a:buChar char="ü"/>
            </a:pP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 = z +1 = 0+1 = 1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，见</a:t>
            </a:r>
            <a:r>
              <a:rPr kumimoji="1" lang="zh-CN" altLang="en-US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</a:t>
            </a:r>
            <a:r>
              <a:rPr kumimoji="1" lang="en-US" altLang="zh-CN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endParaRPr kumimoji="1" lang="en-US" altLang="zh-CN" sz="2800">
              <a:solidFill>
                <a:srgbClr val="CC99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13699" name="Group 3"/>
          <p:cNvGraphicFramePr>
            <a:graphicFrameLocks noGrp="1"/>
          </p:cNvGraphicFramePr>
          <p:nvPr/>
        </p:nvGraphicFramePr>
        <p:xfrm>
          <a:off x="615950" y="3932238"/>
          <a:ext cx="7772400" cy="518160"/>
        </p:xfrm>
        <a:graphic>
          <a:graphicData uri="http://schemas.openxmlformats.org/drawingml/2006/table">
            <a:tbl>
              <a:tblPr/>
              <a:tblGrid>
                <a:gridCol w="1111250"/>
                <a:gridCol w="1109663"/>
                <a:gridCol w="1111250"/>
                <a:gridCol w="1108075"/>
                <a:gridCol w="1111250"/>
                <a:gridCol w="1109662"/>
                <a:gridCol w="1111250"/>
              </a:tblGrid>
              <a:tr h="5032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3717" name="Group 21"/>
          <p:cNvGraphicFramePr>
            <a:graphicFrameLocks noGrp="1"/>
          </p:cNvGraphicFramePr>
          <p:nvPr/>
        </p:nvGraphicFramePr>
        <p:xfrm>
          <a:off x="615950" y="4594225"/>
          <a:ext cx="7772400" cy="490538"/>
        </p:xfrm>
        <a:graphic>
          <a:graphicData uri="http://schemas.openxmlformats.org/drawingml/2006/table">
            <a:tbl>
              <a:tblPr/>
              <a:tblGrid>
                <a:gridCol w="1111250"/>
                <a:gridCol w="1109663"/>
                <a:gridCol w="1111250"/>
                <a:gridCol w="1108075"/>
                <a:gridCol w="1111250"/>
                <a:gridCol w="1109662"/>
                <a:gridCol w="1111250"/>
              </a:tblGrid>
              <a:tr h="4905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13747" name="Text Box 51"/>
          <p:cNvSpPr txBox="1">
            <a:spLocks noChangeArrowheads="1"/>
          </p:cNvSpPr>
          <p:nvPr/>
        </p:nvSpPr>
        <p:spPr bwMode="auto">
          <a:xfrm>
            <a:off x="2411413" y="3213100"/>
            <a:ext cx="395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3748" name="Text Box 52"/>
          <p:cNvSpPr txBox="1">
            <a:spLocks noChangeArrowheads="1"/>
          </p:cNvSpPr>
          <p:nvPr/>
        </p:nvSpPr>
        <p:spPr bwMode="auto">
          <a:xfrm>
            <a:off x="7956550" y="3068638"/>
            <a:ext cx="395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 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3749" name="Line 53"/>
          <p:cNvSpPr>
            <a:spLocks noChangeShapeType="1"/>
          </p:cNvSpPr>
          <p:nvPr/>
        </p:nvSpPr>
        <p:spPr bwMode="auto">
          <a:xfrm>
            <a:off x="2268538" y="3454400"/>
            <a:ext cx="0" cy="43180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3750" name="Line 54"/>
          <p:cNvSpPr>
            <a:spLocks noChangeShapeType="1"/>
          </p:cNvSpPr>
          <p:nvPr/>
        </p:nvSpPr>
        <p:spPr bwMode="auto">
          <a:xfrm>
            <a:off x="7815263" y="3454400"/>
            <a:ext cx="0" cy="43180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3751" name="Text Box 55"/>
          <p:cNvSpPr txBox="1">
            <a:spLocks noChangeArrowheads="1"/>
          </p:cNvSpPr>
          <p:nvPr/>
        </p:nvSpPr>
        <p:spPr bwMode="auto">
          <a:xfrm>
            <a:off x="3746500" y="5635625"/>
            <a:ext cx="1116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zh-CN" altLang="en-US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 </a:t>
            </a: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13752" name="Group 56"/>
          <p:cNvGraphicFramePr>
            <a:graphicFrameLocks noGrp="1"/>
          </p:cNvGraphicFramePr>
          <p:nvPr>
            <p:ph/>
          </p:nvPr>
        </p:nvGraphicFramePr>
        <p:xfrm>
          <a:off x="5337175" y="2601913"/>
          <a:ext cx="1216025" cy="579438"/>
        </p:xfrm>
        <a:graphic>
          <a:graphicData uri="http://schemas.openxmlformats.org/drawingml/2006/table">
            <a:tbl>
              <a:tblPr/>
              <a:tblGrid>
                <a:gridCol w="1216025"/>
              </a:tblGrid>
              <a:tr h="579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13758" name="Text Box 62"/>
          <p:cNvSpPr txBox="1">
            <a:spLocks noChangeArrowheads="1"/>
          </p:cNvSpPr>
          <p:nvPr/>
        </p:nvSpPr>
        <p:spPr bwMode="auto">
          <a:xfrm>
            <a:off x="4862513" y="2562225"/>
            <a:ext cx="717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3759" name="Line 63"/>
          <p:cNvSpPr>
            <a:spLocks noChangeShapeType="1"/>
          </p:cNvSpPr>
          <p:nvPr/>
        </p:nvSpPr>
        <p:spPr bwMode="auto">
          <a:xfrm flipH="1">
            <a:off x="1476375" y="4221163"/>
            <a:ext cx="6119813" cy="0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3760" name="Line 64"/>
          <p:cNvSpPr>
            <a:spLocks noChangeShapeType="1"/>
          </p:cNvSpPr>
          <p:nvPr/>
        </p:nvSpPr>
        <p:spPr bwMode="auto">
          <a:xfrm>
            <a:off x="1258888" y="3454400"/>
            <a:ext cx="0" cy="477838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3761" name="Line 65"/>
          <p:cNvSpPr>
            <a:spLocks noChangeShapeType="1"/>
          </p:cNvSpPr>
          <p:nvPr/>
        </p:nvSpPr>
        <p:spPr bwMode="auto">
          <a:xfrm>
            <a:off x="1476375" y="3454400"/>
            <a:ext cx="574675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Text Box 2"/>
          <p:cNvSpPr txBox="1">
            <a:spLocks noChangeArrowheads="1"/>
          </p:cNvSpPr>
          <p:nvPr/>
        </p:nvSpPr>
        <p:spPr bwMode="auto">
          <a:xfrm>
            <a:off x="0" y="620713"/>
            <a:ext cx="9144000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buClr>
                <a:srgbClr val="696464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执行（</a:t>
            </a:r>
            <a:r>
              <a:rPr kumimoji="1"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）图</a:t>
            </a:r>
            <a:r>
              <a:rPr kumimoji="1"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中的</a:t>
            </a:r>
            <a:r>
              <a:rPr kumimoji="1"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a[1]&lt;k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，满足当循环条件，</a:t>
            </a:r>
            <a:r>
              <a:rPr kumimoji="1"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z=z+1=2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增</a:t>
            </a:r>
            <a:r>
              <a:rPr kumimoji="1"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后的情况如</a:t>
            </a:r>
            <a:r>
              <a:rPr kumimoji="1" lang="zh-CN" altLang="en-US" sz="2800" dirty="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</a:t>
            </a:r>
            <a:r>
              <a:rPr kumimoji="1" lang="en-US" altLang="zh-CN" sz="2800" dirty="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。图</a:t>
            </a:r>
            <a:r>
              <a:rPr kumimoji="1"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的情况不再满足当循环条件。         </a:t>
            </a:r>
            <a:r>
              <a:rPr kumimoji="1"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				6 &gt; 5</a:t>
            </a:r>
            <a:endParaRPr kumimoji="1" lang="en-US" altLang="zh-CN" sz="28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14723" name="Group 3"/>
          <p:cNvGraphicFramePr>
            <a:graphicFrameLocks noGrp="1"/>
          </p:cNvGraphicFramePr>
          <p:nvPr/>
        </p:nvGraphicFramePr>
        <p:xfrm>
          <a:off x="615950" y="3932238"/>
          <a:ext cx="7772400" cy="518160"/>
        </p:xfrm>
        <a:graphic>
          <a:graphicData uri="http://schemas.openxmlformats.org/drawingml/2006/table">
            <a:tbl>
              <a:tblPr/>
              <a:tblGrid>
                <a:gridCol w="1111250"/>
                <a:gridCol w="1109663"/>
                <a:gridCol w="1111250"/>
                <a:gridCol w="1108075"/>
                <a:gridCol w="1111250"/>
                <a:gridCol w="1109662"/>
                <a:gridCol w="1111250"/>
              </a:tblGrid>
              <a:tr h="5032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4741" name="Group 21"/>
          <p:cNvGraphicFramePr>
            <a:graphicFrameLocks noGrp="1"/>
          </p:cNvGraphicFramePr>
          <p:nvPr/>
        </p:nvGraphicFramePr>
        <p:xfrm>
          <a:off x="615950" y="4594225"/>
          <a:ext cx="7772400" cy="490538"/>
        </p:xfrm>
        <a:graphic>
          <a:graphicData uri="http://schemas.openxmlformats.org/drawingml/2006/table">
            <a:tbl>
              <a:tblPr/>
              <a:tblGrid>
                <a:gridCol w="1111250"/>
                <a:gridCol w="1109663"/>
                <a:gridCol w="1111250"/>
                <a:gridCol w="1108075"/>
                <a:gridCol w="1111250"/>
                <a:gridCol w="1109662"/>
                <a:gridCol w="1111250"/>
              </a:tblGrid>
              <a:tr h="4905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14771" name="Text Box 51"/>
          <p:cNvSpPr txBox="1">
            <a:spLocks noChangeArrowheads="1"/>
          </p:cNvSpPr>
          <p:nvPr/>
        </p:nvSpPr>
        <p:spPr bwMode="auto">
          <a:xfrm>
            <a:off x="3529013" y="3213100"/>
            <a:ext cx="395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4772" name="Text Box 52"/>
          <p:cNvSpPr txBox="1">
            <a:spLocks noChangeArrowheads="1"/>
          </p:cNvSpPr>
          <p:nvPr/>
        </p:nvSpPr>
        <p:spPr bwMode="auto">
          <a:xfrm>
            <a:off x="7956550" y="3068638"/>
            <a:ext cx="395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4773" name="Line 53"/>
          <p:cNvSpPr>
            <a:spLocks noChangeShapeType="1"/>
          </p:cNvSpPr>
          <p:nvPr/>
        </p:nvSpPr>
        <p:spPr bwMode="auto">
          <a:xfrm>
            <a:off x="3386138" y="3454400"/>
            <a:ext cx="0" cy="43180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4774" name="Line 54"/>
          <p:cNvSpPr>
            <a:spLocks noChangeShapeType="1"/>
          </p:cNvSpPr>
          <p:nvPr/>
        </p:nvSpPr>
        <p:spPr bwMode="auto">
          <a:xfrm>
            <a:off x="7815263" y="3454400"/>
            <a:ext cx="0" cy="43180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4775" name="Text Box 55"/>
          <p:cNvSpPr txBox="1">
            <a:spLocks noChangeArrowheads="1"/>
          </p:cNvSpPr>
          <p:nvPr/>
        </p:nvSpPr>
        <p:spPr bwMode="auto">
          <a:xfrm>
            <a:off x="3746500" y="5635625"/>
            <a:ext cx="1116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zh-CN" altLang="en-US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 </a:t>
            </a: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14776" name="Group 56"/>
          <p:cNvGraphicFramePr>
            <a:graphicFrameLocks noGrp="1"/>
          </p:cNvGraphicFramePr>
          <p:nvPr/>
        </p:nvGraphicFramePr>
        <p:xfrm>
          <a:off x="5078413" y="2492375"/>
          <a:ext cx="1149350" cy="579438"/>
        </p:xfrm>
        <a:graphic>
          <a:graphicData uri="http://schemas.openxmlformats.org/drawingml/2006/table">
            <a:tbl>
              <a:tblPr/>
              <a:tblGrid>
                <a:gridCol w="1149350"/>
              </a:tblGrid>
              <a:tr h="579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14782" name="Text Box 62"/>
          <p:cNvSpPr txBox="1">
            <a:spLocks noChangeArrowheads="1"/>
          </p:cNvSpPr>
          <p:nvPr/>
        </p:nvSpPr>
        <p:spPr bwMode="auto">
          <a:xfrm>
            <a:off x="4572000" y="2492375"/>
            <a:ext cx="792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4783" name="Line 63"/>
          <p:cNvSpPr>
            <a:spLocks noChangeShapeType="1"/>
          </p:cNvSpPr>
          <p:nvPr/>
        </p:nvSpPr>
        <p:spPr bwMode="auto">
          <a:xfrm>
            <a:off x="2268538" y="3454400"/>
            <a:ext cx="0" cy="477838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4784" name="Line 64"/>
          <p:cNvSpPr>
            <a:spLocks noChangeShapeType="1"/>
          </p:cNvSpPr>
          <p:nvPr/>
        </p:nvSpPr>
        <p:spPr bwMode="auto">
          <a:xfrm>
            <a:off x="2268538" y="3525838"/>
            <a:ext cx="11176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4785" name="Line 65"/>
          <p:cNvSpPr>
            <a:spLocks noChangeShapeType="1"/>
          </p:cNvSpPr>
          <p:nvPr/>
        </p:nvSpPr>
        <p:spPr bwMode="auto">
          <a:xfrm flipV="1">
            <a:off x="3529013" y="3670300"/>
            <a:ext cx="755650" cy="479425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4786" name="Line 66"/>
          <p:cNvSpPr>
            <a:spLocks noChangeShapeType="1"/>
          </p:cNvSpPr>
          <p:nvPr/>
        </p:nvSpPr>
        <p:spPr bwMode="auto">
          <a:xfrm flipH="1">
            <a:off x="4572000" y="2949575"/>
            <a:ext cx="792163" cy="504825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4787" name="Oval 67"/>
          <p:cNvSpPr>
            <a:spLocks noChangeArrowheads="1"/>
          </p:cNvSpPr>
          <p:nvPr/>
        </p:nvSpPr>
        <p:spPr bwMode="auto">
          <a:xfrm>
            <a:off x="4284663" y="3454400"/>
            <a:ext cx="287337" cy="21590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4788" name="Oval 68"/>
          <p:cNvSpPr>
            <a:spLocks noChangeArrowheads="1"/>
          </p:cNvSpPr>
          <p:nvPr/>
        </p:nvSpPr>
        <p:spPr bwMode="auto">
          <a:xfrm>
            <a:off x="1913360" y="1536700"/>
            <a:ext cx="1447800" cy="436562"/>
          </a:xfrm>
          <a:prstGeom prst="ellipse">
            <a:avLst/>
          </a:prstGeom>
          <a:noFill/>
          <a:ln w="38100" cap="sq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4789" name="Line 69"/>
          <p:cNvSpPr>
            <a:spLocks noChangeShapeType="1"/>
          </p:cNvSpPr>
          <p:nvPr/>
        </p:nvSpPr>
        <p:spPr bwMode="auto">
          <a:xfrm>
            <a:off x="2916239" y="2039938"/>
            <a:ext cx="1368424" cy="1414462"/>
          </a:xfrm>
          <a:prstGeom prst="line">
            <a:avLst/>
          </a:prstGeom>
          <a:noFill/>
          <a:ln w="28575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Text Box 2"/>
          <p:cNvSpPr txBox="1">
            <a:spLocks noChangeArrowheads="1"/>
          </p:cNvSpPr>
          <p:nvPr/>
        </p:nvSpPr>
        <p:spPr bwMode="auto">
          <a:xfrm>
            <a:off x="0" y="620713"/>
            <a:ext cx="9144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buClr>
                <a:srgbClr val="696464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执行（</a:t>
            </a:r>
            <a:r>
              <a:rPr kumimoji="1"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kumimoji="1"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a[y]=a[z]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，即</a:t>
            </a:r>
            <a:r>
              <a:rPr kumimoji="1"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a[6]=a[2]=6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，见</a:t>
            </a:r>
            <a:r>
              <a:rPr kumimoji="1" lang="zh-CN" altLang="en-US" sz="2800" dirty="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</a:t>
            </a:r>
            <a:r>
              <a:rPr kumimoji="1" lang="en-US" altLang="zh-CN" sz="2800" dirty="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。这时   </a:t>
            </a:r>
            <a:r>
              <a:rPr kumimoji="1"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  != y   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还得执行直到型循环的循环体。</a:t>
            </a:r>
            <a:endParaRPr kumimoji="1" lang="zh-CN" altLang="en-US" sz="28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15747" name="Group 3"/>
          <p:cNvGraphicFramePr>
            <a:graphicFrameLocks noGrp="1"/>
          </p:cNvGraphicFramePr>
          <p:nvPr/>
        </p:nvGraphicFramePr>
        <p:xfrm>
          <a:off x="615950" y="3932238"/>
          <a:ext cx="7772400" cy="518160"/>
        </p:xfrm>
        <a:graphic>
          <a:graphicData uri="http://schemas.openxmlformats.org/drawingml/2006/table">
            <a:tbl>
              <a:tblPr/>
              <a:tblGrid>
                <a:gridCol w="1111250"/>
                <a:gridCol w="1109663"/>
                <a:gridCol w="1111250"/>
                <a:gridCol w="1108075"/>
                <a:gridCol w="1111250"/>
                <a:gridCol w="1109662"/>
                <a:gridCol w="1111250"/>
              </a:tblGrid>
              <a:tr h="5032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15765" name="Group 21"/>
          <p:cNvGraphicFramePr>
            <a:graphicFrameLocks noGrp="1"/>
          </p:cNvGraphicFramePr>
          <p:nvPr/>
        </p:nvGraphicFramePr>
        <p:xfrm>
          <a:off x="615950" y="4594225"/>
          <a:ext cx="7772400" cy="490538"/>
        </p:xfrm>
        <a:graphic>
          <a:graphicData uri="http://schemas.openxmlformats.org/drawingml/2006/table">
            <a:tbl>
              <a:tblPr/>
              <a:tblGrid>
                <a:gridCol w="1111250"/>
                <a:gridCol w="1109663"/>
                <a:gridCol w="1111250"/>
                <a:gridCol w="1108075"/>
                <a:gridCol w="1111250"/>
                <a:gridCol w="1109662"/>
                <a:gridCol w="1111250"/>
              </a:tblGrid>
              <a:tr h="4905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15795" name="Text Box 51"/>
          <p:cNvSpPr txBox="1">
            <a:spLocks noChangeArrowheads="1"/>
          </p:cNvSpPr>
          <p:nvPr/>
        </p:nvSpPr>
        <p:spPr bwMode="auto">
          <a:xfrm>
            <a:off x="3529013" y="3213100"/>
            <a:ext cx="395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5796" name="Text Box 52"/>
          <p:cNvSpPr txBox="1">
            <a:spLocks noChangeArrowheads="1"/>
          </p:cNvSpPr>
          <p:nvPr/>
        </p:nvSpPr>
        <p:spPr bwMode="auto">
          <a:xfrm>
            <a:off x="7956550" y="3068638"/>
            <a:ext cx="395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5797" name="Line 53"/>
          <p:cNvSpPr>
            <a:spLocks noChangeShapeType="1"/>
          </p:cNvSpPr>
          <p:nvPr/>
        </p:nvSpPr>
        <p:spPr bwMode="auto">
          <a:xfrm>
            <a:off x="3386138" y="3454400"/>
            <a:ext cx="0" cy="43180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5798" name="Line 54"/>
          <p:cNvSpPr>
            <a:spLocks noChangeShapeType="1"/>
          </p:cNvSpPr>
          <p:nvPr/>
        </p:nvSpPr>
        <p:spPr bwMode="auto">
          <a:xfrm>
            <a:off x="7815263" y="3454400"/>
            <a:ext cx="0" cy="43180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5799" name="Text Box 55"/>
          <p:cNvSpPr txBox="1">
            <a:spLocks noChangeArrowheads="1"/>
          </p:cNvSpPr>
          <p:nvPr/>
        </p:nvSpPr>
        <p:spPr bwMode="auto">
          <a:xfrm>
            <a:off x="3746500" y="5635625"/>
            <a:ext cx="1116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zh-CN" altLang="en-US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 </a:t>
            </a: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15800" name="Group 56"/>
          <p:cNvGraphicFramePr>
            <a:graphicFrameLocks noGrp="1"/>
          </p:cNvGraphicFramePr>
          <p:nvPr/>
        </p:nvGraphicFramePr>
        <p:xfrm>
          <a:off x="5078413" y="2349500"/>
          <a:ext cx="1149350" cy="579438"/>
        </p:xfrm>
        <a:graphic>
          <a:graphicData uri="http://schemas.openxmlformats.org/drawingml/2006/table">
            <a:tbl>
              <a:tblPr/>
              <a:tblGrid>
                <a:gridCol w="1149350"/>
              </a:tblGrid>
              <a:tr h="579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15806" name="Text Box 62"/>
          <p:cNvSpPr txBox="1">
            <a:spLocks noChangeArrowheads="1"/>
          </p:cNvSpPr>
          <p:nvPr/>
        </p:nvSpPr>
        <p:spPr bwMode="auto">
          <a:xfrm>
            <a:off x="4572000" y="2349500"/>
            <a:ext cx="792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5807" name="Line 63"/>
          <p:cNvSpPr>
            <a:spLocks noChangeShapeType="1"/>
          </p:cNvSpPr>
          <p:nvPr/>
        </p:nvSpPr>
        <p:spPr bwMode="auto">
          <a:xfrm>
            <a:off x="3746500" y="4221163"/>
            <a:ext cx="3778250" cy="0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Text Box 2"/>
          <p:cNvSpPr txBox="1">
            <a:spLocks noChangeArrowheads="1"/>
          </p:cNvSpPr>
          <p:nvPr/>
        </p:nvSpPr>
        <p:spPr bwMode="auto">
          <a:xfrm>
            <a:off x="0" y="620713"/>
            <a:ext cx="9144000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buClr>
                <a:srgbClr val="696464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执行（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a[y]=a[6]=6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6&gt;k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满足当循环的条件，</a:t>
            </a:r>
            <a:endParaRPr kumimoji="1" lang="zh-CN" altLang="en-US" sz="28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defTabSz="457200">
              <a:buClr>
                <a:srgbClr val="696464"/>
              </a:buClr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 = y-1 = 6-1 = 5</a:t>
            </a:r>
            <a:endParaRPr kumimoji="1" lang="en-US" altLang="zh-CN" sz="28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defTabSz="457200">
              <a:buClr>
                <a:srgbClr val="696464"/>
              </a:buClr>
              <a:buFont typeface="Wingdings" panose="05000000000000000000" pitchFamily="2" charset="2"/>
              <a:buNone/>
            </a:pP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见</a:t>
            </a:r>
            <a:r>
              <a:rPr kumimoji="1" lang="zh-CN" altLang="en-US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</a:t>
            </a:r>
            <a:r>
              <a:rPr kumimoji="1" lang="en-US" altLang="zh-CN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，之后退出当循环，因为 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a[ y ] = 3&lt;k   (k=5)</a:t>
            </a:r>
            <a:endParaRPr kumimoji="1" lang="en-US" altLang="zh-CN" sz="28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16771" name="Group 3"/>
          <p:cNvGraphicFramePr>
            <a:graphicFrameLocks noGrp="1"/>
          </p:cNvGraphicFramePr>
          <p:nvPr/>
        </p:nvGraphicFramePr>
        <p:xfrm>
          <a:off x="615950" y="3932238"/>
          <a:ext cx="7772400" cy="518160"/>
        </p:xfrm>
        <a:graphic>
          <a:graphicData uri="http://schemas.openxmlformats.org/drawingml/2006/table">
            <a:tbl>
              <a:tblPr/>
              <a:tblGrid>
                <a:gridCol w="1111250"/>
                <a:gridCol w="1109663"/>
                <a:gridCol w="1111250"/>
                <a:gridCol w="1108075"/>
                <a:gridCol w="1111250"/>
                <a:gridCol w="1109662"/>
                <a:gridCol w="1111250"/>
              </a:tblGrid>
              <a:tr h="5032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16789" name="Group 21"/>
          <p:cNvGraphicFramePr>
            <a:graphicFrameLocks noGrp="1"/>
          </p:cNvGraphicFramePr>
          <p:nvPr/>
        </p:nvGraphicFramePr>
        <p:xfrm>
          <a:off x="615950" y="4594225"/>
          <a:ext cx="7772400" cy="490538"/>
        </p:xfrm>
        <a:graphic>
          <a:graphicData uri="http://schemas.openxmlformats.org/drawingml/2006/table">
            <a:tbl>
              <a:tblPr/>
              <a:tblGrid>
                <a:gridCol w="1111250"/>
                <a:gridCol w="1109663"/>
                <a:gridCol w="1111250"/>
                <a:gridCol w="1108075"/>
                <a:gridCol w="1111250"/>
                <a:gridCol w="1109662"/>
                <a:gridCol w="1111250"/>
              </a:tblGrid>
              <a:tr h="4905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16819" name="Text Box 51"/>
          <p:cNvSpPr txBox="1">
            <a:spLocks noChangeArrowheads="1"/>
          </p:cNvSpPr>
          <p:nvPr/>
        </p:nvSpPr>
        <p:spPr bwMode="auto">
          <a:xfrm>
            <a:off x="3529013" y="3213100"/>
            <a:ext cx="395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6820" name="Text Box 52"/>
          <p:cNvSpPr txBox="1">
            <a:spLocks noChangeArrowheads="1"/>
          </p:cNvSpPr>
          <p:nvPr/>
        </p:nvSpPr>
        <p:spPr bwMode="auto">
          <a:xfrm>
            <a:off x="6840538" y="3068638"/>
            <a:ext cx="395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6821" name="Line 53"/>
          <p:cNvSpPr>
            <a:spLocks noChangeShapeType="1"/>
          </p:cNvSpPr>
          <p:nvPr/>
        </p:nvSpPr>
        <p:spPr bwMode="auto">
          <a:xfrm>
            <a:off x="3386138" y="3454400"/>
            <a:ext cx="0" cy="43180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6822" name="Line 54"/>
          <p:cNvSpPr>
            <a:spLocks noChangeShapeType="1"/>
          </p:cNvSpPr>
          <p:nvPr/>
        </p:nvSpPr>
        <p:spPr bwMode="auto">
          <a:xfrm>
            <a:off x="6699250" y="3454400"/>
            <a:ext cx="0" cy="43180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6823" name="Text Box 55"/>
          <p:cNvSpPr txBox="1">
            <a:spLocks noChangeArrowheads="1"/>
          </p:cNvSpPr>
          <p:nvPr/>
        </p:nvSpPr>
        <p:spPr bwMode="auto">
          <a:xfrm>
            <a:off x="3746500" y="5635625"/>
            <a:ext cx="1116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zh-CN" altLang="en-US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 </a:t>
            </a: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16824" name="Group 56"/>
          <p:cNvGraphicFramePr>
            <a:graphicFrameLocks noGrp="1"/>
          </p:cNvGraphicFramePr>
          <p:nvPr/>
        </p:nvGraphicFramePr>
        <p:xfrm>
          <a:off x="5078413" y="2420938"/>
          <a:ext cx="1149350" cy="579438"/>
        </p:xfrm>
        <a:graphic>
          <a:graphicData uri="http://schemas.openxmlformats.org/drawingml/2006/table">
            <a:tbl>
              <a:tblPr/>
              <a:tblGrid>
                <a:gridCol w="1149350"/>
              </a:tblGrid>
              <a:tr h="579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16830" name="Text Box 62"/>
          <p:cNvSpPr txBox="1">
            <a:spLocks noChangeArrowheads="1"/>
          </p:cNvSpPr>
          <p:nvPr/>
        </p:nvSpPr>
        <p:spPr bwMode="auto">
          <a:xfrm>
            <a:off x="4572000" y="2420938"/>
            <a:ext cx="792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6831" name="Line 63"/>
          <p:cNvSpPr>
            <a:spLocks noChangeShapeType="1"/>
          </p:cNvSpPr>
          <p:nvPr/>
        </p:nvSpPr>
        <p:spPr bwMode="auto">
          <a:xfrm>
            <a:off x="7812088" y="3454400"/>
            <a:ext cx="0" cy="477838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6832" name="Line 64"/>
          <p:cNvSpPr>
            <a:spLocks noChangeShapeType="1"/>
          </p:cNvSpPr>
          <p:nvPr/>
        </p:nvSpPr>
        <p:spPr bwMode="auto">
          <a:xfrm flipH="1">
            <a:off x="6840538" y="3525838"/>
            <a:ext cx="97155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6833" name="Oval 65"/>
          <p:cNvSpPr>
            <a:spLocks noChangeArrowheads="1"/>
          </p:cNvSpPr>
          <p:nvPr/>
        </p:nvSpPr>
        <p:spPr bwMode="auto">
          <a:xfrm>
            <a:off x="5867400" y="3213100"/>
            <a:ext cx="300038" cy="312738"/>
          </a:xfrm>
          <a:prstGeom prst="ellipse">
            <a:avLst/>
          </a:prstGeom>
          <a:noFill/>
          <a:ln w="38100" cap="sq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6834" name="Line 66"/>
          <p:cNvSpPr>
            <a:spLocks noChangeShapeType="1"/>
          </p:cNvSpPr>
          <p:nvPr/>
        </p:nvSpPr>
        <p:spPr bwMode="auto">
          <a:xfrm flipH="1" flipV="1">
            <a:off x="6167438" y="3525838"/>
            <a:ext cx="349250" cy="623887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6835" name="Line 67"/>
          <p:cNvSpPr>
            <a:spLocks noChangeShapeType="1"/>
          </p:cNvSpPr>
          <p:nvPr/>
        </p:nvSpPr>
        <p:spPr bwMode="auto">
          <a:xfrm>
            <a:off x="5364163" y="2878138"/>
            <a:ext cx="503237" cy="334962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6836" name="Oval 68"/>
          <p:cNvSpPr>
            <a:spLocks noChangeArrowheads="1"/>
          </p:cNvSpPr>
          <p:nvPr/>
        </p:nvSpPr>
        <p:spPr bwMode="auto">
          <a:xfrm>
            <a:off x="5364163" y="1341438"/>
            <a:ext cx="1912937" cy="863600"/>
          </a:xfrm>
          <a:prstGeom prst="ellipse">
            <a:avLst/>
          </a:prstGeom>
          <a:noFill/>
          <a:ln w="38100" cap="sq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6837" name="Line 69"/>
          <p:cNvSpPr>
            <a:spLocks noChangeShapeType="1"/>
          </p:cNvSpPr>
          <p:nvPr/>
        </p:nvSpPr>
        <p:spPr bwMode="auto">
          <a:xfrm flipH="1">
            <a:off x="6167438" y="1773238"/>
            <a:ext cx="1068387" cy="1439862"/>
          </a:xfrm>
          <a:prstGeom prst="line">
            <a:avLst/>
          </a:prstGeom>
          <a:noFill/>
          <a:ln w="28575">
            <a:solidFill>
              <a:schemeClr val="hlink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Text Box 2"/>
          <p:cNvSpPr txBox="1">
            <a:spLocks noChangeArrowheads="1"/>
          </p:cNvSpPr>
          <p:nvPr/>
        </p:nvSpPr>
        <p:spPr bwMode="auto">
          <a:xfrm>
            <a:off x="0" y="620713"/>
            <a:ext cx="9144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buClr>
                <a:srgbClr val="696464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执行（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a[ z ]=a[ y ]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，并让 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 = z+1=3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，见</a:t>
            </a:r>
            <a:r>
              <a:rPr kumimoji="1" lang="zh-CN" altLang="en-US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</a:t>
            </a:r>
            <a:r>
              <a:rPr kumimoji="1" lang="en-US" altLang="zh-CN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6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endParaRPr kumimoji="1" lang="en-US" altLang="zh-CN" sz="28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17795" name="Group 3"/>
          <p:cNvGraphicFramePr>
            <a:graphicFrameLocks noGrp="1"/>
          </p:cNvGraphicFramePr>
          <p:nvPr/>
        </p:nvGraphicFramePr>
        <p:xfrm>
          <a:off x="615950" y="3932238"/>
          <a:ext cx="7772400" cy="518160"/>
        </p:xfrm>
        <a:graphic>
          <a:graphicData uri="http://schemas.openxmlformats.org/drawingml/2006/table">
            <a:tbl>
              <a:tblPr/>
              <a:tblGrid>
                <a:gridCol w="1111250"/>
                <a:gridCol w="1109663"/>
                <a:gridCol w="1111250"/>
                <a:gridCol w="1108075"/>
                <a:gridCol w="1111250"/>
                <a:gridCol w="1109662"/>
                <a:gridCol w="1111250"/>
              </a:tblGrid>
              <a:tr h="5032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17813" name="Group 21"/>
          <p:cNvGraphicFramePr>
            <a:graphicFrameLocks noGrp="1"/>
          </p:cNvGraphicFramePr>
          <p:nvPr/>
        </p:nvGraphicFramePr>
        <p:xfrm>
          <a:off x="615950" y="4594225"/>
          <a:ext cx="7772400" cy="490538"/>
        </p:xfrm>
        <a:graphic>
          <a:graphicData uri="http://schemas.openxmlformats.org/drawingml/2006/table">
            <a:tbl>
              <a:tblPr/>
              <a:tblGrid>
                <a:gridCol w="1111250"/>
                <a:gridCol w="1109663"/>
                <a:gridCol w="1111250"/>
                <a:gridCol w="1108075"/>
                <a:gridCol w="1111250"/>
                <a:gridCol w="1109662"/>
                <a:gridCol w="1111250"/>
              </a:tblGrid>
              <a:tr h="4905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17843" name="Text Box 51"/>
          <p:cNvSpPr txBox="1">
            <a:spLocks noChangeArrowheads="1"/>
          </p:cNvSpPr>
          <p:nvPr/>
        </p:nvSpPr>
        <p:spPr bwMode="auto">
          <a:xfrm>
            <a:off x="4608513" y="3213100"/>
            <a:ext cx="395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7844" name="Text Box 52"/>
          <p:cNvSpPr txBox="1">
            <a:spLocks noChangeArrowheads="1"/>
          </p:cNvSpPr>
          <p:nvPr/>
        </p:nvSpPr>
        <p:spPr bwMode="auto">
          <a:xfrm>
            <a:off x="6840538" y="3068638"/>
            <a:ext cx="395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7845" name="Line 53"/>
          <p:cNvSpPr>
            <a:spLocks noChangeShapeType="1"/>
          </p:cNvSpPr>
          <p:nvPr/>
        </p:nvSpPr>
        <p:spPr bwMode="auto">
          <a:xfrm>
            <a:off x="4465638" y="3454400"/>
            <a:ext cx="0" cy="43180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7846" name="Line 54"/>
          <p:cNvSpPr>
            <a:spLocks noChangeShapeType="1"/>
          </p:cNvSpPr>
          <p:nvPr/>
        </p:nvSpPr>
        <p:spPr bwMode="auto">
          <a:xfrm>
            <a:off x="6699250" y="3454400"/>
            <a:ext cx="0" cy="43180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7847" name="Text Box 55"/>
          <p:cNvSpPr txBox="1">
            <a:spLocks noChangeArrowheads="1"/>
          </p:cNvSpPr>
          <p:nvPr/>
        </p:nvSpPr>
        <p:spPr bwMode="auto">
          <a:xfrm>
            <a:off x="3746500" y="5635625"/>
            <a:ext cx="1116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zh-CN" altLang="en-US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 </a:t>
            </a: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6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17848" name="Group 56"/>
          <p:cNvGraphicFramePr>
            <a:graphicFrameLocks noGrp="1"/>
          </p:cNvGraphicFramePr>
          <p:nvPr/>
        </p:nvGraphicFramePr>
        <p:xfrm>
          <a:off x="5078413" y="2133600"/>
          <a:ext cx="1149350" cy="579438"/>
        </p:xfrm>
        <a:graphic>
          <a:graphicData uri="http://schemas.openxmlformats.org/drawingml/2006/table">
            <a:tbl>
              <a:tblPr/>
              <a:tblGrid>
                <a:gridCol w="1149350"/>
              </a:tblGrid>
              <a:tr h="579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17854" name="Text Box 62"/>
          <p:cNvSpPr txBox="1">
            <a:spLocks noChangeArrowheads="1"/>
          </p:cNvSpPr>
          <p:nvPr/>
        </p:nvSpPr>
        <p:spPr bwMode="auto">
          <a:xfrm>
            <a:off x="4572000" y="2133600"/>
            <a:ext cx="792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7855" name="Line 63"/>
          <p:cNvSpPr>
            <a:spLocks noChangeShapeType="1"/>
          </p:cNvSpPr>
          <p:nvPr/>
        </p:nvSpPr>
        <p:spPr bwMode="auto">
          <a:xfrm flipH="1">
            <a:off x="3563938" y="4221163"/>
            <a:ext cx="2952750" cy="0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7856" name="Line 64"/>
          <p:cNvSpPr>
            <a:spLocks noChangeShapeType="1"/>
          </p:cNvSpPr>
          <p:nvPr/>
        </p:nvSpPr>
        <p:spPr bwMode="auto">
          <a:xfrm>
            <a:off x="3348038" y="3454400"/>
            <a:ext cx="0" cy="477838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7857" name="Line 65"/>
          <p:cNvSpPr>
            <a:spLocks noChangeShapeType="1"/>
          </p:cNvSpPr>
          <p:nvPr/>
        </p:nvSpPr>
        <p:spPr bwMode="auto">
          <a:xfrm>
            <a:off x="3348038" y="3525838"/>
            <a:ext cx="1117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7858" name="Line 66"/>
          <p:cNvSpPr>
            <a:spLocks noChangeShapeType="1"/>
          </p:cNvSpPr>
          <p:nvPr/>
        </p:nvSpPr>
        <p:spPr bwMode="auto">
          <a:xfrm>
            <a:off x="3563938" y="3525838"/>
            <a:ext cx="9017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Text Box 2"/>
          <p:cNvSpPr txBox="1">
            <a:spLocks noChangeArrowheads="1"/>
          </p:cNvSpPr>
          <p:nvPr/>
        </p:nvSpPr>
        <p:spPr bwMode="auto">
          <a:xfrm>
            <a:off x="0" y="620713"/>
            <a:ext cx="9144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buClr>
                <a:srgbClr val="696464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执行（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）由于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a[3]=1&lt;k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，满足当循环条件，</a:t>
            </a:r>
            <a:endParaRPr kumimoji="1" lang="zh-CN" altLang="en-US" sz="28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defTabSz="457200">
              <a:buClr>
                <a:srgbClr val="696464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让 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 = z+1=4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a[4]=7&gt;k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，退出循环。见</a:t>
            </a:r>
            <a:r>
              <a:rPr kumimoji="1" lang="zh-CN" altLang="en-US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</a:t>
            </a:r>
            <a:r>
              <a:rPr kumimoji="1" lang="en-US" altLang="zh-CN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7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endParaRPr kumimoji="1" lang="en-US" altLang="zh-CN" sz="28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18819" name="Group 3"/>
          <p:cNvGraphicFramePr>
            <a:graphicFrameLocks noGrp="1"/>
          </p:cNvGraphicFramePr>
          <p:nvPr/>
        </p:nvGraphicFramePr>
        <p:xfrm>
          <a:off x="615950" y="3932238"/>
          <a:ext cx="7772400" cy="518160"/>
        </p:xfrm>
        <a:graphic>
          <a:graphicData uri="http://schemas.openxmlformats.org/drawingml/2006/table">
            <a:tbl>
              <a:tblPr/>
              <a:tblGrid>
                <a:gridCol w="1111250"/>
                <a:gridCol w="1109663"/>
                <a:gridCol w="1111250"/>
                <a:gridCol w="1108075"/>
                <a:gridCol w="1111250"/>
                <a:gridCol w="1109662"/>
                <a:gridCol w="1111250"/>
              </a:tblGrid>
              <a:tr h="5032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18837" name="Group 21"/>
          <p:cNvGraphicFramePr>
            <a:graphicFrameLocks noGrp="1"/>
          </p:cNvGraphicFramePr>
          <p:nvPr/>
        </p:nvGraphicFramePr>
        <p:xfrm>
          <a:off x="615950" y="4594225"/>
          <a:ext cx="7772400" cy="490538"/>
        </p:xfrm>
        <a:graphic>
          <a:graphicData uri="http://schemas.openxmlformats.org/drawingml/2006/table">
            <a:tbl>
              <a:tblPr/>
              <a:tblGrid>
                <a:gridCol w="1111250"/>
                <a:gridCol w="1109663"/>
                <a:gridCol w="1111250"/>
                <a:gridCol w="1108075"/>
                <a:gridCol w="1111250"/>
                <a:gridCol w="1109662"/>
                <a:gridCol w="1111250"/>
              </a:tblGrid>
              <a:tr h="4905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18867" name="Text Box 51"/>
          <p:cNvSpPr txBox="1">
            <a:spLocks noChangeArrowheads="1"/>
          </p:cNvSpPr>
          <p:nvPr/>
        </p:nvSpPr>
        <p:spPr bwMode="auto">
          <a:xfrm>
            <a:off x="5761038" y="3213100"/>
            <a:ext cx="395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8868" name="Text Box 52"/>
          <p:cNvSpPr txBox="1">
            <a:spLocks noChangeArrowheads="1"/>
          </p:cNvSpPr>
          <p:nvPr/>
        </p:nvSpPr>
        <p:spPr bwMode="auto">
          <a:xfrm>
            <a:off x="6840538" y="3068638"/>
            <a:ext cx="395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8869" name="Line 53"/>
          <p:cNvSpPr>
            <a:spLocks noChangeShapeType="1"/>
          </p:cNvSpPr>
          <p:nvPr/>
        </p:nvSpPr>
        <p:spPr bwMode="auto">
          <a:xfrm>
            <a:off x="5618163" y="3454400"/>
            <a:ext cx="0" cy="43180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8870" name="Line 54"/>
          <p:cNvSpPr>
            <a:spLocks noChangeShapeType="1"/>
          </p:cNvSpPr>
          <p:nvPr/>
        </p:nvSpPr>
        <p:spPr bwMode="auto">
          <a:xfrm>
            <a:off x="6699250" y="3454400"/>
            <a:ext cx="0" cy="43180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8871" name="Text Box 55"/>
          <p:cNvSpPr txBox="1">
            <a:spLocks noChangeArrowheads="1"/>
          </p:cNvSpPr>
          <p:nvPr/>
        </p:nvSpPr>
        <p:spPr bwMode="auto">
          <a:xfrm>
            <a:off x="3746500" y="5635625"/>
            <a:ext cx="1116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zh-CN" altLang="en-US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 </a:t>
            </a: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7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18872" name="Group 56"/>
          <p:cNvGraphicFramePr>
            <a:graphicFrameLocks noGrp="1"/>
          </p:cNvGraphicFramePr>
          <p:nvPr/>
        </p:nvGraphicFramePr>
        <p:xfrm>
          <a:off x="5078413" y="2133600"/>
          <a:ext cx="1149350" cy="579438"/>
        </p:xfrm>
        <a:graphic>
          <a:graphicData uri="http://schemas.openxmlformats.org/drawingml/2006/table">
            <a:tbl>
              <a:tblPr/>
              <a:tblGrid>
                <a:gridCol w="1149350"/>
              </a:tblGrid>
              <a:tr h="579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18878" name="Text Box 62"/>
          <p:cNvSpPr txBox="1">
            <a:spLocks noChangeArrowheads="1"/>
          </p:cNvSpPr>
          <p:nvPr/>
        </p:nvSpPr>
        <p:spPr bwMode="auto">
          <a:xfrm>
            <a:off x="4572000" y="2133600"/>
            <a:ext cx="792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8879" name="Line 63"/>
          <p:cNvSpPr>
            <a:spLocks noChangeShapeType="1"/>
          </p:cNvSpPr>
          <p:nvPr/>
        </p:nvSpPr>
        <p:spPr bwMode="auto">
          <a:xfrm>
            <a:off x="4572000" y="3454400"/>
            <a:ext cx="0" cy="477838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8880" name="Line 64"/>
          <p:cNvSpPr>
            <a:spLocks noChangeShapeType="1"/>
          </p:cNvSpPr>
          <p:nvPr/>
        </p:nvSpPr>
        <p:spPr bwMode="auto">
          <a:xfrm>
            <a:off x="4572000" y="3454400"/>
            <a:ext cx="792163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8881" name="Oval 65"/>
          <p:cNvSpPr>
            <a:spLocks noChangeArrowheads="1"/>
          </p:cNvSpPr>
          <p:nvPr/>
        </p:nvSpPr>
        <p:spPr bwMode="auto">
          <a:xfrm>
            <a:off x="3492500" y="2713038"/>
            <a:ext cx="455613" cy="211137"/>
          </a:xfrm>
          <a:prstGeom prst="ellipse">
            <a:avLst/>
          </a:prstGeom>
          <a:noFill/>
          <a:ln w="38100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8882" name="Line 66"/>
          <p:cNvSpPr>
            <a:spLocks noChangeShapeType="1"/>
          </p:cNvSpPr>
          <p:nvPr/>
        </p:nvSpPr>
        <p:spPr bwMode="auto">
          <a:xfrm flipH="1" flipV="1">
            <a:off x="3948113" y="3068638"/>
            <a:ext cx="1416050" cy="1081087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8883" name="Line 67"/>
          <p:cNvSpPr>
            <a:spLocks noChangeShapeType="1"/>
          </p:cNvSpPr>
          <p:nvPr/>
        </p:nvSpPr>
        <p:spPr bwMode="auto">
          <a:xfrm flipH="1">
            <a:off x="3948113" y="2420938"/>
            <a:ext cx="1416050" cy="292100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8884" name="Oval 68"/>
          <p:cNvSpPr>
            <a:spLocks noChangeArrowheads="1"/>
          </p:cNvSpPr>
          <p:nvPr/>
        </p:nvSpPr>
        <p:spPr bwMode="auto">
          <a:xfrm>
            <a:off x="2700338" y="1052513"/>
            <a:ext cx="1655762" cy="720725"/>
          </a:xfrm>
          <a:prstGeom prst="ellipse">
            <a:avLst/>
          </a:prstGeom>
          <a:noFill/>
          <a:ln w="28575" cap="sq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8885" name="Line 69"/>
          <p:cNvSpPr>
            <a:spLocks noChangeShapeType="1"/>
          </p:cNvSpPr>
          <p:nvPr/>
        </p:nvSpPr>
        <p:spPr bwMode="auto">
          <a:xfrm>
            <a:off x="3276600" y="1773238"/>
            <a:ext cx="469900" cy="939800"/>
          </a:xfrm>
          <a:prstGeom prst="line">
            <a:avLst/>
          </a:prstGeom>
          <a:noFill/>
          <a:ln w="38100">
            <a:solidFill>
              <a:schemeClr val="hlink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Text Box 2"/>
          <p:cNvSpPr txBox="1">
            <a:spLocks noChangeArrowheads="1"/>
          </p:cNvSpPr>
          <p:nvPr/>
        </p:nvSpPr>
        <p:spPr bwMode="auto">
          <a:xfrm>
            <a:off x="0" y="620713"/>
            <a:ext cx="9144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buClr>
                <a:srgbClr val="696464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执行（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a[z]=a[y]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a[5]=7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。见</a:t>
            </a:r>
            <a:r>
              <a:rPr kumimoji="1" lang="zh-CN" altLang="en-US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</a:t>
            </a:r>
            <a:r>
              <a:rPr kumimoji="1" lang="en-US" altLang="zh-CN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8 </a:t>
            </a:r>
            <a:endParaRPr kumimoji="1" lang="en-US" altLang="zh-CN" sz="2800">
              <a:solidFill>
                <a:srgbClr val="CC99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defTabSz="457200">
              <a:buClr>
                <a:srgbClr val="696464"/>
              </a:buClr>
              <a:buFont typeface="Wingdings" panose="05000000000000000000" pitchFamily="2" charset="2"/>
              <a:buNone/>
            </a:pP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这时仍然 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z&lt;y 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，应继续执行直到型循环的循环体。</a:t>
            </a:r>
            <a:endParaRPr kumimoji="1" lang="zh-CN" altLang="en-US" sz="28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19843" name="Group 3"/>
          <p:cNvGraphicFramePr>
            <a:graphicFrameLocks noGrp="1"/>
          </p:cNvGraphicFramePr>
          <p:nvPr/>
        </p:nvGraphicFramePr>
        <p:xfrm>
          <a:off x="615950" y="3932238"/>
          <a:ext cx="7772400" cy="518160"/>
        </p:xfrm>
        <a:graphic>
          <a:graphicData uri="http://schemas.openxmlformats.org/drawingml/2006/table">
            <a:tbl>
              <a:tblPr/>
              <a:tblGrid>
                <a:gridCol w="1111250"/>
                <a:gridCol w="1109663"/>
                <a:gridCol w="1111250"/>
                <a:gridCol w="1108075"/>
                <a:gridCol w="1111250"/>
                <a:gridCol w="1109662"/>
                <a:gridCol w="1111250"/>
              </a:tblGrid>
              <a:tr h="5032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19861" name="Group 21"/>
          <p:cNvGraphicFramePr>
            <a:graphicFrameLocks noGrp="1"/>
          </p:cNvGraphicFramePr>
          <p:nvPr/>
        </p:nvGraphicFramePr>
        <p:xfrm>
          <a:off x="615950" y="4594225"/>
          <a:ext cx="7772400" cy="490538"/>
        </p:xfrm>
        <a:graphic>
          <a:graphicData uri="http://schemas.openxmlformats.org/drawingml/2006/table">
            <a:tbl>
              <a:tblPr/>
              <a:tblGrid>
                <a:gridCol w="1111250"/>
                <a:gridCol w="1109663"/>
                <a:gridCol w="1111250"/>
                <a:gridCol w="1108075"/>
                <a:gridCol w="1111250"/>
                <a:gridCol w="1109662"/>
                <a:gridCol w="1111250"/>
              </a:tblGrid>
              <a:tr h="4905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19891" name="Text Box 51"/>
          <p:cNvSpPr txBox="1">
            <a:spLocks noChangeArrowheads="1"/>
          </p:cNvSpPr>
          <p:nvPr/>
        </p:nvSpPr>
        <p:spPr bwMode="auto">
          <a:xfrm>
            <a:off x="5761038" y="3213100"/>
            <a:ext cx="395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9892" name="Text Box 52"/>
          <p:cNvSpPr txBox="1">
            <a:spLocks noChangeArrowheads="1"/>
          </p:cNvSpPr>
          <p:nvPr/>
        </p:nvSpPr>
        <p:spPr bwMode="auto">
          <a:xfrm>
            <a:off x="6840538" y="3068638"/>
            <a:ext cx="395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9893" name="Line 53"/>
          <p:cNvSpPr>
            <a:spLocks noChangeShapeType="1"/>
          </p:cNvSpPr>
          <p:nvPr/>
        </p:nvSpPr>
        <p:spPr bwMode="auto">
          <a:xfrm>
            <a:off x="5618163" y="3454400"/>
            <a:ext cx="0" cy="43180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9894" name="Line 54"/>
          <p:cNvSpPr>
            <a:spLocks noChangeShapeType="1"/>
          </p:cNvSpPr>
          <p:nvPr/>
        </p:nvSpPr>
        <p:spPr bwMode="auto">
          <a:xfrm>
            <a:off x="6699250" y="3454400"/>
            <a:ext cx="0" cy="43180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19895" name="Text Box 55"/>
          <p:cNvSpPr txBox="1">
            <a:spLocks noChangeArrowheads="1"/>
          </p:cNvSpPr>
          <p:nvPr/>
        </p:nvSpPr>
        <p:spPr bwMode="auto">
          <a:xfrm>
            <a:off x="3746500" y="5635625"/>
            <a:ext cx="1116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zh-CN" altLang="en-US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 </a:t>
            </a: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8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19896" name="Group 56"/>
          <p:cNvGraphicFramePr>
            <a:graphicFrameLocks noGrp="1"/>
          </p:cNvGraphicFramePr>
          <p:nvPr/>
        </p:nvGraphicFramePr>
        <p:xfrm>
          <a:off x="5078413" y="2205038"/>
          <a:ext cx="1149350" cy="579438"/>
        </p:xfrm>
        <a:graphic>
          <a:graphicData uri="http://schemas.openxmlformats.org/drawingml/2006/table">
            <a:tbl>
              <a:tblPr/>
              <a:tblGrid>
                <a:gridCol w="1149350"/>
              </a:tblGrid>
              <a:tr h="579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19902" name="Text Box 62"/>
          <p:cNvSpPr txBox="1">
            <a:spLocks noChangeArrowheads="1"/>
          </p:cNvSpPr>
          <p:nvPr/>
        </p:nvSpPr>
        <p:spPr bwMode="auto">
          <a:xfrm>
            <a:off x="4572000" y="2205038"/>
            <a:ext cx="792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9903" name="Line 63"/>
          <p:cNvSpPr>
            <a:spLocks noChangeShapeType="1"/>
          </p:cNvSpPr>
          <p:nvPr/>
        </p:nvSpPr>
        <p:spPr bwMode="auto">
          <a:xfrm>
            <a:off x="5761038" y="4221163"/>
            <a:ext cx="938212" cy="0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Text Box 2"/>
          <p:cNvSpPr txBox="1">
            <a:spLocks noChangeArrowheads="1"/>
          </p:cNvSpPr>
          <p:nvPr/>
        </p:nvSpPr>
        <p:spPr bwMode="auto">
          <a:xfrm>
            <a:off x="0" y="620713"/>
            <a:ext cx="9144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buClr>
                <a:srgbClr val="696464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执行（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），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a[ y ] = 7&gt;k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，让 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 = y-1 = 4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。见</a:t>
            </a:r>
            <a:r>
              <a:rPr kumimoji="1" lang="zh-CN" altLang="en-US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</a:t>
            </a:r>
            <a:r>
              <a:rPr kumimoji="1" lang="en-US" altLang="zh-CN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9</a:t>
            </a:r>
            <a:endParaRPr kumimoji="1" lang="en-US" altLang="zh-CN" sz="2800">
              <a:solidFill>
                <a:srgbClr val="CC99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20867" name="Group 3"/>
          <p:cNvGraphicFramePr>
            <a:graphicFrameLocks noGrp="1"/>
          </p:cNvGraphicFramePr>
          <p:nvPr/>
        </p:nvGraphicFramePr>
        <p:xfrm>
          <a:off x="615950" y="3932238"/>
          <a:ext cx="7772400" cy="518160"/>
        </p:xfrm>
        <a:graphic>
          <a:graphicData uri="http://schemas.openxmlformats.org/drawingml/2006/table">
            <a:tbl>
              <a:tblPr/>
              <a:tblGrid>
                <a:gridCol w="1111250"/>
                <a:gridCol w="1109663"/>
                <a:gridCol w="1111250"/>
                <a:gridCol w="1108075"/>
                <a:gridCol w="1111250"/>
                <a:gridCol w="1109662"/>
                <a:gridCol w="1111250"/>
              </a:tblGrid>
              <a:tr h="5032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20885" name="Group 21"/>
          <p:cNvGraphicFramePr>
            <a:graphicFrameLocks noGrp="1"/>
          </p:cNvGraphicFramePr>
          <p:nvPr/>
        </p:nvGraphicFramePr>
        <p:xfrm>
          <a:off x="615950" y="4594225"/>
          <a:ext cx="7772400" cy="490538"/>
        </p:xfrm>
        <a:graphic>
          <a:graphicData uri="http://schemas.openxmlformats.org/drawingml/2006/table">
            <a:tbl>
              <a:tblPr/>
              <a:tblGrid>
                <a:gridCol w="1111250"/>
                <a:gridCol w="1109663"/>
                <a:gridCol w="1111250"/>
                <a:gridCol w="1108075"/>
                <a:gridCol w="1111250"/>
                <a:gridCol w="1109662"/>
                <a:gridCol w="1111250"/>
              </a:tblGrid>
              <a:tr h="4905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20915" name="Text Box 51"/>
          <p:cNvSpPr txBox="1">
            <a:spLocks noChangeArrowheads="1"/>
          </p:cNvSpPr>
          <p:nvPr/>
        </p:nvSpPr>
        <p:spPr bwMode="auto">
          <a:xfrm>
            <a:off x="5219700" y="3116263"/>
            <a:ext cx="395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0916" name="Text Box 52"/>
          <p:cNvSpPr txBox="1">
            <a:spLocks noChangeArrowheads="1"/>
          </p:cNvSpPr>
          <p:nvPr/>
        </p:nvSpPr>
        <p:spPr bwMode="auto">
          <a:xfrm>
            <a:off x="5722938" y="3068638"/>
            <a:ext cx="395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0917" name="Line 53"/>
          <p:cNvSpPr>
            <a:spLocks noChangeShapeType="1"/>
          </p:cNvSpPr>
          <p:nvPr/>
        </p:nvSpPr>
        <p:spPr bwMode="auto">
          <a:xfrm>
            <a:off x="5581650" y="3454400"/>
            <a:ext cx="0" cy="43180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20918" name="Text Box 54"/>
          <p:cNvSpPr txBox="1">
            <a:spLocks noChangeArrowheads="1"/>
          </p:cNvSpPr>
          <p:nvPr/>
        </p:nvSpPr>
        <p:spPr bwMode="auto">
          <a:xfrm>
            <a:off x="3746500" y="5635625"/>
            <a:ext cx="1116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zh-CN" altLang="en-US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 </a:t>
            </a: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9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20919" name="Group 55"/>
          <p:cNvGraphicFramePr>
            <a:graphicFrameLocks noGrp="1"/>
          </p:cNvGraphicFramePr>
          <p:nvPr/>
        </p:nvGraphicFramePr>
        <p:xfrm>
          <a:off x="5078413" y="1916113"/>
          <a:ext cx="1149350" cy="579438"/>
        </p:xfrm>
        <a:graphic>
          <a:graphicData uri="http://schemas.openxmlformats.org/drawingml/2006/table">
            <a:tbl>
              <a:tblPr/>
              <a:tblGrid>
                <a:gridCol w="1149350"/>
              </a:tblGrid>
              <a:tr h="579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20925" name="Text Box 61"/>
          <p:cNvSpPr txBox="1">
            <a:spLocks noChangeArrowheads="1"/>
          </p:cNvSpPr>
          <p:nvPr/>
        </p:nvSpPr>
        <p:spPr bwMode="auto">
          <a:xfrm>
            <a:off x="4572000" y="1916113"/>
            <a:ext cx="792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0926" name="Line 62"/>
          <p:cNvSpPr>
            <a:spLocks noChangeShapeType="1"/>
          </p:cNvSpPr>
          <p:nvPr/>
        </p:nvSpPr>
        <p:spPr bwMode="auto">
          <a:xfrm>
            <a:off x="6659563" y="3454400"/>
            <a:ext cx="0" cy="43180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20927" name="Line 63"/>
          <p:cNvSpPr>
            <a:spLocks noChangeShapeType="1"/>
          </p:cNvSpPr>
          <p:nvPr/>
        </p:nvSpPr>
        <p:spPr bwMode="auto">
          <a:xfrm flipH="1">
            <a:off x="5722938" y="3573463"/>
            <a:ext cx="936625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20928" name="Line 64"/>
          <p:cNvSpPr>
            <a:spLocks noChangeShapeType="1"/>
          </p:cNvSpPr>
          <p:nvPr/>
        </p:nvSpPr>
        <p:spPr bwMode="auto">
          <a:xfrm flipH="1">
            <a:off x="5722938" y="3573463"/>
            <a:ext cx="720725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Text Box 2"/>
          <p:cNvSpPr txBox="1">
            <a:spLocks noChangeArrowheads="1"/>
          </p:cNvSpPr>
          <p:nvPr/>
        </p:nvSpPr>
        <p:spPr bwMode="auto">
          <a:xfrm>
            <a:off x="0" y="620713"/>
            <a:ext cx="9144000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buClr>
                <a:srgbClr val="696464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之后，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 = y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，退出直到型循环，做 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a[ z ] = k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 = 4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  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 [ 4 ] = 5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，这是 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 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的最终位置，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 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将整个数据分成左右两个集合，见</a:t>
            </a:r>
            <a:r>
              <a:rPr kumimoji="1" lang="zh-CN" altLang="en-US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</a:t>
            </a:r>
            <a:r>
              <a:rPr kumimoji="1" lang="en-US" altLang="zh-CN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kumimoji="1" lang="zh-CN" altLang="en-US" sz="28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21891" name="Group 3"/>
          <p:cNvGraphicFramePr>
            <a:graphicFrameLocks noGrp="1"/>
          </p:cNvGraphicFramePr>
          <p:nvPr/>
        </p:nvGraphicFramePr>
        <p:xfrm>
          <a:off x="615950" y="3932238"/>
          <a:ext cx="7772400" cy="518160"/>
        </p:xfrm>
        <a:graphic>
          <a:graphicData uri="http://schemas.openxmlformats.org/drawingml/2006/table">
            <a:tbl>
              <a:tblPr/>
              <a:tblGrid>
                <a:gridCol w="1111250"/>
                <a:gridCol w="1109663"/>
                <a:gridCol w="1111250"/>
                <a:gridCol w="1108075"/>
                <a:gridCol w="1111250"/>
                <a:gridCol w="1109662"/>
                <a:gridCol w="1111250"/>
              </a:tblGrid>
              <a:tr h="5032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21909" name="Group 21"/>
          <p:cNvGraphicFramePr>
            <a:graphicFrameLocks noGrp="1"/>
          </p:cNvGraphicFramePr>
          <p:nvPr/>
        </p:nvGraphicFramePr>
        <p:xfrm>
          <a:off x="615950" y="4594225"/>
          <a:ext cx="7772400" cy="490538"/>
        </p:xfrm>
        <a:graphic>
          <a:graphicData uri="http://schemas.openxmlformats.org/drawingml/2006/table">
            <a:tbl>
              <a:tblPr/>
              <a:tblGrid>
                <a:gridCol w="1111250"/>
                <a:gridCol w="1109663"/>
                <a:gridCol w="1111250"/>
                <a:gridCol w="1108075"/>
                <a:gridCol w="1111250"/>
                <a:gridCol w="1109662"/>
                <a:gridCol w="1111250"/>
              </a:tblGrid>
              <a:tr h="4905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21939" name="Text Box 51"/>
          <p:cNvSpPr txBox="1">
            <a:spLocks noChangeArrowheads="1"/>
          </p:cNvSpPr>
          <p:nvPr/>
        </p:nvSpPr>
        <p:spPr bwMode="auto">
          <a:xfrm>
            <a:off x="5219700" y="3116263"/>
            <a:ext cx="395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1940" name="Text Box 52"/>
          <p:cNvSpPr txBox="1">
            <a:spLocks noChangeArrowheads="1"/>
          </p:cNvSpPr>
          <p:nvPr/>
        </p:nvSpPr>
        <p:spPr bwMode="auto">
          <a:xfrm>
            <a:off x="5722938" y="3068638"/>
            <a:ext cx="395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1941" name="Line 53"/>
          <p:cNvSpPr>
            <a:spLocks noChangeShapeType="1"/>
          </p:cNvSpPr>
          <p:nvPr/>
        </p:nvSpPr>
        <p:spPr bwMode="auto">
          <a:xfrm>
            <a:off x="5581650" y="3454400"/>
            <a:ext cx="0" cy="43180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21942" name="Text Box 54"/>
          <p:cNvSpPr txBox="1">
            <a:spLocks noChangeArrowheads="1"/>
          </p:cNvSpPr>
          <p:nvPr/>
        </p:nvSpPr>
        <p:spPr bwMode="auto">
          <a:xfrm>
            <a:off x="4465638" y="6092825"/>
            <a:ext cx="1116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zh-CN" altLang="en-US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 </a:t>
            </a: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1943" name="AutoShape 55"/>
          <p:cNvSpPr/>
          <p:nvPr/>
        </p:nvSpPr>
        <p:spPr bwMode="auto">
          <a:xfrm rot="-5400000">
            <a:off x="2728119" y="3185319"/>
            <a:ext cx="284163" cy="4371975"/>
          </a:xfrm>
          <a:prstGeom prst="leftBrace">
            <a:avLst>
              <a:gd name="adj1" fmla="val 128212"/>
              <a:gd name="adj2" fmla="val 50000"/>
            </a:avLst>
          </a:prstGeom>
          <a:noFill/>
          <a:ln w="25400" cap="sq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21944" name="AutoShape 56"/>
          <p:cNvSpPr/>
          <p:nvPr/>
        </p:nvSpPr>
        <p:spPr bwMode="auto">
          <a:xfrm rot="-5400000">
            <a:off x="7201694" y="4255294"/>
            <a:ext cx="284163" cy="2232025"/>
          </a:xfrm>
          <a:prstGeom prst="leftBrace">
            <a:avLst>
              <a:gd name="adj1" fmla="val 65456"/>
              <a:gd name="adj2" fmla="val 50000"/>
            </a:avLst>
          </a:prstGeom>
          <a:noFill/>
          <a:ln w="25400" cap="sq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21945" name="Text Box 57"/>
          <p:cNvSpPr txBox="1">
            <a:spLocks noChangeArrowheads="1"/>
          </p:cNvSpPr>
          <p:nvPr/>
        </p:nvSpPr>
        <p:spPr bwMode="auto">
          <a:xfrm>
            <a:off x="2411413" y="5661025"/>
            <a:ext cx="1116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zh-CN" altLang="en-US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左</a:t>
            </a:r>
            <a:endParaRPr kumimoji="1" lang="zh-CN" altLang="en-US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1946" name="Text Box 58"/>
          <p:cNvSpPr txBox="1">
            <a:spLocks noChangeArrowheads="1"/>
          </p:cNvSpPr>
          <p:nvPr/>
        </p:nvSpPr>
        <p:spPr bwMode="auto">
          <a:xfrm>
            <a:off x="7127875" y="5661025"/>
            <a:ext cx="1116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zh-CN" altLang="en-US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右</a:t>
            </a:r>
            <a:endParaRPr kumimoji="1" lang="zh-CN" altLang="en-US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21947" name="Group 59"/>
          <p:cNvGraphicFramePr>
            <a:graphicFrameLocks noGrp="1"/>
          </p:cNvGraphicFramePr>
          <p:nvPr/>
        </p:nvGraphicFramePr>
        <p:xfrm>
          <a:off x="5294313" y="2132013"/>
          <a:ext cx="1149350" cy="579438"/>
        </p:xfrm>
        <a:graphic>
          <a:graphicData uri="http://schemas.openxmlformats.org/drawingml/2006/table">
            <a:tbl>
              <a:tblPr/>
              <a:tblGrid>
                <a:gridCol w="1149350"/>
              </a:tblGrid>
              <a:tr h="579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21953" name="Text Box 65"/>
          <p:cNvSpPr txBox="1">
            <a:spLocks noChangeArrowheads="1"/>
          </p:cNvSpPr>
          <p:nvPr/>
        </p:nvSpPr>
        <p:spPr bwMode="auto">
          <a:xfrm>
            <a:off x="4787900" y="2132013"/>
            <a:ext cx="792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1954" name="Line 66"/>
          <p:cNvSpPr>
            <a:spLocks noChangeShapeType="1"/>
          </p:cNvSpPr>
          <p:nvPr/>
        </p:nvSpPr>
        <p:spPr bwMode="auto">
          <a:xfrm flipH="1">
            <a:off x="5867400" y="2420938"/>
            <a:ext cx="360363" cy="1800225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Text Box 2"/>
          <p:cNvSpPr txBox="1">
            <a:spLocks noChangeArrowheads="1"/>
          </p:cNvSpPr>
          <p:nvPr/>
        </p:nvSpPr>
        <p:spPr bwMode="auto">
          <a:xfrm>
            <a:off x="-36513" y="260350"/>
            <a:ext cx="9180513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buClr>
                <a:srgbClr val="696464"/>
              </a:buClr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用上述思路去排左边的部分</a:t>
            </a:r>
            <a:endParaRPr kumimoji="1" lang="zh-CN" altLang="en-US" sz="2800">
              <a:solidFill>
                <a:srgbClr val="CC99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defTabSz="457200">
              <a:buClr>
                <a:srgbClr val="696464"/>
              </a:buClr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从 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 = 0 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到 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 = 3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，见</a:t>
            </a:r>
            <a:r>
              <a:rPr kumimoji="1" lang="zh-CN" altLang="en-US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</a:t>
            </a:r>
            <a:r>
              <a:rPr kumimoji="1" lang="en-US" altLang="zh-CN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11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。让 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 = a[ z ] = a[ 0 ] = 4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，然后进到直到型循环，</a:t>
            </a:r>
            <a:endParaRPr kumimoji="1" lang="zh-CN" altLang="en-US" sz="28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defTabSz="457200">
              <a:buClr>
                <a:srgbClr val="696464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执行（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a[ y ] = 1&lt;k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，不满足当循环的条件，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不动。</a:t>
            </a:r>
            <a:endParaRPr kumimoji="1" lang="zh-CN" altLang="en-US" sz="28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defTabSz="457200">
              <a:buClr>
                <a:srgbClr val="696464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执行（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a[ z ] = a[ y ]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 = z+1 = 1, 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见</a:t>
            </a:r>
            <a:r>
              <a:rPr kumimoji="1" lang="zh-CN" altLang="en-US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</a:t>
            </a:r>
            <a:r>
              <a:rPr kumimoji="1" lang="en-US" altLang="zh-CN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12</a:t>
            </a:r>
            <a:endParaRPr kumimoji="1" lang="en-US" altLang="zh-CN" sz="2800">
              <a:solidFill>
                <a:srgbClr val="CC99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22915" name="Group 3"/>
          <p:cNvGraphicFramePr>
            <a:graphicFrameLocks noGrp="1"/>
          </p:cNvGraphicFramePr>
          <p:nvPr/>
        </p:nvGraphicFramePr>
        <p:xfrm>
          <a:off x="5148263" y="4089400"/>
          <a:ext cx="3671887" cy="518160"/>
        </p:xfrm>
        <a:graphic>
          <a:graphicData uri="http://schemas.openxmlformats.org/drawingml/2006/table">
            <a:tbl>
              <a:tblPr/>
              <a:tblGrid>
                <a:gridCol w="919162"/>
                <a:gridCol w="917575"/>
                <a:gridCol w="919163"/>
                <a:gridCol w="915987"/>
              </a:tblGrid>
              <a:tr h="5032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2927" name="Group 15"/>
          <p:cNvGraphicFramePr>
            <a:graphicFrameLocks noGrp="1"/>
          </p:cNvGraphicFramePr>
          <p:nvPr/>
        </p:nvGraphicFramePr>
        <p:xfrm>
          <a:off x="5148263" y="4751388"/>
          <a:ext cx="3671887" cy="490538"/>
        </p:xfrm>
        <a:graphic>
          <a:graphicData uri="http://schemas.openxmlformats.org/drawingml/2006/table">
            <a:tbl>
              <a:tblPr/>
              <a:tblGrid>
                <a:gridCol w="919162"/>
                <a:gridCol w="917575"/>
                <a:gridCol w="919163"/>
                <a:gridCol w="915987"/>
              </a:tblGrid>
              <a:tr h="4905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22945" name="Text Box 33"/>
          <p:cNvSpPr txBox="1">
            <a:spLocks noChangeArrowheads="1"/>
          </p:cNvSpPr>
          <p:nvPr/>
        </p:nvSpPr>
        <p:spPr bwMode="auto">
          <a:xfrm>
            <a:off x="6248400" y="3429000"/>
            <a:ext cx="32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2946" name="Text Box 34"/>
          <p:cNvSpPr txBox="1">
            <a:spLocks noChangeArrowheads="1"/>
          </p:cNvSpPr>
          <p:nvPr/>
        </p:nvSpPr>
        <p:spPr bwMode="auto">
          <a:xfrm>
            <a:off x="8301038" y="3405188"/>
            <a:ext cx="32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2947" name="Line 35"/>
          <p:cNvSpPr>
            <a:spLocks noChangeShapeType="1"/>
          </p:cNvSpPr>
          <p:nvPr/>
        </p:nvSpPr>
        <p:spPr bwMode="auto">
          <a:xfrm>
            <a:off x="8264525" y="3611563"/>
            <a:ext cx="0" cy="43180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22948" name="Text Box 36"/>
          <p:cNvSpPr txBox="1">
            <a:spLocks noChangeArrowheads="1"/>
          </p:cNvSpPr>
          <p:nvPr/>
        </p:nvSpPr>
        <p:spPr bwMode="auto">
          <a:xfrm>
            <a:off x="6581775" y="5564188"/>
            <a:ext cx="922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zh-CN" altLang="en-US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 </a:t>
            </a: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12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2949" name="Line 37"/>
          <p:cNvSpPr>
            <a:spLocks noChangeShapeType="1"/>
          </p:cNvSpPr>
          <p:nvPr/>
        </p:nvSpPr>
        <p:spPr bwMode="auto">
          <a:xfrm>
            <a:off x="6516688" y="3584575"/>
            <a:ext cx="0" cy="43180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422950" name="Group 38"/>
          <p:cNvGraphicFramePr>
            <a:graphicFrameLocks noGrp="1"/>
          </p:cNvGraphicFramePr>
          <p:nvPr/>
        </p:nvGraphicFramePr>
        <p:xfrm>
          <a:off x="447675" y="4089400"/>
          <a:ext cx="3671888" cy="518160"/>
        </p:xfrm>
        <a:graphic>
          <a:graphicData uri="http://schemas.openxmlformats.org/drawingml/2006/table">
            <a:tbl>
              <a:tblPr/>
              <a:tblGrid>
                <a:gridCol w="919163"/>
                <a:gridCol w="917575"/>
                <a:gridCol w="919162"/>
                <a:gridCol w="915988"/>
              </a:tblGrid>
              <a:tr h="5032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22962" name="Group 50"/>
          <p:cNvGraphicFramePr>
            <a:graphicFrameLocks noGrp="1"/>
          </p:cNvGraphicFramePr>
          <p:nvPr/>
        </p:nvGraphicFramePr>
        <p:xfrm>
          <a:off x="447675" y="4751388"/>
          <a:ext cx="3671888" cy="490538"/>
        </p:xfrm>
        <a:graphic>
          <a:graphicData uri="http://schemas.openxmlformats.org/drawingml/2006/table">
            <a:tbl>
              <a:tblPr/>
              <a:tblGrid>
                <a:gridCol w="919163"/>
                <a:gridCol w="917575"/>
                <a:gridCol w="919162"/>
                <a:gridCol w="915988"/>
              </a:tblGrid>
              <a:tr h="4905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22980" name="Text Box 68"/>
          <p:cNvSpPr txBox="1">
            <a:spLocks noChangeArrowheads="1"/>
          </p:cNvSpPr>
          <p:nvPr/>
        </p:nvSpPr>
        <p:spPr bwMode="auto">
          <a:xfrm>
            <a:off x="604838" y="3382963"/>
            <a:ext cx="32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2981" name="Text Box 69"/>
          <p:cNvSpPr txBox="1">
            <a:spLocks noChangeArrowheads="1"/>
          </p:cNvSpPr>
          <p:nvPr/>
        </p:nvSpPr>
        <p:spPr bwMode="auto">
          <a:xfrm>
            <a:off x="3600450" y="3405188"/>
            <a:ext cx="32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2982" name="Line 70"/>
          <p:cNvSpPr>
            <a:spLocks noChangeShapeType="1"/>
          </p:cNvSpPr>
          <p:nvPr/>
        </p:nvSpPr>
        <p:spPr bwMode="auto">
          <a:xfrm>
            <a:off x="3563938" y="3611563"/>
            <a:ext cx="0" cy="43180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22983" name="Text Box 71"/>
          <p:cNvSpPr txBox="1">
            <a:spLocks noChangeArrowheads="1"/>
          </p:cNvSpPr>
          <p:nvPr/>
        </p:nvSpPr>
        <p:spPr bwMode="auto">
          <a:xfrm>
            <a:off x="1881188" y="5564188"/>
            <a:ext cx="922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zh-CN" altLang="en-US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 </a:t>
            </a: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11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2984" name="Line 72"/>
          <p:cNvSpPr>
            <a:spLocks noChangeShapeType="1"/>
          </p:cNvSpPr>
          <p:nvPr/>
        </p:nvSpPr>
        <p:spPr bwMode="auto">
          <a:xfrm>
            <a:off x="931863" y="3584575"/>
            <a:ext cx="0" cy="43180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422985" name="Group 73"/>
          <p:cNvGraphicFramePr>
            <a:graphicFrameLocks noGrp="1"/>
          </p:cNvGraphicFramePr>
          <p:nvPr/>
        </p:nvGraphicFramePr>
        <p:xfrm>
          <a:off x="2054225" y="2633663"/>
          <a:ext cx="1149350" cy="579438"/>
        </p:xfrm>
        <a:graphic>
          <a:graphicData uri="http://schemas.openxmlformats.org/drawingml/2006/table">
            <a:tbl>
              <a:tblPr/>
              <a:tblGrid>
                <a:gridCol w="1149350"/>
              </a:tblGrid>
              <a:tr h="579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22991" name="Text Box 79"/>
          <p:cNvSpPr txBox="1">
            <a:spLocks noChangeArrowheads="1"/>
          </p:cNvSpPr>
          <p:nvPr/>
        </p:nvSpPr>
        <p:spPr bwMode="auto">
          <a:xfrm>
            <a:off x="1547813" y="2633663"/>
            <a:ext cx="792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2992" name="Line 80"/>
          <p:cNvSpPr>
            <a:spLocks noChangeShapeType="1"/>
          </p:cNvSpPr>
          <p:nvPr/>
        </p:nvSpPr>
        <p:spPr bwMode="auto">
          <a:xfrm flipV="1">
            <a:off x="1116013" y="3090863"/>
            <a:ext cx="1223962" cy="1201737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22993" name="Line 81"/>
          <p:cNvSpPr>
            <a:spLocks noChangeShapeType="1"/>
          </p:cNvSpPr>
          <p:nvPr/>
        </p:nvSpPr>
        <p:spPr bwMode="auto">
          <a:xfrm>
            <a:off x="5508625" y="3611563"/>
            <a:ext cx="0" cy="43180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22994" name="Line 82"/>
          <p:cNvSpPr>
            <a:spLocks noChangeShapeType="1"/>
          </p:cNvSpPr>
          <p:nvPr/>
        </p:nvSpPr>
        <p:spPr bwMode="auto">
          <a:xfrm>
            <a:off x="5508625" y="3611563"/>
            <a:ext cx="739775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22995" name="Line 83"/>
          <p:cNvSpPr>
            <a:spLocks noChangeShapeType="1"/>
          </p:cNvSpPr>
          <p:nvPr/>
        </p:nvSpPr>
        <p:spPr bwMode="auto">
          <a:xfrm flipH="1" flipV="1">
            <a:off x="5364163" y="2924175"/>
            <a:ext cx="2900362" cy="1368425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22996" name="Oval 84"/>
          <p:cNvSpPr>
            <a:spLocks noChangeArrowheads="1"/>
          </p:cNvSpPr>
          <p:nvPr/>
        </p:nvSpPr>
        <p:spPr bwMode="auto">
          <a:xfrm>
            <a:off x="4716463" y="2852738"/>
            <a:ext cx="647700" cy="36036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22997" name="Oval 85"/>
          <p:cNvSpPr>
            <a:spLocks noChangeArrowheads="1"/>
          </p:cNvSpPr>
          <p:nvPr/>
        </p:nvSpPr>
        <p:spPr bwMode="auto">
          <a:xfrm>
            <a:off x="4716463" y="2852738"/>
            <a:ext cx="647700" cy="238125"/>
          </a:xfrm>
          <a:prstGeom prst="ellipse">
            <a:avLst/>
          </a:prstGeom>
          <a:noFill/>
          <a:ln w="38100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22998" name="Line 86"/>
          <p:cNvSpPr>
            <a:spLocks noChangeShapeType="1"/>
          </p:cNvSpPr>
          <p:nvPr/>
        </p:nvSpPr>
        <p:spPr bwMode="auto">
          <a:xfrm>
            <a:off x="2803525" y="2924175"/>
            <a:ext cx="1912938" cy="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22999" name="Oval 87"/>
          <p:cNvSpPr>
            <a:spLocks noChangeArrowheads="1"/>
          </p:cNvSpPr>
          <p:nvPr/>
        </p:nvSpPr>
        <p:spPr bwMode="auto">
          <a:xfrm>
            <a:off x="2054225" y="1484313"/>
            <a:ext cx="2065338" cy="649287"/>
          </a:xfrm>
          <a:prstGeom prst="ellipse">
            <a:avLst/>
          </a:prstGeom>
          <a:noFill/>
          <a:ln w="28575" cap="sq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23000" name="Line 88"/>
          <p:cNvSpPr>
            <a:spLocks noChangeShapeType="1"/>
          </p:cNvSpPr>
          <p:nvPr/>
        </p:nvSpPr>
        <p:spPr bwMode="auto">
          <a:xfrm>
            <a:off x="4119563" y="1844675"/>
            <a:ext cx="812800" cy="1008063"/>
          </a:xfrm>
          <a:prstGeom prst="line">
            <a:avLst/>
          </a:prstGeom>
          <a:noFill/>
          <a:ln w="28575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23001" name="Line 89"/>
          <p:cNvSpPr>
            <a:spLocks noChangeShapeType="1"/>
          </p:cNvSpPr>
          <p:nvPr/>
        </p:nvSpPr>
        <p:spPr bwMode="auto">
          <a:xfrm flipH="1">
            <a:off x="5795963" y="4292600"/>
            <a:ext cx="2305050" cy="0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Text Box 2"/>
          <p:cNvSpPr txBox="1">
            <a:spLocks noChangeArrowheads="1"/>
          </p:cNvSpPr>
          <p:nvPr/>
        </p:nvSpPr>
        <p:spPr bwMode="auto">
          <a:xfrm>
            <a:off x="-36513" y="260350"/>
            <a:ext cx="9180513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buClr>
                <a:srgbClr val="696464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执行（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a[ z ]&lt;k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z=z+1=2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a[2]&lt;k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z=z+1=3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，这时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z=y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，不会执行（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），同时退出直到型循环，见</a:t>
            </a:r>
            <a:r>
              <a:rPr kumimoji="1" lang="zh-CN" altLang="en-US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</a:t>
            </a:r>
            <a:r>
              <a:rPr kumimoji="1" lang="en-US" altLang="zh-CN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13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。然后做 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a[ z ]=k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，即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a[ 3 ]=4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，见图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14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，左边也排好了。</a:t>
            </a:r>
            <a:endParaRPr kumimoji="1" lang="zh-CN" altLang="en-US" sz="28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23939" name="Group 3"/>
          <p:cNvGraphicFramePr>
            <a:graphicFrameLocks noGrp="1"/>
          </p:cNvGraphicFramePr>
          <p:nvPr/>
        </p:nvGraphicFramePr>
        <p:xfrm>
          <a:off x="5148263" y="4089400"/>
          <a:ext cx="3671887" cy="518160"/>
        </p:xfrm>
        <a:graphic>
          <a:graphicData uri="http://schemas.openxmlformats.org/drawingml/2006/table">
            <a:tbl>
              <a:tblPr/>
              <a:tblGrid>
                <a:gridCol w="919162"/>
                <a:gridCol w="917575"/>
                <a:gridCol w="919163"/>
                <a:gridCol w="915987"/>
              </a:tblGrid>
              <a:tr h="5032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CC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3951" name="Group 15"/>
          <p:cNvGraphicFramePr>
            <a:graphicFrameLocks noGrp="1"/>
          </p:cNvGraphicFramePr>
          <p:nvPr/>
        </p:nvGraphicFramePr>
        <p:xfrm>
          <a:off x="5148263" y="4751388"/>
          <a:ext cx="3671887" cy="490538"/>
        </p:xfrm>
        <a:graphic>
          <a:graphicData uri="http://schemas.openxmlformats.org/drawingml/2006/table">
            <a:tbl>
              <a:tblPr/>
              <a:tblGrid>
                <a:gridCol w="919162"/>
                <a:gridCol w="917575"/>
                <a:gridCol w="919163"/>
                <a:gridCol w="915987"/>
              </a:tblGrid>
              <a:tr h="4905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23969" name="Text Box 33"/>
          <p:cNvSpPr txBox="1">
            <a:spLocks noChangeArrowheads="1"/>
          </p:cNvSpPr>
          <p:nvPr/>
        </p:nvSpPr>
        <p:spPr bwMode="auto">
          <a:xfrm>
            <a:off x="6581775" y="5564188"/>
            <a:ext cx="922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zh-CN" altLang="en-US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 </a:t>
            </a: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14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23970" name="Group 34"/>
          <p:cNvGraphicFramePr>
            <a:graphicFrameLocks noGrp="1"/>
          </p:cNvGraphicFramePr>
          <p:nvPr/>
        </p:nvGraphicFramePr>
        <p:xfrm>
          <a:off x="447675" y="4089400"/>
          <a:ext cx="3671888" cy="518160"/>
        </p:xfrm>
        <a:graphic>
          <a:graphicData uri="http://schemas.openxmlformats.org/drawingml/2006/table">
            <a:tbl>
              <a:tblPr/>
              <a:tblGrid>
                <a:gridCol w="919163"/>
                <a:gridCol w="917575"/>
                <a:gridCol w="919162"/>
                <a:gridCol w="915988"/>
              </a:tblGrid>
              <a:tr h="5032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3982" name="Group 46"/>
          <p:cNvGraphicFramePr>
            <a:graphicFrameLocks noGrp="1"/>
          </p:cNvGraphicFramePr>
          <p:nvPr/>
        </p:nvGraphicFramePr>
        <p:xfrm>
          <a:off x="447675" y="4751388"/>
          <a:ext cx="3671888" cy="490538"/>
        </p:xfrm>
        <a:graphic>
          <a:graphicData uri="http://schemas.openxmlformats.org/drawingml/2006/table">
            <a:tbl>
              <a:tblPr/>
              <a:tblGrid>
                <a:gridCol w="919163"/>
                <a:gridCol w="917575"/>
                <a:gridCol w="919162"/>
                <a:gridCol w="915988"/>
              </a:tblGrid>
              <a:tr h="4905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24000" name="Text Box 64"/>
          <p:cNvSpPr txBox="1">
            <a:spLocks noChangeArrowheads="1"/>
          </p:cNvSpPr>
          <p:nvPr/>
        </p:nvSpPr>
        <p:spPr bwMode="auto">
          <a:xfrm>
            <a:off x="3165475" y="3382963"/>
            <a:ext cx="32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4001" name="Text Box 65"/>
          <p:cNvSpPr txBox="1">
            <a:spLocks noChangeArrowheads="1"/>
          </p:cNvSpPr>
          <p:nvPr/>
        </p:nvSpPr>
        <p:spPr bwMode="auto">
          <a:xfrm>
            <a:off x="3744913" y="3357563"/>
            <a:ext cx="32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4002" name="Line 66"/>
          <p:cNvSpPr>
            <a:spLocks noChangeShapeType="1"/>
          </p:cNvSpPr>
          <p:nvPr/>
        </p:nvSpPr>
        <p:spPr bwMode="auto">
          <a:xfrm>
            <a:off x="3708400" y="3563938"/>
            <a:ext cx="0" cy="43180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24003" name="Text Box 67"/>
          <p:cNvSpPr txBox="1">
            <a:spLocks noChangeArrowheads="1"/>
          </p:cNvSpPr>
          <p:nvPr/>
        </p:nvSpPr>
        <p:spPr bwMode="auto">
          <a:xfrm>
            <a:off x="1881188" y="5564188"/>
            <a:ext cx="922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zh-CN" altLang="en-US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 </a:t>
            </a: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13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4004" name="Line 68"/>
          <p:cNvSpPr>
            <a:spLocks noChangeShapeType="1"/>
          </p:cNvSpPr>
          <p:nvPr/>
        </p:nvSpPr>
        <p:spPr bwMode="auto">
          <a:xfrm>
            <a:off x="3492500" y="3584575"/>
            <a:ext cx="0" cy="43180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24005" name="Text Box 69"/>
          <p:cNvSpPr txBox="1">
            <a:spLocks noChangeArrowheads="1"/>
          </p:cNvSpPr>
          <p:nvPr/>
        </p:nvSpPr>
        <p:spPr bwMode="auto">
          <a:xfrm>
            <a:off x="7913688" y="3371850"/>
            <a:ext cx="32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4006" name="Text Box 70"/>
          <p:cNvSpPr txBox="1">
            <a:spLocks noChangeArrowheads="1"/>
          </p:cNvSpPr>
          <p:nvPr/>
        </p:nvSpPr>
        <p:spPr bwMode="auto">
          <a:xfrm>
            <a:off x="8493125" y="3346450"/>
            <a:ext cx="32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4007" name="Line 71"/>
          <p:cNvSpPr>
            <a:spLocks noChangeShapeType="1"/>
          </p:cNvSpPr>
          <p:nvPr/>
        </p:nvSpPr>
        <p:spPr bwMode="auto">
          <a:xfrm>
            <a:off x="8456613" y="3552825"/>
            <a:ext cx="0" cy="43180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24008" name="Line 72"/>
          <p:cNvSpPr>
            <a:spLocks noChangeShapeType="1"/>
          </p:cNvSpPr>
          <p:nvPr/>
        </p:nvSpPr>
        <p:spPr bwMode="auto">
          <a:xfrm>
            <a:off x="8240713" y="3573463"/>
            <a:ext cx="0" cy="43180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424009" name="Group 73"/>
          <p:cNvGraphicFramePr>
            <a:graphicFrameLocks noGrp="1"/>
          </p:cNvGraphicFramePr>
          <p:nvPr/>
        </p:nvGraphicFramePr>
        <p:xfrm>
          <a:off x="1406525" y="2273300"/>
          <a:ext cx="1149350" cy="579438"/>
        </p:xfrm>
        <a:graphic>
          <a:graphicData uri="http://schemas.openxmlformats.org/drawingml/2006/table">
            <a:tbl>
              <a:tblPr/>
              <a:tblGrid>
                <a:gridCol w="1149350"/>
              </a:tblGrid>
              <a:tr h="579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24015" name="Text Box 79"/>
          <p:cNvSpPr txBox="1">
            <a:spLocks noChangeArrowheads="1"/>
          </p:cNvSpPr>
          <p:nvPr/>
        </p:nvSpPr>
        <p:spPr bwMode="auto">
          <a:xfrm>
            <a:off x="900113" y="2273300"/>
            <a:ext cx="792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24016" name="Group 80"/>
          <p:cNvGraphicFramePr>
            <a:graphicFrameLocks noGrp="1"/>
          </p:cNvGraphicFramePr>
          <p:nvPr/>
        </p:nvGraphicFramePr>
        <p:xfrm>
          <a:off x="5367338" y="2276475"/>
          <a:ext cx="1149350" cy="579438"/>
        </p:xfrm>
        <a:graphic>
          <a:graphicData uri="http://schemas.openxmlformats.org/drawingml/2006/table">
            <a:tbl>
              <a:tblPr/>
              <a:tblGrid>
                <a:gridCol w="1149350"/>
              </a:tblGrid>
              <a:tr h="579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24022" name="Text Box 86"/>
          <p:cNvSpPr txBox="1">
            <a:spLocks noChangeArrowheads="1"/>
          </p:cNvSpPr>
          <p:nvPr/>
        </p:nvSpPr>
        <p:spPr bwMode="auto">
          <a:xfrm>
            <a:off x="4860925" y="2276475"/>
            <a:ext cx="792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4023" name="Line 87"/>
          <p:cNvSpPr>
            <a:spLocks noChangeShapeType="1"/>
          </p:cNvSpPr>
          <p:nvPr/>
        </p:nvSpPr>
        <p:spPr bwMode="auto">
          <a:xfrm>
            <a:off x="6067425" y="2730500"/>
            <a:ext cx="2173288" cy="1635125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24024" name="Line 88"/>
          <p:cNvSpPr>
            <a:spLocks noChangeShapeType="1"/>
          </p:cNvSpPr>
          <p:nvPr/>
        </p:nvSpPr>
        <p:spPr bwMode="auto">
          <a:xfrm>
            <a:off x="1692275" y="3584575"/>
            <a:ext cx="0" cy="504825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24025" name="Line 89"/>
          <p:cNvSpPr>
            <a:spLocks noChangeShapeType="1"/>
          </p:cNvSpPr>
          <p:nvPr/>
        </p:nvSpPr>
        <p:spPr bwMode="auto">
          <a:xfrm>
            <a:off x="2555875" y="3584575"/>
            <a:ext cx="0" cy="504825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24026" name="Line 90"/>
          <p:cNvSpPr>
            <a:spLocks noChangeShapeType="1"/>
          </p:cNvSpPr>
          <p:nvPr/>
        </p:nvSpPr>
        <p:spPr bwMode="auto">
          <a:xfrm>
            <a:off x="1692275" y="3584575"/>
            <a:ext cx="592138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24027" name="Line 91"/>
          <p:cNvSpPr>
            <a:spLocks noChangeShapeType="1"/>
          </p:cNvSpPr>
          <p:nvPr/>
        </p:nvSpPr>
        <p:spPr bwMode="auto">
          <a:xfrm>
            <a:off x="2555875" y="3584575"/>
            <a:ext cx="6477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Text Box 2"/>
          <p:cNvSpPr txBox="1">
            <a:spLocks noChangeArrowheads="1"/>
          </p:cNvSpPr>
          <p:nvPr/>
        </p:nvSpPr>
        <p:spPr bwMode="auto">
          <a:xfrm>
            <a:off x="-36513" y="260350"/>
            <a:ext cx="9180513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buClr>
                <a:srgbClr val="696464"/>
              </a:buClr>
              <a:buFont typeface="Wingdings" panose="05000000000000000000" pitchFamily="2" charset="2"/>
              <a:buNone/>
            </a:pP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、用上述思路去排右边的部分，见</a:t>
            </a:r>
            <a:r>
              <a:rPr kumimoji="1" lang="zh-CN" altLang="en-US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</a:t>
            </a:r>
            <a:r>
              <a:rPr kumimoji="1" lang="en-US" altLang="zh-CN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15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，让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 = a[ z ] = a[ 5 ] = 7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，进入直到型循环；</a:t>
            </a:r>
            <a:endParaRPr kumimoji="1" lang="zh-CN" altLang="en-US" sz="28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defTabSz="457200">
              <a:buClr>
                <a:srgbClr val="696464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执行（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a[ y ] = 6&lt;k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不动</a:t>
            </a:r>
            <a:endParaRPr kumimoji="1" lang="zh-CN" altLang="en-US" sz="28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defTabSz="457200">
              <a:buClr>
                <a:srgbClr val="696464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执行（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a[ z ] = a[ y ] =6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 = z+1=5+1=6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，见</a:t>
            </a:r>
            <a:r>
              <a:rPr kumimoji="1" lang="zh-CN" altLang="en-US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</a:t>
            </a:r>
            <a:r>
              <a:rPr kumimoji="1" lang="en-US" altLang="zh-CN" sz="2800">
                <a:solidFill>
                  <a:srgbClr val="CC99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16</a:t>
            </a:r>
            <a:endParaRPr kumimoji="1" lang="en-US" altLang="zh-CN" sz="2800">
              <a:solidFill>
                <a:srgbClr val="CC99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defTabSz="457200">
              <a:buClr>
                <a:srgbClr val="696464"/>
              </a:buClr>
              <a:buFont typeface="Wingdings" panose="05000000000000000000" pitchFamily="2" charset="2"/>
              <a:buNone/>
            </a:pPr>
            <a:endParaRPr kumimoji="1" lang="en-US" altLang="zh-CN" sz="28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4963" name="Text Box 3"/>
          <p:cNvSpPr txBox="1">
            <a:spLocks noChangeArrowheads="1"/>
          </p:cNvSpPr>
          <p:nvPr/>
        </p:nvSpPr>
        <p:spPr bwMode="auto">
          <a:xfrm>
            <a:off x="6581775" y="5995988"/>
            <a:ext cx="922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zh-CN" altLang="en-US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 </a:t>
            </a: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16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24964" name="Group 4"/>
          <p:cNvGraphicFramePr>
            <a:graphicFrameLocks noGrp="1"/>
          </p:cNvGraphicFramePr>
          <p:nvPr/>
        </p:nvGraphicFramePr>
        <p:xfrm>
          <a:off x="1441450" y="4521200"/>
          <a:ext cx="1835150" cy="518160"/>
        </p:xfrm>
        <a:graphic>
          <a:graphicData uri="http://schemas.openxmlformats.org/drawingml/2006/table">
            <a:tbl>
              <a:tblPr/>
              <a:tblGrid>
                <a:gridCol w="919163"/>
                <a:gridCol w="915987"/>
              </a:tblGrid>
              <a:tr h="5032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24972" name="Group 12"/>
          <p:cNvGraphicFramePr>
            <a:graphicFrameLocks noGrp="1"/>
          </p:cNvGraphicFramePr>
          <p:nvPr/>
        </p:nvGraphicFramePr>
        <p:xfrm>
          <a:off x="1441450" y="5183188"/>
          <a:ext cx="1835150" cy="490538"/>
        </p:xfrm>
        <a:graphic>
          <a:graphicData uri="http://schemas.openxmlformats.org/drawingml/2006/table">
            <a:tbl>
              <a:tblPr/>
              <a:tblGrid>
                <a:gridCol w="919163"/>
                <a:gridCol w="915987"/>
              </a:tblGrid>
              <a:tr h="4905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24982" name="Text Box 22"/>
          <p:cNvSpPr txBox="1">
            <a:spLocks noChangeArrowheads="1"/>
          </p:cNvSpPr>
          <p:nvPr/>
        </p:nvSpPr>
        <p:spPr bwMode="auto">
          <a:xfrm>
            <a:off x="1533525" y="3814763"/>
            <a:ext cx="32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4983" name="Text Box 23"/>
          <p:cNvSpPr txBox="1">
            <a:spLocks noChangeArrowheads="1"/>
          </p:cNvSpPr>
          <p:nvPr/>
        </p:nvSpPr>
        <p:spPr bwMode="auto">
          <a:xfrm>
            <a:off x="2794000" y="3789363"/>
            <a:ext cx="32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4984" name="Line 24"/>
          <p:cNvSpPr>
            <a:spLocks noChangeShapeType="1"/>
          </p:cNvSpPr>
          <p:nvPr/>
        </p:nvSpPr>
        <p:spPr bwMode="auto">
          <a:xfrm>
            <a:off x="2757488" y="3995738"/>
            <a:ext cx="0" cy="43180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24985" name="Text Box 25"/>
          <p:cNvSpPr txBox="1">
            <a:spLocks noChangeArrowheads="1"/>
          </p:cNvSpPr>
          <p:nvPr/>
        </p:nvSpPr>
        <p:spPr bwMode="auto">
          <a:xfrm>
            <a:off x="1881188" y="5995988"/>
            <a:ext cx="922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zh-CN" altLang="en-US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 </a:t>
            </a: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15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4986" name="Line 26"/>
          <p:cNvSpPr>
            <a:spLocks noChangeShapeType="1"/>
          </p:cNvSpPr>
          <p:nvPr/>
        </p:nvSpPr>
        <p:spPr bwMode="auto">
          <a:xfrm>
            <a:off x="1860550" y="4016375"/>
            <a:ext cx="0" cy="43180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424987" name="Group 27"/>
          <p:cNvGraphicFramePr>
            <a:graphicFrameLocks noGrp="1"/>
          </p:cNvGraphicFramePr>
          <p:nvPr/>
        </p:nvGraphicFramePr>
        <p:xfrm>
          <a:off x="6121400" y="4521200"/>
          <a:ext cx="1835150" cy="518160"/>
        </p:xfrm>
        <a:graphic>
          <a:graphicData uri="http://schemas.openxmlformats.org/drawingml/2006/table">
            <a:tbl>
              <a:tblPr/>
              <a:tblGrid>
                <a:gridCol w="919163"/>
                <a:gridCol w="915987"/>
              </a:tblGrid>
              <a:tr h="5032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4995" name="Group 35"/>
          <p:cNvGraphicFramePr>
            <a:graphicFrameLocks noGrp="1"/>
          </p:cNvGraphicFramePr>
          <p:nvPr/>
        </p:nvGraphicFramePr>
        <p:xfrm>
          <a:off x="6121400" y="5183188"/>
          <a:ext cx="1835150" cy="490538"/>
        </p:xfrm>
        <a:graphic>
          <a:graphicData uri="http://schemas.openxmlformats.org/drawingml/2006/table">
            <a:tbl>
              <a:tblPr/>
              <a:tblGrid>
                <a:gridCol w="919163"/>
                <a:gridCol w="915987"/>
              </a:tblGrid>
              <a:tr h="4905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25005" name="Text Box 45"/>
          <p:cNvSpPr txBox="1">
            <a:spLocks noChangeArrowheads="1"/>
          </p:cNvSpPr>
          <p:nvPr/>
        </p:nvSpPr>
        <p:spPr bwMode="auto">
          <a:xfrm>
            <a:off x="6981825" y="3814763"/>
            <a:ext cx="32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5006" name="Text Box 46"/>
          <p:cNvSpPr txBox="1">
            <a:spLocks noChangeArrowheads="1"/>
          </p:cNvSpPr>
          <p:nvPr/>
        </p:nvSpPr>
        <p:spPr bwMode="auto">
          <a:xfrm>
            <a:off x="7558088" y="3789363"/>
            <a:ext cx="32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5007" name="Line 47"/>
          <p:cNvSpPr>
            <a:spLocks noChangeShapeType="1"/>
          </p:cNvSpPr>
          <p:nvPr/>
        </p:nvSpPr>
        <p:spPr bwMode="auto">
          <a:xfrm>
            <a:off x="7596188" y="3995738"/>
            <a:ext cx="0" cy="43180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25008" name="Line 48"/>
          <p:cNvSpPr>
            <a:spLocks noChangeShapeType="1"/>
          </p:cNvSpPr>
          <p:nvPr/>
        </p:nvSpPr>
        <p:spPr bwMode="auto">
          <a:xfrm>
            <a:off x="7308850" y="4016375"/>
            <a:ext cx="0" cy="43180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425009" name="Group 49"/>
          <p:cNvGraphicFramePr>
            <a:graphicFrameLocks noGrp="1"/>
          </p:cNvGraphicFramePr>
          <p:nvPr/>
        </p:nvGraphicFramePr>
        <p:xfrm>
          <a:off x="1909763" y="2778125"/>
          <a:ext cx="1149350" cy="579438"/>
        </p:xfrm>
        <a:graphic>
          <a:graphicData uri="http://schemas.openxmlformats.org/drawingml/2006/table">
            <a:tbl>
              <a:tblPr/>
              <a:tblGrid>
                <a:gridCol w="1149350"/>
              </a:tblGrid>
              <a:tr h="579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25015" name="Text Box 55"/>
          <p:cNvSpPr txBox="1">
            <a:spLocks noChangeArrowheads="1"/>
          </p:cNvSpPr>
          <p:nvPr/>
        </p:nvSpPr>
        <p:spPr bwMode="auto">
          <a:xfrm>
            <a:off x="1403350" y="2778125"/>
            <a:ext cx="792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5016" name="Line 56"/>
          <p:cNvSpPr>
            <a:spLocks noChangeShapeType="1"/>
          </p:cNvSpPr>
          <p:nvPr/>
        </p:nvSpPr>
        <p:spPr bwMode="auto">
          <a:xfrm flipV="1">
            <a:off x="2195513" y="3068638"/>
            <a:ext cx="165100" cy="1655762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25017" name="Line 57"/>
          <p:cNvSpPr>
            <a:spLocks noChangeShapeType="1"/>
          </p:cNvSpPr>
          <p:nvPr/>
        </p:nvSpPr>
        <p:spPr bwMode="auto">
          <a:xfrm flipH="1">
            <a:off x="6732588" y="4724400"/>
            <a:ext cx="576262" cy="0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25018" name="Line 58"/>
          <p:cNvSpPr>
            <a:spLocks noChangeShapeType="1"/>
          </p:cNvSpPr>
          <p:nvPr/>
        </p:nvSpPr>
        <p:spPr bwMode="auto">
          <a:xfrm>
            <a:off x="6372225" y="4016375"/>
            <a:ext cx="0" cy="504825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25019" name="Line 59"/>
          <p:cNvSpPr>
            <a:spLocks noChangeShapeType="1"/>
          </p:cNvSpPr>
          <p:nvPr/>
        </p:nvSpPr>
        <p:spPr bwMode="auto">
          <a:xfrm>
            <a:off x="6372225" y="4246563"/>
            <a:ext cx="668338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Text Box 2"/>
          <p:cNvSpPr txBox="1">
            <a:spLocks noChangeArrowheads="1"/>
          </p:cNvSpPr>
          <p:nvPr/>
        </p:nvSpPr>
        <p:spPr bwMode="auto">
          <a:xfrm>
            <a:off x="-36513" y="1042988"/>
            <a:ext cx="9180513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buClr>
                <a:srgbClr val="696464"/>
              </a:buClr>
              <a:buFont typeface="Wingdings" panose="05000000000000000000" pitchFamily="2" charset="2"/>
              <a:buNone/>
            </a:pP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这时 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 = y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，不再执行（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）（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），退出直到型循环后，做 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a[ z ] = k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，见图</a:t>
            </a:r>
            <a:r>
              <a:rPr kumimoji="1" lang="en-US" altLang="zh-CN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17</a:t>
            </a:r>
            <a:r>
              <a:rPr kumimoji="1" lang="zh-CN" altLang="en-US" sz="28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kumimoji="1" lang="zh-CN" altLang="en-US" sz="28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5987" name="Text Box 3"/>
          <p:cNvSpPr txBox="1">
            <a:spLocks noChangeArrowheads="1"/>
          </p:cNvSpPr>
          <p:nvPr/>
        </p:nvSpPr>
        <p:spPr bwMode="auto">
          <a:xfrm>
            <a:off x="3773488" y="5564188"/>
            <a:ext cx="922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zh-CN" altLang="en-US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 </a:t>
            </a: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17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25988" name="Group 4"/>
          <p:cNvGraphicFramePr>
            <a:graphicFrameLocks noGrp="1"/>
          </p:cNvGraphicFramePr>
          <p:nvPr/>
        </p:nvGraphicFramePr>
        <p:xfrm>
          <a:off x="3313113" y="4089400"/>
          <a:ext cx="1835150" cy="518160"/>
        </p:xfrm>
        <a:graphic>
          <a:graphicData uri="http://schemas.openxmlformats.org/drawingml/2006/table">
            <a:tbl>
              <a:tblPr/>
              <a:tblGrid>
                <a:gridCol w="919162"/>
                <a:gridCol w="915988"/>
              </a:tblGrid>
              <a:tr h="5032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CC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5996" name="Group 12"/>
          <p:cNvGraphicFramePr>
            <a:graphicFrameLocks noGrp="1"/>
          </p:cNvGraphicFramePr>
          <p:nvPr/>
        </p:nvGraphicFramePr>
        <p:xfrm>
          <a:off x="3313113" y="4751388"/>
          <a:ext cx="1835150" cy="490538"/>
        </p:xfrm>
        <a:graphic>
          <a:graphicData uri="http://schemas.openxmlformats.org/drawingml/2006/table">
            <a:tbl>
              <a:tblPr/>
              <a:tblGrid>
                <a:gridCol w="919162"/>
                <a:gridCol w="915988"/>
              </a:tblGrid>
              <a:tr h="4905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26006" name="Text Box 22"/>
          <p:cNvSpPr txBox="1">
            <a:spLocks noChangeArrowheads="1"/>
          </p:cNvSpPr>
          <p:nvPr/>
        </p:nvSpPr>
        <p:spPr bwMode="auto">
          <a:xfrm>
            <a:off x="4173538" y="3382963"/>
            <a:ext cx="32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6007" name="Text Box 23"/>
          <p:cNvSpPr txBox="1">
            <a:spLocks noChangeArrowheads="1"/>
          </p:cNvSpPr>
          <p:nvPr/>
        </p:nvSpPr>
        <p:spPr bwMode="auto">
          <a:xfrm>
            <a:off x="4787900" y="3357563"/>
            <a:ext cx="32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26008" name="Line 24"/>
          <p:cNvSpPr>
            <a:spLocks noChangeShapeType="1"/>
          </p:cNvSpPr>
          <p:nvPr/>
        </p:nvSpPr>
        <p:spPr bwMode="auto">
          <a:xfrm>
            <a:off x="4787900" y="3563938"/>
            <a:ext cx="0" cy="43180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26009" name="Line 25"/>
          <p:cNvSpPr>
            <a:spLocks noChangeShapeType="1"/>
          </p:cNvSpPr>
          <p:nvPr/>
        </p:nvSpPr>
        <p:spPr bwMode="auto">
          <a:xfrm>
            <a:off x="4500563" y="3584575"/>
            <a:ext cx="0" cy="43180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426010" name="Group 26"/>
          <p:cNvGraphicFramePr>
            <a:graphicFrameLocks noGrp="1"/>
          </p:cNvGraphicFramePr>
          <p:nvPr/>
        </p:nvGraphicFramePr>
        <p:xfrm>
          <a:off x="1838325" y="2565400"/>
          <a:ext cx="1149350" cy="579438"/>
        </p:xfrm>
        <a:graphic>
          <a:graphicData uri="http://schemas.openxmlformats.org/drawingml/2006/table">
            <a:tbl>
              <a:tblPr/>
              <a:tblGrid>
                <a:gridCol w="1149350"/>
              </a:tblGrid>
              <a:tr h="579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26016" name="Text Box 32"/>
          <p:cNvSpPr txBox="1">
            <a:spLocks noChangeArrowheads="1"/>
          </p:cNvSpPr>
          <p:nvPr/>
        </p:nvSpPr>
        <p:spPr bwMode="auto">
          <a:xfrm>
            <a:off x="1331913" y="2565400"/>
            <a:ext cx="792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200">
              <a:spcBef>
                <a:spcPct val="50000"/>
              </a:spcBef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endParaRPr kumimoji="1" lang="en-US" altLang="zh-CN" sz="240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1"/>
          <a:srcRect r="5090"/>
          <a:stretch>
            <a:fillRect/>
          </a:stretch>
        </p:blipFill>
        <p:spPr>
          <a:xfrm>
            <a:off x="657519" y="1395663"/>
            <a:ext cx="8054482" cy="5355492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分区函数</a:t>
            </a:r>
            <a:endParaRPr 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6479177" y="106845"/>
            <a:ext cx="23147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如果要实现特殊比较函数</a:t>
            </a:r>
            <a:r>
              <a:rPr lang="en-US" altLang="zh-CN" sz="2400" dirty="0" err="1"/>
              <a:t>mycompare</a:t>
            </a:r>
            <a:r>
              <a:rPr lang="en-US" altLang="zh-CN" sz="2400" dirty="0"/>
              <a:t>(</a:t>
            </a:r>
            <a:r>
              <a:rPr lang="en-US" altLang="zh-CN" sz="2400" dirty="0" err="1"/>
              <a:t>a,b</a:t>
            </a:r>
            <a:r>
              <a:rPr lang="en-US" altLang="zh-CN" sz="2400" dirty="0"/>
              <a:t>)</a:t>
            </a:r>
            <a:r>
              <a:rPr lang="zh-CN" altLang="en-US" sz="2400" dirty="0"/>
              <a:t>，主要需要修改哪里的代码？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843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在有了递归调用函数之后，主程序很容易写</a:t>
            </a:r>
            <a:endParaRPr lang="zh-CN" altLang="en-US" dirty="0"/>
          </a:p>
          <a:p>
            <a:r>
              <a:rPr lang="zh-CN" altLang="en-US" dirty="0"/>
              <a:t>主程序中应包含</a:t>
            </a:r>
            <a:endParaRPr lang="zh-CN" altLang="en-US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/>
              <a:t>1</a:t>
            </a:r>
            <a:r>
              <a:rPr lang="zh-CN" altLang="en-US" dirty="0"/>
              <a:t>、定义整型变量：数组 </a:t>
            </a:r>
            <a:r>
              <a:rPr lang="en-US" altLang="zh-CN" dirty="0"/>
              <a:t>a[10 ]</a:t>
            </a:r>
            <a:r>
              <a:rPr lang="zh-CN" altLang="en-US" dirty="0"/>
              <a:t>，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；</a:t>
            </a:r>
            <a:endParaRPr lang="zh-CN" altLang="en-US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/>
              <a:t>2</a:t>
            </a:r>
            <a:r>
              <a:rPr lang="zh-CN" altLang="en-US" dirty="0"/>
              <a:t>、用循环结构输入待排序的数，将其放入</a:t>
            </a:r>
            <a:r>
              <a:rPr lang="en-US" altLang="zh-CN" dirty="0"/>
              <a:t>a</a:t>
            </a:r>
            <a:r>
              <a:rPr lang="zh-CN" altLang="en-US" dirty="0"/>
              <a:t>数组；</a:t>
            </a:r>
            <a:endParaRPr lang="zh-CN" altLang="en-US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/>
              <a:t>3</a:t>
            </a:r>
            <a:r>
              <a:rPr lang="zh-CN" altLang="en-US" dirty="0"/>
              <a:t>、调用 </a:t>
            </a:r>
            <a:r>
              <a:rPr lang="en-US" altLang="zh-CN" dirty="0"/>
              <a:t>quicksort </a:t>
            </a:r>
            <a:r>
              <a:rPr lang="zh-CN" altLang="en-US" dirty="0"/>
              <a:t>函数，使用三个实际参数</a:t>
            </a:r>
            <a:endParaRPr lang="zh-CN" altLang="en-US" dirty="0"/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dirty="0"/>
              <a:t>		</a:t>
            </a:r>
            <a:r>
              <a:rPr lang="en-US" altLang="zh-CN" dirty="0"/>
              <a:t>a</a:t>
            </a:r>
            <a:r>
              <a:rPr lang="en-US" altLang="zh-CN" dirty="0">
                <a:latin typeface="Arial" panose="020B0604020202020204" pitchFamily="34" charset="0"/>
              </a:rPr>
              <a:t>——</a:t>
            </a:r>
            <a:r>
              <a:rPr lang="zh-CN" altLang="en-US" dirty="0"/>
              <a:t>将</a:t>
            </a:r>
            <a:r>
              <a:rPr lang="zh-CN" altLang="en-US" dirty="0">
                <a:solidFill>
                  <a:srgbClr val="FF0000"/>
                </a:solidFill>
              </a:rPr>
              <a:t>数组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当实参</a:t>
            </a:r>
            <a:r>
              <a:rPr lang="zh-CN" altLang="en-US" dirty="0"/>
              <a:t>；</a:t>
            </a:r>
            <a:endParaRPr lang="zh-CN" altLang="en-US" dirty="0"/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dirty="0"/>
              <a:t>		</a:t>
            </a:r>
            <a:r>
              <a:rPr lang="en-US" altLang="zh-CN" dirty="0"/>
              <a:t>0</a:t>
            </a:r>
            <a:r>
              <a:rPr lang="en-US" altLang="zh-CN" dirty="0">
                <a:latin typeface="Arial" panose="020B0604020202020204" pitchFamily="34" charset="0"/>
              </a:rPr>
              <a:t>——</a:t>
            </a:r>
            <a:r>
              <a:rPr lang="zh-CN" altLang="en-US" dirty="0"/>
              <a:t>数组下标下界；</a:t>
            </a:r>
            <a:endParaRPr lang="zh-CN" altLang="en-US" dirty="0"/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dirty="0"/>
              <a:t>		</a:t>
            </a:r>
            <a:r>
              <a:rPr lang="en-US" altLang="zh-CN" dirty="0"/>
              <a:t>9</a:t>
            </a:r>
            <a:r>
              <a:rPr lang="en-US" altLang="zh-CN" dirty="0">
                <a:latin typeface="Arial" panose="020B0604020202020204" pitchFamily="34" charset="0"/>
              </a:rPr>
              <a:t>——</a:t>
            </a:r>
            <a:r>
              <a:rPr lang="zh-CN" altLang="en-US" dirty="0"/>
              <a:t>数组下标上界；</a:t>
            </a:r>
            <a:endParaRPr lang="zh-CN" altLang="en-US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/>
              <a:t>4</a:t>
            </a:r>
            <a:r>
              <a:rPr lang="zh-CN" altLang="en-US" dirty="0"/>
              <a:t>、输出排序结果</a:t>
            </a:r>
            <a:endParaRPr lang="zh-CN" altLang="en-US" dirty="0"/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4535536" y="4561102"/>
            <a:ext cx="4331738" cy="1738898"/>
            <a:chOff x="4535536" y="4561102"/>
            <a:chExt cx="4331738" cy="1738898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1"/>
            <a:srcRect r="10214"/>
            <a:stretch>
              <a:fillRect/>
            </a:stretch>
          </p:blipFill>
          <p:spPr>
            <a:xfrm>
              <a:off x="4535536" y="4561102"/>
              <a:ext cx="4331738" cy="1738898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4859572" y="5214527"/>
              <a:ext cx="2088232" cy="216024"/>
            </a:xfrm>
            <a:prstGeom prst="rect">
              <a:avLst/>
            </a:prstGeom>
            <a:solidFill>
              <a:schemeClr val="accent1">
                <a:alpha val="37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冒泡排序 </a:t>
            </a:r>
            <a:r>
              <a:rPr lang="en-US" altLang="zh-CN" dirty="0" err="1"/>
              <a:t>v.s</a:t>
            </a:r>
            <a:r>
              <a:rPr lang="en-US" altLang="zh-CN" dirty="0"/>
              <a:t>. </a:t>
            </a:r>
            <a:r>
              <a:rPr lang="zh-CN" altLang="en-US" dirty="0"/>
              <a:t>快速排序（时间复杂度）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1714" y="4307779"/>
            <a:ext cx="5752931" cy="13615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大数据量的快序应使用快速排序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例：</a:t>
            </a:r>
            <a:r>
              <a:rPr lang="en-US" altLang="zh-CN" dirty="0"/>
              <a:t>YOJ135-</a:t>
            </a:r>
            <a:r>
              <a:rPr lang="zh-CN" altLang="en-US" dirty="0"/>
              <a:t>身份证排序</a:t>
            </a:r>
            <a:endParaRPr lang="en-US" altLang="zh-CN" dirty="0"/>
          </a:p>
        </p:txBody>
      </p:sp>
      <p:grpSp>
        <p:nvGrpSpPr>
          <p:cNvPr id="5" name="组合 4"/>
          <p:cNvGrpSpPr/>
          <p:nvPr/>
        </p:nvGrpSpPr>
        <p:grpSpPr>
          <a:xfrm>
            <a:off x="831714" y="1470396"/>
            <a:ext cx="6791325" cy="2499781"/>
            <a:chOff x="1074738" y="2181757"/>
            <a:chExt cx="6791325" cy="2499781"/>
          </a:xfrm>
        </p:grpSpPr>
        <p:pic>
          <p:nvPicPr>
            <p:cNvPr id="35845" name="Picture 5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4738" y="2181757"/>
              <a:ext cx="6791325" cy="847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846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4263" y="3005138"/>
              <a:ext cx="6781800" cy="1676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" name="文本框 3"/>
          <p:cNvSpPr txBox="1"/>
          <p:nvPr/>
        </p:nvSpPr>
        <p:spPr>
          <a:xfrm>
            <a:off x="2074382" y="5669280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写排序的时候考虑多大数据量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OPFI" val=""/>
</p:tagLst>
</file>

<file path=ppt/theme/theme1.xml><?xml version="1.0" encoding="utf-8"?>
<a:theme xmlns:a="http://schemas.openxmlformats.org/drawingml/2006/main" name="课程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雅黑-Calibri">
      <a:majorFont>
        <a:latin typeface="Calibri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5673</Words>
  <Application>WPS 演示</Application>
  <PresentationFormat>On-screen Show (4:3)</PresentationFormat>
  <Paragraphs>1171</Paragraphs>
  <Slides>44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32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44</vt:i4>
      </vt:variant>
    </vt:vector>
  </HeadingPairs>
  <TitlesOfParts>
    <vt:vector size="79" baseType="lpstr">
      <vt:lpstr>Arial</vt:lpstr>
      <vt:lpstr>宋体</vt:lpstr>
      <vt:lpstr>Wingdings</vt:lpstr>
      <vt:lpstr>Calibri</vt:lpstr>
      <vt:lpstr>Lato</vt:lpstr>
      <vt:lpstr>Helvetica Neue</vt:lpstr>
      <vt:lpstr>楷体_GB2312</vt:lpstr>
      <vt:lpstr>新宋体</vt:lpstr>
      <vt:lpstr>Times New Roman</vt:lpstr>
      <vt:lpstr>Tahoma</vt:lpstr>
      <vt:lpstr>Wingdings 2</vt:lpstr>
      <vt:lpstr>Wingdings 2</vt:lpstr>
      <vt:lpstr>Courier New</vt:lpstr>
      <vt:lpstr>Constantia</vt:lpstr>
      <vt:lpstr>Arial</vt:lpstr>
      <vt:lpstr>Arial Unicode MS</vt:lpstr>
      <vt:lpstr>Open Sans</vt:lpstr>
      <vt:lpstr>Segoe Print</vt:lpstr>
      <vt:lpstr>Calibri Light</vt:lpstr>
      <vt:lpstr>微软雅黑</vt:lpstr>
      <vt:lpstr>微软雅黑 Light</vt:lpstr>
      <vt:lpstr>Arial Unicode MS</vt:lpstr>
      <vt:lpstr>等线</vt:lpstr>
      <vt:lpstr>Symbol</vt:lpstr>
      <vt:lpstr>Consolas</vt:lpstr>
      <vt:lpstr>华文中宋</vt:lpstr>
      <vt:lpstr>Cambria Math</vt:lpstr>
      <vt:lpstr>Garamond</vt:lpstr>
      <vt:lpstr>黑体</vt:lpstr>
      <vt:lpstr>Magneto</vt:lpstr>
      <vt:lpstr>Sweetie</vt:lpstr>
      <vt:lpstr>Saturday Sans Regular</vt:lpstr>
      <vt:lpstr>课程PPT模板</vt:lpstr>
      <vt:lpstr>Visio.Drawing.11</vt:lpstr>
      <vt:lpstr>Word.Picture.8</vt:lpstr>
      <vt:lpstr>17. 递归		 			—— 分治算法</vt:lpstr>
      <vt:lpstr>递归函数&amp;递归算法</vt:lpstr>
      <vt:lpstr>递归算法举例</vt:lpstr>
      <vt:lpstr>分治法</vt:lpstr>
      <vt:lpstr>分治法</vt:lpstr>
      <vt:lpstr>二分查找</vt:lpstr>
      <vt:lpstr>二分查找</vt:lpstr>
      <vt:lpstr>PowerPoint 演示文稿</vt:lpstr>
      <vt:lpstr>以下代码有什么问题？</vt:lpstr>
      <vt:lpstr>练习：#112. 二分查找的递归实现</vt:lpstr>
      <vt:lpstr>练习： #112. 二分查找的递归实现</vt:lpstr>
      <vt:lpstr>练习： #112. 二分查找的递归实现</vt:lpstr>
      <vt:lpstr>回顾：“递”与“归”的方向</vt:lpstr>
      <vt:lpstr>归并排序</vt:lpstr>
      <vt:lpstr>归并排序举例</vt:lpstr>
      <vt:lpstr>归并排序</vt:lpstr>
      <vt:lpstr>PowerPoint 演示文稿</vt:lpstr>
      <vt:lpstr>归并排序</vt:lpstr>
      <vt:lpstr>分治法-快速排序</vt:lpstr>
      <vt:lpstr>快速排序算法</vt:lpstr>
      <vt:lpstr>PowerPoint 演示文稿</vt:lpstr>
      <vt:lpstr>PowerPoint 演示文稿</vt:lpstr>
      <vt:lpstr>快速排序的思路</vt:lpstr>
      <vt:lpstr>PowerPoint 演示文稿</vt:lpstr>
      <vt:lpstr>快速排序的递归实现</vt:lpstr>
      <vt:lpstr>分区过程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分区函数</vt:lpstr>
      <vt:lpstr>PowerPoint 演示文稿</vt:lpstr>
      <vt:lpstr>冒泡排序 v.s. 快速排序（时间复杂度）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 I</dc:title>
  <dc:creator>sun hui</dc:creator>
  <cp:lastModifiedBy>Yi.</cp:lastModifiedBy>
  <cp:revision>1515</cp:revision>
  <dcterms:created xsi:type="dcterms:W3CDTF">2020-10-14T02:47:00Z</dcterms:created>
  <dcterms:modified xsi:type="dcterms:W3CDTF">2025-11-20T02:00:11Z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6B2202270BB74844A8795CD8E6E39204_13</vt:lpwstr>
  </property>
  <property fmtid="{D5CDD505-2E9C-101B-9397-08002B2CF9AE}" pid="3" name="KSOProductBuildVer">
    <vt:lpwstr>2052-12.1.0.23542</vt:lpwstr>
  </property>
</Properties>
</file>