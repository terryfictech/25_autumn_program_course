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59"/>
  </p:handoutMasterIdLst>
  <p:sldIdLst>
    <p:sldId id="1092" r:id="rId3"/>
    <p:sldId id="759" r:id="rId4"/>
    <p:sldId id="744" r:id="rId5"/>
    <p:sldId id="1169" r:id="rId6"/>
    <p:sldId id="1171" r:id="rId7"/>
    <p:sldId id="1170" r:id="rId9"/>
    <p:sldId id="1172" r:id="rId10"/>
    <p:sldId id="1174" r:id="rId11"/>
    <p:sldId id="1175" r:id="rId12"/>
    <p:sldId id="1177" r:id="rId13"/>
    <p:sldId id="1181" r:id="rId14"/>
    <p:sldId id="1182" r:id="rId15"/>
    <p:sldId id="1184" r:id="rId16"/>
    <p:sldId id="1185" r:id="rId17"/>
    <p:sldId id="1186" r:id="rId18"/>
    <p:sldId id="1187" r:id="rId19"/>
    <p:sldId id="1173" r:id="rId20"/>
    <p:sldId id="1158" r:id="rId21"/>
    <p:sldId id="1189" r:id="rId22"/>
    <p:sldId id="1165" r:id="rId23"/>
    <p:sldId id="1097" r:id="rId24"/>
    <p:sldId id="1167" r:id="rId25"/>
    <p:sldId id="1190" r:id="rId26"/>
    <p:sldId id="1168" r:id="rId27"/>
    <p:sldId id="760" r:id="rId28"/>
    <p:sldId id="773" r:id="rId29"/>
    <p:sldId id="765" r:id="rId30"/>
    <p:sldId id="769" r:id="rId31"/>
    <p:sldId id="767" r:id="rId32"/>
    <p:sldId id="782" r:id="rId33"/>
    <p:sldId id="770" r:id="rId34"/>
    <p:sldId id="1096" r:id="rId35"/>
    <p:sldId id="1098" r:id="rId36"/>
    <p:sldId id="1166" r:id="rId37"/>
    <p:sldId id="779" r:id="rId38"/>
    <p:sldId id="780" r:id="rId39"/>
    <p:sldId id="1191" r:id="rId40"/>
    <p:sldId id="1156" r:id="rId41"/>
    <p:sldId id="1192" r:id="rId42"/>
    <p:sldId id="1193" r:id="rId43"/>
    <p:sldId id="1195" r:id="rId44"/>
    <p:sldId id="1196" r:id="rId45"/>
    <p:sldId id="1194" r:id="rId46"/>
    <p:sldId id="1197" r:id="rId47"/>
    <p:sldId id="1198" r:id="rId48"/>
    <p:sldId id="1199" r:id="rId49"/>
    <p:sldId id="777" r:id="rId50"/>
    <p:sldId id="778" r:id="rId51"/>
    <p:sldId id="1099" r:id="rId52"/>
    <p:sldId id="1155" r:id="rId53"/>
    <p:sldId id="1200" r:id="rId54"/>
    <p:sldId id="1093" r:id="rId55"/>
    <p:sldId id="1176" r:id="rId56"/>
    <p:sldId id="739" r:id="rId57"/>
    <p:sldId id="784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88" autoAdjust="0"/>
    <p:restoredTop sz="72687" autoAdjust="0"/>
  </p:normalViewPr>
  <p:slideViewPr>
    <p:cSldViewPr snapToGrid="0">
      <p:cViewPr>
        <p:scale>
          <a:sx n="50" d="100"/>
          <a:sy n="50" d="100"/>
        </p:scale>
        <p:origin x="2359" y="2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AD3A20-7FE2-49D4-8A3B-B6B5569625BE}" type="doc">
      <dgm:prSet loTypeId="urn:microsoft.com/office/officeart/2005/8/layout/chevronAccent+Icon#1" loCatId="process" qsTypeId="urn:microsoft.com/office/officeart/2005/8/quickstyle/simple1" qsCatId="simple" csTypeId="urn:microsoft.com/office/officeart/2005/8/colors/accent1_2" csCatId="accent1" phldr="1"/>
      <dgm:spPr/>
    </dgm:pt>
    <dgm:pt modelId="{0C0D7F3F-257F-43F7-AB14-F83C581C859A}">
      <dgm:prSet phldrT="[文本]"/>
      <dgm:spPr/>
      <dgm:t>
        <a:bodyPr/>
        <a:lstStyle/>
        <a:p>
          <a:r>
            <a:rPr lang="zh-CN" altLang="en-US" dirty="0"/>
            <a:t>配置调试环境</a:t>
          </a:r>
        </a:p>
      </dgm:t>
    </dgm:pt>
    <dgm:pt modelId="{B78A2CE8-C78F-4ED5-993D-BF84D300C0E3}" cxnId="{C58813A4-4257-4EF4-B144-209B362BAC64}" type="parTrans">
      <dgm:prSet/>
      <dgm:spPr/>
      <dgm:t>
        <a:bodyPr/>
        <a:lstStyle/>
        <a:p>
          <a:endParaRPr lang="zh-CN" altLang="en-US"/>
        </a:p>
      </dgm:t>
    </dgm:pt>
    <dgm:pt modelId="{6BEC1FE4-1D70-4E8B-8D6A-CB9839A9584B}" cxnId="{C58813A4-4257-4EF4-B144-209B362BAC64}" type="sibTrans">
      <dgm:prSet/>
      <dgm:spPr/>
      <dgm:t>
        <a:bodyPr/>
        <a:lstStyle/>
        <a:p>
          <a:endParaRPr lang="zh-CN" altLang="en-US"/>
        </a:p>
      </dgm:t>
    </dgm:pt>
    <dgm:pt modelId="{B18D8606-4AE5-4798-B300-41AC730463A9}">
      <dgm:prSet phldrT="[文本]" custT="1"/>
      <dgm:spPr/>
      <dgm:t>
        <a:bodyPr/>
        <a:lstStyle/>
        <a:p>
          <a:r>
            <a:rPr lang="zh-C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方正姚体" panose="02010601030101010101" pitchFamily="2" charset="-122"/>
              <a:cs typeface="+mn-cs"/>
            </a:rPr>
            <a:t>设置断点</a:t>
          </a:r>
          <a:endParaRPr lang="zh-CN" altLang="en-US" sz="20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Rockwell" panose="02060603020205020403"/>
            <a:ea typeface="方正姚体" panose="02010601030101010101" pitchFamily="2" charset="-122"/>
            <a:cs typeface="+mn-cs"/>
          </a:endParaRPr>
        </a:p>
      </dgm:t>
    </dgm:pt>
    <dgm:pt modelId="{E3887C18-B34E-4945-A3B9-0028ADD180FD}" cxnId="{3A5A046C-7A88-4038-9990-01F69695E187}" type="parTrans">
      <dgm:prSet/>
      <dgm:spPr/>
      <dgm:t>
        <a:bodyPr/>
        <a:lstStyle/>
        <a:p>
          <a:endParaRPr lang="zh-CN" altLang="en-US"/>
        </a:p>
      </dgm:t>
    </dgm:pt>
    <dgm:pt modelId="{95BFD6F0-2B65-44DD-B48A-34FBD925751F}" cxnId="{3A5A046C-7A88-4038-9990-01F69695E187}" type="sibTrans">
      <dgm:prSet/>
      <dgm:spPr/>
      <dgm:t>
        <a:bodyPr/>
        <a:lstStyle/>
        <a:p>
          <a:endParaRPr lang="zh-CN" altLang="en-US"/>
        </a:p>
      </dgm:t>
    </dgm:pt>
    <dgm:pt modelId="{882DA6B1-D587-45F1-B039-2255C62B80A3}">
      <dgm:prSet phldrT="[文本]"/>
      <dgm:spPr/>
      <dgm:t>
        <a:bodyPr/>
        <a:lstStyle/>
        <a:p>
          <a:r>
            <a:rPr lang="zh-CN" altLang="en-US" dirty="0"/>
            <a:t>调试代码</a:t>
          </a:r>
        </a:p>
      </dgm:t>
    </dgm:pt>
    <dgm:pt modelId="{12BF40FC-7EA9-45E7-B61A-5DD5C8D7D6BD}" cxnId="{C4E7B269-F6AB-420D-A809-897CEBBD8B8F}" type="parTrans">
      <dgm:prSet/>
      <dgm:spPr/>
      <dgm:t>
        <a:bodyPr/>
        <a:lstStyle/>
        <a:p>
          <a:endParaRPr lang="zh-CN" altLang="en-US"/>
        </a:p>
      </dgm:t>
    </dgm:pt>
    <dgm:pt modelId="{032193B6-0B9F-4D15-9CDE-BC041B8D6832}" cxnId="{C4E7B269-F6AB-420D-A809-897CEBBD8B8F}" type="sibTrans">
      <dgm:prSet/>
      <dgm:spPr/>
      <dgm:t>
        <a:bodyPr/>
        <a:lstStyle/>
        <a:p>
          <a:endParaRPr lang="zh-CN" altLang="en-US"/>
        </a:p>
      </dgm:t>
    </dgm:pt>
    <dgm:pt modelId="{5D1339DD-4A17-43F9-BFF5-506427369F28}" type="pres">
      <dgm:prSet presAssocID="{F7AD3A20-7FE2-49D4-8A3B-B6B5569625BE}" presName="Name0" presStyleCnt="0">
        <dgm:presLayoutVars>
          <dgm:dir/>
          <dgm:resizeHandles val="exact"/>
        </dgm:presLayoutVars>
      </dgm:prSet>
      <dgm:spPr/>
    </dgm:pt>
    <dgm:pt modelId="{62F5C9C1-9A93-42DF-86EA-F22E76DF58D9}" type="pres">
      <dgm:prSet presAssocID="{0C0D7F3F-257F-43F7-AB14-F83C581C859A}" presName="composite" presStyleCnt="0"/>
      <dgm:spPr/>
    </dgm:pt>
    <dgm:pt modelId="{B2917FED-7DC0-463F-9F4D-E630B0C4FA05}" type="pres">
      <dgm:prSet presAssocID="{0C0D7F3F-257F-43F7-AB14-F83C581C859A}" presName="bgChev" presStyleLbl="node1" presStyleIdx="0" presStyleCnt="3"/>
      <dgm:spPr>
        <a:solidFill>
          <a:schemeClr val="accent3">
            <a:lumMod val="20000"/>
            <a:lumOff val="80000"/>
          </a:schemeClr>
        </a:solidFill>
      </dgm:spPr>
    </dgm:pt>
    <dgm:pt modelId="{D591B334-8959-4C52-B89C-F46357C2A59D}" type="pres">
      <dgm:prSet presAssocID="{0C0D7F3F-257F-43F7-AB14-F83C581C859A}" presName="txNode" presStyleLbl="fgAcc1" presStyleIdx="0" presStyleCnt="3">
        <dgm:presLayoutVars>
          <dgm:bulletEnabled val="1"/>
        </dgm:presLayoutVars>
      </dgm:prSet>
      <dgm:spPr/>
    </dgm:pt>
    <dgm:pt modelId="{88794ACF-E58E-4A47-9934-99ADAAD7974E}" type="pres">
      <dgm:prSet presAssocID="{6BEC1FE4-1D70-4E8B-8D6A-CB9839A9584B}" presName="compositeSpace" presStyleCnt="0"/>
      <dgm:spPr/>
    </dgm:pt>
    <dgm:pt modelId="{154994CD-95B4-416E-8767-0CA2391EBA6D}" type="pres">
      <dgm:prSet presAssocID="{B18D8606-4AE5-4798-B300-41AC730463A9}" presName="composite" presStyleCnt="0"/>
      <dgm:spPr/>
    </dgm:pt>
    <dgm:pt modelId="{45270F3A-546B-4212-AC9D-3E1B15FACFE1}" type="pres">
      <dgm:prSet presAssocID="{B18D8606-4AE5-4798-B300-41AC730463A9}" presName="bgChev" presStyleLbl="node1" presStyleIdx="1" presStyleCnt="3"/>
      <dgm:spPr>
        <a:solidFill>
          <a:schemeClr val="accent3">
            <a:lumMod val="20000"/>
            <a:lumOff val="80000"/>
          </a:schemeClr>
        </a:solidFill>
      </dgm:spPr>
    </dgm:pt>
    <dgm:pt modelId="{AC76FB70-ACE5-4A68-AB8F-20C414B78F7B}" type="pres">
      <dgm:prSet presAssocID="{B18D8606-4AE5-4798-B300-41AC730463A9}" presName="txNode" presStyleLbl="fgAcc1" presStyleIdx="1" presStyleCnt="3">
        <dgm:presLayoutVars>
          <dgm:bulletEnabled val="1"/>
        </dgm:presLayoutVars>
      </dgm:prSet>
      <dgm:spPr/>
    </dgm:pt>
    <dgm:pt modelId="{2713AF23-C62A-45EC-88AD-72CEF3B1D5E2}" type="pres">
      <dgm:prSet presAssocID="{95BFD6F0-2B65-44DD-B48A-34FBD925751F}" presName="compositeSpace" presStyleCnt="0"/>
      <dgm:spPr/>
    </dgm:pt>
    <dgm:pt modelId="{B45B6946-7E40-4242-967E-BCF9972F56A8}" type="pres">
      <dgm:prSet presAssocID="{882DA6B1-D587-45F1-B039-2255C62B80A3}" presName="composite" presStyleCnt="0"/>
      <dgm:spPr/>
    </dgm:pt>
    <dgm:pt modelId="{C3F4D675-2811-4257-954B-A115519E2049}" type="pres">
      <dgm:prSet presAssocID="{882DA6B1-D587-45F1-B039-2255C62B80A3}" presName="bgChev" presStyleLbl="node1" presStyleIdx="2" presStyleCnt="3"/>
      <dgm:spPr>
        <a:solidFill>
          <a:schemeClr val="accent3">
            <a:lumMod val="20000"/>
            <a:lumOff val="80000"/>
          </a:schemeClr>
        </a:solidFill>
      </dgm:spPr>
    </dgm:pt>
    <dgm:pt modelId="{9F70C188-3BA5-4A93-877C-3D721B49C233}" type="pres">
      <dgm:prSet presAssocID="{882DA6B1-D587-45F1-B039-2255C62B80A3}" presName="txNode" presStyleLbl="fgAcc1" presStyleIdx="2" presStyleCnt="3" custLinFactNeighborX="1422" custLinFactNeighborY="-3723">
        <dgm:presLayoutVars>
          <dgm:bulletEnabled val="1"/>
        </dgm:presLayoutVars>
      </dgm:prSet>
      <dgm:spPr/>
    </dgm:pt>
  </dgm:ptLst>
  <dgm:cxnLst>
    <dgm:cxn modelId="{C4E7B269-F6AB-420D-A809-897CEBBD8B8F}" srcId="{F7AD3A20-7FE2-49D4-8A3B-B6B5569625BE}" destId="{882DA6B1-D587-45F1-B039-2255C62B80A3}" srcOrd="2" destOrd="0" parTransId="{12BF40FC-7EA9-45E7-B61A-5DD5C8D7D6BD}" sibTransId="{032193B6-0B9F-4D15-9CDE-BC041B8D6832}"/>
    <dgm:cxn modelId="{3A5A046C-7A88-4038-9990-01F69695E187}" srcId="{F7AD3A20-7FE2-49D4-8A3B-B6B5569625BE}" destId="{B18D8606-4AE5-4798-B300-41AC730463A9}" srcOrd="1" destOrd="0" parTransId="{E3887C18-B34E-4945-A3B9-0028ADD180FD}" sibTransId="{95BFD6F0-2B65-44DD-B48A-34FBD925751F}"/>
    <dgm:cxn modelId="{CE5B9E6C-B03C-4DB0-BEAB-06C2C9F567A1}" type="presOf" srcId="{B18D8606-4AE5-4798-B300-41AC730463A9}" destId="{AC76FB70-ACE5-4A68-AB8F-20C414B78F7B}" srcOrd="0" destOrd="0" presId="urn:microsoft.com/office/officeart/2005/8/layout/chevronAccent+Icon#1"/>
    <dgm:cxn modelId="{AC7A8471-05DB-4C5A-8C33-C593D7816C99}" type="presOf" srcId="{882DA6B1-D587-45F1-B039-2255C62B80A3}" destId="{9F70C188-3BA5-4A93-877C-3D721B49C233}" srcOrd="0" destOrd="0" presId="urn:microsoft.com/office/officeart/2005/8/layout/chevronAccent+Icon#1"/>
    <dgm:cxn modelId="{EFCBCC57-A888-4FF5-944D-84364EFC5610}" type="presOf" srcId="{F7AD3A20-7FE2-49D4-8A3B-B6B5569625BE}" destId="{5D1339DD-4A17-43F9-BFF5-506427369F28}" srcOrd="0" destOrd="0" presId="urn:microsoft.com/office/officeart/2005/8/layout/chevronAccent+Icon#1"/>
    <dgm:cxn modelId="{28334C7A-7F0B-4B49-B295-9D48975A74A4}" type="presOf" srcId="{0C0D7F3F-257F-43F7-AB14-F83C581C859A}" destId="{D591B334-8959-4C52-B89C-F46357C2A59D}" srcOrd="0" destOrd="0" presId="urn:microsoft.com/office/officeart/2005/8/layout/chevronAccent+Icon#1"/>
    <dgm:cxn modelId="{C58813A4-4257-4EF4-B144-209B362BAC64}" srcId="{F7AD3A20-7FE2-49D4-8A3B-B6B5569625BE}" destId="{0C0D7F3F-257F-43F7-AB14-F83C581C859A}" srcOrd="0" destOrd="0" parTransId="{B78A2CE8-C78F-4ED5-993D-BF84D300C0E3}" sibTransId="{6BEC1FE4-1D70-4E8B-8D6A-CB9839A9584B}"/>
    <dgm:cxn modelId="{9A6E9F3A-749F-403F-805C-9DF4215E424A}" type="presParOf" srcId="{5D1339DD-4A17-43F9-BFF5-506427369F28}" destId="{62F5C9C1-9A93-42DF-86EA-F22E76DF58D9}" srcOrd="0" destOrd="0" presId="urn:microsoft.com/office/officeart/2005/8/layout/chevronAccent+Icon#1"/>
    <dgm:cxn modelId="{E85978AA-393F-4026-9EDD-3BB03BC5B192}" type="presParOf" srcId="{62F5C9C1-9A93-42DF-86EA-F22E76DF58D9}" destId="{B2917FED-7DC0-463F-9F4D-E630B0C4FA05}" srcOrd="0" destOrd="0" presId="urn:microsoft.com/office/officeart/2005/8/layout/chevronAccent+Icon#1"/>
    <dgm:cxn modelId="{1BB8FCFD-2CD7-4B85-B6D9-B56D7AA61132}" type="presParOf" srcId="{62F5C9C1-9A93-42DF-86EA-F22E76DF58D9}" destId="{D591B334-8959-4C52-B89C-F46357C2A59D}" srcOrd="1" destOrd="0" presId="urn:microsoft.com/office/officeart/2005/8/layout/chevronAccent+Icon#1"/>
    <dgm:cxn modelId="{0CD2E6CD-8C3D-42AF-A4E1-15E555AFAD5D}" type="presParOf" srcId="{5D1339DD-4A17-43F9-BFF5-506427369F28}" destId="{88794ACF-E58E-4A47-9934-99ADAAD7974E}" srcOrd="1" destOrd="0" presId="urn:microsoft.com/office/officeart/2005/8/layout/chevronAccent+Icon#1"/>
    <dgm:cxn modelId="{FABE9723-C01F-46C0-8D31-284DF665CE2E}" type="presParOf" srcId="{5D1339DD-4A17-43F9-BFF5-506427369F28}" destId="{154994CD-95B4-416E-8767-0CA2391EBA6D}" srcOrd="2" destOrd="0" presId="urn:microsoft.com/office/officeart/2005/8/layout/chevronAccent+Icon#1"/>
    <dgm:cxn modelId="{B569D16E-92EC-4F11-866F-F0DF9C79F45F}" type="presParOf" srcId="{154994CD-95B4-416E-8767-0CA2391EBA6D}" destId="{45270F3A-546B-4212-AC9D-3E1B15FACFE1}" srcOrd="0" destOrd="0" presId="urn:microsoft.com/office/officeart/2005/8/layout/chevronAccent+Icon#1"/>
    <dgm:cxn modelId="{A27203C4-518C-4CC4-B849-75CA12C25EFA}" type="presParOf" srcId="{154994CD-95B4-416E-8767-0CA2391EBA6D}" destId="{AC76FB70-ACE5-4A68-AB8F-20C414B78F7B}" srcOrd="1" destOrd="0" presId="urn:microsoft.com/office/officeart/2005/8/layout/chevronAccent+Icon#1"/>
    <dgm:cxn modelId="{4498EF48-7097-4171-AEC3-A7313540729E}" type="presParOf" srcId="{5D1339DD-4A17-43F9-BFF5-506427369F28}" destId="{2713AF23-C62A-45EC-88AD-72CEF3B1D5E2}" srcOrd="3" destOrd="0" presId="urn:microsoft.com/office/officeart/2005/8/layout/chevronAccent+Icon#1"/>
    <dgm:cxn modelId="{537359E8-BEE9-45E0-9AD5-1388C9CF0982}" type="presParOf" srcId="{5D1339DD-4A17-43F9-BFF5-506427369F28}" destId="{B45B6946-7E40-4242-967E-BCF9972F56A8}" srcOrd="4" destOrd="0" presId="urn:microsoft.com/office/officeart/2005/8/layout/chevronAccent+Icon#1"/>
    <dgm:cxn modelId="{44BA21F8-0426-42A1-8544-3E9ABD0C364B}" type="presParOf" srcId="{B45B6946-7E40-4242-967E-BCF9972F56A8}" destId="{C3F4D675-2811-4257-954B-A115519E2049}" srcOrd="0" destOrd="0" presId="urn:microsoft.com/office/officeart/2005/8/layout/chevronAccent+Icon#1"/>
    <dgm:cxn modelId="{B01475DF-F851-4993-B1DE-DC7D3A4DD9C3}" type="presParOf" srcId="{B45B6946-7E40-4242-967E-BCF9972F56A8}" destId="{9F70C188-3BA5-4A93-877C-3D721B49C233}" srcOrd="1" destOrd="0" presId="urn:microsoft.com/office/officeart/2005/8/layout/chevronAccent+Icon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AD3A20-7FE2-49D4-8A3B-B6B5569625BE}" type="doc">
      <dgm:prSet loTypeId="urn:microsoft.com/office/officeart/2005/8/layout/chevronAccent+Icon#3" loCatId="process" qsTypeId="urn:microsoft.com/office/officeart/2005/8/quickstyle/simple1" qsCatId="simple" csTypeId="urn:microsoft.com/office/officeart/2005/8/colors/accent1_2" csCatId="accent1" phldr="1"/>
      <dgm:spPr/>
    </dgm:pt>
    <dgm:pt modelId="{0C0D7F3F-257F-43F7-AB14-F83C581C859A}">
      <dgm:prSet phldrT="[文本]"/>
      <dgm:spPr/>
      <dgm:t>
        <a:bodyPr/>
        <a:lstStyle/>
        <a:p>
          <a:r>
            <a:rPr lang="zh-CN" altLang="en-US" dirty="0"/>
            <a:t>开始调试</a:t>
          </a:r>
        </a:p>
      </dgm:t>
    </dgm:pt>
    <dgm:pt modelId="{B78A2CE8-C78F-4ED5-993D-BF84D300C0E3}" cxnId="{C58813A4-4257-4EF4-B144-209B362BAC64}" type="parTrans">
      <dgm:prSet/>
      <dgm:spPr/>
      <dgm:t>
        <a:bodyPr/>
        <a:lstStyle/>
        <a:p>
          <a:endParaRPr lang="zh-CN" altLang="en-US"/>
        </a:p>
      </dgm:t>
    </dgm:pt>
    <dgm:pt modelId="{6BEC1FE4-1D70-4E8B-8D6A-CB9839A9584B}" cxnId="{C58813A4-4257-4EF4-B144-209B362BAC64}" type="sibTrans">
      <dgm:prSet/>
      <dgm:spPr/>
      <dgm:t>
        <a:bodyPr/>
        <a:lstStyle/>
        <a:p>
          <a:endParaRPr lang="zh-CN" altLang="en-US"/>
        </a:p>
      </dgm:t>
    </dgm:pt>
    <dgm:pt modelId="{B18D8606-4AE5-4798-B300-41AC730463A9}">
      <dgm:prSet phldrT="[文本]"/>
      <dgm:spPr/>
      <dgm:t>
        <a:bodyPr/>
        <a:lstStyle/>
        <a:p>
          <a:r>
            <a:rPr lang="zh-CN" altLang="en-US" dirty="0"/>
            <a:t>查看变量</a:t>
          </a:r>
        </a:p>
      </dgm:t>
    </dgm:pt>
    <dgm:pt modelId="{E3887C18-B34E-4945-A3B9-0028ADD180FD}" cxnId="{3A5A046C-7A88-4038-9990-01F69695E187}" type="parTrans">
      <dgm:prSet/>
      <dgm:spPr/>
      <dgm:t>
        <a:bodyPr/>
        <a:lstStyle/>
        <a:p>
          <a:endParaRPr lang="zh-CN" altLang="en-US"/>
        </a:p>
      </dgm:t>
    </dgm:pt>
    <dgm:pt modelId="{95BFD6F0-2B65-44DD-B48A-34FBD925751F}" cxnId="{3A5A046C-7A88-4038-9990-01F69695E187}" type="sibTrans">
      <dgm:prSet/>
      <dgm:spPr/>
      <dgm:t>
        <a:bodyPr/>
        <a:lstStyle/>
        <a:p>
          <a:endParaRPr lang="zh-CN" altLang="en-US"/>
        </a:p>
      </dgm:t>
    </dgm:pt>
    <dgm:pt modelId="{882DA6B1-D587-45F1-B039-2255C62B80A3}">
      <dgm:prSet phldrT="[文本]"/>
      <dgm:spPr/>
      <dgm:t>
        <a:bodyPr/>
        <a:lstStyle/>
        <a:p>
          <a:r>
            <a:rPr lang="zh-CN" altLang="en-US" dirty="0"/>
            <a:t>控制程序运行</a:t>
          </a:r>
        </a:p>
      </dgm:t>
    </dgm:pt>
    <dgm:pt modelId="{12BF40FC-7EA9-45E7-B61A-5DD5C8D7D6BD}" cxnId="{C4E7B269-F6AB-420D-A809-897CEBBD8B8F}" type="parTrans">
      <dgm:prSet/>
      <dgm:spPr/>
      <dgm:t>
        <a:bodyPr/>
        <a:lstStyle/>
        <a:p>
          <a:endParaRPr lang="zh-CN" altLang="en-US"/>
        </a:p>
      </dgm:t>
    </dgm:pt>
    <dgm:pt modelId="{032193B6-0B9F-4D15-9CDE-BC041B8D6832}" cxnId="{C4E7B269-F6AB-420D-A809-897CEBBD8B8F}" type="sibTrans">
      <dgm:prSet/>
      <dgm:spPr/>
      <dgm:t>
        <a:bodyPr/>
        <a:lstStyle/>
        <a:p>
          <a:endParaRPr lang="zh-CN" altLang="en-US"/>
        </a:p>
      </dgm:t>
    </dgm:pt>
    <dgm:pt modelId="{5D1339DD-4A17-43F9-BFF5-506427369F28}" type="pres">
      <dgm:prSet presAssocID="{F7AD3A20-7FE2-49D4-8A3B-B6B5569625BE}" presName="Name0" presStyleCnt="0">
        <dgm:presLayoutVars>
          <dgm:dir/>
          <dgm:resizeHandles val="exact"/>
        </dgm:presLayoutVars>
      </dgm:prSet>
      <dgm:spPr/>
    </dgm:pt>
    <dgm:pt modelId="{62F5C9C1-9A93-42DF-86EA-F22E76DF58D9}" type="pres">
      <dgm:prSet presAssocID="{0C0D7F3F-257F-43F7-AB14-F83C581C859A}" presName="composite" presStyleCnt="0"/>
      <dgm:spPr/>
    </dgm:pt>
    <dgm:pt modelId="{B2917FED-7DC0-463F-9F4D-E630B0C4FA05}" type="pres">
      <dgm:prSet presAssocID="{0C0D7F3F-257F-43F7-AB14-F83C581C859A}" presName="bgChev" presStyleLbl="node1" presStyleIdx="0" presStyleCnt="3"/>
      <dgm:spPr>
        <a:solidFill>
          <a:schemeClr val="accent3">
            <a:lumMod val="20000"/>
            <a:lumOff val="80000"/>
          </a:schemeClr>
        </a:solidFill>
      </dgm:spPr>
    </dgm:pt>
    <dgm:pt modelId="{D591B334-8959-4C52-B89C-F46357C2A59D}" type="pres">
      <dgm:prSet presAssocID="{0C0D7F3F-257F-43F7-AB14-F83C581C859A}" presName="txNode" presStyleLbl="fgAcc1" presStyleIdx="0" presStyleCnt="3">
        <dgm:presLayoutVars>
          <dgm:bulletEnabled val="1"/>
        </dgm:presLayoutVars>
      </dgm:prSet>
      <dgm:spPr/>
    </dgm:pt>
    <dgm:pt modelId="{88794ACF-E58E-4A47-9934-99ADAAD7974E}" type="pres">
      <dgm:prSet presAssocID="{6BEC1FE4-1D70-4E8B-8D6A-CB9839A9584B}" presName="compositeSpace" presStyleCnt="0"/>
      <dgm:spPr/>
    </dgm:pt>
    <dgm:pt modelId="{154994CD-95B4-416E-8767-0CA2391EBA6D}" type="pres">
      <dgm:prSet presAssocID="{B18D8606-4AE5-4798-B300-41AC730463A9}" presName="composite" presStyleCnt="0"/>
      <dgm:spPr/>
    </dgm:pt>
    <dgm:pt modelId="{45270F3A-546B-4212-AC9D-3E1B15FACFE1}" type="pres">
      <dgm:prSet presAssocID="{B18D8606-4AE5-4798-B300-41AC730463A9}" presName="bgChev" presStyleLbl="node1" presStyleIdx="1" presStyleCnt="3"/>
      <dgm:spPr>
        <a:solidFill>
          <a:schemeClr val="accent3">
            <a:lumMod val="20000"/>
            <a:lumOff val="80000"/>
          </a:schemeClr>
        </a:solidFill>
      </dgm:spPr>
    </dgm:pt>
    <dgm:pt modelId="{AC76FB70-ACE5-4A68-AB8F-20C414B78F7B}" type="pres">
      <dgm:prSet presAssocID="{B18D8606-4AE5-4798-B300-41AC730463A9}" presName="txNode" presStyleLbl="fgAcc1" presStyleIdx="1" presStyleCnt="3">
        <dgm:presLayoutVars>
          <dgm:bulletEnabled val="1"/>
        </dgm:presLayoutVars>
      </dgm:prSet>
      <dgm:spPr/>
    </dgm:pt>
    <dgm:pt modelId="{2713AF23-C62A-45EC-88AD-72CEF3B1D5E2}" type="pres">
      <dgm:prSet presAssocID="{95BFD6F0-2B65-44DD-B48A-34FBD925751F}" presName="compositeSpace" presStyleCnt="0"/>
      <dgm:spPr/>
    </dgm:pt>
    <dgm:pt modelId="{B45B6946-7E40-4242-967E-BCF9972F56A8}" type="pres">
      <dgm:prSet presAssocID="{882DA6B1-D587-45F1-B039-2255C62B80A3}" presName="composite" presStyleCnt="0"/>
      <dgm:spPr/>
    </dgm:pt>
    <dgm:pt modelId="{C3F4D675-2811-4257-954B-A115519E2049}" type="pres">
      <dgm:prSet presAssocID="{882DA6B1-D587-45F1-B039-2255C62B80A3}" presName="bgChev" presStyleLbl="node1" presStyleIdx="2" presStyleCnt="3"/>
      <dgm:spPr>
        <a:solidFill>
          <a:schemeClr val="accent3">
            <a:lumMod val="20000"/>
            <a:lumOff val="80000"/>
          </a:schemeClr>
        </a:solidFill>
      </dgm:spPr>
    </dgm:pt>
    <dgm:pt modelId="{9F70C188-3BA5-4A93-877C-3D721B49C233}" type="pres">
      <dgm:prSet presAssocID="{882DA6B1-D587-45F1-B039-2255C62B80A3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DB33EF23-25E4-402B-9EBE-6E92548B135A}" type="presOf" srcId="{B18D8606-4AE5-4798-B300-41AC730463A9}" destId="{AC76FB70-ACE5-4A68-AB8F-20C414B78F7B}" srcOrd="0" destOrd="0" presId="urn:microsoft.com/office/officeart/2005/8/layout/chevronAccent+Icon#3"/>
    <dgm:cxn modelId="{C4E7B269-F6AB-420D-A809-897CEBBD8B8F}" srcId="{F7AD3A20-7FE2-49D4-8A3B-B6B5569625BE}" destId="{882DA6B1-D587-45F1-B039-2255C62B80A3}" srcOrd="2" destOrd="0" parTransId="{12BF40FC-7EA9-45E7-B61A-5DD5C8D7D6BD}" sibTransId="{032193B6-0B9F-4D15-9CDE-BC041B8D6832}"/>
    <dgm:cxn modelId="{3A5A046C-7A88-4038-9990-01F69695E187}" srcId="{F7AD3A20-7FE2-49D4-8A3B-B6B5569625BE}" destId="{B18D8606-4AE5-4798-B300-41AC730463A9}" srcOrd="1" destOrd="0" parTransId="{E3887C18-B34E-4945-A3B9-0028ADD180FD}" sibTransId="{95BFD6F0-2B65-44DD-B48A-34FBD925751F}"/>
    <dgm:cxn modelId="{73B8AC4C-6B67-45D5-BF73-5E91D1E989EE}" type="presOf" srcId="{F7AD3A20-7FE2-49D4-8A3B-B6B5569625BE}" destId="{5D1339DD-4A17-43F9-BFF5-506427369F28}" srcOrd="0" destOrd="0" presId="urn:microsoft.com/office/officeart/2005/8/layout/chevronAccent+Icon#3"/>
    <dgm:cxn modelId="{EE85F882-04E2-4159-88E5-77C9ED71917B}" type="presOf" srcId="{882DA6B1-D587-45F1-B039-2255C62B80A3}" destId="{9F70C188-3BA5-4A93-877C-3D721B49C233}" srcOrd="0" destOrd="0" presId="urn:microsoft.com/office/officeart/2005/8/layout/chevronAccent+Icon#3"/>
    <dgm:cxn modelId="{C58813A4-4257-4EF4-B144-209B362BAC64}" srcId="{F7AD3A20-7FE2-49D4-8A3B-B6B5569625BE}" destId="{0C0D7F3F-257F-43F7-AB14-F83C581C859A}" srcOrd="0" destOrd="0" parTransId="{B78A2CE8-C78F-4ED5-993D-BF84D300C0E3}" sibTransId="{6BEC1FE4-1D70-4E8B-8D6A-CB9839A9584B}"/>
    <dgm:cxn modelId="{26EB1FFD-2C70-4F41-834B-9E9CF505C411}" type="presOf" srcId="{0C0D7F3F-257F-43F7-AB14-F83C581C859A}" destId="{D591B334-8959-4C52-B89C-F46357C2A59D}" srcOrd="0" destOrd="0" presId="urn:microsoft.com/office/officeart/2005/8/layout/chevronAccent+Icon#3"/>
    <dgm:cxn modelId="{B8C91C41-1FB9-454E-97DF-EB4AF494F628}" type="presParOf" srcId="{5D1339DD-4A17-43F9-BFF5-506427369F28}" destId="{62F5C9C1-9A93-42DF-86EA-F22E76DF58D9}" srcOrd="0" destOrd="0" presId="urn:microsoft.com/office/officeart/2005/8/layout/chevronAccent+Icon#3"/>
    <dgm:cxn modelId="{E205596B-1F68-4146-9D8D-27BF8E7E7102}" type="presParOf" srcId="{62F5C9C1-9A93-42DF-86EA-F22E76DF58D9}" destId="{B2917FED-7DC0-463F-9F4D-E630B0C4FA05}" srcOrd="0" destOrd="0" presId="urn:microsoft.com/office/officeart/2005/8/layout/chevronAccent+Icon#3"/>
    <dgm:cxn modelId="{F3FD70F4-BD13-4379-B9C1-97EA353D9C13}" type="presParOf" srcId="{62F5C9C1-9A93-42DF-86EA-F22E76DF58D9}" destId="{D591B334-8959-4C52-B89C-F46357C2A59D}" srcOrd="1" destOrd="0" presId="urn:microsoft.com/office/officeart/2005/8/layout/chevronAccent+Icon#3"/>
    <dgm:cxn modelId="{09E38B1A-4C65-48BD-8752-6F7F6A31AA94}" type="presParOf" srcId="{5D1339DD-4A17-43F9-BFF5-506427369F28}" destId="{88794ACF-E58E-4A47-9934-99ADAAD7974E}" srcOrd="1" destOrd="0" presId="urn:microsoft.com/office/officeart/2005/8/layout/chevronAccent+Icon#3"/>
    <dgm:cxn modelId="{048938FD-B896-450F-A7FD-21F3187188FA}" type="presParOf" srcId="{5D1339DD-4A17-43F9-BFF5-506427369F28}" destId="{154994CD-95B4-416E-8767-0CA2391EBA6D}" srcOrd="2" destOrd="0" presId="urn:microsoft.com/office/officeart/2005/8/layout/chevronAccent+Icon#3"/>
    <dgm:cxn modelId="{0FD4D7B2-EDDA-4263-8D0B-3B8C9B93AADA}" type="presParOf" srcId="{154994CD-95B4-416E-8767-0CA2391EBA6D}" destId="{45270F3A-546B-4212-AC9D-3E1B15FACFE1}" srcOrd="0" destOrd="0" presId="urn:microsoft.com/office/officeart/2005/8/layout/chevronAccent+Icon#3"/>
    <dgm:cxn modelId="{F2742B31-1971-4BAF-9D66-9636BAF06888}" type="presParOf" srcId="{154994CD-95B4-416E-8767-0CA2391EBA6D}" destId="{AC76FB70-ACE5-4A68-AB8F-20C414B78F7B}" srcOrd="1" destOrd="0" presId="urn:microsoft.com/office/officeart/2005/8/layout/chevronAccent+Icon#3"/>
    <dgm:cxn modelId="{C4BB1C99-1292-46C2-96F7-9B03FFD5E0EC}" type="presParOf" srcId="{5D1339DD-4A17-43F9-BFF5-506427369F28}" destId="{2713AF23-C62A-45EC-88AD-72CEF3B1D5E2}" srcOrd="3" destOrd="0" presId="urn:microsoft.com/office/officeart/2005/8/layout/chevronAccent+Icon#3"/>
    <dgm:cxn modelId="{1ACCD325-714E-4151-B942-ACCB75C66974}" type="presParOf" srcId="{5D1339DD-4A17-43F9-BFF5-506427369F28}" destId="{B45B6946-7E40-4242-967E-BCF9972F56A8}" srcOrd="4" destOrd="0" presId="urn:microsoft.com/office/officeart/2005/8/layout/chevronAccent+Icon#3"/>
    <dgm:cxn modelId="{988BBF79-1AE7-4B8C-AF0F-0BE6852A9244}" type="presParOf" srcId="{B45B6946-7E40-4242-967E-BCF9972F56A8}" destId="{C3F4D675-2811-4257-954B-A115519E2049}" srcOrd="0" destOrd="0" presId="urn:microsoft.com/office/officeart/2005/8/layout/chevronAccent+Icon#3"/>
    <dgm:cxn modelId="{CA339646-1475-42A3-B953-7A486D6FDE8A}" type="presParOf" srcId="{B45B6946-7E40-4242-967E-BCF9972F56A8}" destId="{9F70C188-3BA5-4A93-877C-3D721B49C233}" srcOrd="1" destOrd="0" presId="urn:microsoft.com/office/officeart/2005/8/layout/chevronAccent+Icon#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17FED-7DC0-463F-9F4D-E630B0C4FA05}">
      <dsp:nvSpPr>
        <dsp:cNvPr id="0" name=""/>
        <dsp:cNvSpPr/>
      </dsp:nvSpPr>
      <dsp:spPr>
        <a:xfrm>
          <a:off x="970" y="1794663"/>
          <a:ext cx="2438027" cy="941078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1B334-8959-4C52-B89C-F46357C2A59D}">
      <dsp:nvSpPr>
        <dsp:cNvPr id="0" name=""/>
        <dsp:cNvSpPr/>
      </dsp:nvSpPr>
      <dsp:spPr>
        <a:xfrm>
          <a:off x="651111" y="2029932"/>
          <a:ext cx="2058779" cy="941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配置调试环境</a:t>
          </a:r>
        </a:p>
      </dsp:txBody>
      <dsp:txXfrm>
        <a:off x="678674" y="2057495"/>
        <a:ext cx="2003653" cy="885952"/>
      </dsp:txXfrm>
    </dsp:sp>
    <dsp:sp modelId="{45270F3A-546B-4212-AC9D-3E1B15FACFE1}">
      <dsp:nvSpPr>
        <dsp:cNvPr id="0" name=""/>
        <dsp:cNvSpPr/>
      </dsp:nvSpPr>
      <dsp:spPr>
        <a:xfrm>
          <a:off x="2785740" y="1794663"/>
          <a:ext cx="2438027" cy="941078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6FB70-ACE5-4A68-AB8F-20C414B78F7B}">
      <dsp:nvSpPr>
        <dsp:cNvPr id="0" name=""/>
        <dsp:cNvSpPr/>
      </dsp:nvSpPr>
      <dsp:spPr>
        <a:xfrm>
          <a:off x="3435880" y="2029932"/>
          <a:ext cx="2058779" cy="941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方正姚体" panose="02010601030101010101" pitchFamily="2" charset="-122"/>
              <a:cs typeface="+mn-cs"/>
            </a:rPr>
            <a:t>设置断点</a:t>
          </a:r>
        </a:p>
      </dsp:txBody>
      <dsp:txXfrm>
        <a:off x="3463443" y="2057495"/>
        <a:ext cx="2003653" cy="885952"/>
      </dsp:txXfrm>
    </dsp:sp>
    <dsp:sp modelId="{C3F4D675-2811-4257-954B-A115519E2049}">
      <dsp:nvSpPr>
        <dsp:cNvPr id="0" name=""/>
        <dsp:cNvSpPr/>
      </dsp:nvSpPr>
      <dsp:spPr>
        <a:xfrm>
          <a:off x="5570509" y="1794663"/>
          <a:ext cx="2438027" cy="941078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0C188-3BA5-4A93-877C-3D721B49C233}">
      <dsp:nvSpPr>
        <dsp:cNvPr id="0" name=""/>
        <dsp:cNvSpPr/>
      </dsp:nvSpPr>
      <dsp:spPr>
        <a:xfrm>
          <a:off x="6221620" y="1994896"/>
          <a:ext cx="2058779" cy="941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调试代码</a:t>
          </a:r>
        </a:p>
      </dsp:txBody>
      <dsp:txXfrm>
        <a:off x="6249183" y="2022459"/>
        <a:ext cx="2003653" cy="8859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17FED-7DC0-463F-9F4D-E630B0C4FA05}">
      <dsp:nvSpPr>
        <dsp:cNvPr id="0" name=""/>
        <dsp:cNvSpPr/>
      </dsp:nvSpPr>
      <dsp:spPr>
        <a:xfrm>
          <a:off x="970" y="1794663"/>
          <a:ext cx="2438027" cy="941078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1B334-8959-4C52-B89C-F46357C2A59D}">
      <dsp:nvSpPr>
        <dsp:cNvPr id="0" name=""/>
        <dsp:cNvSpPr/>
      </dsp:nvSpPr>
      <dsp:spPr>
        <a:xfrm>
          <a:off x="651111" y="2029932"/>
          <a:ext cx="2058779" cy="941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开始调试</a:t>
          </a:r>
        </a:p>
      </dsp:txBody>
      <dsp:txXfrm>
        <a:off x="678674" y="2057495"/>
        <a:ext cx="2003653" cy="885952"/>
      </dsp:txXfrm>
    </dsp:sp>
    <dsp:sp modelId="{45270F3A-546B-4212-AC9D-3E1B15FACFE1}">
      <dsp:nvSpPr>
        <dsp:cNvPr id="0" name=""/>
        <dsp:cNvSpPr/>
      </dsp:nvSpPr>
      <dsp:spPr>
        <a:xfrm>
          <a:off x="2785740" y="1794663"/>
          <a:ext cx="2438027" cy="941078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6FB70-ACE5-4A68-AB8F-20C414B78F7B}">
      <dsp:nvSpPr>
        <dsp:cNvPr id="0" name=""/>
        <dsp:cNvSpPr/>
      </dsp:nvSpPr>
      <dsp:spPr>
        <a:xfrm>
          <a:off x="3435880" y="2029932"/>
          <a:ext cx="2058779" cy="941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查看变量</a:t>
          </a:r>
        </a:p>
      </dsp:txBody>
      <dsp:txXfrm>
        <a:off x="3463443" y="2057495"/>
        <a:ext cx="2003653" cy="885952"/>
      </dsp:txXfrm>
    </dsp:sp>
    <dsp:sp modelId="{C3F4D675-2811-4257-954B-A115519E2049}">
      <dsp:nvSpPr>
        <dsp:cNvPr id="0" name=""/>
        <dsp:cNvSpPr/>
      </dsp:nvSpPr>
      <dsp:spPr>
        <a:xfrm>
          <a:off x="5570509" y="1794663"/>
          <a:ext cx="2438027" cy="941078"/>
        </a:xfrm>
        <a:prstGeom prst="chevron">
          <a:avLst>
            <a:gd name="adj" fmla="val 4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0C188-3BA5-4A93-877C-3D721B49C233}">
      <dsp:nvSpPr>
        <dsp:cNvPr id="0" name=""/>
        <dsp:cNvSpPr/>
      </dsp:nvSpPr>
      <dsp:spPr>
        <a:xfrm>
          <a:off x="6220650" y="2029932"/>
          <a:ext cx="2058779" cy="941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控制程序运行</a:t>
          </a:r>
        </a:p>
      </dsp:txBody>
      <dsp:txXfrm>
        <a:off x="6248213" y="2057495"/>
        <a:ext cx="2003653" cy="885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#1">
  <dgm:title val="V 型符号流程"/>
  <dgm:desc val="用于显示任务、流程或工作流的连续步骤，或用于强调移动或方向。非常适合于少量的 1 级和 2 级文本。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type="chevron" r:blip="" rot="180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Accent+Icon#3">
  <dgm:title val="V 型符号流程"/>
  <dgm:desc val="用于显示任务、流程或工作流的连续步骤，或用于强调移动或方向。非常适合于少量的 1 级和 2 级文本。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type="chevron" r:blip="" rot="180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strcat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利用题目的特性经常能最快，也有较通用的方法，效率更低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#include</a:t>
            </a:r>
            <a:r>
              <a:rPr lang="en-US" altLang="zh-CN" b="0" dirty="0">
                <a:solidFill>
                  <a:srgbClr val="666969"/>
                </a:solidFill>
                <a:effectLst/>
                <a:latin typeface="Fira Mono" panose="020B0509050000020004" pitchFamily="49" charset="0"/>
              </a:rPr>
              <a:t> &lt;</a:t>
            </a:r>
            <a:r>
              <a:rPr lang="en-US" altLang="zh-CN" b="0" dirty="0" err="1">
                <a:solidFill>
                  <a:srgbClr val="666969"/>
                </a:solidFill>
                <a:effectLst/>
                <a:latin typeface="Fira Mono" panose="020B0509050000020004" pitchFamily="49" charset="0"/>
              </a:rPr>
              <a:t>stdio.h</a:t>
            </a:r>
            <a:r>
              <a:rPr lang="en-US" altLang="zh-CN" b="0" dirty="0">
                <a:solidFill>
                  <a:srgbClr val="666969"/>
                </a:solidFill>
                <a:effectLst/>
                <a:latin typeface="Fira Mono" panose="020B05090500000200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#include</a:t>
            </a:r>
            <a:r>
              <a:rPr lang="en-US" altLang="zh-CN" b="0" dirty="0">
                <a:solidFill>
                  <a:srgbClr val="666969"/>
                </a:solidFill>
                <a:effectLst/>
                <a:latin typeface="Fira Mono" panose="020B0509050000020004" pitchFamily="49" charset="0"/>
              </a:rPr>
              <a:t> &lt;</a:t>
            </a:r>
            <a:r>
              <a:rPr lang="en-US" altLang="zh-CN" b="0" dirty="0" err="1">
                <a:solidFill>
                  <a:srgbClr val="666969"/>
                </a:solidFill>
                <a:effectLst/>
                <a:latin typeface="Fira Mono" panose="020B0509050000020004" pitchFamily="49" charset="0"/>
              </a:rPr>
              <a:t>string.h</a:t>
            </a:r>
            <a:r>
              <a:rPr lang="en-US" altLang="zh-CN" b="0" dirty="0">
                <a:solidFill>
                  <a:srgbClr val="666969"/>
                </a:solidFill>
                <a:effectLst/>
                <a:latin typeface="Fira Mono" panose="020B05090500000200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using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namespace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std;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str1[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27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], str2[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27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];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main()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{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 err="1">
                <a:solidFill>
                  <a:srgbClr val="4271AE"/>
                </a:solidFill>
                <a:effectLst/>
                <a:latin typeface="Fira Mono" panose="020B0509050000020004" pitchFamily="49" charset="0"/>
              </a:rPr>
              <a:t>scanf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dirty="0">
                <a:solidFill>
                  <a:srgbClr val="718C00"/>
                </a:solidFill>
                <a:effectLst/>
                <a:latin typeface="Fira Mono" panose="020B0509050000020004" pitchFamily="49" charset="0"/>
              </a:rPr>
              <a:t>"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%s</a:t>
            </a:r>
            <a:r>
              <a:rPr lang="en-US" altLang="zh-CN" b="0" dirty="0">
                <a:solidFill>
                  <a:srgbClr val="718C00"/>
                </a:solidFill>
                <a:effectLst/>
                <a:latin typeface="Fira Mono" panose="020B05090500000200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,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&amp;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str1);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 err="1">
                <a:solidFill>
                  <a:srgbClr val="4271AE"/>
                </a:solidFill>
                <a:effectLst/>
                <a:latin typeface="Fira Mono" panose="020B0509050000020004" pitchFamily="49" charset="0"/>
              </a:rPr>
              <a:t>scanf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dirty="0">
                <a:solidFill>
                  <a:srgbClr val="718C00"/>
                </a:solidFill>
                <a:effectLst/>
                <a:latin typeface="Fira Mono" panose="020B0509050000020004" pitchFamily="49" charset="0"/>
              </a:rPr>
              <a:t>"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%s</a:t>
            </a:r>
            <a:r>
              <a:rPr lang="en-US" altLang="zh-CN" b="0" dirty="0">
                <a:solidFill>
                  <a:srgbClr val="718C00"/>
                </a:solidFill>
                <a:effectLst/>
                <a:latin typeface="Fira Mono" panose="020B05090500000200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,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&amp;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str2);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, n,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len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len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 err="1">
                <a:solidFill>
                  <a:srgbClr val="4271AE"/>
                </a:solidFill>
                <a:effectLst/>
                <a:latin typeface="Fira Mono" panose="020B0509050000020004" pitchFamily="49" charset="0"/>
              </a:rPr>
              <a:t>strlen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(str1);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lastchar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(n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 n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&lt;=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len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 n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++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{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len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&gt;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--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{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lastchar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str1[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len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-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];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str1[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]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str1[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-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];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(</a:t>
            </a:r>
            <a:r>
              <a:rPr lang="en-US" altLang="zh-CN" b="0" dirty="0" err="1">
                <a:solidFill>
                  <a:srgbClr val="4271AE"/>
                </a:solidFill>
                <a:effectLst/>
                <a:latin typeface="Fira Mono" panose="020B0509050000020004" pitchFamily="49" charset="0"/>
              </a:rPr>
              <a:t>strstr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(str1, str2)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!=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NULL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{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 err="1">
                <a:solidFill>
                  <a:srgbClr val="4271AE"/>
                </a:solidFill>
                <a:effectLst/>
                <a:latin typeface="Fira Mono" panose="020B05090500000200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dirty="0">
                <a:solidFill>
                  <a:srgbClr val="718C00"/>
                </a:solidFill>
                <a:effectLst/>
                <a:latin typeface="Fira Mono" panose="020B0509050000020004" pitchFamily="49" charset="0"/>
              </a:rPr>
              <a:t>"true"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);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str1[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] </a:t>
            </a:r>
            <a:r>
              <a:rPr lang="en-US" altLang="zh-CN" b="0" dirty="0">
                <a:solidFill>
                  <a:srgbClr val="3E999F"/>
                </a:solidFill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lastchar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 err="1">
                <a:solidFill>
                  <a:srgbClr val="4271AE"/>
                </a:solidFill>
                <a:effectLst/>
                <a:latin typeface="Fira Mono" panose="020B05090500000200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dirty="0">
                <a:solidFill>
                  <a:srgbClr val="718C00"/>
                </a:solidFill>
                <a:effectLst/>
                <a:latin typeface="Fira Mono" panose="020B0509050000020004" pitchFamily="49" charset="0"/>
              </a:rPr>
              <a:t>"false"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);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8959A8"/>
                </a:solidFill>
                <a:effectLst/>
                <a:latin typeface="Fira Mono" panose="020B05090500000200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dirty="0">
                <a:solidFill>
                  <a:srgbClr val="F5871F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</a:br>
            <a:endParaRPr lang="en-US" altLang="zh-CN" b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http://yoj.ruc.edu.cn/index.php/teacher/submissions/detail/subno/1206587.html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需要调试的代码：</a:t>
            </a:r>
            <a:endParaRPr lang="en-US" altLang="zh-CN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#define max 10</a:t>
            </a:r>
            <a:endParaRPr lang="en-US" altLang="zh-CN" dirty="0"/>
          </a:p>
          <a:p>
            <a:r>
              <a:rPr lang="en-US" altLang="zh-CN" dirty="0"/>
              <a:t>int main() {</a:t>
            </a:r>
            <a:endParaRPr lang="en-US" altLang="zh-CN" dirty="0"/>
          </a:p>
          <a:p>
            <a:r>
              <a:rPr lang="en-US" altLang="zh-CN" dirty="0"/>
              <a:t>	int n = 0, a = 0, b = 0, c = 0, count_in_2 = 0, sum = 0, count_in_1 = 0, </a:t>
            </a:r>
            <a:r>
              <a:rPr lang="en-US" altLang="zh-CN" dirty="0" err="1"/>
              <a:t>count_out</a:t>
            </a:r>
            <a:r>
              <a:rPr lang="en-US" altLang="zh-CN" dirty="0"/>
              <a:t> = 0,bre = 1;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scanf</a:t>
            </a:r>
            <a:r>
              <a:rPr lang="en-US" altLang="zh-CN" dirty="0"/>
              <a:t>("%d", &amp;n);</a:t>
            </a:r>
            <a:endParaRPr lang="en-US" altLang="zh-CN" dirty="0"/>
          </a:p>
          <a:p>
            <a:r>
              <a:rPr lang="en-US" altLang="zh-CN" dirty="0"/>
              <a:t>	int guess[max][6];</a:t>
            </a:r>
            <a:endParaRPr lang="en-US" altLang="zh-CN" dirty="0"/>
          </a:p>
          <a:p>
            <a:r>
              <a:rPr lang="en-US" altLang="zh-CN" dirty="0"/>
              <a:t>	for (int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n;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d%d%d%d</a:t>
            </a:r>
            <a:r>
              <a:rPr lang="en-US" altLang="zh-CN" dirty="0"/>
              <a:t> %d %</a:t>
            </a:r>
            <a:r>
              <a:rPr lang="en-US" altLang="zh-CN" dirty="0" err="1"/>
              <a:t>d",&amp;guess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][0],&amp;guess[</a:t>
            </a:r>
            <a:r>
              <a:rPr lang="en-US" altLang="zh-CN" dirty="0" err="1"/>
              <a:t>i</a:t>
            </a:r>
            <a:r>
              <a:rPr lang="en-US" altLang="zh-CN" dirty="0"/>
              <a:t>][1],&amp;guess[</a:t>
            </a:r>
            <a:r>
              <a:rPr lang="en-US" altLang="zh-CN" dirty="0" err="1"/>
              <a:t>i</a:t>
            </a:r>
            <a:r>
              <a:rPr lang="en-US" altLang="zh-CN" dirty="0"/>
              <a:t>][2], &amp;guess[</a:t>
            </a:r>
            <a:r>
              <a:rPr lang="en-US" altLang="zh-CN" dirty="0" err="1"/>
              <a:t>i</a:t>
            </a:r>
            <a:r>
              <a:rPr lang="en-US" altLang="zh-CN" dirty="0"/>
              <a:t>][3],&amp;guess[</a:t>
            </a:r>
            <a:r>
              <a:rPr lang="en-US" altLang="zh-CN" dirty="0" err="1"/>
              <a:t>i</a:t>
            </a:r>
            <a:r>
              <a:rPr lang="en-US" altLang="zh-CN" dirty="0"/>
              <a:t>][4], &amp;guess[</a:t>
            </a:r>
            <a:r>
              <a:rPr lang="en-US" altLang="zh-CN" dirty="0" err="1"/>
              <a:t>i</a:t>
            </a:r>
            <a:r>
              <a:rPr lang="en-US" altLang="zh-CN" dirty="0"/>
              <a:t>][5]);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for (int w = 1; w &lt; 9 &amp;&amp; </a:t>
            </a:r>
            <a:r>
              <a:rPr lang="en-US" altLang="zh-CN" dirty="0" err="1"/>
              <a:t>bre</a:t>
            </a:r>
            <a:r>
              <a:rPr lang="en-US" altLang="zh-CN" dirty="0"/>
              <a:t>; w++) {</a:t>
            </a:r>
            <a:endParaRPr lang="en-US" altLang="zh-CN" dirty="0"/>
          </a:p>
          <a:p>
            <a:r>
              <a:rPr lang="en-US" altLang="zh-CN" dirty="0"/>
              <a:t>		for (int x = 1; x &lt; 9 &amp;&amp; </a:t>
            </a:r>
            <a:r>
              <a:rPr lang="en-US" altLang="zh-CN" dirty="0" err="1"/>
              <a:t>bre</a:t>
            </a:r>
            <a:r>
              <a:rPr lang="en-US" altLang="zh-CN" dirty="0"/>
              <a:t>; x++) {</a:t>
            </a:r>
            <a:endParaRPr lang="en-US" altLang="zh-CN" dirty="0"/>
          </a:p>
          <a:p>
            <a:r>
              <a:rPr lang="en-US" altLang="zh-CN" dirty="0"/>
              <a:t>			for (int y = 1; y &lt; 9&amp;&amp; </a:t>
            </a:r>
            <a:r>
              <a:rPr lang="en-US" altLang="zh-CN" dirty="0" err="1"/>
              <a:t>bre</a:t>
            </a:r>
            <a:r>
              <a:rPr lang="en-US" altLang="zh-CN" dirty="0"/>
              <a:t>; y++) {</a:t>
            </a:r>
            <a:endParaRPr lang="en-US" altLang="zh-CN" dirty="0"/>
          </a:p>
          <a:p>
            <a:r>
              <a:rPr lang="en-US" altLang="zh-CN" dirty="0"/>
              <a:t>				for (int z = 1; z &lt; 9 &amp;&amp; </a:t>
            </a:r>
            <a:r>
              <a:rPr lang="en-US" altLang="zh-CN" dirty="0" err="1"/>
              <a:t>bre</a:t>
            </a:r>
            <a:r>
              <a:rPr lang="en-US" altLang="zh-CN" dirty="0"/>
              <a:t>; z++) {</a:t>
            </a:r>
            <a:endParaRPr lang="en-US" altLang="zh-CN" dirty="0"/>
          </a:p>
          <a:p>
            <a:r>
              <a:rPr lang="en-US" altLang="zh-CN" dirty="0"/>
              <a:t>					for (int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n 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r>
              <a:rPr lang="en-US" altLang="zh-CN" dirty="0"/>
              <a:t>						count_in_1 = 0;</a:t>
            </a:r>
            <a:endParaRPr lang="en-US" altLang="zh-CN" dirty="0"/>
          </a:p>
          <a:p>
            <a:r>
              <a:rPr lang="en-US" altLang="zh-CN" dirty="0"/>
              <a:t>						count_in_2 = 0;</a:t>
            </a:r>
            <a:endParaRPr lang="en-US" altLang="zh-CN" dirty="0"/>
          </a:p>
          <a:p>
            <a:r>
              <a:rPr lang="en-US" altLang="zh-CN" dirty="0"/>
              <a:t>						if (w == guess[</a:t>
            </a:r>
            <a:r>
              <a:rPr lang="en-US" altLang="zh-CN" dirty="0" err="1"/>
              <a:t>i</a:t>
            </a:r>
            <a:r>
              <a:rPr lang="en-US" altLang="zh-CN" dirty="0"/>
              <a:t>][0]) {</a:t>
            </a:r>
            <a:endParaRPr lang="en-US" altLang="zh-CN" dirty="0"/>
          </a:p>
          <a:p>
            <a:r>
              <a:rPr lang="en-US" altLang="zh-CN" dirty="0"/>
              <a:t>							count_in_2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	if (x == guess[</a:t>
            </a:r>
            <a:r>
              <a:rPr lang="en-US" altLang="zh-CN" dirty="0" err="1"/>
              <a:t>i</a:t>
            </a:r>
            <a:r>
              <a:rPr lang="en-US" altLang="zh-CN" dirty="0"/>
              <a:t>][1]) {</a:t>
            </a:r>
            <a:endParaRPr lang="en-US" altLang="zh-CN" dirty="0"/>
          </a:p>
          <a:p>
            <a:r>
              <a:rPr lang="en-US" altLang="zh-CN" dirty="0"/>
              <a:t>							count_in_2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	if (w == guess[</a:t>
            </a:r>
            <a:r>
              <a:rPr lang="en-US" altLang="zh-CN" dirty="0" err="1"/>
              <a:t>i</a:t>
            </a:r>
            <a:r>
              <a:rPr lang="en-US" altLang="zh-CN" dirty="0"/>
              <a:t>][2]) {</a:t>
            </a:r>
            <a:endParaRPr lang="en-US" altLang="zh-CN" dirty="0"/>
          </a:p>
          <a:p>
            <a:r>
              <a:rPr lang="en-US" altLang="zh-CN" dirty="0"/>
              <a:t>							count_in_2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	if (x == guess[</a:t>
            </a:r>
            <a:r>
              <a:rPr lang="en-US" altLang="zh-CN" dirty="0" err="1"/>
              <a:t>i</a:t>
            </a:r>
            <a:r>
              <a:rPr lang="en-US" altLang="zh-CN" dirty="0"/>
              <a:t>][3]) {</a:t>
            </a:r>
            <a:endParaRPr lang="en-US" altLang="zh-CN" dirty="0"/>
          </a:p>
          <a:p>
            <a:r>
              <a:rPr lang="en-US" altLang="zh-CN" dirty="0"/>
              <a:t>							count_in_2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	for (int j = 0; j &lt; 4; </a:t>
            </a:r>
            <a:r>
              <a:rPr lang="en-US" altLang="zh-CN" dirty="0" err="1"/>
              <a:t>j++</a:t>
            </a:r>
            <a:r>
              <a:rPr lang="en-US" altLang="zh-CN" dirty="0"/>
              <a:t>) {</a:t>
            </a:r>
            <a:endParaRPr lang="en-US" altLang="zh-CN" dirty="0"/>
          </a:p>
          <a:p>
            <a:r>
              <a:rPr lang="en-US" altLang="zh-CN" dirty="0"/>
              <a:t>							if (w == guess[</a:t>
            </a:r>
            <a:r>
              <a:rPr lang="en-US" altLang="zh-CN" dirty="0" err="1"/>
              <a:t>i</a:t>
            </a:r>
            <a:r>
              <a:rPr lang="en-US" altLang="zh-CN" dirty="0"/>
              <a:t>][j]) count_in_1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	for (int j = 0; (j &lt; 4) &amp;&amp; (w != x); </a:t>
            </a:r>
            <a:r>
              <a:rPr lang="en-US" altLang="zh-CN" dirty="0" err="1"/>
              <a:t>j++</a:t>
            </a:r>
            <a:r>
              <a:rPr lang="en-US" altLang="zh-CN" dirty="0"/>
              <a:t>) {</a:t>
            </a:r>
            <a:endParaRPr lang="en-US" altLang="zh-CN" dirty="0"/>
          </a:p>
          <a:p>
            <a:r>
              <a:rPr lang="en-US" altLang="zh-CN" dirty="0"/>
              <a:t>							if (x == guess[</a:t>
            </a:r>
            <a:r>
              <a:rPr lang="en-US" altLang="zh-CN" dirty="0" err="1"/>
              <a:t>i</a:t>
            </a:r>
            <a:r>
              <a:rPr lang="en-US" altLang="zh-CN" dirty="0"/>
              <a:t>][j])count_in_1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	for (int j = 0; (j &lt; 4) &amp;&amp; (w != x) &amp;&amp; (w != y) &amp;&amp; (y != x); </a:t>
            </a:r>
            <a:r>
              <a:rPr lang="en-US" altLang="zh-CN" dirty="0" err="1"/>
              <a:t>j++</a:t>
            </a:r>
            <a:r>
              <a:rPr lang="en-US" altLang="zh-CN" dirty="0"/>
              <a:t>) {</a:t>
            </a:r>
            <a:endParaRPr lang="en-US" altLang="zh-CN" dirty="0"/>
          </a:p>
          <a:p>
            <a:r>
              <a:rPr lang="en-US" altLang="zh-CN" dirty="0"/>
              <a:t>							if (y == guess[</a:t>
            </a:r>
            <a:r>
              <a:rPr lang="en-US" altLang="zh-CN" dirty="0" err="1"/>
              <a:t>i</a:t>
            </a:r>
            <a:r>
              <a:rPr lang="en-US" altLang="zh-CN" dirty="0"/>
              <a:t>][j]) count_in_1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	for (int j = 0; (j &lt; 4) &amp;&amp; (w != x) &amp;&amp; (w != y) &amp;&amp; (y != x) &amp;&amp; (w != z) &amp;&amp; (z != y) &amp;&amp; (z != x); </a:t>
            </a:r>
            <a:r>
              <a:rPr lang="en-US" altLang="zh-CN" dirty="0" err="1"/>
              <a:t>j++</a:t>
            </a:r>
            <a:r>
              <a:rPr lang="en-US" altLang="zh-CN" dirty="0"/>
              <a:t>) {</a:t>
            </a:r>
            <a:endParaRPr lang="en-US" altLang="zh-CN" dirty="0"/>
          </a:p>
          <a:p>
            <a:r>
              <a:rPr lang="en-US" altLang="zh-CN" dirty="0"/>
              <a:t>							if (z == guess[</a:t>
            </a:r>
            <a:r>
              <a:rPr lang="en-US" altLang="zh-CN" dirty="0" err="1"/>
              <a:t>i</a:t>
            </a:r>
            <a:r>
              <a:rPr lang="en-US" altLang="zh-CN" dirty="0"/>
              <a:t>][j]) count_in_1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	</a:t>
            </a:r>
            <a:endParaRPr lang="en-US" altLang="zh-CN" dirty="0"/>
          </a:p>
          <a:p>
            <a:r>
              <a:rPr lang="en-US" altLang="zh-CN" dirty="0"/>
              <a:t>						if ((count_in_2 == guess[</a:t>
            </a:r>
            <a:r>
              <a:rPr lang="en-US" altLang="zh-CN" dirty="0" err="1"/>
              <a:t>i</a:t>
            </a:r>
            <a:r>
              <a:rPr lang="en-US" altLang="zh-CN" dirty="0"/>
              <a:t>][5]) &amp;&amp; (count_in_1 == guess[</a:t>
            </a:r>
            <a:r>
              <a:rPr lang="en-US" altLang="zh-CN" dirty="0" err="1"/>
              <a:t>i</a:t>
            </a:r>
            <a:r>
              <a:rPr lang="en-US" altLang="zh-CN" dirty="0"/>
              <a:t>][4])) {</a:t>
            </a:r>
            <a:endParaRPr lang="en-US" altLang="zh-CN" dirty="0"/>
          </a:p>
          <a:p>
            <a:r>
              <a:rPr lang="en-US" altLang="zh-CN" dirty="0"/>
              <a:t>							</a:t>
            </a:r>
            <a:r>
              <a:rPr lang="en-US" altLang="zh-CN" dirty="0" err="1"/>
              <a:t>count_out</a:t>
            </a:r>
            <a:r>
              <a:rPr lang="en-US" altLang="zh-CN" dirty="0"/>
              <a:t> += 1;</a:t>
            </a:r>
            <a:endParaRPr lang="en-US" altLang="zh-CN" dirty="0"/>
          </a:p>
          <a:p>
            <a:r>
              <a:rPr lang="en-US" altLang="zh-CN" dirty="0"/>
              <a:t>						}</a:t>
            </a:r>
            <a:endParaRPr lang="en-US" altLang="zh-CN" dirty="0"/>
          </a:p>
          <a:p>
            <a:r>
              <a:rPr lang="en-US" altLang="zh-CN" dirty="0"/>
              <a:t>					}</a:t>
            </a:r>
            <a:endParaRPr lang="en-US" altLang="zh-CN" dirty="0"/>
          </a:p>
          <a:p>
            <a:r>
              <a:rPr lang="en-US" altLang="zh-CN" dirty="0"/>
              <a:t>					if (</a:t>
            </a:r>
            <a:r>
              <a:rPr lang="en-US" altLang="zh-CN" dirty="0" err="1"/>
              <a:t>count_out</a:t>
            </a:r>
            <a:r>
              <a:rPr lang="en-US" altLang="zh-CN" dirty="0"/>
              <a:t> == n) {</a:t>
            </a:r>
            <a:endParaRPr lang="en-US" altLang="zh-CN" dirty="0"/>
          </a:p>
          <a:p>
            <a:r>
              <a:rPr lang="en-US" altLang="zh-CN" dirty="0"/>
              <a:t>						</a:t>
            </a:r>
            <a:r>
              <a:rPr lang="en-US" altLang="zh-CN" dirty="0" err="1"/>
              <a:t>printf</a:t>
            </a:r>
            <a:r>
              <a:rPr lang="en-US" altLang="zh-CN" dirty="0"/>
              <a:t>("%</a:t>
            </a:r>
            <a:r>
              <a:rPr lang="en-US" altLang="zh-CN" dirty="0" err="1"/>
              <a:t>d%d%d%d</a:t>
            </a:r>
            <a:r>
              <a:rPr lang="en-US" altLang="zh-CN" dirty="0"/>
              <a:t>", w, x, y, z);</a:t>
            </a:r>
            <a:endParaRPr lang="en-US" altLang="zh-CN" dirty="0"/>
          </a:p>
          <a:p>
            <a:r>
              <a:rPr lang="en-US" altLang="zh-CN" dirty="0"/>
              <a:t>						</a:t>
            </a:r>
            <a:r>
              <a:rPr lang="en-US" altLang="zh-CN" dirty="0" err="1"/>
              <a:t>bre</a:t>
            </a:r>
            <a:r>
              <a:rPr lang="en-US" altLang="zh-CN" dirty="0"/>
              <a:t> = 0;</a:t>
            </a:r>
            <a:endParaRPr lang="en-US" altLang="zh-CN" dirty="0"/>
          </a:p>
          <a:p>
            <a:r>
              <a:rPr lang="en-US" altLang="zh-CN" dirty="0"/>
              <a:t>					}</a:t>
            </a:r>
            <a:endParaRPr lang="en-US" altLang="zh-CN" dirty="0"/>
          </a:p>
          <a:p>
            <a:r>
              <a:rPr lang="en-US" altLang="zh-CN" dirty="0"/>
              <a:t>				}</a:t>
            </a:r>
            <a:endParaRPr lang="en-US" altLang="zh-CN" dirty="0"/>
          </a:p>
          <a:p>
            <a:r>
              <a:rPr lang="en-US" altLang="zh-CN" dirty="0"/>
              <a:t>			}</a:t>
            </a:r>
            <a:endParaRPr lang="en-US" altLang="zh-CN" dirty="0"/>
          </a:p>
          <a:p>
            <a:r>
              <a:rPr lang="en-US" altLang="zh-CN" dirty="0"/>
              <a:t>		}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if (</a:t>
            </a:r>
            <a:r>
              <a:rPr lang="en-US" altLang="zh-CN" dirty="0" err="1"/>
              <a:t>count_out</a:t>
            </a:r>
            <a:r>
              <a:rPr lang="en-US" altLang="zh-CN" dirty="0"/>
              <a:t> != n) </a:t>
            </a:r>
            <a:r>
              <a:rPr lang="en-US" altLang="zh-CN" dirty="0" err="1"/>
              <a:t>printf</a:t>
            </a:r>
            <a:r>
              <a:rPr lang="en-US" altLang="zh-CN" dirty="0"/>
              <a:t>("Not sure");</a:t>
            </a:r>
            <a:endParaRPr lang="en-US" altLang="zh-CN" dirty="0"/>
          </a:p>
          <a:p>
            <a:r>
              <a:rPr lang="en-US" altLang="zh-CN" dirty="0"/>
              <a:t>	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目前还没学习排序，这个</a:t>
            </a:r>
            <a:r>
              <a:rPr lang="en-US" altLang="zh-CN" dirty="0"/>
              <a:t>case</a:t>
            </a:r>
            <a:r>
              <a:rPr lang="zh-CN" altLang="en-US" dirty="0"/>
              <a:t>可以略过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em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3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3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www.cnblogs.com/MeteorSeed/p/17653202.html" TargetMode="External"/><Relationship Id="rId1" Type="http://schemas.openxmlformats.org/officeDocument/2006/relationships/hyperlink" Target="https://blog.csdn.net/qq_35714301/article/details/108358413#:~:text=VSCode%E8%87%AA%E5%B8%A6%E7%9A%84%E6%96%87%E4%BB%B6%E5%AF%B9%E6%AF%94%E5%8A%9F%E8%83%BD%20%2F%20diff%20tool%20%2F%20%E5%88%86%E5%B1%8F%E5%90%8C%E6%97%B6%E6%BB%9A%E5%8A%A8%201%20%E6%89%93%E5%BC%80%E9%A1%B9%E7%9B%AE%E6%96%87%E4%BB%B6%E5%A4%B9%EF%BC%8C%E8%A6%81%E4%BF%9D%E8%AF%81%E4%BD%A0%E8%A6%81%E5%AF%B9%E6%AF%94%E7%9A%84%E4%B8%A4%E4%B8%AA%E6%96%87%E4%BB%B6%E5%9C%A8%E4%B8%80%E4%B8%AAVSCode%E7%AA%97%E5%8F%A3%E5%86%85%EF%BC%88%E8%AF%95%E4%BA%86%E4%B8%80%E4%B8%8B%EF%BC%8C%E4%B8%A4%E4%B8%AAWindow%E9%87%8C%E9%9D%A2%E7%9A%84%E6%96%87%E4%BB%B6%E4%B8%8D%E8%83%BD%E4%BD%BF%E7%94%A8%E8%BF%99%E4%B8%AA%E5%8A%9F%E8%83%BD%EF%BC%89,%E5%8F%B3%E9%94%AE%E7%AC%AC%E4%BA%8C%E4%B8%AA%E6%96%87%E4%BB%B6%EF%BC%8C%E7%82%B9%E5%87%BB%E2%80%98Compare%20with%20Selected%E2%80%99%204%20%E7%82%B9%E5%87%BB%E4%B9%8B%E5%90%8E%EF%BC%8C%E5%B0%B1%E4%BC%9A%E6%9C%89%E4%B8%80%E4%B8%AA%E6%96%B0%E7%9A%84%E5%AF%B9%E6%AF%94%E6%96%87%E4%BB%B6%E7%94%9F%E6%88%90%EF%BC%8C%E5%9C%A8%E8%BF%99%E4%B8%AA%E6%96%87%E4%BB%B6%E9%87%8C%E9%9D%A2%EF%BC%8C%E5%B7%A6%E8%BE%B9%E7%9A%84%E6%98%AF%E4%BD%A0%E7%AC%AC%E4%B8%80%E6%AC%A1Select%E7%9A%84%E6%96%87%E4%BB%B6%EF%BC%8C%E5%8F%B3%E8%BE%B9%E6%98%AF%E7%AC%AC%E4%BA%8C%E6%AC%A1Select%E7%9A%84%E6%96%87%E4%BB%B6%E3%80%82%20%E8%A7%84%E5%88%99%E4%B9%9F%E5%BE%88%E7%AE%80%E5%8D%95%EF%BC%8C%E7%9C%8B%E5%88%B0%E8%A1%8C%E6%95%B0%E6%97%81%E8%BE%B9%E7%9A%84%E7%AC%A6%E5%8F%B7%EF%BC%8C%E2%80%98%2B%E2%80%99%20%E6%98%AF%E4%BF%AE%E6%94%B9%E5%90%8E%E7%9A%84code%EF%BC%8C%E2%80%98-%E2%80%99%20%E6%98%AF%E4%BF%AE%E6%94%B9%E5%89%8D%E7%9A%84code%EF%BC%8C%E5%A6%82%E6%9E%9C%E6%98%AF%E6%96%B0%E5%86%99%E7%9A%84code%E8%A1%8C%E7%9A%84%E8%AF%9D%EF%BC%8C%E5%8F%A6%E4%B8%80%E4%B8%AA%E6%96%87%E4%BB%B6%E9%87%8C%E4%BC%9A%E6%9C%89%E7%BD%91%E6%A0%BC%E7%BA%BF%E6%8F%90%E7%A4%BA%E6%96%B0%E5%86%99%E7%9A%84%E5%8C%BA%E5%9F%9F%E5%BA%94%E8%AF%A5%E5%9C%A8%E5%93%AA%E9%87%8C%E3%80%82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268873" y="1773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/>
              <a:t>13. </a:t>
            </a:r>
            <a:r>
              <a:rPr lang="zh-CN" altLang="en-US" dirty="0"/>
              <a:t>程序调试</a:t>
            </a:r>
            <a:r>
              <a:rPr lang="en-US" altLang="zh-CN" dirty="0"/>
              <a:t>	</a:t>
            </a:r>
            <a:endParaRPr 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调试（</a:t>
            </a:r>
            <a:r>
              <a:rPr lang="en-US" altLang="zh-CN" dirty="0"/>
              <a:t>debug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程序出错时应该怎么办？</a:t>
            </a:r>
            <a:endParaRPr lang="en-US" altLang="zh-CN" sz="2800" dirty="0"/>
          </a:p>
          <a:p>
            <a:pPr lvl="1"/>
            <a:r>
              <a:rPr lang="zh-CN" altLang="en-US" sz="2400" dirty="0"/>
              <a:t>看？想？</a:t>
            </a:r>
            <a:endParaRPr lang="en-US" altLang="zh-CN" sz="2400" dirty="0"/>
          </a:p>
          <a:p>
            <a:pPr lvl="1"/>
            <a:r>
              <a:rPr lang="zh-CN" altLang="en-US" sz="2400" dirty="0"/>
              <a:t>是否能有办法较为系统地调试（</a:t>
            </a:r>
            <a:r>
              <a:rPr lang="en-US" altLang="zh-CN" sz="2400" dirty="0"/>
              <a:t>debug</a:t>
            </a:r>
            <a:r>
              <a:rPr lang="zh-CN" altLang="en-US" sz="2400" dirty="0"/>
              <a:t>）？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869" y="3212696"/>
            <a:ext cx="4539141" cy="2918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4</a:t>
            </a:r>
            <a:r>
              <a:rPr lang="zh-CN" altLang="en-US" dirty="0"/>
              <a:t>种错误类型</a:t>
            </a:r>
            <a:endParaRPr lang="zh-CN" altLang="en-US" dirty="0"/>
          </a:p>
        </p:txBody>
      </p:sp>
      <p:sp>
        <p:nvSpPr>
          <p:cNvPr id="411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编译错误</a:t>
            </a:r>
            <a:endParaRPr lang="zh-CN" altLang="en-US" dirty="0"/>
          </a:p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链接错误（少见）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dirty="0"/>
              <a:t>运行错误</a:t>
            </a:r>
            <a:endParaRPr lang="zh-CN" altLang="en-US" dirty="0"/>
          </a:p>
          <a:p>
            <a:r>
              <a:rPr lang="zh-CN" altLang="en-US" dirty="0"/>
              <a:t>逻辑错误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错误</a:t>
            </a:r>
            <a:r>
              <a:rPr lang="en-US" altLang="zh-CN" dirty="0"/>
              <a:t>1</a:t>
            </a:r>
            <a:r>
              <a:rPr lang="zh-CN" altLang="en-US" dirty="0"/>
              <a:t>：编译错误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582562"/>
            <a:ext cx="8280000" cy="4139513"/>
          </a:xfrm>
        </p:spPr>
        <p:txBody>
          <a:bodyPr>
            <a:normAutofit/>
          </a:bodyPr>
          <a:lstStyle/>
          <a:p>
            <a:r>
              <a:rPr lang="zh-CN" altLang="en-US" dirty="0"/>
              <a:t>可以在</a:t>
            </a:r>
            <a:r>
              <a:rPr lang="en-US" altLang="zh-CN" dirty="0" err="1"/>
              <a:t>vscode</a:t>
            </a:r>
            <a:r>
              <a:rPr lang="zh-CN" altLang="en-US" dirty="0"/>
              <a:t>上调试好，主要需要看编译错误信息</a:t>
            </a:r>
            <a:endParaRPr lang="en-US" altLang="zh-CN" dirty="0"/>
          </a:p>
          <a:p>
            <a:r>
              <a:rPr lang="zh-CN" altLang="en-US" dirty="0"/>
              <a:t>程序编写完成后，可以根据 “问题”</a:t>
            </a:r>
            <a:r>
              <a:rPr lang="en-US" altLang="zh-CN" dirty="0"/>
              <a:t> </a:t>
            </a:r>
            <a:r>
              <a:rPr lang="zh-CN" altLang="en-US" dirty="0"/>
              <a:t>窗口中的错误（</a:t>
            </a:r>
            <a:r>
              <a:rPr lang="en-US" altLang="zh-CN" dirty="0"/>
              <a:t>Error</a:t>
            </a:r>
            <a:r>
              <a:rPr lang="zh-CN" altLang="en-US" dirty="0"/>
              <a:t>）、警告（</a:t>
            </a:r>
            <a:r>
              <a:rPr lang="en-US" altLang="zh-CN" dirty="0"/>
              <a:t>Warning</a:t>
            </a:r>
            <a:r>
              <a:rPr lang="zh-CN" altLang="en-US" dirty="0"/>
              <a:t>）信息来修改程序，直到没有错误（最好也不再有警告信息，因为警告往往会是隐含的错误）</a:t>
            </a:r>
            <a:endParaRPr lang="en-US" altLang="zh-CN" dirty="0"/>
          </a:p>
          <a:p>
            <a:r>
              <a:rPr lang="zh-CN" altLang="en-US" dirty="0"/>
              <a:t>看不懂</a:t>
            </a:r>
            <a:r>
              <a:rPr lang="en-US" altLang="zh-CN" dirty="0"/>
              <a:t>Error</a:t>
            </a:r>
            <a:r>
              <a:rPr lang="zh-CN" altLang="en-US" dirty="0"/>
              <a:t>信息问题也不大，可以</a:t>
            </a:r>
            <a:endParaRPr lang="en-US" altLang="zh-CN" dirty="0"/>
          </a:p>
          <a:p>
            <a:pPr lvl="1"/>
            <a:r>
              <a:rPr lang="zh-CN" altLang="en-US" dirty="0"/>
              <a:t>主要看一下报错是哪一行（如果这一行代码很长可以修改分行，能更精确地指到出错的位置）</a:t>
            </a:r>
            <a:endParaRPr lang="en-US" altLang="zh-CN" dirty="0"/>
          </a:p>
          <a:p>
            <a:pPr lvl="1"/>
            <a:r>
              <a:rPr lang="zh-CN" altLang="en-US" dirty="0"/>
              <a:t>平时多查查</a:t>
            </a:r>
            <a:r>
              <a:rPr lang="en-US" altLang="zh-CN" dirty="0"/>
              <a:t>Error</a:t>
            </a:r>
            <a:r>
              <a:rPr lang="zh-CN" altLang="en-US" dirty="0"/>
              <a:t>信息，尽量理解一下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3546" y="1485621"/>
            <a:ext cx="3534800" cy="102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错误</a:t>
            </a:r>
            <a:r>
              <a:rPr lang="en-US" altLang="zh-CN" dirty="0"/>
              <a:t>1</a:t>
            </a:r>
            <a:r>
              <a:rPr lang="zh-CN" altLang="en-US" dirty="0"/>
              <a:t>：编译错误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817341"/>
            <a:ext cx="8280000" cy="3482659"/>
          </a:xfrm>
        </p:spPr>
        <p:txBody>
          <a:bodyPr/>
          <a:lstStyle/>
          <a:p>
            <a:r>
              <a:rPr lang="zh-CN" altLang="en-US" dirty="0"/>
              <a:t>可以在</a:t>
            </a:r>
            <a:r>
              <a:rPr lang="en-US" altLang="zh-CN" dirty="0" err="1"/>
              <a:t>vscode</a:t>
            </a:r>
            <a:r>
              <a:rPr lang="zh-CN" altLang="en-US" dirty="0"/>
              <a:t>上调试好，主要需要看编译错误信息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3546" y="1485621"/>
            <a:ext cx="3534800" cy="1022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0811"/>
            <a:ext cx="9144000" cy="4133588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197708" y="5640859"/>
            <a:ext cx="5010665" cy="105354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错误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：链接错误（少见）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编译了多个程序文件，都能编译通过，但是把它们链接（</a:t>
            </a:r>
            <a:r>
              <a:rPr lang="en-US" altLang="zh-CN" dirty="0"/>
              <a:t>link</a:t>
            </a:r>
            <a:r>
              <a:rPr lang="zh-CN" altLang="en-US" dirty="0"/>
              <a:t>）在一起时出错</a:t>
            </a:r>
            <a:endParaRPr lang="en-US" altLang="zh-CN" dirty="0"/>
          </a:p>
          <a:p>
            <a:r>
              <a:rPr lang="zh-CN" altLang="en-US" dirty="0"/>
              <a:t>往往在有多个程序文件（如多个</a:t>
            </a:r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zh-CN" altLang="en-US" dirty="0"/>
              <a:t>）放在一个工程中的时候可能出错</a:t>
            </a:r>
            <a:endParaRPr lang="en-US" altLang="zh-CN" dirty="0"/>
          </a:p>
          <a:p>
            <a:r>
              <a:rPr lang="zh-CN" altLang="en-US" dirty="0"/>
              <a:t>例如，这两个程序文件都有</a:t>
            </a:r>
            <a:r>
              <a:rPr lang="en-US" altLang="zh-CN" dirty="0"/>
              <a:t>main()</a:t>
            </a:r>
            <a:r>
              <a:rPr lang="zh-CN" altLang="en-US" dirty="0"/>
              <a:t>函数，程序分不清</a:t>
            </a:r>
            <a:endParaRPr lang="en-US" altLang="zh-CN" dirty="0"/>
          </a:p>
          <a:p>
            <a:r>
              <a:rPr lang="zh-CN" altLang="en-US" b="1" dirty="0"/>
              <a:t>我们涉及得少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错误</a:t>
            </a:r>
            <a:r>
              <a:rPr lang="en-US" altLang="zh-CN" dirty="0"/>
              <a:t>3</a:t>
            </a:r>
            <a:r>
              <a:rPr lang="zh-CN" altLang="en-US" dirty="0"/>
              <a:t>：运行错误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546036"/>
            <a:ext cx="8280000" cy="3753964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/>
              <a:t>Runtime error</a:t>
            </a:r>
            <a:r>
              <a:rPr lang="zh-CN" altLang="en-US" sz="2800" dirty="0"/>
              <a:t>的意思：程序没有运行完就运行不下去了，一般是遇到了很大的问题</a:t>
            </a:r>
            <a:endParaRPr lang="en-US" altLang="zh-CN" sz="2800" dirty="0"/>
          </a:p>
          <a:p>
            <a:r>
              <a:rPr lang="zh-CN" altLang="en-US" sz="2800" dirty="0">
                <a:solidFill>
                  <a:schemeClr val="accent6"/>
                </a:solidFill>
              </a:rPr>
              <a:t>常见原因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pPr lvl="1"/>
            <a:r>
              <a:rPr lang="zh-CN" altLang="en-US" sz="2400" dirty="0"/>
              <a:t>除以</a:t>
            </a:r>
            <a:r>
              <a:rPr lang="en-US" altLang="zh-CN" sz="2400" dirty="0"/>
              <a:t>0</a:t>
            </a:r>
            <a:endParaRPr lang="en-US" altLang="zh-CN" sz="2400" dirty="0"/>
          </a:p>
          <a:p>
            <a:pPr lvl="1"/>
            <a:r>
              <a:rPr lang="zh-CN" altLang="en-US" sz="2400" dirty="0"/>
              <a:t>修改了不能改的内存</a:t>
            </a:r>
            <a:endParaRPr lang="en-US" altLang="zh-CN" sz="2400" dirty="0"/>
          </a:p>
          <a:p>
            <a:pPr lvl="2"/>
            <a:r>
              <a:rPr lang="en-US" altLang="zh-CN" sz="2200" dirty="0" err="1"/>
              <a:t>scanf</a:t>
            </a:r>
            <a:r>
              <a:rPr lang="zh-CN" altLang="en-US" sz="2200" dirty="0"/>
              <a:t>没有加</a:t>
            </a:r>
            <a:r>
              <a:rPr lang="en-US" altLang="zh-CN" sz="2200" dirty="0"/>
              <a:t>&amp;</a:t>
            </a:r>
            <a:endParaRPr lang="en-US" altLang="zh-CN" sz="2200" dirty="0"/>
          </a:p>
          <a:p>
            <a:pPr lvl="2"/>
            <a:r>
              <a:rPr lang="zh-CN" altLang="en-US" sz="2200" dirty="0"/>
              <a:t>数组越界：存在各种变种</a:t>
            </a:r>
            <a:endParaRPr lang="en-US" altLang="zh-CN" sz="2200" dirty="0"/>
          </a:p>
          <a:p>
            <a:pPr lvl="1"/>
            <a:r>
              <a:rPr lang="zh-CN" altLang="en-US" sz="2400" dirty="0"/>
              <a:t>过大的局部数组变量</a:t>
            </a:r>
            <a:endParaRPr lang="en-US" altLang="zh-CN" sz="2400" dirty="0"/>
          </a:p>
          <a:p>
            <a:pPr lvl="1"/>
            <a:r>
              <a:rPr lang="en-US" altLang="zh-CN" sz="2400" dirty="0"/>
              <a:t>……</a:t>
            </a:r>
            <a:endParaRPr lang="en-US" altLang="zh-CN" sz="2400" dirty="0"/>
          </a:p>
          <a:p>
            <a:pPr lvl="1"/>
            <a:endParaRPr lang="zh-CN" alt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1094" y="1449584"/>
            <a:ext cx="3448108" cy="978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这个程序为什么报</a:t>
            </a:r>
            <a:r>
              <a:rPr lang="en-US" altLang="zh-CN" dirty="0"/>
              <a:t>runtime error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245" y="1331650"/>
            <a:ext cx="6558777" cy="54538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1" y="431999"/>
            <a:ext cx="3087584" cy="1835465"/>
          </a:xfrm>
        </p:spPr>
        <p:txBody>
          <a:bodyPr>
            <a:normAutofit/>
          </a:bodyPr>
          <a:lstStyle/>
          <a:p>
            <a:r>
              <a:rPr lang="zh-CN" altLang="en-US" dirty="0"/>
              <a:t>这个程序为什么报</a:t>
            </a:r>
            <a:r>
              <a:rPr lang="en-US" altLang="zh-CN" dirty="0"/>
              <a:t>runtime error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2001" y="2829696"/>
            <a:ext cx="29264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方法一：</a:t>
            </a:r>
            <a:r>
              <a:rPr lang="zh-CN" altLang="en-US" sz="2800" dirty="0">
                <a:latin typeface="+mj-ea"/>
                <a:ea typeface="+mj-ea"/>
              </a:rPr>
              <a:t>仔细看，猜一下哪里可能有问题，修改一下试试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i="1" dirty="0">
                <a:latin typeface="+mj-ea"/>
                <a:ea typeface="+mj-ea"/>
              </a:rPr>
              <a:t>当猜测比较准的时候有效</a:t>
            </a:r>
            <a:endParaRPr lang="en-US" altLang="zh-CN" sz="2800" i="1" dirty="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5242" y="243512"/>
            <a:ext cx="5412261" cy="63709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&lt;string.h&gt;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"false"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645242" y="243512"/>
            <a:ext cx="5412261" cy="63709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&lt;string.h&gt;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"false"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1" y="431999"/>
            <a:ext cx="3087584" cy="1835465"/>
          </a:xfrm>
        </p:spPr>
        <p:txBody>
          <a:bodyPr>
            <a:normAutofit/>
          </a:bodyPr>
          <a:lstStyle/>
          <a:p>
            <a:r>
              <a:rPr lang="zh-CN" altLang="en-US" dirty="0"/>
              <a:t>这个程序为什么报</a:t>
            </a:r>
            <a:r>
              <a:rPr lang="en-US" altLang="zh-CN" dirty="0"/>
              <a:t>runtime error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2001" y="2829696"/>
            <a:ext cx="29264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方法一</a:t>
            </a:r>
            <a:r>
              <a:rPr lang="zh-CN" altLang="en-US" sz="2800" dirty="0">
                <a:latin typeface="+mj-ea"/>
                <a:ea typeface="+mj-ea"/>
              </a:rPr>
              <a:t>：仔细看，猜一下哪里可能有问题，修改一下试试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i="1" dirty="0">
                <a:latin typeface="+mj-ea"/>
                <a:ea typeface="+mj-ea"/>
              </a:rPr>
              <a:t>当猜测比较准的时候有效</a:t>
            </a:r>
            <a:endParaRPr lang="en-US" altLang="zh-CN" sz="2800" i="1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增强版：先打印结果看看这个部分是不是错了</a:t>
            </a:r>
            <a:endParaRPr lang="en-US" altLang="zh-CN" sz="2800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33287" y="1122575"/>
            <a:ext cx="2187631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4306330" y="3983173"/>
            <a:ext cx="2786448" cy="370702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030995" y="1830461"/>
            <a:ext cx="698156" cy="208045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82514" y="117389"/>
            <a:ext cx="384961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这样就不报</a:t>
            </a:r>
            <a:r>
              <a:rPr lang="en-US" altLang="zh-CN" sz="2400" dirty="0"/>
              <a:t>Runtime error</a:t>
            </a:r>
            <a:r>
              <a:rPr lang="zh-CN" altLang="en-US" sz="2400" dirty="0"/>
              <a:t>了（变成了</a:t>
            </a:r>
            <a:r>
              <a:rPr lang="en-US" altLang="zh-CN" sz="2400" dirty="0"/>
              <a:t>wrong answer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12" name="Rectangle: Rounded Corners 11"/>
          <p:cNvSpPr/>
          <p:nvPr/>
        </p:nvSpPr>
        <p:spPr>
          <a:xfrm>
            <a:off x="6833287" y="1199817"/>
            <a:ext cx="2224216" cy="63064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方法二：编译器提示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/>
          <a:lstStyle/>
          <a:p>
            <a:r>
              <a:rPr lang="zh-CN" altLang="en-US" dirty="0"/>
              <a:t>这个程序为什么报</a:t>
            </a:r>
            <a:r>
              <a:rPr lang="en-US" altLang="zh-CN" dirty="0"/>
              <a:t>runtime error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297" y="2085779"/>
            <a:ext cx="6809060" cy="45152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>
                <a:latin typeface="+mj-ea"/>
                <a:ea typeface="+mj-ea"/>
              </a:rPr>
              <a:t>方法三：过程打印</a:t>
            </a:r>
            <a:endParaRPr lang="en-US" altLang="zh-CN" sz="2400" b="1" dirty="0">
              <a:latin typeface="+mj-ea"/>
              <a:ea typeface="+mj-ea"/>
            </a:endParaRPr>
          </a:p>
          <a:p>
            <a:r>
              <a:rPr lang="zh-CN" altLang="en-US" b="1" dirty="0"/>
              <a:t>对于比较长的代码，可以分模块添加</a:t>
            </a:r>
            <a:r>
              <a:rPr lang="en-US" altLang="zh-CN" b="1" dirty="0" err="1"/>
              <a:t>printf</a:t>
            </a:r>
            <a:r>
              <a:rPr lang="en-US" altLang="zh-CN" b="1" dirty="0"/>
              <a:t>/</a:t>
            </a:r>
            <a:r>
              <a:rPr lang="en-US" altLang="zh-CN" b="1" dirty="0" err="1"/>
              <a:t>cout</a:t>
            </a:r>
            <a:r>
              <a:rPr lang="zh-CN" altLang="en-US" b="1" dirty="0"/>
              <a:t>代码，看看程序执行到哪一步就没有继续了</a:t>
            </a:r>
            <a:endParaRPr lang="zh-CN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/>
          <a:lstStyle/>
          <a:p>
            <a:r>
              <a:rPr lang="zh-CN" altLang="en-US" dirty="0"/>
              <a:t>这个程序为什么报</a:t>
            </a:r>
            <a:r>
              <a:rPr lang="en-US" altLang="zh-CN" dirty="0"/>
              <a:t>runtime error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24167" y="2963722"/>
            <a:ext cx="3336325" cy="37856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</a:t>
            </a:r>
            <a:r>
              <a:rPr lang="en-US" altLang="zh-CN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</a:t>
            </a:r>
            <a:r>
              <a:rPr lang="en-US" altLang="zh-CN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</a:t>
            </a:r>
            <a:r>
              <a:rPr lang="en-US" altLang="zh-CN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512" y="3329360"/>
            <a:ext cx="561682" cy="4342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1696" y="33156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输出：</a:t>
            </a:r>
            <a:endParaRPr lang="zh-CN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65596" y="3849344"/>
            <a:ext cx="41395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说明</a:t>
            </a:r>
            <a:r>
              <a:rPr lang="en-US" altLang="zh-CN" sz="28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printf</a:t>
            </a:r>
            <a:r>
              <a:rPr lang="en-US" altLang="zh-CN" sz="28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2800" dirty="0">
                <a:solidFill>
                  <a:srgbClr val="CE9178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“</a:t>
            </a:r>
            <a:r>
              <a:rPr lang="en-US" altLang="zh-CN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1</a:t>
            </a:r>
            <a:r>
              <a:rPr lang="en-US" altLang="zh-CN" sz="2800" b="0" dirty="0">
                <a:solidFill>
                  <a:srgbClr val="D7BA7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\n</a:t>
            </a:r>
            <a:r>
              <a:rPr lang="en-US" altLang="zh-CN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”</a:t>
            </a:r>
            <a:r>
              <a:rPr lang="en-US" altLang="zh-CN" sz="28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);</a:t>
            </a:r>
            <a:r>
              <a:rPr lang="zh-CN" altLang="en-US" sz="2800" b="0" dirty="0">
                <a:effectLst/>
                <a:latin typeface="Consolas" panose="020B0609020204030204" pitchFamily="49" charset="0"/>
              </a:rPr>
              <a:t>之前</a:t>
            </a:r>
            <a:r>
              <a:rPr lang="zh-CN" altLang="en-US" sz="2800" dirty="0">
                <a:latin typeface="Consolas" panose="020B0609020204030204" pitchFamily="49" charset="0"/>
              </a:rPr>
              <a:t>的能正常运行，而</a:t>
            </a:r>
            <a:r>
              <a:rPr lang="en-US" altLang="zh-CN" sz="28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printf</a:t>
            </a:r>
            <a:r>
              <a:rPr lang="en-US" altLang="zh-CN" sz="28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2800" dirty="0">
                <a:solidFill>
                  <a:srgbClr val="CE9178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“</a:t>
            </a:r>
            <a:r>
              <a:rPr lang="en-US" altLang="zh-CN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2</a:t>
            </a:r>
            <a:r>
              <a:rPr lang="en-US" altLang="zh-CN" sz="2800" b="0" dirty="0">
                <a:solidFill>
                  <a:srgbClr val="D7BA7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\n</a:t>
            </a:r>
            <a:r>
              <a:rPr lang="en-US" altLang="zh-CN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”</a:t>
            </a:r>
            <a:r>
              <a:rPr lang="en-US" altLang="zh-CN" sz="28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);</a:t>
            </a:r>
            <a:r>
              <a:rPr lang="zh-CN" altLang="en-US" sz="2800" dirty="0">
                <a:latin typeface="Consolas" panose="020B0609020204030204" pitchFamily="49" charset="0"/>
              </a:rPr>
              <a:t>之前的代码运行出错了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056" y="5918377"/>
            <a:ext cx="43851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 err="1"/>
              <a:t>Yoj</a:t>
            </a:r>
            <a:r>
              <a:rPr lang="zh-CN" altLang="en-US" sz="2400" dirty="0"/>
              <a:t>上不太能这样调试</a:t>
            </a:r>
            <a:endParaRPr lang="en-US" altLang="zh-CN" sz="2400" dirty="0"/>
          </a:p>
          <a:p>
            <a:pPr algn="ctr"/>
            <a:r>
              <a:rPr lang="en-US" altLang="zh-CN" sz="2400" dirty="0"/>
              <a:t>Runtime error</a:t>
            </a:r>
            <a:r>
              <a:rPr lang="zh-CN" altLang="en-US" sz="2400" dirty="0"/>
              <a:t>可能就没有输出了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方法四：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逐段注释代码试一下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r>
              <a:rPr lang="zh-CN" altLang="en-US" sz="2400" b="1" dirty="0">
                <a:latin typeface="+mj-ea"/>
                <a:ea typeface="+mj-ea"/>
              </a:rPr>
              <a:t>逻辑</a:t>
            </a:r>
            <a:r>
              <a:rPr lang="zh-CN" altLang="en-US" sz="2400" dirty="0">
                <a:latin typeface="+mj-ea"/>
                <a:ea typeface="+mj-ea"/>
              </a:rPr>
              <a:t>：一般来说，错误的代码被注释掉时</a:t>
            </a:r>
            <a:r>
              <a:rPr lang="en-US" altLang="zh-CN" sz="2400" dirty="0">
                <a:latin typeface="+mj-ea"/>
                <a:ea typeface="+mj-ea"/>
              </a:rPr>
              <a:t>runtime error</a:t>
            </a:r>
            <a:r>
              <a:rPr lang="zh-CN" altLang="en-US" sz="2400" dirty="0">
                <a:latin typeface="+mj-ea"/>
                <a:ea typeface="+mj-ea"/>
              </a:rPr>
              <a:t>会消失，没被注释掉时，</a:t>
            </a:r>
            <a:r>
              <a:rPr lang="en-US" altLang="zh-CN" sz="2400" dirty="0">
                <a:latin typeface="+mj-ea"/>
                <a:ea typeface="+mj-ea"/>
              </a:rPr>
              <a:t>runtime error</a:t>
            </a:r>
            <a:r>
              <a:rPr lang="zh-CN" altLang="en-US" sz="2400" dirty="0">
                <a:latin typeface="+mj-ea"/>
                <a:ea typeface="+mj-ea"/>
              </a:rPr>
              <a:t>会保留</a:t>
            </a:r>
            <a:endParaRPr lang="en-US" altLang="zh-CN" sz="2400" dirty="0">
              <a:latin typeface="+mj-ea"/>
              <a:ea typeface="+mj-ea"/>
            </a:endParaRPr>
          </a:p>
          <a:p>
            <a:r>
              <a:rPr lang="zh-CN" altLang="en-US" b="1" dirty="0"/>
              <a:t>调试步骤：</a:t>
            </a:r>
            <a:endParaRPr lang="en-US" altLang="zh-CN" b="1" dirty="0"/>
          </a:p>
          <a:p>
            <a:r>
              <a:rPr lang="en-US" altLang="zh-CN" sz="2400" dirty="0">
                <a:latin typeface="+mj-ea"/>
                <a:ea typeface="+mj-ea"/>
              </a:rPr>
              <a:t>1. </a:t>
            </a:r>
            <a:r>
              <a:rPr lang="zh-CN" altLang="en-US" sz="2400" dirty="0">
                <a:latin typeface="+mj-ea"/>
                <a:ea typeface="+mj-ea"/>
              </a:rPr>
              <a:t>先注释很多，把最确定的留下，看看是否不再报</a:t>
            </a:r>
            <a:r>
              <a:rPr lang="en-US" altLang="zh-CN" sz="2400" dirty="0">
                <a:latin typeface="+mj-ea"/>
                <a:ea typeface="+mj-ea"/>
              </a:rPr>
              <a:t>runtime error</a:t>
            </a:r>
            <a:endParaRPr lang="en-US" altLang="zh-CN" sz="2400" dirty="0">
              <a:latin typeface="+mj-ea"/>
              <a:ea typeface="+mj-ea"/>
            </a:endParaRPr>
          </a:p>
          <a:p>
            <a:r>
              <a:rPr lang="en-US" altLang="zh-CN" sz="2400" dirty="0">
                <a:latin typeface="+mj-ea"/>
                <a:ea typeface="+mj-ea"/>
              </a:rPr>
              <a:t>2. </a:t>
            </a:r>
            <a:r>
              <a:rPr lang="zh-CN" altLang="en-US" sz="2400" dirty="0">
                <a:latin typeface="+mj-ea"/>
                <a:ea typeface="+mj-ea"/>
              </a:rPr>
              <a:t>逐渐放出来一些代码，看看放出哪段代码的时候又开始报</a:t>
            </a:r>
            <a:r>
              <a:rPr lang="en-US" altLang="zh-CN" sz="2400" dirty="0">
                <a:latin typeface="+mj-ea"/>
                <a:ea typeface="+mj-ea"/>
              </a:rPr>
              <a:t>runtime error</a:t>
            </a:r>
            <a:endParaRPr lang="en-US" altLang="zh-CN" sz="2400" dirty="0">
              <a:latin typeface="+mj-ea"/>
              <a:ea typeface="+mj-ea"/>
            </a:endParaRPr>
          </a:p>
          <a:p>
            <a:r>
              <a:rPr lang="en-US" altLang="zh-CN" dirty="0"/>
              <a:t>3. </a:t>
            </a:r>
            <a:r>
              <a:rPr lang="zh-CN" altLang="en-US" dirty="0"/>
              <a:t>发现一段代码是</a:t>
            </a:r>
            <a:r>
              <a:rPr lang="en-US" altLang="zh-CN" dirty="0"/>
              <a:t>runtime error</a:t>
            </a:r>
            <a:r>
              <a:rPr lang="zh-CN" altLang="en-US" dirty="0"/>
              <a:t>的原因以后，还可以逐行</a:t>
            </a:r>
            <a:r>
              <a:rPr lang="en-US" altLang="zh-CN" dirty="0"/>
              <a:t>/</a:t>
            </a:r>
            <a:r>
              <a:rPr lang="zh-CN" altLang="en-US" dirty="0"/>
              <a:t>更细粒度尝试，定位具体出问题代码</a:t>
            </a:r>
            <a:endParaRPr lang="en-US" altLang="zh-CN" sz="2400" dirty="0">
              <a:latin typeface="+mj-ea"/>
              <a:ea typeface="+mj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/>
          <a:lstStyle/>
          <a:p>
            <a:r>
              <a:rPr lang="zh-CN" altLang="en-US" dirty="0"/>
              <a:t>这个程序为什么报</a:t>
            </a:r>
            <a:r>
              <a:rPr lang="en-US" altLang="zh-CN" dirty="0"/>
              <a:t>runtime error</a:t>
            </a:r>
            <a:r>
              <a:rPr lang="zh-CN" altLang="en-US" dirty="0"/>
              <a:t>？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51" y="1167287"/>
            <a:ext cx="4136881" cy="46342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84" y="507285"/>
            <a:ext cx="3060014" cy="6600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95168" y="6199889"/>
            <a:ext cx="6626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Wrong answer</a:t>
            </a:r>
            <a:r>
              <a:rPr lang="zh-CN" altLang="en-US" sz="2800" dirty="0">
                <a:latin typeface="+mj-ea"/>
                <a:ea typeface="+mj-ea"/>
              </a:rPr>
              <a:t>没关系，只关注是否报错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4386648" y="3342803"/>
            <a:ext cx="475736" cy="5745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78" y="1167287"/>
            <a:ext cx="3869938" cy="43515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057" y="558000"/>
            <a:ext cx="2887514" cy="660002"/>
          </a:xfrm>
          <a:prstGeom prst="rect">
            <a:avLst/>
          </a:prstGeom>
        </p:spPr>
      </p:pic>
      <p:sp>
        <p:nvSpPr>
          <p:cNvPr id="14" name="Rectangle: Rounded Corners 13"/>
          <p:cNvSpPr/>
          <p:nvPr/>
        </p:nvSpPr>
        <p:spPr>
          <a:xfrm>
            <a:off x="5474044" y="3630097"/>
            <a:ext cx="2218037" cy="24374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095665" y="2573896"/>
            <a:ext cx="221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新放出来的代码有问题</a:t>
            </a:r>
            <a:endParaRPr lang="zh-CN" altLang="en-US" sz="2800" dirty="0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506267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200" dirty="0"/>
              <a:t>调试时有个基本思路更好，可能需要将方法四与一结合</a:t>
            </a:r>
            <a:endParaRPr lang="en-US" altLang="zh-CN" sz="3200" dirty="0"/>
          </a:p>
          <a:p>
            <a:r>
              <a:rPr lang="zh-CN" altLang="en-US" sz="3200" dirty="0"/>
              <a:t>没有一个一定能找出错误的方法，但是办法总比问题多</a:t>
            </a:r>
            <a:endParaRPr lang="en-US" altLang="zh-CN" sz="3200" dirty="0"/>
          </a:p>
          <a:p>
            <a:r>
              <a:rPr lang="zh-CN" altLang="en-US" sz="3200" dirty="0"/>
              <a:t>如果</a:t>
            </a:r>
            <a:r>
              <a:rPr lang="en-US" altLang="zh-CN" sz="3200" dirty="0"/>
              <a:t>runtime error</a:t>
            </a:r>
            <a:r>
              <a:rPr lang="zh-CN" altLang="en-US" sz="3200" dirty="0"/>
              <a:t>，一定是程序有问题</a:t>
            </a:r>
            <a:endParaRPr lang="en-US" altLang="zh-CN" sz="3200" dirty="0"/>
          </a:p>
          <a:p>
            <a:pPr lvl="1"/>
            <a:r>
              <a:rPr lang="zh-CN" altLang="en-US" sz="2800" b="1" dirty="0"/>
              <a:t>即使</a:t>
            </a:r>
            <a:r>
              <a:rPr lang="en-US" altLang="zh-CN" sz="2800" b="1" dirty="0" err="1"/>
              <a:t>vscode</a:t>
            </a:r>
            <a:r>
              <a:rPr lang="zh-CN" altLang="en-US" sz="2800" b="1" dirty="0"/>
              <a:t>上没错，只是</a:t>
            </a:r>
            <a:r>
              <a:rPr lang="en-US" altLang="zh-CN" sz="2800" b="1" dirty="0" err="1"/>
              <a:t>yoj</a:t>
            </a:r>
            <a:r>
              <a:rPr lang="zh-CN" altLang="en-US" sz="2800" b="1" dirty="0"/>
              <a:t>上错了</a:t>
            </a:r>
            <a:endParaRPr lang="en-US" altLang="zh-CN" sz="2800" b="1" dirty="0"/>
          </a:p>
          <a:p>
            <a:pPr lvl="1"/>
            <a:r>
              <a:rPr lang="zh-CN" altLang="en-US" sz="2800" dirty="0"/>
              <a:t>例如，有时候数组越界在</a:t>
            </a:r>
            <a:r>
              <a:rPr lang="en-US" altLang="zh-CN" sz="2800" dirty="0" err="1"/>
              <a:t>vscode</a:t>
            </a:r>
            <a:r>
              <a:rPr lang="zh-CN" altLang="en-US" sz="2800" dirty="0"/>
              <a:t>上没报错，实际上改了别的程序的内存，但</a:t>
            </a:r>
            <a:r>
              <a:rPr lang="en-US" altLang="zh-CN" sz="2800" dirty="0" err="1"/>
              <a:t>yoj</a:t>
            </a:r>
            <a:r>
              <a:rPr lang="zh-CN" altLang="en-US" sz="2800" dirty="0"/>
              <a:t>更加严格检查</a:t>
            </a:r>
            <a:endParaRPr lang="en-US" altLang="zh-CN" sz="2800" dirty="0"/>
          </a:p>
          <a:p>
            <a:pPr lvl="1"/>
            <a:r>
              <a:rPr lang="zh-CN" altLang="en-US" sz="2800" dirty="0"/>
              <a:t>例如，有时候</a:t>
            </a:r>
            <a:r>
              <a:rPr lang="en-US" altLang="zh-CN" sz="2800" dirty="0" err="1"/>
              <a:t>vscode</a:t>
            </a:r>
            <a:r>
              <a:rPr lang="zh-CN" altLang="en-US" sz="2800" dirty="0"/>
              <a:t>上自动帮一些变量初始化为</a:t>
            </a:r>
            <a:r>
              <a:rPr lang="en-US" altLang="zh-CN" sz="2800" dirty="0"/>
              <a:t>0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yoj</a:t>
            </a:r>
            <a:r>
              <a:rPr lang="zh-CN" altLang="en-US" sz="2800" dirty="0"/>
              <a:t>上没有</a:t>
            </a:r>
            <a:endParaRPr lang="en-US" altLang="zh-CN" sz="2800" dirty="0"/>
          </a:p>
          <a:p>
            <a:pPr lvl="1"/>
            <a:r>
              <a:rPr lang="zh-CN" altLang="en-US" sz="2800" dirty="0"/>
              <a:t>例如，</a:t>
            </a:r>
            <a:r>
              <a:rPr lang="en-US" altLang="zh-CN" sz="2800" dirty="0" err="1"/>
              <a:t>vscode</a:t>
            </a:r>
            <a:r>
              <a:rPr lang="zh-CN" altLang="en-US" sz="2800" dirty="0"/>
              <a:t>上随机值和</a:t>
            </a:r>
            <a:r>
              <a:rPr lang="en-US" altLang="zh-CN" sz="2800" dirty="0" err="1"/>
              <a:t>yoj</a:t>
            </a:r>
            <a:r>
              <a:rPr lang="zh-CN" altLang="en-US" sz="2800" dirty="0"/>
              <a:t>上不一样</a:t>
            </a:r>
            <a:endParaRPr lang="en-US" altLang="zh-CN" sz="2800" dirty="0"/>
          </a:p>
          <a:p>
            <a:endParaRPr lang="zh-CN" alt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4</a:t>
            </a:r>
            <a:r>
              <a:rPr lang="zh-CN" altLang="en-US" dirty="0"/>
              <a:t>种错误类型</a:t>
            </a:r>
            <a:endParaRPr lang="zh-CN" altLang="en-US" dirty="0"/>
          </a:p>
        </p:txBody>
      </p:sp>
      <p:sp>
        <p:nvSpPr>
          <p:cNvPr id="411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编译错误</a:t>
            </a:r>
            <a:endParaRPr lang="zh-CN" altLang="en-US" dirty="0"/>
          </a:p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链接错误（少见）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dirty="0"/>
              <a:t>运行错误</a:t>
            </a:r>
            <a:endParaRPr lang="zh-CN" altLang="en-US" dirty="0"/>
          </a:p>
          <a:p>
            <a:r>
              <a:rPr lang="zh-CN" altLang="en-US" b="1" dirty="0"/>
              <a:t>逻辑错误（最常见，最头疼）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错误</a:t>
            </a:r>
            <a:r>
              <a:rPr lang="en-US" altLang="zh-CN" dirty="0"/>
              <a:t>4</a:t>
            </a:r>
            <a:r>
              <a:rPr lang="zh-CN" altLang="en-US" dirty="0"/>
              <a:t>：逻辑错误</a:t>
            </a:r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4108" y="1535837"/>
            <a:ext cx="3025044" cy="8078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88" y="1535837"/>
            <a:ext cx="3824148" cy="747643"/>
          </a:xfrm>
          <a:prstGeom prst="rect">
            <a:avLst/>
          </a:prstGeom>
        </p:spPr>
      </p:pic>
      <p:sp>
        <p:nvSpPr>
          <p:cNvPr id="8" name="Content Placeholder 2"/>
          <p:cNvSpPr txBox="1"/>
          <p:nvPr/>
        </p:nvSpPr>
        <p:spPr>
          <a:xfrm>
            <a:off x="324028" y="2463338"/>
            <a:ext cx="8819972" cy="410189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041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8245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/>
              <a:t>Time Limit Exceeded</a:t>
            </a:r>
            <a:r>
              <a:rPr lang="zh-CN" altLang="en-US" sz="2800" dirty="0"/>
              <a:t>：程序运行时间超过了</a:t>
            </a:r>
            <a:r>
              <a:rPr lang="en-US" altLang="zh-CN" sz="2800" dirty="0"/>
              <a:t>1</a:t>
            </a:r>
            <a:r>
              <a:rPr lang="zh-CN" altLang="en-US" sz="2800" dirty="0"/>
              <a:t>秒，被</a:t>
            </a:r>
            <a:r>
              <a:rPr lang="en-US" altLang="zh-CN" sz="2800" dirty="0" err="1"/>
              <a:t>yoj</a:t>
            </a:r>
            <a:r>
              <a:rPr lang="zh-CN" altLang="en-US" sz="2800" dirty="0"/>
              <a:t>服务器杀掉了</a:t>
            </a:r>
            <a:endParaRPr lang="en-US" altLang="zh-CN" sz="2800" dirty="0"/>
          </a:p>
          <a:p>
            <a:pPr marL="397510" lvl="1" indent="0">
              <a:buNone/>
            </a:pPr>
            <a:r>
              <a:rPr lang="zh-CN" altLang="en-US" sz="2800" dirty="0"/>
              <a:t>需要区分几种主要情况，不同情况处理方式不同</a:t>
            </a:r>
            <a:endParaRPr lang="en-US" altLang="zh-CN" sz="2800" dirty="0"/>
          </a:p>
          <a:p>
            <a:pPr lvl="1"/>
            <a:r>
              <a:rPr lang="zh-CN" altLang="en-US" sz="2800" b="1" dirty="0">
                <a:latin typeface="+mj-ea"/>
                <a:ea typeface="+mj-ea"/>
              </a:rPr>
              <a:t>死循环</a:t>
            </a:r>
            <a:r>
              <a:rPr lang="zh-CN" altLang="en-US" sz="2800" dirty="0"/>
              <a:t>（在</a:t>
            </a:r>
            <a:r>
              <a:rPr lang="en-US" altLang="zh-CN" sz="2800" dirty="0" err="1"/>
              <a:t>vscode</a:t>
            </a:r>
            <a:r>
              <a:rPr lang="zh-CN" altLang="en-US" sz="2800" dirty="0"/>
              <a:t>上也很久跑不出来）</a:t>
            </a:r>
            <a:endParaRPr lang="en-US" altLang="zh-CN" sz="2800" dirty="0"/>
          </a:p>
          <a:p>
            <a:pPr lvl="2"/>
            <a:r>
              <a:rPr lang="zh-CN" altLang="en-US" sz="2600" dirty="0"/>
              <a:t>调试方法：打印循环变量，看看是否变化，是否能退出</a:t>
            </a:r>
            <a:endParaRPr lang="en-US" altLang="zh-CN" sz="2600" dirty="0"/>
          </a:p>
          <a:p>
            <a:pPr lvl="1"/>
            <a:r>
              <a:rPr lang="zh-CN" altLang="en-US" sz="2800" b="1" dirty="0">
                <a:latin typeface="+mj-ea"/>
                <a:ea typeface="+mj-ea"/>
              </a:rPr>
              <a:t>效率有点问题</a:t>
            </a:r>
            <a:r>
              <a:rPr lang="zh-CN" altLang="en-US" sz="2800" dirty="0"/>
              <a:t>（在</a:t>
            </a:r>
            <a:r>
              <a:rPr lang="en-US" altLang="zh-CN" sz="2800" dirty="0" err="1"/>
              <a:t>vscode</a:t>
            </a:r>
            <a:r>
              <a:rPr lang="zh-CN" altLang="en-US" sz="2800" dirty="0"/>
              <a:t>上几秒钟跑出来）</a:t>
            </a:r>
            <a:endParaRPr lang="en-US" altLang="zh-CN" sz="2800" dirty="0"/>
          </a:p>
          <a:p>
            <a:pPr lvl="2"/>
            <a:r>
              <a:rPr lang="zh-CN" altLang="en-US" sz="2600" dirty="0"/>
              <a:t>如果答案对了，思考加速的方法</a:t>
            </a:r>
            <a:endParaRPr lang="en-US" altLang="zh-CN" sz="2600" dirty="0"/>
          </a:p>
          <a:p>
            <a:pPr lvl="2"/>
            <a:r>
              <a:rPr lang="zh-CN" altLang="en-US" sz="2600" dirty="0"/>
              <a:t>如果答案不对，思考是不是策略有问题</a:t>
            </a:r>
            <a:endParaRPr lang="en-US" altLang="zh-CN" sz="2600" dirty="0"/>
          </a:p>
          <a:p>
            <a:pPr lvl="1"/>
            <a:r>
              <a:rPr lang="zh-CN" altLang="en-US" sz="2800" b="1" dirty="0">
                <a:latin typeface="+mj-ea"/>
                <a:ea typeface="+mj-ea"/>
              </a:rPr>
              <a:t>偶然因素</a:t>
            </a:r>
            <a:r>
              <a:rPr lang="zh-CN" altLang="en-US" sz="2800" dirty="0"/>
              <a:t>（在</a:t>
            </a:r>
            <a:r>
              <a:rPr lang="en-US" altLang="zh-CN" sz="2800" dirty="0" err="1"/>
              <a:t>vscode</a:t>
            </a:r>
            <a:r>
              <a:rPr lang="zh-CN" altLang="en-US" sz="2800" dirty="0"/>
              <a:t>上很快，但在</a:t>
            </a:r>
            <a:r>
              <a:rPr lang="en-US" altLang="zh-CN" sz="2800" dirty="0" err="1"/>
              <a:t>yoj</a:t>
            </a:r>
            <a:r>
              <a:rPr lang="zh-CN" altLang="en-US" sz="2800" dirty="0"/>
              <a:t>上再提交一下又可以了）</a:t>
            </a:r>
            <a:r>
              <a:rPr lang="en-US" altLang="zh-CN" sz="2800" dirty="0"/>
              <a:t>—— </a:t>
            </a:r>
            <a:r>
              <a:rPr lang="zh-CN" altLang="en-US" sz="2800" dirty="0"/>
              <a:t>比较少见</a:t>
            </a:r>
            <a:endParaRPr lang="en-US" altLang="zh-CN" dirty="0"/>
          </a:p>
          <a:p>
            <a:r>
              <a:rPr lang="en-US" altLang="zh-CN" sz="2800" b="1" dirty="0"/>
              <a:t>Wrong Answer</a:t>
            </a:r>
            <a:r>
              <a:rPr lang="zh-CN" altLang="en-US" sz="2800" dirty="0"/>
              <a:t>：跑出来了结果，和标准答案不一致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答案错了（</a:t>
            </a:r>
            <a:r>
              <a:rPr lang="en-US" altLang="zh-CN" dirty="0"/>
              <a:t>Wrong Answer</a:t>
            </a:r>
            <a:r>
              <a:rPr lang="zh-CN" altLang="en-US" dirty="0"/>
              <a:t>），怎么办？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95763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仔细看看代码，发现问题？</a:t>
            </a:r>
            <a:endParaRPr lang="en-US" altLang="zh-CN" sz="3200" dirty="0"/>
          </a:p>
          <a:p>
            <a:pPr lvl="1"/>
            <a:r>
              <a:rPr lang="zh-CN" altLang="en-US" sz="2800" dirty="0"/>
              <a:t>偶尔能看出来</a:t>
            </a:r>
            <a:endParaRPr lang="en-US" altLang="zh-CN" sz="2800" dirty="0"/>
          </a:p>
          <a:p>
            <a:pPr lvl="1"/>
            <a:r>
              <a:rPr lang="zh-CN" altLang="en-US" sz="2800" dirty="0"/>
              <a:t>大部分时候很难发现自己的问题</a:t>
            </a:r>
            <a:endParaRPr lang="en-US" altLang="zh-CN" sz="2800" dirty="0"/>
          </a:p>
          <a:p>
            <a:endParaRPr lang="en-US" altLang="zh-CN" sz="3200" b="1" dirty="0"/>
          </a:p>
          <a:p>
            <a:r>
              <a:rPr lang="zh-CN" altLang="en-US" sz="3200" b="1" dirty="0"/>
              <a:t>看不出问题怎么办？调试！</a:t>
            </a:r>
            <a:endParaRPr lang="en-US" altLang="zh-C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答案错了（</a:t>
            </a:r>
            <a:r>
              <a:rPr lang="en-US" altLang="zh-CN" dirty="0"/>
              <a:t>Wrong Answer</a:t>
            </a:r>
            <a:r>
              <a:rPr lang="zh-CN" altLang="en-US" dirty="0"/>
              <a:t>），怎么办？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95763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第一步，发现出错的数据</a:t>
            </a:r>
            <a:endParaRPr lang="en-US" altLang="zh-CN" sz="3200" dirty="0"/>
          </a:p>
          <a:p>
            <a:pPr lvl="1"/>
            <a:r>
              <a:rPr lang="zh-CN" altLang="en-US" sz="2800" dirty="0"/>
              <a:t>在不出错的数据上发现不了出错代码</a:t>
            </a:r>
            <a:endParaRPr lang="en-US" altLang="zh-CN" sz="2800" dirty="0"/>
          </a:p>
          <a:p>
            <a:r>
              <a:rPr lang="zh-CN" altLang="en-US" sz="3200" dirty="0"/>
              <a:t>第二步，找到出错的代码</a:t>
            </a:r>
            <a:r>
              <a:rPr lang="en-US" altLang="zh-CN" sz="3200" dirty="0"/>
              <a:t>——</a:t>
            </a:r>
            <a:r>
              <a:rPr lang="zh-CN" altLang="en-US" sz="3200" dirty="0"/>
              <a:t>运行到哪里不对了？</a:t>
            </a:r>
            <a:endParaRPr lang="en-US" altLang="zh-CN" sz="3200" dirty="0"/>
          </a:p>
          <a:p>
            <a:r>
              <a:rPr lang="zh-CN" altLang="en-US" sz="3200" dirty="0">
                <a:solidFill>
                  <a:schemeClr val="accent5"/>
                </a:solidFill>
              </a:rPr>
              <a:t>逻辑：收集各种信息，提示我想到可能出错的地方</a:t>
            </a:r>
            <a:endParaRPr lang="en-US" altLang="zh-CN" sz="3200" dirty="0">
              <a:solidFill>
                <a:schemeClr val="accent5"/>
              </a:solidFill>
            </a:endParaRPr>
          </a:p>
          <a:p>
            <a:r>
              <a:rPr lang="zh-CN" altLang="en-US" sz="3200" dirty="0">
                <a:solidFill>
                  <a:schemeClr val="accent5"/>
                </a:solidFill>
              </a:rPr>
              <a:t>心法：相信一定有问题，相信自己能找出来</a:t>
            </a:r>
            <a:r>
              <a:rPr lang="en-US" altLang="zh-CN" sz="3200" dirty="0">
                <a:solidFill>
                  <a:schemeClr val="accent5"/>
                </a:solidFill>
              </a:rPr>
              <a:t>——</a:t>
            </a:r>
            <a:r>
              <a:rPr lang="zh-CN" altLang="en-US" sz="3200" dirty="0">
                <a:solidFill>
                  <a:schemeClr val="accent5"/>
                </a:solidFill>
              </a:rPr>
              <a:t>不要“走进科学”想玄学</a:t>
            </a:r>
            <a:endParaRPr lang="en-US" altLang="zh-CN" sz="3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第一步</a:t>
            </a:r>
            <a:r>
              <a:rPr lang="zh-CN" altLang="en-US" dirty="0"/>
              <a:t>：</a:t>
            </a:r>
            <a:r>
              <a:rPr lang="zh-CN" altLang="en-US" sz="4000" dirty="0"/>
              <a:t>发现出错的数据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817914"/>
            <a:ext cx="8280000" cy="4482086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题目中给的样例通过</a:t>
            </a:r>
            <a:endParaRPr lang="en-US" altLang="zh-CN" sz="2800" dirty="0"/>
          </a:p>
          <a:p>
            <a:r>
              <a:rPr lang="zh-CN" altLang="en-US" sz="2800" dirty="0"/>
              <a:t>自己试（边界情况，有疑惑的地方，数据量大</a:t>
            </a:r>
            <a:r>
              <a:rPr lang="en-US" altLang="zh-CN" sz="2800" dirty="0"/>
              <a:t>……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r>
              <a:rPr lang="zh-CN" altLang="en-US" sz="2800" dirty="0"/>
              <a:t>期中期末考试每个题可以下载两</a:t>
            </a:r>
            <a:r>
              <a:rPr lang="en-US" altLang="zh-CN" sz="2800" dirty="0"/>
              <a:t>/</a:t>
            </a:r>
            <a:r>
              <a:rPr lang="zh-CN" altLang="en-US" sz="2800" dirty="0"/>
              <a:t>三个错误输入（不能看正确输出）</a:t>
            </a:r>
            <a:endParaRPr lang="en-US" altLang="zh-CN" sz="2800" dirty="0"/>
          </a:p>
          <a:p>
            <a:pPr lvl="1"/>
            <a:r>
              <a:rPr lang="en-US" altLang="zh-CN" sz="2800" dirty="0"/>
              <a:t>error.in </a:t>
            </a:r>
            <a:r>
              <a:rPr lang="zh-CN" altLang="en-US" sz="2800" dirty="0"/>
              <a:t>为错误测试点的输入（能看</a:t>
            </a:r>
            <a:r>
              <a:rPr lang="en-US" altLang="zh-CN" sz="2800" dirty="0"/>
              <a:t>2/3</a:t>
            </a:r>
            <a:r>
              <a:rPr lang="zh-CN" altLang="en-US" sz="2800" dirty="0"/>
              <a:t>个）</a:t>
            </a:r>
            <a:endParaRPr lang="en-US" altLang="zh-CN" sz="2800" dirty="0"/>
          </a:p>
          <a:p>
            <a:pPr lvl="1"/>
            <a:r>
              <a:rPr lang="en-US" altLang="zh-CN" sz="2800" dirty="0" err="1"/>
              <a:t>error.out</a:t>
            </a:r>
            <a:r>
              <a:rPr lang="zh-CN" altLang="en-US" sz="2800" dirty="0"/>
              <a:t>为错误测试点的</a:t>
            </a:r>
            <a:r>
              <a:rPr lang="zh-CN" altLang="en-US" sz="2800" b="1" dirty="0"/>
              <a:t>正确</a:t>
            </a:r>
            <a:r>
              <a:rPr lang="zh-CN" altLang="en-US" sz="2800" dirty="0"/>
              <a:t>输出（不能看）</a:t>
            </a:r>
            <a:endParaRPr lang="en-US" altLang="zh-CN" sz="2800" dirty="0"/>
          </a:p>
          <a:p>
            <a:pPr lvl="2"/>
            <a:r>
              <a:rPr lang="zh-CN" altLang="en-US" sz="2600" dirty="0"/>
              <a:t>手算</a:t>
            </a:r>
            <a:r>
              <a:rPr lang="en-US" altLang="zh-CN" sz="2600" dirty="0" err="1"/>
              <a:t>error.out</a:t>
            </a:r>
            <a:r>
              <a:rPr lang="en-US" altLang="zh-CN" sz="2600" dirty="0"/>
              <a:t> – </a:t>
            </a:r>
            <a:r>
              <a:rPr lang="zh-CN" altLang="en-US" sz="2600" dirty="0"/>
              <a:t>或者一步步跟</a:t>
            </a:r>
            <a:endParaRPr lang="en-US" altLang="zh-CN" sz="26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严禁利用测试点套分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不允许 </a:t>
            </a:r>
            <a:r>
              <a:rPr lang="en-US" altLang="zh-CN" sz="2400" dirty="0"/>
              <a:t>if(</a:t>
            </a:r>
            <a:r>
              <a:rPr lang="zh-CN" altLang="en-US" sz="2400" dirty="0"/>
              <a:t>测试点输入</a:t>
            </a:r>
            <a:r>
              <a:rPr lang="en-US" altLang="zh-CN" sz="2400" dirty="0"/>
              <a:t>)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</a:t>
            </a:r>
            <a:r>
              <a:rPr lang="zh-CN" altLang="en-US" sz="2400" dirty="0"/>
              <a:t>测试点输出</a:t>
            </a:r>
            <a:r>
              <a:rPr lang="en-US" altLang="zh-CN" sz="2400" dirty="0"/>
              <a:t>) </a:t>
            </a:r>
            <a:r>
              <a:rPr lang="zh-CN" altLang="en-US" sz="2400" dirty="0">
                <a:solidFill>
                  <a:srgbClr val="FF0000"/>
                </a:solidFill>
              </a:rPr>
              <a:t>作弊行为！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32114" y="2503714"/>
            <a:ext cx="5976257" cy="990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调试遇到的问题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3200" dirty="0"/>
              <a:t>输入输出数据过大</a:t>
            </a:r>
            <a:endParaRPr lang="en-US" altLang="zh-CN" sz="3200" dirty="0"/>
          </a:p>
          <a:p>
            <a:pPr lvl="1"/>
            <a:r>
              <a:rPr lang="zh-CN" altLang="en-US" sz="2800" dirty="0"/>
              <a:t>从文件输入</a:t>
            </a:r>
            <a:endParaRPr lang="en-US" altLang="zh-CN" sz="2800" dirty="0"/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freopen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error.in"</a:t>
            </a:r>
            <a:r>
              <a:rPr lang="en-US" altLang="zh-C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freopen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"error.out"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lvl="1">
              <a:spcBef>
                <a:spcPts val="1000"/>
              </a:spcBef>
            </a:pPr>
            <a:endParaRPr lang="en-US" altLang="zh-CN" sz="1300" dirty="0">
              <a:latin typeface="+mj-ea"/>
              <a:ea typeface="+mj-ea"/>
            </a:endParaRPr>
          </a:p>
          <a:p>
            <a:pPr marL="342900" lvl="1">
              <a:spcBef>
                <a:spcPts val="1000"/>
              </a:spcBef>
            </a:pPr>
            <a:r>
              <a:rPr lang="zh-CN" altLang="en-US" sz="3200" dirty="0">
                <a:latin typeface="+mj-ea"/>
                <a:ea typeface="+mj-ea"/>
              </a:rPr>
              <a:t>输入输出看不出哪里错</a:t>
            </a:r>
            <a:endParaRPr lang="en-US" altLang="zh-CN" sz="3200" dirty="0">
              <a:latin typeface="+mj-ea"/>
              <a:ea typeface="+mj-ea"/>
            </a:endParaRPr>
          </a:p>
          <a:p>
            <a:pPr marL="800735" lvl="2">
              <a:spcBef>
                <a:spcPts val="1000"/>
              </a:spcBef>
            </a:pPr>
            <a:r>
              <a:rPr lang="zh-CN" altLang="en-US" sz="2800" dirty="0"/>
              <a:t>输出文件</a:t>
            </a:r>
            <a:endParaRPr lang="en-US" altLang="zh-CN" sz="2800" dirty="0"/>
          </a:p>
          <a:p>
            <a:pPr marL="800735" lvl="2">
              <a:spcBef>
                <a:spcPts val="1000"/>
              </a:spcBef>
            </a:pPr>
            <a:r>
              <a:rPr lang="zh-CN" altLang="en-US" sz="2800" dirty="0"/>
              <a:t>文件比较的工具</a:t>
            </a:r>
            <a:endParaRPr lang="en-US" altLang="zh-CN" sz="2800" dirty="0"/>
          </a:p>
          <a:p>
            <a:pPr marL="1259840" lvl="3">
              <a:spcBef>
                <a:spcPts val="1000"/>
              </a:spcBef>
            </a:pPr>
            <a:r>
              <a:rPr lang="en-US" altLang="zh-CN" sz="2800" dirty="0" err="1"/>
              <a:t>vscode</a:t>
            </a:r>
            <a:r>
              <a:rPr lang="zh-CN" altLang="en-US" sz="2800" dirty="0"/>
              <a:t>就可以：</a:t>
            </a:r>
            <a:r>
              <a:rPr lang="en-US" altLang="zh-CN" sz="2600" dirty="0" err="1">
                <a:hlinkClick r:id="rId1"/>
              </a:rPr>
              <a:t>VSCode</a:t>
            </a:r>
            <a:r>
              <a:rPr lang="zh-CN" altLang="en-US" sz="2600" dirty="0">
                <a:hlinkClick r:id="rId1"/>
              </a:rPr>
              <a:t>自带的文件对比功能</a:t>
            </a:r>
            <a:endParaRPr lang="en-US" altLang="zh-CN" sz="2200" dirty="0"/>
          </a:p>
          <a:p>
            <a:pPr marL="1259840" lvl="3">
              <a:spcBef>
                <a:spcPts val="1000"/>
              </a:spcBef>
            </a:pPr>
            <a:r>
              <a:rPr lang="en-US" altLang="zh-CN" sz="2800" dirty="0"/>
              <a:t>Vs</a:t>
            </a:r>
            <a:r>
              <a:rPr lang="zh-CN" altLang="en-US" sz="2800" dirty="0"/>
              <a:t>也可以：</a:t>
            </a:r>
            <a:r>
              <a:rPr lang="en-US" altLang="zh-CN" sz="1700" dirty="0">
                <a:hlinkClick r:id="rId2"/>
              </a:rPr>
              <a:t>https://www.cnblogs.com/MeteorSeed/p/17653202.html</a:t>
            </a:r>
            <a:r>
              <a:rPr lang="en-US" altLang="zh-CN" sz="1700" dirty="0"/>
              <a:t> </a:t>
            </a:r>
            <a:endParaRPr lang="en-US" altLang="zh-CN" sz="2800" dirty="0"/>
          </a:p>
          <a:p>
            <a:pPr marL="397510" lvl="1" indent="0">
              <a:buNone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第二步，发现出错的代码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6"/>
            <a:ext cx="8280000" cy="5180649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难点</a:t>
            </a:r>
            <a:r>
              <a:rPr lang="zh-CN" altLang="en-US" sz="3200" dirty="0"/>
              <a:t>：很多变量，随着程序运行不断变化</a:t>
            </a:r>
            <a:endParaRPr lang="en-US" altLang="zh-CN" sz="3200" dirty="0"/>
          </a:p>
          <a:p>
            <a:r>
              <a:rPr lang="zh-CN" altLang="en-US" sz="3200" b="1" dirty="0"/>
              <a:t>逻辑</a:t>
            </a:r>
            <a:r>
              <a:rPr lang="zh-CN" altLang="en-US" sz="3200" dirty="0"/>
              <a:t>：一定有某个变量，运行到某个时刻开始就不对了，找到这个变量就能“顺藤摸瓜”</a:t>
            </a:r>
            <a:endParaRPr lang="en-US" altLang="zh-CN" sz="3200" dirty="0"/>
          </a:p>
          <a:p>
            <a:pPr lvl="1"/>
            <a:r>
              <a:rPr lang="zh-CN" altLang="en-US" sz="2800" dirty="0"/>
              <a:t>思路：尽量找能够带来</a:t>
            </a:r>
            <a:r>
              <a:rPr lang="zh-CN" altLang="en-US" sz="2800" b="1" dirty="0"/>
              <a:t>最大信息提升</a:t>
            </a:r>
            <a:r>
              <a:rPr lang="zh-CN" altLang="en-US" sz="2800" dirty="0"/>
              <a:t>的方式：不然是</a:t>
            </a:r>
            <a:r>
              <a:rPr lang="en-US" altLang="zh-CN" sz="2800" dirty="0"/>
              <a:t>A</a:t>
            </a:r>
            <a:r>
              <a:rPr lang="zh-CN" altLang="en-US" sz="2800" dirty="0"/>
              <a:t>情况，不然是</a:t>
            </a:r>
            <a:r>
              <a:rPr lang="en-US" altLang="zh-CN" sz="2800" dirty="0"/>
              <a:t>B</a:t>
            </a:r>
            <a:r>
              <a:rPr lang="zh-CN" altLang="en-US" sz="2800" dirty="0"/>
              <a:t>情况</a:t>
            </a:r>
            <a:endParaRPr lang="en-US" altLang="zh-CN" sz="2800" dirty="0"/>
          </a:p>
          <a:p>
            <a:pPr lvl="1"/>
            <a:r>
              <a:rPr lang="zh-CN" altLang="en-US" sz="2800" b="1" dirty="0"/>
              <a:t>关键：找到程序运行结果和预期不符的地方</a:t>
            </a:r>
            <a:endParaRPr lang="en-US" altLang="zh-CN" sz="2800" b="1" dirty="0"/>
          </a:p>
          <a:p>
            <a:pPr lvl="1"/>
            <a:endParaRPr lang="en-US" altLang="zh-CN" sz="2800" dirty="0"/>
          </a:p>
          <a:p>
            <a:pPr lvl="2"/>
            <a:endParaRPr lang="en-US" altLang="zh-CN" sz="2600" dirty="0"/>
          </a:p>
          <a:p>
            <a:pPr lvl="1"/>
            <a:endParaRPr lang="en-US" altLang="zh-CN" sz="2800" dirty="0"/>
          </a:p>
          <a:p>
            <a:pPr lvl="1"/>
            <a:endParaRPr lang="zh-CN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第二步，发现出错的代码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sz="3200" dirty="0"/>
              <a:t>通用的</a:t>
            </a:r>
            <a:endParaRPr lang="en-US" altLang="zh-CN" sz="3200" dirty="0"/>
          </a:p>
          <a:p>
            <a:pPr lvl="1"/>
            <a:r>
              <a:rPr lang="zh-CN" altLang="en-US" sz="2800" dirty="0"/>
              <a:t>一步步跟（慢）</a:t>
            </a:r>
            <a:endParaRPr lang="en-US" altLang="zh-CN" sz="2800" dirty="0"/>
          </a:p>
          <a:p>
            <a:pPr lvl="1"/>
            <a:r>
              <a:rPr lang="zh-CN" altLang="en-US" sz="2800" dirty="0"/>
              <a:t>从结果倒推 </a:t>
            </a:r>
            <a:r>
              <a:rPr lang="en-US" altLang="zh-CN" sz="2800" dirty="0"/>
              <a:t>&amp; </a:t>
            </a:r>
            <a:r>
              <a:rPr lang="zh-CN" altLang="en-US" sz="2800" dirty="0"/>
              <a:t>从开始打印</a:t>
            </a:r>
            <a:endParaRPr lang="en-US" altLang="zh-CN" sz="2800" dirty="0"/>
          </a:p>
          <a:p>
            <a:pPr lvl="1"/>
            <a:r>
              <a:rPr lang="zh-CN" altLang="en-US" sz="2800" dirty="0"/>
              <a:t>从中间关键步骤打印</a:t>
            </a:r>
            <a:r>
              <a:rPr lang="en-US" altLang="zh-CN" sz="2800" dirty="0"/>
              <a:t>——</a:t>
            </a:r>
            <a:r>
              <a:rPr lang="zh-CN" altLang="en-US" sz="2800" b="1" dirty="0"/>
              <a:t>模块化</a:t>
            </a:r>
            <a:endParaRPr lang="en-US" altLang="zh-CN" sz="2800" b="1" dirty="0"/>
          </a:p>
          <a:p>
            <a:r>
              <a:rPr lang="zh-CN" altLang="en-US" sz="3200" dirty="0"/>
              <a:t>启发式的</a:t>
            </a:r>
            <a:endParaRPr lang="en-US" altLang="zh-CN" sz="3200" dirty="0"/>
          </a:p>
          <a:p>
            <a:pPr lvl="1"/>
            <a:r>
              <a:rPr lang="zh-CN" altLang="en-US" sz="2800" dirty="0"/>
              <a:t>根据易错点检查，对最不确定的地方进行确认</a:t>
            </a:r>
            <a:endParaRPr lang="en-US" altLang="zh-CN" sz="2800" dirty="0"/>
          </a:p>
          <a:p>
            <a:pPr lvl="1"/>
            <a:r>
              <a:rPr lang="zh-CN" altLang="en-US" sz="2800" dirty="0"/>
              <a:t>根据出错类型考虑：如超时错误</a:t>
            </a:r>
            <a:endParaRPr lang="en-US" altLang="zh-CN" sz="2800" dirty="0"/>
          </a:p>
          <a:p>
            <a:pPr lvl="1"/>
            <a:r>
              <a:rPr lang="zh-CN" altLang="en-US" sz="2800" dirty="0"/>
              <a:t>根据不自然之处进行检查</a:t>
            </a:r>
            <a:endParaRPr lang="en-US" altLang="zh-CN" sz="2800" dirty="0"/>
          </a:p>
          <a:p>
            <a:pPr lvl="2"/>
            <a:r>
              <a:rPr lang="zh-CN" altLang="en-US" sz="2800" b="1" dirty="0"/>
              <a:t>循环</a:t>
            </a:r>
            <a:r>
              <a:rPr lang="zh-CN" altLang="en-US" sz="2800" dirty="0"/>
              <a:t>等：不出循环？哪个你认为要变的条件没变？</a:t>
            </a:r>
            <a:endParaRPr lang="en-US" altLang="zh-CN" sz="2800" dirty="0"/>
          </a:p>
          <a:p>
            <a:pPr lvl="1"/>
            <a:r>
              <a:rPr lang="zh-CN" altLang="en-US" sz="2800" dirty="0"/>
              <a:t>根据题目特性考虑：标准答案里有丰富信息</a:t>
            </a:r>
            <a:endParaRPr lang="en-US" altLang="zh-CN" sz="2800" dirty="0"/>
          </a:p>
          <a:p>
            <a:pPr lvl="2"/>
            <a:r>
              <a:rPr lang="zh-CN" altLang="en-US" sz="2600" b="1" dirty="0"/>
              <a:t>枚举法</a:t>
            </a:r>
            <a:r>
              <a:rPr lang="zh-CN" altLang="en-US" sz="2600" dirty="0"/>
              <a:t>的题目，人工看</a:t>
            </a:r>
            <a:endParaRPr lang="en-US" altLang="zh-CN" sz="2600" dirty="0"/>
          </a:p>
          <a:p>
            <a:pPr lvl="3"/>
            <a:r>
              <a:rPr lang="zh-CN" altLang="en-US" sz="2400" dirty="0"/>
              <a:t>枚举出的答案是否符合要求？不符合的话，是哪个条件不符合？为什么你的程序在这里认为是符合要求的？</a:t>
            </a:r>
            <a:endParaRPr lang="en-US" altLang="zh-CN" sz="2400" dirty="0"/>
          </a:p>
          <a:p>
            <a:pPr lvl="3"/>
            <a:r>
              <a:rPr lang="zh-CN" altLang="en-US" sz="2400" dirty="0"/>
              <a:t>正确答案为什么没有被你枚举出来？</a:t>
            </a:r>
            <a:endParaRPr lang="en-US" altLang="zh-CN" sz="2800" dirty="0"/>
          </a:p>
          <a:p>
            <a:pPr lvl="1"/>
            <a:r>
              <a:rPr lang="zh-CN" altLang="en-US" sz="2800" dirty="0"/>
              <a:t>其他</a:t>
            </a:r>
            <a:r>
              <a:rPr lang="en-US" altLang="zh-CN" sz="2800" dirty="0"/>
              <a:t>……</a:t>
            </a:r>
            <a:endParaRPr lang="en-US" altLang="zh-CN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调试工具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调试工具一：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lvl="1"/>
            <a:r>
              <a:rPr lang="zh-CN" altLang="en-US" sz="2800" dirty="0"/>
              <a:t>优点：一般都比较好用，尤其是跟循环的时候</a:t>
            </a:r>
            <a:endParaRPr lang="en-US" altLang="zh-CN" sz="2800" dirty="0"/>
          </a:p>
          <a:p>
            <a:pPr lvl="1"/>
            <a:r>
              <a:rPr lang="zh-CN" altLang="en-US" sz="2800" dirty="0"/>
              <a:t>缺点：需要写一些代码重新跑程序</a:t>
            </a:r>
            <a:endParaRPr lang="en-US" altLang="zh-CN" sz="2800" dirty="0"/>
          </a:p>
          <a:p>
            <a:pPr lvl="1"/>
            <a:r>
              <a:rPr lang="en-US" altLang="zh-CN" sz="2800" dirty="0"/>
              <a:t>Tip</a:t>
            </a:r>
            <a:r>
              <a:rPr lang="zh-CN" altLang="en-US" sz="2800" dirty="0"/>
              <a:t>：提交时注释即可不用删掉，后面可能有用</a:t>
            </a:r>
            <a:endParaRPr lang="en-US" altLang="zh-CN" sz="2800" dirty="0"/>
          </a:p>
          <a:p>
            <a:pPr marL="342900" lvl="1">
              <a:spcBef>
                <a:spcPts val="1000"/>
              </a:spcBef>
            </a:pPr>
            <a:r>
              <a:rPr lang="zh-CN" altLang="en-US" sz="3200" dirty="0">
                <a:latin typeface="+mj-ea"/>
                <a:ea typeface="+mj-ea"/>
              </a:rPr>
              <a:t>调试工具二：</a:t>
            </a:r>
            <a:r>
              <a:rPr lang="en-US" altLang="zh-CN" sz="3200" dirty="0" err="1">
                <a:latin typeface="+mj-ea"/>
                <a:ea typeface="+mj-ea"/>
              </a:rPr>
              <a:t>vscode</a:t>
            </a:r>
            <a:r>
              <a:rPr lang="zh-CN" altLang="en-US" sz="3200" dirty="0">
                <a:latin typeface="+mj-ea"/>
                <a:ea typeface="+mj-ea"/>
              </a:rPr>
              <a:t>调试</a:t>
            </a:r>
            <a:endParaRPr lang="en-US" altLang="zh-CN" sz="3200" dirty="0">
              <a:latin typeface="+mj-ea"/>
              <a:ea typeface="+mj-ea"/>
            </a:endParaRPr>
          </a:p>
          <a:p>
            <a:pPr marL="800735" lvl="2">
              <a:spcBef>
                <a:spcPts val="1000"/>
              </a:spcBef>
            </a:pPr>
            <a:r>
              <a:rPr lang="zh-CN" altLang="en-US" sz="2800" dirty="0"/>
              <a:t>优点：不需要额外的</a:t>
            </a:r>
            <a:r>
              <a:rPr lang="en-US" altLang="zh-CN" sz="2800" dirty="0"/>
              <a:t>code</a:t>
            </a:r>
            <a:r>
              <a:rPr lang="zh-CN" altLang="en-US" sz="2800" dirty="0"/>
              <a:t>，可以随时看每行代码运行完的结果，还可以设置条件断点</a:t>
            </a:r>
            <a:endParaRPr lang="en-US" altLang="zh-CN" sz="2800" dirty="0"/>
          </a:p>
          <a:p>
            <a:pPr marL="800735" lvl="2">
              <a:spcBef>
                <a:spcPts val="1000"/>
              </a:spcBef>
            </a:pPr>
            <a:r>
              <a:rPr lang="zh-CN" altLang="en-US" sz="2800" dirty="0"/>
              <a:t>缺点：循环内部每次运行结果一点点跟起来有点麻烦</a:t>
            </a:r>
            <a:endParaRPr lang="en-US" altLang="zh-CN" sz="2800" dirty="0"/>
          </a:p>
          <a:p>
            <a:pPr marL="800735" lvl="2">
              <a:spcBef>
                <a:spcPts val="1000"/>
              </a:spcBef>
            </a:pPr>
            <a:endParaRPr lang="en-US" altLang="zh-CN" sz="2800" dirty="0"/>
          </a:p>
          <a:p>
            <a:pPr lvl="1"/>
            <a:endParaRPr lang="en-US" altLang="zh-CN" sz="2800" dirty="0"/>
          </a:p>
          <a:p>
            <a:endParaRPr lang="en-US" altLang="zh-CN" sz="3200" dirty="0"/>
          </a:p>
          <a:p>
            <a:endParaRPr lang="zh-CN" alt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Vs code</a:t>
            </a:r>
            <a:r>
              <a:rPr lang="zh-CN" altLang="en-US" dirty="0"/>
              <a:t>调试</a:t>
            </a:r>
            <a:endParaRPr lang="zh-CN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431800" y="1535113"/>
          <a:ext cx="8280400" cy="476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Vs code</a:t>
            </a:r>
            <a:r>
              <a:rPr lang="zh-CN" altLang="en-US" sz="3600" dirty="0"/>
              <a:t>调试环境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无论是代码编译运行或者是调试代码，请在包含</a:t>
            </a:r>
            <a:r>
              <a:rPr lang="en-US" dirty="0"/>
              <a:t>.</a:t>
            </a:r>
            <a:r>
              <a:rPr lang="en-US" dirty="0" err="1"/>
              <a:t>vscode</a:t>
            </a:r>
            <a:r>
              <a:rPr lang="zh-CN" altLang="en-US" dirty="0"/>
              <a:t>文件夹的上一级文件夹中存放你的代码</a:t>
            </a:r>
            <a:endParaRPr lang="en-US" altLang="zh-CN" dirty="0"/>
          </a:p>
          <a:p>
            <a:pPr lvl="1"/>
            <a:r>
              <a:rPr lang="zh-CN" altLang="en-US" dirty="0"/>
              <a:t>如果打开</a:t>
            </a:r>
            <a:r>
              <a:rPr lang="en-US" dirty="0" err="1"/>
              <a:t>vscode</a:t>
            </a:r>
            <a:r>
              <a:rPr lang="zh-CN" altLang="en-US" dirty="0"/>
              <a:t>时显示左侧栏显示未打卡文件夹，请点击文件</a:t>
            </a:r>
            <a:r>
              <a:rPr lang="en-US" dirty="0"/>
              <a:t>-&gt;</a:t>
            </a:r>
            <a:r>
              <a:rPr lang="zh-CN" altLang="en-US" dirty="0"/>
              <a:t>打开文件夹，选中要使用的文件夹（如</a:t>
            </a:r>
            <a:r>
              <a:rPr lang="en-US" dirty="0"/>
              <a:t>code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r>
              <a:rPr lang="en-US" dirty="0"/>
              <a:t>.</a:t>
            </a:r>
            <a:r>
              <a:rPr lang="en-US" dirty="0" err="1"/>
              <a:t>vscode</a:t>
            </a:r>
            <a:r>
              <a:rPr lang="zh-CN" altLang="en-US" dirty="0"/>
              <a:t>下的配置文件</a:t>
            </a:r>
            <a:endParaRPr lang="en-US" altLang="zh-CN" dirty="0"/>
          </a:p>
          <a:p>
            <a:pPr lvl="2"/>
            <a:r>
              <a:rPr lang="zh-CN" altLang="en-US" dirty="0"/>
              <a:t>详见</a:t>
            </a:r>
            <a:r>
              <a:rPr lang="en-US" altLang="zh-CN" dirty="0"/>
              <a:t>vs code</a:t>
            </a:r>
            <a:r>
              <a:rPr lang="zh-CN" altLang="en-US" dirty="0"/>
              <a:t>安装说明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466612" y="3175738"/>
            <a:ext cx="3705737" cy="3468878"/>
            <a:chOff x="3419872" y="2674677"/>
            <a:chExt cx="4380142" cy="3816162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1"/>
            <a:srcRect r="11803"/>
            <a:stretch>
              <a:fillRect/>
            </a:stretch>
          </p:blipFill>
          <p:spPr>
            <a:xfrm>
              <a:off x="3419872" y="2674677"/>
              <a:ext cx="4380142" cy="3816162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3851920" y="4005064"/>
              <a:ext cx="792088" cy="330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707904" y="3686425"/>
              <a:ext cx="360040" cy="330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设置断点</a:t>
            </a:r>
            <a:endParaRPr 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idx="1"/>
          </p:nvPr>
        </p:nvSpPr>
        <p:spPr>
          <a:xfrm>
            <a:off x="432000" y="1535837"/>
            <a:ext cx="8024311" cy="4764163"/>
          </a:xfrm>
        </p:spPr>
        <p:txBody>
          <a:bodyPr/>
          <a:lstStyle/>
          <a:p>
            <a:r>
              <a:rPr lang="zh-CN" altLang="en-US" dirty="0"/>
              <a:t>鼠标左键点击行前行号处→出现一个红色的点，该行为</a:t>
            </a:r>
            <a:r>
              <a:rPr lang="zh-CN" altLang="en-US" dirty="0">
                <a:solidFill>
                  <a:srgbClr val="0070C0"/>
                </a:solidFill>
              </a:rPr>
              <a:t>断点</a:t>
            </a:r>
            <a:endParaRPr lang="zh-CN" alt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3522132" y="2452143"/>
            <a:ext cx="3921958" cy="3271838"/>
            <a:chOff x="5643322" y="1320441"/>
            <a:chExt cx="5229277" cy="4362450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5643322" y="4437112"/>
              <a:ext cx="648072" cy="0"/>
            </a:xfrm>
            <a:prstGeom prst="straightConnector1">
              <a:avLst/>
            </a:prstGeom>
            <a:ln w="762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7274" y="1320441"/>
              <a:ext cx="4505325" cy="43624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调试步骤</a:t>
            </a:r>
            <a:endParaRPr lang="zh-CN" dirty="0"/>
          </a:p>
        </p:txBody>
      </p:sp>
      <p:graphicFrame>
        <p:nvGraphicFramePr>
          <p:cNvPr id="9" name="内容占位符 4"/>
          <p:cNvGraphicFramePr>
            <a:graphicFrameLocks noGrp="1"/>
          </p:cNvGraphicFramePr>
          <p:nvPr>
            <p:ph idx="1"/>
          </p:nvPr>
        </p:nvGraphicFramePr>
        <p:xfrm>
          <a:off x="431800" y="1535113"/>
          <a:ext cx="8280400" cy="476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调试过程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点击“调试”</a:t>
            </a:r>
            <a:r>
              <a:rPr lang="en-US" altLang="zh-CN" dirty="0"/>
              <a:t>——“</a:t>
            </a:r>
            <a:r>
              <a:rPr lang="zh-CN" altLang="en-US" dirty="0"/>
              <a:t>启动调试”：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进入调试状态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程序运行至断点行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断点所在行变色，出现调试工具条</a:t>
            </a:r>
            <a:endParaRPr lang="en-US" altLang="zh-CN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83" y="3628273"/>
            <a:ext cx="2913773" cy="251952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317107" y="2958556"/>
            <a:ext cx="5092131" cy="3766044"/>
            <a:chOff x="3839712" y="1430779"/>
            <a:chExt cx="5329070" cy="364394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9712" y="1430779"/>
              <a:ext cx="5329070" cy="3643946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7650342" y="1700808"/>
              <a:ext cx="1080120" cy="300082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085946" y="1778701"/>
              <a:ext cx="918101" cy="300082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085946" y="2790325"/>
              <a:ext cx="927041" cy="300082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085946" y="3847758"/>
              <a:ext cx="927041" cy="300082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350" dirty="0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781300" y="110304"/>
            <a:ext cx="6278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1. </a:t>
            </a:r>
            <a:r>
              <a:rPr lang="zh-CN" altLang="en-US" sz="2000" dirty="0">
                <a:solidFill>
                  <a:srgbClr val="FF0000"/>
                </a:solidFill>
              </a:rPr>
              <a:t>必须是调试模式，否则断点不会停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2. </a:t>
            </a:r>
            <a:r>
              <a:rPr lang="zh-CN" altLang="en-US" sz="2000" dirty="0">
                <a:solidFill>
                  <a:srgbClr val="FF0000"/>
                </a:solidFill>
              </a:rPr>
              <a:t>环境没配好也可能断点不停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3. </a:t>
            </a:r>
            <a:r>
              <a:rPr lang="zh-CN" altLang="en-US" sz="2000" dirty="0">
                <a:solidFill>
                  <a:srgbClr val="FF0000"/>
                </a:solidFill>
              </a:rPr>
              <a:t>如果一个断点没停，不一定是环境问题，可能是就没有</a:t>
            </a:r>
            <a:r>
              <a:rPr lang="en-US" altLang="zh-CN" sz="2000" dirty="0">
                <a:solidFill>
                  <a:srgbClr val="FF0000"/>
                </a:solidFill>
              </a:rPr>
              <a:t>4. </a:t>
            </a:r>
            <a:r>
              <a:rPr lang="zh-CN" altLang="en-US" sz="2000" dirty="0">
                <a:solidFill>
                  <a:srgbClr val="FF0000"/>
                </a:solidFill>
              </a:rPr>
              <a:t>运行到那里，先试试在一定会停的地方加断点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查看变量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watch</a:t>
            </a:r>
            <a:r>
              <a:rPr lang="zh-CN" altLang="en-US" dirty="0"/>
              <a:t>窗口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9712" y="1430779"/>
            <a:ext cx="5329070" cy="364394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650342" y="1700808"/>
            <a:ext cx="1080120" cy="300082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sp>
        <p:nvSpPr>
          <p:cNvPr id="10" name="文本框 9"/>
          <p:cNvSpPr txBox="1"/>
          <p:nvPr/>
        </p:nvSpPr>
        <p:spPr>
          <a:xfrm>
            <a:off x="4085946" y="1778701"/>
            <a:ext cx="918101" cy="300082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sp>
        <p:nvSpPr>
          <p:cNvPr id="11" name="文本框 10"/>
          <p:cNvSpPr txBox="1"/>
          <p:nvPr/>
        </p:nvSpPr>
        <p:spPr>
          <a:xfrm>
            <a:off x="4085946" y="2790325"/>
            <a:ext cx="927041" cy="300082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sp>
        <p:nvSpPr>
          <p:cNvPr id="12" name="文本框 11"/>
          <p:cNvSpPr txBox="1"/>
          <p:nvPr/>
        </p:nvSpPr>
        <p:spPr>
          <a:xfrm>
            <a:off x="4085946" y="3847758"/>
            <a:ext cx="927041" cy="300082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35" y="2888940"/>
            <a:ext cx="1826414" cy="163541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220" y="3381618"/>
            <a:ext cx="2125491" cy="192702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63323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控制程序执行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331651"/>
            <a:ext cx="8280000" cy="4968350"/>
          </a:xfrm>
        </p:spPr>
        <p:txBody>
          <a:bodyPr/>
          <a:lstStyle/>
          <a:p>
            <a:r>
              <a:rPr lang="en-US" altLang="zh-CN" b="1" dirty="0">
                <a:latin typeface="+mn-ea"/>
              </a:rPr>
              <a:t>Next line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执行本行程序 蓝色高亮条变为下一行</a:t>
            </a:r>
            <a:endParaRPr lang="en-US" b="1" dirty="0">
              <a:latin typeface="+mn-ea"/>
            </a:endParaRPr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90" y="3726644"/>
            <a:ext cx="2192009" cy="486054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3247901" y="2106131"/>
            <a:ext cx="5590756" cy="3623574"/>
            <a:chOff x="4358346" y="685800"/>
            <a:chExt cx="7454341" cy="483143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74389" y="691444"/>
              <a:ext cx="6038298" cy="4825788"/>
            </a:xfrm>
            <a:prstGeom prst="rect">
              <a:avLst/>
            </a:prstGeom>
          </p:spPr>
        </p:pic>
        <p:cxnSp>
          <p:nvCxnSpPr>
            <p:cNvPr id="8" name="直接箭头连接符 7"/>
            <p:cNvCxnSpPr/>
            <p:nvPr/>
          </p:nvCxnSpPr>
          <p:spPr>
            <a:xfrm flipV="1">
              <a:off x="8256240" y="1484784"/>
              <a:ext cx="2088232" cy="20162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1709" y="685800"/>
              <a:ext cx="6038298" cy="4825788"/>
            </a:xfrm>
            <a:prstGeom prst="rect">
              <a:avLst/>
            </a:prstGeom>
          </p:spPr>
        </p:pic>
        <p:cxnSp>
          <p:nvCxnSpPr>
            <p:cNvPr id="10" name="直接箭头连接符 9"/>
            <p:cNvCxnSpPr/>
            <p:nvPr/>
          </p:nvCxnSpPr>
          <p:spPr>
            <a:xfrm flipV="1">
              <a:off x="8223560" y="1479140"/>
              <a:ext cx="2088232" cy="20162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8161362" y="1484784"/>
              <a:ext cx="2408522" cy="13681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V="1">
              <a:off x="8128682" y="1484784"/>
              <a:ext cx="2626282" cy="1647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V="1">
              <a:off x="8153646" y="1484784"/>
              <a:ext cx="2797000" cy="18455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V="1">
              <a:off x="8208690" y="1484784"/>
              <a:ext cx="2952238" cy="360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>
              <a:off x="4358346" y="1664804"/>
              <a:ext cx="1575512" cy="13321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/>
          <p:cNvSpPr/>
          <p:nvPr/>
        </p:nvSpPr>
        <p:spPr>
          <a:xfrm>
            <a:off x="717314" y="5586536"/>
            <a:ext cx="7087197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Tips</a:t>
            </a:r>
            <a:r>
              <a:rPr lang="zh-CN" altLang="en-US" sz="1350" dirty="0"/>
              <a:t>：</a:t>
            </a:r>
            <a:endParaRPr lang="en-US" altLang="zh-CN" sz="1350" dirty="0"/>
          </a:p>
          <a:p>
            <a:r>
              <a:rPr lang="zh-CN" altLang="en-US" sz="1350" dirty="0"/>
              <a:t>如果高亮行命令需要接受使用者的动作指令 （如：</a:t>
            </a:r>
            <a:r>
              <a:rPr lang="en-US" altLang="zh-CN" sz="1350" dirty="0" err="1"/>
              <a:t>cin</a:t>
            </a:r>
            <a:r>
              <a:rPr lang="en-US" altLang="zh-CN" sz="1350" dirty="0"/>
              <a:t> </a:t>
            </a:r>
            <a:r>
              <a:rPr lang="zh-CN" altLang="en-US" sz="1350" dirty="0"/>
              <a:t>）必须给予该指令才能继续执行程序</a:t>
            </a:r>
            <a:r>
              <a:rPr lang="en-US" altLang="zh-CN" sz="1350" dirty="0"/>
              <a:t>;</a:t>
            </a:r>
            <a:endParaRPr lang="en-US" altLang="zh-CN" sz="1350" dirty="0"/>
          </a:p>
          <a:p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条件断点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断点处右键</a:t>
            </a:r>
            <a:r>
              <a:rPr lang="en-US" altLang="zh-CN" dirty="0"/>
              <a:t>——Edit Breakpoint——</a:t>
            </a:r>
            <a:r>
              <a:rPr lang="zh-CN" altLang="en-US" dirty="0"/>
              <a:t>输入表达式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83" y="2403731"/>
            <a:ext cx="3429479" cy="38962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68" y="3299352"/>
            <a:ext cx="3886742" cy="27340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调试小技巧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调试状态下</a:t>
            </a:r>
            <a:endParaRPr lang="en-US" altLang="zh-CN" sz="2800" dirty="0"/>
          </a:p>
          <a:p>
            <a:pPr lvl="1"/>
            <a:r>
              <a:rPr lang="zh-CN" altLang="en-US" sz="2800" dirty="0"/>
              <a:t>可以选中代码中的表达式，右键加入</a:t>
            </a:r>
            <a:r>
              <a:rPr lang="en-US" altLang="zh-CN" sz="2800" dirty="0"/>
              <a:t>watch</a:t>
            </a:r>
            <a:endParaRPr lang="en-US" altLang="zh-CN" sz="2800" dirty="0"/>
          </a:p>
          <a:p>
            <a:pPr lvl="1"/>
            <a:r>
              <a:rPr lang="zh-CN" altLang="en-US" sz="2800" dirty="0"/>
              <a:t>鼠标移到一个变量上，可以显示其取值</a:t>
            </a:r>
            <a:endParaRPr lang="en-US" altLang="zh-CN" sz="2800" dirty="0"/>
          </a:p>
          <a:p>
            <a:pPr lvl="1"/>
            <a:r>
              <a:rPr lang="en-US" altLang="zh-CN" sz="2800" dirty="0"/>
              <a:t>Step in/out</a:t>
            </a:r>
            <a:r>
              <a:rPr lang="zh-CN" altLang="en-US" sz="2800" dirty="0"/>
              <a:t>可以跳入跳出函数，</a:t>
            </a:r>
            <a:r>
              <a:rPr lang="en-US" altLang="zh-CN" sz="2800" dirty="0"/>
              <a:t>step over</a:t>
            </a:r>
            <a:r>
              <a:rPr lang="zh-CN" altLang="en-US" sz="2800" dirty="0"/>
              <a:t>把函数当作整体来看</a:t>
            </a:r>
            <a:endParaRPr lang="en-US" altLang="zh-CN" sz="2800" dirty="0"/>
          </a:p>
          <a:p>
            <a:pPr lvl="1"/>
            <a:r>
              <a:rPr lang="zh-CN" altLang="en-US" sz="2800" dirty="0"/>
              <a:t>条件断点可以进入特定循环</a:t>
            </a:r>
            <a:endParaRPr lang="en-US" altLang="zh-CN" sz="2800" dirty="0"/>
          </a:p>
          <a:p>
            <a:pPr lvl="1"/>
            <a:r>
              <a:rPr lang="en-US" altLang="zh-CN" sz="2800" dirty="0"/>
              <a:t>Disable breakpoint</a:t>
            </a:r>
            <a:r>
              <a:rPr lang="zh-CN" altLang="en-US" sz="2800" dirty="0"/>
              <a:t>可以暂时让一个断点不工作</a:t>
            </a:r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28327" t="-416" b="33959"/>
          <a:stretch>
            <a:fillRect/>
          </a:stretch>
        </p:blipFill>
        <p:spPr>
          <a:xfrm>
            <a:off x="310242" y="5115334"/>
            <a:ext cx="3832470" cy="114572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202871" y="6300000"/>
            <a:ext cx="1662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鼠标停在</a:t>
            </a:r>
            <a:r>
              <a:rPr lang="en-US" altLang="zh-CN" sz="2400" dirty="0"/>
              <a:t>f0</a:t>
            </a:r>
            <a:endParaRPr lang="zh-CN" altLang="en-US" sz="24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70" y="5115334"/>
            <a:ext cx="4137888" cy="14482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调试小技巧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选中函数调用语句中的函数名，可以转到定义</a:t>
            </a:r>
            <a:r>
              <a:rPr lang="en-US" altLang="zh-CN" dirty="0"/>
              <a:t>/</a:t>
            </a:r>
            <a:r>
              <a:rPr lang="zh-CN" altLang="en-US" dirty="0"/>
              <a:t>声明（</a:t>
            </a:r>
            <a:r>
              <a:rPr lang="en-US" altLang="zh-CN" dirty="0"/>
              <a:t>Go to Definition/Declaration)</a:t>
            </a:r>
            <a:endParaRPr lang="en-US" altLang="zh-CN" dirty="0"/>
          </a:p>
          <a:p>
            <a:r>
              <a:rPr lang="zh-CN" altLang="en-US" dirty="0"/>
              <a:t>选中函数定义，可以转到调用语句（</a:t>
            </a:r>
            <a:r>
              <a:rPr lang="en-US" altLang="zh-CN" dirty="0"/>
              <a:t>Go to References)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选中变量右键修改名字，函数名也可以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327" y="4980182"/>
            <a:ext cx="6668266" cy="1104932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465615" y="5845629"/>
            <a:ext cx="7728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b="44704"/>
          <a:stretch>
            <a:fillRect/>
          </a:stretch>
        </p:blipFill>
        <p:spPr>
          <a:xfrm>
            <a:off x="287649" y="2879120"/>
            <a:ext cx="8687622" cy="141747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调试举例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#160.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字符串移位包含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i="0" dirty="0">
                <a:effectLst/>
                <a:latin typeface="Open Sans" panose="020B0606030504020204" pitchFamily="34" charset="0"/>
              </a:rPr>
              <a:t>给定两个字符串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，要求判定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是否能够被通过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作向右循环移位（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rotate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）得到的字符串包含。例如，给定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为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AABCD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为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CDAA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，返回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true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；给定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为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ABCD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为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ACBD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，返回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false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。注：右循环移位是指将字符串中每个字符向右侧移动一个位置，最右侧的字符移动到最左侧。例如字符串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ABC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做一次循环移位是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CAB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。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73194" y="3917918"/>
            <a:ext cx="203886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【</a:t>
            </a:r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输入样例</a:t>
            </a: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1】</a:t>
            </a: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AABCD</a:t>
            </a: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CDAA</a:t>
            </a: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【</a:t>
            </a:r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输入样例</a:t>
            </a: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2】</a:t>
            </a: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ABCD</a:t>
            </a: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ACBD</a:t>
            </a:r>
            <a:endParaRPr lang="en-US" altLang="zh-CN" sz="2400" b="0" i="0" dirty="0">
              <a:effectLst/>
              <a:latin typeface="Open Sans" panose="020B06060305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47193" y="3972864"/>
            <a:ext cx="2650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【</a:t>
            </a:r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输出样例</a:t>
            </a: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1】</a:t>
            </a: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true</a:t>
            </a: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endParaRPr lang="en-US" altLang="zh-CN" sz="2400" b="0" i="0" dirty="0">
              <a:effectLst/>
              <a:latin typeface="Open Sans" panose="020B0606030504020204" pitchFamily="34" charset="0"/>
            </a:endParaRPr>
          </a:p>
          <a:p>
            <a:pPr algn="l"/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【</a:t>
            </a:r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输出样例</a:t>
            </a: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2】</a:t>
            </a:r>
            <a:br>
              <a:rPr lang="en-US" altLang="zh-CN" sz="2400" b="0" i="0" dirty="0">
                <a:effectLst/>
                <a:latin typeface="Open Sans" panose="020B0606030504020204" pitchFamily="34" charset="0"/>
              </a:rPr>
            </a:b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false</a:t>
            </a:r>
            <a:endParaRPr lang="en-US" altLang="zh-CN" sz="2400" b="0" i="0" dirty="0">
              <a:effectLst/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98936" y="229031"/>
            <a:ext cx="5693421" cy="630108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string.h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"false"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59256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出错代码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46" y="1335542"/>
            <a:ext cx="2899346" cy="5271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44" y="2447317"/>
            <a:ext cx="2838696" cy="332260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先找出错测试点，看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上能否复现</a:t>
            </a:r>
            <a:r>
              <a:rPr lang="en-US" altLang="zh-CN" dirty="0">
                <a:solidFill>
                  <a:schemeClr val="tx1"/>
                </a:solidFill>
              </a:rPr>
              <a:t>——</a:t>
            </a:r>
            <a:r>
              <a:rPr lang="zh-CN" altLang="en-US" dirty="0">
                <a:solidFill>
                  <a:schemeClr val="tx1"/>
                </a:solidFill>
              </a:rPr>
              <a:t>能，恭喜，可以在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上调试</a:t>
            </a:r>
            <a:r>
              <a:rPr lang="en-US" altLang="zh-CN" dirty="0">
                <a:solidFill>
                  <a:schemeClr val="tx1"/>
                </a:solidFill>
              </a:rPr>
              <a:t>-&gt;</a:t>
            </a:r>
            <a:r>
              <a:rPr lang="zh-CN" altLang="en-US" dirty="0">
                <a:solidFill>
                  <a:schemeClr val="tx1"/>
                </a:solidFill>
              </a:rPr>
              <a:t>格式化文档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确定输入是否正确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输入正确：错误的是后面的逻辑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输入错误：错误的是输入部分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比较容易判断中间结果的题目：看中间结果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进入第一重</a:t>
            </a:r>
            <a:r>
              <a:rPr lang="en-US" altLang="zh-CN" dirty="0">
                <a:solidFill>
                  <a:schemeClr val="tx1"/>
                </a:solidFill>
              </a:rPr>
              <a:t>for</a:t>
            </a:r>
            <a:r>
              <a:rPr lang="zh-CN" altLang="en-US" dirty="0">
                <a:solidFill>
                  <a:schemeClr val="tx1"/>
                </a:solidFill>
              </a:rPr>
              <a:t>循环中，看一下中间结果：马上发现了问题</a:t>
            </a:r>
            <a:r>
              <a:rPr lang="en-US" altLang="zh-CN" dirty="0">
                <a:solidFill>
                  <a:schemeClr val="tx1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好事！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看看问题出在哪个变量？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顺藤摸瓜，找到相应出问题的变量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按照我的逻辑和想法，应该是什么？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为什么不是我认为的数？是一开始就不是，还是后面才不是的？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和我想法开始不一致的具体语句是哪个？为什么会不一样？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调试举例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 err="1"/>
              <a:t>yoj</a:t>
            </a:r>
            <a:r>
              <a:rPr lang="en-US" altLang="zh-CN" dirty="0"/>
              <a:t> 134 </a:t>
            </a:r>
            <a:r>
              <a:rPr lang="zh-CN" altLang="en-US" dirty="0"/>
              <a:t>猜数字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535837"/>
            <a:ext cx="6670929" cy="4764163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猜数字游戏是文曲星上的一款打发时间的小游戏。游戏的规则是这样的：计算机随机产生一个四位数，然后玩家猜这个四位数是什么。每猜一个数，计算机都会告诉玩家猜对几个数字，其中有几个数字在正确的位置上。 　　比如计算机随机产生的数字为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1122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。如果玩家猜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1234,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因为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1,2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这两个数字同时存在于这两个数中，而且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1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在这两个数中的位置是相同的，所以计算机会告诉玩家猜对了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2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个数字，其中一个在正确的位置。如果玩家猜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1111,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那么计算机会告诉他猜对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2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个数字，有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2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个在正确的位置。 　　现在给你一段猜数字的过程，你的任务是根据这段对话确定这个四位数是什么。</a:t>
            </a:r>
            <a:endParaRPr lang="zh-CN" altLang="en-US" sz="1600" b="0" i="0" dirty="0">
              <a:effectLst/>
              <a:latin typeface="Open Sans" panose="020B060603050402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输入格式</a:t>
            </a:r>
            <a:endParaRPr lang="zh-CN" altLang="en-US" sz="1600" b="0" i="0" dirty="0">
              <a:effectLst/>
              <a:latin typeface="Open Sans" panose="020B060603050402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　　输入第一行为一个正整数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N(1&lt;=N&lt;=10)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，表示在这段对话中共有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次问答（不允许出现重复问答）。在接下来的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行中，每行三个整数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A,B,C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。游戏者猜这个四位数为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A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，然后计算机回答猜对了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B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个数字，其中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C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个在正确的位置上。</a:t>
            </a:r>
            <a:br>
              <a:rPr lang="zh-CN" altLang="en-US" sz="1600" b="0" i="0" dirty="0">
                <a:effectLst/>
                <a:latin typeface="Open Sans" panose="020B0606030504020204" pitchFamily="34" charset="0"/>
              </a:rPr>
            </a:br>
            <a:endParaRPr lang="zh-CN" altLang="en-US" sz="1600" b="0" i="0" dirty="0">
              <a:effectLst/>
              <a:latin typeface="Open Sans" panose="020B060603050402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输出格式</a:t>
            </a:r>
            <a:endParaRPr lang="zh-CN" altLang="en-US" sz="1600" b="0" i="0" dirty="0">
              <a:effectLst/>
              <a:latin typeface="Open Sans" panose="020B060603050402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　　一行，如果根据这段对话能确定这个四位数，则输出这个四位数，若不能，则输出</a:t>
            </a:r>
            <a:r>
              <a:rPr lang="en-US" altLang="zh-CN" sz="1600" b="0" i="0" dirty="0">
                <a:effectLst/>
                <a:latin typeface="Open Sans" panose="020B0606030504020204" pitchFamily="34" charset="0"/>
              </a:rPr>
              <a:t>"Not sure"</a:t>
            </a:r>
            <a:r>
              <a:rPr lang="zh-CN" altLang="en-US" sz="1600" b="0" i="0" dirty="0">
                <a:effectLst/>
                <a:latin typeface="Open Sans" panose="020B0606030504020204" pitchFamily="34" charset="0"/>
              </a:rPr>
              <a:t>。</a:t>
            </a:r>
            <a:br>
              <a:rPr lang="zh-CN" altLang="en-US" sz="1600" b="0" i="0" dirty="0">
                <a:effectLst/>
                <a:latin typeface="Open Sans" panose="020B0606030504020204" pitchFamily="34" charset="0"/>
              </a:rPr>
            </a:br>
            <a:endParaRPr lang="zh-CN" altLang="en-US" sz="1600" b="0" i="0" dirty="0">
              <a:effectLst/>
              <a:latin typeface="Open Sans" panose="020B0606030504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489372" y="2252714"/>
            <a:ext cx="12736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输入样例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6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4815 2 1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5716 1 0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7842 1 0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4901 0 0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8585 3 3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8555 3 2</a:t>
            </a: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pPr algn="l"/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输出样例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3585</a:t>
            </a:r>
            <a:endParaRPr lang="en-US" altLang="zh-CN" b="0" i="0" dirty="0">
              <a:effectLst/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55648"/>
            <a:ext cx="9144000" cy="3757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8215" y="697159"/>
            <a:ext cx="33234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http://yoj.ruc.edu.cn/index.php/teacher/submissions/detail/subno/1206587.html</a:t>
            </a:r>
            <a:endParaRPr lang="en-US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9317680" y="0"/>
            <a:ext cx="57154119" cy="1837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C586C0"/>
                </a:solidFill>
                <a:latin typeface="Consolas" panose="020B0609020204030204" pitchFamily="49" charset="0"/>
              </a:rPr>
              <a:t>待调试代码</a:t>
            </a:r>
            <a:endParaRPr lang="en-US" altLang="zh-CN" dirty="0">
              <a:solidFill>
                <a:srgbClr val="C586C0"/>
              </a:solidFill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9999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record1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sure"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292" y="1295400"/>
            <a:ext cx="8152707" cy="503068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先找出错测试点，看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上能否复现</a:t>
            </a:r>
            <a:r>
              <a:rPr lang="en-US" altLang="zh-CN" dirty="0">
                <a:solidFill>
                  <a:schemeClr val="tx1"/>
                </a:solidFill>
              </a:rPr>
              <a:t>——</a:t>
            </a:r>
            <a:r>
              <a:rPr lang="zh-CN" altLang="en-US" dirty="0">
                <a:solidFill>
                  <a:schemeClr val="tx1"/>
                </a:solidFill>
              </a:rPr>
              <a:t>能，恭喜，可以在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上调试</a:t>
            </a:r>
            <a:r>
              <a:rPr lang="en-US" altLang="zh-CN" dirty="0">
                <a:solidFill>
                  <a:schemeClr val="tx1"/>
                </a:solidFill>
              </a:rPr>
              <a:t>-&gt;</a:t>
            </a:r>
            <a:r>
              <a:rPr lang="zh-CN" altLang="en-US" dirty="0">
                <a:solidFill>
                  <a:schemeClr val="tx1"/>
                </a:solidFill>
              </a:rPr>
              <a:t>格式化文档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确定输入是否正确</a:t>
            </a:r>
            <a:endParaRPr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结果十分异常，没有输出：找到不会输出的分支：在最后加断点，发现</a:t>
            </a:r>
            <a:r>
              <a:rPr lang="en-US" altLang="zh-CN" dirty="0">
                <a:solidFill>
                  <a:schemeClr val="tx1"/>
                </a:solidFill>
              </a:rPr>
              <a:t>record2=0</a:t>
            </a:r>
            <a:r>
              <a:rPr lang="zh-CN" altLang="en-US" dirty="0">
                <a:solidFill>
                  <a:schemeClr val="tx1"/>
                </a:solidFill>
              </a:rPr>
              <a:t>：这种情况没有处理，实际应该是</a:t>
            </a:r>
            <a:r>
              <a:rPr lang="en-US" altLang="zh-CN" dirty="0">
                <a:solidFill>
                  <a:schemeClr val="tx1"/>
                </a:solidFill>
              </a:rPr>
              <a:t>Not sure-&gt;</a:t>
            </a:r>
            <a:r>
              <a:rPr lang="zh-CN" altLang="en-US" dirty="0">
                <a:solidFill>
                  <a:schemeClr val="tx1"/>
                </a:solidFill>
              </a:rPr>
              <a:t>修改代码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92927"/>
            <a:ext cx="9144000" cy="226507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53440" y="881825"/>
            <a:ext cx="9159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http://yoj.ruc.edu.cn/index.php/teacher/submissions/detail/subno/1207373.html</a:t>
            </a:r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57479"/>
            <a:ext cx="9144000" cy="431840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292" y="1295400"/>
            <a:ext cx="8152707" cy="5471160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先找出错测试点，看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上能否复现</a:t>
            </a:r>
            <a:r>
              <a:rPr lang="en-US" altLang="zh-CN" dirty="0">
                <a:solidFill>
                  <a:schemeClr val="tx1"/>
                </a:solidFill>
              </a:rPr>
              <a:t>——</a:t>
            </a:r>
            <a:r>
              <a:rPr lang="zh-CN" altLang="en-US" dirty="0">
                <a:solidFill>
                  <a:schemeClr val="tx1"/>
                </a:solidFill>
              </a:rPr>
              <a:t>不能，但是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上仍然有问题：现在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上调出结果，再看</a:t>
            </a:r>
            <a:r>
              <a:rPr lang="en-US" altLang="zh-CN" dirty="0" err="1">
                <a:solidFill>
                  <a:schemeClr val="tx1"/>
                </a:solidFill>
              </a:rPr>
              <a:t>yoj</a:t>
            </a:r>
            <a:r>
              <a:rPr lang="zh-CN" altLang="en-US" dirty="0">
                <a:solidFill>
                  <a:schemeClr val="tx1"/>
                </a:solidFill>
              </a:rPr>
              <a:t>的情况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确定输入是否正确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有问题：因为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上没有继续输出了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For</a:t>
            </a:r>
            <a:r>
              <a:rPr lang="zh-CN" altLang="en-US" dirty="0">
                <a:solidFill>
                  <a:schemeClr val="tx1"/>
                </a:solidFill>
              </a:rPr>
              <a:t>循环逐轮检查输入结果：发现错误修改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跑结果发现依然不对，结果变为</a:t>
            </a:r>
            <a:r>
              <a:rPr lang="en-US" altLang="zh-CN" dirty="0">
                <a:solidFill>
                  <a:schemeClr val="tx1"/>
                </a:solidFill>
              </a:rPr>
              <a:t>1237</a:t>
            </a:r>
            <a:r>
              <a:rPr lang="zh-CN" altLang="en-US" dirty="0">
                <a:solidFill>
                  <a:schemeClr val="tx1"/>
                </a:solidFill>
              </a:rPr>
              <a:t>，答案为</a:t>
            </a:r>
            <a:r>
              <a:rPr lang="en-US" altLang="zh-CN" dirty="0">
                <a:solidFill>
                  <a:schemeClr val="tx1"/>
                </a:solidFill>
              </a:rPr>
              <a:t>9684</a:t>
            </a:r>
            <a:r>
              <a:rPr lang="zh-CN" altLang="en-US" dirty="0">
                <a:solidFill>
                  <a:schemeClr val="tx1"/>
                </a:solidFill>
              </a:rPr>
              <a:t>，能顺腾摸瓜知道哪里一定错了？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9684</a:t>
            </a:r>
            <a:r>
              <a:rPr lang="zh-CN" altLang="en-US" dirty="0">
                <a:solidFill>
                  <a:schemeClr val="tx1"/>
                </a:solidFill>
              </a:rPr>
              <a:t>对应的循环判断错误（每个数字都符合，我的代码没有）</a:t>
            </a:r>
            <a:r>
              <a:rPr lang="en-US" altLang="zh-CN" dirty="0">
                <a:solidFill>
                  <a:schemeClr val="tx1"/>
                </a:solidFill>
              </a:rPr>
              <a:t>-&gt; </a:t>
            </a:r>
            <a:r>
              <a:rPr lang="zh-CN" altLang="en-US" dirty="0">
                <a:solidFill>
                  <a:schemeClr val="tx1"/>
                </a:solidFill>
              </a:rPr>
              <a:t>答案更清晰，好调试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1237</a:t>
            </a:r>
            <a:r>
              <a:rPr lang="zh-CN" altLang="en-US" dirty="0">
                <a:solidFill>
                  <a:schemeClr val="tx1"/>
                </a:solidFill>
              </a:rPr>
              <a:t>对应的循环判断错误（有数字不符合，我的代码判断为符合）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设置条件断点，或者代码中加入</a:t>
            </a:r>
            <a:r>
              <a:rPr lang="en-US" altLang="zh-CN" dirty="0">
                <a:solidFill>
                  <a:schemeClr val="tx1"/>
                </a:solidFill>
              </a:rPr>
              <a:t>if</a:t>
            </a:r>
            <a:r>
              <a:rPr lang="zh-CN" altLang="en-US" dirty="0">
                <a:solidFill>
                  <a:schemeClr val="tx1"/>
                </a:solidFill>
              </a:rPr>
              <a:t>语句，让我们能够针对性检查</a:t>
            </a:r>
            <a:r>
              <a:rPr lang="en-US" altLang="zh-CN" dirty="0">
                <a:solidFill>
                  <a:schemeClr val="tx1"/>
                </a:solidFill>
              </a:rPr>
              <a:t>9684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05400" y="2168500"/>
            <a:ext cx="3861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条件断点里也是</a:t>
            </a:r>
            <a:r>
              <a:rPr lang="en-US" altLang="zh-CN" sz="2000" dirty="0">
                <a:solidFill>
                  <a:srgbClr val="FF0000"/>
                </a:solidFill>
              </a:rPr>
              <a:t>&amp;&amp;</a:t>
            </a:r>
            <a:r>
              <a:rPr lang="zh-CN" altLang="en-US" sz="2000" dirty="0">
                <a:solidFill>
                  <a:srgbClr val="FF0000"/>
                </a:solidFill>
              </a:rPr>
              <a:t>，而不是逗号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2771511"/>
            <a:ext cx="9144000" cy="203043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63" y="4863870"/>
            <a:ext cx="7087884" cy="187983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看看哪个数被判断错了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没有进循环：</a:t>
            </a:r>
            <a:r>
              <a:rPr lang="en-US" altLang="zh-CN" dirty="0">
                <a:solidFill>
                  <a:schemeClr val="tx1"/>
                </a:solidFill>
              </a:rPr>
              <a:t>for</a:t>
            </a:r>
            <a:r>
              <a:rPr lang="zh-CN" altLang="en-US" dirty="0">
                <a:solidFill>
                  <a:schemeClr val="tx1"/>
                </a:solidFill>
              </a:rPr>
              <a:t>循环有问题，修改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再看：第一个数就被判断错了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再进一步看看错在了具体哪里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sz="2400" dirty="0">
                <a:solidFill>
                  <a:schemeClr val="tx1"/>
                </a:solidFill>
              </a:rPr>
              <a:t>count_in_2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</a:rPr>
              <a:t>count_in_1</a:t>
            </a:r>
            <a:r>
              <a:rPr lang="zh-CN" altLang="en-US" sz="2400" dirty="0">
                <a:solidFill>
                  <a:schemeClr val="tx1"/>
                </a:solidFill>
              </a:rPr>
              <a:t>为</a:t>
            </a:r>
            <a:r>
              <a:rPr lang="en-US" altLang="zh-CN" sz="2400" dirty="0">
                <a:solidFill>
                  <a:schemeClr val="tx1"/>
                </a:solidFill>
              </a:rPr>
              <a:t>1 2</a:t>
            </a:r>
            <a:r>
              <a:rPr lang="zh-CN" altLang="en-US" sz="2400" dirty="0">
                <a:solidFill>
                  <a:schemeClr val="tx1"/>
                </a:solidFill>
              </a:rPr>
              <a:t>，但是应该为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2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2400" dirty="0">
                <a:solidFill>
                  <a:schemeClr val="tx1"/>
                </a:solidFill>
              </a:rPr>
              <a:t>人工看一下，</a:t>
            </a:r>
            <a:r>
              <a:rPr lang="en-US" altLang="zh-CN" sz="2400" dirty="0">
                <a:solidFill>
                  <a:schemeClr val="tx1"/>
                </a:solidFill>
              </a:rPr>
              <a:t>3685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</a:rPr>
              <a:t>9684</a:t>
            </a:r>
            <a:r>
              <a:rPr lang="zh-CN" altLang="en-US" sz="2400" dirty="0">
                <a:solidFill>
                  <a:schemeClr val="tx1"/>
                </a:solidFill>
              </a:rPr>
              <a:t>相比应该就是</a:t>
            </a:r>
            <a:r>
              <a:rPr lang="en-US" altLang="zh-CN" sz="2400" dirty="0">
                <a:solidFill>
                  <a:schemeClr val="tx1"/>
                </a:solidFill>
              </a:rPr>
              <a:t>2 2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检查</a:t>
            </a:r>
            <a:r>
              <a:rPr lang="zh-CN" alt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出错的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count_in_2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2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973" y="274616"/>
            <a:ext cx="3334528" cy="471034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鼠标停到相应的位置，发现这四个数为</a:t>
            </a:r>
            <a:r>
              <a:rPr lang="en-US" altLang="zh-CN" dirty="0">
                <a:solidFill>
                  <a:schemeClr val="tx1"/>
                </a:solidFill>
              </a:rPr>
              <a:t>9696</a:t>
            </a:r>
            <a:r>
              <a:rPr lang="zh-CN" altLang="en-US" dirty="0">
                <a:solidFill>
                  <a:schemeClr val="tx1"/>
                </a:solidFill>
              </a:rPr>
              <a:t>，而不是</a:t>
            </a:r>
            <a:r>
              <a:rPr lang="en-US" altLang="zh-CN" dirty="0">
                <a:solidFill>
                  <a:schemeClr val="tx1"/>
                </a:solidFill>
              </a:rPr>
              <a:t>9684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发现错误，改正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这个问题解决了，还有下个问题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1909" y="274616"/>
            <a:ext cx="4152798" cy="43351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0091" y="5260710"/>
            <a:ext cx="9144000" cy="97038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706" y="431999"/>
            <a:ext cx="7431877" cy="4710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494020"/>
            <a:ext cx="8329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发现问题：</a:t>
            </a:r>
            <a:r>
              <a:rPr lang="en-US" altLang="zh-CN" sz="3200" dirty="0"/>
              <a:t>z</a:t>
            </a:r>
            <a:r>
              <a:rPr lang="zh-CN" altLang="en-US" sz="3200" dirty="0"/>
              <a:t>算了两次 </a:t>
            </a:r>
            <a:r>
              <a:rPr lang="en-US" altLang="zh-CN" sz="3200" dirty="0"/>
              <a:t>=&gt; </a:t>
            </a:r>
            <a:r>
              <a:rPr lang="zh-CN" altLang="en-US" sz="3200" dirty="0"/>
              <a:t>逻辑问题，检查重写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调试举例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编写程序输出直角杨辉三角</a:t>
            </a:r>
            <a:endParaRPr lang="zh-CN" alt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507" y="2504021"/>
            <a:ext cx="4928964" cy="3715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251" y="283386"/>
            <a:ext cx="3133074" cy="2361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785167" y="3777455"/>
            <a:ext cx="2214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看懂代码</a:t>
            </a:r>
            <a:endParaRPr lang="en-US" altLang="zh-CN" sz="2400" dirty="0"/>
          </a:p>
          <a:p>
            <a:r>
              <a:rPr lang="zh-CN" altLang="en-US" sz="2400" dirty="0"/>
              <a:t>调试找出代码中的错误</a:t>
            </a:r>
            <a:endParaRPr lang="en-US" altLang="zh-CN" sz="2400" dirty="0"/>
          </a:p>
          <a:p>
            <a:endParaRPr 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410675" y="283386"/>
            <a:ext cx="5612608" cy="6941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输出杨辉三角前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N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行 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#define N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, j 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a[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a[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(j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j 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a[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][j] = a[i-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][j-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a[i-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a[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(j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j &lt;=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"%-10d"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, a[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][j]);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调试练习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yoj304 </a:t>
            </a:r>
            <a:r>
              <a:rPr lang="zh-CN" altLang="en-US" dirty="0"/>
              <a:t>整数计数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编写一个程序计算整数区间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[a, b]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内，其个位数是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，且能被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k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整除的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m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位正整数共有多少个。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输入格式</a:t>
            </a:r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输入只有一行，输入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5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个整数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b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k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m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，空格分隔，其中：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1≤a≤b≤1,000,000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，且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0≤n, k, m≤9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输出格式</a:t>
            </a:r>
            <a:r>
              <a:rPr lang="en-US" altLang="zh-CN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输出一行，为符合要求的整数个数。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样例输入</a:t>
            </a:r>
            <a:r>
              <a:rPr lang="en-US" altLang="zh-CN" b="1" i="0" dirty="0">
                <a:effectLst/>
                <a:latin typeface="Open Sans" panose="020B0606030504020204" pitchFamily="34" charset="0"/>
              </a:rPr>
              <a:t>1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10 19 1 2 2</a:t>
            </a: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样例输出</a:t>
            </a:r>
            <a:r>
              <a:rPr lang="en-US" altLang="zh-CN" b="1" i="0" dirty="0">
                <a:effectLst/>
                <a:latin typeface="Open Sans" panose="020B0606030504020204" pitchFamily="34" charset="0"/>
              </a:rPr>
              <a:t>1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0</a:t>
            </a: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样例输入</a:t>
            </a:r>
            <a:r>
              <a:rPr lang="en-US" altLang="zh-CN" b="1" i="0" dirty="0">
                <a:effectLst/>
                <a:latin typeface="Open Sans" panose="020B0606030504020204" pitchFamily="34" charset="0"/>
              </a:rPr>
              <a:t>2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10 50 4 2 2</a:t>
            </a: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样例输出</a:t>
            </a:r>
            <a:r>
              <a:rPr lang="en-US" altLang="zh-CN" b="1" i="0" dirty="0">
                <a:effectLst/>
                <a:latin typeface="Open Sans" panose="020B0606030504020204" pitchFamily="34" charset="0"/>
              </a:rPr>
              <a:t>2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4</a:t>
            </a: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43A8ECF-4252-4AAC-B16E-73F7A731E32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需要调试的代码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int main()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{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int a, b;//</a:t>
            </a:r>
            <a:r>
              <a:rPr lang="zh-CN" altLang="en-US" dirty="0"/>
              <a:t>取值范围</a:t>
            </a:r>
            <a:endParaRPr lang="zh-CN" altLang="en-US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    </a:t>
            </a:r>
            <a:r>
              <a:rPr lang="en-US" altLang="zh-CN" dirty="0"/>
              <a:t>int n;//</a:t>
            </a:r>
            <a:r>
              <a:rPr lang="zh-CN" altLang="en-US" dirty="0"/>
              <a:t>个位数</a:t>
            </a:r>
            <a:endParaRPr lang="zh-CN" altLang="en-US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    </a:t>
            </a:r>
            <a:r>
              <a:rPr lang="en-US" altLang="zh-CN" dirty="0"/>
              <a:t>int k;//</a:t>
            </a:r>
            <a:r>
              <a:rPr lang="zh-CN" altLang="en-US" dirty="0"/>
              <a:t>被整除的数</a:t>
            </a:r>
            <a:endParaRPr lang="zh-CN" altLang="en-US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    </a:t>
            </a:r>
            <a:r>
              <a:rPr lang="en-US" altLang="zh-CN" dirty="0"/>
              <a:t>int m;//</a:t>
            </a:r>
            <a:r>
              <a:rPr lang="zh-CN" altLang="en-US" dirty="0"/>
              <a:t>几位数</a:t>
            </a:r>
            <a:endParaRPr lang="zh-CN" altLang="en-US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    </a:t>
            </a:r>
            <a:r>
              <a:rPr lang="en-US" altLang="zh-CN" dirty="0"/>
              <a:t>int j = 0;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int x = 0;//</a:t>
            </a:r>
            <a:r>
              <a:rPr lang="zh-CN" altLang="en-US" dirty="0"/>
              <a:t>个数</a:t>
            </a:r>
            <a:endParaRPr lang="zh-CN" altLang="en-US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    </a:t>
            </a:r>
            <a:r>
              <a:rPr lang="en-US" altLang="zh-CN" dirty="0"/>
              <a:t>int t;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d%d%d%d%d</a:t>
            </a:r>
            <a:r>
              <a:rPr lang="en-US" altLang="zh-CN" dirty="0"/>
              <a:t>", &amp;a, &amp;b, &amp;n, &amp;k, &amp;m);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for (int </a:t>
            </a:r>
            <a:r>
              <a:rPr lang="en-US" altLang="zh-CN" dirty="0" err="1"/>
              <a:t>i</a:t>
            </a:r>
            <a:r>
              <a:rPr lang="en-US" altLang="zh-CN" dirty="0"/>
              <a:t> = a; </a:t>
            </a:r>
            <a:r>
              <a:rPr lang="en-US" altLang="zh-CN" dirty="0" err="1"/>
              <a:t>i</a:t>
            </a:r>
            <a:r>
              <a:rPr lang="en-US" altLang="zh-CN" dirty="0"/>
              <a:t> &lt;= b;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    t 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    while ((t / 10) != 0) {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        </a:t>
            </a:r>
            <a:r>
              <a:rPr lang="en-US" altLang="zh-CN" dirty="0" err="1"/>
              <a:t>j++</a:t>
            </a:r>
            <a:r>
              <a:rPr lang="en-US" altLang="zh-CN" dirty="0"/>
              <a:t>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        t = t / 10;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    }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    if ((j + 1) == m &amp;&amp; (</a:t>
            </a:r>
            <a:r>
              <a:rPr lang="en-US" altLang="zh-CN" dirty="0" err="1"/>
              <a:t>i</a:t>
            </a:r>
            <a:r>
              <a:rPr lang="en-US" altLang="zh-CN" dirty="0"/>
              <a:t> % 10) == n &amp;&amp; (</a:t>
            </a:r>
            <a:r>
              <a:rPr lang="en-US" altLang="zh-CN" dirty="0" err="1"/>
              <a:t>i</a:t>
            </a:r>
            <a:r>
              <a:rPr lang="en-US" altLang="zh-CN" dirty="0"/>
              <a:t> % k) == 0)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        x++;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}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("%d", x);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    return 0;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/>
              <a:t>}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其他类型题目调试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有些题目中间过程没那么容易找到答案，怎么办？</a:t>
            </a:r>
            <a:endParaRPr lang="en-US" altLang="zh-CN" sz="2800" dirty="0"/>
          </a:p>
          <a:p>
            <a:r>
              <a:rPr lang="zh-CN" altLang="en-US" sz="2800" dirty="0"/>
              <a:t>现阶段这些题比较少</a:t>
            </a:r>
            <a:endParaRPr lang="en-US" altLang="zh-CN" sz="2800" dirty="0"/>
          </a:p>
          <a:p>
            <a:r>
              <a:rPr lang="zh-CN" altLang="en-US" sz="2800" dirty="0"/>
              <a:t>也可以在</a:t>
            </a:r>
            <a:r>
              <a:rPr lang="en-US" altLang="zh-CN" sz="2800" dirty="0"/>
              <a:t>for</a:t>
            </a:r>
            <a:r>
              <a:rPr lang="zh-CN" altLang="en-US" sz="2800" dirty="0"/>
              <a:t>循环内部多打印一些结果，发现明显不对的地方，或者看看运行规律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其他方法：换个方式写代码，过一段时间再来看看</a:t>
            </a:r>
            <a:endParaRPr lang="en-US" altLang="zh-CN" sz="2800" dirty="0"/>
          </a:p>
          <a:p>
            <a:r>
              <a:rPr lang="zh-CN" altLang="en-US" sz="2800" dirty="0"/>
              <a:t>灵活，没有一成不变的套路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常见运行及逻辑错误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Runtime error: </a:t>
            </a:r>
            <a:r>
              <a:rPr lang="en-US" altLang="zh-CN" sz="2400" dirty="0" err="1"/>
              <a:t>scanf</a:t>
            </a:r>
            <a:r>
              <a:rPr lang="zh-CN" altLang="en-US" sz="2400" dirty="0"/>
              <a:t>的</a:t>
            </a:r>
            <a:r>
              <a:rPr lang="en-US" altLang="zh-CN" sz="2400" dirty="0"/>
              <a:t>&amp;</a:t>
            </a:r>
            <a:r>
              <a:rPr lang="zh-CN" altLang="en-US" sz="2400" dirty="0"/>
              <a:t>、除零、过大的局部数组变量、数组越界访问</a:t>
            </a:r>
            <a:endParaRPr lang="en-US" altLang="zh-CN" sz="2400" dirty="0"/>
          </a:p>
          <a:p>
            <a:r>
              <a:rPr lang="zh-CN" altLang="en-US" sz="2400" dirty="0"/>
              <a:t>循环的</a:t>
            </a:r>
            <a:r>
              <a:rPr lang="en-US" altLang="zh-CN" sz="2400" dirty="0"/>
              <a:t>{ }</a:t>
            </a:r>
            <a:r>
              <a:rPr lang="zh-CN" altLang="en-US" sz="2400" dirty="0"/>
              <a:t>匹配有问题</a:t>
            </a:r>
            <a:endParaRPr lang="en-US" altLang="zh-CN" sz="2400" dirty="0"/>
          </a:p>
          <a:p>
            <a:r>
              <a:rPr lang="zh-CN" altLang="en-US" sz="2400" dirty="0"/>
              <a:t>用作计数器的变量没有初始化（尤其是循环体中需要重置计数器为</a:t>
            </a:r>
            <a:r>
              <a:rPr lang="en-US" altLang="zh-CN" sz="2400" dirty="0"/>
              <a:t>0</a:t>
            </a:r>
            <a:r>
              <a:rPr lang="zh-CN" altLang="en-US" sz="2400" dirty="0"/>
              <a:t>的情况）</a:t>
            </a:r>
            <a:endParaRPr lang="en-US" altLang="zh-CN" sz="2400" dirty="0"/>
          </a:p>
          <a:p>
            <a:r>
              <a:rPr lang="en-US" sz="2400" dirty="0"/>
              <a:t>==</a:t>
            </a:r>
            <a:r>
              <a:rPr lang="zh-CN" altLang="en-US" sz="2400" dirty="0"/>
              <a:t>操作符 </a:t>
            </a:r>
            <a:r>
              <a:rPr lang="en-US" altLang="zh-CN" sz="2400" dirty="0"/>
              <a:t>vs = </a:t>
            </a:r>
            <a:r>
              <a:rPr lang="zh-CN" altLang="en-US" sz="2400" dirty="0"/>
              <a:t>操作符</a:t>
            </a:r>
            <a:endParaRPr lang="en-US" altLang="zh-CN" sz="2400" dirty="0"/>
          </a:p>
          <a:p>
            <a:r>
              <a:rPr lang="zh-CN" altLang="en-US" sz="2400" dirty="0"/>
              <a:t>变量名混淆：大小写混，局部变量之间混</a:t>
            </a:r>
            <a:endParaRPr lang="en-US" altLang="zh-CN" sz="2400" dirty="0"/>
          </a:p>
          <a:p>
            <a:r>
              <a:rPr lang="zh-CN" altLang="en-US" sz="2400" dirty="0"/>
              <a:t>数组没有初始化</a:t>
            </a:r>
            <a:endParaRPr lang="en-US" altLang="zh-CN" sz="2400" dirty="0"/>
          </a:p>
          <a:p>
            <a:r>
              <a:rPr lang="en-US" altLang="zh-CN" dirty="0"/>
              <a:t>……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yoj</a:t>
            </a:r>
            <a:r>
              <a:rPr lang="zh-CN" altLang="en-US" dirty="0"/>
              <a:t>和</a:t>
            </a:r>
            <a:r>
              <a:rPr lang="en-US" altLang="zh-CN" dirty="0" err="1"/>
              <a:t>vscode</a:t>
            </a:r>
            <a:r>
              <a:rPr lang="zh-CN" altLang="en-US" dirty="0"/>
              <a:t>情况不同的问题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这样的代码还是有问题的，不过在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上没体现出来恰巧绕过了。比如数组越界在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上没遇到大问题，但</a:t>
            </a:r>
            <a:r>
              <a:rPr lang="en-US" altLang="zh-CN" dirty="0" err="1">
                <a:solidFill>
                  <a:schemeClr val="tx1"/>
                </a:solidFill>
              </a:rPr>
              <a:t>yoj</a:t>
            </a:r>
            <a:r>
              <a:rPr lang="zh-CN" altLang="en-US" dirty="0">
                <a:solidFill>
                  <a:schemeClr val="tx1"/>
                </a:solidFill>
              </a:rPr>
              <a:t>上改了不该改的信息，但是大的逻辑应该没啥问题。这种代码可以检查一下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初始化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输入问题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数组越界：比如在每次数组用到之前打印</a:t>
            </a:r>
            <a:r>
              <a:rPr lang="en-US" altLang="zh-CN" dirty="0">
                <a:solidFill>
                  <a:schemeClr val="tx1"/>
                </a:solidFill>
              </a:rPr>
              <a:t>if(index&gt;n || index&lt;0) </a:t>
            </a:r>
            <a:r>
              <a:rPr lang="en-US" altLang="zh-CN" dirty="0" err="1">
                <a:solidFill>
                  <a:schemeClr val="tx1"/>
                </a:solidFill>
              </a:rPr>
              <a:t>printf</a:t>
            </a:r>
            <a:r>
              <a:rPr lang="en-US" altLang="zh-CN" dirty="0">
                <a:solidFill>
                  <a:schemeClr val="tx1"/>
                </a:solidFill>
              </a:rPr>
              <a:t>(“error”)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另外也可以打印一些信息提交到</a:t>
            </a:r>
            <a:r>
              <a:rPr lang="en-US" altLang="zh-CN" dirty="0" err="1">
                <a:solidFill>
                  <a:schemeClr val="tx1"/>
                </a:solidFill>
              </a:rPr>
              <a:t>yoj</a:t>
            </a:r>
            <a:r>
              <a:rPr lang="zh-CN" altLang="en-US" dirty="0">
                <a:solidFill>
                  <a:schemeClr val="tx1"/>
                </a:solidFill>
              </a:rPr>
              <a:t>上看，看看</a:t>
            </a:r>
            <a:r>
              <a:rPr lang="en-US" altLang="zh-CN" dirty="0" err="1">
                <a:solidFill>
                  <a:schemeClr val="tx1"/>
                </a:solidFill>
              </a:rPr>
              <a:t>yoj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 err="1">
                <a:solidFill>
                  <a:schemeClr val="tx1"/>
                </a:solidFill>
              </a:rPr>
              <a:t>vscode</a:t>
            </a:r>
            <a:r>
              <a:rPr lang="zh-CN" altLang="en-US" dirty="0">
                <a:solidFill>
                  <a:schemeClr val="tx1"/>
                </a:solidFill>
              </a:rPr>
              <a:t>什么时候开始不同的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调试概述</a:t>
            </a:r>
            <a:endParaRPr lang="en-US" dirty="0"/>
          </a:p>
        </p:txBody>
      </p:sp>
      <p:sp>
        <p:nvSpPr>
          <p:cNvPr id="102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常见错误类型：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编译错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链接错误（少见）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运行时错误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运行时无错误信息，但执行结果不对</a:t>
            </a:r>
            <a:endParaRPr lang="zh-CN" altLang="en-US" dirty="0">
              <a:solidFill>
                <a:srgbClr val="0070C0"/>
              </a:solidFill>
            </a:endParaRPr>
          </a:p>
          <a:p>
            <a:r>
              <a:rPr lang="zh-CN" altLang="en-US" dirty="0"/>
              <a:t>程序编写完成后，可以根据 </a:t>
            </a:r>
            <a:r>
              <a:rPr lang="en-US" altLang="zh-CN" dirty="0"/>
              <a:t>Output </a:t>
            </a:r>
            <a:r>
              <a:rPr lang="zh-CN" altLang="en-US" dirty="0"/>
              <a:t>窗口中的错误（</a:t>
            </a:r>
            <a:r>
              <a:rPr lang="en-US" altLang="zh-CN" dirty="0"/>
              <a:t>Error</a:t>
            </a:r>
            <a:r>
              <a:rPr lang="zh-CN" altLang="en-US" dirty="0"/>
              <a:t>）、警告（</a:t>
            </a:r>
            <a:r>
              <a:rPr lang="en-US" altLang="zh-CN" dirty="0"/>
              <a:t>Warning</a:t>
            </a:r>
            <a:r>
              <a:rPr lang="zh-CN" altLang="en-US" dirty="0"/>
              <a:t>）信息来修改程序，直到没有错误（最好也不再有警告信息，因为警告往往会是隐含的错误）。</a:t>
            </a:r>
            <a:endParaRPr lang="zh-CN" altLang="en-US" dirty="0"/>
          </a:p>
          <a:p>
            <a:r>
              <a:rPr lang="zh-CN" altLang="en-US" dirty="0"/>
              <a:t>程序编译链接通过，并不等于就正确了，可能在运行时发生错误，造成错误或死机，也可能出现错误的结果，这时候需要检查源程序，找到错误，并进行修改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0000"/>
                </a:solidFill>
              </a:rPr>
              <a:t>程序调试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输出调试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断点调试</a:t>
            </a:r>
            <a:endParaRPr lang="en-US" altLang="zh-CN" dirty="0">
              <a:solidFill>
                <a:srgbClr val="0070C0"/>
              </a:solidFill>
            </a:endParaRPr>
          </a:p>
          <a:p>
            <a:pPr lvl="2"/>
            <a:r>
              <a:rPr lang="zh-CN" altLang="en-US" b="1" dirty="0"/>
              <a:t>断点调试</a:t>
            </a:r>
            <a:r>
              <a:rPr lang="zh-CN" altLang="en-US" dirty="0"/>
              <a:t>是指自己在程序的某一行设置一个</a:t>
            </a:r>
            <a:r>
              <a:rPr lang="zh-CN" altLang="en-US" b="1" dirty="0">
                <a:solidFill>
                  <a:srgbClr val="FF0000"/>
                </a:solidFill>
              </a:rPr>
              <a:t>断点</a:t>
            </a:r>
            <a:r>
              <a:rPr lang="zh-CN" altLang="en-US" dirty="0"/>
              <a:t>，可以控制程序运行到断点这一行停住，接下来你可以控制程序的运行，一步一步地执行，或者一段一段地执行，在这个执行过程中，可以看各个变量当前的值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1550" y="1164132"/>
            <a:ext cx="5443800" cy="2640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调试</a:t>
            </a:r>
            <a:r>
              <a:rPr lang="zh-CN" altLang="en-US"/>
              <a:t>练习：</a:t>
            </a:r>
            <a:r>
              <a:rPr lang="zh-CN" altLang="en-US" dirty="0"/>
              <a:t>冒泡排序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11986"/>
          <a:stretch>
            <a:fillRect/>
          </a:stretch>
        </p:blipFill>
        <p:spPr>
          <a:xfrm>
            <a:off x="3906065" y="5018975"/>
            <a:ext cx="4917113" cy="152795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079" y="1371123"/>
            <a:ext cx="7789056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#define SIZE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SIZE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i,j,n,tmp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&gt;&gt; n;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++)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//input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&gt;&gt;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sorting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 n 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++){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(j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 j &lt; n -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 j ++){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[j] &gt;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[j+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]){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[j];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[j]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[j+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[j+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}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           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output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++)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   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   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10378</Words>
  <Application>WPS 演示</Application>
  <PresentationFormat>On-screen Show (4:3)</PresentationFormat>
  <Paragraphs>668</Paragraphs>
  <Slides>55</Slides>
  <Notes>12</Notes>
  <HiddenSlides>2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3" baseType="lpstr">
      <vt:lpstr>Arial</vt:lpstr>
      <vt:lpstr>宋体</vt:lpstr>
      <vt:lpstr>Wingdings</vt:lpstr>
      <vt:lpstr>Calibri</vt:lpstr>
      <vt:lpstr>Consolas</vt:lpstr>
      <vt:lpstr>Calibri Light</vt:lpstr>
      <vt:lpstr>微软雅黑</vt:lpstr>
      <vt:lpstr>微软雅黑 Light</vt:lpstr>
      <vt:lpstr>Arial Unicode MS</vt:lpstr>
      <vt:lpstr>等线</vt:lpstr>
      <vt:lpstr>Rockwell</vt:lpstr>
      <vt:lpstr>方正姚体</vt:lpstr>
      <vt:lpstr>Lato</vt:lpstr>
      <vt:lpstr>Open Sans</vt:lpstr>
      <vt:lpstr>Fira Mono</vt:lpstr>
      <vt:lpstr>Yu Gothic UI</vt:lpstr>
      <vt:lpstr>Segoe Print</vt:lpstr>
      <vt:lpstr>课程PPT模板</vt:lpstr>
      <vt:lpstr>13. 程序调试	</vt:lpstr>
      <vt:lpstr>调试（debug）</vt:lpstr>
      <vt:lpstr>4种错误类型</vt:lpstr>
      <vt:lpstr>错误1：编译错误</vt:lpstr>
      <vt:lpstr>错误1：编译错误</vt:lpstr>
      <vt:lpstr>错误2：链接错误（少见）</vt:lpstr>
      <vt:lpstr>错误3：运行错误</vt:lpstr>
      <vt:lpstr>这个程序为什么报runtime error？</vt:lpstr>
      <vt:lpstr>这个程序为什么报runtime error？</vt:lpstr>
      <vt:lpstr>这个程序为什么报runtime error？</vt:lpstr>
      <vt:lpstr>这个程序为什么报runtime error？</vt:lpstr>
      <vt:lpstr>这个程序为什么报runtime error？</vt:lpstr>
      <vt:lpstr>这个程序为什么报runtime error？</vt:lpstr>
      <vt:lpstr>PowerPoint 演示文稿</vt:lpstr>
      <vt:lpstr>Tips</vt:lpstr>
      <vt:lpstr>4种错误类型</vt:lpstr>
      <vt:lpstr>错误4：逻辑错误</vt:lpstr>
      <vt:lpstr>答案错了（Wrong Answer），怎么办？</vt:lpstr>
      <vt:lpstr>答案错了（Wrong Answer），怎么办？</vt:lpstr>
      <vt:lpstr>第一步：发现出错的数据</vt:lpstr>
      <vt:lpstr>调试遇到的问题</vt:lpstr>
      <vt:lpstr>第二步，发现出错的代码</vt:lpstr>
      <vt:lpstr>第二步，发现出错的代码</vt:lpstr>
      <vt:lpstr>调试工具</vt:lpstr>
      <vt:lpstr>Vs code调试</vt:lpstr>
      <vt:lpstr>Vs code调试环境</vt:lpstr>
      <vt:lpstr>设置断点</vt:lpstr>
      <vt:lpstr>调试步骤</vt:lpstr>
      <vt:lpstr>调试过程</vt:lpstr>
      <vt:lpstr>查看变量</vt:lpstr>
      <vt:lpstr>控制程序执行</vt:lpstr>
      <vt:lpstr>条件断点</vt:lpstr>
      <vt:lpstr>调试小技巧</vt:lpstr>
      <vt:lpstr>调试小技巧</vt:lpstr>
      <vt:lpstr>调试举例1：#160. 字符串移位包含</vt:lpstr>
      <vt:lpstr>出错代码</vt:lpstr>
      <vt:lpstr>思路</vt:lpstr>
      <vt:lpstr>调试举例5：yoj 134 猜数字</vt:lpstr>
      <vt:lpstr>PowerPoint 演示文稿</vt:lpstr>
      <vt:lpstr>思路</vt:lpstr>
      <vt:lpstr>PowerPoint 演示文稿</vt:lpstr>
      <vt:lpstr>思路</vt:lpstr>
      <vt:lpstr>思路</vt:lpstr>
      <vt:lpstr>思路</vt:lpstr>
      <vt:lpstr>PowerPoint 演示文稿</vt:lpstr>
      <vt:lpstr>PowerPoint 演示文稿</vt:lpstr>
      <vt:lpstr>调试举例3：</vt:lpstr>
      <vt:lpstr>PowerPoint 演示文稿</vt:lpstr>
      <vt:lpstr>调试练习4：yoj304 整数计数</vt:lpstr>
      <vt:lpstr>需要调试的代码</vt:lpstr>
      <vt:lpstr>其他类型题目调试</vt:lpstr>
      <vt:lpstr>常见运行及逻辑错误</vt:lpstr>
      <vt:lpstr>yoj和vscode情况不同的问题</vt:lpstr>
      <vt:lpstr>调试概述</vt:lpstr>
      <vt:lpstr>调试练习：冒泡排序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1305</cp:revision>
  <dcterms:created xsi:type="dcterms:W3CDTF">2020-10-14T02:47:00Z</dcterms:created>
  <dcterms:modified xsi:type="dcterms:W3CDTF">2025-10-23T02:08:26Z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07287A9D27374BEE818A1F6CF74B6D68</vt:lpwstr>
  </property>
  <property fmtid="{D5CDD505-2E9C-101B-9397-08002B2CF9AE}" pid="3" name="KSOProductBuildVer">
    <vt:lpwstr>2052-11.1.0.12173</vt:lpwstr>
  </property>
</Properties>
</file>