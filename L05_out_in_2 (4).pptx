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1092" r:id="rId3"/>
    <p:sldId id="1109" r:id="rId5"/>
    <p:sldId id="1113" r:id="rId6"/>
    <p:sldId id="1114" r:id="rId7"/>
    <p:sldId id="836" r:id="rId8"/>
    <p:sldId id="839" r:id="rId9"/>
    <p:sldId id="1110" r:id="rId10"/>
    <p:sldId id="1116" r:id="rId11"/>
    <p:sldId id="1115" r:id="rId12"/>
    <p:sldId id="488" r:id="rId13"/>
    <p:sldId id="1105" r:id="rId14"/>
    <p:sldId id="1117" r:id="rId15"/>
    <p:sldId id="1145" r:id="rId16"/>
    <p:sldId id="842" r:id="rId17"/>
    <p:sldId id="1143" r:id="rId18"/>
    <p:sldId id="1107" r:id="rId19"/>
    <p:sldId id="1120" r:id="rId20"/>
    <p:sldId id="1125" r:id="rId21"/>
    <p:sldId id="1102" r:id="rId22"/>
    <p:sldId id="1135" r:id="rId23"/>
    <p:sldId id="1136" r:id="rId24"/>
    <p:sldId id="1138" r:id="rId25"/>
    <p:sldId id="1142" r:id="rId26"/>
    <p:sldId id="1139" r:id="rId27"/>
    <p:sldId id="1141" r:id="rId28"/>
    <p:sldId id="489" r:id="rId29"/>
    <p:sldId id="1106" r:id="rId30"/>
    <p:sldId id="1124" r:id="rId31"/>
    <p:sldId id="1146" r:id="rId32"/>
    <p:sldId id="1148" r:id="rId33"/>
    <p:sldId id="1119" r:id="rId34"/>
    <p:sldId id="1149" r:id="rId35"/>
    <p:sldId id="1147" r:id="rId36"/>
    <p:sldId id="1150" r:id="rId37"/>
    <p:sldId id="1151" r:id="rId38"/>
    <p:sldId id="1152" r:id="rId39"/>
    <p:sldId id="1153" r:id="rId40"/>
    <p:sldId id="1103" r:id="rId41"/>
    <p:sldId id="843" r:id="rId42"/>
    <p:sldId id="1154" r:id="rId43"/>
    <p:sldId id="1111" r:id="rId44"/>
    <p:sldId id="868" r:id="rId45"/>
    <p:sldId id="112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ting Wang" initials="X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B1340D"/>
    <a:srgbClr val="0000FF"/>
    <a:srgbClr val="E67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8" autoAdjust="0"/>
    <p:restoredTop sz="71311" autoAdjust="0"/>
  </p:normalViewPr>
  <p:slideViewPr>
    <p:cSldViewPr snapToGrid="0">
      <p:cViewPr varScale="1">
        <p:scale>
          <a:sx n="61" d="100"/>
          <a:sy n="61" d="100"/>
        </p:scale>
        <p:origin x="211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课上练习：</a:t>
            </a:r>
            <a:r>
              <a:rPr lang="en-US" altLang="zh-CN" dirty="0"/>
              <a:t>1535,</a:t>
            </a:r>
            <a:r>
              <a:rPr lang="zh-CN" altLang="en-US" dirty="0"/>
              <a:t> </a:t>
            </a:r>
            <a:r>
              <a:rPr lang="en-US" altLang="zh-CN" dirty="0"/>
              <a:t>6,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课下作业：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上机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zh-CN" altLang="en-US" dirty="0"/>
              <a:t>：函数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Hello World</a:t>
            </a:r>
            <a:r>
              <a:rPr lang="zh-CN" altLang="en-US" dirty="0"/>
              <a:t>”要加双引号</a:t>
            </a:r>
            <a:endParaRPr lang="en-US" altLang="zh-CN" dirty="0"/>
          </a:p>
          <a:p>
            <a:r>
              <a:rPr lang="en-US" altLang="zh-CN" dirty="0"/>
              <a:t>std:</a:t>
            </a:r>
            <a:r>
              <a:rPr lang="zh-CN" altLang="en-US" dirty="0"/>
              <a:t>标准</a:t>
            </a:r>
            <a:r>
              <a:rPr lang="en-US" altLang="zh-CN" dirty="0"/>
              <a:t>,standard</a:t>
            </a:r>
            <a:r>
              <a:rPr lang="zh-CN" altLang="en-US" dirty="0"/>
              <a:t>的缩写</a:t>
            </a:r>
            <a:endParaRPr lang="en-US" altLang="zh-CN" dirty="0"/>
          </a:p>
          <a:p>
            <a:r>
              <a:rPr lang="en-US" altLang="zh-CN" dirty="0" err="1"/>
              <a:t>io:in</a:t>
            </a:r>
            <a:r>
              <a:rPr lang="en-US" altLang="zh-CN" dirty="0"/>
              <a:t> out</a:t>
            </a:r>
            <a:r>
              <a:rPr lang="zh-CN" altLang="en-US" dirty="0"/>
              <a:t>输入输出的缩写</a:t>
            </a:r>
            <a:endParaRPr lang="en-US" altLang="zh-CN" dirty="0"/>
          </a:p>
          <a:p>
            <a:r>
              <a:rPr lang="en-US" altLang="zh-CN" dirty="0" err="1"/>
              <a:t>stdio.h</a:t>
            </a:r>
            <a:r>
              <a:rPr lang="en-US" altLang="zh-CN" dirty="0"/>
              <a:t> </a:t>
            </a:r>
            <a:r>
              <a:rPr lang="zh-CN" altLang="en-US" dirty="0"/>
              <a:t>进行标准输入输出时需要用到的“库”，我们叫头文件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c++</a:t>
            </a:r>
            <a:r>
              <a:rPr lang="zh-CN" altLang="en-US" dirty="0"/>
              <a:t>语句（如</a:t>
            </a:r>
            <a:r>
              <a:rPr lang="en-US" altLang="zh-CN" dirty="0" err="1"/>
              <a:t>cin</a:t>
            </a:r>
            <a:r>
              <a:rPr lang="zh-CN" altLang="en-US" dirty="0"/>
              <a:t>）和</a:t>
            </a:r>
            <a:r>
              <a:rPr lang="en-US" altLang="zh-CN" dirty="0"/>
              <a:t>c</a:t>
            </a:r>
            <a:r>
              <a:rPr lang="zh-CN" altLang="en-US" dirty="0"/>
              <a:t>语句（如</a:t>
            </a:r>
            <a:r>
              <a:rPr lang="en-US" altLang="zh-CN" dirty="0" err="1"/>
              <a:t>printf</a:t>
            </a:r>
            <a:r>
              <a:rPr lang="zh-CN" altLang="en-US" dirty="0"/>
              <a:t>可以同时使用）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复杂但功能强大，实现复现复杂功能的时候快</a:t>
            </a:r>
            <a:endParaRPr lang="zh-CN" altLang="en-US" dirty="0"/>
          </a:p>
          <a:p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en-US" altLang="zh-CN" dirty="0"/>
              <a:t> a</a:t>
            </a:r>
            <a:r>
              <a:rPr lang="zh-CN" altLang="en-US" dirty="0"/>
              <a:t>也可以用</a:t>
            </a:r>
            <a:r>
              <a:rPr lang="en-US" altLang="zh-CN" dirty="0"/>
              <a:t>%x %X</a:t>
            </a:r>
            <a:r>
              <a:rPr lang="zh-CN" altLang="en-US" dirty="0"/>
              <a:t>打印十六进制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</a:t>
            </a:r>
            <a:endParaRPr lang="en-US" altLang="zh-CN" dirty="0"/>
          </a:p>
          <a:p>
            <a:r>
              <a:rPr lang="en-US" altLang="zh-CN" dirty="0"/>
              <a:t>%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也是整数的意思</a:t>
            </a:r>
            <a:endParaRPr lang="en-US" altLang="zh-CN" dirty="0"/>
          </a:p>
          <a:p>
            <a:r>
              <a:rPr lang="en-US" altLang="zh-CN" dirty="0"/>
              <a:t>%u unsigned</a:t>
            </a:r>
            <a:r>
              <a:rPr lang="zh-CN" altLang="en-US" dirty="0"/>
              <a:t>应该输出没有负数</a:t>
            </a:r>
            <a:endParaRPr lang="en-US" altLang="zh-CN" dirty="0"/>
          </a:p>
          <a:p>
            <a:r>
              <a:rPr lang="en-US" altLang="zh-CN" dirty="0"/>
              <a:t>%o </a:t>
            </a:r>
            <a:r>
              <a:rPr lang="zh-CN" altLang="en-US" dirty="0"/>
              <a:t>八进制，两个</a:t>
            </a:r>
            <a:r>
              <a:rPr lang="en-US" altLang="zh-CN" dirty="0"/>
              <a:t>x</a:t>
            </a:r>
            <a:r>
              <a:rPr lang="zh-CN" altLang="en-US" dirty="0"/>
              <a:t>都是十六进制 </a:t>
            </a:r>
            <a:r>
              <a:rPr lang="en-US" altLang="zh-CN" dirty="0"/>
              <a:t>– </a:t>
            </a:r>
            <a:r>
              <a:rPr lang="zh-CN" altLang="en-US" dirty="0"/>
              <a:t>大小写（查，试都可以）</a:t>
            </a:r>
            <a:endParaRPr lang="en-US" altLang="zh-CN" dirty="0"/>
          </a:p>
          <a:p>
            <a:r>
              <a:rPr lang="en-US" altLang="zh-CN" dirty="0"/>
              <a:t>.mf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dirty="0"/>
              <a:t>是数字（四舍五入）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?%e, %E</a:t>
            </a:r>
            <a:r>
              <a:rPr lang="zh-CN" altLang="en-US" dirty="0"/>
              <a:t>是科学计数法</a:t>
            </a:r>
            <a:endParaRPr lang="en-US" altLang="zh-CN" dirty="0"/>
          </a:p>
          <a:p>
            <a:r>
              <a:rPr lang="en-US" altLang="zh-CN" dirty="0"/>
              <a:t>Char</a:t>
            </a:r>
            <a:r>
              <a:rPr lang="zh-CN" altLang="en-US" dirty="0"/>
              <a:t>里面的内容强制转换为</a:t>
            </a:r>
            <a:r>
              <a:rPr lang="en-US" altLang="zh-CN" dirty="0"/>
              <a:t>int</a:t>
            </a:r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int</a:t>
            </a:r>
            <a:r>
              <a:rPr lang="zh-CN" altLang="en-US" dirty="0"/>
              <a:t>转换为</a:t>
            </a:r>
            <a:r>
              <a:rPr lang="en-US" altLang="zh-CN" dirty="0"/>
              <a:t>char</a:t>
            </a:r>
            <a:r>
              <a:rPr lang="zh-CN" altLang="en-US" dirty="0"/>
              <a:t>行不行？会，但是会丢信息</a:t>
            </a:r>
            <a:endParaRPr lang="en-US" altLang="zh-CN" dirty="0"/>
          </a:p>
          <a:p>
            <a:r>
              <a:rPr lang="en-US" altLang="zh-CN" dirty="0"/>
              <a:t>10.2f -&gt; </a:t>
            </a:r>
            <a:r>
              <a:rPr lang="zh-CN" altLang="en-US" dirty="0"/>
              <a:t>一共占十个字符的宽度（自己回去看）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</a:t>
            </a:r>
            <a:endParaRPr lang="en-US" altLang="zh-CN" dirty="0"/>
          </a:p>
          <a:p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zh-CN" altLang="en-US" dirty="0"/>
              <a:t>不能用</a:t>
            </a:r>
            <a:r>
              <a:rPr lang="en-US" altLang="zh-CN" dirty="0"/>
              <a:t>%d</a:t>
            </a:r>
            <a:r>
              <a:rPr lang="zh-CN" altLang="en-US" dirty="0"/>
              <a:t>输出</a:t>
            </a:r>
            <a:r>
              <a:rPr lang="en-US" altLang="zh-CN" dirty="0"/>
              <a:t> -&gt; %</a:t>
            </a:r>
            <a:r>
              <a:rPr lang="en-US" altLang="zh-CN" dirty="0" err="1"/>
              <a:t>lld</a:t>
            </a:r>
            <a:endParaRPr lang="en-US" altLang="zh-CN" dirty="0"/>
          </a:p>
          <a:p>
            <a:r>
              <a:rPr lang="zh-CN" altLang="en-US" dirty="0"/>
              <a:t>自己回去试一下</a:t>
            </a:r>
            <a:endParaRPr lang="en-US" altLang="zh-CN" dirty="0"/>
          </a:p>
          <a:p>
            <a:r>
              <a:rPr lang="zh-CN" altLang="en-US" dirty="0"/>
              <a:t>连续两个百分号才能输出一个百分号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%010d: </a:t>
            </a:r>
            <a:r>
              <a:rPr lang="zh-CN" altLang="en-US" dirty="0"/>
              <a:t>默认填充字符变成了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复杂但功能强大，快</a:t>
            </a:r>
            <a:endParaRPr lang="en-US" altLang="zh-CN" dirty="0"/>
          </a:p>
          <a:p>
            <a:r>
              <a:rPr lang="zh-CN" altLang="en-US" dirty="0"/>
              <a:t>容易错，</a:t>
            </a:r>
            <a:r>
              <a:rPr lang="en-US" altLang="zh-CN" dirty="0"/>
              <a:t>debug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/>
              <a:t>跳过输入的分隔字符</a:t>
            </a:r>
            <a:endParaRPr lang="zh-CN" altLang="en-US" sz="12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-----------------------------</a:t>
            </a:r>
            <a:endParaRPr lang="en-US" altLang="zh-CN" dirty="0"/>
          </a:p>
          <a:p>
            <a:r>
              <a:rPr lang="zh-CN" altLang="en-US" dirty="0"/>
              <a:t>如果不告诉</a:t>
            </a:r>
            <a:r>
              <a:rPr lang="en-US" altLang="zh-CN" dirty="0" err="1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scanf</a:t>
            </a:r>
            <a:r>
              <a:rPr lang="zh-CN" altLang="en-US" dirty="0"/>
              <a:t>是不是没法理解？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”还是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的读入速度比</a:t>
            </a:r>
            <a:r>
              <a:rPr lang="en-US" altLang="zh-CN" dirty="0" err="1"/>
              <a:t>cin</a:t>
            </a:r>
            <a:r>
              <a:rPr lang="zh-CN" altLang="en-US" dirty="0"/>
              <a:t>快好多好多</a:t>
            </a:r>
            <a:endParaRPr lang="en-US" altLang="zh-CN" dirty="0"/>
          </a:p>
          <a:p>
            <a:r>
              <a:rPr lang="zh-CN" altLang="en-US" dirty="0"/>
              <a:t>如果数据量级特别大</a:t>
            </a:r>
            <a:r>
              <a:rPr lang="en-US" altLang="zh-CN" dirty="0"/>
              <a:t>10^5, 10^6</a:t>
            </a:r>
            <a:r>
              <a:rPr lang="zh-CN" altLang="en-US" dirty="0"/>
              <a:t>量级，可能用</a:t>
            </a:r>
            <a:r>
              <a:rPr lang="en-US" altLang="zh-CN" dirty="0" err="1"/>
              <a:t>scanf</a:t>
            </a:r>
            <a:r>
              <a:rPr lang="zh-CN" altLang="en-US" dirty="0"/>
              <a:t>好；</a:t>
            </a:r>
            <a:endParaRPr lang="en-US" altLang="zh-CN" dirty="0"/>
          </a:p>
          <a:p>
            <a:r>
              <a:rPr lang="zh-CN" altLang="en-US" dirty="0"/>
              <a:t>个别题目 </a:t>
            </a:r>
            <a:r>
              <a:rPr lang="en-US" altLang="zh-CN" dirty="0"/>
              <a:t>– </a:t>
            </a:r>
            <a:r>
              <a:rPr lang="zh-CN" altLang="en-US" dirty="0"/>
              <a:t>所有事情都是双面的。</a:t>
            </a:r>
            <a:endParaRPr lang="en-US" altLang="zh-CN" dirty="0"/>
          </a:p>
          <a:p>
            <a:r>
              <a:rPr lang="en-US" altLang="zh-CN" dirty="0" err="1"/>
              <a:t>printf</a:t>
            </a:r>
            <a:r>
              <a:rPr lang="zh-CN" altLang="en-US" dirty="0"/>
              <a:t>也快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需要匹配，所以慢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：取地址符</a:t>
            </a:r>
            <a:endParaRPr lang="en-US" altLang="zh-CN" dirty="0"/>
          </a:p>
          <a:p>
            <a:r>
              <a:rPr lang="zh-CN" altLang="en-US" dirty="0"/>
              <a:t>如果没有写地址符 </a:t>
            </a:r>
            <a:r>
              <a:rPr lang="en-US" altLang="zh-CN" dirty="0"/>
              <a:t>-&gt; 100 </a:t>
            </a:r>
            <a:r>
              <a:rPr lang="zh-CN" altLang="en-US" dirty="0"/>
              <a:t>是什么后果？</a:t>
            </a:r>
            <a:endParaRPr lang="en-US" altLang="zh-CN" dirty="0"/>
          </a:p>
          <a:p>
            <a:r>
              <a:rPr lang="en-US" altLang="zh-CN" dirty="0"/>
              <a:t>Num</a:t>
            </a:r>
            <a:r>
              <a:rPr lang="zh-CN" altLang="en-US" dirty="0"/>
              <a:t>是个</a:t>
            </a:r>
            <a:r>
              <a:rPr lang="en-US" altLang="zh-CN" dirty="0"/>
              <a:t>char</a:t>
            </a:r>
            <a:r>
              <a:rPr lang="zh-CN" altLang="en-US" dirty="0"/>
              <a:t>也是个数值</a:t>
            </a:r>
            <a:endParaRPr lang="en-US" altLang="zh-CN" dirty="0"/>
          </a:p>
          <a:p>
            <a:r>
              <a:rPr lang="zh-CN" altLang="en-US" dirty="0"/>
              <a:t>不能省 </a:t>
            </a:r>
            <a:r>
              <a:rPr lang="en-US" altLang="zh-CN" dirty="0"/>
              <a:t>– </a:t>
            </a:r>
            <a:r>
              <a:rPr lang="zh-CN" altLang="en-US" dirty="0"/>
              <a:t>自己做出错，预习就要预习得</a:t>
            </a:r>
            <a:r>
              <a:rPr lang="zh-CN" altLang="en-US" b="1" dirty="0"/>
              <a:t>透彻</a:t>
            </a:r>
            <a:r>
              <a:rPr lang="zh-CN" altLang="en-US" dirty="0"/>
              <a:t>一些。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%s</a:t>
            </a:r>
            <a:r>
              <a:rPr lang="zh-CN" altLang="en-US" dirty="0"/>
              <a:t>一定要声明一个数组变量 </a:t>
            </a:r>
            <a:r>
              <a:rPr lang="en-US" altLang="zh-CN" dirty="0"/>
              <a:t>– </a:t>
            </a:r>
            <a:r>
              <a:rPr lang="zh-CN" altLang="en-US" dirty="0"/>
              <a:t>开得足够大，数组没讲，死记硬背背下来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复杂但功能强大，快</a:t>
            </a:r>
            <a:endParaRPr lang="en-US" altLang="zh-CN" dirty="0"/>
          </a:p>
          <a:p>
            <a:r>
              <a:rPr lang="zh-CN" altLang="en-US" dirty="0"/>
              <a:t>容易错，</a:t>
            </a:r>
            <a:r>
              <a:rPr lang="en-US" altLang="zh-CN" dirty="0"/>
              <a:t>debug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-----------------------------</a:t>
            </a:r>
            <a:endParaRPr lang="en-US" altLang="zh-CN" dirty="0"/>
          </a:p>
          <a:p>
            <a:r>
              <a:rPr lang="zh-CN" altLang="en-US" dirty="0"/>
              <a:t>如果不告诉</a:t>
            </a:r>
            <a:r>
              <a:rPr lang="en-US" altLang="zh-CN" dirty="0" err="1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scanf</a:t>
            </a:r>
            <a:r>
              <a:rPr lang="zh-CN" altLang="en-US" dirty="0"/>
              <a:t>是不是没法理解？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”还是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的读入速度比</a:t>
            </a:r>
            <a:r>
              <a:rPr lang="en-US" altLang="zh-CN" dirty="0" err="1"/>
              <a:t>cin</a:t>
            </a:r>
            <a:r>
              <a:rPr lang="zh-CN" altLang="en-US" dirty="0"/>
              <a:t>快好多好多</a:t>
            </a:r>
            <a:endParaRPr lang="en-US" altLang="zh-CN" dirty="0"/>
          </a:p>
          <a:p>
            <a:r>
              <a:rPr lang="zh-CN" altLang="en-US" dirty="0"/>
              <a:t>如果数据量级特别大</a:t>
            </a:r>
            <a:r>
              <a:rPr lang="en-US" altLang="zh-CN" dirty="0"/>
              <a:t>10^5, 10^6</a:t>
            </a:r>
            <a:r>
              <a:rPr lang="zh-CN" altLang="en-US" dirty="0"/>
              <a:t>量级，可能用</a:t>
            </a:r>
            <a:r>
              <a:rPr lang="en-US" altLang="zh-CN" dirty="0" err="1"/>
              <a:t>scanf</a:t>
            </a:r>
            <a:r>
              <a:rPr lang="zh-CN" altLang="en-US" dirty="0"/>
              <a:t>好；</a:t>
            </a:r>
            <a:endParaRPr lang="en-US" altLang="zh-CN" dirty="0"/>
          </a:p>
          <a:p>
            <a:r>
              <a:rPr lang="zh-CN" altLang="en-US" dirty="0"/>
              <a:t>个别题目 </a:t>
            </a:r>
            <a:r>
              <a:rPr lang="en-US" altLang="zh-CN" dirty="0"/>
              <a:t>– </a:t>
            </a:r>
            <a:r>
              <a:rPr lang="zh-CN" altLang="en-US" dirty="0"/>
              <a:t>所有事情都是双面的。</a:t>
            </a:r>
            <a:endParaRPr lang="en-US" altLang="zh-CN" dirty="0"/>
          </a:p>
          <a:p>
            <a:r>
              <a:rPr lang="en-US" altLang="zh-CN" dirty="0" err="1"/>
              <a:t>printf</a:t>
            </a:r>
            <a:r>
              <a:rPr lang="zh-CN" altLang="en-US" dirty="0"/>
              <a:t>也快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需要匹配，所以慢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：取地址符</a:t>
            </a:r>
            <a:endParaRPr lang="en-US" altLang="zh-CN" dirty="0"/>
          </a:p>
          <a:p>
            <a:r>
              <a:rPr lang="zh-CN" altLang="en-US" dirty="0"/>
              <a:t>如果没有写地址符 </a:t>
            </a:r>
            <a:r>
              <a:rPr lang="en-US" altLang="zh-CN" dirty="0"/>
              <a:t>-&gt; 100 </a:t>
            </a:r>
            <a:r>
              <a:rPr lang="zh-CN" altLang="en-US" dirty="0"/>
              <a:t>是什么后果？</a:t>
            </a:r>
            <a:endParaRPr lang="en-US" altLang="zh-CN" dirty="0"/>
          </a:p>
          <a:p>
            <a:r>
              <a:rPr lang="en-US" altLang="zh-CN" dirty="0"/>
              <a:t>Num</a:t>
            </a:r>
            <a:r>
              <a:rPr lang="zh-CN" altLang="en-US" dirty="0"/>
              <a:t>是个</a:t>
            </a:r>
            <a:r>
              <a:rPr lang="en-US" altLang="zh-CN" dirty="0"/>
              <a:t>char</a:t>
            </a:r>
            <a:r>
              <a:rPr lang="zh-CN" altLang="en-US" dirty="0"/>
              <a:t>也是个数值</a:t>
            </a:r>
            <a:endParaRPr lang="en-US" altLang="zh-CN" dirty="0"/>
          </a:p>
          <a:p>
            <a:r>
              <a:rPr lang="zh-CN" altLang="en-US" dirty="0"/>
              <a:t>不能省 </a:t>
            </a:r>
            <a:r>
              <a:rPr lang="en-US" altLang="zh-CN" dirty="0"/>
              <a:t>– </a:t>
            </a:r>
            <a:r>
              <a:rPr lang="zh-CN" altLang="en-US" dirty="0"/>
              <a:t>自己做出错，预习就要预习得</a:t>
            </a:r>
            <a:r>
              <a:rPr lang="zh-CN" altLang="en-US" b="1" dirty="0"/>
              <a:t>透彻</a:t>
            </a:r>
            <a:r>
              <a:rPr lang="zh-CN" altLang="en-US" dirty="0"/>
              <a:t>一些。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%s</a:t>
            </a:r>
            <a:r>
              <a:rPr lang="zh-CN" altLang="en-US" dirty="0"/>
              <a:t>一定要声明一个数组变量 </a:t>
            </a:r>
            <a:r>
              <a:rPr lang="en-US" altLang="zh-CN" dirty="0"/>
              <a:t>– </a:t>
            </a:r>
            <a:r>
              <a:rPr lang="zh-CN" altLang="en-US" dirty="0"/>
              <a:t>开得足够大，数组没讲，死记硬背背下来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如果用的</a:t>
            </a:r>
            <a:r>
              <a:rPr lang="en-US" altLang="zh-CN" dirty="0"/>
              <a:t>vs code</a:t>
            </a:r>
            <a:r>
              <a:rPr lang="zh-CN" altLang="en-US" dirty="0"/>
              <a:t>可以忽略这页，如果用</a:t>
            </a:r>
            <a:r>
              <a:rPr lang="en-US" altLang="zh-CN" dirty="0"/>
              <a:t>visual studio</a:t>
            </a:r>
            <a:r>
              <a:rPr lang="zh-CN" altLang="en-US" dirty="0"/>
              <a:t>的同学需要看这一页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第一反应是自己解决而不是问别人</a:t>
            </a:r>
            <a:endParaRPr lang="zh-CN" altLang="en-US" dirty="0"/>
          </a:p>
          <a:p>
            <a:r>
              <a:rPr lang="en-US" altLang="zh-CN" dirty="0"/>
              <a:t>----</a:t>
            </a:r>
            <a:endParaRPr lang="en-US" altLang="zh-CN" dirty="0"/>
          </a:p>
          <a:p>
            <a:r>
              <a:rPr lang="zh-CN" altLang="en-US" dirty="0"/>
              <a:t>这个地方没讲明白不同的</a:t>
            </a:r>
            <a:r>
              <a:rPr lang="en-US" altLang="zh-CN" dirty="0"/>
              <a:t>%</a:t>
            </a:r>
            <a:r>
              <a:rPr lang="en-US" altLang="zh-CN" dirty="0" err="1"/>
              <a:t>d,%s</a:t>
            </a:r>
            <a:r>
              <a:rPr lang="zh-CN" altLang="en-US" dirty="0"/>
              <a:t>可以认识什么分隔符 </a:t>
            </a:r>
            <a:r>
              <a:rPr lang="en-US" altLang="zh-CN" dirty="0"/>
              <a:t>– </a:t>
            </a:r>
            <a:r>
              <a:rPr lang="zh-CN" altLang="en-US" dirty="0"/>
              <a:t>没明确说和</a:t>
            </a:r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统一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， 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一定要什么类型？</a:t>
            </a:r>
            <a:endParaRPr lang="en-US" altLang="zh-CN" dirty="0"/>
          </a:p>
          <a:p>
            <a:r>
              <a:rPr lang="en-US" altLang="zh-CN" dirty="0"/>
              <a:t>Double</a:t>
            </a:r>
            <a:r>
              <a:rPr lang="zh-CN" altLang="en-US" dirty="0"/>
              <a:t>是否可以？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检查一下：好习惯：读入的变量直接打印出来，提交之前删掉（注释最好）</a:t>
            </a:r>
            <a:endParaRPr lang="en-US" altLang="zh-CN" dirty="0"/>
          </a:p>
          <a:p>
            <a:r>
              <a:rPr lang="zh-CN" altLang="en-US" dirty="0"/>
              <a:t>提交后程序删掉不太好：都保留</a:t>
            </a:r>
            <a:r>
              <a:rPr lang="en-US" altLang="zh-CN" dirty="0"/>
              <a:t>/</a:t>
            </a:r>
            <a:r>
              <a:rPr lang="zh-CN" altLang="en-US" dirty="0"/>
              <a:t>系统崩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double</a:t>
            </a:r>
            <a:r>
              <a:rPr lang="zh-CN" altLang="en-US" dirty="0"/>
              <a:t>一定要用“</a:t>
            </a:r>
            <a:r>
              <a:rPr lang="en-US" altLang="zh-CN" dirty="0"/>
              <a:t>%</a:t>
            </a:r>
            <a:r>
              <a:rPr lang="en-US" altLang="zh-CN" dirty="0" err="1"/>
              <a:t>lf</a:t>
            </a:r>
            <a:r>
              <a:rPr lang="zh-CN" altLang="en-US" dirty="0"/>
              <a:t>” </a:t>
            </a:r>
            <a:r>
              <a:rPr lang="en-US" altLang="zh-CN" dirty="0"/>
              <a:t>– </a:t>
            </a:r>
            <a:r>
              <a:rPr lang="zh-CN" altLang="en-US" b="1" dirty="0"/>
              <a:t>很容易错</a:t>
            </a:r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200" dirty="0" err="1"/>
              <a:t>scanf</a:t>
            </a:r>
            <a:r>
              <a:rPr lang="zh-CN" altLang="en-US" sz="1200" dirty="0"/>
              <a:t>中</a:t>
            </a:r>
            <a:r>
              <a:rPr lang="zh-CN" altLang="en-US" sz="1200" b="1" dirty="0"/>
              <a:t>不</a:t>
            </a:r>
            <a:r>
              <a:rPr lang="zh-CN" altLang="en-US" sz="1200" dirty="0"/>
              <a:t>加入空白字符，会跳过空白字符，直到遇到回车或非空白字符</a:t>
            </a:r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baseline="0" dirty="0">
                <a:latin typeface="font0000000028d0119b"/>
              </a:rPr>
              <a:t>除了</a:t>
            </a:r>
            <a:r>
              <a:rPr lang="en-US" altLang="zh-CN" sz="1200" b="0" i="0" u="none" strike="noStrike" baseline="0" dirty="0">
                <a:latin typeface="font0000000028d0119b"/>
              </a:rPr>
              <a:t>%c</a:t>
            </a:r>
            <a:r>
              <a:rPr lang="zh-CN" altLang="en-US" sz="1200" b="0" i="0" u="none" strike="noStrike" baseline="0" dirty="0">
                <a:latin typeface="font0000000028d0119b"/>
              </a:rPr>
              <a:t>，其他转换说明都会跳过待输入的空白</a:t>
            </a:r>
            <a:endParaRPr lang="en-US" altLang="zh-CN" dirty="0"/>
          </a:p>
          <a:p>
            <a:r>
              <a:rPr lang="zh-CN" altLang="en-US" dirty="0"/>
              <a:t>一个另外的例子（不要求掌握）：下面的程序可以支持输入“</a:t>
            </a:r>
            <a:r>
              <a:rPr lang="en-US" altLang="zh-CN" dirty="0"/>
              <a:t>1,     2</a:t>
            </a:r>
            <a:r>
              <a:rPr lang="zh-CN" altLang="en-US" dirty="0"/>
              <a:t>”（逗号后有空白），但是不支持输入“</a:t>
            </a:r>
            <a:r>
              <a:rPr lang="en-US" altLang="zh-CN" dirty="0"/>
              <a:t>1   ,2</a:t>
            </a:r>
            <a:r>
              <a:rPr lang="zh-CN" altLang="en-US" dirty="0"/>
              <a:t>”（逗号前有空白）</a:t>
            </a:r>
            <a:endParaRPr lang="en-US" altLang="zh-CN" dirty="0"/>
          </a:p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分隔符这点和</a:t>
            </a:r>
            <a:r>
              <a:rPr lang="en-US" altLang="zh-CN" dirty="0" err="1"/>
              <a:t>cin</a:t>
            </a:r>
            <a:r>
              <a:rPr lang="zh-CN" altLang="en-US" dirty="0"/>
              <a:t>不一样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zh-CN" sz="12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(“%3d%5d%*c%d =&gt; </a:t>
            </a:r>
            <a:endParaRPr lang="pt-BR" altLang="zh-CN" sz="120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r>
              <a:rPr lang="zh-CN" altLang="en-US" sz="12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只读了</a:t>
            </a:r>
            <a:r>
              <a:rPr lang="en-US" altLang="zh-CN" sz="12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hello -&gt; </a:t>
            </a:r>
            <a:r>
              <a:rPr lang="zh-CN" altLang="en-US" sz="12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有空格读不进去，后面说，有点复杂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cout</a:t>
            </a:r>
            <a:r>
              <a:rPr lang="zh-CN" altLang="en-US" dirty="0"/>
              <a:t>输出</a:t>
            </a:r>
            <a:r>
              <a:rPr lang="en-US" altLang="zh-CN" dirty="0"/>
              <a:t>debug</a:t>
            </a:r>
            <a:r>
              <a:rPr lang="zh-CN" altLang="en-US" dirty="0"/>
              <a:t>比较好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复杂但功能强大，快</a:t>
            </a:r>
            <a:endParaRPr lang="en-US" altLang="zh-CN" dirty="0"/>
          </a:p>
          <a:p>
            <a:r>
              <a:rPr lang="zh-CN" altLang="en-US" dirty="0"/>
              <a:t>容易错，</a:t>
            </a:r>
            <a:r>
              <a:rPr lang="en-US" altLang="zh-CN" dirty="0"/>
              <a:t>debug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-----------------------------</a:t>
            </a:r>
            <a:endParaRPr lang="en-US" altLang="zh-CN" dirty="0"/>
          </a:p>
          <a:p>
            <a:r>
              <a:rPr lang="zh-CN" altLang="en-US" dirty="0"/>
              <a:t>如果不告诉</a:t>
            </a:r>
            <a:r>
              <a:rPr lang="en-US" altLang="zh-CN" dirty="0" err="1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scanf</a:t>
            </a:r>
            <a:r>
              <a:rPr lang="zh-CN" altLang="en-US" dirty="0"/>
              <a:t>是不是没法理解？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”还是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的读入速度比</a:t>
            </a:r>
            <a:r>
              <a:rPr lang="en-US" altLang="zh-CN" dirty="0" err="1"/>
              <a:t>cin</a:t>
            </a:r>
            <a:r>
              <a:rPr lang="zh-CN" altLang="en-US" dirty="0"/>
              <a:t>快好多好多</a:t>
            </a:r>
            <a:endParaRPr lang="en-US" altLang="zh-CN" dirty="0"/>
          </a:p>
          <a:p>
            <a:r>
              <a:rPr lang="zh-CN" altLang="en-US" dirty="0"/>
              <a:t>如果数据量级特别大</a:t>
            </a:r>
            <a:r>
              <a:rPr lang="en-US" altLang="zh-CN" dirty="0"/>
              <a:t>10^5, 10^6</a:t>
            </a:r>
            <a:r>
              <a:rPr lang="zh-CN" altLang="en-US" dirty="0"/>
              <a:t>量级，可能用</a:t>
            </a:r>
            <a:r>
              <a:rPr lang="en-US" altLang="zh-CN" dirty="0" err="1"/>
              <a:t>scanf</a:t>
            </a:r>
            <a:r>
              <a:rPr lang="zh-CN" altLang="en-US" dirty="0"/>
              <a:t>好；</a:t>
            </a:r>
            <a:endParaRPr lang="en-US" altLang="zh-CN" dirty="0"/>
          </a:p>
          <a:p>
            <a:r>
              <a:rPr lang="zh-CN" altLang="en-US" dirty="0"/>
              <a:t>个别题目 </a:t>
            </a:r>
            <a:r>
              <a:rPr lang="en-US" altLang="zh-CN" dirty="0"/>
              <a:t>– </a:t>
            </a:r>
            <a:r>
              <a:rPr lang="zh-CN" altLang="en-US" dirty="0"/>
              <a:t>所有事情都是双面的。</a:t>
            </a:r>
            <a:endParaRPr lang="en-US" altLang="zh-CN" dirty="0"/>
          </a:p>
          <a:p>
            <a:r>
              <a:rPr lang="en-US" altLang="zh-CN" dirty="0" err="1"/>
              <a:t>printf</a:t>
            </a:r>
            <a:r>
              <a:rPr lang="zh-CN" altLang="en-US" dirty="0"/>
              <a:t>也快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需要匹配，所以慢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：取地址符</a:t>
            </a:r>
            <a:endParaRPr lang="en-US" altLang="zh-CN" dirty="0"/>
          </a:p>
          <a:p>
            <a:r>
              <a:rPr lang="zh-CN" altLang="en-US" dirty="0"/>
              <a:t>如果没有写地址符 </a:t>
            </a:r>
            <a:r>
              <a:rPr lang="en-US" altLang="zh-CN" dirty="0"/>
              <a:t>-&gt; 100 </a:t>
            </a:r>
            <a:r>
              <a:rPr lang="zh-CN" altLang="en-US" dirty="0"/>
              <a:t>是什么后果？</a:t>
            </a:r>
            <a:endParaRPr lang="en-US" altLang="zh-CN" dirty="0"/>
          </a:p>
          <a:p>
            <a:r>
              <a:rPr lang="en-US" altLang="zh-CN" dirty="0"/>
              <a:t>Num</a:t>
            </a:r>
            <a:r>
              <a:rPr lang="zh-CN" altLang="en-US" dirty="0"/>
              <a:t>是个</a:t>
            </a:r>
            <a:r>
              <a:rPr lang="en-US" altLang="zh-CN" dirty="0"/>
              <a:t>char</a:t>
            </a:r>
            <a:r>
              <a:rPr lang="zh-CN" altLang="en-US" dirty="0"/>
              <a:t>也是个数值</a:t>
            </a:r>
            <a:endParaRPr lang="en-US" altLang="zh-CN" dirty="0"/>
          </a:p>
          <a:p>
            <a:r>
              <a:rPr lang="zh-CN" altLang="en-US" dirty="0"/>
              <a:t>不能省 </a:t>
            </a:r>
            <a:r>
              <a:rPr lang="en-US" altLang="zh-CN" dirty="0"/>
              <a:t>– </a:t>
            </a:r>
            <a:r>
              <a:rPr lang="zh-CN" altLang="en-US" dirty="0"/>
              <a:t>自己做出错，预习就要预习得</a:t>
            </a:r>
            <a:r>
              <a:rPr lang="zh-CN" altLang="en-US" b="1" dirty="0"/>
              <a:t>透彻</a:t>
            </a:r>
            <a:r>
              <a:rPr lang="zh-CN" altLang="en-US" dirty="0"/>
              <a:t>一些。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%s</a:t>
            </a:r>
            <a:r>
              <a:rPr lang="zh-CN" altLang="en-US" dirty="0"/>
              <a:t>一定要声明一个数组变量 </a:t>
            </a:r>
            <a:r>
              <a:rPr lang="en-US" altLang="zh-CN" dirty="0"/>
              <a:t>– </a:t>
            </a:r>
            <a:r>
              <a:rPr lang="zh-CN" altLang="en-US" dirty="0"/>
              <a:t>开得足够大，数组没讲，死记硬背背下来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-----------------------------</a:t>
            </a:r>
            <a:endParaRPr lang="en-US" altLang="zh-CN" dirty="0"/>
          </a:p>
          <a:p>
            <a:r>
              <a:rPr lang="zh-CN" altLang="en-US" dirty="0"/>
              <a:t>如果不告诉</a:t>
            </a:r>
            <a:r>
              <a:rPr lang="en-US" altLang="zh-CN" dirty="0" err="1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scanf</a:t>
            </a:r>
            <a:r>
              <a:rPr lang="zh-CN" altLang="en-US" dirty="0"/>
              <a:t>是不是没法理解？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”还是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的读入速度比</a:t>
            </a:r>
            <a:r>
              <a:rPr lang="en-US" altLang="zh-CN" dirty="0" err="1"/>
              <a:t>cin</a:t>
            </a:r>
            <a:r>
              <a:rPr lang="zh-CN" altLang="en-US" dirty="0"/>
              <a:t>快好多好多</a:t>
            </a:r>
            <a:endParaRPr lang="en-US" altLang="zh-CN" dirty="0"/>
          </a:p>
          <a:p>
            <a:r>
              <a:rPr lang="zh-CN" altLang="en-US" dirty="0"/>
              <a:t>如果数据量级特别大</a:t>
            </a:r>
            <a:r>
              <a:rPr lang="en-US" altLang="zh-CN" dirty="0"/>
              <a:t>10^5, 10^6</a:t>
            </a:r>
            <a:r>
              <a:rPr lang="zh-CN" altLang="en-US" dirty="0"/>
              <a:t>量级，可能用</a:t>
            </a:r>
            <a:r>
              <a:rPr lang="en-US" altLang="zh-CN" dirty="0" err="1"/>
              <a:t>scanf</a:t>
            </a:r>
            <a:r>
              <a:rPr lang="zh-CN" altLang="en-US" dirty="0"/>
              <a:t>好；</a:t>
            </a:r>
            <a:endParaRPr lang="en-US" altLang="zh-CN" dirty="0"/>
          </a:p>
          <a:p>
            <a:r>
              <a:rPr lang="zh-CN" altLang="en-US" dirty="0"/>
              <a:t>个别题目 </a:t>
            </a:r>
            <a:r>
              <a:rPr lang="en-US" altLang="zh-CN" dirty="0"/>
              <a:t>– </a:t>
            </a:r>
            <a:r>
              <a:rPr lang="zh-CN" altLang="en-US" dirty="0"/>
              <a:t>所有事情都是双面的。</a:t>
            </a:r>
            <a:endParaRPr lang="en-US" altLang="zh-CN" dirty="0"/>
          </a:p>
          <a:p>
            <a:r>
              <a:rPr lang="en-US" altLang="zh-CN" dirty="0" err="1"/>
              <a:t>printf</a:t>
            </a:r>
            <a:r>
              <a:rPr lang="zh-CN" altLang="en-US" dirty="0"/>
              <a:t>也快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需要匹配，所以慢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：取地址符</a:t>
            </a:r>
            <a:endParaRPr lang="en-US" altLang="zh-CN" dirty="0"/>
          </a:p>
          <a:p>
            <a:r>
              <a:rPr lang="zh-CN" altLang="en-US" dirty="0"/>
              <a:t>如果没有写地址符 </a:t>
            </a:r>
            <a:r>
              <a:rPr lang="en-US" altLang="zh-CN" dirty="0"/>
              <a:t>-&gt; 100 </a:t>
            </a:r>
            <a:r>
              <a:rPr lang="zh-CN" altLang="en-US" dirty="0"/>
              <a:t>是什么后果？</a:t>
            </a:r>
            <a:endParaRPr lang="en-US" altLang="zh-CN" dirty="0"/>
          </a:p>
          <a:p>
            <a:r>
              <a:rPr lang="en-US" altLang="zh-CN" dirty="0"/>
              <a:t>Num</a:t>
            </a:r>
            <a:r>
              <a:rPr lang="zh-CN" altLang="en-US" dirty="0"/>
              <a:t>是个</a:t>
            </a:r>
            <a:r>
              <a:rPr lang="en-US" altLang="zh-CN" dirty="0"/>
              <a:t>char</a:t>
            </a:r>
            <a:r>
              <a:rPr lang="zh-CN" altLang="en-US" dirty="0"/>
              <a:t>也是个数值</a:t>
            </a:r>
            <a:endParaRPr lang="en-US" altLang="zh-CN" dirty="0"/>
          </a:p>
          <a:p>
            <a:r>
              <a:rPr lang="zh-CN" altLang="en-US" dirty="0"/>
              <a:t>不能省 </a:t>
            </a:r>
            <a:r>
              <a:rPr lang="en-US" altLang="zh-CN" dirty="0"/>
              <a:t>– </a:t>
            </a:r>
            <a:r>
              <a:rPr lang="zh-CN" altLang="en-US" dirty="0"/>
              <a:t>自己做出错，预习就要预习得</a:t>
            </a:r>
            <a:r>
              <a:rPr lang="zh-CN" altLang="en-US" b="1" dirty="0"/>
              <a:t>透彻</a:t>
            </a:r>
            <a:r>
              <a:rPr lang="zh-CN" altLang="en-US" dirty="0"/>
              <a:t>一些。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%s</a:t>
            </a:r>
            <a:r>
              <a:rPr lang="zh-CN" altLang="en-US" dirty="0"/>
              <a:t>一定要声明一个数组变量 </a:t>
            </a:r>
            <a:r>
              <a:rPr lang="en-US" altLang="zh-CN" dirty="0"/>
              <a:t>– </a:t>
            </a:r>
            <a:r>
              <a:rPr lang="zh-CN" altLang="en-US" dirty="0"/>
              <a:t>开得足够大，数组没讲，死记硬背背下来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复杂但功能强大，快</a:t>
            </a:r>
            <a:endParaRPr lang="en-US" altLang="zh-CN" dirty="0"/>
          </a:p>
          <a:p>
            <a:r>
              <a:rPr lang="zh-CN" altLang="en-US" dirty="0"/>
              <a:t>容易错，</a:t>
            </a:r>
            <a:r>
              <a:rPr lang="en-US" altLang="zh-CN" dirty="0"/>
              <a:t>debug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-----------------------------</a:t>
            </a:r>
            <a:endParaRPr lang="en-US" altLang="zh-CN" dirty="0"/>
          </a:p>
          <a:p>
            <a:r>
              <a:rPr lang="zh-CN" altLang="en-US" dirty="0"/>
              <a:t>如果不告诉</a:t>
            </a:r>
            <a:r>
              <a:rPr lang="en-US" altLang="zh-CN" dirty="0" err="1"/>
              <a:t>scanf</a:t>
            </a:r>
            <a:r>
              <a:rPr lang="zh-CN" altLang="en-US" dirty="0"/>
              <a:t>，</a:t>
            </a:r>
            <a:r>
              <a:rPr lang="en-US" altLang="zh-CN" dirty="0" err="1"/>
              <a:t>scanf</a:t>
            </a:r>
            <a:r>
              <a:rPr lang="zh-CN" altLang="en-US" dirty="0"/>
              <a:t>是不是没法理解？</a:t>
            </a:r>
            <a:endParaRPr lang="en-US" altLang="zh-CN" dirty="0"/>
          </a:p>
          <a:p>
            <a:r>
              <a:rPr lang="zh-CN" altLang="en-US" dirty="0"/>
              <a:t>“</a:t>
            </a:r>
            <a:r>
              <a:rPr lang="en-US" altLang="zh-CN" dirty="0"/>
              <a:t>12</a:t>
            </a:r>
            <a:r>
              <a:rPr lang="zh-CN" altLang="en-US" dirty="0"/>
              <a:t>”还是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的读入速度比</a:t>
            </a:r>
            <a:r>
              <a:rPr lang="en-US" altLang="zh-CN" dirty="0" err="1"/>
              <a:t>cin</a:t>
            </a:r>
            <a:r>
              <a:rPr lang="zh-CN" altLang="en-US" dirty="0"/>
              <a:t>快好多好多</a:t>
            </a:r>
            <a:endParaRPr lang="en-US" altLang="zh-CN" dirty="0"/>
          </a:p>
          <a:p>
            <a:r>
              <a:rPr lang="zh-CN" altLang="en-US" dirty="0"/>
              <a:t>如果数据量级特别大</a:t>
            </a:r>
            <a:r>
              <a:rPr lang="en-US" altLang="zh-CN" dirty="0"/>
              <a:t>10^5, 10^6</a:t>
            </a:r>
            <a:r>
              <a:rPr lang="zh-CN" altLang="en-US" dirty="0"/>
              <a:t>量级，可能用</a:t>
            </a:r>
            <a:r>
              <a:rPr lang="en-US" altLang="zh-CN" dirty="0" err="1"/>
              <a:t>scanf</a:t>
            </a:r>
            <a:r>
              <a:rPr lang="zh-CN" altLang="en-US" dirty="0"/>
              <a:t>好；</a:t>
            </a:r>
            <a:endParaRPr lang="en-US" altLang="zh-CN" dirty="0"/>
          </a:p>
          <a:p>
            <a:r>
              <a:rPr lang="zh-CN" altLang="en-US" dirty="0"/>
              <a:t>个别题目 </a:t>
            </a:r>
            <a:r>
              <a:rPr lang="en-US" altLang="zh-CN" dirty="0"/>
              <a:t>– </a:t>
            </a:r>
            <a:r>
              <a:rPr lang="zh-CN" altLang="en-US" dirty="0"/>
              <a:t>所有事情都是双面的。</a:t>
            </a:r>
            <a:endParaRPr lang="en-US" altLang="zh-CN" dirty="0"/>
          </a:p>
          <a:p>
            <a:r>
              <a:rPr lang="en-US" altLang="zh-CN" dirty="0" err="1"/>
              <a:t>printf</a:t>
            </a:r>
            <a:r>
              <a:rPr lang="zh-CN" altLang="en-US" dirty="0"/>
              <a:t>也快</a:t>
            </a:r>
            <a:endParaRPr lang="en-US" altLang="zh-CN" dirty="0"/>
          </a:p>
          <a:p>
            <a:r>
              <a:rPr lang="en-US" altLang="zh-CN" dirty="0" err="1"/>
              <a:t>Cin</a:t>
            </a:r>
            <a:r>
              <a:rPr lang="en-US" altLang="zh-CN" dirty="0"/>
              <a:t>/</a:t>
            </a:r>
            <a:r>
              <a:rPr lang="en-US" altLang="zh-CN" dirty="0" err="1"/>
              <a:t>cout</a:t>
            </a:r>
            <a:r>
              <a:rPr lang="zh-CN" altLang="en-US" dirty="0"/>
              <a:t>需要匹配，所以慢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：取地址符</a:t>
            </a:r>
            <a:endParaRPr lang="en-US" altLang="zh-CN" dirty="0"/>
          </a:p>
          <a:p>
            <a:r>
              <a:rPr lang="zh-CN" altLang="en-US" dirty="0"/>
              <a:t>如果没有写地址符 </a:t>
            </a:r>
            <a:r>
              <a:rPr lang="en-US" altLang="zh-CN" dirty="0"/>
              <a:t>-&gt; 100 </a:t>
            </a:r>
            <a:r>
              <a:rPr lang="zh-CN" altLang="en-US" dirty="0"/>
              <a:t>是什么后果？</a:t>
            </a:r>
            <a:endParaRPr lang="en-US" altLang="zh-CN" dirty="0"/>
          </a:p>
          <a:p>
            <a:r>
              <a:rPr lang="en-US" altLang="zh-CN" dirty="0"/>
              <a:t>Num</a:t>
            </a:r>
            <a:r>
              <a:rPr lang="zh-CN" altLang="en-US" dirty="0"/>
              <a:t>是个</a:t>
            </a:r>
            <a:r>
              <a:rPr lang="en-US" altLang="zh-CN" dirty="0"/>
              <a:t>char</a:t>
            </a:r>
            <a:r>
              <a:rPr lang="zh-CN" altLang="en-US" dirty="0"/>
              <a:t>也是个数值</a:t>
            </a:r>
            <a:endParaRPr lang="en-US" altLang="zh-CN" dirty="0"/>
          </a:p>
          <a:p>
            <a:r>
              <a:rPr lang="zh-CN" altLang="en-US" dirty="0"/>
              <a:t>不能省 </a:t>
            </a:r>
            <a:r>
              <a:rPr lang="en-US" altLang="zh-CN" dirty="0"/>
              <a:t>– </a:t>
            </a:r>
            <a:r>
              <a:rPr lang="zh-CN" altLang="en-US" dirty="0"/>
              <a:t>自己做出错，预习就要预习得</a:t>
            </a:r>
            <a:r>
              <a:rPr lang="zh-CN" altLang="en-US" b="1" dirty="0"/>
              <a:t>透彻</a:t>
            </a:r>
            <a:r>
              <a:rPr lang="zh-CN" altLang="en-US" dirty="0"/>
              <a:t>一些。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</a:t>
            </a:r>
            <a:r>
              <a:rPr lang="en-US" altLang="zh-CN" dirty="0"/>
              <a:t>%s</a:t>
            </a:r>
            <a:r>
              <a:rPr lang="zh-CN" altLang="en-US" dirty="0"/>
              <a:t>一定要声明一个数组变量 </a:t>
            </a:r>
            <a:r>
              <a:rPr lang="en-US" altLang="zh-CN" dirty="0"/>
              <a:t>– </a:t>
            </a:r>
            <a:r>
              <a:rPr lang="zh-CN" altLang="en-US" dirty="0"/>
              <a:t>开得足够大，数组没讲，死记硬背背下来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gets_s</a:t>
            </a:r>
            <a:r>
              <a:rPr lang="zh-CN" altLang="en-US" dirty="0"/>
              <a:t>可以</a:t>
            </a:r>
            <a:r>
              <a:rPr lang="en-US" altLang="zh-CN" dirty="0"/>
              <a:t>”hello world”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#define B “booboo” </a:t>
            </a:r>
            <a:endParaRPr lang="en-US" altLang="zh-CN" dirty="0"/>
          </a:p>
          <a:p>
            <a:r>
              <a:rPr lang="zh-CN" altLang="en-US" dirty="0"/>
              <a:t>编译之前，会先把所有</a:t>
            </a:r>
            <a:r>
              <a:rPr lang="en-US" altLang="zh-CN" dirty="0"/>
              <a:t>B</a:t>
            </a:r>
            <a:r>
              <a:rPr lang="zh-CN" altLang="en-US" dirty="0"/>
              <a:t>替换为“</a:t>
            </a:r>
            <a:r>
              <a:rPr lang="en-US" altLang="zh-CN" dirty="0"/>
              <a:t>booboo</a:t>
            </a:r>
            <a:r>
              <a:rPr lang="zh-CN" altLang="en-US" dirty="0"/>
              <a:t>”这个常量</a:t>
            </a:r>
            <a:endParaRPr lang="en-US" altLang="zh-CN" dirty="0"/>
          </a:p>
          <a:p>
            <a:r>
              <a:rPr lang="zh-CN" altLang="en-US" dirty="0"/>
              <a:t>是否掌握都问题不大，有别的方式可以实现。大概能看懂就足够了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447,448,449</a:t>
            </a:r>
            <a:endParaRPr lang="en-US" altLang="zh-CN" dirty="0"/>
          </a:p>
          <a:p>
            <a:r>
              <a:rPr lang="en-US" altLang="zh-CN" dirty="0"/>
              <a:t>441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？</a:t>
            </a:r>
            <a:r>
              <a:rPr lang="en-US" altLang="zh-CN" dirty="0"/>
              <a:t>442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zh-CN" altLang="en-US" dirty="0"/>
              <a:t>呢？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32298" y="2155310"/>
            <a:ext cx="544750" cy="558709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45" indent="-360045">
              <a:buFont typeface="Wingdings" panose="05000000000000000000" pitchFamily="2" charset="2"/>
              <a:buChar char="§"/>
              <a:defRPr sz="2800"/>
            </a:lvl1pPr>
            <a:lvl2pPr marL="685800" indent="-288290">
              <a:buFont typeface="Wingdings" panose="05000000000000000000" pitchFamily="2" charset="2"/>
              <a:buChar char="§"/>
              <a:defRPr sz="2400"/>
            </a:lvl2pPr>
            <a:lvl3pPr marL="1143000" indent="-230505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5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3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3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hyperlink" Target="http://yoj.ruc.edu.cn/index.php/teacher/problem/detail/pno/1535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hyperlink" Target="http://blog.csdn.net/qq_36016407/article/details/70254640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268875" y="4015394"/>
            <a:ext cx="5429250" cy="165576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zh-CN" altLang="en-US" dirty="0"/>
              <a:t>授课教师：王希廷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上课地点：立德</a:t>
            </a:r>
            <a:r>
              <a:rPr lang="en-US" altLang="zh-CN" dirty="0"/>
              <a:t>603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上机实验：立德地下</a:t>
            </a:r>
            <a:r>
              <a:rPr lang="en-US" altLang="zh-CN" dirty="0"/>
              <a:t>F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上机时间：每周三  </a:t>
            </a:r>
            <a:r>
              <a:rPr lang="en-US" altLang="zh-CN" dirty="0"/>
              <a:t>18:00-21:00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7694821" cy="1655763"/>
          </a:xfrm>
        </p:spPr>
        <p:txBody>
          <a:bodyPr>
            <a:norm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zh-CN" altLang="en-US" sz="4400" dirty="0"/>
              <a:t>数据格式化输入和输出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5533055" y="81256"/>
            <a:ext cx="35363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程序设计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  2024-2025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秋季学</a:t>
            </a:r>
            <a:r>
              <a:rPr lang="zh-CN" altLang="en-US" dirty="0">
                <a:solidFill>
                  <a:srgbClr val="002554"/>
                </a:solidFill>
              </a:rPr>
              <a:t>期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两种输出语句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en-US" altLang="zh-CN" dirty="0" err="1"/>
              <a:t>c++</a:t>
            </a:r>
            <a:r>
              <a:rPr lang="zh-CN" altLang="en-US" dirty="0"/>
              <a:t>语言；（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endParaRPr lang="en-US" altLang="zh-CN" dirty="0"/>
          </a:p>
          <a:p>
            <a:r>
              <a:rPr lang="zh-CN" altLang="en-US" dirty="0"/>
              <a:t>先看</a:t>
            </a:r>
            <a:r>
              <a:rPr lang="en-US" altLang="zh-CN" dirty="0" err="1"/>
              <a:t>c++</a:t>
            </a:r>
            <a:r>
              <a:rPr lang="zh-CN" altLang="en-US" dirty="0"/>
              <a:t>语言的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zh-CN" altLang="en-US" dirty="0"/>
              <a:t>语句是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cout</a:t>
            </a:r>
            <a:r>
              <a:rPr lang="en-US" altLang="zh-CN" dirty="0">
                <a:solidFill>
                  <a:srgbClr val="FF0000"/>
                </a:solidFill>
              </a:rPr>
              <a:t>&lt;&lt;“Welcome”;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需要在程序的开头加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#include&lt;iostream&gt;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using namespace std;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回顾之前的</a:t>
            </a:r>
            <a:r>
              <a:rPr lang="en-US" altLang="zh-CN" dirty="0"/>
              <a:t>PPT</a:t>
            </a:r>
            <a:r>
              <a:rPr lang="zh-CN" altLang="en-US" dirty="0"/>
              <a:t>：如何输出？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6" name="TextBox 5"/>
          <p:cNvSpPr txBox="1"/>
          <p:nvPr/>
        </p:nvSpPr>
        <p:spPr>
          <a:xfrm>
            <a:off x="4724522" y="3678694"/>
            <a:ext cx="3921768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"Welcome!"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42931" y="475591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命名空间</a:t>
            </a:r>
            <a:endParaRPr lang="zh-CN" alt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897301" y="2156712"/>
            <a:ext cx="29593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输出流</a:t>
            </a:r>
            <a:r>
              <a:rPr lang="en-US" altLang="zh-CN" sz="2400" dirty="0" err="1"/>
              <a:t>cout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chemeClr val="tx1"/>
                </a:solidFill>
              </a:rPr>
              <a:t>将变量</a:t>
            </a:r>
            <a:r>
              <a:rPr lang="zh-CN" altLang="en-US" sz="2400" dirty="0"/>
              <a:t>插入</a:t>
            </a:r>
            <a:r>
              <a:rPr lang="zh-CN" altLang="en-US" sz="2400" dirty="0">
                <a:solidFill>
                  <a:schemeClr val="tx1"/>
                </a:solidFill>
              </a:rPr>
              <a:t>到显示设备中</a:t>
            </a:r>
            <a:r>
              <a:rPr lang="zh-CN" altLang="en-US" sz="2400" dirty="0"/>
              <a:t>（</a:t>
            </a:r>
            <a:r>
              <a:rPr lang="en-US" altLang="zh-CN" sz="2400" dirty="0"/>
              <a:t>&lt;&lt;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2000" y="1447062"/>
            <a:ext cx="8280000" cy="5041420"/>
          </a:xfrm>
        </p:spPr>
        <p:txBody>
          <a:bodyPr>
            <a:normAutofit/>
          </a:bodyPr>
          <a:lstStyle/>
          <a:p>
            <a:r>
              <a:rPr lang="en-US" altLang="zh-CN" dirty="0"/>
              <a:t>C++: </a:t>
            </a:r>
            <a:r>
              <a:rPr lang="zh-CN" altLang="en-US" dirty="0"/>
              <a:t>自动识别数据类型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a;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double d;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cout</a:t>
            </a:r>
            <a:r>
              <a:rPr lang="en-US" altLang="zh-CN" dirty="0"/>
              <a:t>&lt;&lt;a&lt;&lt;</a:t>
            </a:r>
            <a:r>
              <a:rPr lang="zh-CN" altLang="en-US" dirty="0"/>
              <a:t>“ ”</a:t>
            </a:r>
            <a:r>
              <a:rPr lang="en-US" altLang="zh-CN" dirty="0"/>
              <a:t>&lt;&lt;d&lt;&lt;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：需要手动设定输入</a:t>
            </a:r>
            <a:r>
              <a:rPr lang="en-US" altLang="zh-CN" dirty="0"/>
              <a:t>/</a:t>
            </a:r>
            <a:r>
              <a:rPr lang="zh-CN" altLang="en-US" dirty="0"/>
              <a:t>输出数据类型，</a:t>
            </a:r>
            <a:r>
              <a:rPr lang="zh-CN" altLang="en-US" dirty="0">
                <a:solidFill>
                  <a:srgbClr val="FF0000"/>
                </a:solidFill>
              </a:rPr>
              <a:t>更多功能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不同类型的变量的输出格式不同</a:t>
            </a:r>
            <a:endParaRPr lang="en-US" altLang="zh-CN" dirty="0"/>
          </a:p>
          <a:p>
            <a:pPr lvl="1"/>
            <a:r>
              <a:rPr lang="zh-CN" altLang="en-US" dirty="0"/>
              <a:t>希望将变量嵌入到希望输出的“文字”中</a:t>
            </a:r>
            <a:endParaRPr lang="en-US" altLang="zh-CN" dirty="0"/>
          </a:p>
          <a:p>
            <a:pPr lvl="1"/>
            <a:r>
              <a:rPr lang="zh-CN" altLang="en-US" dirty="0"/>
              <a:t>希望输出变量的不同精度</a:t>
            </a:r>
            <a:endParaRPr lang="en-US" altLang="zh-CN" dirty="0"/>
          </a:p>
          <a:p>
            <a:pPr lvl="1"/>
            <a:r>
              <a:rPr lang="zh-CN" altLang="en-US" dirty="0"/>
              <a:t>希望对数据输出做些简单的“排版”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输入输出 </a:t>
            </a:r>
            <a:r>
              <a:rPr lang="en-US" altLang="zh-CN" dirty="0"/>
              <a:t>vs C</a:t>
            </a:r>
            <a:r>
              <a:rPr lang="zh-CN" altLang="en-US" dirty="0"/>
              <a:t>语言输入输出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5668028" y="1447062"/>
            <a:ext cx="3207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一个</a:t>
            </a:r>
            <a:r>
              <a:rPr lang="en-US" altLang="zh-CN" sz="2400" dirty="0">
                <a:solidFill>
                  <a:srgbClr val="FF0000"/>
                </a:solidFill>
              </a:rPr>
              <a:t>.</a:t>
            </a:r>
            <a:r>
              <a:rPr lang="en-US" altLang="zh-CN" sz="2400" dirty="0" err="1">
                <a:solidFill>
                  <a:srgbClr val="FF0000"/>
                </a:solidFill>
              </a:rPr>
              <a:t>cpp</a:t>
            </a:r>
            <a:r>
              <a:rPr lang="zh-CN" altLang="en-US" sz="2400" dirty="0">
                <a:solidFill>
                  <a:srgbClr val="FF0000"/>
                </a:solidFill>
              </a:rPr>
              <a:t>文件里面可以同时写</a:t>
            </a:r>
            <a:r>
              <a:rPr lang="en-US" altLang="zh-CN" sz="2400" dirty="0" err="1">
                <a:solidFill>
                  <a:srgbClr val="FF0000"/>
                </a:solidFill>
              </a:rPr>
              <a:t>c++</a:t>
            </a:r>
            <a:r>
              <a:rPr lang="zh-CN" altLang="en-US" sz="2400" dirty="0">
                <a:solidFill>
                  <a:srgbClr val="FF0000"/>
                </a:solidFill>
              </a:rPr>
              <a:t>语句和</a:t>
            </a: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r>
              <a:rPr lang="zh-CN" altLang="en-US" sz="2400" dirty="0">
                <a:solidFill>
                  <a:srgbClr val="FF0000"/>
                </a:solidFill>
              </a:rPr>
              <a:t>语句（</a:t>
            </a:r>
            <a:r>
              <a:rPr lang="en-US" altLang="zh-CN" sz="2400" dirty="0" err="1">
                <a:solidFill>
                  <a:srgbClr val="FF0000"/>
                </a:solidFill>
              </a:rPr>
              <a:t>c++</a:t>
            </a:r>
            <a:r>
              <a:rPr lang="zh-CN" altLang="en-US" sz="2400" dirty="0">
                <a:solidFill>
                  <a:srgbClr val="FF0000"/>
                </a:solidFill>
              </a:rPr>
              <a:t>向下兼容</a:t>
            </a: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库：</a:t>
            </a:r>
            <a:r>
              <a:rPr lang="en-US" altLang="zh-CN" sz="2800" b="1" dirty="0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#include&lt;stdio.h&gt;</a:t>
            </a:r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要在程序文件的开头用预处理指令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把有关头文件放在本程序中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输出库函数：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US" altLang="zh-CN" dirty="0"/>
              <a:t>(a1,a2…);</a:t>
            </a:r>
            <a:endParaRPr lang="en-US" altLang="zh-CN" dirty="0"/>
          </a:p>
          <a:p>
            <a:r>
              <a:rPr lang="zh-CN" altLang="en-US" dirty="0"/>
              <a:t>输入库函数：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scanf</a:t>
            </a:r>
            <a:r>
              <a:rPr lang="en-US" altLang="zh-CN" dirty="0"/>
              <a:t>(a1,a2…);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字符串的输入输出</a:t>
            </a:r>
            <a:endParaRPr lang="en-US" altLang="zh-CN" dirty="0"/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语言的输入输出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>
          <a:xfrm>
            <a:off x="603956" y="2911796"/>
            <a:ext cx="8280000" cy="470516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格式控制</a:t>
            </a:r>
            <a:r>
              <a:rPr lang="zh-CN" altLang="en-US" sz="2400" dirty="0"/>
              <a:t>：</a:t>
            </a:r>
            <a:r>
              <a:rPr lang="zh-CN" altLang="en-US" sz="2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是用双引号括起来的一个字符串，称为格式控制字符串，简称格式字符串</a:t>
            </a:r>
            <a:endParaRPr lang="en-US" altLang="zh-CN" sz="24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lvl="1"/>
            <a:r>
              <a:rPr lang="zh-CN" altLang="en-US" sz="2000" dirty="0"/>
              <a:t>示例：</a:t>
            </a:r>
            <a:r>
              <a:rPr lang="en-US" altLang="zh-CN" sz="2000" dirty="0"/>
              <a:t>“Welcome to RUC %d\n”</a:t>
            </a:r>
            <a:endParaRPr lang="en-US" altLang="zh-CN" sz="2000" dirty="0"/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双引号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rgbClr val="E6700E"/>
                </a:solidFill>
              </a:rPr>
              <a:t>普通字符</a:t>
            </a:r>
            <a:r>
              <a:rPr lang="en-US" altLang="zh-CN" sz="1800" dirty="0">
                <a:solidFill>
                  <a:srgbClr val="E6700E"/>
                </a:solidFill>
              </a:rPr>
              <a:t>: </a:t>
            </a:r>
            <a:r>
              <a:rPr lang="zh-CN" altLang="en-US" sz="1800" dirty="0">
                <a:solidFill>
                  <a:schemeClr val="tx1"/>
                </a:solidFill>
              </a:rPr>
              <a:t>如</a:t>
            </a:r>
            <a:r>
              <a:rPr lang="en-US" altLang="zh-CN" sz="1800" dirty="0"/>
              <a:t>Welcome to RUC</a:t>
            </a:r>
            <a:r>
              <a:rPr lang="zh-CN" altLang="en-US" sz="1800" dirty="0">
                <a:solidFill>
                  <a:schemeClr val="tx1"/>
                </a:solidFill>
              </a:rPr>
              <a:t>和</a:t>
            </a:r>
            <a:r>
              <a:rPr lang="en-US" altLang="zh-CN" sz="1800" dirty="0">
                <a:solidFill>
                  <a:schemeClr val="tx1"/>
                </a:solidFill>
              </a:rPr>
              <a:t>\n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rgbClr val="E6700E"/>
                </a:solidFill>
              </a:rPr>
              <a:t>格式声明</a:t>
            </a:r>
            <a:r>
              <a:rPr lang="en-US" altLang="zh-CN" sz="1800" dirty="0">
                <a:solidFill>
                  <a:srgbClr val="E6700E"/>
                </a:solidFill>
              </a:rPr>
              <a:t>:</a:t>
            </a:r>
            <a:r>
              <a:rPr lang="zh-CN" altLang="en-US" sz="1800" dirty="0">
                <a:solidFill>
                  <a:srgbClr val="E6700E"/>
                </a:solidFill>
              </a:rPr>
              <a:t> </a:t>
            </a:r>
            <a:r>
              <a:rPr lang="zh-CN" altLang="en-US" sz="18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格式声明由“</a:t>
            </a:r>
            <a:r>
              <a:rPr lang="en-US" altLang="zh-CN" sz="18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%</a:t>
            </a:r>
            <a:r>
              <a:rPr lang="zh-CN" altLang="en-US" sz="18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”和格式字符组成，作用是将输出的数据转换为指定的格式后输出，如</a:t>
            </a:r>
            <a:r>
              <a:rPr lang="en-US" altLang="zh-CN" sz="18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%d</a:t>
            </a:r>
            <a:endParaRPr lang="en-US" altLang="zh-CN" sz="1800" kern="0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sz="2400" dirty="0">
                <a:solidFill>
                  <a:srgbClr val="0000CC"/>
                </a:solidFill>
              </a:rPr>
              <a:t>格式声明：</a:t>
            </a:r>
            <a:r>
              <a:rPr lang="zh-CN" altLang="en-US" sz="2400" b="1" kern="0" dirty="0">
                <a:latin typeface="等线" panose="02010600030101010101" charset="-122"/>
                <a:ea typeface="等线" panose="02010600030101010101" charset="-122"/>
              </a:rPr>
              <a:t>与</a:t>
            </a:r>
            <a:r>
              <a:rPr lang="zh-CN" altLang="en-US" sz="2400" b="1" kern="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输出表列</a:t>
            </a:r>
            <a:r>
              <a:rPr lang="zh-CN" altLang="en-US" sz="2400" b="1" kern="0" dirty="0">
                <a:latin typeface="等线" panose="02010600030101010101" charset="-122"/>
                <a:ea typeface="等线" panose="02010600030101010101" charset="-122"/>
              </a:rPr>
              <a:t>配合使用（</a:t>
            </a:r>
            <a:r>
              <a:rPr lang="zh-CN" altLang="en-US" sz="2400" b="1" kern="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一一对应</a:t>
            </a:r>
            <a:r>
              <a:rPr lang="zh-CN" altLang="en-US" sz="2400" kern="0" dirty="0">
                <a:latin typeface="等线" panose="02010600030101010101" charset="-122"/>
                <a:ea typeface="等线" panose="02010600030101010101" charset="-122"/>
              </a:rPr>
              <a:t>，多少个</a:t>
            </a:r>
            <a:r>
              <a:rPr lang="en-US" altLang="zh-CN" sz="2400" kern="0" dirty="0">
                <a:latin typeface="等线" panose="02010600030101010101" charset="-122"/>
                <a:ea typeface="等线" panose="02010600030101010101" charset="-122"/>
              </a:rPr>
              <a:t>%</a:t>
            </a:r>
            <a:r>
              <a:rPr lang="zh-CN" altLang="en-US" sz="2400" kern="0" dirty="0">
                <a:latin typeface="等线" panose="02010600030101010101" charset="-122"/>
                <a:ea typeface="等线" panose="02010600030101010101" charset="-122"/>
              </a:rPr>
              <a:t>对应多长的输出列表</a:t>
            </a:r>
            <a:r>
              <a:rPr lang="zh-CN" altLang="en-US" sz="2400" b="1" kern="0" dirty="0"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sz="2400" b="1" kern="0" dirty="0">
                <a:latin typeface="等线" panose="02010600030101010101" charset="-122"/>
                <a:ea typeface="等线" panose="02010600030101010101" charset="-122"/>
              </a:rPr>
              <a:t>——</a:t>
            </a:r>
            <a:r>
              <a:rPr lang="zh-CN" altLang="en-US" sz="2400" b="1" kern="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输出列表</a:t>
            </a:r>
            <a:r>
              <a:rPr lang="zh-CN" altLang="en-US" sz="2400" kern="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是程序需要输出的一些数据，可以是常量、变量或表达式</a:t>
            </a:r>
            <a:endParaRPr lang="en-US" altLang="zh-CN" sz="2400" dirty="0"/>
          </a:p>
          <a:p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6362149" y="1850470"/>
            <a:ext cx="5340350" cy="15785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68159" y="1045959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rgbClr val="00B05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格式控制</a:t>
            </a:r>
            <a:endParaRPr lang="en-US" altLang="zh-CN" sz="2800" dirty="0">
              <a:solidFill>
                <a:srgbClr val="00B05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03879" y="1046287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输出列表</a:t>
            </a:r>
            <a:endParaRPr lang="en-US" altLang="zh-CN" sz="2800" dirty="0">
              <a:solidFill>
                <a:srgbClr val="000000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77510" y="164223"/>
            <a:ext cx="286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%d: </a:t>
            </a:r>
            <a:r>
              <a:rPr lang="zh-CN" altLang="en-US" sz="2400" dirty="0">
                <a:solidFill>
                  <a:srgbClr val="FF0000"/>
                </a:solidFill>
              </a:rPr>
              <a:t>整数的格式声明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50427" y="1660573"/>
            <a:ext cx="5528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printf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Welcome to RUC %d\n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year);</a:t>
            </a:r>
            <a:endParaRPr lang="zh-CN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037994" y="2183793"/>
            <a:ext cx="4857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printf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%d+%d=%d\n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a,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b,</a:t>
            </a:r>
            <a:r>
              <a:rPr lang="zh-CN" altLang="en-US" sz="2800" b="1" dirty="0"/>
              <a:t> </a:t>
            </a:r>
            <a:r>
              <a:rPr lang="en-US" altLang="zh-CN" sz="2800" b="1" dirty="0" err="1"/>
              <a:t>a+b</a:t>
            </a:r>
            <a:r>
              <a:rPr lang="en-US" altLang="zh-CN" sz="2800" b="1" dirty="0"/>
              <a:t>);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指出下面语句的错误：</a:t>
            </a:r>
            <a:endParaRPr lang="en-US" altLang="zh-CN" dirty="0"/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格式声明的个数与变量的个数保持一致</a:t>
            </a:r>
            <a:endParaRPr lang="en-US" altLang="zh-CN" dirty="0"/>
          </a:p>
          <a:p>
            <a:pPr lvl="1"/>
            <a:r>
              <a:rPr lang="zh-CN" altLang="en-US" dirty="0"/>
              <a:t>使用准确的格式声明</a:t>
            </a:r>
            <a:endParaRPr lang="en-US" altLang="zh-CN" dirty="0"/>
          </a:p>
        </p:txBody>
      </p:sp>
      <p:pic>
        <p:nvPicPr>
          <p:cNvPr id="48133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7" y="2133600"/>
            <a:ext cx="7878123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#1535. </a:t>
            </a:r>
            <a:r>
              <a:rPr lang="zh-CN" altLang="en-US" dirty="0"/>
              <a:t>整数加减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1"/>
              </a:rPr>
              <a:t>1535.</a:t>
            </a:r>
            <a:r>
              <a:rPr lang="zh-CN" altLang="en-US" dirty="0">
                <a:hlinkClick r:id="rId1"/>
              </a:rPr>
              <a:t>整数加减 题目详情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4" y="2199007"/>
            <a:ext cx="7537978" cy="3941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828800"/>
            <a:ext cx="8280000" cy="447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格式声明进阶</a:t>
            </a:r>
            <a:endParaRPr lang="en-US" altLang="zh-CN" sz="2800" dirty="0"/>
          </a:p>
          <a:p>
            <a:r>
              <a:rPr lang="zh-CN" altLang="en-US" sz="2800" dirty="0"/>
              <a:t>不同类型数据（注意匹配）</a:t>
            </a:r>
            <a:endParaRPr lang="en-US" altLang="zh-CN" sz="2800" dirty="0"/>
          </a:p>
          <a:p>
            <a:r>
              <a:rPr lang="zh-CN" altLang="en-US" sz="2800" dirty="0"/>
              <a:t>进制及科学计数法（大小写）</a:t>
            </a:r>
            <a:endParaRPr lang="en-US" altLang="zh-CN" sz="2800" dirty="0"/>
          </a:p>
          <a:p>
            <a:r>
              <a:rPr lang="zh-CN" altLang="en-US" sz="2800" dirty="0"/>
              <a:t>精度及宽度控制</a:t>
            </a:r>
            <a:endParaRPr lang="en-US" altLang="zh-CN" sz="2800" dirty="0"/>
          </a:p>
          <a:p>
            <a:r>
              <a:rPr lang="zh-CN" altLang="en-US" sz="2800" dirty="0"/>
              <a:t>左对齐及右对齐（填充</a:t>
            </a:r>
            <a:r>
              <a:rPr lang="en-US" altLang="zh-CN" sz="2800" dirty="0"/>
              <a:t>0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符号：</a:t>
            </a:r>
            <a:r>
              <a:rPr lang="en-US" altLang="zh-CN" sz="2800" dirty="0"/>
              <a:t>%%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“格式声明”的使用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格式声明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%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/>
              <a:t>附加字符 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zh-CN" altLang="en-US" dirty="0"/>
              <a:t>格式字符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常用格式字符（详见参考书目）</a:t>
            </a:r>
            <a:endParaRPr lang="en-US" altLang="zh-CN" dirty="0"/>
          </a:p>
          <a:p>
            <a:pPr lvl="2"/>
            <a:r>
              <a:rPr lang="zh-CN" altLang="en-US" dirty="0"/>
              <a:t>输出整数：</a:t>
            </a:r>
            <a:r>
              <a:rPr lang="en-US" altLang="zh-CN" dirty="0">
                <a:solidFill>
                  <a:srgbClr val="0000CC"/>
                </a:solidFill>
              </a:rPr>
              <a:t>%d</a:t>
            </a:r>
            <a:r>
              <a:rPr lang="zh-CN" altLang="en-US" dirty="0"/>
              <a:t> </a:t>
            </a:r>
            <a:r>
              <a:rPr lang="en-US" altLang="zh-CN" dirty="0"/>
              <a:t>(%</a:t>
            </a:r>
            <a:r>
              <a:rPr lang="en-US" altLang="zh-CN" dirty="0" err="1"/>
              <a:t>i</a:t>
            </a:r>
            <a:r>
              <a:rPr lang="en-US" altLang="zh-CN" dirty="0"/>
              <a:t>),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en-US" altLang="zh-CN" dirty="0" err="1">
                <a:solidFill>
                  <a:srgbClr val="FF0000"/>
                </a:solidFill>
              </a:rPr>
              <a:t>ld</a:t>
            </a:r>
            <a:r>
              <a:rPr lang="en-US" altLang="zh-CN" dirty="0">
                <a:solidFill>
                  <a:srgbClr val="FF0000"/>
                </a:solidFill>
              </a:rPr>
              <a:t>, %</a:t>
            </a:r>
            <a:r>
              <a:rPr lang="en-US" altLang="zh-CN" dirty="0" err="1">
                <a:solidFill>
                  <a:srgbClr val="FF0000"/>
                </a:solidFill>
              </a:rPr>
              <a:t>lld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%u,</a:t>
            </a:r>
            <a:r>
              <a:rPr lang="zh-CN" altLang="en-US" dirty="0"/>
              <a:t> </a:t>
            </a:r>
            <a:r>
              <a:rPr lang="en-US" altLang="zh-CN" dirty="0"/>
              <a:t>%o,</a:t>
            </a:r>
            <a:r>
              <a:rPr lang="zh-CN" altLang="en-US" dirty="0"/>
              <a:t> </a:t>
            </a:r>
            <a:r>
              <a:rPr lang="en-US" altLang="zh-CN" dirty="0"/>
              <a:t>%x,</a:t>
            </a:r>
            <a:r>
              <a:rPr lang="zh-CN" altLang="en-US" dirty="0"/>
              <a:t> </a:t>
            </a:r>
            <a:r>
              <a:rPr lang="en-US" altLang="zh-CN" dirty="0"/>
              <a:t>%X</a:t>
            </a:r>
            <a:endParaRPr lang="en-US" altLang="zh-CN" dirty="0"/>
          </a:p>
          <a:p>
            <a:pPr lvl="2"/>
            <a:r>
              <a:rPr lang="zh-CN" altLang="en-US" dirty="0"/>
              <a:t>输出实数：</a:t>
            </a:r>
            <a:r>
              <a:rPr lang="en-US" altLang="zh-CN" dirty="0">
                <a:solidFill>
                  <a:srgbClr val="0000CC"/>
                </a:solidFill>
              </a:rPr>
              <a:t>%f,</a:t>
            </a: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sz="2100" dirty="0">
                <a:solidFill>
                  <a:schemeClr val="bg1">
                    <a:lumMod val="65000"/>
                  </a:schemeClr>
                </a:solidFill>
              </a:rPr>
              <a:t>%</a:t>
            </a:r>
            <a:r>
              <a:rPr lang="en-US" altLang="zh-CN" sz="2100" dirty="0" err="1">
                <a:solidFill>
                  <a:schemeClr val="bg1">
                    <a:lumMod val="65000"/>
                  </a:schemeClr>
                </a:solidFill>
              </a:rPr>
              <a:t>lf</a:t>
            </a:r>
            <a:r>
              <a:rPr lang="en-US" altLang="zh-CN" sz="2100" dirty="0">
                <a:solidFill>
                  <a:srgbClr val="0000CC"/>
                </a:solidFill>
              </a:rPr>
              <a:t>,</a:t>
            </a:r>
            <a:r>
              <a:rPr lang="zh-CN" altLang="en-US" sz="2100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%e,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%E, %g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输出单个字符：</a:t>
            </a:r>
            <a:r>
              <a:rPr lang="en-US" altLang="zh-CN" dirty="0">
                <a:solidFill>
                  <a:srgbClr val="0000CC"/>
                </a:solidFill>
              </a:rPr>
              <a:t>%c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/>
              <a:t>输出字符串：</a:t>
            </a:r>
            <a:r>
              <a:rPr lang="en-US" altLang="zh-CN" dirty="0">
                <a:solidFill>
                  <a:srgbClr val="0000CC"/>
                </a:solidFill>
              </a:rPr>
              <a:t>%s</a:t>
            </a:r>
            <a:endParaRPr lang="en-US" altLang="zh-CN" dirty="0">
              <a:solidFill>
                <a:srgbClr val="0000CC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附加字符举例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输出数据的最小宽度：</a:t>
            </a:r>
            <a:r>
              <a:rPr lang="zh-CN" altLang="en-US" dirty="0">
                <a:solidFill>
                  <a:srgbClr val="0000CC"/>
                </a:solidFill>
              </a:rPr>
              <a:t>一个整数</a:t>
            </a:r>
            <a:r>
              <a:rPr lang="en-US" altLang="zh-CN" dirty="0">
                <a:solidFill>
                  <a:srgbClr val="0000CC"/>
                </a:solidFill>
              </a:rPr>
              <a:t>n (</a:t>
            </a:r>
            <a:r>
              <a:rPr lang="zh-CN" altLang="en-US" dirty="0">
                <a:solidFill>
                  <a:srgbClr val="0000CC"/>
                </a:solidFill>
              </a:rPr>
              <a:t>如</a:t>
            </a:r>
            <a:r>
              <a:rPr lang="en-US" altLang="zh-CN" dirty="0">
                <a:solidFill>
                  <a:srgbClr val="0000CC"/>
                </a:solidFill>
              </a:rPr>
              <a:t>%</a:t>
            </a:r>
            <a:r>
              <a:rPr lang="en-US" altLang="zh-CN" dirty="0" err="1">
                <a:solidFill>
                  <a:srgbClr val="0000CC"/>
                </a:solidFill>
              </a:rPr>
              <a:t>nf</a:t>
            </a:r>
            <a:r>
              <a:rPr lang="en-US" altLang="zh-CN" dirty="0">
                <a:solidFill>
                  <a:srgbClr val="0000CC"/>
                </a:solidFill>
              </a:rPr>
              <a:t>)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sz="2100" dirty="0"/>
              <a:t>输出小数点后几位：</a:t>
            </a:r>
            <a:r>
              <a:rPr lang="zh-CN" altLang="en-US" dirty="0">
                <a:solidFill>
                  <a:srgbClr val="0000CC"/>
                </a:solidFill>
              </a:rPr>
              <a:t>一个整数</a:t>
            </a:r>
            <a:r>
              <a:rPr lang="en-US" altLang="zh-CN" dirty="0">
                <a:solidFill>
                  <a:srgbClr val="0000CC"/>
                </a:solidFill>
              </a:rPr>
              <a:t>m (</a:t>
            </a:r>
            <a:r>
              <a:rPr lang="zh-CN" altLang="en-US" dirty="0">
                <a:solidFill>
                  <a:srgbClr val="0000CC"/>
                </a:solidFill>
              </a:rPr>
              <a:t>如</a:t>
            </a:r>
            <a:r>
              <a:rPr lang="en-US" altLang="zh-CN" b="1" dirty="0">
                <a:solidFill>
                  <a:srgbClr val="FF0000"/>
                </a:solidFill>
              </a:rPr>
              <a:t>%.mf</a:t>
            </a:r>
            <a:r>
              <a:rPr lang="en-US" altLang="zh-CN" dirty="0">
                <a:solidFill>
                  <a:srgbClr val="0000CC"/>
                </a:solidFill>
              </a:rPr>
              <a:t>)</a:t>
            </a:r>
            <a:endParaRPr lang="en-US" altLang="zh-CN" dirty="0">
              <a:solidFill>
                <a:srgbClr val="0000CC"/>
              </a:solidFill>
            </a:endParaRPr>
          </a:p>
          <a:p>
            <a:pPr lvl="2"/>
            <a:r>
              <a:rPr lang="zh-CN" altLang="en-US" dirty="0"/>
              <a:t>靠左对齐与靠右对齐：</a:t>
            </a:r>
            <a:r>
              <a:rPr lang="zh-CN" altLang="en-US" dirty="0">
                <a:solidFill>
                  <a:srgbClr val="0000CC"/>
                </a:solidFill>
              </a:rPr>
              <a:t>加符号</a:t>
            </a:r>
            <a:r>
              <a:rPr lang="en-US" altLang="zh-CN" dirty="0">
                <a:solidFill>
                  <a:srgbClr val="0000CC"/>
                </a:solidFill>
              </a:rPr>
              <a:t>- (</a:t>
            </a:r>
            <a:r>
              <a:rPr lang="zh-CN" altLang="en-US" dirty="0">
                <a:solidFill>
                  <a:srgbClr val="0000CC"/>
                </a:solidFill>
              </a:rPr>
              <a:t>如</a:t>
            </a:r>
            <a:r>
              <a:rPr lang="en-US" altLang="zh-CN" b="1" dirty="0">
                <a:solidFill>
                  <a:srgbClr val="FF0000"/>
                </a:solidFill>
              </a:rPr>
              <a:t>%-f</a:t>
            </a:r>
            <a:r>
              <a:rPr lang="en-US" altLang="zh-CN" dirty="0">
                <a:solidFill>
                  <a:srgbClr val="0000CC"/>
                </a:solidFill>
              </a:rPr>
              <a:t>)</a:t>
            </a:r>
            <a:r>
              <a:rPr lang="zh-CN" altLang="en-US" dirty="0">
                <a:solidFill>
                  <a:srgbClr val="0000CC"/>
                </a:solidFill>
              </a:rPr>
              <a:t>与不加</a:t>
            </a:r>
            <a:endParaRPr lang="en-US" altLang="zh-CN" dirty="0">
              <a:solidFill>
                <a:srgbClr val="0000CC"/>
              </a:solidFill>
            </a:endParaRPr>
          </a:p>
          <a:p>
            <a:pPr lvl="3"/>
            <a:endParaRPr lang="en-US" altLang="zh-CN" dirty="0">
              <a:solidFill>
                <a:srgbClr val="0000CC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61716" y="2392886"/>
            <a:ext cx="23399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不同类型变量</a:t>
            </a:r>
            <a:endParaRPr lang="en-US" altLang="zh-CN" sz="2400" dirty="0">
              <a:solidFill>
                <a:srgbClr val="0000CC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dirty="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Gill Sans"/>
              </a:rPr>
              <a:t>输出格式与精度</a:t>
            </a:r>
            <a:endParaRPr lang="en-US" altLang="zh-CN" sz="2400" dirty="0">
              <a:solidFill>
                <a:srgbClr val="0000CC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3714" y="2392886"/>
            <a:ext cx="2646362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对数据输出</a:t>
            </a:r>
            <a:endParaRPr lang="en-US" altLang="zh-CN" sz="2400">
              <a:solidFill>
                <a:srgbClr val="0000CC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  <a:cs typeface="Gill Sans"/>
              </a:rPr>
              <a:t>做基本的“排版”</a:t>
            </a:r>
            <a:endParaRPr lang="en-US" altLang="zh-CN" sz="2400">
              <a:solidFill>
                <a:srgbClr val="0000CC"/>
              </a:solidFill>
              <a:latin typeface="Gill Sans"/>
              <a:ea typeface="Gill Sans"/>
              <a:cs typeface="Gill Sa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13714" y="2392884"/>
            <a:ext cx="264636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61716" y="2367484"/>
            <a:ext cx="2339975" cy="2540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175779" y="2078559"/>
            <a:ext cx="1123950" cy="288925"/>
          </a:xfrm>
          <a:prstGeom prst="line">
            <a:avLst/>
          </a:pr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0"/>
          </p:cNvCxnSpPr>
          <p:nvPr/>
        </p:nvCxnSpPr>
        <p:spPr>
          <a:xfrm flipH="1" flipV="1">
            <a:off x="4884051" y="2103961"/>
            <a:ext cx="247650" cy="288925"/>
          </a:xfrm>
          <a:prstGeom prst="line">
            <a:avLst/>
          </a:prstGeom>
          <a:ln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264355" y="1155576"/>
            <a:ext cx="2746332" cy="1217402"/>
            <a:chOff x="5622416" y="1878223"/>
            <a:chExt cx="2746332" cy="1217402"/>
          </a:xfrm>
        </p:grpSpPr>
        <p:sp>
          <p:nvSpPr>
            <p:cNvPr id="11" name="圆角矩形 16"/>
            <p:cNvSpPr/>
            <p:nvPr/>
          </p:nvSpPr>
          <p:spPr>
            <a:xfrm>
              <a:off x="5622416" y="1878223"/>
              <a:ext cx="2746332" cy="1217402"/>
            </a:xfrm>
            <a:prstGeom prst="roundRect">
              <a:avLst>
                <a:gd name="adj" fmla="val 2781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3638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printf("i=%d,c=%c\n", i, c )</a:t>
              </a:r>
              <a:endParaRPr kumimoji="0" lang="en-US" altLang="zh-CN" sz="1600" b="0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线形标注 2(带强调线) 17"/>
            <p:cNvSpPr/>
            <p:nvPr/>
          </p:nvSpPr>
          <p:spPr>
            <a:xfrm rot="16200000">
              <a:off x="6323127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文本框 7"/>
            <p:cNvSpPr txBox="1"/>
            <p:nvPr/>
          </p:nvSpPr>
          <p:spPr>
            <a:xfrm>
              <a:off x="5953539" y="2313392"/>
              <a:ext cx="2415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普通字符 格式声明</a:t>
              </a:r>
              <a:endParaRPr kumimoji="0" lang="zh-CN" altLang="en-US" sz="1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线形标注 2(带强调线) 19"/>
            <p:cNvSpPr/>
            <p:nvPr/>
          </p:nvSpPr>
          <p:spPr>
            <a:xfrm rot="16200000">
              <a:off x="6998988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9060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线形标注 2(带强调线) 20"/>
            <p:cNvSpPr/>
            <p:nvPr/>
          </p:nvSpPr>
          <p:spPr>
            <a:xfrm rot="16200000">
              <a:off x="7588684" y="1934452"/>
              <a:ext cx="193537" cy="288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9080"/>
                <a:gd name="adj6" fmla="val -314785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线形标注 2(带强调线) 21"/>
            <p:cNvSpPr/>
            <p:nvPr/>
          </p:nvSpPr>
          <p:spPr>
            <a:xfrm rot="16200000">
              <a:off x="6273728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32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线形标注 2(带强调线) 22"/>
            <p:cNvSpPr/>
            <p:nvPr/>
          </p:nvSpPr>
          <p:spPr>
            <a:xfrm rot="16200000">
              <a:off x="7008441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61"/>
                <a:gd name="adj4" fmla="val -869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文本框 12"/>
            <p:cNvSpPr txBox="1"/>
            <p:nvPr/>
          </p:nvSpPr>
          <p:spPr>
            <a:xfrm>
              <a:off x="6379304" y="2759340"/>
              <a:ext cx="1989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格式控制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	</a:t>
              </a:r>
              <a:r>
                <a:rPr kumimoji="0" lang="zh-CN" altLang="en-US" sz="1400" b="0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输出列表</a:t>
              </a:r>
              <a:endParaRPr kumimoji="0" lang="zh-CN" altLang="en-US" sz="1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487451" y="4058790"/>
            <a:ext cx="43001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ld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(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)1e15);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"%u\n 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-5);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"%-10.2E\n"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0.12356789);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"%10.2E\n"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0.12356789);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输出结果是什么样的？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sz="16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0161" y="5525786"/>
            <a:ext cx="1582921" cy="1027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err="1"/>
              <a:t>printf</a:t>
            </a:r>
            <a:r>
              <a:rPr lang="zh-CN" altLang="en-US" sz="2800" dirty="0"/>
              <a:t>的</a:t>
            </a:r>
            <a:br>
              <a:rPr lang="en-US" altLang="zh-CN" sz="2800" dirty="0"/>
            </a:br>
            <a:r>
              <a:rPr lang="zh-CN" altLang="en-US" sz="2800" dirty="0"/>
              <a:t>格式声明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107504" y="1645176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附加字符  格式字符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MH_Desc_1"/>
          <p:cNvSpPr/>
          <p:nvPr>
            <p:custDataLst>
              <p:tags r:id="rId1"/>
            </p:custDataLst>
          </p:nvPr>
        </p:nvSpPr>
        <p:spPr>
          <a:xfrm>
            <a:off x="107504" y="2221240"/>
            <a:ext cx="4389782" cy="396882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(1)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printf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函数输出时，务必注意输出对象的类型应与上述格式说明匹配，否则将会出现错误。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(2)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除了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X,E,G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外，其他格式字符必须用小写字母，如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不能写成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(3)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可以在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printf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函数中的格式控制字符串内包含转义字符，如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\n,\t,\b,\r,\f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\377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等。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(4)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一个格式声明以“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开头，以格式字符之一为结束，中间可以插入附加格式字符（也称修饰符）。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(5)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如果想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输出字符“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，应该在“格式控制字符串”中用连续两个“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表示，如：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printf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(″%f%%\n″,1.0/3);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44008" y="1645176"/>
          <a:ext cx="4320480" cy="311886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648072"/>
                <a:gridCol w="3672408"/>
              </a:tblGrid>
              <a:tr h="30479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格式字符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d,i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</a:rPr>
                        <a:t>带符号十进制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形式输出整数（正数不输出符号）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o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八进制无符号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形式输出整数（不输出前导符０）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x,X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十六进制无符号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形式输出整数（不输出前导符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0x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则输出十六进制数的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a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时以小写形式输出，用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时，则以大写字母输出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u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无符号十进制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形式输出整数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c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以字符形式输出，只输出一个字符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8787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输出字符串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15792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f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以小数形式输出单、双精度数，隐含输出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6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位小数</a:t>
                      </a:r>
                      <a:endParaRPr lang="zh-CN" sz="900" b="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 err="1">
                          <a:latin typeface="+mn-ea"/>
                          <a:ea typeface="+mn-ea"/>
                          <a:cs typeface="+mn-cs"/>
                        </a:rPr>
                        <a:t>e,E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以指数形式输出实数，用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时指数以“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e”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1.2e+02)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，用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时指数以“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E”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1.2E+02)</a:t>
                      </a:r>
                      <a:endParaRPr lang="zh-CN" sz="900" b="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477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 err="1">
                          <a:latin typeface="+mn-ea"/>
                          <a:ea typeface="+mn-ea"/>
                          <a:cs typeface="Times New Roman" panose="02020603050405020304"/>
                        </a:rPr>
                        <a:t>g,G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选用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%f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或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%e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格式中输出</a:t>
                      </a:r>
                      <a:r>
                        <a:rPr lang="zh-CN" altLang="en-US" sz="900" b="1" u="none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宽度较短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的一种格式，不输出无意义的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0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。用</a:t>
                      </a:r>
                      <a:r>
                        <a:rPr lang="en-US" altLang="zh-CN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G</a:t>
                      </a: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/>
                        </a:rPr>
                        <a:t>时，若以指数形式输出，则指数以大写表示</a:t>
                      </a:r>
                      <a:endParaRPr lang="zh-CN" sz="900" b="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44008" y="4901914"/>
          <a:ext cx="4320480" cy="128815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040447"/>
                <a:gridCol w="3280033"/>
              </a:tblGrid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附加字符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l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长整型整数，可加在格式符ｄ、ｏ、ｘ、ｕ前面）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>
                          <a:latin typeface="+mn-ea"/>
                          <a:ea typeface="+mn-ea"/>
                        </a:rPr>
                        <a:t>m</a:t>
                      </a:r>
                      <a:endParaRPr lang="en-US" altLang="zh-CN" sz="900" b="1" kern="100" dirty="0">
                        <a:latin typeface="+mn-ea"/>
                        <a:ea typeface="+mn-ea"/>
                      </a:endParaRPr>
                    </a:p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1" kern="100" dirty="0">
                          <a:latin typeface="+mn-ea"/>
                          <a:ea typeface="+mn-ea"/>
                        </a:rPr>
                        <a:t>代表一个正整数</a:t>
                      </a:r>
                      <a:r>
                        <a:rPr lang="en-US" altLang="zh-CN" sz="900" b="1" kern="100" dirty="0">
                          <a:latin typeface="+mn-ea"/>
                          <a:ea typeface="+mn-ea"/>
                        </a:rPr>
                        <a:t>)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</a:t>
                      </a:r>
                      <a:r>
                        <a:rPr lang="zh-CN" altLang="en-US" sz="9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最小宽度</a:t>
                      </a:r>
                      <a:endParaRPr lang="zh-CN" sz="900" b="1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n</a:t>
                      </a:r>
                      <a:endParaRPr lang="en-US" sz="900" b="1" kern="100">
                        <a:latin typeface="+mn-ea"/>
                        <a:ea typeface="+mn-ea"/>
                      </a:endParaRPr>
                    </a:p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1" kern="100">
                          <a:latin typeface="+mn-ea"/>
                          <a:ea typeface="+mn-ea"/>
                        </a:rPr>
                        <a:t>代表一个正整数</a:t>
                      </a: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)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对实数，表示输出ｎ位小数；对字符串，表示截取的字符个数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46504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-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输出的数字或字符在域内向左靠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</p:spPr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08320" y="650992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课后自己写程序试试看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err="1"/>
              <a:t>printf</a:t>
            </a:r>
            <a:r>
              <a:rPr lang="zh-CN" altLang="en-US" sz="2800" dirty="0"/>
              <a:t>的</a:t>
            </a:r>
            <a:br>
              <a:rPr lang="en-US" altLang="zh-CN" sz="2800" dirty="0"/>
            </a:br>
            <a:r>
              <a:rPr lang="zh-CN" altLang="en-US" sz="2800" dirty="0"/>
              <a:t>格式声明</a:t>
            </a:r>
            <a:endParaRPr lang="zh-CN" altLang="en-US" sz="2800" dirty="0"/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848131" y="1932073"/>
            <a:ext cx="7622630" cy="420747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stdio.h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&gt;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main()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char c = 'A';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float f = 1234.567890;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char str[] = "Hello";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("%c %d %o %x\n", c, c, c, c);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("%f %e %g\n", f, f, f);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("%10d\n%-10d\n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%010d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\n", c, c, c);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("%10.4f\n%10.8f\n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%4.6f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\n", f, f, f);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16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("%s\n", str);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return 0;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446" y="261756"/>
            <a:ext cx="3880764" cy="238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40" y="1564013"/>
            <a:ext cx="4795922" cy="47641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55640"/>
          <a:stretch>
            <a:fillRect/>
          </a:stretch>
        </p:blipFill>
        <p:spPr>
          <a:xfrm>
            <a:off x="5623438" y="3851753"/>
            <a:ext cx="3153022" cy="2891871"/>
          </a:xfrm>
          <a:prstGeom prst="rect">
            <a:avLst/>
          </a:prstGeom>
        </p:spPr>
      </p:pic>
      <p:sp>
        <p:nvSpPr>
          <p:cNvPr id="9" name="Rectangle: Rounded Corners 8"/>
          <p:cNvSpPr/>
          <p:nvPr/>
        </p:nvSpPr>
        <p:spPr>
          <a:xfrm>
            <a:off x="5730240" y="3787140"/>
            <a:ext cx="3046220" cy="3017520"/>
          </a:xfrm>
          <a:prstGeom prst="roundRect">
            <a:avLst>
              <a:gd name="adj" fmla="val 858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107180" y="4537333"/>
            <a:ext cx="1623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要求掌握，经常使用，考试没有相关提示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i="0" dirty="0">
                <a:effectLst/>
                <a:latin typeface="Lato" panose="020F0502020204030203" pitchFamily="34" charset="0"/>
              </a:rPr>
              <a:t>#6.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浮点数求和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库：</a:t>
            </a:r>
            <a:r>
              <a:rPr lang="en-US" altLang="zh-CN" sz="2800" b="1" dirty="0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#include&lt;stdio.h&gt;</a:t>
            </a:r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要在程序文件的开头用预处理指令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把有关头文件放在本程序中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输出库函数：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US" altLang="zh-CN" dirty="0"/>
              <a:t>(a1,a2…);</a:t>
            </a:r>
            <a:endParaRPr lang="en-US" altLang="zh-CN" dirty="0"/>
          </a:p>
          <a:p>
            <a:r>
              <a:rPr lang="zh-CN" altLang="en-US" dirty="0"/>
              <a:t>输入库函数：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scanf</a:t>
            </a:r>
            <a:r>
              <a:rPr lang="en-US" altLang="zh-CN" dirty="0"/>
              <a:t>(a1,a2…);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字符串的输入输出</a:t>
            </a:r>
            <a:endParaRPr lang="en-US" altLang="zh-CN" dirty="0"/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语言的输入输出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设计 </a:t>
            </a:r>
            <a:r>
              <a:rPr lang="en-US" altLang="zh-CN" dirty="0" err="1"/>
              <a:t>scanf</a:t>
            </a:r>
            <a:r>
              <a:rPr lang="zh-CN" altLang="en-US" dirty="0"/>
              <a:t> 的基本思想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506735" y="1480171"/>
            <a:ext cx="7499350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参考 </a:t>
            </a:r>
            <a:r>
              <a:rPr lang="en-US" altLang="zh-CN" dirty="0" err="1"/>
              <a:t>printf</a:t>
            </a:r>
            <a:r>
              <a:rPr lang="zh-CN" altLang="en-US" dirty="0"/>
              <a:t> 的例子，</a:t>
            </a:r>
            <a:r>
              <a:rPr lang="en-US" altLang="zh-CN" dirty="0" err="1"/>
              <a:t>scanf</a:t>
            </a:r>
            <a:r>
              <a:rPr lang="zh-CN" altLang="en-US" dirty="0"/>
              <a:t>也应包含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格式控制与变量列表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箭头: 下 3"/>
          <p:cNvSpPr/>
          <p:nvPr/>
        </p:nvSpPr>
        <p:spPr>
          <a:xfrm rot="5400000">
            <a:off x="6569718" y="3258177"/>
            <a:ext cx="402744" cy="425651"/>
          </a:xfrm>
          <a:prstGeom prst="down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74859" y="315546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容易漏写！</a:t>
            </a:r>
            <a:endParaRPr lang="zh-CN" altLang="en-US" sz="3200" dirty="0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6329" y="2669595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rgbClr val="00B05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格式控制</a:t>
            </a:r>
            <a:endParaRPr lang="en-US" altLang="zh-CN" sz="2800" dirty="0">
              <a:solidFill>
                <a:srgbClr val="00B05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726" y="2654472"/>
            <a:ext cx="23583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输入变量列表</a:t>
            </a:r>
            <a:endParaRPr lang="en-US" altLang="zh-CN" sz="2800" dirty="0">
              <a:solidFill>
                <a:srgbClr val="000000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22386" y="3234702"/>
            <a:ext cx="349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scanf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%</a:t>
            </a:r>
            <a:r>
              <a:rPr lang="en-US" altLang="zh-CN" sz="2800" b="1" dirty="0" err="1">
                <a:solidFill>
                  <a:srgbClr val="00B050"/>
                </a:solidFill>
              </a:rPr>
              <a:t>d%d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a,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b);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16361" y="5458643"/>
            <a:ext cx="6339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&amp;</a:t>
            </a:r>
            <a:r>
              <a:rPr lang="en-US" altLang="zh-CN" sz="2800" dirty="0"/>
              <a:t>: </a:t>
            </a:r>
            <a:r>
              <a:rPr lang="zh-CN" altLang="en-US" sz="2800" dirty="0"/>
              <a:t>取地址符（读入的数存在哪个房间）</a:t>
            </a:r>
            <a:endParaRPr lang="zh-CN" alt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903220" y="3919431"/>
            <a:ext cx="3230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等价于</a:t>
            </a:r>
            <a:r>
              <a:rPr lang="en-US" altLang="zh-CN" sz="3200" b="1" dirty="0" err="1"/>
              <a:t>cin</a:t>
            </a:r>
            <a:r>
              <a:rPr lang="en-US" altLang="zh-CN" sz="3200" b="1" dirty="0"/>
              <a:t>&gt;&gt;a&gt;&gt;b;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设计 </a:t>
            </a:r>
            <a:r>
              <a:rPr lang="en-US" altLang="zh-CN" dirty="0" err="1"/>
              <a:t>scanf</a:t>
            </a:r>
            <a:r>
              <a:rPr lang="zh-CN" altLang="en-US" dirty="0"/>
              <a:t> 的基本思想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506735" y="1480171"/>
            <a:ext cx="7499350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参考 </a:t>
            </a:r>
            <a:r>
              <a:rPr lang="en-US" altLang="zh-CN" dirty="0" err="1"/>
              <a:t>printf</a:t>
            </a:r>
            <a:r>
              <a:rPr lang="zh-CN" altLang="en-US" dirty="0"/>
              <a:t> 的例子，</a:t>
            </a:r>
            <a:r>
              <a:rPr lang="en-US" altLang="zh-CN" dirty="0" err="1"/>
              <a:t>scanf</a:t>
            </a:r>
            <a:r>
              <a:rPr lang="zh-CN" altLang="en-US" dirty="0"/>
              <a:t>也应包含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格式控制与变量列表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箭头: 下 3"/>
          <p:cNvSpPr/>
          <p:nvPr/>
        </p:nvSpPr>
        <p:spPr>
          <a:xfrm rot="5400000">
            <a:off x="6569718" y="3258177"/>
            <a:ext cx="402744" cy="425651"/>
          </a:xfrm>
          <a:prstGeom prst="down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74859" y="315546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容易漏写！</a:t>
            </a:r>
            <a:endParaRPr lang="zh-CN" altLang="en-US" sz="3200" dirty="0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6329" y="2669595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dirty="0">
                <a:solidFill>
                  <a:srgbClr val="00B05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格式控制</a:t>
            </a:r>
            <a:endParaRPr lang="en-US" altLang="zh-CN" sz="2800" dirty="0">
              <a:solidFill>
                <a:srgbClr val="00B05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726" y="2654472"/>
            <a:ext cx="23583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输入变量列表</a:t>
            </a:r>
            <a:endParaRPr lang="en-US" altLang="zh-CN" sz="2800" dirty="0">
              <a:solidFill>
                <a:srgbClr val="000000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0174" y="4540853"/>
            <a:ext cx="5404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scanf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Welcome to RUC %d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year);</a:t>
            </a:r>
            <a:endParaRPr lang="zh-CN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343013" y="5018338"/>
            <a:ext cx="3673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scanf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%d+%d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a,</a:t>
            </a:r>
            <a:r>
              <a:rPr lang="zh-CN" altLang="en-US" sz="2800" b="1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b);</a:t>
            </a:r>
            <a:endParaRPr lang="zh-CN" alt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822386" y="3234702"/>
            <a:ext cx="349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/>
              <a:t>scanf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00B050"/>
                </a:solidFill>
              </a:rPr>
              <a:t>“</a:t>
            </a:r>
            <a:r>
              <a:rPr lang="en-US" altLang="zh-CN" sz="2800" b="1" dirty="0">
                <a:solidFill>
                  <a:srgbClr val="00B050"/>
                </a:solidFill>
              </a:rPr>
              <a:t>%</a:t>
            </a:r>
            <a:r>
              <a:rPr lang="en-US" altLang="zh-CN" sz="2800" b="1" dirty="0" err="1">
                <a:solidFill>
                  <a:srgbClr val="00B050"/>
                </a:solidFill>
              </a:rPr>
              <a:t>d%d</a:t>
            </a:r>
            <a:r>
              <a:rPr lang="zh-CN" altLang="en-US" sz="2800" b="1" dirty="0">
                <a:solidFill>
                  <a:srgbClr val="00B050"/>
                </a:solidFill>
              </a:rPr>
              <a:t>”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a, </a:t>
            </a:r>
            <a:r>
              <a:rPr lang="en-US" altLang="zh-CN" sz="2800" b="1" dirty="0">
                <a:solidFill>
                  <a:srgbClr val="FF0000"/>
                </a:solidFill>
              </a:rPr>
              <a:t>&amp;</a:t>
            </a:r>
            <a:r>
              <a:rPr lang="en-US" altLang="zh-CN" sz="2800" b="1" dirty="0"/>
              <a:t>b);</a:t>
            </a:r>
            <a:endParaRPr lang="zh-CN" alt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196717" y="3900972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还可以从一串字符的特定位置读取：</a:t>
            </a:r>
            <a:endParaRPr lang="zh-CN" alt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076224" y="5820074"/>
            <a:ext cx="45925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输入必须完全按照这个格式，否则无法正确读入</a:t>
            </a:r>
            <a:r>
              <a:rPr lang="en-US" altLang="zh-CN" sz="2800" b="1" dirty="0"/>
              <a:t>%d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701" y="46299"/>
            <a:ext cx="8230387" cy="1539994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visual studio</a:t>
            </a:r>
            <a:r>
              <a:rPr lang="zh-CN" altLang="en-US" dirty="0"/>
              <a:t>中使用</a:t>
            </a:r>
            <a:r>
              <a:rPr lang="en-US" altLang="zh-CN" dirty="0" err="1"/>
              <a:t>scanf</a:t>
            </a:r>
            <a:r>
              <a:rPr lang="zh-CN" altLang="en-US" dirty="0"/>
              <a:t>报错问题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vs code</a:t>
            </a:r>
            <a:r>
              <a:rPr lang="zh-CN" altLang="en-US" dirty="0"/>
              <a:t>没有这个问题）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1943" y="5235073"/>
            <a:ext cx="6920114" cy="148640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解决方案：</a:t>
            </a:r>
            <a:endParaRPr lang="en-US" altLang="zh-CN" sz="1800" dirty="0"/>
          </a:p>
          <a:p>
            <a:pPr lvl="1"/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方案一（不推荐）：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scanf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换成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scanf_s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，因为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yoj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上不怎么兼容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scanf_s</a:t>
            </a:r>
            <a:endParaRPr lang="en-US" altLang="zh-CN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sz="1600" dirty="0"/>
              <a:t>方案二（推荐）：</a:t>
            </a:r>
            <a:r>
              <a:rPr lang="en-US" altLang="zh-CN" sz="1600" dirty="0"/>
              <a:t>vs</a:t>
            </a:r>
            <a:r>
              <a:rPr lang="zh-CN" altLang="en-US" sz="1600" dirty="0"/>
              <a:t>程序中第一行加上如下语句</a:t>
            </a:r>
            <a:endParaRPr lang="en-US" altLang="zh-CN" sz="1600" dirty="0"/>
          </a:p>
          <a:p>
            <a:pPr marL="397510" lvl="1" indent="0">
              <a:buNone/>
            </a:pP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#define _CRT_SECURE_NO_WARNINGS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808" y="1637617"/>
            <a:ext cx="6504384" cy="349440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#1547. </a:t>
            </a:r>
            <a:r>
              <a:rPr lang="zh-CN" altLang="en-US" dirty="0"/>
              <a:t>读入表达式进行计算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106" y="1306881"/>
            <a:ext cx="6812474" cy="55511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输出函数 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scanf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的使用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格式声明进阶</a:t>
            </a:r>
            <a:endParaRPr lang="en-US" altLang="zh-CN" sz="2800" dirty="0"/>
          </a:p>
          <a:p>
            <a:r>
              <a:rPr lang="zh-CN" altLang="en-US" sz="2800" dirty="0"/>
              <a:t>不同类型数据（注意匹配）</a:t>
            </a:r>
            <a:endParaRPr lang="en-US" altLang="zh-CN" sz="2800" dirty="0"/>
          </a:p>
          <a:p>
            <a:r>
              <a:rPr lang="zh-CN" altLang="en-US" sz="2800" dirty="0"/>
              <a:t>进制</a:t>
            </a:r>
            <a:r>
              <a:rPr lang="zh-CN" altLang="en-US" sz="2800" strike="sngStrike" dirty="0">
                <a:solidFill>
                  <a:schemeClr val="bg2">
                    <a:lumMod val="75000"/>
                  </a:schemeClr>
                </a:solidFill>
              </a:rPr>
              <a:t>及科学计数法</a:t>
            </a:r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</a:rPr>
              <a:t>（大小写）</a:t>
            </a:r>
            <a:endParaRPr lang="en-US" altLang="zh-CN" sz="28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800" strike="sngStrike" dirty="0">
                <a:solidFill>
                  <a:schemeClr val="bg2">
                    <a:lumMod val="75000"/>
                  </a:schemeClr>
                </a:solidFill>
              </a:rPr>
              <a:t>精度及</a:t>
            </a:r>
            <a:r>
              <a:rPr lang="zh-CN" altLang="en-US" sz="2800" dirty="0"/>
              <a:t>宽度控制</a:t>
            </a:r>
            <a:endParaRPr lang="en-US" altLang="zh-CN" sz="2800" dirty="0"/>
          </a:p>
          <a:p>
            <a:r>
              <a:rPr lang="zh-CN" altLang="en-US" sz="2800" strike="sngStrike" dirty="0">
                <a:solidFill>
                  <a:schemeClr val="bg2">
                    <a:lumMod val="75000"/>
                  </a:schemeClr>
                </a:solidFill>
              </a:rPr>
              <a:t>左对齐及右对齐（填充</a:t>
            </a:r>
            <a:r>
              <a:rPr lang="en-US" altLang="zh-CN" sz="2800" strike="sngStrike" dirty="0">
                <a:solidFill>
                  <a:schemeClr val="bg2">
                    <a:lumMod val="75000"/>
                  </a:schemeClr>
                </a:solidFill>
              </a:rPr>
              <a:t>0</a:t>
            </a:r>
            <a:r>
              <a:rPr lang="zh-CN" altLang="en-US" sz="2800" strike="sngStrike" dirty="0">
                <a:solidFill>
                  <a:schemeClr val="bg2">
                    <a:lumMod val="75000"/>
                  </a:schemeClr>
                </a:solidFill>
              </a:rPr>
              <a:t>）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strike="sngStrike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800" dirty="0"/>
              <a:t>分隔符：</a:t>
            </a:r>
            <a:r>
              <a:rPr lang="en-US" altLang="zh-CN" sz="2800" dirty="0"/>
              <a:t>%c</a:t>
            </a:r>
            <a:r>
              <a:rPr lang="zh-CN" altLang="en-US" sz="2800" dirty="0"/>
              <a:t>与空白分隔符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85901" y="1668340"/>
            <a:ext cx="6187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输入，</a:t>
            </a:r>
            <a:r>
              <a:rPr lang="en-US" altLang="zh-CN" sz="2400" dirty="0"/>
              <a:t>%</a:t>
            </a:r>
            <a:r>
              <a:rPr lang="zh-CN" altLang="en-US" sz="2400" dirty="0"/>
              <a:t>，变量类型三重匹配，</a:t>
            </a:r>
            <a:r>
              <a:rPr lang="en-US" altLang="zh-CN" sz="2400" dirty="0">
                <a:solidFill>
                  <a:srgbClr val="FF0000"/>
                </a:solidFill>
              </a:rPr>
              <a:t>double</a:t>
            </a:r>
            <a:r>
              <a:rPr lang="zh-CN" altLang="en-US" sz="2400" dirty="0">
                <a:solidFill>
                  <a:srgbClr val="FF0000"/>
                </a:solidFill>
              </a:rPr>
              <a:t>的区别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函数输入数据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395536" y="1800344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scanf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（格式控制，地址表列）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71908" y="1800344"/>
            <a:ext cx="3426334" cy="1217402"/>
            <a:chOff x="5622416" y="1878223"/>
            <a:chExt cx="3426334" cy="1217402"/>
          </a:xfrm>
        </p:grpSpPr>
        <p:sp>
          <p:nvSpPr>
            <p:cNvPr id="5" name="圆角矩形 5"/>
            <p:cNvSpPr/>
            <p:nvPr/>
          </p:nvSpPr>
          <p:spPr>
            <a:xfrm>
              <a:off x="5622416" y="1878223"/>
              <a:ext cx="3426334" cy="1217402"/>
            </a:xfrm>
            <a:prstGeom prst="roundRect">
              <a:avLst>
                <a:gd name="adj" fmla="val 2781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E84C22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3638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scanf("a=%f,b=%f,c=%f", &amp;a, &amp;b, &amp;c );</a:t>
              </a:r>
              <a:endParaRPr kumimoji="0" lang="en-US" altLang="zh-CN" sz="1600" b="0" i="0" u="none" strike="noStrike" kern="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线形标注 2(带强调线) 6"/>
            <p:cNvSpPr/>
            <p:nvPr/>
          </p:nvSpPr>
          <p:spPr>
            <a:xfrm rot="16200000">
              <a:off x="6321520" y="1959246"/>
              <a:ext cx="193537" cy="234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6482"/>
                <a:gd name="adj6" fmla="val -103159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953539" y="2313392"/>
              <a:ext cx="2415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普通字符 格式声明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8" name="线形标注 2(带强调线) 8"/>
            <p:cNvSpPr/>
            <p:nvPr/>
          </p:nvSpPr>
          <p:spPr>
            <a:xfrm rot="16200000">
              <a:off x="6979532" y="1986011"/>
              <a:ext cx="193537" cy="180470"/>
            </a:xfrm>
            <a:prstGeom prst="accentCallout2">
              <a:avLst>
                <a:gd name="adj1" fmla="val 18750"/>
                <a:gd name="adj2" fmla="val -8333"/>
                <a:gd name="adj3" fmla="val 59060"/>
                <a:gd name="adj4" fmla="val -825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线形标注 2(带强调线) 9"/>
            <p:cNvSpPr/>
            <p:nvPr/>
          </p:nvSpPr>
          <p:spPr>
            <a:xfrm rot="16200000">
              <a:off x="8154752" y="1568409"/>
              <a:ext cx="181451" cy="1008000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251"/>
                <a:gd name="adj5" fmla="val 57820"/>
                <a:gd name="adj6" fmla="val -314787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线形标注 2(带强调线) 10"/>
            <p:cNvSpPr/>
            <p:nvPr/>
          </p:nvSpPr>
          <p:spPr>
            <a:xfrm rot="16200000">
              <a:off x="6273728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01"/>
                <a:gd name="adj4" fmla="val -832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线形标注 2(带强调线) 11"/>
            <p:cNvSpPr/>
            <p:nvPr/>
          </p:nvSpPr>
          <p:spPr>
            <a:xfrm rot="16200000">
              <a:off x="7008441" y="2109232"/>
              <a:ext cx="223493" cy="686634"/>
            </a:xfrm>
            <a:prstGeom prst="accentCallout2">
              <a:avLst>
                <a:gd name="adj1" fmla="val 18750"/>
                <a:gd name="adj2" fmla="val -8333"/>
                <a:gd name="adj3" fmla="val 57361"/>
                <a:gd name="adj4" fmla="val -8691"/>
                <a:gd name="adj5" fmla="val 57427"/>
                <a:gd name="adj6" fmla="val -103158"/>
              </a:avLst>
            </a:prstGeom>
            <a:solidFill>
              <a:srgbClr val="E84C22">
                <a:alpha val="30000"/>
              </a:srgbClr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379303" y="2759340"/>
              <a:ext cx="25425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格式控制</a:t>
              </a: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	            </a:t>
              </a: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地址</a:t>
              </a:r>
              <a:r>
                <a:rPr kumimoji="0" lang="zh-CN" altLang="en-US" sz="1400" b="0" i="0" u="none" strike="noStrike" kern="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rPr>
                <a:t>列表</a:t>
              </a:r>
              <a:endParaRPr kumimoji="0" lang="zh-CN" altLang="en-US" sz="1400" b="0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3" name="MH_Desc_1"/>
          <p:cNvSpPr/>
          <p:nvPr>
            <p:custDataLst>
              <p:tags r:id="rId1"/>
            </p:custDataLst>
          </p:nvPr>
        </p:nvSpPr>
        <p:spPr>
          <a:xfrm>
            <a:off x="395536" y="2582774"/>
            <a:ext cx="4389782" cy="275093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(1) “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格式控制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”是用双引号括起来的一个字符串，含义同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printf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函数。包括：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①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格式声明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。以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开始，以一个格式字符结束，中间可以插入附加的字符。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②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普通字符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(2)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地址表列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是由若干个地址组成的表列，可以是变量的地址，或字符串的首地址。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1019" y="3831940"/>
            <a:ext cx="2789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如果用</a:t>
            </a:r>
            <a:r>
              <a:rPr lang="en-US" altLang="zh-CN" sz="2000" dirty="0"/>
              <a:t>%f</a:t>
            </a:r>
            <a:r>
              <a:rPr lang="zh-CN" altLang="en-US" sz="2000" dirty="0"/>
              <a:t>读入</a:t>
            </a:r>
            <a:r>
              <a:rPr lang="en-US" altLang="zh-CN" sz="2000" dirty="0"/>
              <a:t>double……</a:t>
            </a:r>
            <a:endParaRPr lang="en-US" altLang="zh-CN" sz="2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290725" y="6264245"/>
            <a:ext cx="498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/>
              <a:t>scanf</a:t>
            </a:r>
            <a:r>
              <a:rPr lang="zh-CN" altLang="en-US" sz="2400" b="1" dirty="0"/>
              <a:t>很容易错，</a:t>
            </a:r>
            <a:r>
              <a:rPr lang="en-US" altLang="zh-CN" sz="2400" b="1" dirty="0"/>
              <a:t>debug</a:t>
            </a:r>
            <a:r>
              <a:rPr lang="zh-CN" altLang="en-US" sz="2400" b="1" dirty="0"/>
              <a:t>的意识和方法</a:t>
            </a:r>
            <a:endParaRPr lang="en-US" altLang="zh-CN" sz="24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5225097" y="3357484"/>
            <a:ext cx="3582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读入时，</a:t>
            </a:r>
            <a:r>
              <a:rPr lang="en-US" altLang="zh-CN" sz="2000" dirty="0"/>
              <a:t>float</a:t>
            </a:r>
            <a:r>
              <a:rPr lang="zh-CN" altLang="en-US" sz="2000" dirty="0"/>
              <a:t>用</a:t>
            </a:r>
            <a:r>
              <a:rPr lang="en-US" altLang="zh-CN" sz="2000" dirty="0"/>
              <a:t>%f, </a:t>
            </a:r>
            <a:r>
              <a:rPr lang="en-US" altLang="zh-CN" sz="2000" b="1" dirty="0">
                <a:solidFill>
                  <a:srgbClr val="FF0000"/>
                </a:solidFill>
              </a:rPr>
              <a:t>double</a:t>
            </a:r>
            <a:r>
              <a:rPr lang="zh-CN" altLang="en-US" sz="2000" b="1" dirty="0">
                <a:solidFill>
                  <a:srgbClr val="FF0000"/>
                </a:solidFill>
              </a:rPr>
              <a:t>用</a:t>
            </a:r>
            <a:r>
              <a:rPr lang="en-US" altLang="zh-CN" sz="2000" b="1" dirty="0">
                <a:solidFill>
                  <a:srgbClr val="FF0000"/>
                </a:solidFill>
              </a:rPr>
              <a:t>%</a:t>
            </a:r>
            <a:r>
              <a:rPr lang="en-US" altLang="zh-CN" sz="2000" b="1" dirty="0" err="1">
                <a:solidFill>
                  <a:srgbClr val="FF0000"/>
                </a:solidFill>
              </a:rPr>
              <a:t>lf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337" y="5423887"/>
            <a:ext cx="6239905" cy="729134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114085" y="43222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double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a, b, c;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18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"%f %f %f"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&amp;a, &amp;b, &amp;c);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18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"%f\n%f\n%f\n"</a:t>
            </a: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a, b, c);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scanf</a:t>
            </a:r>
            <a:r>
              <a:rPr lang="zh-CN" altLang="en-US" dirty="0"/>
              <a:t>格式字符串中的空白字符意义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空白字符：空格 制表符 回车</a:t>
            </a:r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en-US" altLang="zh-CN" dirty="0"/>
              <a:t>(</a:t>
            </a:r>
            <a:r>
              <a:rPr lang="zh-CN" altLang="en-US" dirty="0"/>
              <a:t>“</a:t>
            </a:r>
            <a:r>
              <a:rPr lang="en-US" altLang="zh-CN" dirty="0"/>
              <a:t>%d %d </a:t>
            </a:r>
            <a:r>
              <a:rPr lang="zh-CN" altLang="en-US" dirty="0"/>
              <a:t>”</a:t>
            </a:r>
            <a:r>
              <a:rPr lang="en-US" altLang="zh-CN" dirty="0"/>
              <a:t>, &amp;a, &amp;b)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右大括号 4"/>
          <p:cNvSpPr/>
          <p:nvPr/>
        </p:nvSpPr>
        <p:spPr>
          <a:xfrm rot="5400000">
            <a:off x="2910019" y="2211429"/>
            <a:ext cx="210064" cy="129128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7" y="3747698"/>
            <a:ext cx="8949625" cy="5045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文本框 8"/>
          <p:cNvSpPr txBox="1"/>
          <p:nvPr/>
        </p:nvSpPr>
        <p:spPr>
          <a:xfrm>
            <a:off x="2070000" y="314721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格式字符串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5943137" y="4289538"/>
            <a:ext cx="295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——《C Primer Plus》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32001" y="5011431"/>
            <a:ext cx="2993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这个空白包含回车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43949" y="5520019"/>
            <a:ext cx="853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怎么知道跳过了所有的回车？看到了下一个非空白字符为止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32001" y="6021945"/>
            <a:ext cx="825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scanf</a:t>
            </a:r>
            <a:r>
              <a:rPr lang="zh-CN" altLang="en-US" sz="2400" dirty="0"/>
              <a:t>中加入空白字符，会等待直到下一个非空白字符出现</a:t>
            </a:r>
            <a:endParaRPr lang="zh-CN" altLang="en-US" sz="2400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172995" y="4252276"/>
            <a:ext cx="0" cy="13973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-46044" y="4368611"/>
            <a:ext cx="6269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不代表将分隔符换成“</a:t>
            </a:r>
            <a:r>
              <a:rPr lang="en-US" altLang="zh-CN" sz="2800" b="1" dirty="0">
                <a:solidFill>
                  <a:srgbClr val="FF0000"/>
                </a:solidFill>
              </a:rPr>
              <a:t>\n</a:t>
            </a:r>
            <a:r>
              <a:rPr lang="zh-CN" altLang="en-US" sz="2800" b="1" dirty="0">
                <a:solidFill>
                  <a:srgbClr val="FF0000"/>
                </a:solidFill>
              </a:rPr>
              <a:t>”或者“ ”的意思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右大括号 20"/>
          <p:cNvSpPr/>
          <p:nvPr/>
        </p:nvSpPr>
        <p:spPr>
          <a:xfrm rot="16200000">
            <a:off x="12429428" y="3104192"/>
            <a:ext cx="129746" cy="140249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793055" y="2752037"/>
            <a:ext cx="1692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没有空白也没关系</a:t>
            </a:r>
            <a:endParaRPr lang="zh-CN" altLang="en-US" sz="24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452" y="3119510"/>
            <a:ext cx="4765096" cy="44725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cxnSp>
        <p:nvCxnSpPr>
          <p:cNvPr id="26" name="直接连接符 25"/>
          <p:cNvCxnSpPr/>
          <p:nvPr/>
        </p:nvCxnSpPr>
        <p:spPr>
          <a:xfrm flipV="1">
            <a:off x="8114682" y="3559627"/>
            <a:ext cx="0" cy="180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一个有类似问题的简单程序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644450" y="1883605"/>
            <a:ext cx="4006530" cy="271374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514350" indent="-51435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4"/>
              </a:buClr>
              <a:buFont typeface="+mj-lt"/>
              <a:buAutoNum type="arabicPeriod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82955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+mj-lt"/>
              <a:buAutoNum type="arabicPeriod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69695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AutoNum type="arabicPeriod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AutoNum type="arabicPeriod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AutoNum type="arabicPeriod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3388" y="1470760"/>
            <a:ext cx="35896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输入整数后，</a:t>
            </a:r>
            <a:endParaRPr lang="en-US" altLang="zh-CN" sz="2800" dirty="0"/>
          </a:p>
          <a:p>
            <a:r>
              <a:rPr lang="zh-CN" altLang="en-US" sz="2800" dirty="0"/>
              <a:t>不管输入多少回车、空格、制表符都还在继续等待，直到下一个非空白字符出现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”%d\t”</a:t>
            </a:r>
            <a:r>
              <a:rPr lang="zh-CN" altLang="en-US" sz="2800" dirty="0"/>
              <a:t>中的</a:t>
            </a:r>
            <a:r>
              <a:rPr lang="en-US" altLang="zh-CN" sz="2800" dirty="0"/>
              <a:t>\n</a:t>
            </a:r>
            <a:r>
              <a:rPr lang="zh-CN" altLang="en-US" sz="2800" dirty="0"/>
              <a:t>和</a:t>
            </a:r>
            <a:r>
              <a:rPr lang="en-US" altLang="zh-CN" sz="2800" dirty="0"/>
              <a:t>\t</a:t>
            </a:r>
            <a:r>
              <a:rPr lang="zh-CN" altLang="en-US" sz="2800" dirty="0"/>
              <a:t>换成其他分隔符也一样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scanf</a:t>
            </a:r>
            <a:r>
              <a:rPr lang="zh-CN" altLang="en-US" dirty="0"/>
              <a:t>中加入空白字符的一种用法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字符（</a:t>
            </a:r>
            <a:r>
              <a:rPr lang="en-US" altLang="zh-CN" dirty="0"/>
              <a:t>%c</a:t>
            </a:r>
            <a:r>
              <a:rPr lang="zh-CN" altLang="en-US" dirty="0"/>
              <a:t>）前有若干未知个数空白字符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2860" y="3051936"/>
            <a:ext cx="3654362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8317" y="3051936"/>
            <a:ext cx="4250332" cy="1375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08317" y="237729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08317" y="459201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317" y="5190948"/>
            <a:ext cx="2260894" cy="4481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3083" y="5801661"/>
            <a:ext cx="86872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“%d %c”</a:t>
            </a:r>
            <a:r>
              <a:rPr lang="zh-CN" altLang="en-US" sz="2800" dirty="0"/>
              <a:t>中的空格使得</a:t>
            </a:r>
            <a:r>
              <a:rPr lang="en-US" altLang="zh-CN" sz="2800" dirty="0" err="1"/>
              <a:t>scanf</a:t>
            </a:r>
            <a:r>
              <a:rPr lang="zh-CN" altLang="en-US" sz="2800" dirty="0"/>
              <a:t>跳过了字符</a:t>
            </a:r>
            <a:r>
              <a:rPr lang="en-US" altLang="zh-CN" sz="2800" dirty="0"/>
              <a:t>c</a:t>
            </a:r>
            <a:r>
              <a:rPr lang="zh-CN" altLang="en-US" sz="2800" dirty="0"/>
              <a:t>前的所有空白（包括多个回车）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中加入空白字符的一种用法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9293" y="1615736"/>
            <a:ext cx="5785902" cy="2943907"/>
          </a:xfr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59293" y="471904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559293" y="552406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177" y="4619653"/>
            <a:ext cx="2413540" cy="7220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88680" y="552406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输入中没空白字符也可以</a:t>
            </a:r>
            <a:endParaRPr lang="zh-CN" altLang="en-US" sz="3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b="19734"/>
          <a:stretch>
            <a:fillRect/>
          </a:stretch>
        </p:blipFill>
        <p:spPr>
          <a:xfrm>
            <a:off x="1821177" y="5537745"/>
            <a:ext cx="2080283" cy="636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zh-CN" altLang="en-US" dirty="0"/>
              <a:t>中加入空白字符对比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9293" y="1473633"/>
            <a:ext cx="8152707" cy="4710344"/>
          </a:xfrm>
        </p:spPr>
        <p:txBody>
          <a:bodyPr>
            <a:normAutofit/>
          </a:bodyPr>
          <a:lstStyle/>
          <a:p>
            <a:r>
              <a:rPr lang="it-IT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it-IT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it-IT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%d%d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it-IT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/>
              <a:t>上面两种方式等价，都是跳过所有空白字符，直到下一个非空白字符出现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但下面两个就截然不同了，后者输入一个整数后回车直接输出，前者不会输出还会继续等待</a:t>
            </a:r>
            <a:endParaRPr lang="en-US" altLang="zh-CN" dirty="0"/>
          </a:p>
          <a:p>
            <a:pPr>
              <a:buFont typeface="+mj-lt"/>
              <a:buAutoNum type="arabicPeriod" startAt="3"/>
            </a:pPr>
            <a:r>
              <a:rPr lang="it-IT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it-IT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AutoNum type="arabicPeriod" startAt="3"/>
            </a:pPr>
            <a:r>
              <a:rPr lang="it-IT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it-IT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d1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it-IT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d2</a:t>
            </a:r>
            <a:r>
              <a:rPr lang="it-IT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it-IT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69807" y="6183977"/>
            <a:ext cx="6770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不要在</a:t>
            </a:r>
            <a:r>
              <a:rPr lang="en-US" altLang="zh-CN" sz="3200" b="1" dirty="0" err="1">
                <a:solidFill>
                  <a:srgbClr val="FF0000"/>
                </a:solidFill>
              </a:rPr>
              <a:t>scanf</a:t>
            </a:r>
            <a:r>
              <a:rPr lang="zh-CN" altLang="en-US" sz="3200" b="1" u="sng" dirty="0">
                <a:solidFill>
                  <a:srgbClr val="FF0000"/>
                </a:solidFill>
                <a:latin typeface="+mj-ea"/>
                <a:ea typeface="+mj-ea"/>
              </a:rPr>
              <a:t>结尾</a:t>
            </a:r>
            <a:r>
              <a:rPr lang="zh-CN" altLang="en-US" sz="3200" b="1" dirty="0">
                <a:solidFill>
                  <a:srgbClr val="FF0000"/>
                </a:solidFill>
              </a:rPr>
              <a:t>随便加入空白字符！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格式控制中的空白字符：总结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zh-CN" altLang="en-US" dirty="0">
                <a:solidFill>
                  <a:schemeClr val="tx1"/>
                </a:solidFill>
              </a:rPr>
              <a:t>格式字符串</a:t>
            </a:r>
            <a:r>
              <a:rPr lang="zh-CN" altLang="en-US" b="1" dirty="0">
                <a:solidFill>
                  <a:schemeClr val="tx1"/>
                </a:solidFill>
              </a:rPr>
              <a:t>结尾</a:t>
            </a:r>
            <a:r>
              <a:rPr lang="zh-CN" altLang="en-US" dirty="0">
                <a:solidFill>
                  <a:schemeClr val="tx1"/>
                </a:solidFill>
              </a:rPr>
              <a:t>加入空白字符</a:t>
            </a:r>
            <a:endParaRPr lang="en-US" altLang="zh-CN" dirty="0">
              <a:solidFill>
                <a:schemeClr val="tx1"/>
              </a:solidFill>
            </a:endParaRPr>
          </a:p>
          <a:p>
            <a:pPr marL="325755" lvl="1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需要十分慎重，极大概率是有问题的，会导致程序一直等待输入下一个非空白字符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zh-CN" altLang="en-US" dirty="0">
                <a:solidFill>
                  <a:schemeClr val="tx1"/>
                </a:solidFill>
              </a:rPr>
              <a:t>格式字符串</a:t>
            </a:r>
            <a:r>
              <a:rPr lang="zh-CN" altLang="en-US" b="1" dirty="0">
                <a:solidFill>
                  <a:schemeClr val="tx1"/>
                </a:solidFill>
              </a:rPr>
              <a:t>中间</a:t>
            </a:r>
            <a:r>
              <a:rPr lang="zh-CN" altLang="en-US" dirty="0">
                <a:solidFill>
                  <a:schemeClr val="tx1"/>
                </a:solidFill>
              </a:rPr>
              <a:t>加入空白字符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一般情况没有什么影响，甚至有好处（明确指示跳过空白字符，包括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%c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也可以跳过）</a:t>
            </a:r>
            <a:endParaRPr lang="en-US" altLang="zh-CN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     要用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%c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读入空白字符的情况不能在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%c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前面加入空白字符，否则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</a:rPr>
              <a:t>%c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</a:rPr>
              <a:t>无法读入空白字符，而是第一个非空白字符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scanf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格式声明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0210" y="1736606"/>
            <a:ext cx="4389782" cy="437321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%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附加字符  格式字符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MH_Desc_1"/>
          <p:cNvSpPr/>
          <p:nvPr>
            <p:custDataLst>
              <p:tags r:id="rId1"/>
            </p:custDataLst>
          </p:nvPr>
        </p:nvSpPr>
        <p:spPr>
          <a:xfrm>
            <a:off x="110210" y="2281179"/>
            <a:ext cx="4389782" cy="399720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(1)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scanf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函数中的格式控制后面应当是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变量地址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，而不是变量名。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应与上述格式说明匹配，否则将会出现错误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(2)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如果在格式控制字符串中除了格式声明以外还有其他字符，则在输入数据时在对应的位置上应输入与这些字符相同的字符。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(3)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在用“％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c”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格式声明输入字符时，空格字符和“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转义字符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”中的字符都作为有效字符输入。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(4)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在输入数值数据时，如输入空格、回车、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Tab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键或遇非法字符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不属于数值的字符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，认为该数据结束。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644008" y="1741879"/>
          <a:ext cx="4392488" cy="2664297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792088"/>
                <a:gridCol w="3600400"/>
              </a:tblGrid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格式字符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dirty="0" err="1">
                          <a:latin typeface="+mn-ea"/>
                          <a:ea typeface="+mn-ea"/>
                        </a:rPr>
                        <a:t>d,i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有符号十进制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无符号十进制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o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无符号八进制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整数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x,X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输入</a:t>
                      </a:r>
                      <a:r>
                        <a:rPr lang="zh-CN" altLang="en-US" sz="900" b="0" kern="100" dirty="0">
                          <a:solidFill>
                            <a:schemeClr val="accent1"/>
                          </a:solidFill>
                          <a:latin typeface="+mn-ea"/>
                          <a:ea typeface="+mn-ea"/>
                          <a:cs typeface="+mn-cs"/>
                        </a:rPr>
                        <a:t>无符号十六进制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整数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大小写作用</a:t>
                      </a:r>
                      <a:r>
                        <a:rPr lang="zh-CN" altLang="en-US" sz="900" b="1" u="sng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相同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  <a:cs typeface="Times New Roman" panose="02020603050405020304"/>
                        </a:rPr>
                        <a:t>)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c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输入单个字符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s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输入字符串，将字符串送到一个字符数组中，在输入时以非空白字符开始，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以第一个分隔符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\n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\t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、空格）结束</a:t>
                      </a:r>
                      <a:endParaRPr lang="zh-CN" altLang="en-US" sz="900" b="0" kern="100" dirty="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Times New Roman" panose="02020603050405020304"/>
                        </a:rPr>
                        <a:t>f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输入实数，可以用小数形式或指数形式输入</a:t>
                      </a:r>
                      <a:endParaRPr lang="zh-CN" alt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96033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  <a:cs typeface="+mn-cs"/>
                        </a:rPr>
                        <a:t>e,E,g,G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作用相同，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g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可以互相替换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大小写作用</a:t>
                      </a:r>
                      <a:r>
                        <a:rPr lang="zh-CN" altLang="en-US" sz="900" b="1" u="sng" kern="100" dirty="0">
                          <a:latin typeface="+mn-ea"/>
                          <a:ea typeface="+mn-ea"/>
                        </a:rPr>
                        <a:t>相同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)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644008" y="4622201"/>
          <a:ext cx="4392488" cy="165618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792088"/>
                <a:gridCol w="3600400"/>
              </a:tblGrid>
              <a:tr h="333306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附加字符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kern="100" dirty="0">
                          <a:latin typeface="+mn-ea"/>
                          <a:ea typeface="+mn-ea"/>
                        </a:rPr>
                        <a:t>说    明</a:t>
                      </a:r>
                      <a:endParaRPr lang="zh-CN" sz="10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900" b="1" kern="100">
                          <a:latin typeface="+mn-ea"/>
                          <a:ea typeface="+mn-ea"/>
                        </a:rPr>
                        <a:t>l</a:t>
                      </a:r>
                      <a:endParaRPr lang="zh-CN" sz="900" b="1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输入长整型数据（可用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ld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%lo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%lx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lu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）以及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double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型数据（用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%lf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或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%le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）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latin typeface="+mn-ea"/>
                          <a:ea typeface="+mn-ea"/>
                        </a:rPr>
                        <a:t>h</a:t>
                      </a:r>
                      <a:endParaRPr lang="en-US" sz="900" b="1" kern="100"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输入短整型数据（可用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hd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%ho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900" b="0" kern="10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en-US" altLang="zh-CN" sz="900" b="0" kern="100" dirty="0" err="1">
                          <a:latin typeface="+mn-ea"/>
                          <a:ea typeface="+mn-ea"/>
                        </a:rPr>
                        <a:t>hx</a:t>
                      </a: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）</a:t>
                      </a:r>
                      <a:endParaRPr lang="zh-CN" sz="900" b="0" kern="1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kern="100">
                          <a:latin typeface="+mn-ea"/>
                          <a:ea typeface="+mn-ea"/>
                        </a:rPr>
                        <a:t>域宽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latin typeface="+mn-ea"/>
                          <a:ea typeface="+mn-ea"/>
                        </a:rPr>
                        <a:t>指定输入数据所占宽度（列数），域宽应为正整数，注意：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输入浮点数时不能规定精度（</a:t>
                      </a:r>
                      <a:r>
                        <a:rPr lang="en-US" altLang="zh-CN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” %.3f”</a:t>
                      </a: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这样不行）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330719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kern="100"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zh-CN" sz="900" b="1" kern="10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本输入项在读入后不赋给相应的变量</a:t>
                      </a:r>
                      <a:endParaRPr lang="zh-CN" sz="900" b="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4644008" y="5587295"/>
            <a:ext cx="4446652" cy="37572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scanf</a:t>
            </a:r>
            <a:r>
              <a:rPr lang="zh-CN" altLang="en-US" dirty="0"/>
              <a:t>的</a:t>
            </a:r>
            <a:br>
              <a:rPr lang="en-US" altLang="zh-CN" dirty="0"/>
            </a:br>
            <a:r>
              <a:rPr lang="zh-CN" altLang="en-US" dirty="0"/>
              <a:t>格式声明</a:t>
            </a:r>
            <a:endParaRPr lang="zh-CN" altLang="en-US" dirty="0"/>
          </a:p>
        </p:txBody>
      </p:sp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1290019" y="1416218"/>
            <a:ext cx="7490663" cy="403377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#include &lt;stdio.h&gt;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 main()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{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int</a:t>
            </a: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a, b, c, d, e[100], f;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int g, h, i;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scanf("%c%d%o%x", &amp;a, &amp;b, &amp;c, &amp;d);</a:t>
            </a:r>
            <a:endParaRPr lang="pt-BR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printf("%c%c%c%c\n", a, b, c, d);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pt-BR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scanf("%3d%5d%*c%d", &amp;g, &amp;h, &amp;i);</a:t>
            </a:r>
            <a:endParaRPr lang="pt-BR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printf("%d %d %d\n", g, h, i);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scanf("%s", e);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printf("%s", e);</a:t>
            </a:r>
            <a:endParaRPr lang="pt-BR" altLang="zh-CN" sz="1600" dirty="0">
              <a:solidFill>
                <a:srgbClr val="FF000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return 0;</a:t>
            </a:r>
            <a:endParaRPr lang="pt-BR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pt-BR" altLang="zh-CN" sz="16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}</a:t>
            </a:r>
            <a:endParaRPr lang="en-US" altLang="zh-CN" sz="16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0289" y="5534561"/>
            <a:ext cx="336342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输入：                  输出：</a:t>
            </a:r>
            <a:endParaRPr lang="en-US" altLang="zh-CN" sz="2000" dirty="0"/>
          </a:p>
          <a:p>
            <a:r>
              <a:rPr lang="en-US" altLang="zh-CN" sz="2000" dirty="0"/>
              <a:t>A 65 101 41          </a:t>
            </a:r>
            <a:r>
              <a:rPr lang="en-US" altLang="zh-CN" sz="2000" dirty="0">
                <a:solidFill>
                  <a:srgbClr val="FF0000"/>
                </a:solidFill>
              </a:rPr>
              <a:t>AAAA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12345678,90       123 45678 90</a:t>
            </a:r>
            <a:endParaRPr lang="en-US" altLang="zh-CN" sz="2000" dirty="0"/>
          </a:p>
          <a:p>
            <a:r>
              <a:rPr lang="en-US" altLang="zh-CN" sz="2000" dirty="0"/>
              <a:t>Hello World          </a:t>
            </a:r>
            <a:r>
              <a:rPr lang="en-US" altLang="zh-CN" sz="2000" dirty="0">
                <a:solidFill>
                  <a:srgbClr val="FF0000"/>
                </a:solidFill>
              </a:rPr>
              <a:t>Hello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以下代码能不能正确读入</a:t>
            </a:r>
            <a:r>
              <a:rPr lang="en-US" altLang="zh-CN" dirty="0"/>
              <a:t>x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&lt;stdio.h&gt;</a:t>
            </a:r>
            <a:endParaRPr lang="en-US" altLang="zh-CN" sz="2400" dirty="0">
              <a:solidFill>
                <a:srgbClr val="0000FF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main()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double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x;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y = 33;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</a:t>
            </a:r>
            <a:r>
              <a:rPr lang="en-US" altLang="zh-CN" sz="2400" dirty="0" err="1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ld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&amp;x);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</a:t>
            </a:r>
            <a:r>
              <a:rPr lang="en-US" altLang="zh-CN" sz="2400" dirty="0" err="1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ld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x);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"%d"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, x == y);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 0;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6200986" y="1784504"/>
            <a:ext cx="141577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输入：</a:t>
            </a:r>
            <a:endParaRPr lang="en-US" altLang="zh-CN" sz="3200" dirty="0"/>
          </a:p>
          <a:p>
            <a:r>
              <a:rPr lang="en-US" altLang="zh-CN" sz="3200" dirty="0"/>
              <a:t>33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输出：</a:t>
            </a:r>
            <a:endParaRPr lang="en-US" altLang="zh-CN" sz="3200" dirty="0"/>
          </a:p>
          <a:p>
            <a:r>
              <a:rPr lang="en-US" altLang="zh-CN" sz="3200" dirty="0"/>
              <a:t>33</a:t>
            </a:r>
            <a:endParaRPr lang="en-US" altLang="zh-CN" sz="3200" dirty="0"/>
          </a:p>
          <a:p>
            <a:r>
              <a:rPr lang="en-US" altLang="zh-CN" sz="3200" dirty="0"/>
              <a:t>0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库：</a:t>
            </a:r>
            <a:r>
              <a:rPr lang="en-US" altLang="zh-CN" sz="2800" b="1" dirty="0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#include&lt;stdio.h&gt;</a:t>
            </a:r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要在程序文件的开头用预处理指令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把有关头文件放在本程序中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输出库函数：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US" altLang="zh-CN" dirty="0"/>
              <a:t>(a1,a2…);</a:t>
            </a:r>
            <a:endParaRPr lang="en-US" altLang="zh-CN" dirty="0"/>
          </a:p>
          <a:p>
            <a:r>
              <a:rPr lang="zh-CN" altLang="en-US" dirty="0"/>
              <a:t>输入库函数：</a:t>
            </a:r>
            <a:r>
              <a:rPr lang="en-US" altLang="zh-CN" b="1" dirty="0" err="1">
                <a:solidFill>
                  <a:srgbClr val="E84C22"/>
                </a:solidFill>
                <a:latin typeface="等线" panose="02010600030101010101" charset="-122"/>
                <a:ea typeface="等线" panose="02010600030101010101" charset="-122"/>
              </a:rPr>
              <a:t>scanf</a:t>
            </a:r>
            <a:r>
              <a:rPr lang="en-US" altLang="zh-CN" dirty="0"/>
              <a:t>(a1,a2…);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字符串的输入输出</a:t>
            </a:r>
            <a:endParaRPr lang="en-US" altLang="zh-CN" dirty="0"/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 dirty="0">
              <a:solidFill>
                <a:srgbClr val="E84C2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语言的输入输出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/>
          <p:nvPr/>
        </p:nvSpPr>
        <p:spPr bwMode="auto">
          <a:xfrm>
            <a:off x="432000" y="1496902"/>
            <a:ext cx="8063818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字符串变量怎么声明？</a:t>
            </a:r>
            <a:endParaRPr lang="en-US" altLang="zh-CN" dirty="0"/>
          </a:p>
          <a:p>
            <a:pPr marL="82550" indent="0">
              <a:buNone/>
            </a:pPr>
            <a:r>
              <a:rPr lang="en-US" altLang="zh-CN" dirty="0"/>
              <a:t>char name</a:t>
            </a:r>
            <a:r>
              <a:rPr lang="en-US" altLang="zh-CN" dirty="0">
                <a:solidFill>
                  <a:srgbClr val="FF0000"/>
                </a:solidFill>
              </a:rPr>
              <a:t>[50]</a:t>
            </a:r>
            <a:r>
              <a:rPr lang="en-US" altLang="zh-CN" dirty="0"/>
              <a:t>=“”;</a:t>
            </a:r>
            <a:endParaRPr lang="en-US" altLang="zh-CN" dirty="0"/>
          </a:p>
          <a:p>
            <a:pPr marL="82550" indent="0">
              <a:buNone/>
            </a:pPr>
            <a:endParaRPr lang="en-US" altLang="zh-CN" dirty="0"/>
          </a:p>
          <a:p>
            <a:pPr marL="82550" indent="0">
              <a:buNone/>
            </a:pPr>
            <a:r>
              <a:rPr lang="en-US" altLang="zh-CN" dirty="0"/>
              <a:t>[]</a:t>
            </a:r>
            <a:r>
              <a:rPr lang="zh-CN" altLang="en-US" dirty="0"/>
              <a:t>中的数字（</a:t>
            </a:r>
            <a:r>
              <a:rPr lang="en-US" altLang="zh-CN" dirty="0"/>
              <a:t>50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82550" indent="0">
              <a:buNone/>
            </a:pPr>
            <a:r>
              <a:rPr lang="zh-CN" altLang="en-US" dirty="0"/>
              <a:t>字符串中需要存储的</a:t>
            </a:r>
            <a:r>
              <a:rPr lang="zh-CN" altLang="en-US" dirty="0">
                <a:solidFill>
                  <a:srgbClr val="FF0000"/>
                </a:solidFill>
              </a:rPr>
              <a:t>最多</a:t>
            </a:r>
            <a:r>
              <a:rPr lang="zh-CN" altLang="en-US" dirty="0"/>
              <a:t>字符个数</a:t>
            </a:r>
            <a:r>
              <a:rPr lang="en-US" altLang="zh-CN" b="1" dirty="0">
                <a:solidFill>
                  <a:srgbClr val="FF0000"/>
                </a:solidFill>
              </a:rPr>
              <a:t>+1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8255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可以多，不能少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字符串的输入输出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15073" y="5173794"/>
            <a:ext cx="45720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字符串“</a:t>
            </a:r>
            <a:r>
              <a:rPr lang="en-US" altLang="zh-CN" sz="2800" dirty="0"/>
              <a:t>hello”</a:t>
            </a:r>
            <a:r>
              <a:rPr lang="zh-CN" altLang="en-US" sz="2800" dirty="0"/>
              <a:t>存储为：</a:t>
            </a:r>
            <a:endParaRPr lang="en-US" altLang="zh-CN" sz="2800" dirty="0"/>
          </a:p>
        </p:txBody>
      </p:sp>
      <p:grpSp>
        <p:nvGrpSpPr>
          <p:cNvPr id="11" name="Group 3"/>
          <p:cNvGrpSpPr/>
          <p:nvPr/>
        </p:nvGrpSpPr>
        <p:grpSpPr bwMode="auto">
          <a:xfrm>
            <a:off x="2444609" y="5791618"/>
            <a:ext cx="4038600" cy="609600"/>
            <a:chOff x="1488" y="2976"/>
            <a:chExt cx="2544" cy="384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488" y="2976"/>
              <a:ext cx="254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81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h     e        l        </a:t>
              </a:r>
              <a:r>
                <a:rPr kumimoji="1" lang="en-US" altLang="zh-CN" sz="2400" b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o     </a:t>
              </a:r>
              <a:r>
                <a:rPr kumimoji="1" lang="en-US" altLang="zh-CN" sz="32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\</a:t>
              </a:r>
              <a:r>
                <a:rPr kumimoji="1" lang="en-US" altLang="zh-CN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1872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panose="02020404030301010803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2304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panose="02020404030301010803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2736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panose="02020404030301010803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3216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panose="02020404030301010803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648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Garamond" panose="02020404030301010803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字符串的输入输出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506735" y="1480171"/>
            <a:ext cx="7499350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字符串变量怎么声明？</a:t>
            </a:r>
            <a:endParaRPr lang="en-US" altLang="zh-CN" dirty="0"/>
          </a:p>
          <a:p>
            <a:pPr marL="82550" indent="0">
              <a:buNone/>
            </a:pPr>
            <a:r>
              <a:rPr lang="en-US" altLang="zh-CN" dirty="0"/>
              <a:t>char name[50]=“”;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字符串怎么输出？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示例：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(“</a:t>
            </a:r>
            <a:r>
              <a:rPr lang="en-US" altLang="zh-CN" dirty="0">
                <a:solidFill>
                  <a:srgbClr val="FF0000"/>
                </a:solidFill>
              </a:rPr>
              <a:t>%s</a:t>
            </a:r>
            <a:r>
              <a:rPr lang="en-US" altLang="zh-CN" dirty="0">
                <a:solidFill>
                  <a:schemeClr val="tx1"/>
                </a:solidFill>
              </a:rPr>
              <a:t>”,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name)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字符串的输入输出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506735" y="1480171"/>
            <a:ext cx="7499350" cy="504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/>
              <a:t>字符串变量怎么声明？</a:t>
            </a:r>
            <a:endParaRPr lang="en-US" altLang="zh-CN" dirty="0"/>
          </a:p>
          <a:p>
            <a:pPr marL="82550" indent="0">
              <a:buNone/>
            </a:pPr>
            <a:r>
              <a:rPr lang="en-US" altLang="zh-CN" dirty="0"/>
              <a:t>char name[50]=“”;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字符串怎么输入？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示例：</a:t>
            </a:r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(“%s”,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name)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箭头: 下 3"/>
          <p:cNvSpPr/>
          <p:nvPr/>
        </p:nvSpPr>
        <p:spPr>
          <a:xfrm rot="5400000">
            <a:off x="5176150" y="3864822"/>
            <a:ext cx="402744" cy="425651"/>
          </a:xfrm>
          <a:prstGeom prst="down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4"/>
          <p:cNvSpPr txBox="1"/>
          <p:nvPr/>
        </p:nvSpPr>
        <p:spPr>
          <a:xfrm>
            <a:off x="5681291" y="3762109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没有取地址符</a:t>
            </a:r>
            <a:endParaRPr lang="en-US" altLang="zh-CN" sz="3200" dirty="0">
              <a:solidFill>
                <a:srgbClr val="FF000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  <a:p>
            <a:r>
              <a:rPr lang="zh-CN" altLang="en-US" sz="2400" dirty="0">
                <a:latin typeface="Gill Sans MT" panose="020B0502020104020203" pitchFamily="34" charset="0"/>
                <a:ea typeface="华文中宋" panose="02010600040101010101" pitchFamily="2" charset="-122"/>
              </a:rPr>
              <a:t>不需要写成</a:t>
            </a:r>
            <a:r>
              <a:rPr lang="en-US" altLang="zh-CN" sz="2400" dirty="0">
                <a:solidFill>
                  <a:srgbClr val="FF000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&amp;</a:t>
            </a:r>
            <a:r>
              <a:rPr lang="en-US" altLang="zh-CN" sz="2400" dirty="0">
                <a:latin typeface="Gill Sans MT" panose="020B0502020104020203" pitchFamily="34" charset="0"/>
                <a:ea typeface="华文中宋" panose="02010600040101010101" pitchFamily="2" charset="-122"/>
              </a:rPr>
              <a:t>name</a:t>
            </a:r>
            <a:endParaRPr lang="zh-CN" altLang="en-US" sz="2400" dirty="0"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6952" y="5156021"/>
            <a:ext cx="630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0" kern="100" dirty="0">
                <a:latin typeface="+mn-ea"/>
                <a:ea typeface="+mn-ea"/>
              </a:rPr>
              <a:t>输入字符串，将字符串送到一个字符数组中，在输入时以非空白字符开始，</a:t>
            </a:r>
            <a:r>
              <a:rPr lang="zh-CN" altLang="en-US" sz="2400" b="0" kern="100" dirty="0">
                <a:solidFill>
                  <a:srgbClr val="FF0000"/>
                </a:solidFill>
                <a:latin typeface="+mn-ea"/>
                <a:ea typeface="+mn-ea"/>
              </a:rPr>
              <a:t>以第一个分隔符</a:t>
            </a:r>
            <a:r>
              <a:rPr lang="zh-CN" altLang="en-US" sz="2400" b="0" kern="1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（</a:t>
            </a:r>
            <a:r>
              <a:rPr lang="en-US" altLang="zh-CN" sz="2400" b="0" kern="1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\n</a:t>
            </a:r>
            <a:r>
              <a:rPr lang="zh-CN" altLang="en-US" sz="2400" b="0" kern="1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、</a:t>
            </a:r>
            <a:r>
              <a:rPr lang="en-US" altLang="zh-CN" sz="2400" b="0" kern="1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\t</a:t>
            </a:r>
            <a:r>
              <a:rPr lang="zh-CN" altLang="en-US" sz="2400" b="0" kern="1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、空格）结束</a:t>
            </a:r>
            <a:endParaRPr lang="zh-CN" altLang="en-US" sz="2400" b="0" kern="1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字符串的输入输出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7160" y="2118580"/>
            <a:ext cx="4572000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5777" y="3061600"/>
            <a:ext cx="2754780" cy="5304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15777" y="209005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515777" y="3897636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</a:t>
            </a:r>
            <a:r>
              <a:rPr lang="en-US" altLang="zh-CN" sz="2800" dirty="0"/>
              <a:t>?</a:t>
            </a:r>
            <a:endParaRPr lang="zh-CN" altLang="en-US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"/>
          <a:srcRect t="-1" r="50000" b="-9340"/>
          <a:stretch>
            <a:fillRect/>
          </a:stretch>
        </p:blipFill>
        <p:spPr>
          <a:xfrm>
            <a:off x="5515777" y="4585600"/>
            <a:ext cx="1377390" cy="579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/>
              <a:t>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该函数值是字符数组的起始地址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0227" y="2767618"/>
            <a:ext cx="3900669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DCDCAA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400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US" altLang="zh-CN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en-US" altLang="zh-CN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2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329" y="3622973"/>
            <a:ext cx="2754780" cy="5304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6329" y="26514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446329" y="445900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98" y="5076024"/>
            <a:ext cx="3900669" cy="4249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2783" y="5741625"/>
            <a:ext cx="2795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name</a:t>
            </a:r>
            <a:r>
              <a:rPr lang="zh-CN" altLang="en-US" sz="2800" dirty="0">
                <a:solidFill>
                  <a:srgbClr val="FF0000"/>
                </a:solidFill>
              </a:rPr>
              <a:t>中没有回车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/>
              <a:t>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该函数值是字符数组的起始地址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90" y="2595884"/>
            <a:ext cx="4281000" cy="3760466"/>
          </a:xfrm>
          <a:prstGeom prst="rect">
            <a:avLst/>
          </a:prstGeom>
        </p:spPr>
      </p:pic>
      <p:sp>
        <p:nvSpPr>
          <p:cNvPr id="12" name="Rectangle: Rounded Corners 11"/>
          <p:cNvSpPr/>
          <p:nvPr/>
        </p:nvSpPr>
        <p:spPr>
          <a:xfrm>
            <a:off x="1765140" y="4143737"/>
            <a:ext cx="1111170" cy="2257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1136248" y="5979970"/>
            <a:ext cx="3910313" cy="3200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: Rounded Corners 14"/>
          <p:cNvSpPr/>
          <p:nvPr/>
        </p:nvSpPr>
        <p:spPr>
          <a:xfrm>
            <a:off x="1207627" y="2622148"/>
            <a:ext cx="1668684" cy="3699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370653" y="2847854"/>
            <a:ext cx="35129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黄色的是警告：可以运行，但是不建议这么做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可以用</a:t>
            </a:r>
            <a:r>
              <a:rPr lang="en-US" altLang="zh-CN" sz="2400" dirty="0"/>
              <a:t>gets</a:t>
            </a:r>
            <a:r>
              <a:rPr lang="zh-CN" altLang="en-US" sz="2400" dirty="0"/>
              <a:t>：在</a:t>
            </a:r>
            <a:r>
              <a:rPr lang="en-US" altLang="zh-CN" sz="2400" dirty="0" err="1"/>
              <a:t>yoj</a:t>
            </a:r>
            <a:r>
              <a:rPr lang="zh-CN" altLang="en-US" sz="2400" dirty="0"/>
              <a:t>上可以得到正确结果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也可以换成</a:t>
            </a:r>
            <a:r>
              <a:rPr lang="en-US" altLang="zh-CN" sz="2400" dirty="0" err="1"/>
              <a:t>fgets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/>
              <a:t>fgets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示例：</a:t>
            </a:r>
            <a:r>
              <a:rPr lang="en-US" altLang="zh-CN" sz="2400" dirty="0" err="1"/>
              <a:t>fgets</a:t>
            </a:r>
            <a:r>
              <a:rPr lang="en-US" altLang="zh-CN" sz="2400" dirty="0"/>
              <a:t>(name, 50, stdin); </a:t>
            </a:r>
            <a:endParaRPr lang="en-US" altLang="zh-CN" sz="2400" dirty="0"/>
          </a:p>
          <a:p>
            <a:pPr lvl="2"/>
            <a:r>
              <a:rPr lang="en-US" altLang="zh-CN" sz="2400" dirty="0"/>
              <a:t>50</a:t>
            </a:r>
            <a:r>
              <a:rPr lang="zh-CN" altLang="en-US" sz="2400" dirty="0"/>
              <a:t>和</a:t>
            </a:r>
            <a:r>
              <a:rPr lang="en-US" altLang="zh-CN" sz="2400" dirty="0"/>
              <a:t>name</a:t>
            </a:r>
            <a:r>
              <a:rPr lang="zh-CN" altLang="en-US" sz="2400" dirty="0"/>
              <a:t>的长度一样</a:t>
            </a:r>
            <a:endParaRPr lang="en-US" altLang="zh-CN" sz="2400" dirty="0"/>
          </a:p>
          <a:p>
            <a:pPr lvl="2"/>
            <a:r>
              <a:rPr lang="en-US" altLang="zh-CN" sz="2400" dirty="0"/>
              <a:t>stdin</a:t>
            </a:r>
            <a:r>
              <a:rPr lang="zh-CN" altLang="en-US" sz="2400" dirty="0"/>
              <a:t>背下来，是个关键词指的标注输入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75940" y="3335933"/>
            <a:ext cx="386389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9560" y="3977215"/>
            <a:ext cx="2592289" cy="4991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49560" y="333593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5209049" y="458299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560" y="5130204"/>
            <a:ext cx="2561474" cy="9514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7053" y="6222240"/>
            <a:ext cx="776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zh-CN" altLang="en-US" sz="2400" dirty="0">
                <a:solidFill>
                  <a:srgbClr val="FF0000"/>
                </a:solidFill>
              </a:rPr>
              <a:t>中有回车（不需要背，用其中一个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zh-CN" altLang="en-US" sz="2400" dirty="0">
                <a:solidFill>
                  <a:srgbClr val="FF0000"/>
                </a:solidFill>
              </a:rPr>
              <a:t>注意试试就行）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/>
              <a:t>fgets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示例：</a:t>
            </a:r>
            <a:r>
              <a:rPr lang="en-US" altLang="zh-CN" sz="2400" dirty="0" err="1"/>
              <a:t>fgets</a:t>
            </a:r>
            <a:r>
              <a:rPr lang="en-US" altLang="zh-CN" sz="2400" dirty="0"/>
              <a:t>(name, 50, stdin); </a:t>
            </a:r>
            <a:endParaRPr lang="en-US" altLang="zh-CN" sz="2400" dirty="0"/>
          </a:p>
          <a:p>
            <a:pPr lvl="2"/>
            <a:r>
              <a:rPr lang="en-US" altLang="zh-CN" sz="2400" dirty="0"/>
              <a:t>50</a:t>
            </a:r>
            <a:r>
              <a:rPr lang="zh-CN" altLang="en-US" sz="2400" dirty="0"/>
              <a:t>和</a:t>
            </a:r>
            <a:r>
              <a:rPr lang="en-US" altLang="zh-CN" sz="2400" dirty="0"/>
              <a:t>name</a:t>
            </a:r>
            <a:r>
              <a:rPr lang="zh-CN" altLang="en-US" sz="2400" dirty="0"/>
              <a:t>的长度一样</a:t>
            </a:r>
            <a:endParaRPr lang="en-US" altLang="zh-CN" sz="2400" dirty="0"/>
          </a:p>
          <a:p>
            <a:pPr lvl="2"/>
            <a:r>
              <a:rPr lang="en-US" altLang="zh-CN" sz="2400" dirty="0"/>
              <a:t>stdin</a:t>
            </a:r>
            <a:r>
              <a:rPr lang="zh-CN" altLang="en-US" sz="2400" dirty="0"/>
              <a:t>背下来，是个关键词指的标注输入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282157" y="3955693"/>
            <a:ext cx="35129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vscode</a:t>
            </a:r>
            <a:r>
              <a:rPr lang="zh-CN" altLang="en-US" sz="2400" dirty="0"/>
              <a:t>、</a:t>
            </a:r>
            <a:r>
              <a:rPr lang="en-US" altLang="zh-CN" sz="2400" dirty="0"/>
              <a:t>visual studio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yoj</a:t>
            </a:r>
            <a:r>
              <a:rPr lang="zh-CN" altLang="en-US" sz="2400" dirty="0"/>
              <a:t>上都可以正常运行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visual studio</a:t>
            </a:r>
            <a:r>
              <a:rPr lang="zh-CN" altLang="en-US" sz="2400" dirty="0"/>
              <a:t>上不能用</a:t>
            </a:r>
            <a:r>
              <a:rPr lang="en-US" altLang="zh-CN" sz="2400" dirty="0"/>
              <a:t>gets</a:t>
            </a:r>
            <a:r>
              <a:rPr lang="zh-CN" altLang="en-US" sz="2400" dirty="0"/>
              <a:t>，能用这个</a:t>
            </a:r>
            <a:endParaRPr lang="en-US" altLang="zh-C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75940" y="3335933"/>
            <a:ext cx="386389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其他输入输出函数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1436777"/>
            <a:ext cx="8444963" cy="4764163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puts</a:t>
            </a:r>
            <a:r>
              <a:rPr lang="zh-CN" altLang="en-US" sz="2200" dirty="0"/>
              <a:t>函数：将一个字符串</a:t>
            </a:r>
            <a:r>
              <a:rPr lang="en-US" altLang="zh-CN" sz="2200" dirty="0"/>
              <a:t>(</a:t>
            </a:r>
            <a:r>
              <a:rPr lang="zh-CN" altLang="en-US" sz="2200" dirty="0"/>
              <a:t>以</a:t>
            </a:r>
            <a:r>
              <a:rPr lang="en-US" altLang="zh-CN" sz="2200" dirty="0"/>
              <a:t>′\0′</a:t>
            </a:r>
            <a:r>
              <a:rPr lang="zh-CN" altLang="en-US" sz="2200" dirty="0"/>
              <a:t>结束的字符序列</a:t>
            </a:r>
            <a:r>
              <a:rPr lang="en-US" altLang="zh-CN" sz="2200" dirty="0"/>
              <a:t>)</a:t>
            </a:r>
            <a:r>
              <a:rPr lang="zh-CN" altLang="en-US" sz="2200" dirty="0"/>
              <a:t>输出到终端</a:t>
            </a:r>
            <a:endParaRPr lang="en-US" altLang="zh-CN" sz="22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函数输出的字符串中可以包含转义字符。</a:t>
            </a:r>
            <a:endParaRPr lang="zh-CN" altLang="en-US" sz="19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输出时将字符串结束标志</a:t>
            </a:r>
            <a:r>
              <a:rPr lang="en-US" altLang="zh-CN" sz="1900" dirty="0"/>
              <a:t>′\0′</a:t>
            </a:r>
            <a:r>
              <a:rPr lang="zh-CN" altLang="en-US" sz="1900" dirty="0"/>
              <a:t>转换成</a:t>
            </a:r>
            <a:r>
              <a:rPr lang="en-US" altLang="zh-CN" sz="1900" dirty="0"/>
              <a:t>′\n′</a:t>
            </a:r>
            <a:r>
              <a:rPr lang="zh-CN" altLang="en-US" sz="1900" dirty="0"/>
              <a:t>，即输出完字符串后换行</a:t>
            </a:r>
            <a:endParaRPr lang="en-US" altLang="zh-CN" sz="1900" dirty="0"/>
          </a:p>
          <a:p>
            <a:pPr lvl="1"/>
            <a:r>
              <a:rPr lang="en-US" altLang="zh-CN" sz="1900" dirty="0">
                <a:solidFill>
                  <a:srgbClr val="FF0000"/>
                </a:solidFill>
              </a:rPr>
              <a:t>puts(str)</a:t>
            </a:r>
            <a:r>
              <a:rPr lang="zh-CN" altLang="en-US" sz="1900" dirty="0">
                <a:solidFill>
                  <a:srgbClr val="FF0000"/>
                </a:solidFill>
              </a:rPr>
              <a:t>相当于</a:t>
            </a:r>
            <a:r>
              <a:rPr lang="en-US" altLang="zh-CN" sz="1900" dirty="0" err="1">
                <a:solidFill>
                  <a:srgbClr val="FF0000"/>
                </a:solidFill>
              </a:rPr>
              <a:t>printf</a:t>
            </a:r>
            <a:r>
              <a:rPr lang="en-US" altLang="zh-CN" sz="1900" dirty="0">
                <a:solidFill>
                  <a:srgbClr val="FF0000"/>
                </a:solidFill>
              </a:rPr>
              <a:t>("%s</a:t>
            </a:r>
            <a:r>
              <a:rPr lang="en-US" altLang="zh-CN" sz="1900" b="1" dirty="0">
                <a:solidFill>
                  <a:srgbClr val="FF0000"/>
                </a:solidFill>
              </a:rPr>
              <a:t>\n</a:t>
            </a:r>
            <a:r>
              <a:rPr lang="en-US" altLang="zh-CN" sz="1900" dirty="0">
                <a:solidFill>
                  <a:srgbClr val="FF0000"/>
                </a:solidFill>
              </a:rPr>
              <a:t>", str)</a:t>
            </a:r>
            <a:endParaRPr lang="en-US" altLang="zh-CN" sz="1900" dirty="0">
              <a:solidFill>
                <a:srgbClr val="FF0000"/>
              </a:solidFill>
            </a:endParaRPr>
          </a:p>
          <a:p>
            <a:pPr lvl="1"/>
            <a:r>
              <a:rPr lang="zh-CN" altLang="en-US" sz="1900" dirty="0">
                <a:solidFill>
                  <a:srgbClr val="FF0000"/>
                </a:solidFill>
              </a:rPr>
              <a:t>注意：会自动加上</a:t>
            </a:r>
            <a:r>
              <a:rPr lang="en-US" altLang="zh-CN" sz="1900" dirty="0">
                <a:solidFill>
                  <a:srgbClr val="FF0000"/>
                </a:solidFill>
              </a:rPr>
              <a:t>\n</a:t>
            </a:r>
            <a:r>
              <a:rPr lang="zh-CN" altLang="en-US" sz="1900" dirty="0">
                <a:solidFill>
                  <a:srgbClr val="FF0000"/>
                </a:solidFill>
              </a:rPr>
              <a:t>（如果</a:t>
            </a:r>
            <a:r>
              <a:rPr lang="en-US" altLang="zh-CN" sz="1900" dirty="0" err="1">
                <a:solidFill>
                  <a:srgbClr val="FF0000"/>
                </a:solidFill>
              </a:rPr>
              <a:t>fgets</a:t>
            </a:r>
            <a:r>
              <a:rPr lang="zh-CN" altLang="en-US" sz="1900" dirty="0">
                <a:solidFill>
                  <a:srgbClr val="FF0000"/>
                </a:solidFill>
              </a:rPr>
              <a:t>读入本来就用回车，则会输出两个回车）</a:t>
            </a:r>
            <a:endParaRPr lang="en-US" altLang="zh-CN" sz="1900" dirty="0">
              <a:solidFill>
                <a:srgbClr val="FF0000"/>
              </a:solidFill>
            </a:endParaRPr>
          </a:p>
          <a:p>
            <a:endParaRPr lang="en-US" altLang="zh-CN" sz="900" dirty="0"/>
          </a:p>
          <a:p>
            <a:r>
              <a:rPr lang="en-US" altLang="zh-CN" sz="2200" dirty="0" err="1"/>
              <a:t>putchar</a:t>
            </a:r>
            <a:r>
              <a:rPr lang="zh-CN" altLang="en-US" sz="2200" dirty="0"/>
              <a:t>函数：从计算机向显示器输出一个字符</a:t>
            </a:r>
            <a:endParaRPr lang="en-US" altLang="zh-CN" sz="2200" dirty="0"/>
          </a:p>
          <a:p>
            <a:pPr lvl="1"/>
            <a:r>
              <a:rPr lang="en-US" altLang="zh-CN" sz="1900" dirty="0" err="1"/>
              <a:t>putchar</a:t>
            </a:r>
            <a:r>
              <a:rPr lang="en-US" altLang="zh-CN" sz="1900" dirty="0"/>
              <a:t>(c)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pPr lvl="1"/>
            <a:endParaRPr lang="en-US" altLang="zh-CN" sz="1900" dirty="0"/>
          </a:p>
          <a:p>
            <a:r>
              <a:rPr lang="en-US" altLang="zh-CN" sz="2200" dirty="0" err="1"/>
              <a:t>getchar</a:t>
            </a:r>
            <a:r>
              <a:rPr lang="zh-CN" altLang="en-US" sz="2200" dirty="0"/>
              <a:t>函数：从键盘读入一个字符</a:t>
            </a:r>
            <a:endParaRPr lang="en-US" altLang="zh-CN" sz="2200" dirty="0"/>
          </a:p>
          <a:p>
            <a:pPr lvl="1"/>
            <a:r>
              <a:rPr lang="en-US" altLang="zh-CN" sz="1900" dirty="0"/>
              <a:t>c=</a:t>
            </a:r>
            <a:r>
              <a:rPr lang="en-US" altLang="zh-CN" sz="1900" dirty="0" err="1"/>
              <a:t>getchar</a:t>
            </a:r>
            <a:r>
              <a:rPr lang="en-US" altLang="zh-CN" sz="1900" dirty="0"/>
              <a:t>()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小测验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挑出下面程序的错误</a:t>
            </a:r>
            <a:endParaRPr lang="en-US" altLang="en-US">
              <a:ea typeface="华文中宋" panose="02010600040101010101" pitchFamily="2" charset="-122"/>
            </a:endParaRPr>
          </a:p>
        </p:txBody>
      </p:sp>
      <p:pic>
        <p:nvPicPr>
          <p:cNvPr id="5222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98" y="2278909"/>
            <a:ext cx="7394575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2000" y="1231322"/>
            <a:ext cx="4687853" cy="5212369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#4.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读入字符串并输出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作业：</a:t>
            </a:r>
            <a:r>
              <a:rPr lang="en-US" altLang="zh-CN" dirty="0"/>
              <a:t>#1548. </a:t>
            </a:r>
            <a:r>
              <a:rPr lang="zh-CN" altLang="en-US" dirty="0"/>
              <a:t>按格式输入输出数据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187" y="1382731"/>
            <a:ext cx="5222011" cy="50703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扩展阅读：</a:t>
            </a:r>
            <a:r>
              <a:rPr lang="en-US" altLang="zh-CN" dirty="0"/>
              <a:t> </a:t>
            </a:r>
            <a:r>
              <a:rPr lang="en-US" altLang="zh-CN" sz="2000" dirty="0">
                <a:hlinkClick r:id="rId1"/>
              </a:rPr>
              <a:t>http://blog.csdn.net/qq_36016407/article/details/70254640</a:t>
            </a:r>
            <a:endParaRPr lang="en-US" altLang="zh-CN" sz="2000" dirty="0"/>
          </a:p>
          <a:p>
            <a:r>
              <a:rPr lang="zh-CN" altLang="en-US" dirty="0"/>
              <a:t>输入输出流可以和输入输出函数同时使用，并行不悖</a:t>
            </a:r>
            <a:endParaRPr lang="en-US" altLang="zh-CN" dirty="0"/>
          </a:p>
          <a:p>
            <a:r>
              <a:rPr lang="zh-CN" altLang="en-US" dirty="0"/>
              <a:t>输入输出流</a:t>
            </a:r>
            <a:endParaRPr lang="en-US" altLang="zh-CN" dirty="0"/>
          </a:p>
          <a:p>
            <a:pPr lvl="1"/>
            <a:r>
              <a:rPr lang="en-US" altLang="zh-CN" dirty="0" err="1"/>
              <a:t>cin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cout</a:t>
            </a:r>
            <a:endParaRPr lang="en-US" altLang="zh-CN" dirty="0"/>
          </a:p>
          <a:p>
            <a:r>
              <a:rPr lang="zh-CN" altLang="en-US" dirty="0"/>
              <a:t>输入函数</a:t>
            </a:r>
            <a:endParaRPr lang="en-US" altLang="zh-CN" dirty="0"/>
          </a:p>
          <a:p>
            <a:pPr lvl="1"/>
            <a:r>
              <a:rPr lang="en-US" altLang="zh-CN" dirty="0" err="1"/>
              <a:t>scanf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gets,</a:t>
            </a:r>
            <a:r>
              <a:rPr lang="zh-CN" altLang="en-US" dirty="0"/>
              <a:t> </a:t>
            </a:r>
            <a:r>
              <a:rPr lang="en-US" altLang="zh-CN" dirty="0" err="1"/>
              <a:t>getchar</a:t>
            </a:r>
            <a:endParaRPr lang="en-US" altLang="zh-CN" dirty="0"/>
          </a:p>
          <a:p>
            <a:r>
              <a:rPr lang="zh-CN" altLang="en-US" dirty="0"/>
              <a:t>输出函数</a:t>
            </a:r>
            <a:endParaRPr lang="en-US" altLang="zh-CN" dirty="0"/>
          </a:p>
          <a:p>
            <a:pPr lvl="1"/>
            <a:r>
              <a:rPr lang="en-US" altLang="zh-CN" dirty="0" err="1"/>
              <a:t>printf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putchar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puts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查询：</a:t>
            </a:r>
            <a:r>
              <a:rPr lang="en-US" altLang="zh-CN" dirty="0" err="1"/>
              <a:t>scanf</a:t>
            </a:r>
            <a:r>
              <a:rPr lang="zh-CN" altLang="en-US" dirty="0"/>
              <a:t>函数的输出是什么？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接下来的任务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2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3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7559</Words>
  <Application>WPS 演示</Application>
  <PresentationFormat>On-screen Show (4:3)</PresentationFormat>
  <Paragraphs>802</Paragraphs>
  <Slides>43</Slides>
  <Notes>27</Notes>
  <HiddenSlides>2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7" baseType="lpstr">
      <vt:lpstr>Arial</vt:lpstr>
      <vt:lpstr>宋体</vt:lpstr>
      <vt:lpstr>Wingdings</vt:lpstr>
      <vt:lpstr>Calibri</vt:lpstr>
      <vt:lpstr>Consolas</vt:lpstr>
      <vt:lpstr>等线</vt:lpstr>
      <vt:lpstr>微软雅黑</vt:lpstr>
      <vt:lpstr>华文中宋</vt:lpstr>
      <vt:lpstr>Gill Sans MT</vt:lpstr>
      <vt:lpstr>Gill Sans</vt:lpstr>
      <vt:lpstr>新宋体</vt:lpstr>
      <vt:lpstr>Times New Roman</vt:lpstr>
      <vt:lpstr>Calibri Light</vt:lpstr>
      <vt:lpstr>微软雅黑 Light</vt:lpstr>
      <vt:lpstr>Arial Unicode MS</vt:lpstr>
      <vt:lpstr>Courier New</vt:lpstr>
      <vt:lpstr>Lato</vt:lpstr>
      <vt:lpstr>Wingdings 2</vt:lpstr>
      <vt:lpstr>Verdana</vt:lpstr>
      <vt:lpstr>font0000000028d0119b</vt:lpstr>
      <vt:lpstr>Segoe Print</vt:lpstr>
      <vt:lpstr>Times New Roman</vt:lpstr>
      <vt:lpstr>Garamond</vt:lpstr>
      <vt:lpstr>课程PPT模板</vt:lpstr>
      <vt:lpstr>5. 数据格式化输入和输出</vt:lpstr>
      <vt:lpstr>回顾之前的PPT：如何输出？</vt:lpstr>
      <vt:lpstr>C++输入输出 vs C语言输入输出</vt:lpstr>
      <vt:lpstr>C语言的输入输出</vt:lpstr>
      <vt:lpstr>输出函数 printf 的使用</vt:lpstr>
      <vt:lpstr>输出函数 printf 的使用</vt:lpstr>
      <vt:lpstr>练习：#1535. 整数加减</vt:lpstr>
      <vt:lpstr>输出函数 printf 的使用</vt:lpstr>
      <vt:lpstr>输出函数 printf 的使用</vt:lpstr>
      <vt:lpstr>printf的 格式声明</vt:lpstr>
      <vt:lpstr>printf的 格式声明</vt:lpstr>
      <vt:lpstr>#6. 浮点数求和</vt:lpstr>
      <vt:lpstr>C语言的输入输出</vt:lpstr>
      <vt:lpstr>设计 scanf 的基本思想</vt:lpstr>
      <vt:lpstr>设计 scanf 的基本思想</vt:lpstr>
      <vt:lpstr>在visual studio中使用scanf报错问题 （vs code没有这个问题）</vt:lpstr>
      <vt:lpstr>练习：#1547. 读入表达式进行计算</vt:lpstr>
      <vt:lpstr>输出函数 scanf 的使用</vt:lpstr>
      <vt:lpstr>scanf函数输入数据</vt:lpstr>
      <vt:lpstr>scanf格式字符串中的空白字符意义</vt:lpstr>
      <vt:lpstr>一个有类似问题的简单程序</vt:lpstr>
      <vt:lpstr>scanf中加入空白字符的一种用法</vt:lpstr>
      <vt:lpstr>scanf中加入空白字符的一种用法</vt:lpstr>
      <vt:lpstr>scanf中加入空白字符对比</vt:lpstr>
      <vt:lpstr>格式控制中的空白字符：总结</vt:lpstr>
      <vt:lpstr>scanf的 格式声明</vt:lpstr>
      <vt:lpstr>scanf的 格式声明</vt:lpstr>
      <vt:lpstr>以下代码能不能正确读入x？</vt:lpstr>
      <vt:lpstr>C语言的输入输出</vt:lpstr>
      <vt:lpstr>字符串的输入输出</vt:lpstr>
      <vt:lpstr>字符串的输入输出</vt:lpstr>
      <vt:lpstr>字符串的输入输出</vt:lpstr>
      <vt:lpstr>字符串的输入输出</vt:lpstr>
      <vt:lpstr>如何读入一行字符？</vt:lpstr>
      <vt:lpstr>如何读入一行字符？</vt:lpstr>
      <vt:lpstr>如何读入一行字符？</vt:lpstr>
      <vt:lpstr>如何读入一行字符？</vt:lpstr>
      <vt:lpstr>其他输入输出函数</vt:lpstr>
      <vt:lpstr>小测验</vt:lpstr>
      <vt:lpstr>练习：#4. 读入字符串并输出</vt:lpstr>
      <vt:lpstr>作业：#1548. 按格式输入输出数据</vt:lpstr>
      <vt:lpstr>总结</vt:lpstr>
      <vt:lpstr>接下来的任务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1778</cp:revision>
  <dcterms:created xsi:type="dcterms:W3CDTF">2020-10-14T02:47:00Z</dcterms:created>
  <dcterms:modified xsi:type="dcterms:W3CDTF">2025-10-23T02:09:28Z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6C5690905D3C4E2D838318E7DF667184</vt:lpwstr>
  </property>
  <property fmtid="{D5CDD505-2E9C-101B-9397-08002B2CF9AE}" pid="3" name="KSOProductBuildVer">
    <vt:lpwstr>2052-11.1.0.12173</vt:lpwstr>
  </property>
</Properties>
</file>