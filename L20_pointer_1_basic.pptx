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231" r:id="rId3"/>
    <p:sldId id="891" r:id="rId5"/>
    <p:sldId id="1262" r:id="rId6"/>
    <p:sldId id="995" r:id="rId7"/>
    <p:sldId id="541" r:id="rId8"/>
    <p:sldId id="543" r:id="rId9"/>
    <p:sldId id="544" r:id="rId10"/>
    <p:sldId id="998" r:id="rId11"/>
    <p:sldId id="406" r:id="rId12"/>
    <p:sldId id="407" r:id="rId13"/>
    <p:sldId id="408" r:id="rId14"/>
    <p:sldId id="413" r:id="rId15"/>
    <p:sldId id="996" r:id="rId16"/>
    <p:sldId id="999" r:id="rId17"/>
    <p:sldId id="546" r:id="rId18"/>
    <p:sldId id="547" r:id="rId19"/>
    <p:sldId id="548" r:id="rId20"/>
    <p:sldId id="419" r:id="rId21"/>
    <p:sldId id="587" r:id="rId22"/>
    <p:sldId id="550" r:id="rId23"/>
    <p:sldId id="551" r:id="rId24"/>
    <p:sldId id="552" r:id="rId25"/>
    <p:sldId id="553" r:id="rId26"/>
    <p:sldId id="1001" r:id="rId27"/>
    <p:sldId id="1261" r:id="rId28"/>
    <p:sldId id="429" r:id="rId29"/>
    <p:sldId id="430" r:id="rId30"/>
    <p:sldId id="431" r:id="rId31"/>
    <p:sldId id="1002" r:id="rId32"/>
    <p:sldId id="433" r:id="rId33"/>
    <p:sldId id="1265" r:id="rId34"/>
    <p:sldId id="1263" r:id="rId35"/>
    <p:sldId id="1000" r:id="rId36"/>
    <p:sldId id="1003" r:id="rId37"/>
    <p:sldId id="442" r:id="rId38"/>
    <p:sldId id="1004" r:id="rId39"/>
    <p:sldId id="1005" r:id="rId40"/>
    <p:sldId id="450" r:id="rId41"/>
    <p:sldId id="451" r:id="rId42"/>
    <p:sldId id="452" r:id="rId43"/>
    <p:sldId id="453" r:id="rId44"/>
    <p:sldId id="1006" r:id="rId45"/>
    <p:sldId id="555" r:id="rId46"/>
    <p:sldId id="556" r:id="rId47"/>
    <p:sldId id="557" r:id="rId48"/>
    <p:sldId id="558" r:id="rId49"/>
    <p:sldId id="559" r:id="rId50"/>
    <p:sldId id="1007" r:id="rId51"/>
    <p:sldId id="461" r:id="rId52"/>
    <p:sldId id="462" r:id="rId53"/>
    <p:sldId id="1008" r:id="rId54"/>
    <p:sldId id="1009" r:id="rId55"/>
    <p:sldId id="1011" r:id="rId56"/>
    <p:sldId id="628" r:id="rId57"/>
    <p:sldId id="629" r:id="rId58"/>
    <p:sldId id="630" r:id="rId59"/>
    <p:sldId id="1144" r:id="rId60"/>
    <p:sldId id="1140" r:id="rId61"/>
    <p:sldId id="1143" r:id="rId62"/>
    <p:sldId id="631" r:id="rId63"/>
    <p:sldId id="1212" r:id="rId64"/>
    <p:sldId id="632" r:id="rId65"/>
    <p:sldId id="1213" r:id="rId66"/>
    <p:sldId id="634" r:id="rId67"/>
    <p:sldId id="635" r:id="rId68"/>
    <p:sldId id="636" r:id="rId69"/>
    <p:sldId id="637" r:id="rId70"/>
    <p:sldId id="611" r:id="rId71"/>
    <p:sldId id="612" r:id="rId72"/>
    <p:sldId id="613" r:id="rId73"/>
    <p:sldId id="614" r:id="rId74"/>
    <p:sldId id="1246" r:id="rId75"/>
    <p:sldId id="615" r:id="rId76"/>
    <p:sldId id="616" r:id="rId77"/>
    <p:sldId id="617" r:id="rId78"/>
    <p:sldId id="618" r:id="rId79"/>
    <p:sldId id="619" r:id="rId80"/>
    <p:sldId id="620" r:id="rId81"/>
    <p:sldId id="1254" r:id="rId82"/>
    <p:sldId id="1255" r:id="rId83"/>
    <p:sldId id="1256" r:id="rId84"/>
    <p:sldId id="1257" r:id="rId85"/>
    <p:sldId id="1264" r:id="rId86"/>
    <p:sldId id="594" r:id="rId87"/>
    <p:sldId id="1146" r:id="rId88"/>
    <p:sldId id="1147" r:id="rId89"/>
    <p:sldId id="1148" r:id="rId90"/>
    <p:sldId id="1150" r:id="rId91"/>
    <p:sldId id="1258" r:id="rId92"/>
    <p:sldId id="1259" r:id="rId93"/>
  </p:sldIdLst>
  <p:sldSz cx="9144000" cy="6858000" type="screen4x3"/>
  <p:notesSz cx="6858000" cy="9144000"/>
  <p:custDataLst>
    <p:tags r:id="rId9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0FB1"/>
    <a:srgbClr val="0066FF"/>
    <a:srgbClr val="0000FF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7" autoAdjust="0"/>
    <p:restoredTop sz="90767" autoAdjust="0"/>
  </p:normalViewPr>
  <p:slideViewPr>
    <p:cSldViewPr snapToGrid="0" showGuides="1">
      <p:cViewPr varScale="1">
        <p:scale>
          <a:sx n="78" d="100"/>
          <a:sy n="78" d="100"/>
        </p:scale>
        <p:origin x="1435" y="4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7" Type="http://schemas.openxmlformats.org/officeDocument/2006/relationships/tags" Target="tags/tag1.xml"/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yoj.ruc.edu.cn/index.php/teacher/problem/detail/pno/286.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课上练习：</a:t>
            </a:r>
            <a:r>
              <a:rPr lang="en-US" altLang="zh-CN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#286 </a:t>
            </a:r>
            <a:r>
              <a:rPr lang="zh-CN" altLang="en-US" b="0" i="0" u="none" strike="noStrike" dirty="0">
                <a:solidFill>
                  <a:srgbClr val="4183C4"/>
                </a:solidFill>
                <a:effectLst/>
                <a:latin typeface="Lato" panose="020F0502020204030203" pitchFamily="34" charset="0"/>
                <a:hlinkClick r:id="rId3"/>
              </a:rPr>
              <a:t>链表操作（删除节点）</a:t>
            </a:r>
            <a:endParaRPr lang="en-US" altLang="zh-CN" b="0" i="0" u="none" strike="noStrike" dirty="0">
              <a:solidFill>
                <a:srgbClr val="4183C4"/>
              </a:solidFill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作业：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#132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指针练习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n-lt"/>
              </a:rPr>
              <a:t>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n-lt"/>
              </a:rPr>
              <a:t>//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#596. string(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函数提交版）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#676.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笨小猴，</a:t>
            </a: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r">
              <a:spcBef>
                <a:spcPct val="0"/>
              </a:spcBef>
            </a:pPr>
            <a:fld id="{CF9D29F3-2EAA-4DB2-ADCD-2E0CF71F3A19}" type="slidenum">
              <a:rPr lang="en-US" altLang="zh-CN" b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之前涉及过的：背景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之前涉及过的：背景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这些应用之前也涉及过，不重复了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itoa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并不是一个标准的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函数，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Windows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下可用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9E12BC-05D8-4320-BDA9-523357A1B366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7414926" y="813763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7" name="圆: 空心 6"/>
          <p:cNvSpPr/>
          <p:nvPr/>
        </p:nvSpPr>
        <p:spPr>
          <a:xfrm>
            <a:off x="-1447253" y="-1783037"/>
            <a:ext cx="3960000" cy="3960000"/>
          </a:xfrm>
          <a:prstGeom prst="donut">
            <a:avLst>
              <a:gd name="adj" fmla="val 14845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4" y="2063683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409455" y="215530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389185"/>
            <a:ext cx="8280000" cy="4936895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32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260000"/>
            <a:ext cx="8280000" cy="5040000"/>
          </a:xfrm>
        </p:spPr>
        <p:txBody>
          <a:bodyPr/>
          <a:lstStyle>
            <a:lvl2pPr indent="-288290">
              <a:defRPr/>
            </a:lvl2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/>
            </a:lvl1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4"/>
            <a:ext cx="4066182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4"/>
            <a:ext cx="4082850" cy="438828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4" y="2155123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dirty="0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E995F9-82BC-4AFC-8E20-89426A466BF1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BF01F0-5869-42E2-A8FD-A9376291A2A2}" type="slidenum">
              <a:rPr lang="en-US" altLang="zh-CN"/>
            </a:fld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2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6" name="Oval 15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7" name="Oval 16"/>
          <p:cNvSpPr/>
          <p:nvPr/>
        </p:nvSpPr>
        <p:spPr>
          <a:xfrm>
            <a:off x="2408239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3375"/>
              </a:lnSpc>
              <a:buNone/>
              <a:defRPr sz="3000" b="1" cap="all"/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3970" indent="0">
              <a:lnSpc>
                <a:spcPts val="1725"/>
              </a:lnSpc>
              <a:spcBef>
                <a:spcPts val="0"/>
              </a:spcBef>
              <a:buNone/>
              <a:defRPr sz="15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65537A-573F-4928-9A76-1F19383F4DC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651CC-8B39-45DF-A333-2A7D248E5017}" type="slidenum">
              <a:rPr lang="en-US" altLang="zh-CN"/>
            </a:fld>
            <a:endParaRPr lang="en-US" altLang="zh-CN"/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/>
          <p:nvPr/>
        </p:nvSpPr>
        <p:spPr>
          <a:xfrm>
            <a:off x="1014414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13"/>
          <p:cNvSpPr>
            <a:spLocks noChangeArrowheads="1"/>
          </p:cNvSpPr>
          <p:nvPr/>
        </p:nvSpPr>
        <p:spPr bwMode="invGray">
          <a:xfrm>
            <a:off x="1014414" y="0"/>
            <a:ext cx="73025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dist="38000" dir="10800000" algn="tl" rotWithShape="0">
              <a:srgbClr val="73726C">
                <a:alpha val="2500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>
              <a:solidFill>
                <a:schemeClr val="lt1"/>
              </a:solidFill>
              <a:latin typeface="+mn-lt"/>
              <a:ea typeface="+mn-ea"/>
            </a:endParaRPr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2C4C4-4215-4352-B597-B2750E65EFF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emf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6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1.png"/><Relationship Id="rId2" Type="http://schemas.openxmlformats.org/officeDocument/2006/relationships/slide" Target="slide14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3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1268873" y="3811522"/>
            <a:ext cx="6051217" cy="1655762"/>
          </a:xfrm>
        </p:spPr>
        <p:txBody>
          <a:bodyPr>
            <a:normAutofit/>
          </a:bodyPr>
          <a:lstStyle/>
          <a:p>
            <a:pPr algn="r"/>
            <a:r>
              <a:rPr lang="en-US" altLang="zh-CN" sz="3600" dirty="0"/>
              <a:t>——</a:t>
            </a:r>
            <a:r>
              <a:rPr lang="zh-CN" altLang="en-US" sz="3600" dirty="0"/>
              <a:t>指针基础</a:t>
            </a:r>
            <a:endParaRPr lang="en-US" sz="3600" dirty="0"/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03856" y="1941437"/>
            <a:ext cx="6606253" cy="1655763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20</a:t>
            </a:r>
            <a:r>
              <a:rPr lang="zh-CN" altLang="en-US" dirty="0"/>
              <a:t>讲 指针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本讲内容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指针与指针变量的概念</a:t>
            </a:r>
            <a:endParaRPr lang="en-US" altLang="zh-CN" dirty="0"/>
          </a:p>
          <a:p>
            <a:r>
              <a:rPr lang="zh-CN" altLang="en-US" dirty="0"/>
              <a:t>指针与数组</a:t>
            </a:r>
            <a:endParaRPr lang="en-US" altLang="zh-CN" dirty="0"/>
          </a:p>
          <a:p>
            <a:r>
              <a:rPr lang="zh-CN" altLang="en-US" dirty="0"/>
              <a:t>字符串及其处理</a:t>
            </a: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指针与变量的概念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如果在程序中定义了一个变量，在对程序进行编译时，系统就会给该变量分配内存单元</a:t>
            </a:r>
            <a:endParaRPr lang="en-US" altLang="zh-CN" sz="24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编译系统根据程序中定义的变量类型，分配一定长度的空间</a:t>
            </a:r>
            <a:endParaRPr lang="en-US" altLang="zh-CN" sz="2000" dirty="0"/>
          </a:p>
          <a:p>
            <a:pPr lvl="1" eaLnBrk="1" hangingPunct="1">
              <a:spcBef>
                <a:spcPct val="50000"/>
              </a:spcBef>
            </a:pPr>
            <a:r>
              <a:rPr lang="zh-CN" altLang="en-US" sz="2000" dirty="0"/>
              <a:t>例如为</a:t>
            </a:r>
            <a:r>
              <a:rPr lang="en-US" altLang="zh-CN" sz="2000" dirty="0"/>
              <a:t>int</a:t>
            </a:r>
            <a:r>
              <a:rPr lang="zh-CN" altLang="en-US" sz="2000" dirty="0"/>
              <a:t>类型变量分配</a:t>
            </a:r>
            <a:r>
              <a:rPr lang="en-US" altLang="zh-CN" sz="2000" dirty="0"/>
              <a:t>4</a:t>
            </a:r>
            <a:r>
              <a:rPr lang="zh-CN" altLang="en-US" sz="2000" dirty="0"/>
              <a:t>个字节，为</a:t>
            </a:r>
            <a:r>
              <a:rPr lang="en-US" altLang="zh-CN" sz="2000" dirty="0"/>
              <a:t>float</a:t>
            </a:r>
            <a:r>
              <a:rPr lang="zh-CN" altLang="en-US" sz="2000" dirty="0"/>
              <a:t>类型分配４个字节，对</a:t>
            </a:r>
            <a:r>
              <a:rPr lang="en-US" altLang="zh-CN" sz="2000" dirty="0"/>
              <a:t>char</a:t>
            </a:r>
            <a:r>
              <a:rPr lang="zh-CN" altLang="en-US" sz="2000" dirty="0"/>
              <a:t>类型变量分配１个字节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内存区的每一个字节有一个编号，这就是“</a:t>
            </a:r>
            <a:r>
              <a:rPr lang="zh-CN" altLang="en-US" sz="2400" dirty="0">
                <a:solidFill>
                  <a:srgbClr val="FF0000"/>
                </a:solidFill>
              </a:rPr>
              <a:t>地址</a:t>
            </a:r>
            <a:r>
              <a:rPr lang="zh-CN" altLang="en-US" sz="2400" dirty="0"/>
              <a:t>”，它相当于教学楼的教室号。</a:t>
            </a:r>
            <a:endParaRPr lang="en-US" altLang="zh-CN" sz="2400" dirty="0"/>
          </a:p>
          <a:p>
            <a:pPr lvl="1" eaLnBrk="1" hangingPunct="1">
              <a:spcBef>
                <a:spcPct val="0"/>
              </a:spcBef>
            </a:pPr>
            <a:r>
              <a:rPr lang="zh-CN" altLang="en-US" sz="2000" dirty="0"/>
              <a:t>在地址所标识的内存单元中存放数据，这相当于教室里有上课的学生</a:t>
            </a:r>
            <a:endParaRPr lang="en-US" altLang="zh-CN" sz="2000" dirty="0"/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通过地址能找到所需的变量单元，我们可以说，</a:t>
            </a:r>
            <a:r>
              <a:rPr lang="zh-CN" altLang="en-US" sz="2400" dirty="0">
                <a:solidFill>
                  <a:srgbClr val="FF0000"/>
                </a:solidFill>
              </a:rPr>
              <a:t>地址指向该变量单元。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</a:pPr>
            <a:r>
              <a:rPr lang="zh-CN" altLang="en-US" sz="2400" dirty="0"/>
              <a:t>将地址形象化地称为“</a:t>
            </a:r>
            <a:r>
              <a:rPr lang="zh-CN" altLang="en-US" sz="2400" dirty="0">
                <a:solidFill>
                  <a:srgbClr val="FF0000"/>
                </a:solidFill>
              </a:rPr>
              <a:t>指针</a:t>
            </a:r>
            <a:r>
              <a:rPr lang="zh-CN" altLang="en-US" sz="2400" dirty="0"/>
              <a:t>”</a:t>
            </a:r>
            <a:endParaRPr lang="en-US" sz="24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指针的概念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指针的概念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dirty="0"/>
              <a:t>为了进一步理解指针，先看一个小故事</a:t>
            </a:r>
            <a:endParaRPr kumimoji="1" lang="en-US" altLang="zh-CN" dirty="0"/>
          </a:p>
          <a:p>
            <a:pPr marL="62230" indent="0" eaLnBrk="1" hangingPunct="1">
              <a:buNone/>
              <a:defRPr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“地下工作者阿金接到上级指令，要去寻找打开密电码的密钥，这是一个整数。几经周折，才探知如下线索，密钥藏在一栋三年前就被贴上封条的小楼中。一个风雨交加的夜晚，阿金潜入了小楼，房间很多，不知该进哪一间，正在一筹莫展之际，忽然走廊上的电话铃声响起。艺高人胆大，阿金毫不迟疑，抓起听筒。只听一个陌生人说：“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去打开 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房间，那里有线索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”。阿金疾步上楼，打开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211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房门，用电筒一照，只见桌上赫然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个大字：</a:t>
            </a:r>
            <a:r>
              <a:rPr lang="zh-CN" altLang="en-US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300" dirty="0">
                <a:solidFill>
                  <a:schemeClr val="hlin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1000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。阿金眼睛一亮，迅速找到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1000 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房间，取出重要数据 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66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，完成了任务。”</a:t>
            </a:r>
            <a:endParaRPr lang="zh-CN" altLang="en-US" sz="23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39048" y="365125"/>
            <a:ext cx="784459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画出下图</a:t>
            </a:r>
            <a:endParaRPr kumimoji="1"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418819" name="Group 3"/>
          <p:cNvGraphicFramePr>
            <a:graphicFrameLocks noGrp="1"/>
          </p:cNvGraphicFramePr>
          <p:nvPr>
            <p:ph/>
          </p:nvPr>
        </p:nvGraphicFramePr>
        <p:xfrm>
          <a:off x="1130968" y="1703388"/>
          <a:ext cx="7555830" cy="519112"/>
        </p:xfrm>
        <a:graphic>
          <a:graphicData uri="http://schemas.openxmlformats.org/drawingml/2006/table">
            <a:tbl>
              <a:tblPr/>
              <a:tblGrid>
                <a:gridCol w="1511458"/>
                <a:gridCol w="1510000"/>
                <a:gridCol w="1512915"/>
                <a:gridCol w="1510000"/>
                <a:gridCol w="1511457"/>
              </a:tblGrid>
              <a:tr h="51911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…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233" name="Text Box 17"/>
          <p:cNvSpPr txBox="1">
            <a:spLocks noChangeArrowheads="1"/>
          </p:cNvSpPr>
          <p:nvPr/>
        </p:nvSpPr>
        <p:spPr bwMode="auto">
          <a:xfrm>
            <a:off x="1273509" y="2205038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endParaRPr kumimoji="1" lang="en-US" altLang="zh-CN" sz="2400" dirty="0">
              <a:solidFill>
                <a:srgbClr val="4F892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34" name="Text Box 18"/>
          <p:cNvSpPr txBox="1">
            <a:spLocks noChangeArrowheads="1"/>
          </p:cNvSpPr>
          <p:nvPr/>
        </p:nvSpPr>
        <p:spPr bwMode="auto">
          <a:xfrm>
            <a:off x="5798554" y="2199191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solidFill>
                  <a:srgbClr val="4F8927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endParaRPr kumimoji="1" lang="en-US" altLang="zh-CN" sz="2400" dirty="0">
              <a:solidFill>
                <a:srgbClr val="4F8927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235" name="Text Box 19"/>
          <p:cNvSpPr txBox="1">
            <a:spLocks noChangeArrowheads="1"/>
          </p:cNvSpPr>
          <p:nvPr/>
        </p:nvSpPr>
        <p:spPr bwMode="auto">
          <a:xfrm>
            <a:off x="2771775" y="692150"/>
            <a:ext cx="1365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9236" name="Group 24"/>
          <p:cNvGrpSpPr/>
          <p:nvPr/>
        </p:nvGrpSpPr>
        <p:grpSpPr bwMode="auto">
          <a:xfrm>
            <a:off x="1476375" y="1125538"/>
            <a:ext cx="4608513" cy="574675"/>
            <a:chOff x="930" y="775"/>
            <a:chExt cx="2903" cy="362"/>
          </a:xfrm>
        </p:grpSpPr>
        <p:sp>
          <p:nvSpPr>
            <p:cNvPr id="9238" name="Line 20"/>
            <p:cNvSpPr>
              <a:spLocks noChangeShapeType="1"/>
            </p:cNvSpPr>
            <p:nvPr/>
          </p:nvSpPr>
          <p:spPr bwMode="auto">
            <a:xfrm flipV="1">
              <a:off x="930" y="775"/>
              <a:ext cx="0" cy="362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39" name="Line 21"/>
            <p:cNvSpPr>
              <a:spLocks noChangeShapeType="1"/>
            </p:cNvSpPr>
            <p:nvPr/>
          </p:nvSpPr>
          <p:spPr bwMode="auto">
            <a:xfrm>
              <a:off x="930" y="775"/>
              <a:ext cx="2903" cy="0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9240" name="Line 22"/>
            <p:cNvSpPr>
              <a:spLocks noChangeShapeType="1"/>
            </p:cNvSpPr>
            <p:nvPr/>
          </p:nvSpPr>
          <p:spPr bwMode="auto">
            <a:xfrm>
              <a:off x="3833" y="775"/>
              <a:ext cx="0" cy="274"/>
            </a:xfrm>
            <a:prstGeom prst="line">
              <a:avLst/>
            </a:prstGeom>
            <a:noFill/>
            <a:ln w="76200" cap="sq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</p:grpSp>
      <p:sp>
        <p:nvSpPr>
          <p:cNvPr id="9237" name="Text Box 23"/>
          <p:cNvSpPr txBox="1">
            <a:spLocks noChangeArrowheads="1"/>
          </p:cNvSpPr>
          <p:nvPr/>
        </p:nvSpPr>
        <p:spPr bwMode="auto">
          <a:xfrm>
            <a:off x="1130968" y="2718303"/>
            <a:ext cx="7844590" cy="3884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说明：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、数据藏在一个内存地址单元中，地址是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、地址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又由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单元所指认，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单元的地址为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的直接地址是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66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的间接地址是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；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211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中存的是直接地址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、称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为指针变量，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是指针变量的值，实际上的有用数据存储在地址为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1000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的存储器中。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0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指针变量的概念</a:t>
            </a:r>
            <a:endParaRPr lang="zh-CN" altLang="en-US" dirty="0"/>
          </a:p>
        </p:txBody>
      </p:sp>
      <p:sp>
        <p:nvSpPr>
          <p:cNvPr id="472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en-US" altLang="zh-CN" sz="2800" dirty="0">
                <a:effectLst/>
                <a:latin typeface="Arial" panose="020B0604020202020204" pitchFamily="34" charset="0"/>
              </a:rPr>
              <a:t>——</a:t>
            </a:r>
            <a:r>
              <a:rPr kumimoji="1" lang="zh-CN" altLang="en-US" sz="2800" dirty="0">
                <a:effectLst/>
              </a:rPr>
              <a:t>用来存放另一变量地址的变量</a:t>
            </a:r>
            <a:endParaRPr kumimoji="1" lang="zh-CN" altLang="en-US" sz="2800" dirty="0">
              <a:effectLst/>
            </a:endParaRP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endParaRPr kumimoji="1" lang="zh-CN" altLang="en-US" sz="2800" u="sng" dirty="0">
              <a:effectLst/>
            </a:endParaRPr>
          </a:p>
          <a:p>
            <a:pPr marL="533400" indent="-533400" eaLnBrk="1" hangingPunct="1"/>
            <a:r>
              <a:rPr kumimoji="1" lang="zh-CN" altLang="en-US" sz="2800" dirty="0">
                <a:solidFill>
                  <a:schemeClr val="hlink"/>
                </a:solidFill>
                <a:effectLst/>
              </a:rPr>
              <a:t>指针变量</a:t>
            </a:r>
            <a:r>
              <a:rPr kumimoji="1" lang="zh-CN" altLang="en-US" sz="2800" dirty="0">
                <a:effectLst/>
              </a:rPr>
              <a:t>是一种特殊的变量，特殊性表现在类型和值上。</a:t>
            </a:r>
            <a:endParaRPr kumimoji="1" lang="zh-CN" altLang="en-US" sz="2800" dirty="0">
              <a:effectLst/>
            </a:endParaRPr>
          </a:p>
          <a:p>
            <a:pPr marL="533400" indent="-533400" eaLnBrk="1" hangingPunct="1"/>
            <a:r>
              <a:rPr kumimoji="1" lang="zh-CN" altLang="en-US" sz="2800" dirty="0">
                <a:effectLst/>
              </a:rPr>
              <a:t>从变量讲，指针也具有变量的三个要素：</a:t>
            </a:r>
            <a:endParaRPr kumimoji="1" lang="zh-CN" altLang="en-US" sz="28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变量名，这与一般变量取名相同，由英文字符开始。</a:t>
            </a:r>
            <a:endParaRPr kumimoji="1" lang="zh-CN" altLang="en-US" sz="24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指针变量的类型，是指针所指向的变量的类型，而不是身的类型。</a:t>
            </a:r>
            <a:endParaRPr kumimoji="1" lang="zh-CN" altLang="en-US" sz="2400" dirty="0">
              <a:effectLst/>
            </a:endParaRPr>
          </a:p>
          <a:p>
            <a:pPr marL="914400" lvl="1" indent="-457200" eaLnBrk="1" hangingPunct="1">
              <a:buFont typeface="Wingdings" panose="05000000000000000000" pitchFamily="2" charset="2"/>
              <a:buAutoNum type="arabicPeriod"/>
            </a:pPr>
            <a:r>
              <a:rPr kumimoji="1" lang="zh-CN" altLang="en-US" sz="2400" dirty="0">
                <a:effectLst/>
              </a:rPr>
              <a:t>指针的值是某个变量的内存地址。</a:t>
            </a:r>
            <a:endParaRPr kumimoji="1" lang="zh-CN" altLang="en-US" sz="2400" dirty="0">
              <a:effectLst/>
            </a:endParaRPr>
          </a:p>
        </p:txBody>
      </p:sp>
      <p:sp>
        <p:nvSpPr>
          <p:cNvPr id="472068" name="Rectangle 4"/>
          <p:cNvSpPr>
            <a:spLocks noChangeArrowheads="1"/>
          </p:cNvSpPr>
          <p:nvPr/>
        </p:nvSpPr>
        <p:spPr bwMode="auto">
          <a:xfrm>
            <a:off x="2349648" y="1746120"/>
            <a:ext cx="5688012" cy="617538"/>
          </a:xfrm>
          <a:prstGeom prst="rect">
            <a:avLst/>
          </a:prstGeom>
          <a:noFill/>
          <a:ln w="38100" algn="ctr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kumimoji="1" lang="zh-CN" altLang="en-US" sz="3200"/>
              <a:t>变量的指针就是变量的地址。</a:t>
            </a:r>
            <a:endParaRPr kumimoji="1"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72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72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72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72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720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720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存储单元的</a:t>
            </a:r>
            <a:r>
              <a:rPr lang="zh-CN" altLang="en-US" dirty="0">
                <a:solidFill>
                  <a:srgbClr val="FF0000"/>
                </a:solidFill>
              </a:rPr>
              <a:t>地址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rgbClr val="FF0000"/>
                </a:solidFill>
              </a:rPr>
              <a:t>内容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1007" y="1630511"/>
            <a:ext cx="4331368" cy="49528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285124" y="1846263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285124" y="2357437"/>
            <a:ext cx="3214687" cy="78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604030504040204" pitchFamily="34" charset="0"/>
              </a:rPr>
              <a:t>(“%d”,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solidFill>
                  <a:srgbClr val="00B050"/>
                </a:solidFill>
                <a:latin typeface="Verdana" panose="020B0604030504040204" pitchFamily="34" charset="0"/>
              </a:rPr>
              <a:t>);</a:t>
            </a:r>
            <a:endParaRPr lang="en-US" altLang="zh-CN" sz="2800" b="1" dirty="0">
              <a:solidFill>
                <a:srgbClr val="00B050"/>
              </a:solidFill>
              <a:latin typeface="Verdana" panose="020B0604030504040204" pitchFamily="34" charset="0"/>
            </a:endParaRPr>
          </a:p>
        </p:txBody>
      </p:sp>
      <p:sp>
        <p:nvSpPr>
          <p:cNvPr id="9" name="圆角矩形标注 7"/>
          <p:cNvSpPr>
            <a:spLocks noChangeArrowheads="1"/>
          </p:cNvSpPr>
          <p:nvPr/>
        </p:nvSpPr>
        <p:spPr bwMode="auto">
          <a:xfrm>
            <a:off x="301625" y="3136357"/>
            <a:ext cx="2357438" cy="642938"/>
          </a:xfrm>
          <a:prstGeom prst="wedgeRoundRectCallout">
            <a:avLst>
              <a:gd name="adj1" fmla="val 103352"/>
              <a:gd name="adj2" fmla="val -97827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/>
              <a:t>通过变量名</a:t>
            </a:r>
            <a:r>
              <a:rPr lang="en-US" altLang="zh-CN" sz="2800" b="1" dirty="0" err="1">
                <a:solidFill>
                  <a:srgbClr val="FF0000"/>
                </a:solidFill>
              </a:rPr>
              <a:t>i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10" name="圆角矩形标注 8"/>
          <p:cNvSpPr>
            <a:spLocks noChangeArrowheads="1"/>
          </p:cNvSpPr>
          <p:nvPr/>
        </p:nvSpPr>
        <p:spPr bwMode="auto">
          <a:xfrm>
            <a:off x="1091866" y="4330617"/>
            <a:ext cx="3190541" cy="1643062"/>
          </a:xfrm>
          <a:prstGeom prst="wedgeRoundRectCallout">
            <a:avLst>
              <a:gd name="adj1" fmla="val 63556"/>
              <a:gd name="adj2" fmla="val -9802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找到</a:t>
            </a:r>
            <a:r>
              <a:rPr lang="en-US" altLang="zh-CN" sz="2800" b="1">
                <a:solidFill>
                  <a:srgbClr val="FF0000"/>
                </a:solidFill>
              </a:rPr>
              <a:t>i</a:t>
            </a:r>
            <a:r>
              <a:rPr lang="zh-CN" altLang="en-US" sz="2800" b="1"/>
              <a:t>的地址</a:t>
            </a:r>
            <a:r>
              <a:rPr lang="en-US" altLang="zh-CN" sz="2800" b="1"/>
              <a:t>2000</a:t>
            </a:r>
            <a:r>
              <a:rPr lang="zh-CN" altLang="en-US" sz="2800" b="1"/>
              <a:t>，从而从存储单元读取</a:t>
            </a:r>
            <a:r>
              <a:rPr lang="en-US" altLang="zh-CN" sz="2800" b="1"/>
              <a:t>3</a:t>
            </a:r>
            <a:endParaRPr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50794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50794" y="1357313"/>
            <a:ext cx="18573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k=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i+j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920694" y="2143125"/>
            <a:ext cx="1958975" cy="642938"/>
          </a:xfrm>
          <a:prstGeom prst="wedgeRoundRectCallout">
            <a:avLst>
              <a:gd name="adj1" fmla="val 71315"/>
              <a:gd name="adj2" fmla="val 1642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3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665106" y="4214813"/>
            <a:ext cx="2357438" cy="571500"/>
          </a:xfrm>
          <a:prstGeom prst="wedgeRoundRectCallout">
            <a:avLst>
              <a:gd name="adj1" fmla="val 68060"/>
              <a:gd name="adj2" fmla="val -163056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9</a:t>
            </a:r>
            <a:r>
              <a:rPr lang="zh-CN" altLang="en-US" sz="2800" b="1"/>
              <a:t>送到这里</a:t>
            </a:r>
            <a:endParaRPr lang="zh-CN" altLang="en-US" sz="2800" b="1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950856" y="2928938"/>
            <a:ext cx="2000250" cy="642937"/>
          </a:xfrm>
          <a:prstGeom prst="wedgeRoundRectCallout">
            <a:avLst>
              <a:gd name="adj1" fmla="val 71088"/>
              <a:gd name="adj2" fmla="val -36282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/>
              <a:t>从这里取</a:t>
            </a:r>
            <a:r>
              <a:rPr lang="en-US" altLang="zh-CN" sz="2800" b="1"/>
              <a:t>6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" name="横卷形 10"/>
          <p:cNvSpPr>
            <a:spLocks noChangeArrowheads="1"/>
          </p:cNvSpPr>
          <p:nvPr/>
        </p:nvSpPr>
        <p:spPr bwMode="auto">
          <a:xfrm>
            <a:off x="665106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pic>
        <p:nvPicPr>
          <p:cNvPr id="21511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63" y="26988"/>
            <a:ext cx="5786437" cy="661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14313" y="642938"/>
            <a:ext cx="3571875" cy="785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 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=3,j=6,k;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1438" y="1285875"/>
            <a:ext cx="4357687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00B050"/>
                </a:solidFill>
                <a:latin typeface="Verdana" panose="020B0604030504040204" pitchFamily="34" charset="0"/>
              </a:rPr>
              <a:t>定义特殊变量</a:t>
            </a:r>
            <a:r>
              <a:rPr lang="en-US" altLang="zh-CN" sz="2800" b="1">
                <a:solidFill>
                  <a:srgbClr val="00B050"/>
                </a:solidFill>
                <a:latin typeface="Verdana" panose="020B0604030504040204" pitchFamily="34" charset="0"/>
              </a:rPr>
              <a:t>i_pointer</a:t>
            </a:r>
            <a:endParaRPr lang="en-US" altLang="zh-CN" sz="2800" b="1">
              <a:solidFill>
                <a:srgbClr val="00B050"/>
              </a:solidFill>
              <a:latin typeface="Verdana" panose="020B0604030504040204" pitchFamily="34" charset="0"/>
            </a:endParaRP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785813" y="3643313"/>
            <a:ext cx="2000250" cy="1000125"/>
          </a:xfrm>
          <a:prstGeom prst="wedgeRoundRectCallout">
            <a:avLst>
              <a:gd name="adj1" fmla="val 71250"/>
              <a:gd name="adj2" fmla="val 89000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/>
              <a:t>将</a:t>
            </a:r>
            <a:r>
              <a:rPr lang="en-US" altLang="zh-CN" sz="2800" b="1"/>
              <a:t>i</a:t>
            </a:r>
            <a:r>
              <a:rPr lang="zh-CN" altLang="en-US" sz="2800" b="1"/>
              <a:t>的地址存到这里</a:t>
            </a:r>
            <a:endParaRPr lang="zh-CN" altLang="en-US" sz="2800" b="1"/>
          </a:p>
        </p:txBody>
      </p:sp>
      <p:sp>
        <p:nvSpPr>
          <p:cNvPr id="11" name="横卷形 10"/>
          <p:cNvSpPr>
            <a:spLocks noChangeArrowheads="1"/>
          </p:cNvSpPr>
          <p:nvPr/>
        </p:nvSpPr>
        <p:spPr bwMode="auto">
          <a:xfrm>
            <a:off x="428625" y="5357813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42875" y="2000250"/>
            <a:ext cx="3071813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=&amp;</a:t>
            </a:r>
            <a:r>
              <a:rPr lang="en-US" altLang="zh-CN" sz="2800" b="1" kern="0" dirty="0" err="1">
                <a:solidFill>
                  <a:srgbClr val="00B05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00B050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00B050"/>
              </a:solidFill>
              <a:latin typeface="+mn-lt"/>
              <a:ea typeface="+mn-ea"/>
            </a:endParaRP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4921250"/>
            <a:ext cx="857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286125"/>
            <a:ext cx="5905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2286000"/>
            <a:ext cx="582612" cy="298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" name="直接连接符 17"/>
          <p:cNvCxnSpPr>
            <a:cxnSpLocks noChangeShapeType="1"/>
          </p:cNvCxnSpPr>
          <p:nvPr/>
        </p:nvCxnSpPr>
        <p:spPr bwMode="auto">
          <a:xfrm rot="10800000">
            <a:off x="4214813" y="5072063"/>
            <a:ext cx="428625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 rot="5400000" flipH="1" flipV="1">
            <a:off x="2893219" y="3750469"/>
            <a:ext cx="2643188" cy="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接箭头连接符 21"/>
          <p:cNvCxnSpPr>
            <a:cxnSpLocks noChangeShapeType="1"/>
          </p:cNvCxnSpPr>
          <p:nvPr/>
        </p:nvCxnSpPr>
        <p:spPr bwMode="auto">
          <a:xfrm>
            <a:off x="4214813" y="2428875"/>
            <a:ext cx="428625" cy="1588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71438" y="2714625"/>
            <a:ext cx="3071812" cy="642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 err="1">
                <a:solidFill>
                  <a:srgbClr val="9D138D"/>
                </a:solidFill>
                <a:latin typeface="+mn-lt"/>
                <a:ea typeface="+mn-ea"/>
              </a:rPr>
              <a:t>i_pointer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=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50</a:t>
            </a:r>
            <a:r>
              <a:rPr lang="en-US" altLang="zh-CN" sz="2800" b="1" kern="0" dirty="0">
                <a:solidFill>
                  <a:srgbClr val="9D138D"/>
                </a:solidFill>
                <a:latin typeface="+mn-lt"/>
                <a:ea typeface="+mn-ea"/>
              </a:rPr>
              <a:t>;</a:t>
            </a:r>
            <a:endParaRPr lang="en-US" altLang="zh-CN" sz="2800" b="1" kern="0" dirty="0">
              <a:solidFill>
                <a:srgbClr val="9D138D"/>
              </a:solidFill>
              <a:latin typeface="+mn-lt"/>
              <a:ea typeface="+mn-ea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5592763" y="2200275"/>
            <a:ext cx="622300" cy="4302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  <a:latin typeface="宋体" panose="02010600030101010101" pitchFamily="2" charset="-122"/>
              </a:rPr>
              <a:t>50</a:t>
            </a:r>
            <a:endParaRPr lang="zh-CN" altLang="en-US" sz="2800" b="1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  <p:bldP spid="11" grpId="0" animBg="1"/>
      <p:bldP spid="12" grpId="0"/>
      <p:bldP spid="25" grpId="0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500563" y="1571625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86313" y="10001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i</a:t>
            </a:r>
            <a:endParaRPr lang="zh-CN" altLang="en-US" sz="3200" b="1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357688" y="2428875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500813" y="17018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3643313" y="4286250"/>
            <a:ext cx="1000125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 tIns="180000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/>
              <a:t>2000</a:t>
            </a:r>
            <a:endParaRPr lang="zh-CN" altLang="en-US" sz="2800" b="1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143250" y="3714750"/>
            <a:ext cx="2000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i_pointer</a:t>
            </a:r>
            <a:endParaRPr lang="zh-CN" altLang="en-US" sz="3200" b="1"/>
          </a:p>
        </p:txBody>
      </p:sp>
      <p:sp>
        <p:nvSpPr>
          <p:cNvPr id="17" name="矩形 16"/>
          <p:cNvSpPr>
            <a:spLocks noChangeArrowheads="1"/>
          </p:cNvSpPr>
          <p:nvPr/>
        </p:nvSpPr>
        <p:spPr bwMode="auto">
          <a:xfrm>
            <a:off x="5857875" y="4286250"/>
            <a:ext cx="857250" cy="785813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286375" y="3714750"/>
            <a:ext cx="22145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*i_pointer</a:t>
            </a:r>
            <a:endParaRPr lang="zh-CN" altLang="en-US" sz="3200" b="1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715000" y="5143500"/>
            <a:ext cx="1143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2000</a:t>
            </a:r>
            <a:endParaRPr lang="zh-CN" altLang="en-US" sz="3200" b="1"/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7786688" y="4416425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/>
              <a:t>3</a:t>
            </a:r>
            <a:endParaRPr lang="zh-CN" altLang="en-US" sz="3200" b="1"/>
          </a:p>
        </p:txBody>
      </p:sp>
      <p:cxnSp>
        <p:nvCxnSpPr>
          <p:cNvPr id="23" name="直接箭头连接符 22"/>
          <p:cNvCxnSpPr>
            <a:cxnSpLocks noChangeShapeType="1"/>
            <a:stCxn id="12" idx="3"/>
            <a:endCxn id="17" idx="1"/>
          </p:cNvCxnSpPr>
          <p:nvPr/>
        </p:nvCxnSpPr>
        <p:spPr bwMode="auto">
          <a:xfrm>
            <a:off x="4643438" y="4679950"/>
            <a:ext cx="1214437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236549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875" y="1643063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63" y="4357688"/>
            <a:ext cx="95250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横卷形 26"/>
          <p:cNvSpPr>
            <a:spLocks noChangeArrowheads="1"/>
          </p:cNvSpPr>
          <p:nvPr/>
        </p:nvSpPr>
        <p:spPr bwMode="auto">
          <a:xfrm>
            <a:off x="285750" y="1500188"/>
            <a:ext cx="2357438" cy="785812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28" name="横卷形 27"/>
          <p:cNvSpPr>
            <a:spLocks noChangeArrowheads="1"/>
          </p:cNvSpPr>
          <p:nvPr/>
        </p:nvSpPr>
        <p:spPr bwMode="auto">
          <a:xfrm>
            <a:off x="285750" y="4000500"/>
            <a:ext cx="2357438" cy="785813"/>
          </a:xfrm>
          <a:prstGeom prst="horizontalScroll">
            <a:avLst>
              <a:gd name="adj" fmla="val 12500"/>
            </a:avLst>
          </a:prstGeom>
          <a:solidFill>
            <a:srgbClr val="E1FFE1"/>
          </a:solidFill>
          <a:ln w="9525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3200" b="1">
                <a:solidFill>
                  <a:srgbClr val="FF0000"/>
                </a:solidFill>
              </a:rPr>
              <a:t>间接存取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9" dur="500"/>
                                        <p:tgtEl>
                                          <p:spTgt spid="23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2" grpId="0" animBg="1"/>
      <p:bldP spid="13" grpId="0"/>
      <p:bldP spid="17" grpId="0" animBg="1"/>
      <p:bldP spid="18" grpId="0"/>
      <p:bldP spid="19" grpId="0"/>
      <p:bldP spid="20" grpId="0"/>
      <p:bldP spid="27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867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“</a:t>
            </a:r>
            <a:r>
              <a:rPr lang="zh-CN" altLang="en-US" sz="3200" dirty="0">
                <a:solidFill>
                  <a:srgbClr val="0000CC"/>
                </a:solidFill>
              </a:rPr>
              <a:t>指针</a:t>
            </a:r>
            <a:r>
              <a:rPr lang="zh-CN" altLang="en-US" sz="3200" dirty="0"/>
              <a:t>”和“</a:t>
            </a:r>
            <a:r>
              <a:rPr lang="zh-CN" altLang="en-US" sz="3200" dirty="0">
                <a:solidFill>
                  <a:srgbClr val="0000CC"/>
                </a:solidFill>
              </a:rPr>
              <a:t>指针变量</a:t>
            </a:r>
            <a:r>
              <a:rPr lang="zh-CN" altLang="en-US" sz="3200" dirty="0"/>
              <a:t>”是</a:t>
            </a:r>
            <a:r>
              <a:rPr lang="zh-CN" altLang="en-US" sz="3200" dirty="0">
                <a:solidFill>
                  <a:srgbClr val="C00000"/>
                </a:solidFill>
              </a:rPr>
              <a:t>不同的概念</a:t>
            </a:r>
            <a:endParaRPr lang="en-US" altLang="zh-CN" sz="3200" dirty="0">
              <a:solidFill>
                <a:srgbClr val="C00000"/>
              </a:solidFill>
            </a:endParaRPr>
          </a:p>
          <a:p>
            <a:r>
              <a:rPr lang="zh-CN" altLang="en-US" sz="3200" dirty="0"/>
              <a:t>可以说变量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的指针是</a:t>
            </a:r>
            <a:r>
              <a:rPr lang="en-US" altLang="zh-CN" sz="3200" dirty="0"/>
              <a:t>2000</a:t>
            </a:r>
            <a:r>
              <a:rPr lang="zh-CN" altLang="en-US" sz="3200" dirty="0"/>
              <a:t>，而不能说</a:t>
            </a:r>
            <a:r>
              <a:rPr lang="en-US" altLang="zh-CN" sz="3200" dirty="0" err="1"/>
              <a:t>i</a:t>
            </a:r>
            <a:r>
              <a:rPr lang="zh-CN" altLang="en-US" sz="3200" dirty="0"/>
              <a:t>的指针变量是</a:t>
            </a:r>
            <a:r>
              <a:rPr lang="en-US" altLang="zh-CN" sz="3200" dirty="0"/>
              <a:t>2000</a:t>
            </a:r>
            <a:endParaRPr lang="en-US" altLang="zh-CN" sz="3200" dirty="0"/>
          </a:p>
          <a:p>
            <a:r>
              <a:rPr lang="zh-CN" altLang="en-US" sz="3200" dirty="0"/>
              <a:t>指针是一个地址，而指针变量是存放地址的变量</a:t>
            </a:r>
            <a:endParaRPr lang="zh-CN" alt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定义指针变量的一般形式为：</a:t>
            </a:r>
            <a:endParaRPr lang="zh-CN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r>
              <a:rPr lang="zh-CN" altLang="en-US" dirty="0"/>
              <a:t>类型标识符</a:t>
            </a:r>
            <a:r>
              <a:rPr lang="zh-CN" altLang="zh-CN" dirty="0"/>
              <a:t>  </a:t>
            </a:r>
            <a:r>
              <a:rPr lang="en-US" altLang="zh-CN" dirty="0"/>
              <a:t>*</a:t>
            </a:r>
            <a:r>
              <a:rPr lang="zh-CN" altLang="en-US" dirty="0"/>
              <a:t>指针变量名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buFont typeface="Wingdings" panose="05000000000000000000" pitchFamily="2" charset="2"/>
              <a:buNone/>
            </a:pPr>
            <a:r>
              <a:rPr lang="zh-CN" altLang="en-US" dirty="0"/>
              <a:t>如：</a:t>
            </a:r>
            <a:r>
              <a:rPr lang="en-US" altLang="zh-CN" dirty="0"/>
              <a:t>int *pointer_1, *pointer_2;</a:t>
            </a:r>
            <a:endParaRPr lang="en-US" altLang="zh-CN" dirty="0"/>
          </a:p>
          <a:p>
            <a:pPr lvl="1"/>
            <a:r>
              <a:rPr lang="en-US" altLang="zh-CN" dirty="0"/>
              <a:t>int</a:t>
            </a:r>
            <a:r>
              <a:rPr lang="zh-CN" altLang="en-US" dirty="0"/>
              <a:t>是为指针变量指定的“</a:t>
            </a:r>
            <a:r>
              <a:rPr lang="zh-CN" altLang="en-US" dirty="0">
                <a:solidFill>
                  <a:srgbClr val="FF0000"/>
                </a:solidFill>
              </a:rPr>
              <a:t>基类型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zh-CN" altLang="en-US" dirty="0"/>
              <a:t>基类型指定指针变量可指向的变量类型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pointer_1</a:t>
            </a:r>
            <a:r>
              <a:rPr lang="zh-CN" altLang="en-US" dirty="0"/>
              <a:t>可以指向整型变量，但不能指向浮点型变量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指针变量的定义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int *p, *q;	       // </a:t>
            </a:r>
            <a:r>
              <a:rPr lang="zh-CN" altLang="en-US" sz="2400" dirty="0"/>
              <a:t>定义</a:t>
            </a:r>
            <a:r>
              <a:rPr lang="en-US" sz="2400" dirty="0" err="1"/>
              <a:t>p,q</a:t>
            </a:r>
            <a:r>
              <a:rPr lang="zh-CN" altLang="en-US" sz="2400" dirty="0"/>
              <a:t>为指向整数类型变量的指针</a:t>
            </a:r>
            <a:endParaRPr lang="zh-CN" altLang="en-US" sz="2400" dirty="0"/>
          </a:p>
          <a:p>
            <a:r>
              <a:rPr lang="en-US" sz="2400" dirty="0"/>
              <a:t>float *point; 	// </a:t>
            </a:r>
            <a:r>
              <a:rPr lang="zh-CN" altLang="en-US" sz="2400" dirty="0"/>
              <a:t>定义</a:t>
            </a:r>
            <a:r>
              <a:rPr lang="en-US" sz="2400" dirty="0"/>
              <a:t>point</a:t>
            </a:r>
            <a:r>
              <a:rPr lang="zh-CN" altLang="en-US" sz="2400" dirty="0"/>
              <a:t>为指向</a:t>
            </a:r>
            <a:r>
              <a:rPr lang="en-US" sz="2400" dirty="0"/>
              <a:t>float</a:t>
            </a:r>
            <a:r>
              <a:rPr lang="zh-CN" altLang="en-US" sz="2400" dirty="0"/>
              <a:t>型变量的指针</a:t>
            </a:r>
            <a:endParaRPr lang="zh-CN" altLang="en-US" sz="2400" dirty="0"/>
          </a:p>
          <a:p>
            <a:r>
              <a:rPr lang="en-US" sz="2400" dirty="0"/>
              <a:t>double *pd;         // </a:t>
            </a:r>
            <a:r>
              <a:rPr lang="zh-CN" altLang="en-US" sz="2400" dirty="0"/>
              <a:t>定义</a:t>
            </a:r>
            <a:r>
              <a:rPr lang="en-US" sz="2400" dirty="0"/>
              <a:t>pd</a:t>
            </a:r>
            <a:r>
              <a:rPr lang="zh-CN" altLang="en-US" sz="2400" dirty="0"/>
              <a:t>为指向</a:t>
            </a:r>
            <a:r>
              <a:rPr lang="en-US" sz="2400" dirty="0"/>
              <a:t>double</a:t>
            </a:r>
            <a:r>
              <a:rPr lang="zh-CN" altLang="en-US" sz="2400" dirty="0"/>
              <a:t>型变量的指针</a:t>
            </a:r>
            <a:endParaRPr lang="zh-CN" altLang="en-US" sz="2400" dirty="0"/>
          </a:p>
          <a:p>
            <a:r>
              <a:rPr lang="en-US" sz="2400" dirty="0"/>
              <a:t>int (*pa)[10];	// </a:t>
            </a:r>
            <a:r>
              <a:rPr lang="zh-CN" altLang="en-US" sz="2400" dirty="0"/>
              <a:t>定义</a:t>
            </a:r>
            <a:r>
              <a:rPr lang="en-US" sz="2400" dirty="0"/>
              <a:t>pa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型数组的指针</a:t>
            </a:r>
            <a:endParaRPr lang="zh-CN" altLang="en-US" sz="2400" dirty="0"/>
          </a:p>
          <a:p>
            <a:r>
              <a:rPr lang="en-US" sz="2400" dirty="0"/>
              <a:t>int (*</a:t>
            </a:r>
            <a:r>
              <a:rPr lang="en-US" sz="2400" dirty="0" err="1"/>
              <a:t>pu</a:t>
            </a:r>
            <a:r>
              <a:rPr lang="en-US" sz="2400" dirty="0"/>
              <a:t>)();		// </a:t>
            </a:r>
            <a:r>
              <a:rPr lang="zh-CN" altLang="en-US" sz="2400" dirty="0"/>
              <a:t>定义</a:t>
            </a:r>
            <a:r>
              <a:rPr lang="en-US" sz="2400" dirty="0" err="1"/>
              <a:t>pu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型函数的指针</a:t>
            </a:r>
            <a:endParaRPr lang="zh-CN" altLang="en-US" sz="2400" dirty="0"/>
          </a:p>
          <a:p>
            <a:r>
              <a:rPr lang="en-US" sz="2400" dirty="0"/>
              <a:t>int **</a:t>
            </a:r>
            <a:r>
              <a:rPr lang="en-US" sz="2400" dirty="0" err="1"/>
              <a:t>qq</a:t>
            </a:r>
            <a:r>
              <a:rPr lang="en-US" sz="2400" dirty="0"/>
              <a:t>;		// </a:t>
            </a:r>
            <a:r>
              <a:rPr lang="zh-CN" altLang="en-US" sz="2400" dirty="0"/>
              <a:t>定义</a:t>
            </a:r>
            <a:r>
              <a:rPr lang="en-US" sz="2400" dirty="0" err="1"/>
              <a:t>qq</a:t>
            </a:r>
            <a:r>
              <a:rPr lang="zh-CN" altLang="en-US" sz="2400" dirty="0"/>
              <a:t>为指向</a:t>
            </a:r>
            <a:r>
              <a:rPr lang="en-US" sz="2400" dirty="0"/>
              <a:t>int</a:t>
            </a:r>
            <a:r>
              <a:rPr lang="zh-CN" altLang="en-US" sz="2400" dirty="0"/>
              <a:t>型指针的指针</a:t>
            </a:r>
            <a:endParaRPr lang="zh-CN" altLang="en-US" sz="2400" dirty="0"/>
          </a:p>
          <a:p>
            <a:r>
              <a:rPr lang="zh-CN" altLang="en-US" sz="2400" dirty="0"/>
              <a:t>还有指向结构的指针，后面再介绍</a:t>
            </a:r>
            <a:endParaRPr lang="zh-CN" altLang="en-US" sz="2400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指针变量定义举例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1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指针的初始化</a:t>
            </a:r>
            <a:endParaRPr lang="zh-CN" altLang="en-US"/>
          </a:p>
        </p:txBody>
      </p:sp>
      <p:sp>
        <p:nvSpPr>
          <p:cNvPr id="474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err="1">
                <a:solidFill>
                  <a:srgbClr val="C00000"/>
                </a:solidFill>
              </a:rPr>
              <a:t>int</a:t>
            </a:r>
            <a:r>
              <a:rPr lang="en-US" altLang="zh-CN" dirty="0">
                <a:solidFill>
                  <a:srgbClr val="C00000"/>
                </a:solidFill>
              </a:rPr>
              <a:t> *p = NULL</a:t>
            </a:r>
            <a:r>
              <a:rPr lang="en-US" altLang="zh-CN" dirty="0">
                <a:solidFill>
                  <a:schemeClr val="hlink"/>
                </a:solidFill>
              </a:rPr>
              <a:t>; </a:t>
            </a:r>
            <a:endParaRPr lang="en-US" altLang="zh-CN" dirty="0">
              <a:solidFill>
                <a:schemeClr val="hlink"/>
              </a:solidFill>
            </a:endParaRPr>
          </a:p>
          <a:p>
            <a:pPr eaLnBrk="1" hangingPunct="1">
              <a:defRPr/>
            </a:pPr>
            <a:r>
              <a:rPr lang="zh-CN" altLang="en-US" dirty="0"/>
              <a:t>说明：</a:t>
            </a:r>
            <a:endParaRPr lang="zh-CN" altLang="en-US" dirty="0"/>
          </a:p>
          <a:p>
            <a:pPr lvl="1" eaLnBrk="1" hangingPunct="1">
              <a:defRPr/>
            </a:pPr>
            <a:r>
              <a:rPr lang="en-US" altLang="zh-CN" dirty="0"/>
              <a:t>NULL </a:t>
            </a:r>
            <a:r>
              <a:rPr lang="zh-CN" altLang="en-US" dirty="0"/>
              <a:t>是在头文件中定义了的，是符号化的常量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4F8927"/>
                </a:solidFill>
              </a:rPr>
              <a:t>是唯一的一个允许赋值给指针的整数值</a:t>
            </a:r>
            <a:endParaRPr lang="zh-CN" altLang="en-US" dirty="0">
              <a:solidFill>
                <a:srgbClr val="4F8927"/>
              </a:solidFill>
            </a:endParaRPr>
          </a:p>
          <a:p>
            <a:pPr lvl="1" eaLnBrk="1" hangingPunct="1">
              <a:defRPr/>
            </a:pPr>
            <a:r>
              <a:rPr lang="zh-CN" altLang="en-US" dirty="0"/>
              <a:t>表示指针不指向任何内存地址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防止其指向任何未知的内存区域</a:t>
            </a:r>
            <a:endParaRPr lang="zh-CN" altLang="en-US" dirty="0"/>
          </a:p>
          <a:p>
            <a:pPr lvl="1" eaLnBrk="1" hangingPunct="1">
              <a:defRPr/>
            </a:pPr>
            <a:r>
              <a:rPr lang="zh-CN" altLang="en-US" dirty="0"/>
              <a:t>避免产生难以预料的错误发生</a:t>
            </a:r>
            <a:endParaRPr lang="zh-CN" altLang="en-US" dirty="0"/>
          </a:p>
          <a:p>
            <a:pPr eaLnBrk="1" hangingPunct="1">
              <a:defRPr/>
            </a:pPr>
            <a:r>
              <a:rPr lang="zh-CN" altLang="en-US" dirty="0"/>
              <a:t>把指针初始化为 </a:t>
            </a:r>
            <a:r>
              <a:rPr lang="en-US" altLang="zh-CN" dirty="0"/>
              <a:t>NULL </a:t>
            </a:r>
            <a:r>
              <a:rPr lang="zh-CN" altLang="en-US" dirty="0"/>
              <a:t>是好习惯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指针的赋值</a:t>
            </a:r>
            <a:endParaRPr lang="zh-CN" altLang="en-US"/>
          </a:p>
        </p:txBody>
      </p:sp>
      <p:sp>
        <p:nvSpPr>
          <p:cNvPr id="4751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sz="2800" dirty="0"/>
              <a:t>将一个内存地址装入指针变量</a:t>
            </a:r>
            <a:endParaRPr lang="zh-CN" altLang="en-US" sz="2800" dirty="0"/>
          </a:p>
          <a:p>
            <a:pPr eaLnBrk="1" hangingPunct="1">
              <a:defRPr/>
            </a:pPr>
            <a:r>
              <a:rPr lang="zh-CN" altLang="en-US" sz="2800" dirty="0">
                <a:solidFill>
                  <a:srgbClr val="FF0000"/>
                </a:solidFill>
              </a:rPr>
              <a:t>取址运算符</a:t>
            </a:r>
            <a:r>
              <a:rPr lang="en-US" altLang="zh-CN" sz="2800" dirty="0">
                <a:solidFill>
                  <a:srgbClr val="FF0000"/>
                </a:solidFill>
              </a:rPr>
              <a:t>&amp;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defRPr/>
            </a:pPr>
            <a:r>
              <a:rPr lang="zh-CN" altLang="en-US" sz="2800" dirty="0"/>
              <a:t>例如：</a:t>
            </a:r>
            <a:endParaRPr lang="zh-CN" altLang="en-US" sz="28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a=66; 		// </a:t>
            </a:r>
            <a:r>
              <a:rPr lang="zh-CN" altLang="en-US" sz="2400" dirty="0"/>
              <a:t>定义整型变量 </a:t>
            </a:r>
            <a:r>
              <a:rPr lang="en-US" altLang="zh-CN" sz="2400" dirty="0"/>
              <a:t>a, </a:t>
            </a:r>
            <a:r>
              <a:rPr lang="zh-CN" altLang="en-US" sz="2400" dirty="0"/>
              <a:t>赋初值</a:t>
            </a:r>
            <a:r>
              <a:rPr lang="en-US" altLang="zh-CN" sz="2400" dirty="0"/>
              <a:t>66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// </a:t>
            </a:r>
            <a:r>
              <a:rPr lang="zh-CN" altLang="en-US" sz="2400" dirty="0"/>
              <a:t>定义</a:t>
            </a:r>
            <a:r>
              <a:rPr lang="en-US" altLang="zh-CN" sz="2400" dirty="0" err="1"/>
              <a:t>p,q</a:t>
            </a:r>
            <a:r>
              <a:rPr lang="zh-CN" altLang="en-US" sz="2400" dirty="0"/>
              <a:t>指针变量，赋初值为</a:t>
            </a:r>
            <a:r>
              <a:rPr lang="en-US" altLang="zh-CN" sz="2400" dirty="0"/>
              <a:t>0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 err="1"/>
              <a:t>int</a:t>
            </a:r>
            <a:r>
              <a:rPr lang="en-US" altLang="zh-CN" sz="2400" dirty="0"/>
              <a:t> *p=NULL,*q=NULL; 	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p = &amp;a;		//</a:t>
            </a:r>
            <a:r>
              <a:rPr lang="zh-CN" altLang="en-US" sz="2400" dirty="0"/>
              <a:t>将变量 </a:t>
            </a:r>
            <a:r>
              <a:rPr lang="en-US" altLang="zh-CN" sz="2400" dirty="0"/>
              <a:t>a </a:t>
            </a:r>
            <a:r>
              <a:rPr lang="zh-CN" altLang="en-US" sz="2400" dirty="0"/>
              <a:t>的地址赋给 </a:t>
            </a:r>
            <a:r>
              <a:rPr lang="en-US" altLang="zh-CN" sz="2400" dirty="0"/>
              <a:t>p</a:t>
            </a:r>
            <a:r>
              <a:rPr lang="zh-CN" altLang="en-US" sz="2400" dirty="0"/>
              <a:t>，这时见图</a:t>
            </a:r>
            <a:r>
              <a:rPr lang="en-US" altLang="zh-CN" sz="2400" dirty="0"/>
              <a:t>1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q = p;	      // </a:t>
            </a:r>
            <a:r>
              <a:rPr lang="zh-CN" altLang="en-US" sz="2400" dirty="0"/>
              <a:t>将 </a:t>
            </a:r>
            <a:r>
              <a:rPr lang="en-US" altLang="zh-CN" sz="2400" dirty="0"/>
              <a:t>p </a:t>
            </a:r>
            <a:r>
              <a:rPr lang="zh-CN" altLang="en-US" sz="2400" dirty="0"/>
              <a:t>的值赋给 </a:t>
            </a:r>
            <a:r>
              <a:rPr lang="en-US" altLang="zh-CN" sz="2400" dirty="0"/>
              <a:t>q </a:t>
            </a:r>
            <a:r>
              <a:rPr lang="zh-CN" altLang="en-US" sz="2400" dirty="0"/>
              <a:t>，见图</a:t>
            </a:r>
            <a:endParaRPr lang="en-US" altLang="zh-CN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</p:txBody>
      </p:sp>
      <p:graphicFrame>
        <p:nvGraphicFramePr>
          <p:cNvPr id="475142" name="Object 6"/>
          <p:cNvGraphicFramePr>
            <a:graphicFrameLocks noChangeAspect="1"/>
          </p:cNvGraphicFramePr>
          <p:nvPr/>
        </p:nvGraphicFramePr>
        <p:xfrm>
          <a:off x="5858995" y="315068"/>
          <a:ext cx="3180502" cy="18898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Picture" r:id="rId1" imgW="2323465" imgH="1383030" progId="Word.Picture.8">
                  <p:embed/>
                </p:oleObj>
              </mc:Choice>
              <mc:Fallback>
                <p:oleObj name="Picture" r:id="rId1" imgW="2323465" imgH="1383030" progId="Word.Picture.8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95" y="315068"/>
                        <a:ext cx="3180502" cy="1889864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75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2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61782" y="1137066"/>
          <a:ext cx="7989887" cy="502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2" name="Picture" r:id="rId1" imgW="17221200" imgH="10848975" progId="Word.Picture.8">
                  <p:embed/>
                </p:oleObj>
              </mc:Choice>
              <mc:Fallback>
                <p:oleObj name="Picture" r:id="rId1" imgW="17221200" imgH="10848975" progId="Word.Picture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782" y="1137066"/>
                        <a:ext cx="7989887" cy="5022850"/>
                      </a:xfrm>
                      <a:prstGeom prst="rect">
                        <a:avLst/>
                      </a:prstGeom>
                      <a:solidFill>
                        <a:srgbClr val="00206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" name="Rectangle 12"/>
          <p:cNvSpPr>
            <a:spLocks noChangeArrowheads="1"/>
          </p:cNvSpPr>
          <p:nvPr/>
        </p:nvSpPr>
        <p:spPr bwMode="auto">
          <a:xfrm>
            <a:off x="1021091" y="347087"/>
            <a:ext cx="477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q = p;	// 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将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的值赋给</a:t>
            </a:r>
            <a:r>
              <a:rPr kumimoji="1"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，见图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2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2"/>
          <p:cNvSpPr>
            <a:spLocks noGrp="1" noChangeArrowheads="1"/>
          </p:cNvSpPr>
          <p:nvPr>
            <p:ph type="title"/>
          </p:nvPr>
        </p:nvSpPr>
        <p:spPr>
          <a:effectLst/>
        </p:spPr>
        <p:txBody>
          <a:bodyPr anchor="ctr"/>
          <a:lstStyle/>
          <a:p>
            <a:pPr eaLnBrk="1" hangingPunct="1"/>
            <a:r>
              <a:rPr lang="zh-CN" altLang="en-US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练习：</a:t>
            </a:r>
            <a:endParaRPr lang="zh-CN" altLang="en-US" dirty="0">
              <a:solidFill>
                <a:srgbClr val="8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17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下面都是合法的定义和初始化：</a:t>
            </a:r>
            <a:endParaRPr lang="en-US" altLang="zh-CN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float  *</a:t>
            </a:r>
            <a:r>
              <a:rPr lang="en-US" altLang="zh-CN"/>
              <a:t>pointer_3;</a:t>
            </a:r>
            <a:endParaRPr lang="en-US" altLang="zh-CN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char  *</a:t>
            </a:r>
            <a:r>
              <a:rPr lang="en-US" altLang="zh-CN"/>
              <a:t>pointer_4;</a:t>
            </a:r>
            <a:endParaRPr lang="en-US" altLang="zh-CN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/>
              <a:t>int  a,b;</a:t>
            </a:r>
            <a:endParaRPr lang="en-US" altLang="zh-CN"/>
          </a:p>
          <a:p>
            <a:pPr lvl="1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int  *</a:t>
            </a:r>
            <a:r>
              <a:rPr lang="en-US" altLang="zh-CN"/>
              <a:t>pointer_1=&amp;a,</a:t>
            </a: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en-US" altLang="zh-CN"/>
              <a:t>pointer_2=&amp;b;</a:t>
            </a:r>
            <a:endParaRPr lang="en-US" altLang="zh-CN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70125" y="3883500"/>
            <a:ext cx="5929312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*pointer_1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867781" y="4552128"/>
            <a:ext cx="5929313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&amp;a;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67781" y="5169375"/>
            <a:ext cx="5929312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20000"/>
              </a:lnSpc>
              <a:spcBef>
                <a:spcPct val="20000"/>
              </a:spcBef>
            </a:pPr>
            <a:r>
              <a:rPr lang="en-US" altLang="zh-CN" sz="3200" b="1" dirty="0">
                <a:latin typeface="Verdana" panose="020B0604030504040204" pitchFamily="34" charset="0"/>
              </a:rPr>
              <a:t>pointer_1</a:t>
            </a:r>
            <a:r>
              <a:rPr lang="zh-CN" altLang="en-US" sz="3200" b="1" dirty="0">
                <a:latin typeface="Verdana" panose="020B0604030504040204" pitchFamily="34" charset="0"/>
              </a:rPr>
              <a:t>＝</a:t>
            </a:r>
            <a:r>
              <a:rPr lang="en-US" altLang="zh-CN" sz="3200" b="1" dirty="0">
                <a:latin typeface="Verdana" panose="020B0604030504040204" pitchFamily="34" charset="0"/>
              </a:rPr>
              <a:t>&amp;a;     </a:t>
            </a:r>
            <a:r>
              <a:rPr lang="zh-CN" altLang="en-US" sz="3200" b="1" dirty="0">
                <a:solidFill>
                  <a:srgbClr val="9D138D"/>
                </a:solidFill>
                <a:latin typeface="Verdana" panose="020B0604030504040204" pitchFamily="34" charset="0"/>
              </a:rPr>
              <a:t>正确</a:t>
            </a:r>
            <a:endParaRPr lang="en-US" altLang="zh-CN" sz="3200" b="1" dirty="0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867780" y="5871375"/>
            <a:ext cx="5929313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pointer_3</a:t>
            </a:r>
            <a:r>
              <a:rPr lang="zh-CN" altLang="zh-CN" sz="3200" b="1" kern="0" dirty="0">
                <a:latin typeface="+mn-lt"/>
                <a:ea typeface="+mn-ea"/>
              </a:rPr>
              <a:t>＝</a:t>
            </a:r>
            <a:r>
              <a:rPr lang="en-US" altLang="zh-CN" sz="3200" b="1" kern="0" dirty="0">
                <a:latin typeface="+mn-lt"/>
                <a:ea typeface="+mn-ea"/>
              </a:rPr>
              <a:t>2000;     </a:t>
            </a:r>
            <a:r>
              <a:rPr lang="zh-CN" altLang="en-US" sz="3200" b="1" kern="0" dirty="0">
                <a:solidFill>
                  <a:srgbClr val="FF0000"/>
                </a:solidFill>
                <a:latin typeface="+mn-lt"/>
                <a:ea typeface="+mn-ea"/>
              </a:rPr>
              <a:t>错误</a:t>
            </a:r>
            <a:endParaRPr lang="en-US" altLang="zh-CN" sz="3200" b="1" kern="0" dirty="0">
              <a:solidFill>
                <a:srgbClr val="FF00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/>
      <p:bldP spid="5" grpId="0"/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97526" y="1305341"/>
            <a:ext cx="814753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*p1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*p2 =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定义指针变量，赋初值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p1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//p1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a[1]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p2 = &amp;a[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//p2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a[2]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通过指针访问所指向的内容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*p1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 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*p2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对话气泡: 圆角矩形 5"/>
          <p:cNvSpPr/>
          <p:nvPr/>
        </p:nvSpPr>
        <p:spPr>
          <a:xfrm>
            <a:off x="2286000" y="5275660"/>
            <a:ext cx="2086707" cy="832063"/>
          </a:xfrm>
          <a:prstGeom prst="wedgeRoundRectCallout">
            <a:avLst>
              <a:gd name="adj1" fmla="val -45746"/>
              <a:gd name="adj2" fmla="val -13136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间接访问运算符</a:t>
            </a:r>
            <a:endParaRPr lang="en-US" dirty="0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举例：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程序说明</a:t>
            </a:r>
            <a:endParaRPr lang="zh-CN" altLang="en-US"/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24719" y="4391025"/>
            <a:ext cx="7564437" cy="2193925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P1 </a:t>
            </a:r>
            <a:r>
              <a:rPr lang="zh-CN" altLang="en-US" sz="2400" dirty="0"/>
              <a:t>和 </a:t>
            </a:r>
            <a:r>
              <a:rPr lang="en-US" altLang="zh-CN" sz="2400" dirty="0"/>
              <a:t>p2 </a:t>
            </a:r>
            <a:r>
              <a:rPr lang="zh-CN" altLang="en-US" sz="2400" dirty="0"/>
              <a:t>分别指向 </a:t>
            </a:r>
            <a:r>
              <a:rPr lang="en-US" altLang="zh-CN" sz="2400" dirty="0"/>
              <a:t>a[1], a[2]</a:t>
            </a:r>
            <a:r>
              <a:rPr lang="zh-CN" altLang="en-US" sz="2400" dirty="0"/>
              <a:t>，这里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dirty="0"/>
              <a:t>&amp; 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/>
              <a:t>取地址运算符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 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en-US" altLang="zh-CN" sz="2400" dirty="0"/>
              <a:t> </a:t>
            </a:r>
            <a:r>
              <a:rPr lang="zh-CN" altLang="en-US" sz="2400" dirty="0">
                <a:solidFill>
                  <a:srgbClr val="C00000"/>
                </a:solidFill>
              </a:rPr>
              <a:t>指针运算符（间接访问运算符）</a:t>
            </a:r>
            <a:endParaRPr lang="zh-CN" altLang="en-US" sz="2400" dirty="0">
              <a:solidFill>
                <a:srgbClr val="C00000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p1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p1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a[1]</a:t>
            </a:r>
            <a:r>
              <a:rPr lang="zh-CN" altLang="en-US" sz="2400" dirty="0"/>
              <a:t>的值</a:t>
            </a:r>
            <a:endParaRPr lang="zh-CN" altLang="en-US" sz="2400" dirty="0"/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dirty="0"/>
              <a:t>*</a:t>
            </a:r>
            <a:r>
              <a:rPr lang="en-US" altLang="zh-CN" sz="2400" dirty="0"/>
              <a:t>p2</a:t>
            </a:r>
            <a:r>
              <a:rPr lang="en-US" altLang="zh-CN" sz="2400" dirty="0">
                <a:latin typeface="Arial" panose="020B0604020202020204" pitchFamily="34" charset="0"/>
              </a:rPr>
              <a:t>——</a:t>
            </a:r>
            <a:r>
              <a:rPr lang="zh-CN" altLang="en-US" sz="2400" dirty="0"/>
              <a:t>间接访问</a:t>
            </a:r>
            <a:r>
              <a:rPr lang="en-US" altLang="zh-CN" sz="2400" dirty="0"/>
              <a:t>p2</a:t>
            </a:r>
            <a:r>
              <a:rPr lang="zh-CN" altLang="en-US" sz="2400" dirty="0"/>
              <a:t>所指向的内存单元，输出</a:t>
            </a:r>
            <a:r>
              <a:rPr lang="en-US" altLang="zh-CN" sz="2400" dirty="0"/>
              <a:t>a[2]</a:t>
            </a:r>
            <a:r>
              <a:rPr lang="zh-CN" altLang="en-US" sz="2400" dirty="0"/>
              <a:t>的值</a:t>
            </a:r>
            <a:endParaRPr lang="zh-CN" altLang="en-US" sz="2400" dirty="0"/>
          </a:p>
        </p:txBody>
      </p:sp>
      <p:grpSp>
        <p:nvGrpSpPr>
          <p:cNvPr id="17412" name="Group 4"/>
          <p:cNvGrpSpPr/>
          <p:nvPr/>
        </p:nvGrpSpPr>
        <p:grpSpPr bwMode="auto">
          <a:xfrm>
            <a:off x="2924175" y="2420938"/>
            <a:ext cx="3095625" cy="1970087"/>
            <a:chOff x="1338" y="1434"/>
            <a:chExt cx="1950" cy="1241"/>
          </a:xfrm>
        </p:grpSpPr>
        <p:sp>
          <p:nvSpPr>
            <p:cNvPr id="17433" name="Text Box 5"/>
            <p:cNvSpPr txBox="1">
              <a:spLocks noChangeArrowheads="1"/>
            </p:cNvSpPr>
            <p:nvPr/>
          </p:nvSpPr>
          <p:spPr bwMode="auto">
            <a:xfrm>
              <a:off x="1519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&amp;a[1]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4" name="Text Box 6"/>
            <p:cNvSpPr txBox="1">
              <a:spLocks noChangeArrowheads="1"/>
            </p:cNvSpPr>
            <p:nvPr/>
          </p:nvSpPr>
          <p:spPr bwMode="auto">
            <a:xfrm>
              <a:off x="2290" y="2069"/>
              <a:ext cx="596" cy="296"/>
            </a:xfrm>
            <a:prstGeom prst="rect">
              <a:avLst/>
            </a:prstGeom>
            <a:noFill/>
            <a:ln w="12700" cap="sq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&amp;a[2]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5" name="Line 7"/>
            <p:cNvSpPr>
              <a:spLocks noChangeShapeType="1"/>
            </p:cNvSpPr>
            <p:nvPr/>
          </p:nvSpPr>
          <p:spPr bwMode="auto">
            <a:xfrm flipV="1">
              <a:off x="1791" y="1443"/>
              <a:ext cx="0" cy="717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6" name="Line 8"/>
            <p:cNvSpPr>
              <a:spLocks noChangeShapeType="1"/>
            </p:cNvSpPr>
            <p:nvPr/>
          </p:nvSpPr>
          <p:spPr bwMode="auto">
            <a:xfrm flipV="1">
              <a:off x="2562" y="1434"/>
              <a:ext cx="0" cy="726"/>
            </a:xfrm>
            <a:prstGeom prst="line">
              <a:avLst/>
            </a:prstGeom>
            <a:noFill/>
            <a:ln w="76200" cap="sq">
              <a:solidFill>
                <a:schemeClr val="accent2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en-US"/>
            </a:p>
          </p:txBody>
        </p:sp>
        <p:sp>
          <p:nvSpPr>
            <p:cNvPr id="17437" name="Text Box 9"/>
            <p:cNvSpPr txBox="1">
              <a:spLocks noChangeArrowheads="1"/>
            </p:cNvSpPr>
            <p:nvPr/>
          </p:nvSpPr>
          <p:spPr bwMode="auto">
            <a:xfrm>
              <a:off x="1519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&amp;p1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8" name="Text Box 10"/>
            <p:cNvSpPr txBox="1">
              <a:spLocks noChangeArrowheads="1"/>
            </p:cNvSpPr>
            <p:nvPr/>
          </p:nvSpPr>
          <p:spPr bwMode="auto">
            <a:xfrm>
              <a:off x="2290" y="2387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&amp;p2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39" name="Text Box 11"/>
            <p:cNvSpPr txBox="1">
              <a:spLocks noChangeArrowheads="1"/>
            </p:cNvSpPr>
            <p:nvPr/>
          </p:nvSpPr>
          <p:spPr bwMode="auto">
            <a:xfrm>
              <a:off x="1338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p1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7440" name="Text Box 12"/>
            <p:cNvSpPr txBox="1">
              <a:spLocks noChangeArrowheads="1"/>
            </p:cNvSpPr>
            <p:nvPr/>
          </p:nvSpPr>
          <p:spPr bwMode="auto">
            <a:xfrm>
              <a:off x="2692" y="1752"/>
              <a:ext cx="5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>
                      <a:alpha val="7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 b="1">
                  <a:solidFill>
                    <a:schemeClr val="tx1"/>
                  </a:solidFill>
                  <a:latin typeface="Garamond" panose="02020404030301010803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  <a:ea typeface="黑体" panose="02010609060101010101" pitchFamily="49" charset="-122"/>
                </a:rPr>
                <a:t>p2</a:t>
              </a:r>
              <a:endPara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  <p:graphicFrame>
        <p:nvGraphicFramePr>
          <p:cNvPr id="483341" name="Group 13"/>
          <p:cNvGraphicFramePr>
            <a:graphicFrameLocks noGrp="1"/>
          </p:cNvGraphicFramePr>
          <p:nvPr/>
        </p:nvGraphicFramePr>
        <p:xfrm>
          <a:off x="1601788" y="1412875"/>
          <a:ext cx="6210300" cy="518048"/>
        </p:xfrm>
        <a:graphic>
          <a:graphicData uri="http://schemas.openxmlformats.org/drawingml/2006/table">
            <a:tbl>
              <a:tblPr/>
              <a:tblGrid>
                <a:gridCol w="1241425"/>
                <a:gridCol w="1241425"/>
                <a:gridCol w="1244600"/>
                <a:gridCol w="1241425"/>
                <a:gridCol w="1241425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83355" name="Group 27"/>
          <p:cNvGraphicFramePr>
            <a:graphicFrameLocks noGrp="1"/>
          </p:cNvGraphicFramePr>
          <p:nvPr/>
        </p:nvGraphicFramePr>
        <p:xfrm>
          <a:off x="1811338" y="1917700"/>
          <a:ext cx="5865812" cy="518048"/>
        </p:xfrm>
        <a:graphic>
          <a:graphicData uri="http://schemas.openxmlformats.org/drawingml/2006/table">
            <a:tbl>
              <a:tblPr/>
              <a:tblGrid>
                <a:gridCol w="1173162"/>
                <a:gridCol w="1173163"/>
                <a:gridCol w="1173162"/>
                <a:gridCol w="1173163"/>
                <a:gridCol w="1173162"/>
              </a:tblGrid>
              <a:tr h="5175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&amp;a[3]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&amp;a[4]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664" marB="45664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35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间接访问运算符 </a:t>
            </a:r>
            <a:r>
              <a:rPr lang="en-US" altLang="zh-CN" dirty="0">
                <a:solidFill>
                  <a:srgbClr val="C00000"/>
                </a:solidFill>
              </a:rPr>
              <a:t>*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84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 a;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 err="1"/>
              <a:t>int</a:t>
            </a:r>
            <a:r>
              <a:rPr lang="en-US" altLang="zh-CN" dirty="0"/>
              <a:t>  *p;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/>
              <a:t>p=&amp;a;</a:t>
            </a: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solidFill>
                  <a:srgbClr val="C00000"/>
                </a:solidFill>
              </a:rPr>
              <a:t>a=666;  </a:t>
            </a:r>
            <a:r>
              <a:rPr lang="zh-CN" altLang="en-US" dirty="0">
                <a:solidFill>
                  <a:srgbClr val="C00000"/>
                </a:solidFill>
              </a:rPr>
              <a:t>等效于*</a:t>
            </a:r>
            <a:r>
              <a:rPr lang="en-US" altLang="zh-CN" dirty="0">
                <a:solidFill>
                  <a:srgbClr val="C00000"/>
                </a:solidFill>
              </a:rPr>
              <a:t>p=666;</a:t>
            </a:r>
            <a:endParaRPr lang="en-US" altLang="zh-CN" dirty="0">
              <a:solidFill>
                <a:srgbClr val="C00000"/>
              </a:solidFill>
            </a:endParaRPr>
          </a:p>
          <a:p>
            <a:pPr eaLnBrk="1" hangingPunct="1">
              <a:defRPr/>
            </a:pPr>
            <a:endParaRPr lang="en-US" altLang="zh-CN" dirty="0">
              <a:solidFill>
                <a:srgbClr val="FFFF00"/>
              </a:solidFill>
            </a:endParaRPr>
          </a:p>
        </p:txBody>
      </p:sp>
      <p:grpSp>
        <p:nvGrpSpPr>
          <p:cNvPr id="18436" name="Group 4"/>
          <p:cNvGrpSpPr/>
          <p:nvPr/>
        </p:nvGrpSpPr>
        <p:grpSpPr bwMode="auto">
          <a:xfrm>
            <a:off x="5076825" y="1989138"/>
            <a:ext cx="1728788" cy="3317875"/>
            <a:chOff x="385" y="1933"/>
            <a:chExt cx="1089" cy="2090"/>
          </a:xfrm>
        </p:grpSpPr>
        <p:grpSp>
          <p:nvGrpSpPr>
            <p:cNvPr id="18447" name="Group 5"/>
            <p:cNvGrpSpPr/>
            <p:nvPr/>
          </p:nvGrpSpPr>
          <p:grpSpPr bwMode="auto">
            <a:xfrm>
              <a:off x="385" y="1933"/>
              <a:ext cx="1024" cy="1047"/>
              <a:chOff x="385" y="1933"/>
              <a:chExt cx="727" cy="1056"/>
            </a:xfrm>
          </p:grpSpPr>
          <p:sp>
            <p:nvSpPr>
              <p:cNvPr id="18453" name="Rectangle 6"/>
              <p:cNvSpPr>
                <a:spLocks noChangeArrowheads="1"/>
              </p:cNvSpPr>
              <p:nvPr/>
            </p:nvSpPr>
            <p:spPr bwMode="auto">
              <a:xfrm>
                <a:off x="431" y="2273"/>
                <a:ext cx="680" cy="366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666</a:t>
                </a:r>
                <a:endParaRPr lang="en-US" altLang="zh-CN" sz="2800"/>
              </a:p>
            </p:txBody>
          </p:sp>
          <p:sp>
            <p:nvSpPr>
              <p:cNvPr id="18454" name="Text Box 7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a</a:t>
                </a:r>
                <a:endParaRPr lang="en-US" altLang="zh-CN" sz="2800"/>
              </a:p>
            </p:txBody>
          </p:sp>
          <p:sp>
            <p:nvSpPr>
              <p:cNvPr id="18455" name="Text Box 8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</p:grpSp>
        <p:grpSp>
          <p:nvGrpSpPr>
            <p:cNvPr id="18448" name="Group 9"/>
            <p:cNvGrpSpPr/>
            <p:nvPr/>
          </p:nvGrpSpPr>
          <p:grpSpPr bwMode="auto">
            <a:xfrm>
              <a:off x="385" y="2976"/>
              <a:ext cx="1089" cy="1047"/>
              <a:chOff x="385" y="1933"/>
              <a:chExt cx="727" cy="1056"/>
            </a:xfrm>
          </p:grpSpPr>
          <p:sp>
            <p:nvSpPr>
              <p:cNvPr id="18450" name="Rectangle 10"/>
              <p:cNvSpPr>
                <a:spLocks noChangeArrowheads="1"/>
              </p:cNvSpPr>
              <p:nvPr/>
            </p:nvSpPr>
            <p:spPr bwMode="auto">
              <a:xfrm>
                <a:off x="431" y="2273"/>
                <a:ext cx="680" cy="366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  <p:sp>
            <p:nvSpPr>
              <p:cNvPr id="18451" name="Text Box 11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p</a:t>
                </a:r>
                <a:endParaRPr lang="en-US" altLang="zh-CN" sz="2800"/>
              </a:p>
            </p:txBody>
          </p:sp>
          <p:sp>
            <p:nvSpPr>
              <p:cNvPr id="18452" name="Text Box 12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&amp;p</a:t>
                </a:r>
                <a:endParaRPr lang="en-US" altLang="zh-CN" sz="2800"/>
              </a:p>
            </p:txBody>
          </p:sp>
        </p:grpSp>
        <p:sp>
          <p:nvSpPr>
            <p:cNvPr id="18449" name="Line 13"/>
            <p:cNvSpPr>
              <a:spLocks noChangeShapeType="1"/>
            </p:cNvSpPr>
            <p:nvPr/>
          </p:nvSpPr>
          <p:spPr bwMode="auto">
            <a:xfrm flipV="1">
              <a:off x="1156" y="2478"/>
              <a:ext cx="0" cy="99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18437" name="Group 23"/>
          <p:cNvGrpSpPr/>
          <p:nvPr/>
        </p:nvGrpSpPr>
        <p:grpSpPr bwMode="auto">
          <a:xfrm>
            <a:off x="7164388" y="1989138"/>
            <a:ext cx="1728787" cy="3275012"/>
            <a:chOff x="4423" y="1888"/>
            <a:chExt cx="1089" cy="2184"/>
          </a:xfrm>
        </p:grpSpPr>
        <p:grpSp>
          <p:nvGrpSpPr>
            <p:cNvPr id="18438" name="Group 14"/>
            <p:cNvGrpSpPr/>
            <p:nvPr/>
          </p:nvGrpSpPr>
          <p:grpSpPr bwMode="auto">
            <a:xfrm>
              <a:off x="4423" y="1888"/>
              <a:ext cx="1044" cy="1096"/>
              <a:chOff x="385" y="1933"/>
              <a:chExt cx="727" cy="1060"/>
            </a:xfrm>
          </p:grpSpPr>
          <p:sp>
            <p:nvSpPr>
              <p:cNvPr id="18444" name="Rectangle 15"/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*p</a:t>
                </a:r>
                <a:endParaRPr lang="en-US" altLang="zh-CN" sz="2800"/>
              </a:p>
            </p:txBody>
          </p:sp>
          <p:sp>
            <p:nvSpPr>
              <p:cNvPr id="18445" name="Text Box 16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a</a:t>
                </a:r>
                <a:endParaRPr lang="en-US" altLang="zh-CN" sz="2800"/>
              </a:p>
            </p:txBody>
          </p:sp>
          <p:sp>
            <p:nvSpPr>
              <p:cNvPr id="18446" name="Text Box 17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</p:grpSp>
        <p:grpSp>
          <p:nvGrpSpPr>
            <p:cNvPr id="18439" name="Group 18"/>
            <p:cNvGrpSpPr/>
            <p:nvPr/>
          </p:nvGrpSpPr>
          <p:grpSpPr bwMode="auto">
            <a:xfrm>
              <a:off x="4468" y="2976"/>
              <a:ext cx="1044" cy="1096"/>
              <a:chOff x="385" y="1933"/>
              <a:chExt cx="727" cy="1060"/>
            </a:xfrm>
          </p:grpSpPr>
          <p:sp>
            <p:nvSpPr>
              <p:cNvPr id="18441" name="Rectangle 19"/>
              <p:cNvSpPr>
                <a:spLocks noChangeArrowheads="1"/>
              </p:cNvSpPr>
              <p:nvPr/>
            </p:nvSpPr>
            <p:spPr bwMode="auto">
              <a:xfrm>
                <a:off x="431" y="2270"/>
                <a:ext cx="680" cy="37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&amp;a</a:t>
                </a:r>
                <a:endParaRPr lang="en-US" altLang="zh-CN" sz="2800"/>
              </a:p>
            </p:txBody>
          </p:sp>
          <p:sp>
            <p:nvSpPr>
              <p:cNvPr id="18442" name="Text Box 20"/>
              <p:cNvSpPr txBox="1">
                <a:spLocks noChangeArrowheads="1"/>
              </p:cNvSpPr>
              <p:nvPr/>
            </p:nvSpPr>
            <p:spPr bwMode="auto">
              <a:xfrm>
                <a:off x="385" y="1933"/>
                <a:ext cx="681" cy="3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p</a:t>
                </a:r>
                <a:endParaRPr lang="en-US" altLang="zh-CN" sz="2800"/>
              </a:p>
            </p:txBody>
          </p:sp>
          <p:sp>
            <p:nvSpPr>
              <p:cNvPr id="18443" name="Text Box 21"/>
              <p:cNvSpPr txBox="1">
                <a:spLocks noChangeArrowheads="1"/>
              </p:cNvSpPr>
              <p:nvPr/>
            </p:nvSpPr>
            <p:spPr bwMode="auto">
              <a:xfrm>
                <a:off x="431" y="2659"/>
                <a:ext cx="681" cy="3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1pPr>
                <a:lvl2pPr marL="742950" indent="-28575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2pPr>
                <a:lvl3pPr marL="11430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3pPr>
                <a:lvl4pPr marL="16002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4pPr>
                <a:lvl5pPr marL="2057400" indent="-228600" algn="ctr">
                  <a:spcBef>
                    <a:spcPct val="50000"/>
                  </a:spcBef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Garamond" panose="02020404030301010803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/>
                  <a:t>&amp;p</a:t>
                </a:r>
                <a:endParaRPr lang="en-US" altLang="zh-CN" sz="2800"/>
              </a:p>
            </p:txBody>
          </p:sp>
        </p:grpSp>
        <p:sp>
          <p:nvSpPr>
            <p:cNvPr id="18440" name="Line 22"/>
            <p:cNvSpPr>
              <a:spLocks noChangeShapeType="1"/>
            </p:cNvSpPr>
            <p:nvPr/>
          </p:nvSpPr>
          <p:spPr bwMode="auto">
            <a:xfrm flipV="1">
              <a:off x="5329" y="2432"/>
              <a:ext cx="0" cy="998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968" y="1588244"/>
            <a:ext cx="7810064" cy="3681512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例程：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81" name="Rectangle 5"/>
          <p:cNvSpPr>
            <a:spLocks noChangeArrowheads="1"/>
          </p:cNvSpPr>
          <p:nvPr/>
        </p:nvSpPr>
        <p:spPr bwMode="auto">
          <a:xfrm>
            <a:off x="4067175" y="1557338"/>
            <a:ext cx="1120775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b="0">
                <a:latin typeface="Times New Roman" panose="02020603050405020304" pitchFamily="18" charset="0"/>
                <a:ea typeface="黑体" panose="02010609060101010101" pitchFamily="49" charset="-122"/>
              </a:rPr>
              <a:t>&amp;aKey</a:t>
            </a:r>
            <a:endParaRPr kumimoji="1" lang="en-US" altLang="zh-CN" sz="2400" b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85382" name="Rectangle 6"/>
          <p:cNvSpPr>
            <a:spLocks noChangeArrowheads="1"/>
          </p:cNvSpPr>
          <p:nvPr/>
        </p:nvSpPr>
        <p:spPr bwMode="auto">
          <a:xfrm>
            <a:off x="6516688" y="1617663"/>
            <a:ext cx="1727200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66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485383" name="Rectangle 7"/>
          <p:cNvSpPr>
            <a:spLocks noChangeArrowheads="1"/>
          </p:cNvSpPr>
          <p:nvPr/>
        </p:nvSpPr>
        <p:spPr bwMode="auto">
          <a:xfrm>
            <a:off x="4284663" y="4508500"/>
            <a:ext cx="884237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b="0">
                <a:latin typeface="Arial" panose="020B0604020202020204" pitchFamily="34" charset="0"/>
              </a:rPr>
              <a:t>&amp;b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6516688" y="4502150"/>
            <a:ext cx="1655762" cy="51435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66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485385" name="Line 9"/>
          <p:cNvSpPr>
            <a:spLocks noChangeShapeType="1"/>
          </p:cNvSpPr>
          <p:nvPr/>
        </p:nvSpPr>
        <p:spPr bwMode="auto">
          <a:xfrm>
            <a:off x="5291138" y="1844675"/>
            <a:ext cx="122555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86" name="Line 10"/>
          <p:cNvSpPr>
            <a:spLocks noChangeShapeType="1"/>
          </p:cNvSpPr>
          <p:nvPr/>
        </p:nvSpPr>
        <p:spPr bwMode="auto">
          <a:xfrm>
            <a:off x="5291138" y="4724400"/>
            <a:ext cx="122555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87" name="Line 11"/>
          <p:cNvSpPr>
            <a:spLocks noChangeShapeType="1"/>
          </p:cNvSpPr>
          <p:nvPr/>
        </p:nvSpPr>
        <p:spPr bwMode="auto">
          <a:xfrm>
            <a:off x="7740650" y="1844675"/>
            <a:ext cx="0" cy="2879725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88" name="Line 12"/>
          <p:cNvSpPr>
            <a:spLocks noChangeShapeType="1"/>
          </p:cNvSpPr>
          <p:nvPr/>
        </p:nvSpPr>
        <p:spPr bwMode="auto">
          <a:xfrm flipV="1">
            <a:off x="2268538" y="3500438"/>
            <a:ext cx="5327650" cy="10080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 flipV="1">
            <a:off x="2843213" y="1989138"/>
            <a:ext cx="3097212" cy="79216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90" name="Line 14"/>
          <p:cNvSpPr>
            <a:spLocks noChangeShapeType="1"/>
          </p:cNvSpPr>
          <p:nvPr/>
        </p:nvSpPr>
        <p:spPr bwMode="auto">
          <a:xfrm>
            <a:off x="1908175" y="3860800"/>
            <a:ext cx="3959225" cy="792163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485393" name="Rectangle 17"/>
          <p:cNvSpPr>
            <a:spLocks noChangeArrowheads="1"/>
          </p:cNvSpPr>
          <p:nvPr/>
        </p:nvSpPr>
        <p:spPr bwMode="auto">
          <a:xfrm>
            <a:off x="4356100" y="908050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p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20493" name="Rectangle 18"/>
          <p:cNvSpPr>
            <a:spLocks noChangeArrowheads="1"/>
          </p:cNvSpPr>
          <p:nvPr/>
        </p:nvSpPr>
        <p:spPr bwMode="auto">
          <a:xfrm>
            <a:off x="7019925" y="981075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aKey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20494" name="Rectangle 19"/>
          <p:cNvSpPr>
            <a:spLocks noChangeArrowheads="1"/>
          </p:cNvSpPr>
          <p:nvPr/>
        </p:nvSpPr>
        <p:spPr bwMode="auto">
          <a:xfrm>
            <a:off x="6659563" y="2205038"/>
            <a:ext cx="10080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&amp;aKey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485396" name="Rectangle 20"/>
          <p:cNvSpPr>
            <a:spLocks noChangeArrowheads="1"/>
          </p:cNvSpPr>
          <p:nvPr/>
        </p:nvSpPr>
        <p:spPr bwMode="auto">
          <a:xfrm>
            <a:off x="4427538" y="4005263"/>
            <a:ext cx="576262" cy="576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q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20496" name="Rectangle 21"/>
          <p:cNvSpPr>
            <a:spLocks noChangeArrowheads="1"/>
          </p:cNvSpPr>
          <p:nvPr/>
        </p:nvSpPr>
        <p:spPr bwMode="auto">
          <a:xfrm>
            <a:off x="6948488" y="3933825"/>
            <a:ext cx="576262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b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20497" name="Rectangle 22"/>
          <p:cNvSpPr>
            <a:spLocks noChangeArrowheads="1"/>
          </p:cNvSpPr>
          <p:nvPr/>
        </p:nvSpPr>
        <p:spPr bwMode="auto">
          <a:xfrm>
            <a:off x="7019925" y="5013325"/>
            <a:ext cx="576263" cy="576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en-US" altLang="zh-CN" sz="2400" b="0">
                <a:latin typeface="Arial" panose="020B0604020202020204" pitchFamily="34" charset="0"/>
              </a:rPr>
              <a:t>&amp;b</a:t>
            </a:r>
            <a:endParaRPr lang="en-US" altLang="zh-CN" sz="2400" b="0">
              <a:latin typeface="Arial" panose="020B0604020202020204" pitchFamily="34" charset="0"/>
            </a:endParaRPr>
          </a:p>
        </p:txBody>
      </p:sp>
      <p:sp>
        <p:nvSpPr>
          <p:cNvPr id="485399" name="Rectangle 23"/>
          <p:cNvSpPr>
            <a:spLocks noChangeArrowheads="1"/>
          </p:cNvSpPr>
          <p:nvPr/>
        </p:nvSpPr>
        <p:spPr bwMode="auto">
          <a:xfrm>
            <a:off x="468313" y="908050"/>
            <a:ext cx="4824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int *p; int*q;</a:t>
            </a:r>
            <a:endParaRPr kumimoji="1" lang="en-US" altLang="zh-CN" sz="4000" b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85400" name="Rectangle 24"/>
          <p:cNvSpPr>
            <a:spLocks noChangeArrowheads="1"/>
          </p:cNvSpPr>
          <p:nvPr/>
        </p:nvSpPr>
        <p:spPr bwMode="auto">
          <a:xfrm>
            <a:off x="395288" y="2565400"/>
            <a:ext cx="4824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p=&amp;akey;</a:t>
            </a:r>
            <a:endParaRPr kumimoji="1" lang="en-US" altLang="zh-CN" sz="4000" b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85401" name="Rectangle 25"/>
          <p:cNvSpPr>
            <a:spLocks noChangeArrowheads="1"/>
          </p:cNvSpPr>
          <p:nvPr/>
        </p:nvSpPr>
        <p:spPr bwMode="auto">
          <a:xfrm>
            <a:off x="395288" y="3429000"/>
            <a:ext cx="4824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q=&amp;b;</a:t>
            </a:r>
            <a:endParaRPr kumimoji="1" lang="en-US" altLang="zh-CN" sz="4000" b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85402" name="Rectangle 26"/>
          <p:cNvSpPr>
            <a:spLocks noChangeArrowheads="1"/>
          </p:cNvSpPr>
          <p:nvPr/>
        </p:nvSpPr>
        <p:spPr bwMode="auto">
          <a:xfrm>
            <a:off x="395288" y="4365625"/>
            <a:ext cx="4824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*q=*p;</a:t>
            </a:r>
            <a:endParaRPr kumimoji="1" lang="en-US" altLang="zh-CN" sz="4000" b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85403" name="Rectangle 27"/>
          <p:cNvSpPr>
            <a:spLocks noChangeArrowheads="1"/>
          </p:cNvSpPr>
          <p:nvPr/>
        </p:nvSpPr>
        <p:spPr bwMode="auto">
          <a:xfrm>
            <a:off x="468313" y="1773238"/>
            <a:ext cx="48244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1" lang="en-US" altLang="zh-CN" sz="4000" b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akey=66;</a:t>
            </a:r>
            <a:endParaRPr kumimoji="1" lang="en-US" altLang="zh-CN" sz="4000" b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85404" name="Oval 28"/>
          <p:cNvSpPr>
            <a:spLocks noChangeArrowheads="1"/>
          </p:cNvSpPr>
          <p:nvPr/>
        </p:nvSpPr>
        <p:spPr bwMode="auto">
          <a:xfrm>
            <a:off x="323850" y="4221163"/>
            <a:ext cx="1871663" cy="936625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538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48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48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8538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8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48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48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48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4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1000"/>
                                        <p:tgtEl>
                                          <p:spTgt spid="4853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48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48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485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48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48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8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8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48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485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4853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485384">
                                            <p:bg/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485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485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4" grpId="0" animBg="1" uiExpand="1" build="allAtOnce"/>
      <p:bldP spid="485399" grpId="0"/>
      <p:bldP spid="485400" grpId="0" uiExpand="1"/>
      <p:bldP spid="485401" grpId="0"/>
      <p:bldP spid="485402" grpId="0"/>
      <p:bldP spid="48540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指针变量作为函数参数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定义一个函数</a:t>
            </a:r>
            <a:r>
              <a:rPr lang="en-US" altLang="zh-CN" dirty="0"/>
              <a:t>swap</a:t>
            </a:r>
            <a:r>
              <a:rPr lang="zh-CN" altLang="en-US" dirty="0"/>
              <a:t>，将指向两个整型变量的指针变量作为实参传递给</a:t>
            </a:r>
            <a:r>
              <a:rPr lang="en-US" altLang="zh-CN" dirty="0"/>
              <a:t>swap</a:t>
            </a:r>
            <a:r>
              <a:rPr lang="zh-CN" altLang="en-US" dirty="0"/>
              <a:t>函数的形参指针变量，在函数中通过指针实现交换两个变量的值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指针支持加减法运算（部分）</a:t>
            </a:r>
            <a:endParaRPr lang="en-US" altLang="zh-CN" dirty="0"/>
          </a:p>
          <a:p>
            <a:pPr lvl="1"/>
            <a:r>
              <a:rPr lang="zh-CN" altLang="en-US" dirty="0"/>
              <a:t>支持哪些运算？</a:t>
            </a:r>
            <a:endParaRPr lang="en-US" altLang="zh-CN" dirty="0"/>
          </a:p>
          <a:p>
            <a:pPr lvl="1"/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pPr lvl="1"/>
            <a:r>
              <a:rPr lang="zh-CN" altLang="en-US" i="1" dirty="0">
                <a:solidFill>
                  <a:srgbClr val="C00000"/>
                </a:solidFill>
              </a:rPr>
              <a:t>指针的加减法是考虑了类型大小的地址加减法</a:t>
            </a:r>
            <a:endParaRPr lang="zh-CN" altLang="en-US" i="1" dirty="0">
              <a:solidFill>
                <a:srgbClr val="C0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指针变量可以用指针运算的结果赋值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内容占位符 2"/>
          <p:cNvSpPr>
            <a:spLocks noGrp="1"/>
          </p:cNvSpPr>
          <p:nvPr>
            <p:ph idx="1"/>
          </p:nvPr>
        </p:nvSpPr>
        <p:spPr>
          <a:xfrm>
            <a:off x="373584" y="636587"/>
            <a:ext cx="8153400" cy="61436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#include &lt;</a:t>
            </a:r>
            <a:r>
              <a:rPr lang="en-US" altLang="zh-CN" sz="2600" dirty="0" err="1"/>
              <a:t>stdio.h</a:t>
            </a:r>
            <a:r>
              <a:rPr lang="en-US" altLang="zh-CN" sz="2600" dirty="0"/>
              <a:t>&gt;</a:t>
            </a:r>
            <a:endParaRPr lang="zh-CN" altLang="zh-CN" sz="2600" dirty="0"/>
          </a:p>
          <a:p>
            <a:pPr>
              <a:lnSpc>
                <a:spcPct val="100000"/>
              </a:lnSpc>
              <a:buNone/>
            </a:pPr>
            <a:r>
              <a:rPr lang="en-US" altLang="zh-CN" sz="2600" dirty="0"/>
              <a:t>void swap(int *p1,int *p2); 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int main()</a:t>
            </a:r>
            <a:endParaRPr lang="en-US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{</a:t>
            </a:r>
            <a:endParaRPr lang="en-US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zh-CN" altLang="zh-CN" sz="2600" dirty="0"/>
              <a:t> </a:t>
            </a:r>
            <a:r>
              <a:rPr lang="zh-CN" altLang="en-US" sz="2600" dirty="0"/>
              <a:t> </a:t>
            </a:r>
            <a:r>
              <a:rPr lang="en-US" altLang="zh-CN" sz="2600" dirty="0"/>
              <a:t>int </a:t>
            </a:r>
            <a:r>
              <a:rPr lang="en-US" altLang="zh-CN" sz="2600" dirty="0" err="1"/>
              <a:t>a,b</a:t>
            </a:r>
            <a:r>
              <a:rPr lang="en-US" altLang="zh-CN" sz="2600" dirty="0"/>
              <a:t>;  int*pointer_1,*pointer_2;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printf</a:t>
            </a:r>
            <a:r>
              <a:rPr lang="en-US" altLang="zh-CN" sz="2600" dirty="0"/>
              <a:t>("please enter a and b:");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scanf</a:t>
            </a:r>
            <a:r>
              <a:rPr lang="en-US" altLang="zh-CN" sz="2600" dirty="0"/>
              <a:t>(“%</a:t>
            </a:r>
            <a:r>
              <a:rPr lang="en-US" altLang="zh-CN" sz="2600" dirty="0" err="1"/>
              <a:t>d,%d”,&amp;a,&amp;b</a:t>
            </a:r>
            <a:r>
              <a:rPr lang="en-US" altLang="zh-CN" sz="2600" dirty="0"/>
              <a:t>);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pointer_1=&amp;a;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pointer_2=&amp;b; 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if (a&lt;b)  swap(pointer_1,pointer_2);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</a:t>
            </a:r>
            <a:r>
              <a:rPr lang="en-US" altLang="zh-CN" sz="2600" dirty="0" err="1"/>
              <a:t>printf</a:t>
            </a:r>
            <a:r>
              <a:rPr lang="en-US" altLang="zh-CN" sz="2600" dirty="0"/>
              <a:t>(“max=%</a:t>
            </a:r>
            <a:r>
              <a:rPr lang="en-US" altLang="zh-CN" sz="2600" dirty="0" err="1"/>
              <a:t>d,min</a:t>
            </a:r>
            <a:r>
              <a:rPr lang="en-US" altLang="zh-CN" sz="2600" dirty="0"/>
              <a:t>=%d\n”,</a:t>
            </a:r>
            <a:r>
              <a:rPr lang="en-US" altLang="zh-CN" sz="2600" dirty="0" err="1"/>
              <a:t>a,b</a:t>
            </a:r>
            <a:r>
              <a:rPr lang="en-US" altLang="zh-CN" sz="2600" dirty="0"/>
              <a:t>);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 return 0;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600" dirty="0"/>
              <a:t> }    </a:t>
            </a:r>
            <a:endParaRPr lang="zh-CN" altLang="zh-CN" sz="26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7813" y="3143250"/>
            <a:ext cx="9286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>
            <a:spLocks noChangeArrowheads="1"/>
          </p:cNvSpPr>
          <p:nvPr/>
        </p:nvSpPr>
        <p:spPr bwMode="auto">
          <a:xfrm>
            <a:off x="52181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8215313" y="40005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378936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6786563" y="40005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402263" y="35052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8286750" y="34163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286125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360988" y="4084638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5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358188" y="407193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773488" y="4060825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6786563" y="4071938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7500938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直接箭头连接符 17"/>
          <p:cNvCxnSpPr>
            <a:cxnSpLocks noChangeShapeType="1"/>
          </p:cNvCxnSpPr>
          <p:nvPr/>
        </p:nvCxnSpPr>
        <p:spPr bwMode="auto">
          <a:xfrm>
            <a:off x="4500563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215063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pic>
        <p:nvPicPr>
          <p:cNvPr id="42001" name="图片 19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内容占位符 2"/>
          <p:cNvSpPr>
            <a:spLocks noGrp="1"/>
          </p:cNvSpPr>
          <p:nvPr>
            <p:ph idx="1"/>
          </p:nvPr>
        </p:nvSpPr>
        <p:spPr>
          <a:xfrm>
            <a:off x="594518" y="651192"/>
            <a:ext cx="7104063" cy="414337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void swap(int *p1,int *p2) 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{  int temp;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temp=*p1;     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*p1=*p2;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*p2=temp;</a:t>
            </a:r>
            <a:endParaRPr lang="zh-CN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43010" name="矩形 17"/>
          <p:cNvSpPr>
            <a:spLocks noChangeArrowheads="1"/>
          </p:cNvSpPr>
          <p:nvPr/>
        </p:nvSpPr>
        <p:spPr bwMode="auto">
          <a:xfrm>
            <a:off x="52181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1" name="矩形 18"/>
          <p:cNvSpPr>
            <a:spLocks noChangeArrowheads="1"/>
          </p:cNvSpPr>
          <p:nvPr/>
        </p:nvSpPr>
        <p:spPr bwMode="auto">
          <a:xfrm>
            <a:off x="821531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2" name="矩形 19"/>
          <p:cNvSpPr>
            <a:spLocks noChangeArrowheads="1"/>
          </p:cNvSpPr>
          <p:nvPr/>
        </p:nvSpPr>
        <p:spPr bwMode="auto">
          <a:xfrm>
            <a:off x="3789363" y="40132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3" name="矩形 20"/>
          <p:cNvSpPr>
            <a:spLocks noChangeArrowheads="1"/>
          </p:cNvSpPr>
          <p:nvPr/>
        </p:nvSpPr>
        <p:spPr bwMode="auto">
          <a:xfrm>
            <a:off x="6786563" y="4000500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3014" name="TextBox 21"/>
          <p:cNvSpPr txBox="1">
            <a:spLocks noChangeArrowheads="1"/>
          </p:cNvSpPr>
          <p:nvPr/>
        </p:nvSpPr>
        <p:spPr bwMode="auto">
          <a:xfrm>
            <a:off x="5402263" y="3505200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a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5" name="TextBox 22"/>
          <p:cNvSpPr txBox="1">
            <a:spLocks noChangeArrowheads="1"/>
          </p:cNvSpPr>
          <p:nvPr/>
        </p:nvSpPr>
        <p:spPr bwMode="auto">
          <a:xfrm>
            <a:off x="8286750" y="3416300"/>
            <a:ext cx="500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solidFill>
                  <a:srgbClr val="FF0000"/>
                </a:solidFill>
              </a:rPr>
              <a:t>b</a:t>
            </a:r>
            <a:endParaRPr lang="zh-CN" altLang="en-US" sz="3200">
              <a:solidFill>
                <a:srgbClr val="FF0000"/>
              </a:solidFill>
            </a:endParaRPr>
          </a:p>
        </p:txBody>
      </p:sp>
      <p:sp>
        <p:nvSpPr>
          <p:cNvPr id="43016" name="TextBox 23"/>
          <p:cNvSpPr txBox="1">
            <a:spLocks noChangeArrowheads="1"/>
          </p:cNvSpPr>
          <p:nvPr/>
        </p:nvSpPr>
        <p:spPr bwMode="auto">
          <a:xfrm>
            <a:off x="3286125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3017" name="TextBox 24"/>
          <p:cNvSpPr txBox="1">
            <a:spLocks noChangeArrowheads="1"/>
          </p:cNvSpPr>
          <p:nvPr/>
        </p:nvSpPr>
        <p:spPr bwMode="auto">
          <a:xfrm>
            <a:off x="5360988" y="4084638"/>
            <a:ext cx="50006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5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8" name="TextBox 25"/>
          <p:cNvSpPr txBox="1">
            <a:spLocks noChangeArrowheads="1"/>
          </p:cNvSpPr>
          <p:nvPr/>
        </p:nvSpPr>
        <p:spPr bwMode="auto">
          <a:xfrm>
            <a:off x="8358188" y="4071938"/>
            <a:ext cx="5000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9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19" name="TextBox 26"/>
          <p:cNvSpPr txBox="1">
            <a:spLocks noChangeArrowheads="1"/>
          </p:cNvSpPr>
          <p:nvPr/>
        </p:nvSpPr>
        <p:spPr bwMode="auto">
          <a:xfrm>
            <a:off x="3773488" y="4060825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43020" name="TextBox 27"/>
          <p:cNvSpPr txBox="1">
            <a:spLocks noChangeArrowheads="1"/>
          </p:cNvSpPr>
          <p:nvPr/>
        </p:nvSpPr>
        <p:spPr bwMode="auto">
          <a:xfrm>
            <a:off x="6786563" y="4071938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3021" name="直接箭头连接符 28"/>
          <p:cNvCxnSpPr>
            <a:cxnSpLocks noChangeShapeType="1"/>
          </p:cNvCxnSpPr>
          <p:nvPr/>
        </p:nvCxnSpPr>
        <p:spPr bwMode="auto">
          <a:xfrm>
            <a:off x="7500938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022" name="直接箭头连接符 29"/>
          <p:cNvCxnSpPr>
            <a:cxnSpLocks noChangeShapeType="1"/>
          </p:cNvCxnSpPr>
          <p:nvPr/>
        </p:nvCxnSpPr>
        <p:spPr bwMode="auto">
          <a:xfrm>
            <a:off x="4500563" y="4357688"/>
            <a:ext cx="714375" cy="1587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23" name="TextBox 30"/>
          <p:cNvSpPr txBox="1">
            <a:spLocks noChangeArrowheads="1"/>
          </p:cNvSpPr>
          <p:nvPr/>
        </p:nvSpPr>
        <p:spPr bwMode="auto">
          <a:xfrm>
            <a:off x="6215063" y="3500438"/>
            <a:ext cx="1857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pointer_2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2" name="矩形 31"/>
          <p:cNvSpPr>
            <a:spLocks noChangeArrowheads="1"/>
          </p:cNvSpPr>
          <p:nvPr/>
        </p:nvSpPr>
        <p:spPr bwMode="auto">
          <a:xfrm>
            <a:off x="5214938" y="5357813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4572000" y="5429250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p1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5199063" y="5403850"/>
            <a:ext cx="7858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&amp;a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35" name="直接箭头连接符 34"/>
          <p:cNvCxnSpPr>
            <a:cxnSpLocks noChangeShapeType="1"/>
            <a:stCxn id="32" idx="0"/>
            <a:endCxn id="43010" idx="2"/>
          </p:cNvCxnSpPr>
          <p:nvPr/>
        </p:nvCxnSpPr>
        <p:spPr bwMode="auto">
          <a:xfrm rot="5400000" flipH="1" flipV="1">
            <a:off x="5258594" y="5041106"/>
            <a:ext cx="630238" cy="3175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8231188" y="5311775"/>
            <a:ext cx="714375" cy="714375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7588250" y="5383213"/>
            <a:ext cx="6429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FF0000"/>
                </a:solidFill>
              </a:rPr>
              <a:t>p2</a:t>
            </a:r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8215313" y="5357813"/>
            <a:ext cx="7858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0000CC"/>
                </a:solidFill>
              </a:rPr>
              <a:t>&amp;b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 rot="5400000" flipH="1" flipV="1">
            <a:off x="8275638" y="5006975"/>
            <a:ext cx="630237" cy="4763"/>
          </a:xfrm>
          <a:prstGeom prst="straightConnector1">
            <a:avLst/>
          </a:prstGeom>
          <a:noFill/>
          <a:ln w="38100">
            <a:solidFill>
              <a:srgbClr val="FF0000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矩形 41"/>
          <p:cNvSpPr>
            <a:spLocks noChangeArrowheads="1"/>
          </p:cNvSpPr>
          <p:nvPr/>
        </p:nvSpPr>
        <p:spPr bwMode="auto">
          <a:xfrm>
            <a:off x="803417" y="1824202"/>
            <a:ext cx="2482708" cy="1639724"/>
          </a:xfrm>
          <a:prstGeom prst="rect">
            <a:avLst/>
          </a:prstGeom>
          <a:noFill/>
          <a:ln w="38100">
            <a:solidFill>
              <a:srgbClr val="9D138D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5311775" y="4084638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9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8312150" y="4117975"/>
            <a:ext cx="500063" cy="49212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3200" b="1">
                <a:solidFill>
                  <a:srgbClr val="9D138D"/>
                </a:solidFill>
              </a:rPr>
              <a:t>5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sp>
        <p:nvSpPr>
          <p:cNvPr id="46" name="矩形 45"/>
          <p:cNvSpPr>
            <a:spLocks noChangeArrowheads="1"/>
          </p:cNvSpPr>
          <p:nvPr/>
        </p:nvSpPr>
        <p:spPr bwMode="auto">
          <a:xfrm>
            <a:off x="4500563" y="4740275"/>
            <a:ext cx="4500562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pic>
        <p:nvPicPr>
          <p:cNvPr id="240642" name="Picture 2" descr="pic8-3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7398" y="5398143"/>
            <a:ext cx="4124927" cy="674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4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/>
      <p:bldP spid="34" grpId="0"/>
      <p:bldP spid="38" grpId="0" animBg="1"/>
      <p:bldP spid="42" grpId="0" animBg="1"/>
      <p:bldP spid="44" grpId="0" animBg="1"/>
      <p:bldP spid="45" grpId="0" animBg="1"/>
      <p:bldP spid="4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/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/>
          <p:cNvSpPr txBox="1"/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void swap(int *p1,int *p2) 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{ int 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temp=*p1;     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*p1=*p2;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   *p2=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*</a:t>
            </a:r>
            <a:r>
              <a:rPr lang="en-US" altLang="zh-CN" sz="2800" b="1">
                <a:latin typeface="Verdana" panose="020B0604030504040204" pitchFamily="34" charset="0"/>
              </a:rPr>
              <a:t>temp;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>
                <a:latin typeface="Verdana" panose="020B0604030504040204" pitchFamily="34" charset="0"/>
              </a:rPr>
              <a:t>}</a:t>
            </a:r>
            <a:endParaRPr lang="zh-CN" altLang="zh-CN" sz="2800" b="1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>
              <a:latin typeface="Verdana" panose="020B0604030504040204" pitchFamily="34" charset="0"/>
            </a:endParaRPr>
          </a:p>
        </p:txBody>
      </p:sp>
      <p:sp>
        <p:nvSpPr>
          <p:cNvPr id="37" name="圆角矩形标注 36"/>
          <p:cNvSpPr>
            <a:spLocks noChangeArrowheads="1"/>
          </p:cNvSpPr>
          <p:nvPr/>
        </p:nvSpPr>
        <p:spPr bwMode="auto">
          <a:xfrm>
            <a:off x="285750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FF0000"/>
                </a:solidFill>
              </a:rPr>
              <a:t>错！！！</a:t>
            </a:r>
            <a:endParaRPr lang="en-US" altLang="zh-CN" sz="2800" b="1">
              <a:solidFill>
                <a:srgbClr val="FF0000"/>
              </a:solidFill>
            </a:endParaRP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无确定的指向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内容占位符 2"/>
          <p:cNvSpPr>
            <a:spLocks noGrp="1"/>
          </p:cNvSpPr>
          <p:nvPr>
            <p:ph idx="1"/>
          </p:nvPr>
        </p:nvSpPr>
        <p:spPr>
          <a:xfrm>
            <a:off x="539750" y="1000125"/>
            <a:ext cx="5818188" cy="3643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void swap(int *p1,int *p2)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{ int 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temp=*p1;     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*p1=*p2;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   *p2=temp;</a:t>
            </a:r>
            <a:endParaRPr lang="zh-CN" altLang="zh-CN" sz="280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}</a:t>
            </a:r>
            <a:endParaRPr lang="zh-CN" altLang="zh-CN" sz="280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/>
          </a:p>
        </p:txBody>
      </p:sp>
      <p:sp>
        <p:nvSpPr>
          <p:cNvPr id="36" name="内容占位符 2"/>
          <p:cNvSpPr txBox="1"/>
          <p:nvPr/>
        </p:nvSpPr>
        <p:spPr bwMode="auto">
          <a:xfrm>
            <a:off x="3286125" y="3500438"/>
            <a:ext cx="5786438" cy="314325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void swap(int p1,int p2)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{ int temp;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temp=p1;    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p1=p2;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   p2=temp;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endParaRPr lang="zh-CN" altLang="en-US" sz="2800" b="1" dirty="0">
              <a:latin typeface="Verdana" panose="020B0604030504040204" pitchFamily="34" charset="0"/>
            </a:endParaRPr>
          </a:p>
        </p:txBody>
      </p:sp>
      <p:sp>
        <p:nvSpPr>
          <p:cNvPr id="37" name="圆角矩形标注 36"/>
          <p:cNvSpPr>
            <a:spLocks noChangeArrowheads="1"/>
          </p:cNvSpPr>
          <p:nvPr/>
        </p:nvSpPr>
        <p:spPr bwMode="auto">
          <a:xfrm>
            <a:off x="222687" y="4643438"/>
            <a:ext cx="2571750" cy="1143000"/>
          </a:xfrm>
          <a:prstGeom prst="wedgeRoundRectCallout">
            <a:avLst>
              <a:gd name="adj1" fmla="val 79245"/>
              <a:gd name="adj2" fmla="val -3506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FF0000"/>
                </a:solidFill>
              </a:rPr>
              <a:t>对比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通过函数调用改变参数的值</a:t>
            </a:r>
            <a:endParaRPr lang="en-US" dirty="0"/>
          </a:p>
        </p:txBody>
      </p:sp>
      <p:sp>
        <p:nvSpPr>
          <p:cNvPr id="3584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在主调函数中设ｎ个变量，用ｎ个指针变量指向它们</a:t>
            </a:r>
            <a:endParaRPr lang="en-US" altLang="zh-CN" dirty="0"/>
          </a:p>
          <a:p>
            <a:pPr lvl="1"/>
            <a:r>
              <a:rPr lang="zh-CN" altLang="en-US" dirty="0"/>
              <a:t>设计一个函数，有</a:t>
            </a:r>
            <a:r>
              <a:rPr lang="en-US" altLang="zh-CN" dirty="0"/>
              <a:t>n</a:t>
            </a:r>
            <a:r>
              <a:rPr lang="zh-CN" altLang="en-US" dirty="0"/>
              <a:t>个指针形参。在这个函数中改变这ｎ个形参的值</a:t>
            </a:r>
            <a:endParaRPr lang="zh-CN" altLang="zh-CN" dirty="0"/>
          </a:p>
          <a:p>
            <a:pPr lvl="1"/>
            <a:r>
              <a:rPr lang="zh-CN" altLang="en-US" dirty="0"/>
              <a:t>在主调函数中调用这个函数，在调用时将这</a:t>
            </a:r>
            <a:r>
              <a:rPr lang="en-US" altLang="zh-CN" dirty="0"/>
              <a:t>n</a:t>
            </a:r>
            <a:r>
              <a:rPr lang="zh-CN" altLang="en-US" dirty="0"/>
              <a:t>个指针变量作实参，将它们的地址传给该函数的形参</a:t>
            </a:r>
            <a:endParaRPr lang="zh-CN" altLang="zh-CN" dirty="0"/>
          </a:p>
          <a:p>
            <a:pPr lvl="1"/>
            <a:r>
              <a:rPr lang="zh-CN" altLang="en-US" dirty="0"/>
              <a:t>在执行该函数的过程中，通过形参指针变量，改变它们所指向的ｎ个变量的值</a:t>
            </a:r>
            <a:endParaRPr lang="zh-CN" altLang="zh-CN" dirty="0"/>
          </a:p>
          <a:p>
            <a:pPr lvl="1"/>
            <a:r>
              <a:rPr lang="zh-CN" altLang="en-US" dirty="0"/>
              <a:t>主调函数中就可以使用这些改变了值的变量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练习：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#286.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链表操作（删除节点）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本题需要补充完成链表删除结点的代码。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struct node{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int m;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    node *next;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};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删除以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head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为头节点的链表中的第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个节点，并返回删除后的链表的头节点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node * </a:t>
            </a:r>
            <a:r>
              <a:rPr lang="en-US" altLang="zh-CN" b="0" i="0" dirty="0" err="1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delNode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( node *head, int n )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{</a:t>
            </a:r>
            <a:b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//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你需要补充完成的内容</a:t>
            </a:r>
            <a:b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</a:b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}</a:t>
            </a:r>
            <a:endParaRPr lang="en-US" altLang="zh-CN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</a:t>
            </a:r>
            <a:r>
              <a:rPr lang="zh-CN" altLang="en-US"/>
              <a:t>针与数组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指向数组元素的指针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指针的运算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通过指针访问数组元素</a:t>
            </a:r>
            <a:endParaRPr lang="en-US" altLang="zh-CN" dirty="0"/>
          </a:p>
          <a:p>
            <a:r>
              <a:rPr lang="zh-CN" altLang="en-US" dirty="0"/>
              <a:t>数组名作为函数参数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指针数组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指向数组的指针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通过指针访问多维数组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 marL="62230" indent="0">
              <a:buNone/>
            </a:pP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指针与数组</a:t>
            </a:r>
            <a:endParaRPr lang="en-US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一个变量有地址，一个数组包含若干元素，每个数组元素都有相应的地址</a:t>
            </a:r>
            <a:endParaRPr lang="en-US" altLang="zh-CN" dirty="0"/>
          </a:p>
          <a:p>
            <a:r>
              <a:rPr lang="zh-CN" altLang="en-US" dirty="0"/>
              <a:t>指针变量可以指向数组元素（把某一元素的地址放到一个指针变量中）</a:t>
            </a:r>
            <a:endParaRPr lang="en-US" altLang="zh-CN" dirty="0"/>
          </a:p>
          <a:p>
            <a:r>
              <a:rPr lang="zh-CN" altLang="en-US" dirty="0"/>
              <a:t>数组元素的指针就是数组元素的地址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指向数组元素的指针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1563" y="678656"/>
            <a:ext cx="7533175" cy="3071813"/>
          </a:xfrm>
        </p:spPr>
        <p:txBody>
          <a:bodyPr/>
          <a:lstStyle/>
          <a:p>
            <a:r>
              <a:rPr lang="zh-CN" altLang="en-US" dirty="0"/>
              <a:t>可以用一个指针变量指向一个数组元素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int a[10]={1,3,5,7,9,11,13,15,17,19};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int  *p;</a:t>
            </a:r>
            <a:endParaRPr lang="en-US" altLang="zh-CN" sz="28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/>
              <a:t>   p=&amp;a[0];</a:t>
            </a:r>
            <a:endParaRPr lang="en-US" altLang="zh-CN" sz="2800" dirty="0"/>
          </a:p>
        </p:txBody>
      </p:sp>
      <p:pic>
        <p:nvPicPr>
          <p:cNvPr id="24371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0813" y="1928813"/>
            <a:ext cx="24511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37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1928813"/>
            <a:ext cx="2841625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1071563" y="3079322"/>
            <a:ext cx="2571750" cy="7143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p=a;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191664" y="2274614"/>
            <a:ext cx="1926674" cy="515816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975580" y="3379178"/>
            <a:ext cx="3214687" cy="1285875"/>
          </a:xfrm>
          <a:prstGeom prst="wedgeRoundRectCallout">
            <a:avLst>
              <a:gd name="adj1" fmla="val -20116"/>
              <a:gd name="adj2" fmla="val -104981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等价于</a:t>
            </a:r>
            <a:r>
              <a:rPr lang="en-US" altLang="zh-CN" sz="2800" b="1">
                <a:solidFill>
                  <a:srgbClr val="0000CC"/>
                </a:solidFill>
              </a:rPr>
              <a:t>int *p=a;</a:t>
            </a:r>
            <a:endParaRPr lang="en-US" altLang="zh-CN" sz="2800" b="1">
              <a:solidFill>
                <a:srgbClr val="0000CC"/>
              </a:solidFill>
            </a:endParaRPr>
          </a:p>
          <a:p>
            <a:pPr algn="ctr"/>
            <a:r>
              <a:rPr lang="zh-CN" altLang="en-US" sz="2800" b="1">
                <a:solidFill>
                  <a:srgbClr val="0000CC"/>
                </a:solidFill>
              </a:rPr>
              <a:t>或</a:t>
            </a:r>
            <a:r>
              <a:rPr lang="en-US" altLang="zh-CN" sz="2800" b="1">
                <a:solidFill>
                  <a:srgbClr val="0000CC"/>
                </a:solidFill>
              </a:rPr>
              <a:t>int *p=&amp;a[0];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1183726" y="1796348"/>
            <a:ext cx="1934612" cy="994081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24388" y="3737647"/>
            <a:ext cx="5643563" cy="22463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</a:rPr>
              <a:t>注意</a:t>
            </a:r>
            <a:r>
              <a:rPr lang="zh-CN" altLang="en-US" sz="2800" dirty="0">
                <a:solidFill>
                  <a:srgbClr val="FF0000"/>
                </a:solidFill>
              </a:rPr>
              <a:t>：</a:t>
            </a:r>
            <a:r>
              <a:rPr lang="zh-CN" altLang="en-US" sz="2800" b="1" dirty="0">
                <a:solidFill>
                  <a:srgbClr val="FF0000"/>
                </a:solidFill>
              </a:rPr>
              <a:t>数组名</a:t>
            </a:r>
            <a:r>
              <a:rPr lang="en-US" altLang="zh-CN" sz="2800" b="1" dirty="0">
                <a:solidFill>
                  <a:srgbClr val="FF0000"/>
                </a:solidFill>
              </a:rPr>
              <a:t>a</a:t>
            </a:r>
            <a:r>
              <a:rPr lang="zh-CN" altLang="en-US" sz="2800" b="1" dirty="0">
                <a:solidFill>
                  <a:srgbClr val="FF0000"/>
                </a:solidFill>
              </a:rPr>
              <a:t>不代表整个数组，只代表数组首元素的地址。</a:t>
            </a:r>
            <a:r>
              <a:rPr lang="zh-CN" altLang="en-US" sz="2800" b="1" dirty="0">
                <a:solidFill>
                  <a:srgbClr val="0000CC"/>
                </a:solidFill>
              </a:rPr>
              <a:t>“</a:t>
            </a:r>
            <a:r>
              <a:rPr lang="en-US" altLang="zh-CN" sz="2800" b="1" dirty="0">
                <a:solidFill>
                  <a:srgbClr val="0000CC"/>
                </a:solidFill>
              </a:rPr>
              <a:t>p=a;</a:t>
            </a:r>
            <a:r>
              <a:rPr lang="zh-CN" altLang="en-US" sz="2800" b="1" dirty="0">
                <a:solidFill>
                  <a:srgbClr val="0000CC"/>
                </a:solidFill>
              </a:rPr>
              <a:t>”的作用是“把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数组的首元素的地址赋给指针变量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”，而不是“把数组</a:t>
            </a:r>
            <a:r>
              <a:rPr lang="en-US" altLang="zh-CN" sz="2800" b="1" dirty="0">
                <a:solidFill>
                  <a:srgbClr val="0000CC"/>
                </a:solidFill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</a:rPr>
              <a:t>各元素的值赋给</a:t>
            </a:r>
            <a:r>
              <a:rPr lang="en-US" altLang="zh-CN" sz="2800" b="1" dirty="0">
                <a:solidFill>
                  <a:srgbClr val="0000CC"/>
                </a:solidFill>
              </a:rPr>
              <a:t>p</a:t>
            </a:r>
            <a:r>
              <a:rPr lang="zh-CN" altLang="en-US" sz="2800" b="1" dirty="0">
                <a:solidFill>
                  <a:srgbClr val="0000CC"/>
                </a:solidFill>
              </a:rPr>
              <a:t>”。</a:t>
            </a:r>
            <a:endParaRPr lang="zh-CN" altLang="en-US" sz="28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3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指针的运算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在指针指向数组元素时，允许以下运算：</a:t>
            </a:r>
            <a:endParaRPr lang="zh-CN" altLang="zh-CN" dirty="0"/>
          </a:p>
          <a:p>
            <a:pPr lvl="1"/>
            <a:r>
              <a:rPr lang="zh-CN" altLang="en-US" dirty="0"/>
              <a:t>加一个整数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+</a:t>
            </a:r>
            <a:r>
              <a:rPr lang="zh-CN" altLang="en-US" dirty="0"/>
              <a:t>或</a:t>
            </a:r>
            <a:r>
              <a:rPr lang="en-US" altLang="zh-CN" dirty="0"/>
              <a:t>+=)</a:t>
            </a:r>
            <a:r>
              <a:rPr lang="zh-CN" altLang="en-US" dirty="0"/>
              <a:t>，如</a:t>
            </a:r>
            <a:r>
              <a:rPr lang="en-US" altLang="zh-CN" dirty="0"/>
              <a:t>p+1</a:t>
            </a:r>
            <a:endParaRPr lang="zh-CN" altLang="zh-CN" dirty="0"/>
          </a:p>
          <a:p>
            <a:pPr lvl="1"/>
            <a:r>
              <a:rPr lang="zh-CN" altLang="en-US" dirty="0"/>
              <a:t>减一个整数</a:t>
            </a:r>
            <a:r>
              <a:rPr lang="en-US" altLang="zh-CN" dirty="0"/>
              <a:t>(</a:t>
            </a:r>
            <a:r>
              <a:rPr lang="zh-CN" altLang="en-US" dirty="0"/>
              <a:t>用</a:t>
            </a:r>
            <a:r>
              <a:rPr lang="en-US" altLang="zh-CN" dirty="0"/>
              <a:t>-</a:t>
            </a:r>
            <a:r>
              <a:rPr lang="zh-CN" altLang="en-US" dirty="0"/>
              <a:t>或</a:t>
            </a:r>
            <a:r>
              <a:rPr lang="en-US" altLang="zh-CN" dirty="0"/>
              <a:t>-=)</a:t>
            </a:r>
            <a:r>
              <a:rPr lang="zh-CN" altLang="en-US" dirty="0"/>
              <a:t>，如</a:t>
            </a:r>
            <a:r>
              <a:rPr lang="en-US" altLang="zh-CN" dirty="0"/>
              <a:t>p-1</a:t>
            </a:r>
            <a:endParaRPr lang="zh-CN" altLang="zh-CN" dirty="0"/>
          </a:p>
          <a:p>
            <a:pPr lvl="1"/>
            <a:r>
              <a:rPr lang="zh-CN" altLang="en-US" dirty="0"/>
              <a:t>自加运算，如</a:t>
            </a:r>
            <a:r>
              <a:rPr lang="en-US" altLang="zh-CN" dirty="0"/>
              <a:t>p++</a:t>
            </a:r>
            <a:r>
              <a:rPr lang="zh-CN" altLang="en-US" dirty="0"/>
              <a:t>，</a:t>
            </a:r>
            <a:r>
              <a:rPr lang="en-US" altLang="zh-CN" dirty="0"/>
              <a:t>++p</a:t>
            </a:r>
            <a:endParaRPr lang="zh-CN" altLang="zh-CN" dirty="0"/>
          </a:p>
          <a:p>
            <a:pPr lvl="1"/>
            <a:r>
              <a:rPr lang="zh-CN" altLang="en-US" dirty="0"/>
              <a:t>自减运算，如</a:t>
            </a:r>
            <a:r>
              <a:rPr lang="en-US" altLang="zh-CN" dirty="0"/>
              <a:t>p--</a:t>
            </a:r>
            <a:r>
              <a:rPr lang="zh-CN" altLang="en-US" dirty="0"/>
              <a:t>，</a:t>
            </a:r>
            <a:r>
              <a:rPr lang="en-US" altLang="zh-CN" dirty="0"/>
              <a:t>--p</a:t>
            </a:r>
            <a:endParaRPr lang="zh-CN" altLang="zh-CN" dirty="0"/>
          </a:p>
          <a:p>
            <a:pPr lvl="1"/>
            <a:r>
              <a:rPr lang="zh-CN" altLang="en-US" dirty="0"/>
              <a:t>两个指针相减，如</a:t>
            </a:r>
            <a:r>
              <a:rPr lang="en-US" altLang="zh-CN" dirty="0"/>
              <a:t>p1-p2 (</a:t>
            </a:r>
            <a:r>
              <a:rPr lang="zh-CN" altLang="en-US" dirty="0"/>
              <a:t>只有</a:t>
            </a:r>
            <a:r>
              <a:rPr lang="en-US" altLang="zh-CN" dirty="0"/>
              <a:t>p1</a:t>
            </a:r>
            <a:r>
              <a:rPr lang="zh-CN" altLang="en-US" dirty="0"/>
              <a:t>和</a:t>
            </a:r>
            <a:r>
              <a:rPr lang="en-US" altLang="zh-CN" dirty="0"/>
              <a:t>p2</a:t>
            </a:r>
            <a:r>
              <a:rPr lang="zh-CN" altLang="en-US" dirty="0"/>
              <a:t>都指向同一数组中的元素时才有意义</a:t>
            </a:r>
            <a:r>
              <a:rPr lang="en-US" altLang="zh-CN" dirty="0"/>
              <a:t>)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指针的加减法运算不是简单的地址值的加减法</a:t>
            </a:r>
            <a:endParaRPr lang="en-US" altLang="zh-CN" dirty="0"/>
          </a:p>
          <a:p>
            <a:r>
              <a:rPr lang="zh-CN" altLang="en-US" i="1" dirty="0">
                <a:solidFill>
                  <a:srgbClr val="C00000"/>
                </a:solidFill>
              </a:rPr>
              <a:t>指针的加减法是考虑了类型大小的地址加减法</a:t>
            </a:r>
            <a:endParaRPr lang="zh-CN" altLang="en-US" i="1" dirty="0">
              <a:solidFill>
                <a:srgbClr val="C00000"/>
              </a:solidFill>
            </a:endParaRPr>
          </a:p>
          <a:p>
            <a:r>
              <a:rPr lang="zh-CN" altLang="en-US" dirty="0"/>
              <a:t>指针变量可以用指针运算的结果赋值</a:t>
            </a:r>
            <a:endParaRPr lang="zh-CN" alt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通过指针访问数组元素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引用一个数组元素，可用下面两种方法：</a:t>
            </a:r>
            <a:endParaRPr lang="en-US" altLang="zh-CN" dirty="0"/>
          </a:p>
          <a:p>
            <a:pPr lvl="1"/>
            <a:r>
              <a:rPr lang="zh-CN" altLang="en-US" dirty="0"/>
              <a:t>下标法，如</a:t>
            </a:r>
            <a:r>
              <a:rPr lang="en-US" altLang="zh-CN" dirty="0"/>
              <a:t>a[</a:t>
            </a:r>
            <a:r>
              <a:rPr lang="en-US" altLang="zh-CN" dirty="0" err="1"/>
              <a:t>i</a:t>
            </a:r>
            <a:r>
              <a:rPr lang="en-US" altLang="zh-CN" dirty="0"/>
              <a:t>]</a:t>
            </a:r>
            <a:r>
              <a:rPr lang="zh-CN" altLang="en-US" dirty="0"/>
              <a:t>形式</a:t>
            </a:r>
            <a:endParaRPr lang="en-US" altLang="zh-CN" dirty="0"/>
          </a:p>
          <a:p>
            <a:pPr lvl="1"/>
            <a:r>
              <a:rPr lang="zh-CN" altLang="en-US" dirty="0"/>
              <a:t>指针法，如</a:t>
            </a:r>
            <a:r>
              <a:rPr lang="en-US" altLang="zh-CN" dirty="0"/>
              <a:t>*(</a:t>
            </a:r>
            <a:r>
              <a:rPr lang="en-US" altLang="zh-CN" dirty="0" err="1"/>
              <a:t>a+i</a:t>
            </a:r>
            <a:r>
              <a:rPr lang="en-US" altLang="zh-CN" dirty="0"/>
              <a:t>)</a:t>
            </a:r>
            <a:r>
              <a:rPr lang="zh-CN" altLang="en-US" dirty="0"/>
              <a:t>或</a:t>
            </a:r>
            <a:r>
              <a:rPr lang="en-US" altLang="zh-CN" dirty="0"/>
              <a:t>*(</a:t>
            </a:r>
            <a:r>
              <a:rPr lang="en-US" altLang="zh-CN" dirty="0" err="1"/>
              <a:t>p+i</a:t>
            </a:r>
            <a:r>
              <a:rPr lang="en-US" altLang="zh-CN" dirty="0"/>
              <a:t>)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	</a:t>
            </a:r>
            <a:r>
              <a:rPr lang="zh-CN" altLang="en-US" dirty="0"/>
              <a:t>其中</a:t>
            </a:r>
            <a:r>
              <a:rPr lang="en-US" altLang="zh-CN" dirty="0"/>
              <a:t>a</a:t>
            </a:r>
            <a:r>
              <a:rPr lang="zh-CN" altLang="en-US" dirty="0"/>
              <a:t>是数组名，</a:t>
            </a:r>
            <a:r>
              <a:rPr lang="en-US" altLang="zh-CN" dirty="0"/>
              <a:t>p</a:t>
            </a:r>
            <a:r>
              <a:rPr lang="zh-CN" altLang="en-US" dirty="0"/>
              <a:t>是指向数组元素的指针变量，其初值</a:t>
            </a:r>
            <a:r>
              <a:rPr lang="en-US" altLang="zh-CN" dirty="0"/>
              <a:t>p=a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例：有一个整型数组</a:t>
            </a:r>
            <a:r>
              <a:rPr lang="en-US" altLang="zh-CN" dirty="0"/>
              <a:t>a</a:t>
            </a:r>
            <a:r>
              <a:rPr lang="zh-CN" altLang="en-US" dirty="0"/>
              <a:t>，要求输出数组中的全部元素</a:t>
            </a:r>
            <a:endParaRPr lang="en-US" altLang="zh-CN" dirty="0"/>
          </a:p>
          <a:p>
            <a:pPr lvl="1"/>
            <a:r>
              <a:rPr lang="zh-CN" altLang="en-US" dirty="0"/>
              <a:t>下标法；</a:t>
            </a:r>
            <a:endParaRPr lang="en-US" altLang="zh-CN" dirty="0"/>
          </a:p>
          <a:p>
            <a:pPr lvl="1"/>
            <a:r>
              <a:rPr lang="zh-CN" altLang="en-US" dirty="0"/>
              <a:t>通过数组名计算数组元素地址，找出元素的值；</a:t>
            </a:r>
            <a:endParaRPr lang="en-US" altLang="zh-CN" dirty="0"/>
          </a:p>
          <a:p>
            <a:pPr lvl="1"/>
            <a:r>
              <a:rPr lang="zh-CN" altLang="en-US" dirty="0"/>
              <a:t>用指针变量指向数组元素</a:t>
            </a:r>
            <a:endParaRPr lang="en-US" altLang="zh-CN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数组元素访问方式</a:t>
            </a:r>
            <a:endParaRPr lang="en-US" dirty="0"/>
          </a:p>
        </p:txBody>
      </p:sp>
      <p:sp>
        <p:nvSpPr>
          <p:cNvPr id="57345" name="内容占位符 2"/>
          <p:cNvSpPr>
            <a:spLocks noGrp="1"/>
          </p:cNvSpPr>
          <p:nvPr>
            <p:ph idx="4294967295"/>
          </p:nvPr>
        </p:nvSpPr>
        <p:spPr>
          <a:xfrm>
            <a:off x="470023" y="1251403"/>
            <a:ext cx="7700963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(1) </a:t>
            </a:r>
            <a:r>
              <a:rPr lang="zh-CN" altLang="en-US" sz="2800" dirty="0"/>
              <a:t>下标法。</a:t>
            </a:r>
            <a:r>
              <a:rPr lang="en-US" altLang="zh-CN" sz="2800" dirty="0"/>
              <a:t>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#include &lt;</a:t>
            </a:r>
            <a:r>
              <a:rPr lang="en-US" altLang="zh-CN" dirty="0" err="1"/>
              <a:t>stdio.h</a:t>
            </a:r>
            <a:r>
              <a:rPr lang="en-US" altLang="zh-CN" dirty="0"/>
              <a:t>&gt;</a:t>
            </a:r>
            <a:endParaRPr lang="zh-CN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int main()</a:t>
            </a:r>
            <a:endParaRPr lang="zh-CN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{ </a:t>
            </a:r>
            <a:endParaRPr lang="en-US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int a[10];  int </a:t>
            </a:r>
            <a:r>
              <a:rPr lang="en-US" altLang="zh-CN" dirty="0" err="1"/>
              <a:t>i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printf</a:t>
            </a:r>
            <a:r>
              <a:rPr lang="en-US" altLang="zh-CN" dirty="0"/>
              <a:t>(“enter 10 integer numbers:\n");</a:t>
            </a:r>
            <a:endParaRPr lang="en-US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for(</a:t>
            </a:r>
            <a:r>
              <a:rPr lang="en-US" altLang="zh-CN" dirty="0" err="1"/>
              <a:t>i</a:t>
            </a:r>
            <a:r>
              <a:rPr lang="en-US" altLang="zh-CN" dirty="0"/>
              <a:t>=0;i&lt;10;i++) 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d",&amp;a</a:t>
            </a:r>
            <a:r>
              <a:rPr lang="en-US" altLang="zh-CN" dirty="0"/>
              <a:t>[</a:t>
            </a:r>
            <a:r>
              <a:rPr lang="en-US" altLang="zh-CN" dirty="0" err="1"/>
              <a:t>i</a:t>
            </a:r>
            <a:r>
              <a:rPr lang="en-US" altLang="zh-CN" dirty="0"/>
              <a:t>]);  for(</a:t>
            </a:r>
            <a:r>
              <a:rPr lang="en-US" altLang="zh-CN" dirty="0" err="1"/>
              <a:t>i</a:t>
            </a:r>
            <a:r>
              <a:rPr lang="en-US" altLang="zh-CN" dirty="0"/>
              <a:t>=0;i&lt;10;i++)  </a:t>
            </a:r>
            <a:r>
              <a:rPr lang="en-US" altLang="zh-CN" dirty="0" err="1"/>
              <a:t>printf</a:t>
            </a:r>
            <a:r>
              <a:rPr lang="en-US" altLang="zh-CN" dirty="0"/>
              <a:t>(“%d ”,a[</a:t>
            </a:r>
            <a:r>
              <a:rPr lang="en-US" altLang="zh-CN" dirty="0" err="1"/>
              <a:t>i</a:t>
            </a:r>
            <a:r>
              <a:rPr lang="en-US" altLang="zh-CN" dirty="0"/>
              <a:t>]);   </a:t>
            </a:r>
            <a:r>
              <a:rPr lang="en-US" altLang="zh-CN" dirty="0" err="1"/>
              <a:t>printf</a:t>
            </a:r>
            <a:r>
              <a:rPr lang="en-US" altLang="zh-CN" dirty="0"/>
              <a:t>("%\n");</a:t>
            </a:r>
            <a:endParaRPr lang="en-US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return 0;</a:t>
            </a:r>
            <a:endParaRPr lang="zh-CN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}</a:t>
            </a:r>
            <a:endParaRPr lang="zh-CN" altLang="zh-CN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grpSp>
        <p:nvGrpSpPr>
          <p:cNvPr id="2" name="组合 7"/>
          <p:cNvGrpSpPr/>
          <p:nvPr/>
        </p:nvGrpSpPr>
        <p:grpSpPr bwMode="auto">
          <a:xfrm>
            <a:off x="2929061" y="5602287"/>
            <a:ext cx="5241925" cy="1063625"/>
            <a:chOff x="3286115" y="5000636"/>
            <a:chExt cx="5241488" cy="1063352"/>
          </a:xfrm>
        </p:grpSpPr>
        <p:pic>
          <p:nvPicPr>
            <p:cNvPr id="57348" name="Picture 2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116" y="5000636"/>
              <a:ext cx="5241487" cy="3429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349" name="Picture 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115" y="5345300"/>
              <a:ext cx="3750495" cy="357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35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6115" y="5702490"/>
              <a:ext cx="3750495" cy="357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7351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4753" y="5286388"/>
              <a:ext cx="1484509" cy="777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数组元素访问方式</a:t>
            </a:r>
            <a:endParaRPr lang="en-US" dirty="0"/>
          </a:p>
        </p:txBody>
      </p:sp>
      <p:sp>
        <p:nvSpPr>
          <p:cNvPr id="58369" name="内容占位符 2"/>
          <p:cNvSpPr>
            <a:spLocks noGrp="1"/>
          </p:cNvSpPr>
          <p:nvPr>
            <p:ph idx="4294967295"/>
          </p:nvPr>
        </p:nvSpPr>
        <p:spPr>
          <a:xfrm>
            <a:off x="361950" y="1214437"/>
            <a:ext cx="8420100" cy="564356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(2)</a:t>
            </a:r>
            <a:r>
              <a:rPr lang="zh-CN" altLang="zh-CN" sz="2800" dirty="0"/>
              <a:t> </a:t>
            </a:r>
            <a:r>
              <a:rPr lang="zh-CN" altLang="en-US" sz="2800" dirty="0"/>
              <a:t>通过数组名计算数组元素地址</a:t>
            </a:r>
            <a:endParaRPr lang="en-US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int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int a[10];  int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(“enter 10 integer numbers:\n");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</a:t>
            </a:r>
            <a:endParaRPr lang="en-US" altLang="zh-CN" sz="2800" dirty="0"/>
          </a:p>
          <a:p>
            <a:pPr>
              <a:buNone/>
            </a:pPr>
            <a:r>
              <a:rPr lang="en-US" altLang="zh-CN" sz="2800" dirty="0"/>
              <a:t> 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", </a:t>
            </a:r>
            <a:r>
              <a:rPr lang="en-US" altLang="zh-CN" sz="2800" dirty="0">
                <a:solidFill>
                  <a:srgbClr val="C00000"/>
                </a:solidFill>
              </a:rPr>
              <a:t>*(</a:t>
            </a:r>
            <a:r>
              <a:rPr lang="en-US" altLang="zh-CN" sz="2800" dirty="0" err="1">
                <a:solidFill>
                  <a:srgbClr val="C00000"/>
                </a:solidFill>
              </a:rPr>
              <a:t>a+i</a:t>
            </a:r>
            <a:r>
              <a:rPr lang="en-US" altLang="zh-CN" sz="2800" dirty="0">
                <a:solidFill>
                  <a:srgbClr val="C00000"/>
                </a:solidFill>
              </a:rPr>
              <a:t>)</a:t>
            </a:r>
            <a:r>
              <a:rPr lang="en-US" altLang="zh-CN" sz="2800" dirty="0"/>
              <a:t>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}</a:t>
            </a:r>
            <a:endParaRPr lang="zh-CN" altLang="en-US" sz="2800" dirty="0"/>
          </a:p>
        </p:txBody>
      </p:sp>
      <p:sp>
        <p:nvSpPr>
          <p:cNvPr id="4" name="圆角矩形标注 3"/>
          <p:cNvSpPr>
            <a:spLocks noChangeArrowheads="1"/>
          </p:cNvSpPr>
          <p:nvPr/>
        </p:nvSpPr>
        <p:spPr bwMode="auto">
          <a:xfrm>
            <a:off x="4041290" y="5322094"/>
            <a:ext cx="3929062" cy="642938"/>
          </a:xfrm>
          <a:prstGeom prst="wedgeRoundRectCallout">
            <a:avLst>
              <a:gd name="adj1" fmla="val 3176"/>
              <a:gd name="adj2" fmla="val -208463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scanf("%d",a+i);</a:t>
            </a:r>
            <a:endParaRPr lang="zh-CN" altLang="en-US" sz="2800" b="1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数组元素访问方式</a:t>
            </a:r>
            <a:endParaRPr lang="en-US" dirty="0"/>
          </a:p>
        </p:txBody>
      </p:sp>
      <p:sp>
        <p:nvSpPr>
          <p:cNvPr id="59393" name="内容占位符 2"/>
          <p:cNvSpPr>
            <a:spLocks noGrp="1"/>
          </p:cNvSpPr>
          <p:nvPr>
            <p:ph idx="4294967295"/>
          </p:nvPr>
        </p:nvSpPr>
        <p:spPr>
          <a:xfrm>
            <a:off x="432000" y="1214438"/>
            <a:ext cx="7843837" cy="542925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(3) </a:t>
            </a:r>
            <a:r>
              <a:rPr lang="zh-CN" altLang="en-US" sz="2800" dirty="0"/>
              <a:t>用指针变量指向数组元素</a:t>
            </a:r>
            <a:r>
              <a:rPr lang="zh-CN" altLang="zh-CN" sz="2800" dirty="0"/>
              <a:t>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int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int a[10];  int *</a:t>
            </a:r>
            <a:r>
              <a:rPr lang="en-US" altLang="zh-CN" sz="2800" dirty="0" err="1"/>
              <a:t>p,i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("enter 10 integer numbers:\n");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for(p=</a:t>
            </a:r>
            <a:r>
              <a:rPr lang="en-US" altLang="zh-CN" sz="2800" dirty="0" err="1"/>
              <a:t>a;p</a:t>
            </a:r>
            <a:r>
              <a:rPr lang="en-US" altLang="zh-CN" sz="2800" dirty="0"/>
              <a:t>&lt;(a+10);p++)</a:t>
            </a:r>
            <a:endParaRPr lang="zh-CN" altLang="zh-CN" sz="2800" dirty="0"/>
          </a:p>
          <a:p>
            <a:pPr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", *p);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  <a:endParaRPr lang="zh-CN" altLang="en-US" sz="2800" dirty="0"/>
          </a:p>
        </p:txBody>
      </p:sp>
      <p:sp>
        <p:nvSpPr>
          <p:cNvPr id="4" name="圆角矩形标注 3"/>
          <p:cNvSpPr>
            <a:spLocks noChangeArrowheads="1"/>
          </p:cNvSpPr>
          <p:nvPr/>
        </p:nvSpPr>
        <p:spPr bwMode="auto">
          <a:xfrm>
            <a:off x="3606800" y="4588416"/>
            <a:ext cx="5286375" cy="1285875"/>
          </a:xfrm>
          <a:prstGeom prst="wedgeRoundRectCallout">
            <a:avLst>
              <a:gd name="adj1" fmla="val -13763"/>
              <a:gd name="adj2" fmla="val -94004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for(p=a;p&lt;(a+10);p++)</a:t>
            </a:r>
            <a:endParaRPr lang="zh-CN" altLang="zh-CN" sz="2800" b="1">
              <a:solidFill>
                <a:srgbClr val="0000CC"/>
              </a:solidFill>
              <a:latin typeface="Verdana" panose="020B0604030504040204" pitchFamily="34" charset="0"/>
            </a:endParaRPr>
          </a:p>
          <a:p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     scanf("%d",p);</a:t>
            </a:r>
            <a:endParaRPr lang="zh-CN" altLang="zh-CN" sz="2800" b="1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3286125" y="5357813"/>
            <a:ext cx="5607050" cy="1285875"/>
          </a:xfrm>
          <a:prstGeom prst="wedgeRoundRectCallout">
            <a:avLst>
              <a:gd name="adj1" fmla="val -53300"/>
              <a:gd name="adj2" fmla="val -11859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for(p=a;p&lt;(a+10);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++)</a:t>
            </a:r>
            <a:endParaRPr lang="zh-CN" altLang="zh-CN" sz="2800" b="1">
              <a:solidFill>
                <a:srgbClr val="0000CC"/>
              </a:solidFill>
              <a:latin typeface="Verdana" panose="020B0604030504040204" pitchFamily="34" charset="0"/>
            </a:endParaRPr>
          </a:p>
          <a:p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     printf(“%d ”,*</a:t>
            </a:r>
            <a:r>
              <a:rPr lang="en-US" altLang="zh-CN" sz="2800" b="1">
                <a:solidFill>
                  <a:srgbClr val="FF0000"/>
                </a:solidFill>
                <a:latin typeface="Verdana" panose="020B0604030504040204" pitchFamily="34" charset="0"/>
              </a:rPr>
              <a:t>a</a:t>
            </a:r>
            <a:r>
              <a:rPr lang="en-US" altLang="zh-CN" sz="2800" b="1">
                <a:solidFill>
                  <a:srgbClr val="0000CC"/>
                </a:solidFill>
                <a:latin typeface="Verdana" panose="020B0604030504040204" pitchFamily="34" charset="0"/>
              </a:rPr>
              <a:t>); </a:t>
            </a:r>
            <a:r>
              <a:rPr lang="zh-CN" altLang="en-US" sz="2800" b="1">
                <a:solidFill>
                  <a:srgbClr val="FF0000"/>
                </a:solidFill>
                <a:latin typeface="Verdana" panose="020B0604030504040204" pitchFamily="34" charset="0"/>
              </a:rPr>
              <a:t>错！</a:t>
            </a:r>
            <a:endParaRPr lang="zh-CN" altLang="zh-CN" sz="2800" b="1">
              <a:solidFill>
                <a:srgbClr val="FF00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种方法的比较</a:t>
            </a:r>
            <a:endParaRPr lang="en-US" dirty="0"/>
          </a:p>
        </p:txBody>
      </p:sp>
      <p:sp>
        <p:nvSpPr>
          <p:cNvPr id="60417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第</a:t>
            </a:r>
            <a:r>
              <a:rPr lang="en-US" altLang="zh-CN" sz="2400" dirty="0"/>
              <a:t>(1)</a:t>
            </a:r>
            <a:r>
              <a:rPr lang="zh-CN" altLang="en-US" sz="2400" dirty="0"/>
              <a:t>和第</a:t>
            </a:r>
            <a:r>
              <a:rPr lang="en-US" altLang="zh-CN" sz="2400" dirty="0"/>
              <a:t>(2)</a:t>
            </a:r>
            <a:r>
              <a:rPr lang="zh-CN" altLang="en-US" sz="2400" dirty="0"/>
              <a:t>种方法执行效率相同</a:t>
            </a:r>
            <a:endParaRPr lang="en-US" altLang="zh-CN" sz="2400" dirty="0"/>
          </a:p>
          <a:p>
            <a:pPr lvl="1"/>
            <a:r>
              <a:rPr lang="zh-CN" altLang="en-US" sz="2000" dirty="0"/>
              <a:t>Ｃ编译系统是将</a:t>
            </a:r>
            <a:r>
              <a:rPr lang="en-US" altLang="zh-CN" sz="2000" dirty="0"/>
              <a:t>a[</a:t>
            </a:r>
            <a:r>
              <a:rPr lang="en-US" altLang="zh-CN" sz="2000" dirty="0" err="1"/>
              <a:t>i</a:t>
            </a:r>
            <a:r>
              <a:rPr lang="en-US" altLang="zh-CN" sz="2000" dirty="0"/>
              <a:t>]</a:t>
            </a:r>
            <a:r>
              <a:rPr lang="zh-CN" altLang="en-US" sz="2000" dirty="0"/>
              <a:t>转换为</a:t>
            </a:r>
            <a:r>
              <a:rPr lang="en-US" altLang="zh-CN" sz="2000" dirty="0"/>
              <a:t>*(</a:t>
            </a:r>
            <a:r>
              <a:rPr lang="en-US" altLang="zh-CN" sz="2000" dirty="0" err="1"/>
              <a:t>a+i</a:t>
            </a:r>
            <a:r>
              <a:rPr lang="en-US" altLang="zh-CN" sz="2000" dirty="0"/>
              <a:t>)</a:t>
            </a:r>
            <a:r>
              <a:rPr lang="zh-CN" altLang="en-US" sz="2000" dirty="0"/>
              <a:t>处理的，即先计算元素地址。</a:t>
            </a:r>
            <a:endParaRPr lang="en-US" altLang="zh-CN" sz="2000" dirty="0"/>
          </a:p>
          <a:p>
            <a:pPr lvl="1"/>
            <a:r>
              <a:rPr lang="zh-CN" altLang="en-US" sz="2000" dirty="0"/>
              <a:t>因此用第</a:t>
            </a:r>
            <a:r>
              <a:rPr lang="en-US" altLang="zh-CN" sz="2000" dirty="0"/>
              <a:t>(1)</a:t>
            </a:r>
            <a:r>
              <a:rPr lang="zh-CN" altLang="en-US" sz="2000" dirty="0"/>
              <a:t>和第</a:t>
            </a:r>
            <a:r>
              <a:rPr lang="en-US" altLang="zh-CN" sz="2000" dirty="0"/>
              <a:t>(2)</a:t>
            </a:r>
            <a:r>
              <a:rPr lang="zh-CN" altLang="en-US" sz="2000" dirty="0"/>
              <a:t>种方法找数组元素费时较多。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r>
              <a:rPr lang="zh-CN" altLang="en-US" sz="2400" dirty="0"/>
              <a:t>第</a:t>
            </a:r>
            <a:r>
              <a:rPr lang="en-US" altLang="zh-CN" sz="2400" dirty="0"/>
              <a:t>(3)</a:t>
            </a:r>
            <a:r>
              <a:rPr lang="zh-CN" altLang="en-US" sz="2400" dirty="0"/>
              <a:t>种方法比第</a:t>
            </a:r>
            <a:r>
              <a:rPr lang="en-US" altLang="zh-CN" sz="2400" dirty="0"/>
              <a:t>(1)</a:t>
            </a:r>
            <a:r>
              <a:rPr lang="zh-CN" altLang="en-US" sz="2400" dirty="0"/>
              <a:t>、第</a:t>
            </a:r>
            <a:r>
              <a:rPr lang="en-US" altLang="zh-CN" sz="2400" dirty="0"/>
              <a:t>(2)</a:t>
            </a:r>
            <a:r>
              <a:rPr lang="zh-CN" altLang="en-US" sz="2400" dirty="0"/>
              <a:t>种方法快</a:t>
            </a:r>
            <a:endParaRPr lang="en-US" altLang="zh-CN" sz="2400" dirty="0"/>
          </a:p>
          <a:p>
            <a:pPr lvl="1"/>
            <a:r>
              <a:rPr lang="zh-CN" altLang="en-US" sz="2000" dirty="0"/>
              <a:t>用指针变量直接指向元素，不必每次都重新计算地址，像</a:t>
            </a:r>
            <a:r>
              <a:rPr lang="en-US" altLang="zh-CN" sz="2000" dirty="0"/>
              <a:t>p++</a:t>
            </a:r>
            <a:r>
              <a:rPr lang="zh-CN" altLang="en-US" sz="2000" dirty="0"/>
              <a:t>这样的自加操作是比较快的</a:t>
            </a:r>
            <a:endParaRPr lang="en-US" altLang="zh-CN" sz="2000" dirty="0"/>
          </a:p>
          <a:p>
            <a:pPr lvl="1"/>
            <a:r>
              <a:rPr lang="zh-CN" altLang="en-US" sz="2000" dirty="0"/>
              <a:t>这种有规律地改变地址值</a:t>
            </a:r>
            <a:r>
              <a:rPr lang="en-US" altLang="zh-CN" sz="2000" dirty="0"/>
              <a:t>(p++)</a:t>
            </a:r>
            <a:r>
              <a:rPr lang="zh-CN" altLang="en-US" sz="2000" dirty="0"/>
              <a:t>能大大提高执行效率</a:t>
            </a:r>
            <a:endParaRPr lang="en-US" altLang="zh-CN" sz="2000" dirty="0"/>
          </a:p>
          <a:p>
            <a:pPr lvl="1"/>
            <a:endParaRPr lang="zh-CN" altLang="en-US" sz="2000" dirty="0"/>
          </a:p>
          <a:p>
            <a:r>
              <a:rPr lang="zh-CN" altLang="en-US" sz="2400" dirty="0"/>
              <a:t>代码可读性</a:t>
            </a:r>
            <a:endParaRPr lang="en-US" altLang="zh-CN" sz="2400" dirty="0"/>
          </a:p>
          <a:p>
            <a:pPr lvl="1"/>
            <a:r>
              <a:rPr lang="zh-CN" altLang="en-US" sz="2000" dirty="0"/>
              <a:t>用下标法比较直观，能直接知道是第几个元素。</a:t>
            </a:r>
            <a:endParaRPr lang="en-US" altLang="zh-CN" sz="2000" dirty="0"/>
          </a:p>
          <a:p>
            <a:pPr lvl="1"/>
            <a:r>
              <a:rPr lang="zh-CN" altLang="en-US" sz="2000" dirty="0"/>
              <a:t>用地址法或指针变量的方法不直观，难以很快地判断出当前处理的是哪一个元素。</a:t>
            </a:r>
            <a:endParaRPr lang="en-US" altLang="zh-CN" sz="2000" dirty="0"/>
          </a:p>
          <a:p>
            <a:pPr marL="302260" lvl="1" indent="0">
              <a:buNone/>
            </a:pP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指针与数组举例</a:t>
            </a:r>
            <a:endParaRPr lang="en-US" dirty="0"/>
          </a:p>
        </p:txBody>
      </p:sp>
      <p:sp>
        <p:nvSpPr>
          <p:cNvPr id="6" name="矩形 5"/>
          <p:cNvSpPr/>
          <p:nvPr/>
        </p:nvSpPr>
        <p:spPr>
          <a:xfrm>
            <a:off x="822325" y="1624686"/>
            <a:ext cx="749935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a[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*p;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p = a;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数组首地址赋值给指针变量，让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指向数组首元素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 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	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通过指针输出数组元素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"a["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"]="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*p 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p++;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               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指针变量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+1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815919" y="488866"/>
            <a:ext cx="7450138" cy="2899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说明</a:t>
            </a:r>
            <a:endParaRPr kumimoji="1" lang="zh-CN" altLang="en-US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(1) p=a;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这里数组名作为数组的起始地址，即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a[0]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的地址。</a:t>
            </a:r>
            <a:b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因此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p=a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p=&amp;a[0];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(2) p=p+1;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如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a[0],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p=p+1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之后，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a[1]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buClr>
                <a:schemeClr val="tx2"/>
              </a:buClr>
              <a:buSzTx/>
              <a:buFont typeface="Wingdings" panose="05000000000000000000" pitchFamily="2" charset="2"/>
              <a:buChar char="Ø"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(3)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如果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p=a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p=&amp;a[0];</a:t>
            </a:r>
            <a:b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则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p=a+4 </a:t>
            </a:r>
            <a:r>
              <a:rPr kumimoji="1"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等效于 </a:t>
            </a: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p=&amp;a[4];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433155" name="Group 3"/>
          <p:cNvGraphicFramePr>
            <a:graphicFrameLocks noGrp="1"/>
          </p:cNvGraphicFramePr>
          <p:nvPr>
            <p:ph sz="half" idx="1"/>
          </p:nvPr>
        </p:nvGraphicFramePr>
        <p:xfrm>
          <a:off x="2630488" y="3284538"/>
          <a:ext cx="1438275" cy="3108852"/>
        </p:xfrm>
        <a:graphic>
          <a:graphicData uri="http://schemas.openxmlformats.org/drawingml/2006/table">
            <a:tbl>
              <a:tblPr/>
              <a:tblGrid>
                <a:gridCol w="1438275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a[0]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a[1]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a[2]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a[3]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a[4]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3171" name="Group 19"/>
          <p:cNvGraphicFramePr>
            <a:graphicFrameLocks noGrp="1"/>
          </p:cNvGraphicFramePr>
          <p:nvPr>
            <p:ph sz="half" idx="2"/>
          </p:nvPr>
        </p:nvGraphicFramePr>
        <p:xfrm>
          <a:off x="6516688" y="3284538"/>
          <a:ext cx="1543050" cy="3108852"/>
        </p:xfrm>
        <a:graphic>
          <a:graphicData uri="http://schemas.openxmlformats.org/drawingml/2006/table">
            <a:tbl>
              <a:tblPr/>
              <a:tblGrid>
                <a:gridCol w="1543050"/>
              </a:tblGrid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*p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*(p+1)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*(p+2)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*(p+3)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1805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*(p+4)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marT="45711" marB="457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61" name="Line 35"/>
          <p:cNvSpPr>
            <a:spLocks noChangeShapeType="1"/>
          </p:cNvSpPr>
          <p:nvPr/>
        </p:nvSpPr>
        <p:spPr bwMode="auto">
          <a:xfrm>
            <a:off x="13335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2" name="Line 36"/>
          <p:cNvSpPr>
            <a:spLocks noChangeShapeType="1"/>
          </p:cNvSpPr>
          <p:nvPr/>
        </p:nvSpPr>
        <p:spPr bwMode="auto">
          <a:xfrm>
            <a:off x="13335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3" name="Line 37"/>
          <p:cNvSpPr>
            <a:spLocks noChangeShapeType="1"/>
          </p:cNvSpPr>
          <p:nvPr/>
        </p:nvSpPr>
        <p:spPr bwMode="auto">
          <a:xfrm>
            <a:off x="13335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4" name="Line 38"/>
          <p:cNvSpPr>
            <a:spLocks noChangeShapeType="1"/>
          </p:cNvSpPr>
          <p:nvPr/>
        </p:nvSpPr>
        <p:spPr bwMode="auto">
          <a:xfrm>
            <a:off x="5219700" y="4003675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5" name="Line 39"/>
          <p:cNvSpPr>
            <a:spLocks noChangeShapeType="1"/>
          </p:cNvSpPr>
          <p:nvPr/>
        </p:nvSpPr>
        <p:spPr bwMode="auto">
          <a:xfrm>
            <a:off x="5219700" y="4579938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6" name="Line 40"/>
          <p:cNvSpPr>
            <a:spLocks noChangeShapeType="1"/>
          </p:cNvSpPr>
          <p:nvPr/>
        </p:nvSpPr>
        <p:spPr bwMode="auto">
          <a:xfrm>
            <a:off x="5219700" y="5156200"/>
            <a:ext cx="1296988" cy="0"/>
          </a:xfrm>
          <a:prstGeom prst="line">
            <a:avLst/>
          </a:prstGeom>
          <a:noFill/>
          <a:ln w="1270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2567" name="Text Box 41"/>
          <p:cNvSpPr txBox="1">
            <a:spLocks noChangeArrowheads="1"/>
          </p:cNvSpPr>
          <p:nvPr/>
        </p:nvSpPr>
        <p:spPr bwMode="auto">
          <a:xfrm>
            <a:off x="1010445" y="3741068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68" name="Text Box 42"/>
          <p:cNvSpPr txBox="1">
            <a:spLocks noChangeArrowheads="1"/>
          </p:cNvSpPr>
          <p:nvPr/>
        </p:nvSpPr>
        <p:spPr bwMode="auto">
          <a:xfrm>
            <a:off x="900112" y="4293567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p+1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69" name="Text Box 43"/>
          <p:cNvSpPr txBox="1">
            <a:spLocks noChangeArrowheads="1"/>
          </p:cNvSpPr>
          <p:nvPr/>
        </p:nvSpPr>
        <p:spPr bwMode="auto">
          <a:xfrm>
            <a:off x="864394" y="484606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p+2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70" name="Text Box 44"/>
          <p:cNvSpPr txBox="1">
            <a:spLocks noChangeArrowheads="1"/>
          </p:cNvSpPr>
          <p:nvPr/>
        </p:nvSpPr>
        <p:spPr bwMode="auto">
          <a:xfrm>
            <a:off x="5087206" y="3632204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71" name="Text Box 45"/>
          <p:cNvSpPr txBox="1">
            <a:spLocks noChangeArrowheads="1"/>
          </p:cNvSpPr>
          <p:nvPr/>
        </p:nvSpPr>
        <p:spPr bwMode="auto">
          <a:xfrm>
            <a:off x="5110956" y="4269533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p+1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72" name="Text Box 46"/>
          <p:cNvSpPr txBox="1">
            <a:spLocks noChangeArrowheads="1"/>
          </p:cNvSpPr>
          <p:nvPr/>
        </p:nvSpPr>
        <p:spPr bwMode="auto">
          <a:xfrm>
            <a:off x="5147469" y="4846066"/>
            <a:ext cx="720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</a:rPr>
              <a:t>p+2</a:t>
            </a:r>
            <a:endParaRPr kumimoji="1" lang="en-US" altLang="zh-CN" sz="24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2573" name="AutoShape 47"/>
          <p:cNvSpPr>
            <a:spLocks noChangeArrowheads="1"/>
          </p:cNvSpPr>
          <p:nvPr/>
        </p:nvSpPr>
        <p:spPr bwMode="auto">
          <a:xfrm>
            <a:off x="4356100" y="4652963"/>
            <a:ext cx="790575" cy="503237"/>
          </a:xfrm>
          <a:prstGeom prst="leftRightArrow">
            <a:avLst>
              <a:gd name="adj1" fmla="val 50000"/>
              <a:gd name="adj2" fmla="val 31420"/>
            </a:avLst>
          </a:prstGeom>
          <a:solidFill>
            <a:srgbClr val="C00000">
              <a:alpha val="70195"/>
            </a:srgbClr>
          </a:solidFill>
          <a:ln>
            <a:noFill/>
          </a:ln>
          <a:effectLst/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74" name="Text Box 48"/>
          <p:cNvSpPr txBox="1">
            <a:spLocks noChangeArrowheads="1"/>
          </p:cNvSpPr>
          <p:nvPr/>
        </p:nvSpPr>
        <p:spPr bwMode="auto">
          <a:xfrm>
            <a:off x="4211638" y="4051300"/>
            <a:ext cx="93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40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等效</a:t>
            </a:r>
            <a:endParaRPr kumimoji="1" lang="zh-CN" altLang="en-US" sz="240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554476" y="1415340"/>
            <a:ext cx="8035047" cy="440120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9144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371600" indent="-4572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828800" indent="-4572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286000" indent="-4572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#include &lt;iostream&gt;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预编译命令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using namespace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std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;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main()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主函数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{           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函数体开始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a[5]={1,3,5,7,9};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定义数组，赋初值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*p;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定义指针变量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int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=0;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定义整型变量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,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赋初值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for(</a:t>
            </a:r>
            <a:r>
              <a:rPr kumimoji="1"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=a; </a:t>
            </a:r>
            <a:r>
              <a:rPr kumimoji="1"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&lt;a+5;</a:t>
            </a:r>
            <a:r>
              <a:rPr kumimoji="1"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p++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)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赋值给指针变量，让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数组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{          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循环体开始	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Sz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cout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a[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&lt;&lt;"</a:t>
            </a:r>
            <a:r>
              <a:rPr kumimoji="1" lang="en-US" altLang="zh-CN" sz="2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]=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"&lt;&lt; </a:t>
            </a:r>
            <a:r>
              <a:rPr kumimoji="1" lang="en-US" altLang="zh-CN" sz="200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*p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&lt;&lt;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endl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;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输出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a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数组元素的值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    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++; 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让</a:t>
            </a:r>
            <a:r>
              <a:rPr kumimoji="1" lang="en-US" altLang="zh-CN" sz="2000" dirty="0" err="1">
                <a:latin typeface="Times New Roman" panose="02020603050405020304" pitchFamily="18" charset="0"/>
                <a:ea typeface="黑体" panose="02010609060101010101" pitchFamily="49" charset="-122"/>
              </a:rPr>
              <a:t>i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加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1 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}           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循环体结束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return 0;</a:t>
            </a:r>
            <a:endParaRPr kumimoji="1" lang="en-US" altLang="zh-CN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}                                                //</a:t>
            </a:r>
            <a:r>
              <a:rPr kumimoji="1"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函数体结束</a:t>
            </a:r>
            <a:endParaRPr kumimoji="1" lang="zh-CN" altLang="en-US" sz="2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指针与数组举例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2"/>
          <p:cNvSpPr txBox="1">
            <a:spLocks noChangeArrowheads="1"/>
          </p:cNvSpPr>
          <p:nvPr/>
        </p:nvSpPr>
        <p:spPr>
          <a:xfrm>
            <a:off x="685800" y="765175"/>
            <a:ext cx="7772400" cy="5330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   a                                                   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  1     3   5   7     9   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                                                           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     a  a+1  a+2 a+3   a+4 </a:t>
            </a:r>
            <a:endParaRPr kumimoji="0" lang="en-US" altLang="zh-CN" sz="32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182880" marR="0" lvl="0" indent="-18288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34817">
                  <a:lumMod val="75000"/>
                </a:srgbClr>
              </a:buClr>
              <a:buSzPct val="85000"/>
              <a:buFont typeface="Wingdings" panose="05000000000000000000" pitchFamily="2" charset="2"/>
              <a:buNone/>
              <a:defRPr/>
            </a:pPr>
            <a:r>
              <a:rPr kumimoji="0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p=a  p  p+1   p+2  p+3   p+4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7" name="Rectangle 3"/>
          <p:cNvSpPr>
            <a:spLocks noChangeArrowheads="1"/>
          </p:cNvSpPr>
          <p:nvPr/>
        </p:nvSpPr>
        <p:spPr bwMode="auto">
          <a:xfrm>
            <a:off x="2124075" y="1916113"/>
            <a:ext cx="4608513" cy="792162"/>
          </a:xfrm>
          <a:prstGeom prst="rect">
            <a:avLst/>
          </a:prstGeom>
          <a:noFill/>
          <a:ln w="57150" cap="sq">
            <a:solidFill>
              <a:sysClr val="windowText" lastClr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18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2987675" y="1916113"/>
            <a:ext cx="0" cy="792162"/>
          </a:xfrm>
          <a:prstGeom prst="line">
            <a:avLst/>
          </a:prstGeom>
          <a:noFill/>
          <a:ln w="57150" cap="sq">
            <a:solidFill>
              <a:sysClr val="windowText" lastClr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39" name="Line 5"/>
          <p:cNvSpPr>
            <a:spLocks noChangeShapeType="1"/>
          </p:cNvSpPr>
          <p:nvPr/>
        </p:nvSpPr>
        <p:spPr bwMode="auto">
          <a:xfrm>
            <a:off x="3851275" y="1916113"/>
            <a:ext cx="0" cy="792162"/>
          </a:xfrm>
          <a:prstGeom prst="line">
            <a:avLst/>
          </a:prstGeom>
          <a:noFill/>
          <a:ln w="57150" cap="sq">
            <a:solidFill>
              <a:sysClr val="windowText" lastClr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0" name="Line 6"/>
          <p:cNvSpPr>
            <a:spLocks noChangeShapeType="1"/>
          </p:cNvSpPr>
          <p:nvPr/>
        </p:nvSpPr>
        <p:spPr bwMode="auto">
          <a:xfrm>
            <a:off x="4787900" y="1916113"/>
            <a:ext cx="0" cy="792162"/>
          </a:xfrm>
          <a:prstGeom prst="line">
            <a:avLst/>
          </a:prstGeom>
          <a:noFill/>
          <a:ln w="57150" cap="sq">
            <a:solidFill>
              <a:sysClr val="windowText" lastClr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1" name="Line 7"/>
          <p:cNvSpPr>
            <a:spLocks noChangeShapeType="1"/>
          </p:cNvSpPr>
          <p:nvPr/>
        </p:nvSpPr>
        <p:spPr bwMode="auto">
          <a:xfrm>
            <a:off x="5795963" y="1916113"/>
            <a:ext cx="0" cy="792162"/>
          </a:xfrm>
          <a:prstGeom prst="line">
            <a:avLst/>
          </a:prstGeom>
          <a:noFill/>
          <a:ln w="57150" cap="sq">
            <a:solidFill>
              <a:sysClr val="windowText" lastClr="00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2" name="Line 8"/>
          <p:cNvSpPr>
            <a:spLocks noChangeShapeType="1"/>
          </p:cNvSpPr>
          <p:nvPr/>
        </p:nvSpPr>
        <p:spPr bwMode="auto">
          <a:xfrm flipV="1">
            <a:off x="2484438" y="2708275"/>
            <a:ext cx="0" cy="433388"/>
          </a:xfrm>
          <a:prstGeom prst="line">
            <a:avLst/>
          </a:prstGeom>
          <a:noFill/>
          <a:ln w="76200" cap="sq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3" name="Line 9"/>
          <p:cNvSpPr>
            <a:spLocks noChangeShapeType="1"/>
          </p:cNvSpPr>
          <p:nvPr/>
        </p:nvSpPr>
        <p:spPr bwMode="auto">
          <a:xfrm flipV="1">
            <a:off x="3419475" y="2708275"/>
            <a:ext cx="0" cy="433388"/>
          </a:xfrm>
          <a:prstGeom prst="line">
            <a:avLst/>
          </a:prstGeom>
          <a:noFill/>
          <a:ln w="76200" cap="sq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4" name="Line 10"/>
          <p:cNvSpPr>
            <a:spLocks noChangeShapeType="1"/>
          </p:cNvSpPr>
          <p:nvPr/>
        </p:nvSpPr>
        <p:spPr bwMode="auto">
          <a:xfrm flipV="1">
            <a:off x="4356100" y="2708275"/>
            <a:ext cx="0" cy="433388"/>
          </a:xfrm>
          <a:prstGeom prst="line">
            <a:avLst/>
          </a:prstGeom>
          <a:noFill/>
          <a:ln w="76200" cap="sq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5" name="Line 11"/>
          <p:cNvSpPr>
            <a:spLocks noChangeShapeType="1"/>
          </p:cNvSpPr>
          <p:nvPr/>
        </p:nvSpPr>
        <p:spPr bwMode="auto">
          <a:xfrm flipV="1">
            <a:off x="5292725" y="2708275"/>
            <a:ext cx="0" cy="433388"/>
          </a:xfrm>
          <a:prstGeom prst="line">
            <a:avLst/>
          </a:prstGeom>
          <a:noFill/>
          <a:ln w="76200" cap="sq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6" name="Line 12"/>
          <p:cNvSpPr>
            <a:spLocks noChangeShapeType="1"/>
          </p:cNvSpPr>
          <p:nvPr/>
        </p:nvSpPr>
        <p:spPr bwMode="auto">
          <a:xfrm flipV="1">
            <a:off x="6227763" y="2708275"/>
            <a:ext cx="0" cy="433388"/>
          </a:xfrm>
          <a:prstGeom prst="line">
            <a:avLst/>
          </a:prstGeom>
          <a:noFill/>
          <a:ln w="76200" cap="sq">
            <a:solidFill>
              <a:srgbClr val="CC99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7" name="Line 13"/>
          <p:cNvSpPr>
            <a:spLocks noChangeShapeType="1"/>
          </p:cNvSpPr>
          <p:nvPr/>
        </p:nvSpPr>
        <p:spPr bwMode="auto">
          <a:xfrm flipV="1">
            <a:off x="2700338" y="2708275"/>
            <a:ext cx="0" cy="1008063"/>
          </a:xfrm>
          <a:prstGeom prst="line">
            <a:avLst/>
          </a:prstGeom>
          <a:noFill/>
          <a:ln w="76200" cap="sq">
            <a:solidFill>
              <a:srgbClr val="69646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V="1">
            <a:off x="3635375" y="2708275"/>
            <a:ext cx="0" cy="1008063"/>
          </a:xfrm>
          <a:prstGeom prst="line">
            <a:avLst/>
          </a:prstGeom>
          <a:noFill/>
          <a:ln w="76200" cap="sq">
            <a:solidFill>
              <a:srgbClr val="69646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49" name="Line 15"/>
          <p:cNvSpPr>
            <a:spLocks noChangeShapeType="1"/>
          </p:cNvSpPr>
          <p:nvPr/>
        </p:nvSpPr>
        <p:spPr bwMode="auto">
          <a:xfrm flipV="1">
            <a:off x="4643438" y="2708275"/>
            <a:ext cx="0" cy="1008063"/>
          </a:xfrm>
          <a:prstGeom prst="line">
            <a:avLst/>
          </a:prstGeom>
          <a:noFill/>
          <a:ln w="76200" cap="sq">
            <a:solidFill>
              <a:srgbClr val="69646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50" name="Line 16"/>
          <p:cNvSpPr>
            <a:spLocks noChangeShapeType="1"/>
          </p:cNvSpPr>
          <p:nvPr/>
        </p:nvSpPr>
        <p:spPr bwMode="auto">
          <a:xfrm flipV="1">
            <a:off x="5580063" y="2708275"/>
            <a:ext cx="0" cy="1008063"/>
          </a:xfrm>
          <a:prstGeom prst="line">
            <a:avLst/>
          </a:prstGeom>
          <a:noFill/>
          <a:ln w="76200" cap="sq">
            <a:solidFill>
              <a:srgbClr val="69646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51" name="Line 17"/>
          <p:cNvSpPr>
            <a:spLocks noChangeShapeType="1"/>
          </p:cNvSpPr>
          <p:nvPr/>
        </p:nvSpPr>
        <p:spPr bwMode="auto">
          <a:xfrm flipV="1">
            <a:off x="6516688" y="2708275"/>
            <a:ext cx="0" cy="1008063"/>
          </a:xfrm>
          <a:prstGeom prst="line">
            <a:avLst/>
          </a:prstGeom>
          <a:noFill/>
          <a:ln w="76200" cap="sq">
            <a:solidFill>
              <a:srgbClr val="696464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32000" y="1106101"/>
            <a:ext cx="74825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数组名</a:t>
            </a: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指向该数组的首地址，</a:t>
            </a:r>
            <a:endParaRPr kumimoji="1"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理解数组名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4972659" y="1115692"/>
            <a:ext cx="26981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是一个</a:t>
            </a:r>
            <a:r>
              <a:rPr kumimoji="1" lang="zh-CN" altLang="en-US" sz="2800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常量指针</a:t>
            </a: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738" y="2043649"/>
            <a:ext cx="7200900" cy="3886200"/>
          </a:xfrm>
          <a:prstGeom prst="rect">
            <a:avLst/>
          </a:prstGeom>
        </p:spPr>
      </p:pic>
      <p:sp>
        <p:nvSpPr>
          <p:cNvPr id="437253" name="Oval 5"/>
          <p:cNvSpPr>
            <a:spLocks noChangeArrowheads="1"/>
          </p:cNvSpPr>
          <p:nvPr/>
        </p:nvSpPr>
        <p:spPr bwMode="auto">
          <a:xfrm>
            <a:off x="4809033" y="5053228"/>
            <a:ext cx="653143" cy="463488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37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9298" name="Group 2"/>
          <p:cNvGraphicFramePr>
            <a:graphicFrameLocks noGrp="1"/>
          </p:cNvGraphicFramePr>
          <p:nvPr>
            <p:ph/>
          </p:nvPr>
        </p:nvGraphicFramePr>
        <p:xfrm>
          <a:off x="1120775" y="1038225"/>
          <a:ext cx="7772400" cy="576263"/>
        </p:xfrm>
        <a:graphic>
          <a:graphicData uri="http://schemas.openxmlformats.org/drawingml/2006/table">
            <a:tbl>
              <a:tblPr/>
              <a:tblGrid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  <a:gridCol w="863600"/>
              </a:tblGrid>
              <a:tr h="576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439328" name="Group 32"/>
          <p:cNvGraphicFramePr>
            <a:graphicFrameLocks noGrp="1"/>
          </p:cNvGraphicFramePr>
          <p:nvPr/>
        </p:nvGraphicFramePr>
        <p:xfrm>
          <a:off x="1120775" y="1614488"/>
          <a:ext cx="7772400" cy="647700"/>
        </p:xfrm>
        <a:graphic>
          <a:graphicData uri="http://schemas.openxmlformats.org/drawingml/2006/table">
            <a:tbl>
              <a:tblPr/>
              <a:tblGrid>
                <a:gridCol w="863600"/>
                <a:gridCol w="863600"/>
                <a:gridCol w="863600"/>
                <a:gridCol w="865188"/>
                <a:gridCol w="862012"/>
                <a:gridCol w="863600"/>
                <a:gridCol w="863600"/>
                <a:gridCol w="863600"/>
                <a:gridCol w="863600"/>
              </a:tblGrid>
              <a:tr h="6477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6658" name="Text Box 54"/>
          <p:cNvSpPr txBox="1">
            <a:spLocks noChangeArrowheads="1"/>
          </p:cNvSpPr>
          <p:nvPr/>
        </p:nvSpPr>
        <p:spPr bwMode="auto">
          <a:xfrm>
            <a:off x="468313" y="1614488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659" name="Text Box 55"/>
          <p:cNvSpPr txBox="1">
            <a:spLocks noChangeArrowheads="1"/>
          </p:cNvSpPr>
          <p:nvPr/>
        </p:nvSpPr>
        <p:spPr bwMode="auto">
          <a:xfrm>
            <a:off x="1187450" y="2622550"/>
            <a:ext cx="43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660" name="Text Box 56"/>
          <p:cNvSpPr txBox="1">
            <a:spLocks noChangeArrowheads="1"/>
          </p:cNvSpPr>
          <p:nvPr/>
        </p:nvSpPr>
        <p:spPr bwMode="auto">
          <a:xfrm>
            <a:off x="1619250" y="2608263"/>
            <a:ext cx="43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p</a:t>
            </a:r>
            <a:endParaRPr kumimoji="1" lang="en-US" altLang="zh-CN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6661" name="Line 57"/>
          <p:cNvSpPr>
            <a:spLocks noChangeShapeType="1"/>
          </p:cNvSpPr>
          <p:nvPr/>
        </p:nvSpPr>
        <p:spPr bwMode="auto">
          <a:xfrm flipV="1">
            <a:off x="1620838" y="2262188"/>
            <a:ext cx="0" cy="879475"/>
          </a:xfrm>
          <a:prstGeom prst="line">
            <a:avLst/>
          </a:prstGeom>
          <a:noFill/>
          <a:ln w="57150" cap="sq">
            <a:solidFill>
              <a:schemeClr val="tx2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2" name="Line 58"/>
          <p:cNvSpPr>
            <a:spLocks noChangeShapeType="1"/>
          </p:cNvSpPr>
          <p:nvPr/>
        </p:nvSpPr>
        <p:spPr bwMode="auto">
          <a:xfrm flipV="1">
            <a:off x="1476375" y="2262188"/>
            <a:ext cx="0" cy="879475"/>
          </a:xfrm>
          <a:prstGeom prst="line">
            <a:avLst/>
          </a:prstGeom>
          <a:noFill/>
          <a:ln w="5715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6663" name="Text Box 59"/>
          <p:cNvSpPr txBox="1">
            <a:spLocks noChangeArrowheads="1"/>
          </p:cNvSpPr>
          <p:nvPr/>
        </p:nvSpPr>
        <p:spPr bwMode="auto">
          <a:xfrm>
            <a:off x="468313" y="4076700"/>
            <a:ext cx="8675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	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图中数组的首地址是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的地址，即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&amp;s[0]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。</a:t>
            </a:r>
            <a:r>
              <a:rPr kumimoji="1" lang="en-US" altLang="zh-CN" sz="280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可看作是指向 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s[0]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的指针。</a:t>
            </a:r>
            <a:r>
              <a:rPr kumimoji="1" lang="en-US" altLang="zh-CN" sz="2800">
                <a:latin typeface="Times New Roman" panose="02020603050405020304" pitchFamily="18" charset="0"/>
                <a:ea typeface="黑体" panose="02010609060101010101" pitchFamily="49" charset="-122"/>
              </a:rPr>
              <a:t>s </a:t>
            </a: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是不会动的，是常量指针。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757238" y="404813"/>
            <a:ext cx="8062912" cy="5835650"/>
          </a:xfrm>
          <a:prstGeom prst="rect">
            <a:avLst/>
          </a:prstGeom>
        </p:spPr>
        <p:txBody>
          <a:bodyPr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2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9992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27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99995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</a:t>
            </a:r>
            <a:r>
              <a:rPr lang="en-US" altLang="zh-CN" dirty="0"/>
              <a:t>                                                                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                                                  </a:t>
            </a:r>
            <a:endParaRPr lang="en-US" altLang="zh-CN" sz="2800" dirty="0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 flipV="1">
            <a:off x="2483768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 flipV="1">
            <a:off x="3275856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3" name="Line 14"/>
          <p:cNvSpPr>
            <a:spLocks noChangeShapeType="1"/>
          </p:cNvSpPr>
          <p:nvPr/>
        </p:nvSpPr>
        <p:spPr bwMode="auto">
          <a:xfrm flipV="1">
            <a:off x="4211960" y="2246312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4" name="Line 15"/>
          <p:cNvSpPr>
            <a:spLocks noChangeShapeType="1"/>
          </p:cNvSpPr>
          <p:nvPr/>
        </p:nvSpPr>
        <p:spPr bwMode="auto">
          <a:xfrm flipV="1">
            <a:off x="5076056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V="1">
            <a:off x="593670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6" name="Line 17"/>
          <p:cNvSpPr>
            <a:spLocks noChangeShapeType="1"/>
          </p:cNvSpPr>
          <p:nvPr/>
        </p:nvSpPr>
        <p:spPr bwMode="auto">
          <a:xfrm flipV="1">
            <a:off x="6732240" y="225583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V="1">
            <a:off x="7668344" y="2262188"/>
            <a:ext cx="0" cy="1223963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18" name="Line 28"/>
          <p:cNvSpPr>
            <a:spLocks noChangeShapeType="1"/>
          </p:cNvSpPr>
          <p:nvPr/>
        </p:nvSpPr>
        <p:spPr bwMode="auto">
          <a:xfrm flipV="1">
            <a:off x="8448078" y="2255838"/>
            <a:ext cx="0" cy="1274763"/>
          </a:xfrm>
          <a:prstGeom prst="line">
            <a:avLst/>
          </a:prstGeom>
          <a:noFill/>
          <a:ln w="76200">
            <a:solidFill>
              <a:srgbClr val="66FF33"/>
            </a:solidFill>
            <a:prstDash val="sysDot"/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832873" y="3588306"/>
            <a:ext cx="9829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p = s+8</a:t>
            </a:r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用数组名作函数参数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用数组名作函数参数时，因为实参数组名代表该数组首元素的地址，形参应该是一个指针变量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编译都是将形参数组名作为指针变量来处理的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395412" y="2770436"/>
            <a:ext cx="6353175" cy="4345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45" indent="-360045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4"/>
              </a:buClr>
              <a:buFontTx/>
              <a:buBlip>
                <a:blip r:embed="rId1"/>
              </a:buBlip>
              <a:defRPr sz="2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685800" indent="-28829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FontTx/>
              <a:buBlip>
                <a:blip r:embed="rId1"/>
              </a:buBlip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30505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accent4"/>
              </a:buClr>
              <a:buSzPct val="100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n]; </a:t>
            </a:r>
            <a:endParaRPr lang="en-US" altLang="zh-CN" sz="1800" spc="-100" dirty="0"/>
          </a:p>
          <a:p>
            <a:pPr>
              <a:lnSpc>
                <a:spcPts val="2000"/>
              </a:lnSpc>
              <a:buFontTx/>
              <a:buNone/>
            </a:pPr>
            <a:r>
              <a:rPr lang="en-US" altLang="zh-CN" sz="1800" spc="-100" dirty="0"/>
              <a:t>int main()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{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int array[10];    </a:t>
            </a:r>
            <a:r>
              <a:rPr lang="zh-CN" altLang="zh-CN" sz="1800" spc="-100" dirty="0"/>
              <a:t></a:t>
            </a:r>
            <a:r>
              <a:rPr lang="en-US" altLang="zh-CN" sz="1800" spc="-100" dirty="0"/>
              <a:t>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        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fun (array,10);                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   return 0;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}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void fun(int </a:t>
            </a:r>
            <a:r>
              <a:rPr lang="en-US" altLang="zh-CN" sz="1800" spc="-100" dirty="0" err="1"/>
              <a:t>arr</a:t>
            </a:r>
            <a:r>
              <a:rPr lang="en-US" altLang="zh-CN" sz="1800" spc="-100" dirty="0"/>
              <a:t>[ ],int n)      </a:t>
            </a:r>
            <a:endParaRPr lang="zh-CN" altLang="zh-CN" sz="1800" spc="-100" dirty="0"/>
          </a:p>
          <a:p>
            <a:pPr>
              <a:lnSpc>
                <a:spcPts val="2000"/>
              </a:lnSpc>
              <a:buFont typeface="Wingdings" panose="05000000000000000000" pitchFamily="2" charset="2"/>
              <a:buNone/>
            </a:pPr>
            <a:r>
              <a:rPr lang="en-US" altLang="zh-CN" sz="1800" spc="-100" dirty="0"/>
              <a:t>{ </a:t>
            </a:r>
            <a:r>
              <a:rPr lang="zh-CN" altLang="zh-CN" sz="1800" spc="-100" dirty="0"/>
              <a:t>┇</a:t>
            </a:r>
            <a:r>
              <a:rPr lang="en-US" altLang="zh-CN" sz="1800" spc="-100" dirty="0"/>
              <a:t>  }</a:t>
            </a:r>
            <a:endParaRPr lang="zh-CN" altLang="zh-CN" sz="1800" spc="-100" dirty="0"/>
          </a:p>
        </p:txBody>
      </p:sp>
      <p:sp>
        <p:nvSpPr>
          <p:cNvPr id="7" name="圆角矩形标注 3"/>
          <p:cNvSpPr>
            <a:spLocks noChangeArrowheads="1"/>
          </p:cNvSpPr>
          <p:nvPr/>
        </p:nvSpPr>
        <p:spPr bwMode="auto">
          <a:xfrm>
            <a:off x="3730379" y="4613857"/>
            <a:ext cx="4018208" cy="658370"/>
          </a:xfrm>
          <a:prstGeom prst="wedgeRoundRectCallout">
            <a:avLst>
              <a:gd name="adj1" fmla="val -66457"/>
              <a:gd name="adj2" fmla="val 143745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fun(int *</a:t>
            </a:r>
            <a:r>
              <a:rPr lang="en-US" altLang="zh-CN" sz="2800" b="1" dirty="0" err="1">
                <a:solidFill>
                  <a:srgbClr val="0000CC"/>
                </a:solidFill>
                <a:latin typeface="Verdana" panose="020B0604030504040204" pitchFamily="34" charset="0"/>
              </a:rPr>
              <a:t>arr,int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 n)</a:t>
            </a:r>
            <a:endParaRPr lang="zh-CN" altLang="zh-CN" sz="2800" b="1" dirty="0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38225" y="1229519"/>
            <a:ext cx="5715000" cy="478631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altLang="zh-CN" sz="2800" dirty="0">
                <a:solidFill>
                  <a:srgbClr val="1B0FB1"/>
                </a:solidFill>
              </a:rPr>
              <a:t>void fun(int </a:t>
            </a:r>
            <a:r>
              <a:rPr lang="en-US" altLang="zh-CN" sz="2800" dirty="0" err="1">
                <a:solidFill>
                  <a:srgbClr val="1B0FB1"/>
                </a:solidFill>
              </a:rPr>
              <a:t>arr</a:t>
            </a:r>
            <a:r>
              <a:rPr lang="en-US" altLang="zh-CN" sz="2800" dirty="0">
                <a:solidFill>
                  <a:srgbClr val="1B0FB1"/>
                </a:solidFill>
              </a:rPr>
              <a:t>[],int n]; </a:t>
            </a:r>
            <a:endParaRPr lang="en-US" altLang="zh-CN" sz="2800" dirty="0">
              <a:solidFill>
                <a:srgbClr val="1B0FB1"/>
              </a:solidFill>
            </a:endParaRPr>
          </a:p>
          <a:p>
            <a:pPr>
              <a:buNone/>
            </a:pPr>
            <a:r>
              <a:rPr lang="en-US" altLang="zh-CN" sz="2800" dirty="0"/>
              <a:t>int main()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int array[10];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zh-CN" altLang="zh-CN" sz="2800" dirty="0"/>
              <a:t>┇</a:t>
            </a:r>
            <a:r>
              <a:rPr lang="en-US" altLang="zh-CN" sz="2800" dirty="0"/>
              <a:t>              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fun (array,10);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return 0;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void fun(int </a:t>
            </a:r>
            <a:r>
              <a:rPr lang="en-US" altLang="zh-CN" sz="2800" dirty="0">
                <a:solidFill>
                  <a:srgbClr val="FF0000"/>
                </a:solidFill>
              </a:rPr>
              <a:t>*</a:t>
            </a:r>
            <a:r>
              <a:rPr lang="en-US" altLang="zh-CN" sz="2800" dirty="0" err="1">
                <a:solidFill>
                  <a:srgbClr val="FF0000"/>
                </a:solidFill>
              </a:rPr>
              <a:t>arr</a:t>
            </a:r>
            <a:r>
              <a:rPr lang="en-US" altLang="zh-CN" sz="2800" dirty="0" err="1"/>
              <a:t>,int</a:t>
            </a:r>
            <a:r>
              <a:rPr lang="en-US" altLang="zh-CN" sz="2800" dirty="0"/>
              <a:t> n)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</a:t>
            </a:r>
            <a:r>
              <a:rPr lang="zh-CN" altLang="zh-CN" sz="2800" dirty="0"/>
              <a:t>┇</a:t>
            </a:r>
            <a:r>
              <a:rPr lang="en-US" altLang="zh-CN" sz="2800" dirty="0"/>
              <a:t>  }</a:t>
            </a:r>
            <a:endParaRPr lang="zh-CN" altLang="zh-CN" sz="28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6453188" y="879475"/>
          <a:ext cx="833437" cy="547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3437"/>
              </a:tblGrid>
              <a:tr h="531733">
                <a:tc>
                  <a:txBody>
                    <a:bodyPr/>
                    <a:lstStyle/>
                    <a:p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5332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7141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1814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2" marR="91442" marT="45713" marB="4571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cxnSp>
        <p:nvCxnSpPr>
          <p:cNvPr id="8" name="直接箭头连接符 7"/>
          <p:cNvCxnSpPr>
            <a:cxnSpLocks noChangeShapeType="1"/>
          </p:cNvCxnSpPr>
          <p:nvPr/>
        </p:nvCxnSpPr>
        <p:spPr bwMode="auto">
          <a:xfrm>
            <a:off x="5143500" y="858838"/>
            <a:ext cx="1285875" cy="1587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429500" y="522288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572375" y="936625"/>
            <a:ext cx="13573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arr[0]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4" name="右大括号 13"/>
          <p:cNvSpPr/>
          <p:nvPr/>
        </p:nvSpPr>
        <p:spPr bwMode="auto">
          <a:xfrm>
            <a:off x="7358063" y="879475"/>
            <a:ext cx="142875" cy="500063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357688" y="5857875"/>
            <a:ext cx="20716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FF0000"/>
                </a:solidFill>
              </a:rPr>
              <a:t>array</a:t>
            </a:r>
            <a:r>
              <a:rPr lang="zh-CN" altLang="en-US" sz="3200" b="1">
                <a:solidFill>
                  <a:srgbClr val="FF0000"/>
                </a:solidFill>
              </a:rPr>
              <a:t>数组</a:t>
            </a:r>
            <a:endParaRPr lang="zh-CN" altLang="en-US" sz="3200" b="1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4214813" y="571500"/>
            <a:ext cx="8572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  <p:cxnSp>
        <p:nvCxnSpPr>
          <p:cNvPr id="17" name="直接箭头连接符 16"/>
          <p:cNvCxnSpPr>
            <a:cxnSpLocks noChangeShapeType="1"/>
          </p:cNvCxnSpPr>
          <p:nvPr/>
        </p:nvCxnSpPr>
        <p:spPr bwMode="auto">
          <a:xfrm>
            <a:off x="5143500" y="2479675"/>
            <a:ext cx="1285875" cy="1588"/>
          </a:xfrm>
          <a:prstGeom prst="straightConnector1">
            <a:avLst/>
          </a:prstGeom>
          <a:noFill/>
          <a:ln w="38100">
            <a:solidFill>
              <a:srgbClr val="0000CC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7429500" y="2143125"/>
            <a:ext cx="1643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array[3]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572375" y="2559050"/>
            <a:ext cx="1357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0000CC"/>
                </a:solidFill>
              </a:rPr>
              <a:t>arr[3]</a:t>
            </a:r>
            <a:endParaRPr lang="zh-CN" altLang="en-US" sz="3200" b="1">
              <a:solidFill>
                <a:srgbClr val="0000CC"/>
              </a:solidFill>
            </a:endParaRPr>
          </a:p>
        </p:txBody>
      </p:sp>
      <p:sp>
        <p:nvSpPr>
          <p:cNvPr id="20" name="右大括号 19"/>
          <p:cNvSpPr/>
          <p:nvPr/>
        </p:nvSpPr>
        <p:spPr bwMode="auto">
          <a:xfrm>
            <a:off x="7358063" y="2500313"/>
            <a:ext cx="142875" cy="500062"/>
          </a:xfrm>
          <a:prstGeom prst="rightBrace">
            <a:avLst>
              <a:gd name="adj1" fmla="val 8329"/>
              <a:gd name="adj2" fmla="val 50000"/>
            </a:avLst>
          </a:prstGeom>
          <a:solidFill>
            <a:schemeClr val="accent1"/>
          </a:solidFill>
          <a:ln w="38100">
            <a:solidFill>
              <a:srgbClr val="0000CC"/>
            </a:solidFill>
            <a:miter lim="800000"/>
          </a:ln>
        </p:spPr>
        <p:txBody>
          <a:bodyPr wrap="none"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4572000" y="2428875"/>
            <a:ext cx="1285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solidFill>
                  <a:srgbClr val="9D138D"/>
                </a:solidFill>
              </a:rPr>
              <a:t>arr+3</a:t>
            </a:r>
            <a:endParaRPr lang="zh-CN" altLang="en-US" sz="3200" b="1">
              <a:solidFill>
                <a:srgbClr val="9D138D"/>
              </a:solidFill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 animBg="1"/>
      <p:bldP spid="15" grpId="0"/>
      <p:bldP spid="16" grpId="0"/>
      <p:bldP spid="18" grpId="0"/>
      <p:bldP spid="19" grpId="0"/>
      <p:bldP spid="20" grpId="0" animBg="1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数组作为函数参数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230817"/>
            <a:ext cx="8280000" cy="5040000"/>
          </a:xfrm>
        </p:spPr>
        <p:txBody>
          <a:bodyPr>
            <a:normAutofit/>
          </a:bodyPr>
          <a:lstStyle/>
          <a:p>
            <a:r>
              <a:rPr lang="zh-CN" altLang="zh-CN" dirty="0"/>
              <a:t> </a:t>
            </a:r>
            <a:r>
              <a:rPr lang="zh-CN" altLang="en-US" dirty="0"/>
              <a:t>实参数组名是指针常量，但形参数组名是按指针变量处理</a:t>
            </a:r>
            <a:endParaRPr lang="en-US" altLang="zh-CN" dirty="0"/>
          </a:p>
          <a:p>
            <a:r>
              <a:rPr lang="zh-CN" altLang="en-US" dirty="0"/>
              <a:t>在函数调用进行虚实结合后，它的值就是实参数组首元素的地址</a:t>
            </a:r>
            <a:endParaRPr lang="en-US" altLang="zh-CN" dirty="0"/>
          </a:p>
          <a:p>
            <a:r>
              <a:rPr lang="zh-CN" altLang="en-US" dirty="0"/>
              <a:t>在函数执行期间，形参数组可以再被赋值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>
          <a:xfrm>
            <a:off x="661480" y="3750817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b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fun(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arr[], </a:t>
            </a:r>
            <a:r>
              <a:rPr lang="sv-SE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n)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arr = arr + </a:t>
            </a:r>
            <a:r>
              <a:rPr lang="sv-SE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    printf(</a:t>
            </a:r>
            <a:r>
              <a:rPr lang="sv-SE" dirty="0">
                <a:solidFill>
                  <a:srgbClr val="A31515"/>
                </a:solidFill>
                <a:latin typeface="Consolas" panose="020B0609020204030204" pitchFamily="49" charset="0"/>
              </a:rPr>
              <a:t>"% d\n"</a:t>
            </a:r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, *arr);</a:t>
            </a:r>
            <a:endParaRPr lang="sv-SE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sv-SE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sv-SE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05072" y="3750817"/>
            <a:ext cx="5038928" cy="646331"/>
            <a:chOff x="4105072" y="3750817"/>
            <a:chExt cx="5038928" cy="646331"/>
          </a:xfrm>
        </p:grpSpPr>
        <p:sp>
          <p:nvSpPr>
            <p:cNvPr id="5" name="矩形 4"/>
            <p:cNvSpPr/>
            <p:nvPr/>
          </p:nvSpPr>
          <p:spPr>
            <a:xfrm>
              <a:off x="4572000" y="3750817"/>
              <a:ext cx="4572000" cy="64633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b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</a:b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void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fun(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</a:t>
              </a:r>
              <a:r>
                <a:rPr lang="en-US" dirty="0">
                  <a:solidFill>
                    <a:srgbClr val="000000"/>
                  </a:solidFill>
                  <a:latin typeface="Consolas" panose="020B0609020204030204" pitchFamily="49" charset="0"/>
                </a:rPr>
                <a:t>*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arr, </a:t>
              </a:r>
              <a:r>
                <a:rPr lang="sv-SE" dirty="0">
                  <a:solidFill>
                    <a:srgbClr val="0000FF"/>
                  </a:solidFill>
                  <a:latin typeface="Consolas" panose="020B0609020204030204" pitchFamily="49" charset="0"/>
                </a:rPr>
                <a:t>int</a:t>
              </a:r>
              <a:r>
                <a:rPr lang="sv-SE" dirty="0">
                  <a:solidFill>
                    <a:srgbClr val="000000"/>
                  </a:solidFill>
                  <a:latin typeface="Consolas" panose="020B0609020204030204" pitchFamily="49" charset="0"/>
                </a:rPr>
                <a:t> n)</a:t>
              </a:r>
              <a:endParaRPr lang="sv-SE" dirty="0">
                <a:solidFill>
                  <a:srgbClr val="00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" name="箭头: 左右 5"/>
            <p:cNvSpPr/>
            <p:nvPr/>
          </p:nvSpPr>
          <p:spPr>
            <a:xfrm>
              <a:off x="4105072" y="4163438"/>
              <a:ext cx="466928" cy="136188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200" dirty="0"/>
              <a:t>例：将数组</a:t>
            </a:r>
            <a:r>
              <a:rPr lang="en-US" altLang="zh-CN" sz="3200" dirty="0"/>
              <a:t>a</a:t>
            </a:r>
            <a:r>
              <a:rPr lang="zh-CN" altLang="en-US" sz="3200" dirty="0"/>
              <a:t>中</a:t>
            </a:r>
            <a:r>
              <a:rPr lang="en-US" altLang="zh-CN" sz="3200" dirty="0"/>
              <a:t>n</a:t>
            </a:r>
            <a:r>
              <a:rPr lang="zh-CN" altLang="en-US" sz="3200" dirty="0"/>
              <a:t>个整数按相反顺序存放</a:t>
            </a:r>
            <a:endParaRPr lang="en-US" sz="3200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解题思路：将</a:t>
            </a:r>
            <a:r>
              <a:rPr lang="en-US" altLang="zh-CN" dirty="0"/>
              <a:t>a[0]</a:t>
            </a:r>
            <a:r>
              <a:rPr lang="zh-CN" altLang="en-US" dirty="0"/>
              <a:t>与</a:t>
            </a:r>
            <a:r>
              <a:rPr lang="en-US" altLang="zh-CN" dirty="0"/>
              <a:t>a[n-1]</a:t>
            </a:r>
            <a:r>
              <a:rPr lang="zh-CN" altLang="en-US" dirty="0"/>
              <a:t>对换，</a:t>
            </a:r>
            <a:r>
              <a:rPr lang="zh-CN" altLang="zh-CN" dirty="0"/>
              <a:t>……</a:t>
            </a:r>
            <a:r>
              <a:rPr lang="zh-CN" altLang="en-US" dirty="0"/>
              <a:t>将</a:t>
            </a:r>
            <a:r>
              <a:rPr lang="en-US" altLang="zh-CN" dirty="0"/>
              <a:t>a[4]</a:t>
            </a:r>
            <a:r>
              <a:rPr lang="zh-CN" altLang="en-US" dirty="0"/>
              <a:t>与</a:t>
            </a:r>
            <a:r>
              <a:rPr lang="en-US" altLang="zh-CN" dirty="0"/>
              <a:t>a[5]</a:t>
            </a:r>
            <a:r>
              <a:rPr lang="zh-CN" altLang="en-US" dirty="0"/>
              <a:t>对换。</a:t>
            </a:r>
            <a:endParaRPr lang="zh-CN" altLang="en-US" dirty="0"/>
          </a:p>
          <a:p>
            <a:endParaRPr lang="en-US" dirty="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76" y="5130069"/>
            <a:ext cx="8294687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38" y="3418744"/>
            <a:ext cx="829468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8601319" y="4102163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</a:rPr>
              <a:t>j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1235077" y="4102163"/>
            <a:ext cx="428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 err="1">
                <a:solidFill>
                  <a:srgbClr val="FF0000"/>
                </a:solidFill>
              </a:rPr>
              <a:t>i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  <p:grpSp>
        <p:nvGrpSpPr>
          <p:cNvPr id="10" name="组合 18"/>
          <p:cNvGrpSpPr/>
          <p:nvPr/>
        </p:nvGrpSpPr>
        <p:grpSpPr bwMode="auto">
          <a:xfrm>
            <a:off x="1219326" y="2956782"/>
            <a:ext cx="7499350" cy="501650"/>
            <a:chOff x="928662" y="3214686"/>
            <a:chExt cx="7429552" cy="500860"/>
          </a:xfrm>
        </p:grpSpPr>
        <p:cxnSp>
          <p:nvCxnSpPr>
            <p:cNvPr id="11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2" name="组合 18"/>
          <p:cNvGrpSpPr/>
          <p:nvPr/>
        </p:nvGrpSpPr>
        <p:grpSpPr bwMode="auto">
          <a:xfrm>
            <a:off x="1996130" y="2965085"/>
            <a:ext cx="5928544" cy="501650"/>
            <a:chOff x="928662" y="3214686"/>
            <a:chExt cx="7429552" cy="500860"/>
          </a:xfrm>
        </p:grpSpPr>
        <p:cxnSp>
          <p:nvCxnSpPr>
            <p:cNvPr id="23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7" name="组合 18"/>
          <p:cNvGrpSpPr/>
          <p:nvPr/>
        </p:nvGrpSpPr>
        <p:grpSpPr bwMode="auto">
          <a:xfrm>
            <a:off x="2789964" y="2973388"/>
            <a:ext cx="4442540" cy="523385"/>
            <a:chOff x="928662" y="3214686"/>
            <a:chExt cx="7429552" cy="500860"/>
          </a:xfrm>
        </p:grpSpPr>
        <p:cxnSp>
          <p:nvCxnSpPr>
            <p:cNvPr id="28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1" name="组合 18"/>
          <p:cNvGrpSpPr/>
          <p:nvPr/>
        </p:nvGrpSpPr>
        <p:grpSpPr bwMode="auto">
          <a:xfrm>
            <a:off x="4525978" y="2965085"/>
            <a:ext cx="953807" cy="523385"/>
            <a:chOff x="928662" y="3214686"/>
            <a:chExt cx="7429552" cy="500860"/>
          </a:xfrm>
        </p:grpSpPr>
        <p:cxnSp>
          <p:nvCxnSpPr>
            <p:cNvPr id="32" name="直接连接符 8"/>
            <p:cNvCxnSpPr>
              <a:cxnSpLocks noChangeShapeType="1"/>
            </p:cNvCxnSpPr>
            <p:nvPr/>
          </p:nvCxnSpPr>
          <p:spPr bwMode="auto">
            <a:xfrm>
              <a:off x="928662" y="3214686"/>
              <a:ext cx="7429552" cy="0"/>
            </a:xfrm>
            <a:prstGeom prst="line">
              <a:avLst/>
            </a:prstGeom>
            <a:noFill/>
            <a:ln w="38100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直接箭头连接符 9"/>
            <p:cNvCxnSpPr>
              <a:cxnSpLocks noChangeShapeType="1"/>
            </p:cNvCxnSpPr>
            <p:nvPr/>
          </p:nvCxnSpPr>
          <p:spPr bwMode="auto">
            <a:xfrm rot="5400000">
              <a:off x="8107387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4" name="直接箭头连接符 16"/>
            <p:cNvCxnSpPr>
              <a:cxnSpLocks noChangeShapeType="1"/>
            </p:cNvCxnSpPr>
            <p:nvPr/>
          </p:nvCxnSpPr>
          <p:spPr bwMode="auto">
            <a:xfrm rot="5400000">
              <a:off x="678629" y="3464719"/>
              <a:ext cx="500860" cy="794"/>
            </a:xfrm>
            <a:prstGeom prst="straightConnector1">
              <a:avLst/>
            </a:prstGeom>
            <a:noFill/>
            <a:ln w="38100">
              <a:solidFill>
                <a:srgbClr val="0000CC"/>
              </a:solidFill>
              <a:miter lim="800000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7.40741E-7 L 0.07864 0.00208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24" y="93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7.40741E-7 L -0.08837 -0.0020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427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864 0.00208 L 0.171 0.00208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18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837 -0.00209 L -0.1717 -0.00208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49" y="-69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658 -0.00093 L 0.35434 -0.00093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194 -0.00093 L -0.3743 -0.00093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1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  <p:bldP spid="9" grpId="0"/>
      <p:bldP spid="9" grpId="1"/>
      <p:bldP spid="9" grpId="2"/>
      <p:bldP spid="9" grpId="3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99158" y="306583"/>
            <a:ext cx="7743217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inv(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x[],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n);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a[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{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inv(a,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"%d 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a[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inv(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x[],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n)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temp,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 j, m = (n -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 /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&lt;= m;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j = n -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temp = x[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x[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x[j];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x[j] = temp;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1847412" y="3698984"/>
            <a:ext cx="6994963" cy="2844691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void inv(int x[ ],int n)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{ int temp,*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,*j;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r>
              <a:rPr lang="en-US" altLang="zh-CN" sz="2800" b="1" dirty="0">
                <a:latin typeface="Verdana" panose="020B0604030504040204" pitchFamily="34" charset="0"/>
              </a:rPr>
              <a:t>  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=x;  j=x+n-1;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r>
              <a:rPr lang="en-US" altLang="zh-CN" sz="2800" b="1" dirty="0">
                <a:latin typeface="Verdana" panose="020B0604030504040204" pitchFamily="34" charset="0"/>
              </a:rPr>
              <a:t>   for(   ;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&lt;j;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++,j--)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r>
              <a:rPr lang="en-US" altLang="zh-CN" sz="2800" b="1" dirty="0">
                <a:latin typeface="Verdana" panose="020B0604030504040204" pitchFamily="34" charset="0"/>
              </a:rPr>
              <a:t>   { temp=*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; *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=*j; *j=temp; }</a:t>
            </a:r>
            <a:endParaRPr lang="en-US" altLang="zh-CN" sz="2800" b="1" dirty="0">
              <a:latin typeface="Verdana" panose="020B0604030504040204" pitchFamily="34" charset="0"/>
            </a:endParaRPr>
          </a:p>
          <a:p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en-US" sz="2800" b="1" dirty="0">
              <a:latin typeface="Verdana" panose="020B0604030504040204" pitchFamily="34" charset="0"/>
            </a:endParaRPr>
          </a:p>
        </p:txBody>
      </p:sp>
      <p:sp>
        <p:nvSpPr>
          <p:cNvPr id="11" name="圆角矩形标注 4"/>
          <p:cNvSpPr>
            <a:spLocks noChangeArrowheads="1"/>
          </p:cNvSpPr>
          <p:nvPr/>
        </p:nvSpPr>
        <p:spPr bwMode="auto">
          <a:xfrm>
            <a:off x="296753" y="4714875"/>
            <a:ext cx="1203435" cy="711173"/>
          </a:xfrm>
          <a:prstGeom prst="wedgeRoundRectCallout">
            <a:avLst>
              <a:gd name="adj1" fmla="val 75079"/>
              <a:gd name="adj2" fmla="val -107764"/>
              <a:gd name="adj3" fmla="val 16667"/>
            </a:avLst>
          </a:prstGeom>
          <a:solidFill>
            <a:srgbClr val="FFFFCC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>
            <a:lvl1pPr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优化</a:t>
            </a:r>
            <a:endParaRPr lang="zh-CN" altLang="en-US" sz="2800" b="1" dirty="0">
              <a:solidFill>
                <a:srgbClr val="0000CC"/>
              </a:solidFill>
              <a:latin typeface="Verdana" panose="020B0604030504040204" pitchFamily="34" charset="0"/>
            </a:endParaRPr>
          </a:p>
        </p:txBody>
      </p:sp>
      <p:sp>
        <p:nvSpPr>
          <p:cNvPr id="12" name="内容占位符 2"/>
          <p:cNvSpPr txBox="1"/>
          <p:nvPr/>
        </p:nvSpPr>
        <p:spPr bwMode="auto">
          <a:xfrm>
            <a:off x="4572000" y="1607160"/>
            <a:ext cx="1848255" cy="395624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Verdana" panose="020B0604030504040204" pitchFamily="34" charset="0"/>
              </a:rPr>
              <a:t>int *p = a;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  <p:sp>
        <p:nvSpPr>
          <p:cNvPr id="13" name="内容占位符 2"/>
          <p:cNvSpPr txBox="1"/>
          <p:nvPr/>
        </p:nvSpPr>
        <p:spPr bwMode="auto">
          <a:xfrm>
            <a:off x="1500188" y="2264876"/>
            <a:ext cx="1865582" cy="39067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2000" b="1" dirty="0">
                <a:latin typeface="Verdana" panose="020B0604030504040204" pitchFamily="34" charset="0"/>
              </a:rPr>
              <a:t>inv(p, 10);</a:t>
            </a:r>
            <a:endParaRPr lang="zh-CN" altLang="en-US" sz="2000" b="1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指针与字符串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字符串及其处理</a:t>
            </a:r>
            <a:endParaRPr lang="zh-CN" altLang="en-US" dirty="0"/>
          </a:p>
        </p:txBody>
      </p:sp>
      <p:sp>
        <p:nvSpPr>
          <p:cNvPr id="4997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程序设计中字符串的处理非常有用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比如有一篇文章以文件的形式存在计算机中，如果要统计这篇文章有多少单词，或者查找有没有出现某个关键词，这就需要学习字符串的处理技术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C/C++</a:t>
            </a:r>
            <a:r>
              <a:rPr lang="zh-CN" altLang="en-US" dirty="0"/>
              <a:t>库中提供的字符串处理函数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字符数组的定义和初始化</a:t>
            </a:r>
            <a:endParaRPr lang="zh-CN" altLang="en-US"/>
          </a:p>
        </p:txBody>
      </p:sp>
      <p:sp>
        <p:nvSpPr>
          <p:cNvPr id="5007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dirty="0"/>
              <a:t>两种方法：</a:t>
            </a:r>
            <a:endParaRPr lang="zh-CN" altLang="en-US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</a:t>
            </a:r>
            <a:r>
              <a:rPr lang="zh-CN" altLang="en-US" dirty="0">
                <a:solidFill>
                  <a:srgbClr val="0099FF"/>
                </a:solidFill>
              </a:rPr>
              <a:t>最大字符数</a:t>
            </a:r>
            <a:r>
              <a:rPr lang="en-US" altLang="zh-CN" dirty="0">
                <a:solidFill>
                  <a:srgbClr val="0099FF"/>
                </a:solidFill>
              </a:rPr>
              <a:t>+1] </a:t>
            </a:r>
            <a:r>
              <a:rPr lang="en-US" altLang="zh-CN" dirty="0"/>
              <a:t>=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</a:pPr>
            <a:r>
              <a:rPr lang="en-US" altLang="zh-CN" dirty="0"/>
              <a:t>char </a:t>
            </a:r>
            <a:r>
              <a:rPr lang="zh-CN" altLang="en-US" dirty="0">
                <a:solidFill>
                  <a:schemeClr val="hlink"/>
                </a:solidFill>
              </a:rPr>
              <a:t>字符数组名</a:t>
            </a:r>
            <a:r>
              <a:rPr lang="en-US" altLang="zh-CN" dirty="0">
                <a:solidFill>
                  <a:srgbClr val="0099FF"/>
                </a:solidFill>
              </a:rPr>
              <a:t>[ ]</a:t>
            </a:r>
            <a:r>
              <a:rPr lang="en-US" altLang="zh-CN" dirty="0"/>
              <a:t> = 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zh-CN" altLang="en-US" dirty="0"/>
              <a:t>字符串</a:t>
            </a:r>
            <a:r>
              <a:rPr lang="zh-CN" altLang="en-US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90000"/>
              </a:lnSpc>
            </a:pPr>
            <a:r>
              <a:rPr lang="zh-CN" altLang="en-US" dirty="0"/>
              <a:t>例如：</a:t>
            </a:r>
            <a:endParaRPr lang="zh-CN" altLang="en-US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A[8]=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Beijing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B[10]=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include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dirty="0"/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char C[ ]=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China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en-US" altLang="zh-CN" dirty="0"/>
              <a:t>;</a:t>
            </a:r>
            <a:endParaRPr lang="en-US" altLang="zh-CN" dirty="0"/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  <p:graphicFrame>
        <p:nvGraphicFramePr>
          <p:cNvPr id="500892" name="Group 156"/>
          <p:cNvGraphicFramePr>
            <a:graphicFrameLocks noGrp="1"/>
          </p:cNvGraphicFramePr>
          <p:nvPr/>
        </p:nvGraphicFramePr>
        <p:xfrm>
          <a:off x="3886869" y="3284538"/>
          <a:ext cx="5076825" cy="1036320"/>
        </p:xfrm>
        <a:graphic>
          <a:graphicData uri="http://schemas.openxmlformats.org/drawingml/2006/table">
            <a:tbl>
              <a:tblPr/>
              <a:tblGrid>
                <a:gridCol w="563563"/>
                <a:gridCol w="563562"/>
                <a:gridCol w="565150"/>
                <a:gridCol w="565150"/>
                <a:gridCol w="561975"/>
                <a:gridCol w="565150"/>
                <a:gridCol w="565150"/>
                <a:gridCol w="563563"/>
                <a:gridCol w="563562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j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g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0891" name="Group 155"/>
          <p:cNvGraphicFramePr>
            <a:graphicFrameLocks noGrp="1"/>
          </p:cNvGraphicFramePr>
          <p:nvPr/>
        </p:nvGraphicFramePr>
        <p:xfrm>
          <a:off x="2088232" y="4579938"/>
          <a:ext cx="6875462" cy="1081088"/>
        </p:xfrm>
        <a:graphic>
          <a:graphicData uri="http://schemas.openxmlformats.org/drawingml/2006/table">
            <a:tbl>
              <a:tblPr/>
              <a:tblGrid>
                <a:gridCol w="625475"/>
                <a:gridCol w="623887"/>
                <a:gridCol w="625475"/>
                <a:gridCol w="625475"/>
                <a:gridCol w="625475"/>
                <a:gridCol w="623888"/>
                <a:gridCol w="625475"/>
                <a:gridCol w="625475"/>
                <a:gridCol w="625475"/>
                <a:gridCol w="623887"/>
                <a:gridCol w="625475"/>
              </a:tblGrid>
              <a:tr h="5413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l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u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97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00936" name="Group 200"/>
          <p:cNvGraphicFramePr>
            <a:graphicFrameLocks noGrp="1"/>
          </p:cNvGraphicFramePr>
          <p:nvPr/>
        </p:nvGraphicFramePr>
        <p:xfrm>
          <a:off x="4859338" y="5822950"/>
          <a:ext cx="3949700" cy="1036320"/>
        </p:xfrm>
        <a:graphic>
          <a:graphicData uri="http://schemas.openxmlformats.org/drawingml/2006/table">
            <a:tbl>
              <a:tblPr/>
              <a:tblGrid>
                <a:gridCol w="563562"/>
                <a:gridCol w="563563"/>
                <a:gridCol w="565150"/>
                <a:gridCol w="565150"/>
                <a:gridCol w="561975"/>
                <a:gridCol w="565150"/>
                <a:gridCol w="565150"/>
              </a:tblGrid>
              <a:tr h="5048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n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3238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0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0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00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思考？</a:t>
            </a:r>
            <a:endParaRPr lang="zh-CN" altLang="en-US" dirty="0"/>
          </a:p>
        </p:txBody>
      </p:sp>
      <p:sp>
        <p:nvSpPr>
          <p:cNvPr id="503812" name="Text Box 4"/>
          <p:cNvSpPr txBox="1">
            <a:spLocks noChangeArrowheads="1"/>
          </p:cNvSpPr>
          <p:nvPr/>
        </p:nvSpPr>
        <p:spPr bwMode="auto">
          <a:xfrm>
            <a:off x="670589" y="1018503"/>
            <a:ext cx="7407673" cy="558165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cin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&gt;&gt;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];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for (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h[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];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h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3" name="Text Box 5"/>
          <p:cNvSpPr txBox="1">
            <a:spLocks noChangeArrowheads="1"/>
          </p:cNvSpPr>
          <p:nvPr/>
        </p:nvSpPr>
        <p:spPr bwMode="auto">
          <a:xfrm>
            <a:off x="4786044" y="3988228"/>
            <a:ext cx="3600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for (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&lt;10; 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4" name="Rectangle 6"/>
          <p:cNvSpPr>
            <a:spLocks noChangeArrowheads="1"/>
          </p:cNvSpPr>
          <p:nvPr/>
        </p:nvSpPr>
        <p:spPr bwMode="auto">
          <a:xfrm>
            <a:off x="1065738" y="3194903"/>
            <a:ext cx="3167062" cy="792162"/>
          </a:xfrm>
          <a:prstGeom prst="rect">
            <a:avLst/>
          </a:prstGeom>
          <a:noFill/>
          <a:ln w="57150" algn="ctr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3815" name="Line 7"/>
          <p:cNvSpPr>
            <a:spLocks noChangeShapeType="1"/>
          </p:cNvSpPr>
          <p:nvPr/>
        </p:nvSpPr>
        <p:spPr bwMode="auto">
          <a:xfrm>
            <a:off x="4232800" y="3795347"/>
            <a:ext cx="753053" cy="457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3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0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50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4" name="Oval 6"/>
          <p:cNvSpPr>
            <a:spLocks noChangeArrowheads="1"/>
          </p:cNvSpPr>
          <p:nvPr/>
        </p:nvSpPr>
        <p:spPr bwMode="auto">
          <a:xfrm>
            <a:off x="1714444" y="3925060"/>
            <a:ext cx="1054374" cy="517731"/>
          </a:xfrm>
          <a:prstGeom prst="ellipse">
            <a:avLst/>
          </a:prstGeom>
          <a:noFill/>
          <a:ln w="381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 algn="ctr">
              <a:spcBef>
                <a:spcPct val="50000"/>
              </a:spcBef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字符指针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360" y="1485900"/>
            <a:ext cx="8043558" cy="4340968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1019646" y="392658"/>
            <a:ext cx="7848600" cy="590931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主函数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函数体开始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*p, str[] = 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"computer"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p = str;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  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指针赋值，指向字苻串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"%s\n"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p);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输出字苻串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p[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(*p)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*p;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输出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p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所指向的字符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p++;</a:t>
            </a:r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        //</a:t>
            </a:r>
            <a:r>
              <a:rPr lang="zh-CN" altLang="en-US" dirty="0">
                <a:solidFill>
                  <a:srgbClr val="008000"/>
                </a:solidFill>
                <a:latin typeface="Consolas" panose="020B0609020204030204" pitchFamily="49" charset="0"/>
              </a:rPr>
              <a:t>指针变量值加</a:t>
            </a:r>
            <a:r>
              <a:rPr lang="en-US" altLang="zh-CN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&lt;&lt; 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kumimoji="1" lang="en-US" altLang="zh-CN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 flipH="1">
            <a:off x="246172" y="1066932"/>
            <a:ext cx="677108" cy="5205852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通过字符指针访问字符串</a:t>
            </a:r>
            <a:endParaRPr kumimoji="1" lang="zh-CN" altLang="en-US" sz="32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528198" y="2321697"/>
            <a:ext cx="1784463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1" lang="en-US" altLang="zh-CN" b="1" dirty="0">
                <a:solidFill>
                  <a:srgbClr val="FF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p="computer";</a:t>
            </a:r>
            <a:r>
              <a:rPr kumimoji="1" lang="en-US" altLang="zh-CN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616786" y="1225689"/>
            <a:ext cx="809521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、对字符指针变量赋值的写法</a:t>
            </a:r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*p;			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 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*p=“computer”;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          p = “computer”;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以上两种都行。可以整体赋值。</a:t>
            </a:r>
            <a:endParaRPr kumimoji="1" lang="zh-CN" altLang="en-US" sz="2000" b="1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、对字符数组赋初值的写法</a:t>
            </a:r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as[12]=“department”;//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可以。在定义时可以整体赋值</a:t>
            </a:r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as[] =“department”;// 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可以。在定义时可以整体赋值</a:t>
            </a:r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endParaRPr kumimoji="1" lang="zh-CN" altLang="en-US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（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）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char as[12];</a:t>
            </a:r>
            <a:endParaRPr kumimoji="1" lang="en-US" altLang="zh-CN" sz="2000" b="1" dirty="0"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as = “department”;	// 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不可以！不可以整体赋值</a:t>
            </a:r>
            <a:endParaRPr kumimoji="1" lang="zh-CN" altLang="en-US" sz="2000" b="1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  <a:p>
            <a:r>
              <a:rPr kumimoji="1" lang="zh-CN" altLang="en-US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		</a:t>
            </a:r>
            <a:r>
              <a:rPr kumimoji="1" lang="en-US" altLang="zh-CN" sz="2000" b="1" dirty="0"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as[12]=“department”;     //</a:t>
            </a:r>
            <a:r>
              <a:rPr kumimoji="1" lang="zh-CN" altLang="en-US" sz="20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Arial" panose="020B0604020202020204" pitchFamily="34" charset="0"/>
              </a:rPr>
              <a:t>不可以！不可以整体赋值</a:t>
            </a:r>
            <a:endParaRPr kumimoji="1" lang="zh-CN" altLang="en-US" sz="2400" b="1" dirty="0">
              <a:solidFill>
                <a:schemeClr val="hlink"/>
              </a:solidFill>
              <a:latin typeface="Times New Roman" panose="02020603050405020304" pitchFamily="18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51587" name="Rectangle 3"/>
          <p:cNvSpPr>
            <a:spLocks noGrp="1" noRot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>
            <a:normAutofit/>
          </a:bodyPr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对字符指针和字符数组的赋值</a:t>
            </a:r>
            <a:endParaRPr lang="zh-CN" altLang="en-US" sz="36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3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字符数组的赋值</a:t>
            </a:r>
            <a:endParaRPr lang="zh-CN" altLang="en-US" dirty="0"/>
          </a:p>
        </p:txBody>
      </p:sp>
      <p:sp>
        <p:nvSpPr>
          <p:cNvPr id="5048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只能在初始化的时候给字符串整体赋值，</a:t>
            </a:r>
            <a:r>
              <a:rPr lang="zh-CN" altLang="en-US" sz="2800" dirty="0">
                <a:solidFill>
                  <a:schemeClr val="hlink"/>
                </a:solidFill>
              </a:rPr>
              <a:t>其它时候不能整体赋值，只能一个元素一个元素地赋值</a:t>
            </a:r>
            <a:endParaRPr lang="zh-CN" altLang="en-US" sz="2800" dirty="0">
              <a:solidFill>
                <a:schemeClr val="hlink"/>
              </a:solidFill>
            </a:endParaRPr>
          </a:p>
          <a:p>
            <a:endParaRPr lang="zh-CN" altLang="en-US" sz="2800" dirty="0">
              <a:solidFill>
                <a:schemeClr val="hlink"/>
              </a:solidFill>
            </a:endParaRPr>
          </a:p>
        </p:txBody>
      </p:sp>
      <p:sp>
        <p:nvSpPr>
          <p:cNvPr id="504836" name="Text Box 4"/>
          <p:cNvSpPr txBox="1">
            <a:spLocks noChangeArrowheads="1"/>
          </p:cNvSpPr>
          <p:nvPr/>
        </p:nvSpPr>
        <p:spPr bwMode="auto">
          <a:xfrm>
            <a:off x="179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h = "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";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&lt;&lt;h;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837" name="Text Box 5"/>
          <p:cNvSpPr txBox="1">
            <a:spLocks noChangeArrowheads="1"/>
          </p:cNvSpPr>
          <p:nvPr/>
        </p:nvSpPr>
        <p:spPr bwMode="auto">
          <a:xfrm>
            <a:off x="2555875" y="4868863"/>
            <a:ext cx="287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出现编译错误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！</a:t>
            </a:r>
            <a:endParaRPr kumimoji="0" lang="zh-CN" altLang="en-US" sz="2000" b="1" i="0" u="none" strike="noStrike" kern="1200" cap="none" spc="0" normalizeH="0" baseline="0" noProof="0">
              <a:ln>
                <a:noFill/>
              </a:ln>
              <a:solidFill>
                <a:srgbClr val="FFCC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4838" name="Text Box 6"/>
          <p:cNvSpPr txBox="1">
            <a:spLocks noChangeArrowheads="1"/>
          </p:cNvSpPr>
          <p:nvPr/>
        </p:nvSpPr>
        <p:spPr bwMode="auto">
          <a:xfrm>
            <a:off x="4751388" y="2708275"/>
            <a:ext cx="4392612" cy="37560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#include&lt;iostream&gt;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 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char h[ ] 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123456789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strcpy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 h,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ruc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);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&lt;&lt;h;    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4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4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4837" grpId="0"/>
      <p:bldP spid="50483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字符串处理函数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的库函数提供一组字符串处理函数</a:t>
            </a:r>
            <a:endParaRPr lang="en-US" altLang="zh-CN" dirty="0"/>
          </a:p>
          <a:p>
            <a:r>
              <a:rPr lang="zh-CN" altLang="en-US" dirty="0"/>
              <a:t>头文件：</a:t>
            </a:r>
            <a:r>
              <a:rPr lang="en-US" altLang="zh-CN" dirty="0" err="1">
                <a:solidFill>
                  <a:srgbClr val="FF0000"/>
                </a:solidFill>
              </a:rPr>
              <a:t>string.h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/>
              <a:t>常用的字符串操作函数</a:t>
            </a:r>
            <a:endParaRPr lang="en-US" altLang="zh-CN" dirty="0"/>
          </a:p>
          <a:p>
            <a:pPr lvl="1"/>
            <a:r>
              <a:rPr lang="zh-CN" altLang="en-US" dirty="0"/>
              <a:t>字符串长度：</a:t>
            </a:r>
            <a:r>
              <a:rPr lang="en-US" altLang="en-US" dirty="0" err="1">
                <a:ea typeface="华文中宋" panose="02010600040101010101" pitchFamily="2" charset="-122"/>
              </a:rPr>
              <a:t>strlen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字符串连接：</a:t>
            </a:r>
            <a:r>
              <a:rPr lang="en-US" altLang="en-US" dirty="0" err="1">
                <a:ea typeface="华文中宋" panose="02010600040101010101" pitchFamily="2" charset="-122"/>
              </a:rPr>
              <a:t>strcat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strncat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字符串比较：</a:t>
            </a:r>
            <a:r>
              <a:rPr lang="en-US" altLang="en-US" dirty="0" err="1">
                <a:ea typeface="华文中宋" panose="02010600040101010101" pitchFamily="2" charset="-122"/>
              </a:rPr>
              <a:t>strcmp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strncmp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zh-CN" dirty="0"/>
          </a:p>
          <a:p>
            <a:pPr lvl="1"/>
            <a:r>
              <a:rPr lang="zh-CN" altLang="en-US" dirty="0"/>
              <a:t>字符串拷贝：</a:t>
            </a:r>
            <a:r>
              <a:rPr lang="en-US" altLang="en-US" dirty="0">
                <a:ea typeface="华文中宋" panose="02010600040101010101" pitchFamily="2" charset="-122"/>
              </a:rPr>
              <a:t> </a:t>
            </a:r>
            <a:r>
              <a:rPr lang="en-US" altLang="en-US" dirty="0" err="1">
                <a:ea typeface="华文中宋" panose="02010600040101010101" pitchFamily="2" charset="-122"/>
              </a:rPr>
              <a:t>strcpy</a:t>
            </a:r>
            <a:r>
              <a:rPr lang="en-US" altLang="en-US" dirty="0">
                <a:ea typeface="华文中宋" panose="02010600040101010101" pitchFamily="2" charset="-122"/>
              </a:rPr>
              <a:t>(), </a:t>
            </a:r>
            <a:r>
              <a:rPr lang="en-US" altLang="en-US" dirty="0" err="1">
                <a:ea typeface="华文中宋" panose="02010600040101010101" pitchFamily="2" charset="-122"/>
              </a:rPr>
              <a:t>strncpy</a:t>
            </a:r>
            <a:r>
              <a:rPr lang="en-US" altLang="en-US" dirty="0">
                <a:ea typeface="华文中宋" panose="02010600040101010101" pitchFamily="2" charset="-122"/>
              </a:rPr>
              <a:t>() </a:t>
            </a:r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endParaRPr lang="en-US" altLang="en-US" dirty="0"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5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字符复制函数</a:t>
            </a:r>
            <a:r>
              <a:rPr lang="en-US" altLang="zh-CN" dirty="0" err="1"/>
              <a:t>strcpy</a:t>
            </a:r>
            <a:endParaRPr lang="zh-CN" altLang="en-US" dirty="0"/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考虑以下</a:t>
            </a:r>
            <a:r>
              <a:rPr lang="zh-CN" altLang="en-US" dirty="0">
                <a:solidFill>
                  <a:srgbClr val="FF0000"/>
                </a:solidFill>
              </a:rPr>
              <a:t>字符串赋值</a:t>
            </a:r>
            <a:r>
              <a:rPr lang="zh-CN" altLang="en-US" dirty="0"/>
              <a:t>问题</a:t>
            </a:r>
            <a:endParaRPr lang="en-US" altLang="zh-CN" dirty="0"/>
          </a:p>
          <a:p>
            <a:pPr lvl="1"/>
            <a:r>
              <a:rPr lang="zh-CN" altLang="en-US" dirty="0"/>
              <a:t>将指针</a:t>
            </a:r>
            <a:r>
              <a:rPr lang="en-US" altLang="zh-CN" dirty="0"/>
              <a:t>pts1</a:t>
            </a:r>
            <a:r>
              <a:rPr lang="zh-CN" altLang="en-US" dirty="0"/>
              <a:t>指向的字符串拷贝到</a:t>
            </a:r>
            <a:r>
              <a:rPr lang="en-US" altLang="zh-CN" dirty="0"/>
              <a:t>pts2</a:t>
            </a:r>
            <a:r>
              <a:rPr lang="zh-CN" altLang="en-US" dirty="0"/>
              <a:t>上</a:t>
            </a:r>
            <a:endParaRPr lang="en-US" altLang="zh-CN" dirty="0"/>
          </a:p>
          <a:p>
            <a:r>
              <a:rPr lang="zh-CN" altLang="en-US" dirty="0"/>
              <a:t>实现方法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en-US" dirty="0">
              <a:ea typeface="华文中宋" panose="02010600040101010101" pitchFamily="2" charset="-122"/>
            </a:endParaRPr>
          </a:p>
          <a:p>
            <a:pPr lvl="1"/>
            <a:r>
              <a:rPr lang="zh-CN" altLang="en-US" dirty="0"/>
              <a:t>只实现了地址的拷贝</a:t>
            </a:r>
            <a:endParaRPr lang="en-US" altLang="zh-CN" dirty="0"/>
          </a:p>
          <a:p>
            <a:pPr lvl="1"/>
            <a:r>
              <a:rPr lang="zh-CN" altLang="en-US" dirty="0"/>
              <a:t>没有实现字符串内容的拷贝</a:t>
            </a:r>
            <a:endParaRPr lang="en-US" altLang="zh-CN" dirty="0"/>
          </a:p>
          <a:p>
            <a:r>
              <a:rPr lang="zh-CN" altLang="en-US" dirty="0"/>
              <a:t>函数</a:t>
            </a:r>
            <a:r>
              <a:rPr lang="en-US" altLang="zh-CN" dirty="0" err="1"/>
              <a:t>strcpy</a:t>
            </a:r>
            <a:endParaRPr lang="en-US" altLang="zh-CN" dirty="0"/>
          </a:p>
          <a:p>
            <a:pPr lvl="1"/>
            <a:r>
              <a:rPr lang="en-US" altLang="zh-CN" dirty="0"/>
              <a:t>char * </a:t>
            </a:r>
            <a:r>
              <a:rPr lang="en-US" altLang="zh-CN" dirty="0" err="1"/>
              <a:t>strcpy</a:t>
            </a:r>
            <a:r>
              <a:rPr lang="en-US" altLang="zh-CN" dirty="0"/>
              <a:t> ( char * </a:t>
            </a:r>
            <a:r>
              <a:rPr lang="en-US" altLang="zh-CN" dirty="0" err="1"/>
              <a:t>dest</a:t>
            </a:r>
            <a:r>
              <a:rPr lang="en-US" altLang="zh-CN" dirty="0"/>
              <a:t>, const char * </a:t>
            </a:r>
            <a:r>
              <a:rPr lang="en-US" altLang="zh-CN" dirty="0" err="1"/>
              <a:t>src</a:t>
            </a:r>
            <a:r>
              <a:rPr lang="en-US" altLang="zh-CN" dirty="0"/>
              <a:t> ); </a:t>
            </a:r>
            <a:endParaRPr lang="en-US" altLang="zh-CN" dirty="0"/>
          </a:p>
          <a:p>
            <a:pPr lvl="1"/>
            <a:r>
              <a:rPr lang="zh-CN" altLang="en-US" dirty="0"/>
              <a:t>输入：两个字符串</a:t>
            </a:r>
            <a:r>
              <a:rPr lang="en-US" altLang="zh-CN" dirty="0"/>
              <a:t>str1</a:t>
            </a:r>
            <a:r>
              <a:rPr lang="zh-CN" altLang="en-US" dirty="0"/>
              <a:t>和</a:t>
            </a:r>
            <a:r>
              <a:rPr lang="en-US" altLang="zh-CN" dirty="0"/>
              <a:t>str2</a:t>
            </a:r>
            <a:endParaRPr lang="en-US" altLang="zh-CN" dirty="0"/>
          </a:p>
          <a:p>
            <a:pPr lvl="1"/>
            <a:r>
              <a:rPr lang="zh-CN" altLang="en-US" dirty="0"/>
              <a:t>输出：将</a:t>
            </a:r>
            <a:r>
              <a:rPr lang="en-US" altLang="zh-CN" dirty="0"/>
              <a:t>str2</a:t>
            </a:r>
            <a:r>
              <a:rPr lang="zh-CN" altLang="en-US" dirty="0"/>
              <a:t>拷贝到</a:t>
            </a:r>
            <a:r>
              <a:rPr lang="en-US" altLang="zh-CN" dirty="0"/>
              <a:t>str1</a:t>
            </a:r>
            <a:r>
              <a:rPr lang="zh-CN" altLang="en-US" dirty="0"/>
              <a:t>起始的位置上</a:t>
            </a:r>
            <a:endParaRPr lang="en-US" altLang="zh-CN" dirty="0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346268" y="2384785"/>
            <a:ext cx="2581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en-US" sz="2400" dirty="0">
                <a:solidFill>
                  <a:srgbClr val="770028"/>
                </a:solidFill>
                <a:latin typeface="CourierNewPSMT"/>
              </a:rPr>
              <a:t>pts2 = pts1; 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其他字符串处理库函数</a:t>
            </a:r>
            <a:endParaRPr 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略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课后了解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字符串应用举例</a:t>
            </a:r>
            <a:endParaRPr lang="zh-CN" altLang="en-US"/>
          </a:p>
        </p:txBody>
      </p:sp>
      <p:sp>
        <p:nvSpPr>
          <p:cNvPr id="518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/>
              <a:t>一辆肇事汽车的号码为</a:t>
            </a:r>
            <a:r>
              <a:rPr lang="en-US" altLang="zh-CN"/>
              <a:t>4</a:t>
            </a:r>
            <a:r>
              <a:rPr lang="zh-CN" altLang="en-US"/>
              <a:t>位十进制数：这是一个完全平方数，且数字从左到右一个比一个大。请帮助交警将车牌号算出来。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17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解题思路</a:t>
            </a:r>
            <a:endParaRPr lang="zh-CN" altLang="en-US"/>
          </a:p>
        </p:txBody>
      </p:sp>
      <p:sp>
        <p:nvSpPr>
          <p:cNvPr id="519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令 </a:t>
            </a:r>
            <a:r>
              <a:rPr lang="en-US" altLang="zh-CN" dirty="0"/>
              <a:t>n </a:t>
            </a:r>
            <a:r>
              <a:rPr lang="zh-CN" altLang="en-US" dirty="0"/>
              <a:t>为求车号，则：</a:t>
            </a:r>
            <a:endParaRPr lang="zh-CN" altLang="en-US" dirty="0"/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为 </a:t>
            </a:r>
            <a:r>
              <a:rPr lang="en-US" altLang="zh-CN" dirty="0"/>
              <a:t>4 </a:t>
            </a:r>
            <a:r>
              <a:rPr lang="zh-CN" altLang="en-US" dirty="0"/>
              <a:t>位数</a:t>
            </a:r>
            <a:endParaRPr lang="zh-CN" altLang="en-US" dirty="0"/>
          </a:p>
          <a:p>
            <a:pPr lvl="1"/>
            <a:r>
              <a:rPr lang="en-US" altLang="zh-CN" dirty="0"/>
              <a:t>n =</a:t>
            </a:r>
            <a:r>
              <a:rPr lang="en-US" altLang="zh-CN" dirty="0" err="1"/>
              <a:t>i</a:t>
            </a:r>
            <a:r>
              <a:rPr lang="en-US" altLang="zh-CN" dirty="0"/>
              <a:t>*</a:t>
            </a:r>
            <a:r>
              <a:rPr lang="en-US" altLang="zh-CN" dirty="0" err="1"/>
              <a:t>i</a:t>
            </a:r>
            <a:r>
              <a:rPr lang="en-US" altLang="zh-CN" dirty="0"/>
              <a:t>,   </a:t>
            </a:r>
            <a:r>
              <a:rPr lang="en-US" altLang="zh-CN" dirty="0" err="1"/>
              <a:t>i</a:t>
            </a:r>
            <a:r>
              <a:rPr lang="en-US" altLang="zh-CN" dirty="0"/>
              <a:t>=32,33,</a:t>
            </a:r>
            <a:r>
              <a:rPr lang="en-US" altLang="zh-CN" dirty="0">
                <a:latin typeface="Arial" panose="020B0604020202020204" pitchFamily="34" charset="0"/>
              </a:rPr>
              <a:t>…</a:t>
            </a:r>
            <a:r>
              <a:rPr lang="en-US" altLang="zh-CN" dirty="0"/>
              <a:t>,99</a:t>
            </a:r>
            <a:endParaRPr lang="en-US" altLang="zh-CN" dirty="0"/>
          </a:p>
          <a:p>
            <a:r>
              <a:rPr lang="zh-CN" altLang="en-US" dirty="0"/>
              <a:t>枚举 </a:t>
            </a:r>
            <a:r>
              <a:rPr lang="en-US" altLang="zh-CN" dirty="0" err="1"/>
              <a:t>i</a:t>
            </a:r>
            <a:r>
              <a:rPr lang="en-US" altLang="zh-CN" dirty="0"/>
              <a:t>  </a:t>
            </a:r>
            <a:r>
              <a:rPr lang="zh-CN" altLang="en-US" dirty="0"/>
              <a:t>得 </a:t>
            </a:r>
            <a:r>
              <a:rPr lang="en-US" altLang="zh-CN" dirty="0"/>
              <a:t>n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查 </a:t>
            </a:r>
            <a:r>
              <a:rPr lang="en-US" altLang="zh-CN" dirty="0">
                <a:solidFill>
                  <a:srgbClr val="C00000"/>
                </a:solidFill>
              </a:rPr>
              <a:t>n </a:t>
            </a:r>
            <a:r>
              <a:rPr lang="zh-CN" altLang="en-US" dirty="0">
                <a:solidFill>
                  <a:srgbClr val="C00000"/>
                </a:solidFill>
              </a:rPr>
              <a:t>从高位到低位，是否一个比一个小</a:t>
            </a:r>
            <a:endParaRPr lang="zh-CN" altLang="en-US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将 </a:t>
            </a:r>
            <a:r>
              <a:rPr lang="en-US" altLang="zh-CN" dirty="0"/>
              <a:t>n </a:t>
            </a:r>
            <a:r>
              <a:rPr lang="zh-CN" altLang="en-US" dirty="0"/>
              <a:t>分解为 </a:t>
            </a:r>
            <a:r>
              <a:rPr lang="en-US" altLang="zh-CN" dirty="0"/>
              <a:t>4 </a:t>
            </a:r>
            <a:r>
              <a:rPr lang="zh-CN" altLang="en-US" dirty="0"/>
              <a:t>个数字字符</a:t>
            </a:r>
            <a:endParaRPr lang="zh-CN" altLang="en-US" dirty="0"/>
          </a:p>
          <a:p>
            <a:pPr lvl="1"/>
            <a:r>
              <a:rPr lang="en-US" altLang="zh-CN" dirty="0"/>
              <a:t>char *</a:t>
            </a:r>
            <a:r>
              <a:rPr lang="en-US" altLang="zh-CN" dirty="0" err="1"/>
              <a:t>itoa</a:t>
            </a:r>
            <a:r>
              <a:rPr lang="en-US" altLang="zh-CN" dirty="0"/>
              <a:t>( 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value,char</a:t>
            </a:r>
            <a:r>
              <a:rPr lang="en-US" altLang="zh-CN" dirty="0"/>
              <a:t> *</a:t>
            </a:r>
            <a:r>
              <a:rPr lang="en-US" altLang="zh-CN" dirty="0" err="1"/>
              <a:t>string,int</a:t>
            </a:r>
            <a:r>
              <a:rPr lang="en-US" altLang="zh-CN" dirty="0"/>
              <a:t> radix)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9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9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0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例如：将十进制数转换成字符串并存入数组中</a:t>
            </a:r>
            <a:r>
              <a:rPr lang="en-US" altLang="zh-CN"/>
              <a:t>buf</a:t>
            </a:r>
            <a:r>
              <a:rPr lang="zh-CN" altLang="en-US"/>
              <a:t>中</a:t>
            </a:r>
            <a:endParaRPr lang="zh-CN" altLang="en-US"/>
          </a:p>
          <a:p>
            <a:pPr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/>
              <a:t>char buf[5];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/>
              <a:t>	itoa(n, buf, 10);</a:t>
            </a:r>
            <a:endParaRPr lang="en-US" altLang="zh-CN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/>
              <a:t>	</a:t>
            </a:r>
            <a:r>
              <a:rPr lang="zh-CN" altLang="en-US" sz="2800"/>
              <a:t>如果</a:t>
            </a:r>
            <a:r>
              <a:rPr lang="en-US" altLang="zh-CN" sz="2800"/>
              <a:t>n=1089, </a:t>
            </a:r>
            <a:r>
              <a:rPr lang="zh-CN" altLang="en-US" sz="2800"/>
              <a:t>转换后字符数组</a:t>
            </a:r>
            <a:r>
              <a:rPr lang="en-US" altLang="zh-CN" sz="2800"/>
              <a:t>buf</a:t>
            </a:r>
            <a:r>
              <a:rPr lang="zh-CN" altLang="en-US" sz="2800"/>
              <a:t>中的内容如下：</a:t>
            </a:r>
            <a:endParaRPr lang="zh-CN" altLang="en-US" sz="2800"/>
          </a:p>
        </p:txBody>
      </p:sp>
      <p:graphicFrame>
        <p:nvGraphicFramePr>
          <p:cNvPr id="520292" name="Group 100"/>
          <p:cNvGraphicFramePr>
            <a:graphicFrameLocks noGrp="1"/>
          </p:cNvGraphicFramePr>
          <p:nvPr/>
        </p:nvGraphicFramePr>
        <p:xfrm>
          <a:off x="1763713" y="4724400"/>
          <a:ext cx="3887787" cy="1152526"/>
        </p:xfrm>
        <a:graphic>
          <a:graphicData uri="http://schemas.openxmlformats.org/drawingml/2006/table">
            <a:tbl>
              <a:tblPr/>
              <a:tblGrid>
                <a:gridCol w="928687"/>
                <a:gridCol w="590550"/>
                <a:gridCol w="592138"/>
                <a:gridCol w="592137"/>
                <a:gridCol w="592138"/>
                <a:gridCol w="592137"/>
              </a:tblGrid>
              <a:tr h="576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buf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cap="flat">
                      <a:noFill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626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endParaRPr kumimoji="0" lang="en-US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sz="28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000"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defRPr b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Garamond" panose="02020404030301010803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aramond" panose="02020404030301010803" pitchFamily="18" charset="0"/>
                        <a:ea typeface="宋体" panose="02010600030101010101" pitchFamily="2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44" name="Text Box 4"/>
          <p:cNvSpPr txBox="1">
            <a:spLocks noChangeArrowheads="1"/>
          </p:cNvSpPr>
          <p:nvPr/>
        </p:nvSpPr>
        <p:spPr bwMode="auto">
          <a:xfrm>
            <a:off x="878327" y="1115692"/>
            <a:ext cx="7224814" cy="541347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 &lt;iostream&gt;//预编译命令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 &lt;cstdlib&gt;  //预编译命令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std;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 main(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)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{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char buf[5];        // 定义字符数组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int i = 0, n = 0;   // 定义两个整型变量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for (i = 32; i &lt; 100; i++)  // 枚举i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{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n = i * i;       // n是完全平方数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1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itoa(n, buf, 10);// 按位分解四位数n</a:t>
            </a:r>
            <a:endParaRPr kumimoji="1" lang="zh-CN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// 判断数字字符串buf是否从左到右一个比一个大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// 如果是，则输出n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if ((buf[0] &lt; buf[1]) &amp;&amp; (buf[1] &lt; buf[2]) &amp;&amp;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    (buf[2] &lt; buf[3]))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      cout &lt;&lt; "肇事汽车号码为" &lt;&lt; n &lt;&lt; endl;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}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return 0;</a:t>
            </a:r>
            <a:endParaRPr kumimoji="1" lang="zh-CN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参考代码</a:t>
            </a:r>
            <a:endParaRPr lang="en-US" dirty="0"/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13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字符串匹配</a:t>
            </a:r>
            <a:endParaRPr lang="zh-CN" altLang="en-US" dirty="0"/>
          </a:p>
        </p:txBody>
      </p:sp>
      <p:sp>
        <p:nvSpPr>
          <p:cNvPr id="560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读入两个字符串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，判断</a:t>
            </a:r>
            <a:r>
              <a:rPr lang="en-US" altLang="zh-CN" dirty="0"/>
              <a:t>a</a:t>
            </a:r>
            <a:r>
              <a:rPr lang="zh-CN" altLang="en-US" dirty="0"/>
              <a:t>是否是</a:t>
            </a:r>
            <a:r>
              <a:rPr lang="en-US" altLang="zh-CN" dirty="0"/>
              <a:t>b</a:t>
            </a:r>
            <a:r>
              <a:rPr lang="zh-CN" altLang="en-US" dirty="0"/>
              <a:t>的子串。如果是，计算</a:t>
            </a:r>
            <a:r>
              <a:rPr lang="en-US" altLang="zh-CN" dirty="0"/>
              <a:t>a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中出现了几次。</a:t>
            </a:r>
            <a:endParaRPr lang="zh-CN" altLang="en-US" dirty="0"/>
          </a:p>
          <a:p>
            <a:pPr lvl="1"/>
            <a:r>
              <a:rPr lang="zh-CN" altLang="en-US" dirty="0"/>
              <a:t>例如：</a:t>
            </a:r>
            <a:r>
              <a:rPr lang="en-US" altLang="zh-CN" dirty="0"/>
              <a:t>a=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aba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 </a:t>
            </a:r>
            <a:r>
              <a:rPr lang="en-US" altLang="zh-CN" dirty="0"/>
              <a:t>b=</a:t>
            </a: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ababab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，则</a:t>
            </a:r>
            <a:r>
              <a:rPr lang="en-US" altLang="zh-CN" dirty="0"/>
              <a:t>a</a:t>
            </a:r>
            <a:r>
              <a:rPr lang="zh-CN" altLang="en-US" dirty="0"/>
              <a:t>在</a:t>
            </a:r>
            <a:r>
              <a:rPr lang="en-US" altLang="zh-CN" dirty="0"/>
              <a:t>b</a:t>
            </a:r>
            <a:r>
              <a:rPr lang="zh-CN" altLang="en-US" dirty="0"/>
              <a:t>中出现了</a:t>
            </a:r>
            <a:r>
              <a:rPr lang="en-US" altLang="zh-CN" dirty="0"/>
              <a:t>2</a:t>
            </a:r>
            <a:r>
              <a:rPr lang="zh-CN" altLang="en-US" dirty="0"/>
              <a:t>次。</a:t>
            </a:r>
            <a:endParaRPr lang="zh-CN" altLang="en-US" dirty="0"/>
          </a:p>
          <a:p>
            <a:r>
              <a:rPr lang="zh-CN" altLang="en-US" dirty="0"/>
              <a:t>分析：</a:t>
            </a:r>
            <a:endParaRPr lang="zh-CN" altLang="en-US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是</a:t>
            </a:r>
            <a:r>
              <a:rPr lang="en-US" altLang="zh-CN" dirty="0"/>
              <a:t>b</a:t>
            </a:r>
            <a:r>
              <a:rPr lang="zh-CN" altLang="en-US" dirty="0"/>
              <a:t>的子串，就是说存在一个整数</a:t>
            </a:r>
            <a:r>
              <a:rPr lang="en-US" altLang="zh-CN" dirty="0" err="1"/>
              <a:t>i</a:t>
            </a:r>
            <a:r>
              <a:rPr lang="zh-CN" altLang="en-US" dirty="0"/>
              <a:t>，使得</a:t>
            </a:r>
            <a:r>
              <a:rPr lang="en-US" altLang="zh-CN" dirty="0"/>
              <a:t>a</a:t>
            </a:r>
            <a:r>
              <a:rPr lang="en-US" altLang="zh-CN" baseline="-25000" dirty="0"/>
              <a:t>0</a:t>
            </a:r>
            <a:r>
              <a:rPr lang="en-US" altLang="zh-CN" dirty="0"/>
              <a:t> = b</a:t>
            </a:r>
            <a:r>
              <a:rPr lang="en-US" altLang="zh-CN" baseline="-25000" dirty="0"/>
              <a:t>i</a:t>
            </a:r>
            <a:r>
              <a:rPr lang="en-US" altLang="zh-CN" dirty="0"/>
              <a:t>, a</a:t>
            </a:r>
            <a:r>
              <a:rPr lang="en-US" altLang="zh-CN" baseline="-25000" dirty="0"/>
              <a:t>1</a:t>
            </a:r>
            <a:r>
              <a:rPr lang="en-US" altLang="zh-CN" dirty="0"/>
              <a:t> = b</a:t>
            </a:r>
            <a:r>
              <a:rPr lang="en-US" altLang="zh-CN" baseline="-25000" dirty="0"/>
              <a:t>i+1 </a:t>
            </a:r>
            <a:r>
              <a:rPr lang="zh-CN" altLang="en-US" dirty="0"/>
              <a:t>， </a:t>
            </a:r>
            <a:r>
              <a:rPr lang="en-US" altLang="zh-CN" dirty="0"/>
              <a:t>a</a:t>
            </a:r>
            <a:r>
              <a:rPr lang="en-US" altLang="zh-CN" baseline="-25000" dirty="0"/>
              <a:t>2</a:t>
            </a:r>
            <a:r>
              <a:rPr lang="en-US" altLang="zh-CN" dirty="0"/>
              <a:t> = b</a:t>
            </a:r>
            <a:r>
              <a:rPr lang="en-US" altLang="zh-CN" baseline="-25000" dirty="0"/>
              <a:t>i+2 </a:t>
            </a:r>
            <a:r>
              <a:rPr lang="zh-CN" altLang="en-US" dirty="0"/>
              <a:t>，</a:t>
            </a:r>
            <a:r>
              <a:rPr lang="en-US" altLang="zh-CN" dirty="0">
                <a:latin typeface="Arial" panose="020B0604020202020204" pitchFamily="34" charset="0"/>
              </a:rPr>
              <a:t>……</a:t>
            </a:r>
            <a:r>
              <a:rPr lang="zh-CN" altLang="en-US" dirty="0"/>
              <a:t>， </a:t>
            </a:r>
            <a:r>
              <a:rPr lang="en-US" altLang="zh-CN" dirty="0"/>
              <a:t>a</a:t>
            </a:r>
            <a:r>
              <a:rPr lang="en-US" altLang="zh-CN" baseline="-25000" dirty="0"/>
              <a:t>la-1</a:t>
            </a:r>
            <a:r>
              <a:rPr lang="en-US" altLang="zh-CN" dirty="0"/>
              <a:t> = b</a:t>
            </a:r>
            <a:r>
              <a:rPr lang="en-US" altLang="zh-CN" baseline="-25000" dirty="0"/>
              <a:t>i+la-1 </a:t>
            </a:r>
            <a:r>
              <a:rPr lang="en-US" altLang="zh-CN" dirty="0"/>
              <a:t>( 0&lt;=</a:t>
            </a:r>
            <a:r>
              <a:rPr lang="en-US" altLang="zh-CN" dirty="0" err="1"/>
              <a:t>i</a:t>
            </a:r>
            <a:r>
              <a:rPr lang="en-US" altLang="zh-CN" dirty="0"/>
              <a:t>&lt;=</a:t>
            </a:r>
            <a:r>
              <a:rPr lang="en-US" altLang="zh-CN" dirty="0" err="1"/>
              <a:t>lb</a:t>
            </a:r>
            <a:r>
              <a:rPr lang="en-US" altLang="zh-CN" dirty="0"/>
              <a:t>-la )</a:t>
            </a:r>
            <a:r>
              <a:rPr lang="zh-CN" altLang="en-US" dirty="0"/>
              <a:t>，其中</a:t>
            </a:r>
            <a:r>
              <a:rPr lang="en-US" altLang="zh-CN" dirty="0"/>
              <a:t>la</a:t>
            </a:r>
            <a:r>
              <a:rPr lang="zh-CN" altLang="en-US" dirty="0"/>
              <a:t>表示字符串</a:t>
            </a:r>
            <a:r>
              <a:rPr lang="en-US" altLang="zh-CN" dirty="0"/>
              <a:t>a</a:t>
            </a:r>
            <a:r>
              <a:rPr lang="zh-CN" altLang="en-US" dirty="0"/>
              <a:t>的长度，</a:t>
            </a:r>
            <a:r>
              <a:rPr lang="en-US" altLang="zh-CN" dirty="0" err="1"/>
              <a:t>lb</a:t>
            </a:r>
            <a:r>
              <a:rPr lang="zh-CN" altLang="en-US" dirty="0"/>
              <a:t>表示字符串</a:t>
            </a:r>
            <a:r>
              <a:rPr lang="en-US" altLang="zh-CN" dirty="0"/>
              <a:t>b</a:t>
            </a:r>
            <a:r>
              <a:rPr lang="zh-CN" altLang="en-US" dirty="0"/>
              <a:t>的长度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0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0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r>
              <a:rPr lang="zh-CN" altLang="en-US"/>
              <a:t>解题思路</a:t>
            </a:r>
            <a:endParaRPr lang="zh-CN" altLang="en-US"/>
          </a:p>
        </p:txBody>
      </p:sp>
      <p:sp>
        <p:nvSpPr>
          <p:cNvPr id="56115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686800" cy="5257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altLang="en-US" sz="2800" dirty="0"/>
              <a:t>用</a:t>
            </a:r>
            <a:r>
              <a:rPr lang="en-US" altLang="zh-CN" sz="2800" dirty="0"/>
              <a:t>2</a:t>
            </a:r>
            <a:r>
              <a:rPr lang="zh-CN" altLang="en-US" sz="2800" dirty="0"/>
              <a:t>个字符串数组</a:t>
            </a:r>
            <a:r>
              <a:rPr lang="en-US" altLang="zh-CN" sz="2800" dirty="0"/>
              <a:t>a</a:t>
            </a:r>
            <a:r>
              <a:rPr lang="zh-CN" altLang="en-US" sz="2800" dirty="0"/>
              <a:t>和</a:t>
            </a:r>
            <a:r>
              <a:rPr lang="en-US" altLang="zh-CN" sz="2800" dirty="0"/>
              <a:t>b</a:t>
            </a:r>
            <a:r>
              <a:rPr lang="zh-CN" altLang="en-US" sz="2800" dirty="0"/>
              <a:t>表示两个字符串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用</a:t>
            </a:r>
            <a:r>
              <a:rPr lang="en-US" altLang="zh-CN" sz="2800" dirty="0" err="1"/>
              <a:t>cin</a:t>
            </a:r>
            <a:r>
              <a:rPr lang="zh-CN" altLang="en-US" sz="2800" dirty="0"/>
              <a:t>读入两个字符串的内容</a:t>
            </a:r>
            <a:endParaRPr lang="zh-CN" altLang="en-US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用循环变量</a:t>
            </a:r>
            <a:r>
              <a:rPr lang="en-US" altLang="zh-CN" sz="2800" dirty="0" err="1">
                <a:solidFill>
                  <a:schemeClr val="hlink"/>
                </a:solidFill>
              </a:rPr>
              <a:t>i</a:t>
            </a:r>
            <a:r>
              <a:rPr lang="zh-CN" altLang="en-US" sz="2800" dirty="0"/>
              <a:t>表示</a:t>
            </a:r>
            <a:r>
              <a:rPr lang="en-US" altLang="zh-CN" sz="2800" dirty="0"/>
              <a:t>a</a:t>
            </a:r>
            <a:r>
              <a:rPr lang="zh-CN" altLang="en-US" sz="2800" dirty="0"/>
              <a:t>在</a:t>
            </a:r>
            <a:r>
              <a:rPr lang="en-US" altLang="zh-CN" sz="2800" dirty="0"/>
              <a:t>b</a:t>
            </a:r>
            <a:r>
              <a:rPr lang="zh-CN" altLang="en-US" sz="2800" dirty="0"/>
              <a:t>中出现的位置，</a:t>
            </a:r>
            <a:r>
              <a:rPr lang="zh-CN" altLang="en-US" sz="2800" dirty="0">
                <a:solidFill>
                  <a:schemeClr val="hlink"/>
                </a:solidFill>
              </a:rPr>
              <a:t>让它从</a:t>
            </a:r>
            <a:r>
              <a:rPr lang="en-US" altLang="zh-CN" sz="2800" dirty="0">
                <a:solidFill>
                  <a:schemeClr val="hlink"/>
                </a:solidFill>
              </a:rPr>
              <a:t>0</a:t>
            </a:r>
            <a:r>
              <a:rPr lang="zh-CN" altLang="en-US" sz="2800" dirty="0">
                <a:solidFill>
                  <a:schemeClr val="hlink"/>
                </a:solidFill>
              </a:rPr>
              <a:t>一直循环到（</a:t>
            </a:r>
            <a:r>
              <a:rPr lang="en-US" altLang="zh-CN" sz="2800" dirty="0" err="1">
                <a:solidFill>
                  <a:schemeClr val="hlink"/>
                </a:solidFill>
              </a:rPr>
              <a:t>lb</a:t>
            </a:r>
            <a:r>
              <a:rPr lang="en-US" altLang="zh-CN" sz="2800" dirty="0">
                <a:solidFill>
                  <a:schemeClr val="hlink"/>
                </a:solidFill>
              </a:rPr>
              <a:t>-la</a:t>
            </a:r>
            <a:r>
              <a:rPr lang="zh-CN" altLang="en-US" sz="2800" dirty="0">
                <a:solidFill>
                  <a:schemeClr val="hlink"/>
                </a:solidFill>
              </a:rPr>
              <a:t>）</a:t>
            </a:r>
            <a:endParaRPr lang="zh-CN" altLang="en-US" sz="2800" dirty="0">
              <a:solidFill>
                <a:schemeClr val="hlink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/>
              <a:t>判断是否满足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0</a:t>
            </a:r>
            <a:r>
              <a:rPr lang="en-US" altLang="zh-CN" sz="2800" dirty="0"/>
              <a:t> = b</a:t>
            </a:r>
            <a:r>
              <a:rPr lang="en-US" altLang="zh-CN" sz="2800" baseline="-25000" dirty="0"/>
              <a:t>i</a:t>
            </a:r>
            <a:r>
              <a:rPr lang="en-US" altLang="zh-CN" sz="2800" dirty="0"/>
              <a:t>, a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= b</a:t>
            </a:r>
            <a:r>
              <a:rPr lang="en-US" altLang="zh-CN" sz="2800" baseline="-25000" dirty="0"/>
              <a:t>i+1 </a:t>
            </a:r>
            <a:r>
              <a:rPr lang="zh-CN" altLang="en-US" sz="2800" dirty="0"/>
              <a:t>，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= b</a:t>
            </a:r>
            <a:r>
              <a:rPr lang="en-US" altLang="zh-CN" sz="2800" baseline="-25000" dirty="0"/>
              <a:t>i+2 </a:t>
            </a:r>
            <a:r>
              <a:rPr lang="zh-CN" altLang="en-US" sz="2800" dirty="0"/>
              <a:t>，</a:t>
            </a:r>
            <a:r>
              <a:rPr lang="en-US" altLang="zh-CN" sz="2800" dirty="0">
                <a:latin typeface="Arial" panose="020B0604020202020204" pitchFamily="34" charset="0"/>
              </a:rPr>
              <a:t>……</a:t>
            </a:r>
            <a:r>
              <a:rPr lang="zh-CN" altLang="en-US" sz="2800" dirty="0"/>
              <a:t>， </a:t>
            </a:r>
            <a:r>
              <a:rPr lang="en-US" altLang="zh-CN" sz="2800" dirty="0"/>
              <a:t>a</a:t>
            </a:r>
            <a:r>
              <a:rPr lang="en-US" altLang="zh-CN" sz="2800" baseline="-25000" dirty="0"/>
              <a:t>la-1</a:t>
            </a:r>
            <a:r>
              <a:rPr lang="en-US" altLang="zh-CN" sz="2800" dirty="0"/>
              <a:t> = b</a:t>
            </a:r>
            <a:r>
              <a:rPr lang="en-US" altLang="zh-CN" sz="2800" baseline="-25000" dirty="0"/>
              <a:t>i+la-1</a:t>
            </a:r>
            <a:endParaRPr lang="en-US" altLang="zh-CN" sz="2800" baseline="-25000" dirty="0"/>
          </a:p>
          <a:p>
            <a:pPr lvl="1">
              <a:lnSpc>
                <a:spcPct val="90000"/>
              </a:lnSpc>
            </a:pPr>
            <a:r>
              <a:rPr lang="zh-CN" altLang="en-US" sz="2400" dirty="0"/>
              <a:t>用一个循环变量</a:t>
            </a:r>
            <a:r>
              <a:rPr lang="en-US" altLang="zh-CN" sz="2400" dirty="0"/>
              <a:t>j</a:t>
            </a:r>
            <a:r>
              <a:rPr lang="zh-CN" altLang="en-US" sz="2400" dirty="0"/>
              <a:t>表示待匹配的位置，从</a:t>
            </a:r>
            <a:r>
              <a:rPr lang="en-US" altLang="zh-CN" sz="2400" dirty="0"/>
              <a:t>0</a:t>
            </a:r>
            <a:r>
              <a:rPr lang="zh-CN" altLang="en-US" sz="2400" dirty="0"/>
              <a:t>一直循环到</a:t>
            </a:r>
            <a:r>
              <a:rPr lang="en-US" altLang="zh-CN" sz="2400" dirty="0"/>
              <a:t>(la-1)</a:t>
            </a:r>
            <a:r>
              <a:rPr lang="zh-CN" altLang="en-US" sz="2400" dirty="0"/>
              <a:t>，如果所有的</a:t>
            </a:r>
            <a:r>
              <a:rPr lang="en-US" altLang="zh-CN" sz="2400" dirty="0" err="1"/>
              <a:t>a</a:t>
            </a:r>
            <a:r>
              <a:rPr lang="en-US" altLang="zh-CN" sz="2400" baseline="-25000" dirty="0" err="1"/>
              <a:t>j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b</a:t>
            </a:r>
            <a:r>
              <a:rPr lang="en-US" altLang="zh-CN" sz="2400" baseline="-25000" dirty="0" err="1"/>
              <a:t>i+j</a:t>
            </a:r>
            <a:r>
              <a:rPr lang="en-US" altLang="zh-CN" sz="2400" dirty="0"/>
              <a:t> </a:t>
            </a:r>
            <a:r>
              <a:rPr lang="zh-CN" altLang="en-US" sz="2400" dirty="0"/>
              <a:t>，则说明</a:t>
            </a:r>
            <a:r>
              <a:rPr lang="en-US" altLang="zh-CN" sz="2400" dirty="0"/>
              <a:t>a</a:t>
            </a:r>
            <a:r>
              <a:rPr lang="zh-CN" altLang="en-US" sz="2400" dirty="0"/>
              <a:t>出现在从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j+1</a:t>
            </a:r>
            <a:r>
              <a:rPr lang="zh-CN" altLang="en-US" sz="2400" dirty="0"/>
              <a:t>到</a:t>
            </a:r>
            <a:r>
              <a:rPr lang="en-US" altLang="zh-CN" sz="2400" dirty="0"/>
              <a:t>b</a:t>
            </a:r>
            <a:r>
              <a:rPr lang="en-US" altLang="zh-CN" sz="2400" baseline="-25000" dirty="0"/>
              <a:t>j+la-1</a:t>
            </a:r>
            <a:r>
              <a:rPr lang="zh-CN" altLang="en-US" sz="2400" dirty="0"/>
              <a:t>的位置上</a:t>
            </a:r>
            <a:endParaRPr lang="zh-CN" altLang="en-US" sz="24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设置一个计数器</a:t>
            </a:r>
            <a:r>
              <a:rPr lang="en-US" altLang="zh-CN" sz="2800" dirty="0"/>
              <a:t>Count</a:t>
            </a:r>
            <a:r>
              <a:rPr lang="zh-CN" altLang="en-US" sz="2800" dirty="0"/>
              <a:t>，一发现</a:t>
            </a:r>
            <a:r>
              <a:rPr lang="en-US" altLang="zh-CN" sz="2800" dirty="0"/>
              <a:t>a</a:t>
            </a:r>
            <a:r>
              <a:rPr lang="zh-CN" altLang="en-US" sz="2800" dirty="0"/>
              <a:t>在</a:t>
            </a:r>
            <a:r>
              <a:rPr lang="en-US" altLang="zh-CN" sz="2800" dirty="0"/>
              <a:t>b</a:t>
            </a:r>
            <a:r>
              <a:rPr lang="zh-CN" altLang="en-US" sz="2800" dirty="0"/>
              <a:t>中出现一次，就让</a:t>
            </a:r>
            <a:r>
              <a:rPr lang="en-US" altLang="zh-CN" sz="2800" dirty="0"/>
              <a:t>Count+1</a:t>
            </a:r>
            <a:endParaRPr lang="en-US" altLang="zh-CN" sz="2800" dirty="0"/>
          </a:p>
          <a:p>
            <a:pPr>
              <a:lnSpc>
                <a:spcPct val="90000"/>
              </a:lnSpc>
            </a:pPr>
            <a:r>
              <a:rPr lang="zh-CN" altLang="en-US" sz="2800" dirty="0"/>
              <a:t>最终</a:t>
            </a:r>
            <a:r>
              <a:rPr lang="en-US" altLang="zh-CN" sz="2800" dirty="0"/>
              <a:t>Count</a:t>
            </a:r>
            <a:r>
              <a:rPr lang="zh-CN" altLang="en-US" sz="2800" dirty="0"/>
              <a:t>＝</a:t>
            </a:r>
            <a:r>
              <a:rPr lang="en-US" altLang="zh-CN" sz="2800" dirty="0"/>
              <a:t>0</a:t>
            </a:r>
            <a:r>
              <a:rPr lang="zh-CN" altLang="en-US" sz="2800" dirty="0"/>
              <a:t>，则</a:t>
            </a:r>
            <a:r>
              <a:rPr lang="en-US" altLang="zh-CN" sz="2800" dirty="0"/>
              <a:t>a</a:t>
            </a:r>
            <a:r>
              <a:rPr lang="zh-CN" altLang="en-US" sz="2800" dirty="0"/>
              <a:t>不是</a:t>
            </a:r>
            <a:r>
              <a:rPr lang="en-US" altLang="zh-CN" sz="2800" dirty="0"/>
              <a:t>b</a:t>
            </a:r>
            <a:r>
              <a:rPr lang="zh-CN" altLang="en-US" sz="2800" dirty="0"/>
              <a:t>的子串，否则输出</a:t>
            </a:r>
            <a:r>
              <a:rPr lang="en-US" altLang="zh-CN" sz="2800" dirty="0"/>
              <a:t>Count</a:t>
            </a:r>
            <a:endParaRPr lang="en-US" altLang="zh-CN" sz="2800" dirty="0"/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178" name="Text Box 2"/>
          <p:cNvSpPr txBox="1">
            <a:spLocks noChangeArrowheads="1"/>
          </p:cNvSpPr>
          <p:nvPr/>
        </p:nvSpPr>
        <p:spPr bwMode="auto">
          <a:xfrm>
            <a:off x="179388" y="0"/>
            <a:ext cx="8893175" cy="6900800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 &lt;iostream&gt;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#include &lt;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cstring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&gt;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using namespace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std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char a[100], b[100];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la,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lb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, Count;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input_data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() {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cin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&gt;&gt; a;		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读入字符串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cin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&gt;&gt; b;				 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读入字符串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void solve() {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, j;		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定义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个循环变量；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bool match;		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表示从某一个位置开始是否匹配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la =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(a); 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lb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(b);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计算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a, b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的长度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Count = 0;		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计数器清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0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for (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= 0;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&lt;=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lb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-la;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++) {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循环变量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表示起始位置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match = true;	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先假设能够匹配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for (j = 0; j &lt; la;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j++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) {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循环变量表示待匹配位置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if (a[j] != b[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+ j]) {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如果某一位置上无法匹配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	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match = false;	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		break;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跳出循环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	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	if (match) Count++;		//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如果可以匹配，则计数器加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1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79" name="Rectangle 3"/>
          <p:cNvSpPr>
            <a:spLocks noChangeArrowheads="1"/>
          </p:cNvSpPr>
          <p:nvPr/>
        </p:nvSpPr>
        <p:spPr bwMode="auto">
          <a:xfrm>
            <a:off x="1116013" y="4437063"/>
            <a:ext cx="3527425" cy="1512887"/>
          </a:xfrm>
          <a:prstGeom prst="rect">
            <a:avLst/>
          </a:prstGeom>
          <a:noFill/>
          <a:ln w="57150" algn="ctr">
            <a:solidFill>
              <a:schemeClr val="hlink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2180" name="Rectangle 4"/>
          <p:cNvSpPr>
            <a:spLocks noChangeArrowheads="1"/>
          </p:cNvSpPr>
          <p:nvPr/>
        </p:nvSpPr>
        <p:spPr bwMode="auto">
          <a:xfrm>
            <a:off x="611188" y="3933825"/>
            <a:ext cx="4248150" cy="2592388"/>
          </a:xfrm>
          <a:prstGeom prst="rect">
            <a:avLst/>
          </a:prstGeom>
          <a:noFill/>
          <a:ln w="57150" algn="ctr">
            <a:solidFill>
              <a:srgbClr val="FFFF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02" name="Rectangle 2"/>
          <p:cNvSpPr>
            <a:spLocks noChangeArrowheads="1"/>
          </p:cNvSpPr>
          <p:nvPr/>
        </p:nvSpPr>
        <p:spPr bwMode="auto">
          <a:xfrm>
            <a:off x="323850" y="476250"/>
            <a:ext cx="8640763" cy="5126038"/>
          </a:xfrm>
          <a:prstGeom prst="rect">
            <a:avLst/>
          </a:prstGeom>
          <a:noFill/>
          <a:ln w="12700" algn="ctr">
            <a:solidFill>
              <a:srgbClr val="33CCCC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void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output_data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() 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if (Count == 0)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不是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的子串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"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     else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中出现了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&lt;&lt; Count &lt;&lt;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次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"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 main() 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input_data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();		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输入数据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solve();		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解决问题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output_data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();	//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输出结果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return 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匹配函数</a:t>
            </a:r>
            <a:r>
              <a:rPr lang="en-US" altLang="zh-CN" dirty="0" err="1"/>
              <a:t>strstr</a:t>
            </a:r>
            <a:endParaRPr lang="en-US" dirty="0"/>
          </a:p>
        </p:txBody>
      </p:sp>
      <p:sp>
        <p:nvSpPr>
          <p:cNvPr id="52226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zh-CN" altLang="en-US" sz="2800"/>
              <a:t>返回</a:t>
            </a:r>
            <a:r>
              <a:rPr lang="en-US" altLang="zh-CN" sz="2800"/>
              <a:t>substr</a:t>
            </a:r>
            <a:r>
              <a:rPr lang="zh-CN" altLang="en-US" sz="2800">
                <a:solidFill>
                  <a:srgbClr val="FF0000"/>
                </a:solidFill>
              </a:rPr>
              <a:t>第一次</a:t>
            </a:r>
            <a:r>
              <a:rPr lang="zh-CN" altLang="en-US" sz="2800"/>
              <a:t>出现在</a:t>
            </a:r>
            <a:r>
              <a:rPr lang="en-US" altLang="zh-CN" sz="2800"/>
              <a:t>str</a:t>
            </a:r>
            <a:r>
              <a:rPr lang="zh-CN" altLang="en-US" sz="2800"/>
              <a:t>中的指针；如果</a:t>
            </a:r>
            <a:r>
              <a:rPr lang="en-US" altLang="zh-CN" sz="2800"/>
              <a:t>substr</a:t>
            </a:r>
            <a:r>
              <a:rPr lang="zh-CN" altLang="en-US" sz="2800"/>
              <a:t>从未出现在</a:t>
            </a:r>
            <a:r>
              <a:rPr lang="en-US" altLang="zh-CN" sz="2800"/>
              <a:t>str</a:t>
            </a:r>
            <a:r>
              <a:rPr lang="zh-CN" altLang="en-US" sz="2800"/>
              <a:t>中，返回</a:t>
            </a:r>
            <a:r>
              <a:rPr lang="en-US" altLang="zh-CN" sz="2800"/>
              <a:t>NULL</a:t>
            </a:r>
            <a:endParaRPr lang="en-US" altLang="en-US" sz="2800">
              <a:ea typeface="华文中宋" panose="02010600040101010101" pitchFamily="2" charset="-122"/>
            </a:endParaRPr>
          </a:p>
        </p:txBody>
      </p:sp>
      <p:sp>
        <p:nvSpPr>
          <p:cNvPr id="52229" name="Rectangle 6"/>
          <p:cNvSpPr>
            <a:spLocks noChangeArrowheads="1"/>
          </p:cNvSpPr>
          <p:nvPr/>
        </p:nvSpPr>
        <p:spPr bwMode="auto">
          <a:xfrm>
            <a:off x="884237" y="1289606"/>
            <a:ext cx="6624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 sz="2000" dirty="0">
                <a:solidFill>
                  <a:srgbClr val="FF0000"/>
                </a:solidFill>
              </a:rPr>
              <a:t>const char * </a:t>
            </a:r>
            <a:r>
              <a:rPr lang="en-US" altLang="en-US" sz="2000" dirty="0" err="1">
                <a:solidFill>
                  <a:srgbClr val="FF0000"/>
                </a:solidFill>
              </a:rPr>
              <a:t>strstr</a:t>
            </a:r>
            <a:r>
              <a:rPr lang="en-US" altLang="en-US" sz="2000" dirty="0">
                <a:solidFill>
                  <a:srgbClr val="FF0000"/>
                </a:solidFill>
              </a:rPr>
              <a:t> ( const char * str, const char * </a:t>
            </a:r>
            <a:r>
              <a:rPr lang="en-US" altLang="zh-CN" sz="2000" dirty="0" err="1">
                <a:solidFill>
                  <a:srgbClr val="FF0000"/>
                </a:solidFill>
              </a:rPr>
              <a:t>sub</a:t>
            </a:r>
            <a:r>
              <a:rPr lang="en-US" altLang="en-US" sz="2000" dirty="0" err="1">
                <a:solidFill>
                  <a:srgbClr val="FF0000"/>
                </a:solidFill>
              </a:rPr>
              <a:t>str</a:t>
            </a:r>
            <a:r>
              <a:rPr lang="en-US" altLang="en-US" sz="2000" dirty="0">
                <a:solidFill>
                  <a:srgbClr val="FF0000"/>
                </a:solidFill>
              </a:rPr>
              <a:t> );</a:t>
            </a:r>
            <a:endParaRPr lang="en-US" altLang="en-US" sz="2000" dirty="0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0"/>
          <a:stretch>
            <a:fillRect/>
          </a:stretch>
        </p:blipFill>
        <p:spPr bwMode="auto">
          <a:xfrm>
            <a:off x="628874" y="3311525"/>
            <a:ext cx="4416425" cy="2740025"/>
          </a:xfrm>
          <a:prstGeom prst="rect">
            <a:avLst/>
          </a:prstGeom>
          <a:noFill/>
          <a:ln>
            <a:noFill/>
          </a:ln>
          <a:effectLst>
            <a:outerShdw blurRad="190500" algn="tl" rotWithShape="0">
              <a:srgbClr val="80808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ontent Placeholder 4"/>
          <p:cNvSpPr txBox="1"/>
          <p:nvPr/>
        </p:nvSpPr>
        <p:spPr bwMode="auto">
          <a:xfrm>
            <a:off x="6084888" y="2784475"/>
            <a:ext cx="2849562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82575">
              <a:spcBef>
                <a:spcPts val="6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1pPr>
            <a:lvl2pPr marL="640080" indent="-236855">
              <a:spcBef>
                <a:spcPts val="550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800">
                <a:solidFill>
                  <a:srgbClr val="0000CC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2pPr>
            <a:lvl3pPr marL="885825" indent="-228600">
              <a:spcBef>
                <a:spcPct val="2000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3pPr>
            <a:lvl4pPr marL="1097280" indent="-173355">
              <a:spcBef>
                <a:spcPct val="20000"/>
              </a:spcBef>
              <a:buClr>
                <a:srgbClr val="9BBB59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4pPr>
            <a:lvl5pPr marL="1297305" indent="-182880">
              <a:spcBef>
                <a:spcPct val="20000"/>
              </a:spcBef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5pPr>
            <a:lvl6pPr marL="17545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6pPr>
            <a:lvl7pPr marL="22117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7pPr>
            <a:lvl8pPr marL="26689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8pPr>
            <a:lvl9pPr marL="3126105" indent="-18288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064A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Gill Sans MT" panose="020B0502020104020203" pitchFamily="34" charset="0"/>
                <a:ea typeface="华文中宋" panose="02010600040101010101" pitchFamily="2" charset="-122"/>
              </a:defRPr>
            </a:lvl9pPr>
          </a:lstStyle>
          <a:p>
            <a:endParaRPr lang="en-US" altLang="zh-CN"/>
          </a:p>
          <a:p>
            <a:r>
              <a:rPr lang="zh-CN" altLang="en-US" sz="2000"/>
              <a:t>老师没讲过怎么办？</a:t>
            </a:r>
            <a:endParaRPr lang="en-US" altLang="en-US" sz="2000">
              <a:ea typeface="宋体" panose="02010600030101010101" pitchFamily="2" charset="-122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6162675" y="3851275"/>
            <a:ext cx="284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http://www.cplusplus.com/</a:t>
            </a:r>
            <a:endParaRPr lang="en-US" altLang="en-US">
              <a:solidFill>
                <a:srgbClr val="FF0000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88" y="4581525"/>
            <a:ext cx="3051175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Callout 1 5"/>
          <p:cNvSpPr/>
          <p:nvPr/>
        </p:nvSpPr>
        <p:spPr>
          <a:xfrm>
            <a:off x="6162675" y="273050"/>
            <a:ext cx="2447925" cy="923925"/>
          </a:xfrm>
          <a:prstGeom prst="borderCallout1">
            <a:avLst>
              <a:gd name="adj1" fmla="val 48634"/>
              <a:gd name="adj2" fmla="val -22"/>
              <a:gd name="adj3" fmla="val 114774"/>
              <a:gd name="adj4" fmla="val -33188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使用</a:t>
            </a:r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const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是良好的习惯，避免字符串被意外修改！</a:t>
            </a:r>
            <a:endParaRPr lang="en-US" alt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22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字符串的</a:t>
            </a:r>
            <a:r>
              <a:rPr lang="en-US" altLang="zh-CN" dirty="0"/>
              <a:t>3</a:t>
            </a:r>
            <a:r>
              <a:rPr lang="zh-CN" altLang="en-US" dirty="0"/>
              <a:t>种操作</a:t>
            </a:r>
            <a:endParaRPr lang="zh-CN" altLang="en-US" dirty="0"/>
          </a:p>
        </p:txBody>
      </p:sp>
      <p:sp>
        <p:nvSpPr>
          <p:cNvPr id="564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字符串处理中的常用操作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取子串</a:t>
            </a:r>
            <a:r>
              <a:rPr lang="zh-CN" altLang="en-US" dirty="0"/>
              <a:t>：输入字符串、子串的起始位置、长度，输出子串内容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插入子串</a:t>
            </a:r>
            <a:r>
              <a:rPr lang="zh-CN" altLang="en-US" dirty="0"/>
              <a:t>：输入待插入字符串、目标字符串、制定位置，将待插入字符串插到目标串的制定位置前，并输出插入后的目标串</a:t>
            </a:r>
            <a:endParaRPr lang="zh-CN" altLang="en-US" dirty="0"/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删除子串</a:t>
            </a:r>
            <a:r>
              <a:rPr lang="zh-CN" altLang="en-US" dirty="0"/>
              <a:t>：输入字符串、待删除子串的起始位置和长度，从字符串中删除子串，并输出删除后的字符串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解题思路</a:t>
            </a:r>
            <a:endParaRPr lang="zh-CN" altLang="en-US"/>
          </a:p>
        </p:txBody>
      </p:sp>
      <p:sp>
        <p:nvSpPr>
          <p:cNvPr id="565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取子串</a:t>
            </a:r>
            <a:endParaRPr lang="zh-CN" altLang="en-US"/>
          </a:p>
          <a:p>
            <a:pPr lvl="1"/>
            <a:r>
              <a:rPr lang="zh-CN" altLang="en-US"/>
              <a:t>原字符串</a:t>
            </a:r>
            <a:r>
              <a:rPr lang="en-US" altLang="zh-CN"/>
              <a:t>a, </a:t>
            </a:r>
            <a:r>
              <a:rPr lang="zh-CN" altLang="en-US"/>
              <a:t>子串的起始位置</a:t>
            </a:r>
            <a:r>
              <a:rPr lang="en-US" altLang="zh-CN"/>
              <a:t>start</a:t>
            </a:r>
            <a:r>
              <a:rPr lang="zh-CN" altLang="en-US"/>
              <a:t>，子串的长度</a:t>
            </a:r>
            <a:r>
              <a:rPr lang="en-US" altLang="zh-CN"/>
              <a:t>len</a:t>
            </a:r>
            <a:endParaRPr lang="en-US" altLang="zh-CN"/>
          </a:p>
          <a:p>
            <a:pPr lvl="1"/>
            <a:r>
              <a:rPr lang="zh-CN" altLang="en-US"/>
              <a:t>字符串</a:t>
            </a:r>
            <a:r>
              <a:rPr lang="en-US" altLang="zh-CN"/>
              <a:t>ans</a:t>
            </a:r>
            <a:r>
              <a:rPr lang="zh-CN" altLang="en-US"/>
              <a:t>表示所求的子串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循环变量</a:t>
            </a:r>
            <a:r>
              <a:rPr lang="en-US" altLang="zh-CN"/>
              <a:t>i</a:t>
            </a:r>
            <a:r>
              <a:rPr lang="zh-CN" altLang="en-US"/>
              <a:t>表示当前复制的字符，让</a:t>
            </a:r>
            <a:r>
              <a:rPr lang="en-US" altLang="zh-CN"/>
              <a:t>i</a:t>
            </a:r>
            <a:r>
              <a:rPr lang="zh-CN" altLang="en-US"/>
              <a:t>从</a:t>
            </a:r>
            <a:r>
              <a:rPr lang="en-US" altLang="zh-CN"/>
              <a:t>start</a:t>
            </a:r>
            <a:r>
              <a:rPr lang="zh-CN" altLang="en-US"/>
              <a:t>循环到</a:t>
            </a:r>
            <a:r>
              <a:rPr lang="en-US" altLang="zh-CN"/>
              <a:t>start+len-1</a:t>
            </a:r>
            <a:r>
              <a:rPr lang="zh-CN" altLang="en-US"/>
              <a:t>，把</a:t>
            </a:r>
            <a:r>
              <a:rPr lang="en-US" altLang="zh-CN"/>
              <a:t>a[i]</a:t>
            </a:r>
            <a:r>
              <a:rPr lang="zh-CN" altLang="en-US"/>
              <a:t>复制到</a:t>
            </a:r>
            <a:r>
              <a:rPr lang="en-US" altLang="zh-CN"/>
              <a:t>ans[i-start]</a:t>
            </a:r>
            <a:r>
              <a:rPr lang="zh-CN" altLang="en-US"/>
              <a:t>的位置上</a:t>
            </a:r>
            <a:endParaRPr lang="zh-CN" altLang="en-US"/>
          </a:p>
          <a:p>
            <a:pPr lvl="1"/>
            <a:r>
              <a:rPr lang="en-US" altLang="zh-CN"/>
              <a:t>ans[len]=</a:t>
            </a:r>
            <a:r>
              <a:rPr lang="en-US" altLang="zh-CN">
                <a:latin typeface="Arial" panose="020B0604020202020204" pitchFamily="34" charset="0"/>
              </a:rPr>
              <a:t>‘</a:t>
            </a:r>
            <a:r>
              <a:rPr lang="en-US" altLang="zh-CN"/>
              <a:t>\0</a:t>
            </a:r>
            <a:r>
              <a:rPr lang="en-US" altLang="zh-CN">
                <a:latin typeface="Arial" panose="020B0604020202020204" pitchFamily="34" charset="0"/>
              </a:rPr>
              <a:t>’</a:t>
            </a:r>
            <a:r>
              <a:rPr lang="en-US" altLang="zh-CN"/>
              <a:t>;</a:t>
            </a:r>
            <a:endParaRPr lang="en-US" altLang="zh-CN"/>
          </a:p>
          <a:p>
            <a:pPr lvl="1"/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5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565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2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插入子串</a:t>
            </a:r>
            <a:endParaRPr lang="zh-CN" altLang="en-US"/>
          </a:p>
        </p:txBody>
      </p:sp>
      <p:sp>
        <p:nvSpPr>
          <p:cNvPr id="566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将字符串</a:t>
            </a:r>
            <a:r>
              <a:rPr lang="en-US" altLang="zh-CN" dirty="0"/>
              <a:t>a</a:t>
            </a:r>
            <a:r>
              <a:rPr lang="zh-CN" altLang="en-US" dirty="0"/>
              <a:t>插入字符串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 err="1"/>
              <a:t>pos</a:t>
            </a:r>
            <a:r>
              <a:rPr lang="zh-CN" altLang="en-US" dirty="0"/>
              <a:t>位置前，相当于将</a:t>
            </a:r>
            <a:r>
              <a:rPr lang="en-US" altLang="zh-CN" dirty="0"/>
              <a:t>b</a:t>
            </a:r>
            <a:r>
              <a:rPr lang="zh-CN" altLang="en-US" dirty="0"/>
              <a:t>分成</a:t>
            </a:r>
            <a:r>
              <a:rPr lang="en-US" altLang="zh-CN" dirty="0"/>
              <a:t>2</a:t>
            </a:r>
            <a:r>
              <a:rPr lang="zh-CN" altLang="en-US" dirty="0"/>
              <a:t>部分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和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，把</a:t>
            </a:r>
            <a:r>
              <a:rPr lang="en-US" altLang="zh-CN" dirty="0"/>
              <a:t>a</a:t>
            </a:r>
            <a:r>
              <a:rPr lang="zh-CN" altLang="en-US" dirty="0"/>
              <a:t>接在</a:t>
            </a:r>
            <a:r>
              <a:rPr lang="en-US" altLang="zh-CN" dirty="0"/>
              <a:t>b[</a:t>
            </a:r>
            <a:r>
              <a:rPr lang="en-US" altLang="zh-CN" dirty="0">
                <a:solidFill>
                  <a:schemeClr val="hlink"/>
                </a:solidFill>
              </a:rPr>
              <a:t>0</a:t>
            </a:r>
            <a:r>
              <a:rPr lang="en-US" altLang="zh-CN" dirty="0"/>
              <a:t>~</a:t>
            </a:r>
            <a:r>
              <a:rPr lang="en-US" altLang="zh-CN" dirty="0">
                <a:solidFill>
                  <a:schemeClr val="hlink"/>
                </a:solidFill>
              </a:rPr>
              <a:t>pos-1</a:t>
            </a:r>
            <a:r>
              <a:rPr lang="en-US" altLang="zh-CN" dirty="0"/>
              <a:t>]</a:t>
            </a:r>
            <a:r>
              <a:rPr lang="zh-CN" altLang="en-US" dirty="0"/>
              <a:t>之后，再把</a:t>
            </a:r>
            <a:r>
              <a:rPr lang="en-US" altLang="zh-CN" dirty="0"/>
              <a:t>b[</a:t>
            </a:r>
            <a:r>
              <a:rPr lang="en-US" altLang="zh-CN" dirty="0" err="1">
                <a:solidFill>
                  <a:schemeClr val="hlink"/>
                </a:solidFill>
              </a:rPr>
              <a:t>pos</a:t>
            </a:r>
            <a:r>
              <a:rPr lang="en-US" altLang="zh-CN" dirty="0" err="1"/>
              <a:t>~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(b)-1</a:t>
            </a:r>
            <a:r>
              <a:rPr lang="en-US" altLang="zh-CN" dirty="0"/>
              <a:t>]</a:t>
            </a:r>
            <a:r>
              <a:rPr lang="zh-CN" altLang="en-US" dirty="0"/>
              <a:t>接在</a:t>
            </a:r>
            <a:r>
              <a:rPr lang="en-US" altLang="zh-CN" dirty="0"/>
              <a:t>a</a:t>
            </a:r>
            <a:r>
              <a:rPr lang="zh-CN" altLang="en-US" dirty="0"/>
              <a:t>之后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 2"/>
          <p:cNvSpPr>
            <a:spLocks noChangeArrowheads="1"/>
          </p:cNvSpPr>
          <p:nvPr/>
        </p:nvSpPr>
        <p:spPr bwMode="auto">
          <a:xfrm>
            <a:off x="1547813" y="2114550"/>
            <a:ext cx="6337300" cy="622300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299" name="Line 3"/>
          <p:cNvSpPr>
            <a:spLocks noChangeShapeType="1"/>
          </p:cNvSpPr>
          <p:nvPr/>
        </p:nvSpPr>
        <p:spPr bwMode="auto">
          <a:xfrm>
            <a:off x="5005388" y="211455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0" name="Line 4"/>
          <p:cNvSpPr>
            <a:spLocks noChangeShapeType="1"/>
          </p:cNvSpPr>
          <p:nvPr/>
        </p:nvSpPr>
        <p:spPr bwMode="auto">
          <a:xfrm>
            <a:off x="5508625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1" name="Line 5"/>
          <p:cNvSpPr>
            <a:spLocks noChangeShapeType="1"/>
          </p:cNvSpPr>
          <p:nvPr/>
        </p:nvSpPr>
        <p:spPr bwMode="auto">
          <a:xfrm>
            <a:off x="6013450" y="2114550"/>
            <a:ext cx="0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2" name="Line 6"/>
          <p:cNvSpPr>
            <a:spLocks noChangeShapeType="1"/>
          </p:cNvSpPr>
          <p:nvPr/>
        </p:nvSpPr>
        <p:spPr bwMode="auto">
          <a:xfrm>
            <a:off x="5005388" y="2184400"/>
            <a:ext cx="0" cy="5524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3" name="Line 7"/>
          <p:cNvSpPr>
            <a:spLocks noChangeShapeType="1"/>
          </p:cNvSpPr>
          <p:nvPr/>
        </p:nvSpPr>
        <p:spPr bwMode="auto">
          <a:xfrm>
            <a:off x="15478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4" name="Line 8"/>
          <p:cNvSpPr>
            <a:spLocks noChangeShapeType="1"/>
          </p:cNvSpPr>
          <p:nvPr/>
        </p:nvSpPr>
        <p:spPr bwMode="auto">
          <a:xfrm>
            <a:off x="5508625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5" name="Line 9"/>
          <p:cNvSpPr>
            <a:spLocks noChangeShapeType="1"/>
          </p:cNvSpPr>
          <p:nvPr/>
        </p:nvSpPr>
        <p:spPr bwMode="auto">
          <a:xfrm>
            <a:off x="7885113" y="1562100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6" name="Line 10"/>
          <p:cNvSpPr>
            <a:spLocks noChangeShapeType="1"/>
          </p:cNvSpPr>
          <p:nvPr/>
        </p:nvSpPr>
        <p:spPr bwMode="auto">
          <a:xfrm>
            <a:off x="1619250" y="1770063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7" name="Text Box 11"/>
          <p:cNvSpPr txBox="1">
            <a:spLocks noChangeArrowheads="1"/>
          </p:cNvSpPr>
          <p:nvPr/>
        </p:nvSpPr>
        <p:spPr bwMode="auto">
          <a:xfrm>
            <a:off x="2771775" y="1341438"/>
            <a:ext cx="13684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8" name="Line 12"/>
          <p:cNvSpPr>
            <a:spLocks noChangeShapeType="1"/>
          </p:cNvSpPr>
          <p:nvPr/>
        </p:nvSpPr>
        <p:spPr bwMode="auto">
          <a:xfrm>
            <a:off x="5508625" y="1757363"/>
            <a:ext cx="23034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09" name="Text Box 13"/>
          <p:cNvSpPr txBox="1">
            <a:spLocks noChangeArrowheads="1"/>
          </p:cNvSpPr>
          <p:nvPr/>
        </p:nvSpPr>
        <p:spPr bwMode="auto">
          <a:xfrm>
            <a:off x="5724525" y="1341438"/>
            <a:ext cx="1944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(b)-</a:t>
            </a: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0" name="Line 14"/>
          <p:cNvSpPr>
            <a:spLocks noChangeShapeType="1"/>
          </p:cNvSpPr>
          <p:nvPr/>
        </p:nvSpPr>
        <p:spPr bwMode="auto">
          <a:xfrm flipV="1">
            <a:off x="5221288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1" name="Line 15"/>
          <p:cNvSpPr>
            <a:spLocks noChangeShapeType="1"/>
          </p:cNvSpPr>
          <p:nvPr/>
        </p:nvSpPr>
        <p:spPr bwMode="auto">
          <a:xfrm flipV="1">
            <a:off x="5797550" y="2516188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2" name="Text Box 16"/>
          <p:cNvSpPr txBox="1">
            <a:spLocks noChangeArrowheads="1"/>
          </p:cNvSpPr>
          <p:nvPr/>
        </p:nvSpPr>
        <p:spPr bwMode="auto">
          <a:xfrm>
            <a:off x="4356100" y="3136900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pos-1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3" name="Text Box 17"/>
          <p:cNvSpPr txBox="1">
            <a:spLocks noChangeArrowheads="1"/>
          </p:cNvSpPr>
          <p:nvPr/>
        </p:nvSpPr>
        <p:spPr bwMode="auto">
          <a:xfrm>
            <a:off x="5437188" y="3136900"/>
            <a:ext cx="792162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14" name="Text Box 18"/>
          <p:cNvSpPr txBox="1">
            <a:spLocks noChangeArrowheads="1"/>
          </p:cNvSpPr>
          <p:nvPr/>
        </p:nvSpPr>
        <p:spPr bwMode="auto">
          <a:xfrm>
            <a:off x="971550" y="2170113"/>
            <a:ext cx="7921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b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7315" name="Group 19"/>
          <p:cNvGrpSpPr/>
          <p:nvPr/>
        </p:nvGrpSpPr>
        <p:grpSpPr bwMode="auto">
          <a:xfrm>
            <a:off x="1549400" y="2135196"/>
            <a:ext cx="3960813" cy="622301"/>
            <a:chOff x="884" y="3113"/>
            <a:chExt cx="2495" cy="392"/>
          </a:xfrm>
        </p:grpSpPr>
        <p:sp>
          <p:nvSpPr>
            <p:cNvPr id="567316" name="Rectangle 20"/>
            <p:cNvSpPr>
              <a:spLocks noChangeArrowheads="1"/>
            </p:cNvSpPr>
            <p:nvPr/>
          </p:nvSpPr>
          <p:spPr bwMode="auto">
            <a:xfrm>
              <a:off x="884" y="311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7317" name="Line 21"/>
            <p:cNvSpPr>
              <a:spLocks noChangeShapeType="1"/>
            </p:cNvSpPr>
            <p:nvPr/>
          </p:nvSpPr>
          <p:spPr bwMode="auto">
            <a:xfrm>
              <a:off x="3061" y="311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7318" name="Group 22"/>
          <p:cNvGrpSpPr/>
          <p:nvPr/>
        </p:nvGrpSpPr>
        <p:grpSpPr bwMode="auto">
          <a:xfrm>
            <a:off x="5510213" y="2133600"/>
            <a:ext cx="2374900" cy="649288"/>
            <a:chOff x="3425" y="2976"/>
            <a:chExt cx="1496" cy="409"/>
          </a:xfrm>
        </p:grpSpPr>
        <p:sp>
          <p:nvSpPr>
            <p:cNvPr id="567319" name="Rectangle 23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7320" name="Line 24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7321" name="Group 25"/>
          <p:cNvGrpSpPr/>
          <p:nvPr/>
        </p:nvGrpSpPr>
        <p:grpSpPr bwMode="auto">
          <a:xfrm>
            <a:off x="3779838" y="3933825"/>
            <a:ext cx="2592387" cy="1582738"/>
            <a:chOff x="2381" y="2478"/>
            <a:chExt cx="1633" cy="997"/>
          </a:xfrm>
        </p:grpSpPr>
        <p:grpSp>
          <p:nvGrpSpPr>
            <p:cNvPr id="567322" name="Group 26"/>
            <p:cNvGrpSpPr/>
            <p:nvPr/>
          </p:nvGrpSpPr>
          <p:grpSpPr bwMode="auto">
            <a:xfrm>
              <a:off x="2381" y="3113"/>
              <a:ext cx="1633" cy="362"/>
              <a:chOff x="2381" y="3113"/>
              <a:chExt cx="1633" cy="362"/>
            </a:xfrm>
          </p:grpSpPr>
          <p:sp>
            <p:nvSpPr>
              <p:cNvPr id="567323" name="Rectangle 27"/>
              <p:cNvSpPr>
                <a:spLocks noChangeArrowheads="1"/>
              </p:cNvSpPr>
              <p:nvPr/>
            </p:nvSpPr>
            <p:spPr bwMode="auto">
              <a:xfrm>
                <a:off x="2789" y="3113"/>
                <a:ext cx="1225" cy="362"/>
              </a:xfrm>
              <a:prstGeom prst="rect">
                <a:avLst/>
              </a:prstGeom>
              <a:noFill/>
              <a:ln w="57150" algn="ctr">
                <a:solidFill>
                  <a:schemeClr val="tx1"/>
                </a:solidFill>
                <a:miter lim="800000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67324" name="Text Box 28"/>
              <p:cNvSpPr txBox="1">
                <a:spLocks noChangeArrowheads="1"/>
              </p:cNvSpPr>
              <p:nvPr/>
            </p:nvSpPr>
            <p:spPr bwMode="auto">
              <a:xfrm>
                <a:off x="2381" y="3113"/>
                <a:ext cx="453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99FF"/>
                    </a:solidFill>
                    <a:effectLst/>
                    <a:uLnTx/>
                    <a:uFillTx/>
                    <a:latin typeface="Garamond" panose="02020404030301010803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  <a:endPara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99FF"/>
                  </a:solidFill>
                  <a:effectLst/>
                  <a:uLnTx/>
                  <a:uFillTx/>
                  <a:latin typeface="Garamond" panose="02020404030301010803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67325" name="AutoShape 29"/>
            <p:cNvSpPr>
              <a:spLocks noChangeArrowheads="1"/>
            </p:cNvSpPr>
            <p:nvPr/>
          </p:nvSpPr>
          <p:spPr bwMode="auto">
            <a:xfrm>
              <a:off x="3288" y="2478"/>
              <a:ext cx="318" cy="499"/>
            </a:xfrm>
            <a:prstGeom prst="upArrow">
              <a:avLst>
                <a:gd name="adj1" fmla="val 50000"/>
                <a:gd name="adj2" fmla="val 39230"/>
              </a:avLst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571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67326" name="Line 30"/>
          <p:cNvSpPr>
            <a:spLocks noChangeShapeType="1"/>
          </p:cNvSpPr>
          <p:nvPr/>
        </p:nvSpPr>
        <p:spPr bwMode="auto">
          <a:xfrm flipV="1">
            <a:off x="3924300" y="4221163"/>
            <a:ext cx="0" cy="6905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27" name="Text Box 31"/>
          <p:cNvSpPr txBox="1">
            <a:spLocks noChangeArrowheads="1"/>
          </p:cNvSpPr>
          <p:nvPr/>
        </p:nvSpPr>
        <p:spPr bwMode="auto">
          <a:xfrm>
            <a:off x="3059113" y="4841875"/>
            <a:ext cx="1225550" cy="45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pos-1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28" name="Line 32"/>
          <p:cNvSpPr>
            <a:spLocks noChangeShapeType="1"/>
          </p:cNvSpPr>
          <p:nvPr/>
        </p:nvSpPr>
        <p:spPr bwMode="auto">
          <a:xfrm flipV="1">
            <a:off x="7019925" y="4149725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7329" name="Text Box 33"/>
          <p:cNvSpPr txBox="1">
            <a:spLocks noChangeArrowheads="1"/>
          </p:cNvSpPr>
          <p:nvPr/>
        </p:nvSpPr>
        <p:spPr bwMode="auto">
          <a:xfrm>
            <a:off x="6659563" y="4770438"/>
            <a:ext cx="792162" cy="45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pos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9.24855E-7 C -0.00053 0.06058 -0.0007 0.12139 0.02152 0.15954 C 0.04392 0.19792 0.08993 0.21318 0.13593 0.22936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567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53" y="1146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2.94798E-6 C 0.00469 0.04486 0.00955 0.08971 -0.01441 0.12717 C -0.03836 0.16416 -0.0908 0.19376 -0.14323 0.22382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5673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84" y="1119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67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67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567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7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567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327" grpId="0"/>
      <p:bldP spid="56732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具体操作</a:t>
            </a:r>
            <a:endParaRPr lang="zh-CN" altLang="en-US"/>
          </a:p>
        </p:txBody>
      </p:sp>
      <p:sp>
        <p:nvSpPr>
          <p:cNvPr id="568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定义一个字符串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zh-CN" altLang="en-US" dirty="0"/>
              <a:t>存放插入后的字符串</a:t>
            </a:r>
            <a:endParaRPr lang="zh-CN" altLang="en-US" dirty="0"/>
          </a:p>
          <a:p>
            <a:r>
              <a:rPr lang="en-US" altLang="zh-CN" dirty="0" err="1"/>
              <a:t>ans</a:t>
            </a:r>
            <a:r>
              <a:rPr lang="en-US" altLang="zh-CN" dirty="0"/>
              <a:t> = </a:t>
            </a:r>
            <a:r>
              <a:rPr lang="en-US" altLang="zh-CN" dirty="0" err="1"/>
              <a:t>Substr</a:t>
            </a:r>
            <a:r>
              <a:rPr lang="en-US" altLang="zh-CN" dirty="0"/>
              <a:t>(b, 0, pos)</a:t>
            </a:r>
            <a:r>
              <a:rPr lang="zh-CN" altLang="en-US" dirty="0"/>
              <a:t>，直接调用取子串的函数</a:t>
            </a:r>
            <a:endParaRPr lang="zh-CN" altLang="en-US" dirty="0"/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a), </a:t>
            </a:r>
            <a:r>
              <a:rPr lang="zh-CN" altLang="en-US" dirty="0"/>
              <a:t>调用函数将</a:t>
            </a:r>
            <a:r>
              <a:rPr lang="en-US" altLang="zh-CN" dirty="0"/>
              <a:t>a</a:t>
            </a:r>
            <a:r>
              <a:rPr lang="zh-CN" altLang="en-US" dirty="0"/>
              <a:t>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  <a:endParaRPr lang="zh-CN" altLang="en-US" dirty="0"/>
          </a:p>
          <a:p>
            <a:r>
              <a:rPr lang="en-US" altLang="zh-CN" dirty="0" err="1">
                <a:solidFill>
                  <a:schemeClr val="hlink"/>
                </a:solidFill>
              </a:rPr>
              <a:t>strcat</a:t>
            </a:r>
            <a:r>
              <a:rPr lang="en-US" altLang="zh-CN" dirty="0"/>
              <a:t>(</a:t>
            </a:r>
            <a:r>
              <a:rPr lang="en-US" altLang="zh-CN" dirty="0" err="1"/>
              <a:t>ans</a:t>
            </a:r>
            <a:r>
              <a:rPr lang="en-US" altLang="zh-CN" dirty="0"/>
              <a:t>, </a:t>
            </a:r>
            <a:r>
              <a:rPr lang="en-US" altLang="zh-CN" dirty="0" err="1"/>
              <a:t>Substr</a:t>
            </a:r>
            <a:r>
              <a:rPr lang="en-US" altLang="zh-CN" dirty="0"/>
              <a:t>(b, pos, </a:t>
            </a:r>
            <a:r>
              <a:rPr lang="en-US" altLang="zh-CN" dirty="0" err="1"/>
              <a:t>strlen</a:t>
            </a:r>
            <a:r>
              <a:rPr lang="en-US" altLang="zh-CN" dirty="0"/>
              <a:t>(b)-pos))</a:t>
            </a:r>
            <a:r>
              <a:rPr lang="zh-CN" altLang="en-US" dirty="0"/>
              <a:t>，把</a:t>
            </a:r>
            <a:r>
              <a:rPr lang="en-US" altLang="zh-CN" dirty="0"/>
              <a:t>b</a:t>
            </a:r>
            <a:r>
              <a:rPr lang="zh-CN" altLang="en-US" dirty="0"/>
              <a:t>的后半部分赋值到</a:t>
            </a:r>
            <a:r>
              <a:rPr lang="en-US" altLang="zh-CN" dirty="0" err="1"/>
              <a:t>ans</a:t>
            </a:r>
            <a:r>
              <a:rPr lang="zh-CN" altLang="en-US" dirty="0"/>
              <a:t>后面</a:t>
            </a:r>
            <a:endParaRPr lang="zh-CN" altLang="en-US" dirty="0"/>
          </a:p>
          <a:p>
            <a:r>
              <a:rPr lang="en-US" altLang="zh-CN" dirty="0" err="1"/>
              <a:t>ans</a:t>
            </a:r>
            <a:r>
              <a:rPr lang="zh-CN" altLang="en-US" dirty="0"/>
              <a:t>就是插入后的结果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Rounded Rectangular Callout 1"/>
          <p:cNvSpPr/>
          <p:nvPr/>
        </p:nvSpPr>
        <p:spPr>
          <a:xfrm>
            <a:off x="4176713" y="274638"/>
            <a:ext cx="2016125" cy="647700"/>
          </a:xfrm>
          <a:prstGeom prst="wedgeRoundRectCallout">
            <a:avLst>
              <a:gd name="adj1" fmla="val -112666"/>
              <a:gd name="adj2" fmla="val 1931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C</a:t>
            </a:r>
            <a:r>
              <a:rPr lang="zh-CN" altLang="en-US">
                <a:solidFill>
                  <a:srgbClr val="FFFFFF"/>
                </a:solidFill>
                <a:latin typeface="Gill Sans MT" panose="020B0502020104020203" pitchFamily="34" charset="0"/>
                <a:ea typeface="华文中宋" panose="02010600040101010101" pitchFamily="2" charset="-122"/>
              </a:rPr>
              <a:t>的标准库中没有</a:t>
            </a:r>
            <a:endParaRPr lang="en-US" altLang="en-US">
              <a:solidFill>
                <a:srgbClr val="FFFFFF"/>
              </a:solidFill>
              <a:latin typeface="Gill Sans MT" panose="020B0502020104020203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删除子串</a:t>
            </a:r>
            <a:endParaRPr lang="zh-CN" altLang="en-US"/>
          </a:p>
        </p:txBody>
      </p:sp>
      <p:sp>
        <p:nvSpPr>
          <p:cNvPr id="5693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把字符串</a:t>
            </a:r>
            <a:r>
              <a:rPr lang="en-US" altLang="zh-CN" dirty="0"/>
              <a:t>a</a:t>
            </a:r>
            <a:r>
              <a:rPr lang="zh-CN" altLang="en-US" dirty="0"/>
              <a:t>当中从</a:t>
            </a:r>
            <a:r>
              <a:rPr lang="en-US" altLang="zh-CN" dirty="0"/>
              <a:t>start</a:t>
            </a:r>
            <a:r>
              <a:rPr lang="zh-CN" altLang="en-US" dirty="0"/>
              <a:t>开始，长为</a:t>
            </a:r>
            <a:r>
              <a:rPr lang="en-US" altLang="zh-CN" dirty="0" err="1"/>
              <a:t>len</a:t>
            </a:r>
            <a:r>
              <a:rPr lang="zh-CN" altLang="en-US" dirty="0"/>
              <a:t>的一段删除，相当于把</a:t>
            </a:r>
            <a:r>
              <a:rPr lang="en-US" altLang="zh-CN" dirty="0"/>
              <a:t>a</a:t>
            </a:r>
            <a:r>
              <a:rPr lang="zh-CN" altLang="en-US" dirty="0"/>
              <a:t>分成</a:t>
            </a:r>
            <a:r>
              <a:rPr lang="en-US" altLang="zh-CN" dirty="0"/>
              <a:t>3</a:t>
            </a:r>
            <a:r>
              <a:rPr lang="zh-CN" altLang="en-US" dirty="0"/>
              <a:t>部分，</a:t>
            </a:r>
            <a:r>
              <a:rPr lang="en-US" altLang="zh-CN" dirty="0">
                <a:solidFill>
                  <a:schemeClr val="hlink"/>
                </a:solidFill>
              </a:rPr>
              <a:t>a[0~start-1]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a[start~start+len-1]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hlink"/>
                </a:solidFill>
              </a:rPr>
              <a:t>a[start+len-1 ~ </a:t>
            </a:r>
            <a:r>
              <a:rPr lang="en-US" altLang="zh-CN" dirty="0" err="1">
                <a:solidFill>
                  <a:schemeClr val="hlink"/>
                </a:solidFill>
              </a:rPr>
              <a:t>strlen</a:t>
            </a:r>
            <a:r>
              <a:rPr lang="en-US" altLang="zh-CN" dirty="0">
                <a:solidFill>
                  <a:schemeClr val="hlink"/>
                </a:solidFill>
              </a:rPr>
              <a:t>(a)-1]</a:t>
            </a:r>
            <a:r>
              <a:rPr lang="en-US" altLang="zh-CN" dirty="0"/>
              <a:t>, </a:t>
            </a:r>
            <a:r>
              <a:rPr lang="zh-CN" altLang="en-US" dirty="0"/>
              <a:t>并且只保留第</a:t>
            </a:r>
            <a:r>
              <a:rPr lang="en-US" altLang="zh-CN" dirty="0"/>
              <a:t>1</a:t>
            </a:r>
            <a:r>
              <a:rPr lang="zh-CN" altLang="en-US" dirty="0"/>
              <a:t>段和第</a:t>
            </a:r>
            <a:r>
              <a:rPr lang="en-US" altLang="zh-CN" dirty="0"/>
              <a:t>3</a:t>
            </a:r>
            <a:r>
              <a:rPr lang="zh-CN" altLang="en-US" dirty="0"/>
              <a:t>段，即将这两段相连。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569348" name="Line 4"/>
          <p:cNvSpPr>
            <a:spLocks noChangeShapeType="1"/>
          </p:cNvSpPr>
          <p:nvPr/>
        </p:nvSpPr>
        <p:spPr bwMode="auto">
          <a:xfrm>
            <a:off x="827088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49" name="Line 5"/>
          <p:cNvSpPr>
            <a:spLocks noChangeShapeType="1"/>
          </p:cNvSpPr>
          <p:nvPr/>
        </p:nvSpPr>
        <p:spPr bwMode="auto">
          <a:xfrm>
            <a:off x="4787900" y="449572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0" name="Line 6"/>
          <p:cNvSpPr>
            <a:spLocks noChangeShapeType="1"/>
          </p:cNvSpPr>
          <p:nvPr/>
        </p:nvSpPr>
        <p:spPr bwMode="auto">
          <a:xfrm>
            <a:off x="8677275" y="4514776"/>
            <a:ext cx="0" cy="1382712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1" name="Line 7"/>
          <p:cNvSpPr>
            <a:spLocks noChangeShapeType="1"/>
          </p:cNvSpPr>
          <p:nvPr/>
        </p:nvSpPr>
        <p:spPr bwMode="auto">
          <a:xfrm>
            <a:off x="898525" y="4703688"/>
            <a:ext cx="38179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2" name="Text Box 8"/>
          <p:cNvSpPr txBox="1">
            <a:spLocks noChangeArrowheads="1"/>
          </p:cNvSpPr>
          <p:nvPr/>
        </p:nvSpPr>
        <p:spPr bwMode="auto">
          <a:xfrm>
            <a:off x="2051050" y="4275063"/>
            <a:ext cx="13684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start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3" name="Line 9"/>
          <p:cNvSpPr>
            <a:spLocks noChangeShapeType="1"/>
          </p:cNvSpPr>
          <p:nvPr/>
        </p:nvSpPr>
        <p:spPr bwMode="auto">
          <a:xfrm>
            <a:off x="6300788" y="4710038"/>
            <a:ext cx="23034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4" name="Text Box 10"/>
          <p:cNvSpPr txBox="1">
            <a:spLocks noChangeArrowheads="1"/>
          </p:cNvSpPr>
          <p:nvPr/>
        </p:nvSpPr>
        <p:spPr bwMode="auto">
          <a:xfrm>
            <a:off x="6156325" y="4327451"/>
            <a:ext cx="26273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strlen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(a)-start-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len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5" name="Line 11"/>
          <p:cNvSpPr>
            <a:spLocks noChangeShapeType="1"/>
          </p:cNvSpPr>
          <p:nvPr/>
        </p:nvSpPr>
        <p:spPr bwMode="auto">
          <a:xfrm flipV="1">
            <a:off x="50768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6" name="Line 12"/>
          <p:cNvSpPr>
            <a:spLocks noChangeShapeType="1"/>
          </p:cNvSpPr>
          <p:nvPr/>
        </p:nvSpPr>
        <p:spPr bwMode="auto">
          <a:xfrm flipV="1">
            <a:off x="6588125" y="5373613"/>
            <a:ext cx="0" cy="6905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57" name="Text Box 13"/>
          <p:cNvSpPr txBox="1">
            <a:spLocks noChangeArrowheads="1"/>
          </p:cNvSpPr>
          <p:nvPr/>
        </p:nvSpPr>
        <p:spPr bwMode="auto">
          <a:xfrm>
            <a:off x="0" y="5084688"/>
            <a:ext cx="7921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9358" name="Group 14"/>
          <p:cNvGrpSpPr/>
          <p:nvPr/>
        </p:nvGrpSpPr>
        <p:grpSpPr bwMode="auto">
          <a:xfrm>
            <a:off x="827088" y="5086276"/>
            <a:ext cx="3960812" cy="622300"/>
            <a:chOff x="521" y="3023"/>
            <a:chExt cx="2495" cy="392"/>
          </a:xfrm>
        </p:grpSpPr>
        <p:sp>
          <p:nvSpPr>
            <p:cNvPr id="569359" name="Rectangle 15"/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60" name="Line 16"/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9361" name="Group 17"/>
          <p:cNvGrpSpPr/>
          <p:nvPr/>
        </p:nvGrpSpPr>
        <p:grpSpPr bwMode="auto">
          <a:xfrm>
            <a:off x="6300788" y="5086276"/>
            <a:ext cx="2374900" cy="649287"/>
            <a:chOff x="3425" y="2976"/>
            <a:chExt cx="1496" cy="409"/>
          </a:xfrm>
        </p:grpSpPr>
        <p:sp>
          <p:nvSpPr>
            <p:cNvPr id="569362" name="Rectangle 18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63" name="Line 19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569364" name="Rectangle 20"/>
          <p:cNvSpPr>
            <a:spLocks noChangeArrowheads="1"/>
          </p:cNvSpPr>
          <p:nvPr/>
        </p:nvSpPr>
        <p:spPr bwMode="auto">
          <a:xfrm>
            <a:off x="4787900" y="5086276"/>
            <a:ext cx="1498600" cy="617537"/>
          </a:xfrm>
          <a:prstGeom prst="rect">
            <a:avLst/>
          </a:prstGeom>
          <a:noFill/>
          <a:ln w="57150" algn="ctr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5" name="Line 21"/>
          <p:cNvSpPr>
            <a:spLocks noChangeShapeType="1"/>
          </p:cNvSpPr>
          <p:nvPr/>
        </p:nvSpPr>
        <p:spPr bwMode="auto">
          <a:xfrm>
            <a:off x="5292725" y="5086276"/>
            <a:ext cx="1588" cy="6223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6" name="Line 22"/>
          <p:cNvSpPr>
            <a:spLocks noChangeShapeType="1"/>
          </p:cNvSpPr>
          <p:nvPr/>
        </p:nvSpPr>
        <p:spPr bwMode="auto">
          <a:xfrm>
            <a:off x="6300788" y="4294113"/>
            <a:ext cx="0" cy="1382713"/>
          </a:xfrm>
          <a:prstGeom prst="line">
            <a:avLst/>
          </a:prstGeom>
          <a:noFill/>
          <a:ln w="28575">
            <a:solidFill>
              <a:srgbClr val="0099FF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7" name="Line 23"/>
          <p:cNvSpPr>
            <a:spLocks noChangeShapeType="1"/>
          </p:cNvSpPr>
          <p:nvPr/>
        </p:nvSpPr>
        <p:spPr bwMode="auto">
          <a:xfrm>
            <a:off x="4787900" y="4710038"/>
            <a:ext cx="1728788" cy="15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stealth" w="med" len="med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8" name="Text Box 24"/>
          <p:cNvSpPr txBox="1">
            <a:spLocks noChangeArrowheads="1"/>
          </p:cNvSpPr>
          <p:nvPr/>
        </p:nvSpPr>
        <p:spPr bwMode="auto">
          <a:xfrm>
            <a:off x="5219700" y="4221088"/>
            <a:ext cx="647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len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9369" name="Text Box 25"/>
          <p:cNvSpPr txBox="1">
            <a:spLocks noChangeArrowheads="1"/>
          </p:cNvSpPr>
          <p:nvPr/>
        </p:nvSpPr>
        <p:spPr bwMode="auto">
          <a:xfrm>
            <a:off x="502444" y="6103143"/>
            <a:ext cx="7921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0099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ans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99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69370" name="Group 26"/>
          <p:cNvGrpSpPr/>
          <p:nvPr/>
        </p:nvGrpSpPr>
        <p:grpSpPr bwMode="auto">
          <a:xfrm>
            <a:off x="827088" y="5084688"/>
            <a:ext cx="3960812" cy="622300"/>
            <a:chOff x="521" y="3023"/>
            <a:chExt cx="2495" cy="392"/>
          </a:xfrm>
        </p:grpSpPr>
        <p:sp>
          <p:nvSpPr>
            <p:cNvPr id="569371" name="Rectangle 27"/>
            <p:cNvSpPr>
              <a:spLocks noChangeArrowheads="1"/>
            </p:cNvSpPr>
            <p:nvPr/>
          </p:nvSpPr>
          <p:spPr bwMode="auto">
            <a:xfrm>
              <a:off x="521" y="3023"/>
              <a:ext cx="2495" cy="392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72" name="Line 28"/>
            <p:cNvSpPr>
              <a:spLocks noChangeShapeType="1"/>
            </p:cNvSpPr>
            <p:nvPr/>
          </p:nvSpPr>
          <p:spPr bwMode="auto">
            <a:xfrm>
              <a:off x="839" y="3023"/>
              <a:ext cx="1" cy="39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569373" name="Group 29"/>
          <p:cNvGrpSpPr/>
          <p:nvPr/>
        </p:nvGrpSpPr>
        <p:grpSpPr bwMode="auto">
          <a:xfrm>
            <a:off x="6300788" y="5084688"/>
            <a:ext cx="2374900" cy="649288"/>
            <a:chOff x="3425" y="2976"/>
            <a:chExt cx="1496" cy="409"/>
          </a:xfrm>
        </p:grpSpPr>
        <p:sp>
          <p:nvSpPr>
            <p:cNvPr id="569374" name="Rectangle 30"/>
            <p:cNvSpPr>
              <a:spLocks noChangeArrowheads="1"/>
            </p:cNvSpPr>
            <p:nvPr/>
          </p:nvSpPr>
          <p:spPr bwMode="auto">
            <a:xfrm>
              <a:off x="3425" y="2976"/>
              <a:ext cx="1496" cy="391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9375" name="Line 31"/>
            <p:cNvSpPr>
              <a:spLocks noChangeShapeType="1"/>
            </p:cNvSpPr>
            <p:nvPr/>
          </p:nvSpPr>
          <p:spPr bwMode="auto">
            <a:xfrm>
              <a:off x="3742" y="2976"/>
              <a:ext cx="0" cy="409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aramond" panose="02020404030301010803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05556E-6 -6.41618E-6 L 0.05521 0.15722 " pathEditMode="relative" ptsTypes="AA">
                                      <p:cBhvr>
                                        <p:cTn id="6" dur="2000" fill="hold"/>
                                        <p:tgtEl>
                                          <p:spTgt spid="569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83237E-6 L -0.10798 0.1558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693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99" y="7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举例：字符串移位包含</a:t>
            </a:r>
            <a:endParaRPr lang="en-US" dirty="0"/>
          </a:p>
        </p:txBody>
      </p:sp>
      <p:pic>
        <p:nvPicPr>
          <p:cNvPr id="60418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302" y="2796331"/>
            <a:ext cx="5753396" cy="1968601"/>
          </a:xfrm>
        </p:spPr>
      </p:pic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332" y="240555"/>
            <a:ext cx="7499350" cy="561941"/>
          </a:xfrm>
        </p:spPr>
        <p:txBody>
          <a:bodyPr vert="horz" wrap="square" lIns="91440" tIns="45720" rIns="91440" bIns="45720" numCol="1" anchorCtr="0" compatLnSpc="1">
            <a:normAutofit fontScale="90000"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方法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：字符数组操作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67318" y="802496"/>
            <a:ext cx="7208195" cy="6055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s1[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], s2[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s1 &gt;&gt; s2;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flag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s3[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flag = 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strstr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(s1, s2) !=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j 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j &lt;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j++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s3[j] = s1[j];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{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= s3[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j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j &gt;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 j--)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    s3[j] = s3[j -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s3[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flag =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strstr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(s3, s2) !=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(flag ==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(flag == 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"true"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"false"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ts val="1500"/>
              </a:lnSpc>
            </a:pP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20642" y="521525"/>
            <a:ext cx="1455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某提交代码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dirty="0"/>
          </a:p>
        </p:txBody>
      </p:sp>
    </p:spTree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方法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：字符串函数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</a:rPr>
              <a:t>1</a:t>
            </a:r>
            <a:endParaRPr lang="en-US" altLang="en-US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1872" y="1115692"/>
            <a:ext cx="5661498" cy="5416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s1[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], s2[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&gt;&gt; s1 &gt;&gt; s2;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(s1);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flag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&lt;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{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s3[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 = 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(s3, s1 +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strncat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(s3, s1,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len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-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strstr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(s3, s2))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flag 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(flag ==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(flag == 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"true"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"false"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20642" y="521525"/>
            <a:ext cx="1455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某提交代码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dirty="0"/>
          </a:p>
        </p:txBody>
      </p:sp>
    </p:spTree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Ctr="0" compatLnSpc="1"/>
          <a:lstStyle/>
          <a:p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方法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：字符串函数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华文中宋" panose="0201060004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436688" y="1228050"/>
            <a:ext cx="7175499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&lt;iostream&gt;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#include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string.h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std;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main()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s1[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], s2[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27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cin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&gt;&gt; s1 &gt;&gt; s2;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s3[</a:t>
            </a:r>
            <a:r>
              <a:rPr lang="en-US" dirty="0">
                <a:solidFill>
                  <a:srgbClr val="098658"/>
                </a:solidFill>
                <a:latin typeface="Consolas" panose="020B0609020204030204" pitchFamily="49" charset="0"/>
              </a:rPr>
              <a:t>54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strcpy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(s3, s1);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strcat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(s3, s1);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strstr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(s3, s2))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"true"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"false"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 &lt;&lt; 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endl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参数传递的方式</a:t>
            </a:r>
            <a:endParaRPr lang="en-US" dirty="0"/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755650" y="2133600"/>
            <a:ext cx="7561263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n"/>
              <a:defRPr sz="2000" b="1">
                <a:solidFill>
                  <a:schemeClr val="tx1"/>
                </a:solidFill>
                <a:latin typeface="Garamond" panose="02020404030301010803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</a:rPr>
              <a:t>思  考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1" lang="zh-CN" altLang="en-US" sz="4000" dirty="0">
                <a:latin typeface="Times New Roman" panose="02020603050405020304" pitchFamily="18" charset="0"/>
                <a:ea typeface="黑体" panose="02010609060101010101" pitchFamily="49" charset="-122"/>
              </a:rPr>
              <a:t>几种参数传递方式的比较</a:t>
            </a:r>
            <a:endParaRPr kumimoji="1" lang="zh-CN" altLang="en-US" sz="40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378" name="Text Box 2"/>
          <p:cNvSpPr txBox="1">
            <a:spLocks noChangeArrowheads="1"/>
          </p:cNvSpPr>
          <p:nvPr/>
        </p:nvSpPr>
        <p:spPr bwMode="auto">
          <a:xfrm>
            <a:off x="250825" y="436563"/>
            <a:ext cx="8640763" cy="601662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传地址（指针），修改指针所指地址的内容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void swap1(int *xx, int 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temp;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temp = *xx;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*xx = 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temp;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子函数：*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xx="&lt;&lt;*xx&lt;&lt;" 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传值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void swap2(int xx, int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temp;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temp = xx;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xx =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temp;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子函数：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xx="&lt;&lt;xx&lt;&lt;"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02" name="Text Box 2"/>
          <p:cNvSpPr txBox="1">
            <a:spLocks noChangeArrowheads="1"/>
          </p:cNvSpPr>
          <p:nvPr/>
        </p:nvSpPr>
        <p:spPr bwMode="auto">
          <a:xfrm>
            <a:off x="251618" y="505864"/>
            <a:ext cx="8640763" cy="5115246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//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传地址（指针），修改指针本身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void swap3(int *xx, int 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*p;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p = xx;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xx =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= p;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子函数：*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xx="&lt;&lt;*xx&lt;&lt;" 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="&lt;&lt;*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yy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main()			//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主函数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{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int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x,y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x=100;	y=200;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初始值：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x="&lt;&lt;x&lt;&lt;" y="&lt;&lt;y&lt;&lt;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426" name="Text Box 2"/>
          <p:cNvSpPr txBox="1">
            <a:spLocks noChangeArrowheads="1"/>
          </p:cNvSpPr>
          <p:nvPr/>
        </p:nvSpPr>
        <p:spPr bwMode="auto">
          <a:xfrm>
            <a:off x="250825" y="61913"/>
            <a:ext cx="8640763" cy="6823075"/>
          </a:xfrm>
          <a:prstGeom prst="rect">
            <a:avLst/>
          </a:prstGeom>
          <a:noFill/>
          <a:ln w="12700" cap="sq">
            <a:solidFill>
              <a:srgbClr val="00FFFF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9144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3716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8288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indent="-457200" algn="l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//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传地址（传址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x=100;	y=200;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"传地址，修改指针所指的内容：swap1(&amp;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x,&amp;y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)"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swap1(&amp;x, &amp;y);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主函数：x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="&lt;&lt;x&lt;&lt;" y="&lt;&lt;y&lt;&lt;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//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传值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x=100;	y=200;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"传  值：swap2(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x,y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)"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swap3(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x,y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主函数：x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="&lt;&lt;x&lt;&lt;" y="&lt;&lt;y&lt;&lt;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//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传地址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x=100;	y=200;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"传地址，修改指针：swap3(&amp;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x,&amp;y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):"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swap4(&amp;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x,&amp;y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&lt;&lt;"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主函数：x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="&lt;&lt;x&lt;&lt;" y="&lt;&lt;y&lt;&lt;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cout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&lt;&lt; </a:t>
            </a:r>
            <a:r>
              <a:rPr kumimoji="1" lang="en-US" altLang="en-US" sz="2400" b="1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endl</a:t>
            </a: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;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	return 0;</a:t>
            </a:r>
            <a:endParaRPr kumimoji="1" lang="en-US" altLang="en-US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}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1700" y="557799"/>
            <a:ext cx="7772400" cy="6245629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第一种方式：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	</a:t>
            </a:r>
            <a:r>
              <a:rPr lang="zh-CN" altLang="en-US" dirty="0"/>
              <a:t>传地址（指针），修改指针所指地址的内容</a:t>
            </a:r>
            <a:endParaRPr lang="zh-CN" altLang="en-US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x=100;y=200;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主函数</a:t>
            </a:r>
            <a:r>
              <a:rPr lang="en-US" altLang="zh-CN" dirty="0"/>
              <a:t>:   swap 2( &amp;x, &amp;y );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子函数</a:t>
            </a:r>
            <a:r>
              <a:rPr lang="en-US" altLang="zh-CN" dirty="0"/>
              <a:t>:  swap 2( </a:t>
            </a:r>
            <a:r>
              <a:rPr lang="en-US" altLang="zh-CN" dirty="0" err="1"/>
              <a:t>int</a:t>
            </a:r>
            <a:r>
              <a:rPr lang="en-US" altLang="zh-CN" dirty="0"/>
              <a:t>*p, </a:t>
            </a:r>
            <a:r>
              <a:rPr lang="en-US" altLang="zh-CN" dirty="0" err="1"/>
              <a:t>int</a:t>
            </a:r>
            <a:r>
              <a:rPr lang="en-US" altLang="zh-CN" dirty="0"/>
              <a:t> *q );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p                   x                temp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&amp;x             100      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q                   y        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&amp;y              200</a:t>
            </a:r>
            <a:endParaRPr lang="en-US" altLang="zh-CN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              *q          *p</a:t>
            </a:r>
            <a:endParaRPr lang="en-US" altLang="zh-CN" dirty="0"/>
          </a:p>
        </p:txBody>
      </p:sp>
      <p:sp>
        <p:nvSpPr>
          <p:cNvPr id="617475" name="Rectangle 3"/>
          <p:cNvSpPr>
            <a:spLocks noChangeArrowheads="1"/>
          </p:cNvSpPr>
          <p:nvPr/>
        </p:nvSpPr>
        <p:spPr bwMode="auto">
          <a:xfrm>
            <a:off x="1187450" y="3068638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6" name="Rectangle 4"/>
          <p:cNvSpPr>
            <a:spLocks noChangeArrowheads="1"/>
          </p:cNvSpPr>
          <p:nvPr/>
        </p:nvSpPr>
        <p:spPr bwMode="auto">
          <a:xfrm>
            <a:off x="3132138" y="3068638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7" name="Rectangle 5"/>
          <p:cNvSpPr>
            <a:spLocks noChangeArrowheads="1"/>
          </p:cNvSpPr>
          <p:nvPr/>
        </p:nvSpPr>
        <p:spPr bwMode="auto">
          <a:xfrm>
            <a:off x="5148263" y="3068638"/>
            <a:ext cx="12954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8" name="Rectangle 6"/>
          <p:cNvSpPr>
            <a:spLocks noChangeArrowheads="1"/>
          </p:cNvSpPr>
          <p:nvPr/>
        </p:nvSpPr>
        <p:spPr bwMode="auto">
          <a:xfrm>
            <a:off x="1154200" y="4420209"/>
            <a:ext cx="10080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79" name="Rectangle 7"/>
          <p:cNvSpPr>
            <a:spLocks noChangeArrowheads="1"/>
          </p:cNvSpPr>
          <p:nvPr/>
        </p:nvSpPr>
        <p:spPr bwMode="auto">
          <a:xfrm>
            <a:off x="3098888" y="4420209"/>
            <a:ext cx="1079500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0" name="Line 8"/>
          <p:cNvSpPr>
            <a:spLocks noChangeShapeType="1"/>
          </p:cNvSpPr>
          <p:nvPr/>
        </p:nvSpPr>
        <p:spPr bwMode="auto">
          <a:xfrm>
            <a:off x="2051050" y="3357563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1" name="Line 9"/>
          <p:cNvSpPr>
            <a:spLocks noChangeShapeType="1"/>
          </p:cNvSpPr>
          <p:nvPr/>
        </p:nvSpPr>
        <p:spPr bwMode="auto">
          <a:xfrm>
            <a:off x="2017800" y="4709134"/>
            <a:ext cx="10810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2" name="Line 10"/>
          <p:cNvSpPr>
            <a:spLocks noChangeShapeType="1"/>
          </p:cNvSpPr>
          <p:nvPr/>
        </p:nvSpPr>
        <p:spPr bwMode="auto">
          <a:xfrm>
            <a:off x="4110361" y="3357563"/>
            <a:ext cx="1375448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3" name="Line 11"/>
          <p:cNvSpPr>
            <a:spLocks noChangeShapeType="1"/>
          </p:cNvSpPr>
          <p:nvPr/>
        </p:nvSpPr>
        <p:spPr bwMode="auto">
          <a:xfrm flipH="1" flipV="1">
            <a:off x="3819165" y="3939046"/>
            <a:ext cx="0" cy="807213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4" name="Line 12"/>
          <p:cNvSpPr>
            <a:spLocks noChangeShapeType="1"/>
          </p:cNvSpPr>
          <p:nvPr/>
        </p:nvSpPr>
        <p:spPr bwMode="auto">
          <a:xfrm>
            <a:off x="5919194" y="3680614"/>
            <a:ext cx="21229" cy="1027726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5" name="Line 13"/>
          <p:cNvSpPr>
            <a:spLocks noChangeShapeType="1"/>
          </p:cNvSpPr>
          <p:nvPr/>
        </p:nvSpPr>
        <p:spPr bwMode="auto">
          <a:xfrm flipH="1">
            <a:off x="3901484" y="4708340"/>
            <a:ext cx="1944687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6" name="Oval 14"/>
          <p:cNvSpPr>
            <a:spLocks noChangeArrowheads="1"/>
          </p:cNvSpPr>
          <p:nvPr/>
        </p:nvSpPr>
        <p:spPr bwMode="auto">
          <a:xfrm>
            <a:off x="4823809" y="4977606"/>
            <a:ext cx="792163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7" name="Oval 15"/>
          <p:cNvSpPr>
            <a:spLocks noChangeArrowheads="1"/>
          </p:cNvSpPr>
          <p:nvPr/>
        </p:nvSpPr>
        <p:spPr bwMode="auto">
          <a:xfrm>
            <a:off x="6120606" y="4977605"/>
            <a:ext cx="792162" cy="576263"/>
          </a:xfrm>
          <a:prstGeom prst="ellipse">
            <a:avLst/>
          </a:prstGeom>
          <a:noFill/>
          <a:ln w="381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8" name="Line 16"/>
          <p:cNvSpPr>
            <a:spLocks noChangeShapeType="1"/>
          </p:cNvSpPr>
          <p:nvPr/>
        </p:nvSpPr>
        <p:spPr bwMode="auto">
          <a:xfrm flipH="1" flipV="1">
            <a:off x="4035508" y="4941887"/>
            <a:ext cx="827674" cy="287337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7489" name="Line 17"/>
          <p:cNvSpPr>
            <a:spLocks noChangeShapeType="1"/>
          </p:cNvSpPr>
          <p:nvPr/>
        </p:nvSpPr>
        <p:spPr bwMode="auto">
          <a:xfrm flipH="1" flipV="1">
            <a:off x="4035511" y="3680617"/>
            <a:ext cx="2085093" cy="1315851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23656" y="547687"/>
            <a:ext cx="7772400" cy="5762625"/>
          </a:xfrm>
          <a:ln>
            <a:solidFill>
              <a:schemeClr val="bg2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第二种方式：传值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x=100;y=200;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主函数</a:t>
            </a:r>
            <a:r>
              <a:rPr lang="en-US" altLang="zh-CN" dirty="0"/>
              <a:t>:   swap2( x, y );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子函数</a:t>
            </a:r>
            <a:r>
              <a:rPr lang="en-US" altLang="zh-CN" dirty="0"/>
              <a:t>:  swap2( int xc, int </a:t>
            </a:r>
            <a:r>
              <a:rPr lang="en-US" altLang="zh-CN" dirty="0" err="1"/>
              <a:t>yc</a:t>
            </a:r>
            <a:r>
              <a:rPr lang="en-US" altLang="zh-CN" dirty="0"/>
              <a:t>);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	 xc                    </a:t>
            </a:r>
            <a:r>
              <a:rPr lang="en-US" altLang="zh-CN" dirty="0" err="1"/>
              <a:t>yc</a:t>
            </a:r>
            <a:r>
              <a:rPr lang="en-US" altLang="zh-CN" dirty="0"/>
              <a:t>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100                   200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                   temp</a:t>
            </a:r>
            <a:endParaRPr lang="en-US" altLang="zh-CN" dirty="0"/>
          </a:p>
        </p:txBody>
      </p:sp>
      <p:sp>
        <p:nvSpPr>
          <p:cNvPr id="618499" name="Rectangle 3"/>
          <p:cNvSpPr>
            <a:spLocks noChangeArrowheads="1"/>
          </p:cNvSpPr>
          <p:nvPr/>
        </p:nvSpPr>
        <p:spPr bwMode="auto">
          <a:xfrm>
            <a:off x="2095761" y="2735895"/>
            <a:ext cx="1368425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0" name="Rectangle 4"/>
          <p:cNvSpPr>
            <a:spLocks noChangeArrowheads="1"/>
          </p:cNvSpPr>
          <p:nvPr/>
        </p:nvSpPr>
        <p:spPr bwMode="auto">
          <a:xfrm>
            <a:off x="4688148" y="2735895"/>
            <a:ext cx="1439863" cy="576262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1" name="Rectangle 5"/>
          <p:cNvSpPr>
            <a:spLocks noChangeArrowheads="1"/>
          </p:cNvSpPr>
          <p:nvPr/>
        </p:nvSpPr>
        <p:spPr bwMode="auto">
          <a:xfrm>
            <a:off x="3464186" y="4464682"/>
            <a:ext cx="1223962" cy="576263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2" name="Line 6"/>
          <p:cNvSpPr>
            <a:spLocks noChangeShapeType="1"/>
          </p:cNvSpPr>
          <p:nvPr/>
        </p:nvSpPr>
        <p:spPr bwMode="auto">
          <a:xfrm flipH="1">
            <a:off x="1448061" y="3024820"/>
            <a:ext cx="936625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3" name="Line 7"/>
          <p:cNvSpPr>
            <a:spLocks noChangeShapeType="1"/>
          </p:cNvSpPr>
          <p:nvPr/>
        </p:nvSpPr>
        <p:spPr bwMode="auto">
          <a:xfrm>
            <a:off x="1448061" y="3024820"/>
            <a:ext cx="0" cy="17272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4" name="Line 8"/>
          <p:cNvSpPr>
            <a:spLocks noChangeShapeType="1"/>
          </p:cNvSpPr>
          <p:nvPr/>
        </p:nvSpPr>
        <p:spPr bwMode="auto">
          <a:xfrm>
            <a:off x="1448061" y="4752020"/>
            <a:ext cx="2376487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5" name="Line 9"/>
          <p:cNvSpPr>
            <a:spLocks noChangeShapeType="1"/>
          </p:cNvSpPr>
          <p:nvPr/>
        </p:nvSpPr>
        <p:spPr bwMode="auto">
          <a:xfrm>
            <a:off x="4256348" y="4752020"/>
            <a:ext cx="2808288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6" name="Line 10"/>
          <p:cNvSpPr>
            <a:spLocks noChangeShapeType="1"/>
          </p:cNvSpPr>
          <p:nvPr/>
        </p:nvSpPr>
        <p:spPr bwMode="auto">
          <a:xfrm flipV="1">
            <a:off x="7064636" y="3024820"/>
            <a:ext cx="0" cy="17272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7" name="Line 11"/>
          <p:cNvSpPr>
            <a:spLocks noChangeShapeType="1"/>
          </p:cNvSpPr>
          <p:nvPr/>
        </p:nvSpPr>
        <p:spPr bwMode="auto">
          <a:xfrm flipH="1">
            <a:off x="5696211" y="3024820"/>
            <a:ext cx="1368425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8508" name="Line 12"/>
          <p:cNvSpPr>
            <a:spLocks noChangeShapeType="1"/>
          </p:cNvSpPr>
          <p:nvPr/>
        </p:nvSpPr>
        <p:spPr bwMode="auto">
          <a:xfrm flipH="1">
            <a:off x="3103823" y="3024820"/>
            <a:ext cx="1728788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27364" y="155821"/>
            <a:ext cx="7772400" cy="5762625"/>
          </a:xfrm>
          <a:ln>
            <a:solidFill>
              <a:schemeClr val="tx1"/>
            </a:solidFill>
          </a:ln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第三种方式</a:t>
            </a:r>
            <a:endParaRPr lang="zh-CN" altLang="en-US" dirty="0"/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/>
              <a:t>  </a:t>
            </a:r>
            <a:r>
              <a:rPr lang="en-US" altLang="zh-CN" dirty="0"/>
              <a:t>x=100;y=200;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主函数</a:t>
            </a:r>
            <a:r>
              <a:rPr lang="en-US" altLang="zh-CN" dirty="0"/>
              <a:t>:   swap3( &amp;x, &amp;y );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</a:t>
            </a:r>
            <a:r>
              <a:rPr lang="zh-CN" altLang="en-US" dirty="0"/>
              <a:t>子函数</a:t>
            </a:r>
            <a:r>
              <a:rPr lang="en-US" altLang="zh-CN" dirty="0"/>
              <a:t>:  swap3( int *</a:t>
            </a:r>
            <a:r>
              <a:rPr lang="en-US" altLang="zh-CN" dirty="0" err="1"/>
              <a:t>xd</a:t>
            </a:r>
            <a:r>
              <a:rPr lang="en-US" altLang="zh-CN" dirty="0"/>
              <a:t>, int *yd );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		</a:t>
            </a:r>
            <a:r>
              <a:rPr lang="en-US" altLang="zh-CN" dirty="0" err="1"/>
              <a:t>xd</a:t>
            </a:r>
            <a:r>
              <a:rPr lang="en-US" altLang="zh-CN" dirty="0"/>
              <a:t>              x                   </a:t>
            </a:r>
            <a:r>
              <a:rPr lang="en-US" altLang="zh-CN" dirty="0" err="1"/>
              <a:t>xd</a:t>
            </a:r>
            <a:r>
              <a:rPr lang="en-US" altLang="zh-CN" dirty="0"/>
              <a:t>                  x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      &amp;x           100                   &amp;y              100 </a:t>
            </a:r>
            <a:endParaRPr lang="en-US" altLang="zh-CN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/>
              <a:t>  p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		  yd               y                  yd                  y   </a:t>
            </a:r>
            <a:endParaRPr lang="en-US" altLang="zh-CN" dirty="0"/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        &amp;y              200                  &amp;x              200              </a:t>
            </a:r>
            <a:endParaRPr lang="en-US" altLang="zh-CN" dirty="0"/>
          </a:p>
        </p:txBody>
      </p:sp>
      <p:sp>
        <p:nvSpPr>
          <p:cNvPr id="619523" name="Rectangle 3"/>
          <p:cNvSpPr>
            <a:spLocks noChangeArrowheads="1"/>
          </p:cNvSpPr>
          <p:nvPr/>
        </p:nvSpPr>
        <p:spPr bwMode="auto">
          <a:xfrm>
            <a:off x="1476375" y="3284538"/>
            <a:ext cx="935038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4" name="Rectangle 4"/>
          <p:cNvSpPr>
            <a:spLocks noChangeArrowheads="1"/>
          </p:cNvSpPr>
          <p:nvPr/>
        </p:nvSpPr>
        <p:spPr bwMode="auto">
          <a:xfrm>
            <a:off x="3048000" y="3284538"/>
            <a:ext cx="9906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5" name="Rectangle 5"/>
          <p:cNvSpPr>
            <a:spLocks noChangeArrowheads="1"/>
          </p:cNvSpPr>
          <p:nvPr/>
        </p:nvSpPr>
        <p:spPr bwMode="auto">
          <a:xfrm>
            <a:off x="1476375" y="5029200"/>
            <a:ext cx="935038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6" name="Rectangle 6"/>
          <p:cNvSpPr>
            <a:spLocks noChangeArrowheads="1"/>
          </p:cNvSpPr>
          <p:nvPr/>
        </p:nvSpPr>
        <p:spPr bwMode="auto">
          <a:xfrm>
            <a:off x="3200400" y="5029200"/>
            <a:ext cx="9906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7" name="Rectangle 7"/>
          <p:cNvSpPr>
            <a:spLocks noChangeArrowheads="1"/>
          </p:cNvSpPr>
          <p:nvPr/>
        </p:nvSpPr>
        <p:spPr bwMode="auto">
          <a:xfrm>
            <a:off x="228600" y="4114800"/>
            <a:ext cx="685800" cy="533400"/>
          </a:xfrm>
          <a:prstGeom prst="rect">
            <a:avLst/>
          </a:prstGeom>
          <a:noFill/>
          <a:ln w="57150" cap="sq">
            <a:solidFill>
              <a:schemeClr val="bg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8" name="Line 8"/>
          <p:cNvSpPr>
            <a:spLocks noChangeShapeType="1"/>
          </p:cNvSpPr>
          <p:nvPr/>
        </p:nvSpPr>
        <p:spPr bwMode="auto">
          <a:xfrm flipH="1">
            <a:off x="685800" y="3733800"/>
            <a:ext cx="9906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29" name="Line 9"/>
          <p:cNvSpPr>
            <a:spLocks noChangeShapeType="1"/>
          </p:cNvSpPr>
          <p:nvPr/>
        </p:nvSpPr>
        <p:spPr bwMode="auto">
          <a:xfrm>
            <a:off x="685800" y="3733800"/>
            <a:ext cx="0" cy="60960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0" name="Line 10"/>
          <p:cNvSpPr>
            <a:spLocks noChangeShapeType="1"/>
          </p:cNvSpPr>
          <p:nvPr/>
        </p:nvSpPr>
        <p:spPr bwMode="auto">
          <a:xfrm>
            <a:off x="685800" y="4343400"/>
            <a:ext cx="0" cy="106680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1" name="Line 11"/>
          <p:cNvSpPr>
            <a:spLocks noChangeShapeType="1"/>
          </p:cNvSpPr>
          <p:nvPr/>
        </p:nvSpPr>
        <p:spPr bwMode="auto">
          <a:xfrm>
            <a:off x="644236" y="5410200"/>
            <a:ext cx="1032164" cy="0"/>
          </a:xfrm>
          <a:prstGeom prst="line">
            <a:avLst/>
          </a:prstGeom>
          <a:noFill/>
          <a:ln w="76200" cap="sq">
            <a:solidFill>
              <a:srgbClr val="66FF33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2" name="Line 12"/>
          <p:cNvSpPr>
            <a:spLocks noChangeShapeType="1"/>
          </p:cNvSpPr>
          <p:nvPr/>
        </p:nvSpPr>
        <p:spPr bwMode="auto">
          <a:xfrm>
            <a:off x="2209800" y="3581400"/>
            <a:ext cx="838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3" name="Line 13"/>
          <p:cNvSpPr>
            <a:spLocks noChangeShapeType="1"/>
          </p:cNvSpPr>
          <p:nvPr/>
        </p:nvSpPr>
        <p:spPr bwMode="auto">
          <a:xfrm>
            <a:off x="2209800" y="5410200"/>
            <a:ext cx="9906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4" name="Line 14"/>
          <p:cNvSpPr>
            <a:spLocks noChangeShapeType="1"/>
          </p:cNvSpPr>
          <p:nvPr/>
        </p:nvSpPr>
        <p:spPr bwMode="auto">
          <a:xfrm flipV="1">
            <a:off x="1676400" y="3619500"/>
            <a:ext cx="0" cy="1447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5" name="Rectangle 15"/>
          <p:cNvSpPr>
            <a:spLocks noChangeArrowheads="1"/>
          </p:cNvSpPr>
          <p:nvPr/>
        </p:nvSpPr>
        <p:spPr bwMode="auto">
          <a:xfrm>
            <a:off x="5105400" y="3284538"/>
            <a:ext cx="12192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6" name="Rectangle 16"/>
          <p:cNvSpPr>
            <a:spLocks noChangeArrowheads="1"/>
          </p:cNvSpPr>
          <p:nvPr/>
        </p:nvSpPr>
        <p:spPr bwMode="auto">
          <a:xfrm>
            <a:off x="5105400" y="5029200"/>
            <a:ext cx="12192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7" name="Rectangle 17"/>
          <p:cNvSpPr>
            <a:spLocks noChangeArrowheads="1"/>
          </p:cNvSpPr>
          <p:nvPr/>
        </p:nvSpPr>
        <p:spPr bwMode="auto">
          <a:xfrm>
            <a:off x="7162800" y="3284538"/>
            <a:ext cx="1143000" cy="649287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8" name="Rectangle 18"/>
          <p:cNvSpPr>
            <a:spLocks noChangeArrowheads="1"/>
          </p:cNvSpPr>
          <p:nvPr/>
        </p:nvSpPr>
        <p:spPr bwMode="auto">
          <a:xfrm>
            <a:off x="7162800" y="5029200"/>
            <a:ext cx="1143000" cy="609600"/>
          </a:xfrm>
          <a:prstGeom prst="rect">
            <a:avLst/>
          </a:prstGeom>
          <a:noFill/>
          <a:ln w="57150" cap="sq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>
                    <a:alpha val="70000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39" name="Line 19"/>
          <p:cNvSpPr>
            <a:spLocks noChangeShapeType="1"/>
          </p:cNvSpPr>
          <p:nvPr/>
        </p:nvSpPr>
        <p:spPr bwMode="auto">
          <a:xfrm>
            <a:off x="6096000" y="54102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0" name="Line 20"/>
          <p:cNvSpPr>
            <a:spLocks noChangeShapeType="1"/>
          </p:cNvSpPr>
          <p:nvPr/>
        </p:nvSpPr>
        <p:spPr bwMode="auto">
          <a:xfrm flipH="1"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1" name="Line 21"/>
          <p:cNvSpPr>
            <a:spLocks noChangeShapeType="1"/>
          </p:cNvSpPr>
          <p:nvPr/>
        </p:nvSpPr>
        <p:spPr bwMode="auto">
          <a:xfrm>
            <a:off x="6096000" y="3581400"/>
            <a:ext cx="4572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2" name="Line 22"/>
          <p:cNvSpPr>
            <a:spLocks noChangeShapeType="1"/>
          </p:cNvSpPr>
          <p:nvPr/>
        </p:nvSpPr>
        <p:spPr bwMode="auto">
          <a:xfrm>
            <a:off x="6553200" y="3581400"/>
            <a:ext cx="304800" cy="182880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3" name="Line 23"/>
          <p:cNvSpPr>
            <a:spLocks noChangeShapeType="1"/>
          </p:cNvSpPr>
          <p:nvPr/>
        </p:nvSpPr>
        <p:spPr bwMode="auto">
          <a:xfrm>
            <a:off x="6858000" y="35814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4" name="Line 24"/>
          <p:cNvSpPr>
            <a:spLocks noChangeShapeType="1"/>
          </p:cNvSpPr>
          <p:nvPr/>
        </p:nvSpPr>
        <p:spPr bwMode="auto">
          <a:xfrm>
            <a:off x="6858000" y="5410200"/>
            <a:ext cx="304800" cy="0"/>
          </a:xfrm>
          <a:prstGeom prst="line">
            <a:avLst/>
          </a:prstGeom>
          <a:noFill/>
          <a:ln w="76200" cap="sq">
            <a:solidFill>
              <a:schemeClr val="tx1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45" name="Line 25"/>
          <p:cNvSpPr>
            <a:spLocks noChangeShapeType="1"/>
          </p:cNvSpPr>
          <p:nvPr/>
        </p:nvSpPr>
        <p:spPr bwMode="auto">
          <a:xfrm>
            <a:off x="4191000" y="4343400"/>
            <a:ext cx="914400" cy="0"/>
          </a:xfrm>
          <a:prstGeom prst="line">
            <a:avLst/>
          </a:prstGeom>
          <a:noFill/>
          <a:ln w="76200" cap="sq">
            <a:solidFill>
              <a:schemeClr val="hlink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aramond" panose="02020404030301010803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OPFI" val=""/>
</p:tagLst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16386</Words>
  <Application>WPS 演示</Application>
  <PresentationFormat>On-screen Show (4:3)</PresentationFormat>
  <Paragraphs>1441</Paragraphs>
  <Slides>90</Slides>
  <Notes>9</Notes>
  <HiddenSlides>30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90</vt:i4>
      </vt:variant>
    </vt:vector>
  </HeadingPairs>
  <TitlesOfParts>
    <vt:vector size="119" baseType="lpstr">
      <vt:lpstr>Arial</vt:lpstr>
      <vt:lpstr>宋体</vt:lpstr>
      <vt:lpstr>Wingdings</vt:lpstr>
      <vt:lpstr>Calibri</vt:lpstr>
      <vt:lpstr>Lato</vt:lpstr>
      <vt:lpstr>楷体</vt:lpstr>
      <vt:lpstr>Garamond</vt:lpstr>
      <vt:lpstr>黑体</vt:lpstr>
      <vt:lpstr>Times New Roman</vt:lpstr>
      <vt:lpstr>Verdana</vt:lpstr>
      <vt:lpstr>Calibri Light</vt:lpstr>
      <vt:lpstr>微软雅黑 Light</vt:lpstr>
      <vt:lpstr>微软雅黑</vt:lpstr>
      <vt:lpstr>Arial Unicode MS</vt:lpstr>
      <vt:lpstr>等线</vt:lpstr>
      <vt:lpstr>Consolas</vt:lpstr>
      <vt:lpstr>Open Sans</vt:lpstr>
      <vt:lpstr>Rockwell</vt:lpstr>
      <vt:lpstr>华文中宋</vt:lpstr>
      <vt:lpstr>CourierNewPSMT</vt:lpstr>
      <vt:lpstr>Segoe Print</vt:lpstr>
      <vt:lpstr>Wingdings 2</vt:lpstr>
      <vt:lpstr>Gill Sans MT</vt:lpstr>
      <vt:lpstr>Magneto</vt:lpstr>
      <vt:lpstr>Saturday Sans Regular</vt:lpstr>
      <vt:lpstr>Courier New</vt:lpstr>
      <vt:lpstr>课程PPT模板</vt:lpstr>
      <vt:lpstr>Word.Picture.8</vt:lpstr>
      <vt:lpstr>Word.Picture.8</vt:lpstr>
      <vt:lpstr>第20讲 指针</vt:lpstr>
      <vt:lpstr>本讲内容</vt:lpstr>
      <vt:lpstr>指针与变量的概念</vt:lpstr>
      <vt:lpstr>指针的概念</vt:lpstr>
      <vt:lpstr>指针的概念(续)</vt:lpstr>
      <vt:lpstr>PowerPoint 演示文稿</vt:lpstr>
      <vt:lpstr>指针变量的概念</vt:lpstr>
      <vt:lpstr>存储单元的地址和内容</vt:lpstr>
      <vt:lpstr>PowerPoint 演示文稿</vt:lpstr>
      <vt:lpstr>PowerPoint 演示文稿</vt:lpstr>
      <vt:lpstr>PowerPoint 演示文稿</vt:lpstr>
      <vt:lpstr>PowerPoint 演示文稿</vt:lpstr>
      <vt:lpstr>指针变量的定义</vt:lpstr>
      <vt:lpstr>指针变量定义举例</vt:lpstr>
      <vt:lpstr>指针的初始化</vt:lpstr>
      <vt:lpstr>指针的赋值</vt:lpstr>
      <vt:lpstr>PowerPoint 演示文稿</vt:lpstr>
      <vt:lpstr>练习：</vt:lpstr>
      <vt:lpstr>举例：</vt:lpstr>
      <vt:lpstr>程序说明</vt:lpstr>
      <vt:lpstr>间接访问运算符 *</vt:lpstr>
      <vt:lpstr>例程：</vt:lpstr>
      <vt:lpstr>PowerPoint 演示文稿</vt:lpstr>
      <vt:lpstr>指针变量作为函数参数</vt:lpstr>
      <vt:lpstr>指针的运算</vt:lpstr>
      <vt:lpstr>PowerPoint 演示文稿</vt:lpstr>
      <vt:lpstr>PowerPoint 演示文稿</vt:lpstr>
      <vt:lpstr>PowerPoint 演示文稿</vt:lpstr>
      <vt:lpstr>PowerPoint 演示文稿</vt:lpstr>
      <vt:lpstr>通过函数调用改变参数的值</vt:lpstr>
      <vt:lpstr>练习：#286. 链表操作（删除节点）</vt:lpstr>
      <vt:lpstr>指针与数组</vt:lpstr>
      <vt:lpstr>指针与数组</vt:lpstr>
      <vt:lpstr>指向数组元素的指针</vt:lpstr>
      <vt:lpstr>PowerPoint 演示文稿</vt:lpstr>
      <vt:lpstr>指针的运算</vt:lpstr>
      <vt:lpstr>通过指针访问数组元素</vt:lpstr>
      <vt:lpstr>数组元素访问方式</vt:lpstr>
      <vt:lpstr>数组元素访问方式</vt:lpstr>
      <vt:lpstr>数组元素访问方式</vt:lpstr>
      <vt:lpstr>3种方法的比较</vt:lpstr>
      <vt:lpstr>指针与数组举例</vt:lpstr>
      <vt:lpstr>PowerPoint 演示文稿</vt:lpstr>
      <vt:lpstr>指针与数组举例</vt:lpstr>
      <vt:lpstr>PowerPoint 演示文稿</vt:lpstr>
      <vt:lpstr>理解数组名</vt:lpstr>
      <vt:lpstr>PowerPoint 演示文稿</vt:lpstr>
      <vt:lpstr>用数组名作函数参数</vt:lpstr>
      <vt:lpstr>PowerPoint 演示文稿</vt:lpstr>
      <vt:lpstr>数组作为函数参数</vt:lpstr>
      <vt:lpstr>例：将数组a中n个整数按相反顺序存放</vt:lpstr>
      <vt:lpstr>PowerPoint 演示文稿</vt:lpstr>
      <vt:lpstr>指针与字符串</vt:lpstr>
      <vt:lpstr>字符串及其处理</vt:lpstr>
      <vt:lpstr>字符数组的定义和初始化</vt:lpstr>
      <vt:lpstr>思考？</vt:lpstr>
      <vt:lpstr>字符指针</vt:lpstr>
      <vt:lpstr>PowerPoint 演示文稿</vt:lpstr>
      <vt:lpstr>对字符指针和字符数组的赋值</vt:lpstr>
      <vt:lpstr>字符数组的赋值</vt:lpstr>
      <vt:lpstr>字符串处理函数</vt:lpstr>
      <vt:lpstr>字符复制函数strcpy</vt:lpstr>
      <vt:lpstr>其他字符串处理库函数</vt:lpstr>
      <vt:lpstr>字符串应用举例</vt:lpstr>
      <vt:lpstr>解题思路</vt:lpstr>
      <vt:lpstr>PowerPoint 演示文稿</vt:lpstr>
      <vt:lpstr>参考代码</vt:lpstr>
      <vt:lpstr>字符串匹配</vt:lpstr>
      <vt:lpstr>解题思路</vt:lpstr>
      <vt:lpstr>PowerPoint 演示文稿</vt:lpstr>
      <vt:lpstr>PowerPoint 演示文稿</vt:lpstr>
      <vt:lpstr>匹配函数strstr</vt:lpstr>
      <vt:lpstr>字符串的3种操作</vt:lpstr>
      <vt:lpstr>解题思路</vt:lpstr>
      <vt:lpstr>插入子串</vt:lpstr>
      <vt:lpstr>PowerPoint 演示文稿</vt:lpstr>
      <vt:lpstr>具体操作</vt:lpstr>
      <vt:lpstr>删除子串</vt:lpstr>
      <vt:lpstr>举例：字符串移位包含</vt:lpstr>
      <vt:lpstr>方法1：字符数组操作</vt:lpstr>
      <vt:lpstr>方法2：字符串函数 - 1</vt:lpstr>
      <vt:lpstr>方法3：字符串函数 - 2</vt:lpstr>
      <vt:lpstr>参数传递的方式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725</cp:revision>
  <dcterms:created xsi:type="dcterms:W3CDTF">2020-10-14T02:47:00Z</dcterms:created>
  <dcterms:modified xsi:type="dcterms:W3CDTF">2025-11-27T16:25:14Z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277286A70EE449E59535BF59500736A4_13</vt:lpwstr>
  </property>
  <property fmtid="{D5CDD505-2E9C-101B-9397-08002B2CF9AE}" pid="3" name="KSOProductBuildVer">
    <vt:lpwstr>2052-12.1.0.23542</vt:lpwstr>
  </property>
</Properties>
</file>