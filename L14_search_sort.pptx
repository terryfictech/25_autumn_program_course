
<file path=[Content_Types].xml><?xml version="1.0" encoding="utf-8"?>
<Types xmlns="http://schemas.openxmlformats.org/package/2006/content-types">
  <Default Extension="png" ContentType="image/png"/>
  <Default Extension="gif" ContentType="image/gif"/>
  <Default Extension="wdp" ContentType="image/vnd.ms-photo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44"/>
  </p:handoutMasterIdLst>
  <p:sldIdLst>
    <p:sldId id="1092" r:id="rId3"/>
    <p:sldId id="435" r:id="rId5"/>
    <p:sldId id="436" r:id="rId6"/>
    <p:sldId id="437" r:id="rId7"/>
    <p:sldId id="439" r:id="rId8"/>
    <p:sldId id="1113" r:id="rId9"/>
    <p:sldId id="1125" r:id="rId10"/>
    <p:sldId id="438" r:id="rId11"/>
    <p:sldId id="441" r:id="rId12"/>
    <p:sldId id="444" r:id="rId13"/>
    <p:sldId id="445" r:id="rId14"/>
    <p:sldId id="446" r:id="rId15"/>
    <p:sldId id="447" r:id="rId16"/>
    <p:sldId id="448" r:id="rId17"/>
    <p:sldId id="449" r:id="rId18"/>
    <p:sldId id="456" r:id="rId19"/>
    <p:sldId id="1126" r:id="rId20"/>
    <p:sldId id="442" r:id="rId21"/>
    <p:sldId id="450" r:id="rId22"/>
    <p:sldId id="451" r:id="rId23"/>
    <p:sldId id="452" r:id="rId24"/>
    <p:sldId id="453" r:id="rId25"/>
    <p:sldId id="454" r:id="rId26"/>
    <p:sldId id="455" r:id="rId27"/>
    <p:sldId id="457" r:id="rId28"/>
    <p:sldId id="1115" r:id="rId29"/>
    <p:sldId id="1119" r:id="rId30"/>
    <p:sldId id="1120" r:id="rId31"/>
    <p:sldId id="1121" r:id="rId32"/>
    <p:sldId id="1122" r:id="rId33"/>
    <p:sldId id="1123" r:id="rId34"/>
    <p:sldId id="1117" r:id="rId35"/>
    <p:sldId id="781" r:id="rId36"/>
    <p:sldId id="458" r:id="rId37"/>
    <p:sldId id="460" r:id="rId38"/>
    <p:sldId id="461" r:id="rId39"/>
    <p:sldId id="464" r:id="rId40"/>
    <p:sldId id="463" r:id="rId41"/>
    <p:sldId id="465" r:id="rId42"/>
    <p:sldId id="466" r:id="rId43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E6700E"/>
    <a:srgbClr val="FFC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493" autoAdjust="0"/>
    <p:restoredTop sz="67402" autoAdjust="0"/>
  </p:normalViewPr>
  <p:slideViewPr>
    <p:cSldViewPr snapToGrid="0">
      <p:cViewPr varScale="1">
        <p:scale>
          <a:sx n="58" d="100"/>
          <a:sy n="58" d="100"/>
        </p:scale>
        <p:origin x="2122" y="3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2" d="100"/>
          <a:sy n="82" d="100"/>
        </p:scale>
        <p:origin x="395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7" Type="http://schemas.openxmlformats.org/officeDocument/2006/relationships/tableStyles" Target="tableStyles.xml"/><Relationship Id="rId46" Type="http://schemas.openxmlformats.org/officeDocument/2006/relationships/viewProps" Target="viewProps.xml"/><Relationship Id="rId45" Type="http://schemas.openxmlformats.org/officeDocument/2006/relationships/presProps" Target="presProps.xml"/><Relationship Id="rId44" Type="http://schemas.openxmlformats.org/officeDocument/2006/relationships/handoutMaster" Target="handoutMasters/handoutMaster1.xml"/><Relationship Id="rId43" Type="http://schemas.openxmlformats.org/officeDocument/2006/relationships/slide" Target="slides/slide40.xml"/><Relationship Id="rId42" Type="http://schemas.openxmlformats.org/officeDocument/2006/relationships/slide" Target="slides/slide39.xml"/><Relationship Id="rId41" Type="http://schemas.openxmlformats.org/officeDocument/2006/relationships/slide" Target="slides/slide38.xml"/><Relationship Id="rId40" Type="http://schemas.openxmlformats.org/officeDocument/2006/relationships/slide" Target="slides/slide37.xml"/><Relationship Id="rId4" Type="http://schemas.openxmlformats.org/officeDocument/2006/relationships/notesMaster" Target="notesMasters/notesMaster1.xml"/><Relationship Id="rId39" Type="http://schemas.openxmlformats.org/officeDocument/2006/relationships/slide" Target="slides/slide36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563B7C-F87A-4992-9D16-F63F1FA43DB6}" type="datetimeFigureOut">
              <a:rPr lang="en-US" smtClean="0"/>
            </a:fld>
            <a:endParaRPr 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305AF18-CFCB-48CD-B900-85FE73933DD2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26F8E1-D84A-44BD-AFC6-9B54380022BF}" type="datetimeFigureOut">
              <a:rPr lang="en-US" smtClean="0"/>
            </a:fld>
            <a:endParaRPr 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2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3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4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lang="zh-CN" altLang="en-US" b="1" i="0" dirty="0">
                <a:effectLst/>
                <a:latin typeface="Lato" panose="020F0502020204030203" pitchFamily="34" charset="0"/>
              </a:rPr>
              <a:t>加入 </a:t>
            </a:r>
            <a:r>
              <a:rPr lang="en-US" altLang="zh-CN" dirty="0"/>
              <a:t>#1552 </a:t>
            </a:r>
            <a:r>
              <a:rPr lang="zh-CN" altLang="en-US" dirty="0"/>
              <a:t>新二分查找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，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#453.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数组排序 作为练习</a:t>
            </a:r>
            <a:endParaRPr lang="zh-CN" altLang="en-US" b="1" i="0" dirty="0">
              <a:effectLst/>
              <a:latin typeface="Lato" panose="020F0502020204030203" pitchFamily="34" charset="0"/>
            </a:endParaRPr>
          </a:p>
          <a:p>
            <a:r>
              <a:rPr lang="zh-CN" altLang="en-US" dirty="0"/>
              <a:t>作业：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#260. 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二分查找；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150	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成绩排序	；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177	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膜拜大神；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90	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刷题高手；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191	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学分计算；</a:t>
            </a:r>
            <a:r>
              <a:rPr lang="en-US" altLang="zh-CN" b="1" i="0">
                <a:effectLst/>
                <a:latin typeface="Lato" panose="020F0502020204030203" pitchFamily="34" charset="0"/>
              </a:rPr>
              <a:t>128</a:t>
            </a:r>
            <a:r>
              <a:rPr lang="en-US" altLang="zh-CN" b="1" i="0" dirty="0">
                <a:effectLst/>
                <a:latin typeface="Lato" panose="020F0502020204030203" pitchFamily="34" charset="0"/>
              </a:rPr>
              <a:t>	</a:t>
            </a:r>
            <a:r>
              <a:rPr lang="zh-CN" altLang="en-US" b="1" i="0" dirty="0">
                <a:effectLst/>
                <a:latin typeface="Lato" panose="020F0502020204030203" pitchFamily="34" charset="0"/>
              </a:rPr>
              <a:t>分数线划定</a:t>
            </a:r>
            <a:endParaRPr lang="zh-CN" alt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顺序：用循环</a:t>
            </a:r>
            <a:endParaRPr lang="en-US" altLang="zh-CN" dirty="0"/>
          </a:p>
          <a:p>
            <a:r>
              <a:rPr lang="zh-CN" altLang="en-US" dirty="0"/>
              <a:t>白板的快捷键？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stdio.h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  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6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while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小于等于和小于容易错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(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altLang="zh-CN" b="0" dirty="0" err="1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break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num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right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else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left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mid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!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found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"-1"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b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</a:b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蓝色框里的看不懂？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能用二分的用了顺序查找会超时</a:t>
            </a:r>
            <a:endParaRPr lang="en-US" altLang="zh-CN" dirty="0"/>
          </a:p>
          <a:p>
            <a:r>
              <a:rPr lang="en-US" altLang="zh-CN" dirty="0" err="1"/>
              <a:t>Scanf</a:t>
            </a:r>
            <a:r>
              <a:rPr lang="zh-CN" altLang="en-US" dirty="0"/>
              <a:t>比</a:t>
            </a:r>
            <a:r>
              <a:rPr lang="en-US" altLang="zh-CN" dirty="0" err="1"/>
              <a:t>cin</a:t>
            </a:r>
            <a:r>
              <a:rPr lang="zh-CN" altLang="en-US" dirty="0"/>
              <a:t>高</a:t>
            </a:r>
            <a:endParaRPr lang="en-US" altLang="zh-CN" dirty="0"/>
          </a:p>
          <a:p>
            <a:r>
              <a:rPr lang="zh-CN" altLang="en-US" dirty="0"/>
              <a:t>更快的查找：筛法求素数 </a:t>
            </a:r>
            <a:r>
              <a:rPr lang="en-US" altLang="zh-CN" dirty="0"/>
              <a:t>– </a:t>
            </a:r>
            <a:r>
              <a:rPr lang="zh-CN" altLang="en-US" dirty="0"/>
              <a:t>下标就过去了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二分查找需要排序？</a:t>
            </a:r>
            <a:endParaRPr lang="en-US" altLang="zh-CN" dirty="0"/>
          </a:p>
          <a:p>
            <a:r>
              <a:rPr lang="zh-CN" altLang="en-US" dirty="0"/>
              <a:t>排序代价一劳永逸</a:t>
            </a:r>
            <a:endParaRPr lang="en-US" altLang="zh-CN" dirty="0"/>
          </a:p>
          <a:p>
            <a:r>
              <a:rPr lang="zh-CN" altLang="en-US" dirty="0"/>
              <a:t>从高到低排序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掼蛋 </a:t>
            </a:r>
            <a:r>
              <a:rPr lang="en-US" altLang="zh-CN" dirty="0"/>
              <a:t>-&gt; </a:t>
            </a:r>
            <a:r>
              <a:rPr lang="zh-CN" altLang="en-US" dirty="0"/>
              <a:t>插入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四个同学演示冒泡排序</a:t>
            </a:r>
            <a:endParaRPr lang="en-US" altLang="zh-CN" dirty="0"/>
          </a:p>
          <a:p>
            <a:r>
              <a:rPr lang="zh-CN" altLang="en-US" dirty="0"/>
              <a:t>多做了没事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i</a:t>
            </a:r>
            <a:r>
              <a:rPr lang="en-US" altLang="zh-CN" dirty="0"/>
              <a:t>, i+1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找个动画？</a:t>
            </a:r>
            <a:endParaRPr lang="en-US" altLang="zh-CN" dirty="0"/>
          </a:p>
          <a:p>
            <a:r>
              <a:rPr lang="zh-CN" altLang="en-US" dirty="0"/>
              <a:t>冒泡排序最常用，</a:t>
            </a:r>
            <a:r>
              <a:rPr lang="en-US" altLang="zh-CN" dirty="0"/>
              <a:t>1+1=2</a:t>
            </a:r>
            <a:r>
              <a:rPr lang="zh-CN" altLang="en-US" dirty="0"/>
              <a:t>，写个就是对的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867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zh-CN" altLang="en-US"/>
              <a:t>用</a:t>
            </a:r>
            <a:r>
              <a:rPr lang="en-US" altLang="zh-CN"/>
              <a:t>i</a:t>
            </a:r>
            <a:r>
              <a:rPr lang="zh-CN" altLang="en-US"/>
              <a:t>表示要排的位置，</a:t>
            </a:r>
            <a:r>
              <a:rPr lang="en-US" altLang="zh-CN"/>
              <a:t>i</a:t>
            </a:r>
            <a:r>
              <a:rPr lang="zh-CN" altLang="en-US"/>
              <a:t>可同时表示</a:t>
            </a:r>
            <a:r>
              <a:rPr lang="en-US" altLang="zh-CN"/>
              <a:t>i</a:t>
            </a:r>
            <a:r>
              <a:rPr lang="zh-CN" altLang="en-US"/>
              <a:t>趟比较；用</a:t>
            </a:r>
            <a:r>
              <a:rPr lang="en-US" altLang="zh-CN"/>
              <a:t>j</a:t>
            </a:r>
            <a:r>
              <a:rPr lang="zh-CN" altLang="en-US"/>
              <a:t>从</a:t>
            </a:r>
            <a:r>
              <a:rPr lang="en-US" altLang="zh-CN"/>
              <a:t>i</a:t>
            </a:r>
            <a:r>
              <a:rPr lang="zh-CN" altLang="en-US"/>
              <a:t>的后一位置开始依次访问</a:t>
            </a:r>
            <a:r>
              <a:rPr lang="en-US" altLang="zh-CN"/>
              <a:t>i</a:t>
            </a:r>
            <a:r>
              <a:rPr lang="zh-CN" altLang="en-US"/>
              <a:t>后的所有元素；在</a:t>
            </a:r>
            <a:r>
              <a:rPr lang="en-US" altLang="zh-CN"/>
              <a:t>j</a:t>
            </a:r>
            <a:r>
              <a:rPr lang="zh-CN" altLang="en-US"/>
              <a:t>访问过程中，</a:t>
            </a:r>
            <a:r>
              <a:rPr lang="zh-CN" altLang="zh-CN"/>
              <a:t>用</a:t>
            </a:r>
            <a:r>
              <a:rPr lang="en-US" altLang="zh-CN"/>
              <a:t>min</a:t>
            </a:r>
            <a:r>
              <a:rPr lang="zh-CN" altLang="zh-CN"/>
              <a:t>标记下</a:t>
            </a:r>
            <a:r>
              <a:rPr lang="en-US" altLang="zh-CN"/>
              <a:t>i</a:t>
            </a:r>
            <a:r>
              <a:rPr lang="zh-CN" altLang="zh-CN"/>
              <a:t>位置到</a:t>
            </a:r>
            <a:r>
              <a:rPr lang="en-US" altLang="zh-CN"/>
              <a:t>n-1</a:t>
            </a:r>
            <a:r>
              <a:rPr lang="zh-CN" altLang="zh-CN"/>
              <a:t>位置中最小值所在位置，初值为</a:t>
            </a:r>
            <a:r>
              <a:rPr lang="en-US" altLang="zh-CN"/>
              <a:t>min=i</a:t>
            </a:r>
            <a:r>
              <a:rPr lang="zh-CN" altLang="en-US"/>
              <a:t>；</a:t>
            </a:r>
            <a:r>
              <a:rPr lang="zh-CN" altLang="zh-CN"/>
              <a:t>比较是在</a:t>
            </a:r>
            <a:r>
              <a:rPr lang="en-US" altLang="zh-CN"/>
              <a:t>min</a:t>
            </a:r>
            <a:r>
              <a:rPr lang="zh-CN" altLang="zh-CN"/>
              <a:t>和</a:t>
            </a:r>
            <a:r>
              <a:rPr lang="en-US" altLang="zh-CN"/>
              <a:t>j</a:t>
            </a:r>
            <a:r>
              <a:rPr lang="zh-CN" altLang="zh-CN"/>
              <a:t>所指位置的元素之间进行的</a:t>
            </a:r>
            <a:endParaRPr lang="zh-CN" altLang="zh-CN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D4A2DB0-5EDF-4C93-A152-6B682E262C6D}" type="slidenum">
              <a:rPr lang="zh-CN" altLang="en-US" sz="1200">
                <a:latin typeface="+mn-lt"/>
                <a:ea typeface="+mn-ea"/>
              </a:rPr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969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/>
              <a:t>i:0</a:t>
            </a:r>
            <a:r>
              <a:rPr lang="zh-CN" altLang="en-US"/>
              <a:t>～</a:t>
            </a:r>
            <a:r>
              <a:rPr lang="en-US" altLang="zh-CN"/>
              <a:t>4   (n-2)</a:t>
            </a:r>
            <a:endParaRPr lang="en-US" altLang="zh-CN"/>
          </a:p>
          <a:p>
            <a:r>
              <a:rPr lang="en-US" altLang="zh-CN"/>
              <a:t>j:i+1</a:t>
            </a:r>
            <a:r>
              <a:rPr lang="zh-CN" altLang="en-US"/>
              <a:t>～</a:t>
            </a:r>
            <a:r>
              <a:rPr lang="en-US" altLang="zh-CN"/>
              <a:t>5	(n-1)</a:t>
            </a:r>
            <a:endParaRPr lang="en-US" altLang="zh-CN"/>
          </a:p>
          <a:p>
            <a:r>
              <a:rPr lang="en-US" altLang="zh-CN"/>
              <a:t>n</a:t>
            </a:r>
            <a:r>
              <a:rPr lang="zh-CN" altLang="en-US"/>
              <a:t>个数比较</a:t>
            </a:r>
            <a:r>
              <a:rPr lang="en-US" altLang="zh-CN"/>
              <a:t>n-1</a:t>
            </a:r>
            <a:r>
              <a:rPr lang="zh-CN" altLang="en-US"/>
              <a:t>趟，</a:t>
            </a:r>
            <a:r>
              <a:rPr lang="en-US" altLang="zh-CN"/>
              <a:t>i=0</a:t>
            </a:r>
            <a:r>
              <a:rPr lang="zh-CN" altLang="en-US"/>
              <a:t>第一趟比较</a:t>
            </a:r>
            <a:r>
              <a:rPr lang="en-US" altLang="zh-CN"/>
              <a:t>n-1</a:t>
            </a:r>
            <a:r>
              <a:rPr lang="zh-CN" altLang="en-US"/>
              <a:t>次；</a:t>
            </a:r>
            <a:r>
              <a:rPr lang="en-US" altLang="zh-CN"/>
              <a:t>i=1</a:t>
            </a:r>
            <a:r>
              <a:rPr lang="zh-CN" altLang="en-US"/>
              <a:t>第二趟比较</a:t>
            </a:r>
            <a:r>
              <a:rPr lang="en-US" altLang="zh-CN"/>
              <a:t>n-2</a:t>
            </a:r>
            <a:r>
              <a:rPr lang="zh-CN" altLang="en-US"/>
              <a:t>次，依此类推，最后一趟比较</a:t>
            </a:r>
            <a:r>
              <a:rPr lang="en-US" altLang="zh-CN"/>
              <a:t>1</a:t>
            </a:r>
            <a:r>
              <a:rPr lang="zh-CN" altLang="en-US"/>
              <a:t>次</a:t>
            </a:r>
            <a:endParaRPr lang="zh-CN" altLang="en-US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1E43EE28-D962-433A-A04E-8BE46BACC745}" type="slidenum">
              <a:rPr lang="zh-CN" altLang="en-US" sz="1200">
                <a:latin typeface="+mn-lt"/>
                <a:ea typeface="+mn-ea"/>
              </a:rPr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在计算机科学中，算法的时间复杂度（</a:t>
            </a:r>
            <a:r>
              <a:rPr lang="en-US" altLang="zh-CN" dirty="0"/>
              <a:t>Time complexity</a:t>
            </a:r>
            <a:r>
              <a:rPr lang="zh-CN" altLang="en-US" dirty="0"/>
              <a:t>）是一个函数，它定性描述该算法的运行时间</a:t>
            </a:r>
            <a:endParaRPr lang="en-US" altLang="zh-CN" dirty="0"/>
          </a:p>
          <a:p>
            <a:r>
              <a:rPr lang="zh-CN" altLang="en-US" dirty="0"/>
              <a:t>勉勉强强</a:t>
            </a:r>
            <a:r>
              <a:rPr lang="en-US" altLang="zh-CN" dirty="0"/>
              <a:t>10000</a:t>
            </a:r>
            <a:r>
              <a:rPr lang="zh-CN" altLang="en-US" dirty="0"/>
              <a:t>个</a:t>
            </a:r>
            <a:r>
              <a:rPr lang="en-US" altLang="zh-CN" dirty="0"/>
              <a:t>1</a:t>
            </a:r>
            <a:r>
              <a:rPr lang="zh-CN" altLang="en-US" dirty="0"/>
              <a:t>秒能出来</a:t>
            </a:r>
            <a:endParaRPr lang="en-US" altLang="zh-CN" dirty="0"/>
          </a:p>
          <a:p>
            <a:r>
              <a:rPr lang="zh-CN" altLang="en-US" dirty="0"/>
              <a:t>插入排序思路很多地方能用到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1747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/>
              <a:t>i=0;j:0</a:t>
            </a:r>
            <a:r>
              <a:rPr lang="zh-CN" altLang="en-US"/>
              <a:t>～</a:t>
            </a:r>
            <a:r>
              <a:rPr lang="en-US" altLang="zh-CN"/>
              <a:t>4	(n-i-2)</a:t>
            </a:r>
            <a:endParaRPr lang="zh-CN" altLang="en-US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9B8D7526-BE11-4796-BDE5-9F45B955A3E4}" type="slidenum">
              <a:rPr lang="zh-CN" altLang="en-US" sz="1200">
                <a:latin typeface="+mn-lt"/>
                <a:ea typeface="+mn-ea"/>
              </a:rPr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2771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/>
              <a:t>i=1;j:0</a:t>
            </a:r>
            <a:r>
              <a:rPr lang="zh-CN" altLang="en-US"/>
              <a:t>～</a:t>
            </a:r>
            <a:r>
              <a:rPr lang="en-US" altLang="zh-CN"/>
              <a:t>3	(n-i-2)</a:t>
            </a:r>
            <a:endParaRPr lang="zh-CN" altLang="en-US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A8CD3102-DA5F-4695-8123-9C05B860EFDA}" type="slidenum">
              <a:rPr lang="zh-CN" altLang="en-US" sz="1200">
                <a:latin typeface="+mn-lt"/>
                <a:ea typeface="+mn-ea"/>
              </a:rPr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3795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/>
              <a:t>i=2;j:0</a:t>
            </a:r>
            <a:r>
              <a:rPr lang="zh-CN" altLang="en-US"/>
              <a:t>～</a:t>
            </a:r>
            <a:r>
              <a:rPr lang="en-US" altLang="zh-CN"/>
              <a:t>2	(n-i-2)</a:t>
            </a:r>
            <a:endParaRPr lang="zh-CN" altLang="en-US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3B2C830-8A93-4875-93B4-C2FD361C1E3A}" type="slidenum">
              <a:rPr lang="zh-CN" altLang="en-US" sz="1200">
                <a:latin typeface="+mn-lt"/>
                <a:ea typeface="+mn-ea"/>
              </a:rPr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4819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/>
              <a:t>i=3;j:0</a:t>
            </a:r>
            <a:r>
              <a:rPr lang="zh-CN" altLang="en-US"/>
              <a:t>～</a:t>
            </a:r>
            <a:r>
              <a:rPr lang="en-US" altLang="zh-CN"/>
              <a:t>1	(n-i-2)</a:t>
            </a:r>
            <a:endParaRPr lang="zh-CN" altLang="en-US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74D886BF-84BD-4AFB-A894-5458A1F2661D}" type="slidenum">
              <a:rPr lang="zh-CN" altLang="en-US" sz="1200">
                <a:latin typeface="+mn-lt"/>
                <a:ea typeface="+mn-ea"/>
              </a:rPr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/>
          <a:lstStyle/>
          <a:p>
            <a:r>
              <a:rPr lang="en-US" altLang="zh-CN"/>
              <a:t>i=4;j:0</a:t>
            </a:r>
            <a:r>
              <a:rPr lang="zh-CN" altLang="en-US"/>
              <a:t>～</a:t>
            </a:r>
            <a:r>
              <a:rPr lang="en-US" altLang="zh-CN"/>
              <a:t>0	(n-i-2)</a:t>
            </a:r>
            <a:endParaRPr lang="zh-CN" altLang="en-US"/>
          </a:p>
        </p:txBody>
      </p:sp>
      <p:sp>
        <p:nvSpPr>
          <p:cNvPr id="4" name="灯片编号占位符 3"/>
          <p:cNvSpPr txBox="1">
            <a:spLocks noGrp="1"/>
          </p:cNvSpPr>
          <p:nvPr/>
        </p:nvSpPr>
        <p:spPr>
          <a:xfrm>
            <a:off x="3884613" y="8685213"/>
            <a:ext cx="2971800" cy="457200"/>
          </a:xfrm>
          <a:prstGeom prst="rect">
            <a:avLst/>
          </a:prstGeom>
          <a:noFill/>
        </p:spPr>
        <p:txBody>
          <a:bodyPr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D4952ABB-109E-41B8-B356-42C89CA8250A}" type="slidenum">
              <a:rPr lang="zh-CN" altLang="en-US" sz="1200">
                <a:latin typeface="+mn-lt"/>
                <a:ea typeface="+mn-ea"/>
              </a:rPr>
            </a:fld>
            <a:endParaRPr lang="zh-CN" altLang="en-US" sz="1200">
              <a:latin typeface="+mn-lt"/>
              <a:ea typeface="+mn-ea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思考：</a:t>
            </a:r>
            <a:r>
              <a:rPr lang="en-US" altLang="zh-CN" b="0" dirty="0" err="1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代表什么？为什么要到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10-1</a:t>
            </a:r>
            <a:r>
              <a:rPr lang="zh-CN" alt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；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zh-CN" alt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为什么是小于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10-i-1</a:t>
            </a:r>
            <a:r>
              <a:rPr lang="zh-CN" alt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？如果没有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zh-CN" altLang="en-US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会怎么样？</a:t>
            </a:r>
            <a:endParaRPr lang="en-US" altLang="zh-CN" b="0" dirty="0">
              <a:solidFill>
                <a:srgbClr val="C586C0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#include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&lt;stdio.h&gt;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main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()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{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22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34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5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89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45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10000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sizeof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/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4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一共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n-1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轮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-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 //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第</a:t>
            </a:r>
            <a:r>
              <a:rPr lang="en-US" altLang="zh-C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轮一直到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n-</a:t>
            </a:r>
            <a:r>
              <a:rPr lang="en-US" altLang="zh-CN" b="0" dirty="0" err="1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这个元素都需要排序，但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只到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n-i-1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，因为是将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a[j]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和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a[j+1]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进行比较。如果没有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-1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，在第</a:t>
            </a:r>
            <a:r>
              <a:rPr lang="en-US" altLang="zh-CN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zh-CN" altLang="en-US" b="0" dirty="0">
                <a:solidFill>
                  <a:srgbClr val="6A9955"/>
                </a:solidFill>
                <a:effectLst/>
                <a:latin typeface="Consolas" panose="020B0609020204030204" pitchFamily="49" charset="0"/>
              </a:rPr>
              <a:t>轮时会越界</a:t>
            </a:r>
            <a:endParaRPr lang="zh-CN" altLang="en-US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zh-CN" altLang="en-US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if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&gt;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 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   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j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1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temp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    }    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for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569CD6"/>
                </a:solidFill>
                <a:effectLst/>
                <a:latin typeface="Consolas" panose="020B0609020204030204" pitchFamily="49" charset="0"/>
              </a:rPr>
              <a:t>int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=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&lt;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n</a:t>
            </a:r>
            <a:r>
              <a:rPr lang="en-US" altLang="zh-CN" b="0" dirty="0" err="1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D4D4D4"/>
                </a:solidFill>
                <a:effectLst/>
                <a:latin typeface="Consolas" panose="020B0609020204030204" pitchFamily="49" charset="0"/>
              </a:rPr>
              <a:t>++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){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    </a:t>
            </a:r>
            <a:r>
              <a:rPr lang="en-US" altLang="zh-CN" b="0" dirty="0" err="1">
                <a:solidFill>
                  <a:srgbClr val="DCDCAA"/>
                </a:solidFill>
                <a:effectLst/>
                <a:latin typeface="Consolas" panose="020B0609020204030204" pitchFamily="49" charset="0"/>
              </a:rPr>
              <a:t>printf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(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"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%d</a:t>
            </a:r>
            <a:r>
              <a:rPr lang="en-US" altLang="zh-CN" b="0" dirty="0">
                <a:solidFill>
                  <a:srgbClr val="CE9178"/>
                </a:solidFill>
                <a:effectLst/>
                <a:latin typeface="Consolas" panose="020B0609020204030204" pitchFamily="49" charset="0"/>
              </a:rPr>
              <a:t> "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, </a:t>
            </a:r>
            <a:r>
              <a:rPr lang="en-US" altLang="zh-CN" b="0" dirty="0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a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[</a:t>
            </a:r>
            <a:r>
              <a:rPr lang="en-US" altLang="zh-CN" b="0" dirty="0" err="1">
                <a:solidFill>
                  <a:srgbClr val="9CDCFE"/>
                </a:solidFill>
                <a:effectLst/>
                <a:latin typeface="Consolas" panose="020B0609020204030204" pitchFamily="49" charset="0"/>
              </a:rPr>
              <a:t>i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]);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    </a:t>
            </a:r>
            <a:r>
              <a:rPr lang="en-US" altLang="zh-CN" b="0" dirty="0">
                <a:solidFill>
                  <a:srgbClr val="C586C0"/>
                </a:solidFill>
                <a:effectLst/>
                <a:latin typeface="Consolas" panose="020B0609020204030204" pitchFamily="49" charset="0"/>
              </a:rPr>
              <a:t>return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 </a:t>
            </a:r>
            <a:r>
              <a:rPr lang="en-US" altLang="zh-CN" b="0" dirty="0">
                <a:solidFill>
                  <a:srgbClr val="B5CEA8"/>
                </a:solidFill>
                <a:effectLst/>
                <a:latin typeface="Consolas" panose="020B0609020204030204" pitchFamily="49" charset="0"/>
              </a:rPr>
              <a:t>0</a:t>
            </a:r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;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r>
              <a:rPr lang="en-US" altLang="zh-CN" b="0" dirty="0">
                <a:solidFill>
                  <a:srgbClr val="CCCCCC"/>
                </a:solidFill>
                <a:effectLst/>
                <a:latin typeface="Consolas" panose="020B0609020204030204" pitchFamily="49" charset="0"/>
              </a:rPr>
              <a:t>}</a:t>
            </a:r>
            <a:endParaRPr lang="en-US" altLang="zh-CN" b="0" dirty="0">
              <a:solidFill>
                <a:srgbClr val="CCCCCC"/>
              </a:solidFill>
              <a:effectLst/>
              <a:latin typeface="Consolas" panose="020B0609020204030204" pitchFamily="49" charset="0"/>
            </a:endParaRPr>
          </a:p>
          <a:p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====</a:t>
            </a:r>
            <a:endParaRPr lang="en-US" altLang="zh-CN" dirty="0"/>
          </a:p>
          <a:p>
            <a:r>
              <a:rPr lang="zh-CN" altLang="en-US" dirty="0"/>
              <a:t>把比较这个事情变得通用 </a:t>
            </a:r>
            <a:r>
              <a:rPr lang="en-US" altLang="zh-CN" dirty="0" err="1"/>
              <a:t>mycompare</a:t>
            </a:r>
            <a:r>
              <a:rPr lang="en-US" altLang="zh-CN" dirty="0"/>
              <a:t>() </a:t>
            </a:r>
            <a:r>
              <a:rPr lang="zh-CN" altLang="en-US" dirty="0"/>
              <a:t>怎么取值？</a:t>
            </a:r>
            <a:r>
              <a:rPr lang="en-US" altLang="zh-CN" dirty="0"/>
              <a:t>1</a:t>
            </a:r>
            <a:r>
              <a:rPr lang="zh-CN" altLang="en-US" dirty="0"/>
              <a:t>代表要交换 </a:t>
            </a:r>
            <a:r>
              <a:rPr lang="en-US" altLang="zh-CN" dirty="0"/>
              <a:t>[n, m] =&gt; </a:t>
            </a:r>
            <a:r>
              <a:rPr lang="zh-CN" altLang="en-US" dirty="0"/>
              <a:t>不要变代码了 </a:t>
            </a:r>
            <a:r>
              <a:rPr lang="en-US" altLang="zh-CN" dirty="0"/>
              <a:t>-&gt; </a:t>
            </a:r>
            <a:r>
              <a:rPr lang="zh-CN" altLang="en-US" dirty="0"/>
              <a:t>库函数不支持，不知道你要代码是什么，开一点函数。讲完函数语法相关的基本都讲完了，后面都是程序设计思路。放在一起写比较乱 </a:t>
            </a:r>
            <a:r>
              <a:rPr lang="en-US" altLang="zh-CN" dirty="0"/>
              <a:t>– </a:t>
            </a:r>
            <a:r>
              <a:rPr lang="zh-CN" altLang="en-US" dirty="0"/>
              <a:t>函数给了一种更好的组织代码的方式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改成结构体数组 </a:t>
            </a:r>
            <a:r>
              <a:rPr lang="en-US" altLang="zh-CN" dirty="0"/>
              <a:t>= </a:t>
            </a:r>
            <a:r>
              <a:rPr lang="zh-CN" altLang="en-US" dirty="0"/>
              <a:t>结构体变量是可以用赋值号的</a:t>
            </a:r>
            <a:endParaRPr lang="en-US" altLang="zh-CN" dirty="0"/>
          </a:p>
          <a:p>
            <a:r>
              <a:rPr lang="en-US" altLang="zh-CN" dirty="0"/>
              <a:t>Else</a:t>
            </a:r>
            <a:r>
              <a:rPr lang="zh-CN" altLang="en-US" dirty="0"/>
              <a:t>相等再比语文成绩</a:t>
            </a:r>
            <a:endParaRPr lang="en-US" altLang="zh-CN" dirty="0"/>
          </a:p>
          <a:p>
            <a:r>
              <a:rPr lang="zh-CN" altLang="en-US" dirty="0"/>
              <a:t>自定义的大小关系 </a:t>
            </a:r>
            <a:r>
              <a:rPr lang="en-US" altLang="zh-CN" dirty="0"/>
              <a:t>– </a:t>
            </a:r>
            <a:r>
              <a:rPr lang="zh-CN" altLang="en-US" dirty="0"/>
              <a:t>从小到大</a:t>
            </a:r>
            <a:r>
              <a:rPr lang="en-US" altLang="zh-CN" dirty="0"/>
              <a:t>/</a:t>
            </a:r>
            <a:r>
              <a:rPr lang="zh-CN" altLang="en-US" dirty="0"/>
              <a:t>如果改成从大到小做排序怎么改？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 err="1"/>
              <a:t>i</a:t>
            </a:r>
            <a:r>
              <a:rPr lang="zh-CN" altLang="en-US" dirty="0"/>
              <a:t>：进行多少轮？</a:t>
            </a:r>
            <a:endParaRPr lang="en-US" altLang="zh-CN" dirty="0"/>
          </a:p>
          <a:p>
            <a:endParaRPr lang="en-US" altLang="zh-CN" dirty="0"/>
          </a:p>
          <a:p>
            <a:r>
              <a:rPr lang="en-US" altLang="zh-CN" dirty="0"/>
              <a:t>[m, n]</a:t>
            </a:r>
            <a:endParaRPr lang="en-US" altLang="zh-CN" dirty="0"/>
          </a:p>
          <a:p>
            <a:r>
              <a:rPr lang="zh-CN" altLang="en-US" dirty="0"/>
              <a:t>对数组中的任何一个部分专门做排序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前面是</a:t>
            </a:r>
            <a:r>
              <a:rPr lang="en-US" altLang="zh-CN" dirty="0"/>
              <a:t>m</a:t>
            </a:r>
            <a:r>
              <a:rPr lang="zh-CN" altLang="en-US" dirty="0"/>
              <a:t>，后面是</a:t>
            </a:r>
            <a:r>
              <a:rPr lang="en-US" altLang="zh-CN" dirty="0" err="1"/>
              <a:t>n-m-i+m</a:t>
            </a:r>
            <a:r>
              <a:rPr lang="en-US" altLang="zh-CN" dirty="0"/>
              <a:t>=n-</a:t>
            </a:r>
            <a:r>
              <a:rPr lang="en-US" altLang="zh-CN" dirty="0" err="1"/>
              <a:t>i</a:t>
            </a:r>
            <a:endParaRPr lang="en-US" altLang="zh-CN" dirty="0"/>
          </a:p>
          <a:p>
            <a:r>
              <a:rPr lang="en-US" altLang="zh-CN" dirty="0" err="1"/>
              <a:t>Arr</a:t>
            </a:r>
            <a:r>
              <a:rPr lang="en-US" altLang="zh-CN" dirty="0"/>
              <a:t>[</a:t>
            </a:r>
            <a:r>
              <a:rPr lang="en-US" altLang="zh-CN" dirty="0" err="1"/>
              <a:t>m+j</a:t>
            </a:r>
            <a:r>
              <a:rPr lang="en-US" altLang="zh-CN" dirty="0"/>
              <a:t>]/</a:t>
            </a:r>
            <a:r>
              <a:rPr lang="en-US" altLang="zh-CN" dirty="0" err="1"/>
              <a:t>arr</a:t>
            </a:r>
            <a:r>
              <a:rPr lang="en-US" altLang="zh-CN" dirty="0"/>
              <a:t>[j]</a:t>
            </a:r>
            <a:endParaRPr lang="en-US" altLang="zh-CN" dirty="0"/>
          </a:p>
          <a:p>
            <a:r>
              <a:rPr lang="en-US" altLang="zh-CN" dirty="0"/>
              <a:t>N-m-</a:t>
            </a:r>
            <a:r>
              <a:rPr lang="en-US" altLang="zh-CN" dirty="0" err="1"/>
              <a:t>i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最好时间复杂度更好，需要记录是否完成了排序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要想得更明白一点：出循环的时候有哪两种情况？为什么是</a:t>
            </a:r>
            <a:r>
              <a:rPr lang="en-US" altLang="zh-CN" dirty="0" err="1"/>
              <a:t>arr</a:t>
            </a:r>
            <a:r>
              <a:rPr lang="en-US" altLang="zh-CN" dirty="0"/>
              <a:t>[j+1]?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228600" indent="-228600">
              <a:buAutoNum type="arabicPeriod"/>
            </a:pPr>
            <a:r>
              <a:rPr lang="zh-CN" altLang="en-US" dirty="0"/>
              <a:t>选择 </a:t>
            </a:r>
            <a:r>
              <a:rPr lang="en-US" altLang="zh-CN" dirty="0"/>
              <a:t>2. </a:t>
            </a:r>
            <a:r>
              <a:rPr lang="zh-CN" altLang="en-US" dirty="0"/>
              <a:t>冒泡 </a:t>
            </a:r>
            <a:r>
              <a:rPr lang="en-US" altLang="zh-CN" dirty="0"/>
              <a:t>3. </a:t>
            </a:r>
            <a:r>
              <a:rPr lang="zh-CN" altLang="en-US" dirty="0"/>
              <a:t>插入</a:t>
            </a:r>
            <a:endParaRPr lang="en-US" altLang="zh-CN" dirty="0"/>
          </a:p>
          <a:p>
            <a:pPr marL="0" indent="0">
              <a:buNone/>
            </a:pPr>
            <a:r>
              <a:rPr lang="zh-CN" altLang="en-US" dirty="0"/>
              <a:t>横轴：第</a:t>
            </a:r>
            <a:r>
              <a:rPr lang="en-US" altLang="zh-CN" dirty="0" err="1"/>
              <a:t>i</a:t>
            </a:r>
            <a:r>
              <a:rPr lang="zh-CN" altLang="en-US" dirty="0"/>
              <a:t>个元素；纵轴：第</a:t>
            </a:r>
            <a:r>
              <a:rPr lang="en-US" altLang="zh-CN" dirty="0" err="1"/>
              <a:t>i</a:t>
            </a:r>
            <a:r>
              <a:rPr lang="zh-CN" altLang="en-US" dirty="0"/>
              <a:t>个元素的取值</a:t>
            </a:r>
            <a:endParaRPr lang="en-US" altLang="zh-CN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结构体数组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年份，月份，天</a:t>
            </a:r>
            <a:endParaRPr lang="en-US" altLang="zh-CN" dirty="0"/>
          </a:p>
          <a:p>
            <a:r>
              <a:rPr lang="zh-CN" altLang="en-US" dirty="0"/>
              <a:t>自然优先比较年，然后优先比较月</a:t>
            </a:r>
            <a:endParaRPr lang="en-US" altLang="zh-CN" dirty="0"/>
          </a:p>
          <a:p>
            <a:r>
              <a:rPr lang="en-US" dirty="0"/>
              <a:t>031001 -&gt; </a:t>
            </a:r>
            <a:r>
              <a:rPr lang="zh-CN" altLang="en-US" dirty="0"/>
              <a:t>就按这个比就可以</a:t>
            </a:r>
            <a:endParaRPr 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和结构体中的一个分量作比较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看过</a:t>
            </a:r>
            <a:r>
              <a:rPr lang="en-US" altLang="zh-CN" dirty="0" err="1"/>
              <a:t>scanf</a:t>
            </a:r>
            <a:r>
              <a:rPr lang="en-US" altLang="zh-CN" dirty="0"/>
              <a:t>/</a:t>
            </a:r>
            <a:r>
              <a:rPr lang="en-US" altLang="zh-CN" dirty="0" err="1"/>
              <a:t>printf</a:t>
            </a:r>
            <a:r>
              <a:rPr lang="zh-CN" altLang="en-US" dirty="0"/>
              <a:t>函数返回值的说明</a:t>
            </a:r>
            <a:endParaRPr lang="en-US" altLang="zh-CN" dirty="0"/>
          </a:p>
          <a:p>
            <a:r>
              <a:rPr lang="zh-CN" altLang="en-US" dirty="0"/>
              <a:t>别人的函数给你是什么样的？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F44B8F7-AA39-458F-B195-A32598CB2594}" type="slidenum">
              <a:rPr lang="en-US" smtClean="0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5" Type="http://schemas.microsoft.com/office/2007/relationships/hdphoto" Target="../media/image4.wdp"/><Relationship Id="rId4" Type="http://schemas.openxmlformats.org/officeDocument/2006/relationships/image" Target="../media/image3.png"/><Relationship Id="rId3" Type="http://schemas.microsoft.com/office/2007/relationships/hdphoto" Target="../media/image2.wdp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椭圆 10"/>
          <p:cNvSpPr/>
          <p:nvPr/>
        </p:nvSpPr>
        <p:spPr>
          <a:xfrm>
            <a:off x="8177483" y="5910463"/>
            <a:ext cx="504000" cy="5040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12" name="椭圆 11"/>
          <p:cNvSpPr/>
          <p:nvPr/>
        </p:nvSpPr>
        <p:spPr>
          <a:xfrm>
            <a:off x="7414927" y="813765"/>
            <a:ext cx="742237" cy="74223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bg1">
                  <a:lumMod val="50000"/>
                </a:schemeClr>
              </a:solidFill>
            </a:endParaRPr>
          </a:p>
        </p:txBody>
      </p:sp>
      <p:sp>
        <p:nvSpPr>
          <p:cNvPr id="10" name="椭圆 9"/>
          <p:cNvSpPr/>
          <p:nvPr/>
        </p:nvSpPr>
        <p:spPr>
          <a:xfrm>
            <a:off x="-2459620" y="610564"/>
            <a:ext cx="5400000" cy="5400000"/>
          </a:xfrm>
          <a:prstGeom prst="ellipse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68874" y="3811522"/>
            <a:ext cx="5429250" cy="1655762"/>
          </a:xfrm>
        </p:spPr>
        <p:txBody>
          <a:bodyPr/>
          <a:lstStyle>
            <a:lvl1pPr marL="0" indent="0" algn="l">
              <a:buNone/>
              <a:defRPr sz="2400" baseline="0">
                <a:latin typeface="Calibri" panose="020F0502020204030204" pitchFamily="34" charset="0"/>
                <a:ea typeface="+mn-ea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8875" y="2063685"/>
            <a:ext cx="6606253" cy="1655763"/>
          </a:xfrm>
        </p:spPr>
        <p:txBody>
          <a:bodyPr anchor="b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4" name="弧形 3"/>
          <p:cNvSpPr/>
          <p:nvPr userDrawn="1"/>
        </p:nvSpPr>
        <p:spPr>
          <a:xfrm>
            <a:off x="-1790184" y="-1709103"/>
            <a:ext cx="3960000" cy="3883419"/>
          </a:xfrm>
          <a:prstGeom prst="arc">
            <a:avLst>
              <a:gd name="adj1" fmla="val 21064148"/>
              <a:gd name="adj2" fmla="val 5986293"/>
            </a:avLst>
          </a:prstGeom>
          <a:noFill/>
          <a:ln w="635000">
            <a:solidFill>
              <a:srgbClr val="FFC000"/>
            </a:solidFill>
          </a:ln>
        </p:spPr>
        <p:style>
          <a:lnRef idx="3">
            <a:schemeClr val="accent2"/>
          </a:lnRef>
          <a:fillRef idx="0">
            <a:schemeClr val="accent2"/>
          </a:fillRef>
          <a:effectRef idx="2">
            <a:schemeClr val="accent2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sz="180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节标题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562471" y="2155124"/>
            <a:ext cx="6711517" cy="1655763"/>
          </a:xfrm>
        </p:spPr>
        <p:txBody>
          <a:bodyPr anchor="t">
            <a:normAutofit/>
          </a:bodyPr>
          <a:lstStyle>
            <a:lvl1pPr algn="l">
              <a:defRPr sz="5400" b="1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685564" y="2155124"/>
            <a:ext cx="544750" cy="558709"/>
          </a:xfrm>
          <a:prstGeom prst="donut">
            <a:avLst>
              <a:gd name="adj" fmla="val 34760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目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9293" y="431999"/>
            <a:ext cx="8152708" cy="935161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559292" y="1615736"/>
            <a:ext cx="8152707" cy="4710344"/>
          </a:xfrm>
        </p:spPr>
        <p:txBody>
          <a:bodyPr anchor="t">
            <a:normAutofit/>
          </a:bodyPr>
          <a:lstStyle>
            <a:lvl1pPr marL="514350" indent="-514350">
              <a:lnSpc>
                <a:spcPct val="114000"/>
              </a:lnSpc>
              <a:buFont typeface="+mj-lt"/>
              <a:buAutoNum type="arabicPeriod"/>
              <a:defRPr sz="2800">
                <a:solidFill>
                  <a:schemeClr val="tx1">
                    <a:lumMod val="50000"/>
                    <a:lumOff val="50000"/>
                  </a:schemeClr>
                </a:solidFill>
                <a:latin typeface="+mj-ea"/>
                <a:ea typeface="+mj-ea"/>
              </a:defRPr>
            </a:lvl1pPr>
            <a:lvl2pPr marL="78295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1369695" indent="-4572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17145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2171700" indent="-342900">
              <a:buFont typeface="+mj-lt"/>
              <a:buAutoNum type="arabicPeriod"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zh-CN" altLang="en-US" dirty="0"/>
              <a:t>目录项目</a:t>
            </a:r>
            <a:endParaRPr lang="en-US" altLang="zh-CN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899650"/>
          </a:xfrm>
        </p:spPr>
        <p:txBody>
          <a:bodyPr anchor="b"/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432000" y="1535837"/>
            <a:ext cx="8280000" cy="4764163"/>
          </a:xfrm>
        </p:spPr>
        <p:txBody>
          <a:bodyPr/>
          <a:lstStyle>
            <a:lvl1pPr marL="342900" indent="-342900">
              <a:buFont typeface="Wingdings" panose="05000000000000000000" pitchFamily="2" charset="2"/>
              <a:buChar char="§"/>
              <a:defRPr sz="2400"/>
            </a:lvl1pPr>
            <a:lvl2pPr marL="740410" indent="-342900">
              <a:buFont typeface="Wingdings" panose="05000000000000000000" pitchFamily="2" charset="2"/>
              <a:buChar char="§"/>
              <a:defRPr sz="2000"/>
            </a:lvl2pPr>
            <a:lvl3pPr marL="1198245" indent="-285750">
              <a:buFont typeface="Wingdings" panose="05000000000000000000" pitchFamily="2" charset="2"/>
              <a:buChar char="§"/>
              <a:defRPr sz="1800"/>
            </a:lvl3pPr>
            <a:lvl4pPr marL="1657350" indent="-285750">
              <a:buFont typeface="Wingdings" panose="05000000000000000000" pitchFamily="2" charset="2"/>
              <a:buChar char="§"/>
              <a:defRPr sz="1600"/>
            </a:lvl4pPr>
            <a:lvl5pPr marL="2114550" indent="-285750">
              <a:buFont typeface="Wingdings" panose="05000000000000000000" pitchFamily="2" charset="2"/>
              <a:buChar char="§"/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 hasCustomPrompt="1"/>
          </p:nvPr>
        </p:nvSpPr>
        <p:spPr>
          <a:xfrm>
            <a:off x="43200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629150" y="1260000"/>
            <a:ext cx="4082850" cy="5040000"/>
          </a:xfrm>
        </p:spPr>
        <p:txBody>
          <a:bodyPr/>
          <a:lstStyle>
            <a:lvl1pPr marL="360045"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 hasCustomPrompt="1"/>
          </p:nvPr>
        </p:nvSpPr>
        <p:spPr>
          <a:xfrm>
            <a:off x="432000" y="1188000"/>
            <a:ext cx="4066182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432000" y="2037716"/>
            <a:ext cx="4066182" cy="4388285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</p:nvPr>
        </p:nvSpPr>
        <p:spPr>
          <a:xfrm>
            <a:off x="4629150" y="1188000"/>
            <a:ext cx="4082850" cy="823912"/>
          </a:xfrm>
        </p:spPr>
        <p:txBody>
          <a:bodyPr anchor="b"/>
          <a:lstStyle>
            <a:lvl1pPr marL="0" indent="0">
              <a:buNone/>
              <a:defRPr sz="24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 hasCustomPrompt="1"/>
          </p:nvPr>
        </p:nvSpPr>
        <p:spPr>
          <a:xfrm>
            <a:off x="4629150" y="2037716"/>
            <a:ext cx="4082850" cy="4388285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683692"/>
          </a:xfrm>
        </p:spPr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3887391" y="987426"/>
            <a:ext cx="4629150" cy="541337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dirty="0"/>
              <a:t>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987426"/>
            <a:ext cx="4629150" cy="5413374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 hasCustomPrompt="1"/>
          </p:nvPr>
        </p:nvSpPr>
        <p:spPr>
          <a:xfrm>
            <a:off x="629841" y="2057400"/>
            <a:ext cx="2949178" cy="4343400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结束，致谢"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1"/>
          <p:cNvSpPr>
            <a:spLocks noGrp="1"/>
          </p:cNvSpPr>
          <p:nvPr>
            <p:ph type="ctrTitle"/>
          </p:nvPr>
        </p:nvSpPr>
        <p:spPr>
          <a:xfrm>
            <a:off x="1268875" y="2155125"/>
            <a:ext cx="6606253" cy="1655763"/>
          </a:xfrm>
        </p:spPr>
        <p:txBody>
          <a:bodyPr anchor="b">
            <a:normAutofit/>
          </a:bodyPr>
          <a:lstStyle>
            <a:lvl1pPr algn="ctr">
              <a:defRPr sz="4400" b="1"/>
            </a:lvl1pPr>
          </a:lstStyle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9" name="圆: 空心 8"/>
          <p:cNvSpPr/>
          <p:nvPr/>
        </p:nvSpPr>
        <p:spPr>
          <a:xfrm>
            <a:off x="8088487" y="5873868"/>
            <a:ext cx="720000" cy="720000"/>
          </a:xfrm>
          <a:prstGeom prst="donut">
            <a:avLst>
              <a:gd name="adj" fmla="val 24158"/>
            </a:avLst>
          </a:prstGeom>
          <a:solidFill>
            <a:schemeClr val="accent4"/>
          </a:solidFill>
          <a:ln>
            <a:noFill/>
          </a:ln>
        </p:spPr>
        <p:style>
          <a:lnRef idx="2">
            <a:schemeClr val="accent4">
              <a:shade val="50000"/>
            </a:schemeClr>
          </a:lnRef>
          <a:fillRef idx="1">
            <a:schemeClr val="accent4"/>
          </a:fillRef>
          <a:effectRef idx="0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800">
              <a:solidFill>
                <a:schemeClr val="tx1"/>
              </a:solidFill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showMasterSp="0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4917989"/>
            <a:ext cx="9144000" cy="1940010"/>
          </a:xfrm>
          <a:prstGeom prst="rect">
            <a:avLst/>
          </a:prstGeom>
          <a:blipFill dpi="0" rotWithShape="1">
            <a:blip r:embed="rId2">
              <a:alphaModFix amt="80000"/>
              <a:lum bright="70000" contrast="-70000"/>
              <a:extLst>
                <a:ext uri="{BEBA8EAE-BF5A-486C-A8C5-ECC9F3942E4B}">
                  <a14:imgProps xmlns:a14="http://schemas.microsoft.com/office/drawing/2010/main">
                    <a14:imgLayer r:embed="rId3">
                      <a14:imgEffect>
                        <a14:sharpenSoften amount="610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tile tx="0" ty="-704850" sx="92000" sy="89000" flip="xy" algn="ctr"/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5346" y="1225296"/>
            <a:ext cx="6960870" cy="3520440"/>
          </a:xfrm>
        </p:spPr>
        <p:txBody>
          <a:bodyPr anchor="ctr">
            <a:normAutofit/>
          </a:bodyPr>
          <a:lstStyle>
            <a:lvl1pPr>
              <a:lnSpc>
                <a:spcPct val="80000"/>
              </a:lnSpc>
              <a:defRPr sz="6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4330" y="5020056"/>
            <a:ext cx="6789420" cy="1066800"/>
          </a:xfrm>
        </p:spPr>
        <p:txBody>
          <a:bodyPr anchor="t">
            <a:normAutofit/>
          </a:bodyPr>
          <a:lstStyle>
            <a:lvl1pPr marL="0" indent="0">
              <a:buNone/>
              <a:defRPr sz="1800" b="0">
                <a:solidFill>
                  <a:schemeClr val="accent1">
                    <a:lumMod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445251" y="6272787"/>
            <a:ext cx="1983232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636099" y="6272786"/>
            <a:ext cx="4745736" cy="365125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grpSp>
        <p:nvGrpSpPr>
          <p:cNvPr id="8" name="Group 7"/>
          <p:cNvGrpSpPr>
            <a:grpSpLocks noChangeAspect="1"/>
          </p:cNvGrpSpPr>
          <p:nvPr/>
        </p:nvGrpSpPr>
        <p:grpSpPr>
          <a:xfrm>
            <a:off x="633862" y="2430623"/>
            <a:ext cx="914400" cy="914400"/>
            <a:chOff x="9685338" y="4460675"/>
            <a:chExt cx="1080904" cy="1080902"/>
          </a:xfrm>
        </p:grpSpPr>
        <p:sp>
          <p:nvSpPr>
            <p:cNvPr id="9" name="Oval 8"/>
            <p:cNvSpPr/>
            <p:nvPr/>
          </p:nvSpPr>
          <p:spPr>
            <a:xfrm>
              <a:off x="9685338" y="4460675"/>
              <a:ext cx="1080904" cy="1080902"/>
            </a:xfrm>
            <a:prstGeom prst="ellipse">
              <a:avLst/>
            </a:prstGeom>
            <a:blipFill dpi="0" rotWithShape="1">
              <a:blip r:embed="rId4">
                <a:duotone>
                  <a:schemeClr val="accent1">
                    <a:shade val="45000"/>
                    <a:satMod val="135000"/>
                  </a:schemeClr>
                  <a:prstClr val="white"/>
                </a:duotone>
                <a:extLst>
                  <a:ext uri="{BEBA8EAE-BF5A-486C-A8C5-ECC9F3942E4B}">
                    <a14:imgProps xmlns:a14="http://schemas.microsoft.com/office/drawing/2010/main">
                      <a14:imgLayer r:embed="rId5">
                        <a14:imgEffect>
                          <a14:saturation sat="95000"/>
                        </a14:imgEffect>
                      </a14:imgLayer>
                    </a14:imgProps>
                  </a:ext>
                </a:extLst>
              </a:blip>
              <a:srcRect/>
              <a:tile tx="0" ty="0" sx="85000" sy="85000" flip="none" algn="tl"/>
            </a:blipFill>
            <a:ln w="25400" cap="flat" cmpd="sng" algn="ctr">
              <a:noFill/>
              <a:prstDash val="solid"/>
            </a:ln>
            <a:effectLst/>
          </p:spPr>
        </p:sp>
        <p:sp>
          <p:nvSpPr>
            <p:cNvPr id="10" name="Oval 9"/>
            <p:cNvSpPr/>
            <p:nvPr/>
          </p:nvSpPr>
          <p:spPr>
            <a:xfrm>
              <a:off x="9793429" y="4568765"/>
              <a:ext cx="864723" cy="864722"/>
            </a:xfrm>
            <a:prstGeom prst="ellipse">
              <a:avLst/>
            </a:prstGeom>
            <a:noFill/>
            <a:ln w="25400" cap="flat" cmpd="sng" algn="ctr">
              <a:solidFill>
                <a:sysClr val="window" lastClr="FFFFFF"/>
              </a:solidFill>
              <a:prstDash val="solid"/>
            </a:ln>
            <a:effectLst/>
          </p:spPr>
        </p:sp>
      </p:grp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45451" y="2508607"/>
            <a:ext cx="891224" cy="720332"/>
          </a:xfrm>
        </p:spPr>
        <p:txBody>
          <a:bodyPr/>
          <a:lstStyle>
            <a:lvl1pPr>
              <a:defRPr sz="2800"/>
            </a:lvl1pPr>
          </a:lstStyle>
          <a:p>
            <a:fld id="{751EAF42-C692-4271-8CB7-3D9B314629A6}" type="slidenum">
              <a:rPr lang="zh-CN" altLang="en-US" smtClean="0"/>
            </a:fld>
            <a:endParaRPr lang="en-US" altLang="zh-CN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6800" y="304800"/>
            <a:ext cx="7543800" cy="143192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10668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914900" y="1981200"/>
            <a:ext cx="36957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5" name="Rectangle 17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18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19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80DC657-BB46-4EF7-9D66-BFB8C6F8FE07}" type="slidenum">
              <a:rPr lang="zh-CN" altLang="en-US"/>
            </a:fld>
            <a:endParaRPr lang="en-US" altLang="zh-C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5" Type="http://schemas.openxmlformats.org/officeDocument/2006/relationships/theme" Target="../theme/theme1.xml"/><Relationship Id="rId14" Type="http://schemas.openxmlformats.org/officeDocument/2006/relationships/image" Target="../media/image5.emf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80000" cy="886662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2000" y="1447062"/>
            <a:ext cx="8280000" cy="470516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二级</a:t>
            </a:r>
            <a:endParaRPr lang="zh-CN" altLang="en-US" dirty="0"/>
          </a:p>
          <a:p>
            <a:pPr lvl="2"/>
            <a:r>
              <a:rPr lang="zh-CN" altLang="en-US" dirty="0"/>
              <a:t>三级</a:t>
            </a:r>
            <a:endParaRPr lang="zh-CN" altLang="en-US" dirty="0"/>
          </a:p>
          <a:p>
            <a:pPr lvl="3"/>
            <a:r>
              <a:rPr lang="zh-CN" altLang="en-US" dirty="0"/>
              <a:t>四级</a:t>
            </a:r>
            <a:endParaRPr lang="zh-CN" altLang="en-US" dirty="0"/>
          </a:p>
          <a:p>
            <a:pPr lvl="4"/>
            <a:r>
              <a:rPr lang="zh-CN" altLang="en-US" dirty="0"/>
              <a:t>五级</a:t>
            </a:r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45" indent="-360045" algn="l" defTabSz="914400" rtl="0" eaLnBrk="1" latinLnBrk="0" hangingPunct="1">
        <a:lnSpc>
          <a:spcPct val="100000"/>
        </a:lnSpc>
        <a:spcBef>
          <a:spcPts val="1000"/>
        </a:spcBef>
        <a:buClr>
          <a:schemeClr val="accent4"/>
        </a:buClr>
        <a:buFontTx/>
        <a:buBlip>
          <a:blip r:embed="rId14"/>
        </a:buBlip>
        <a:defRPr sz="2800" kern="1200">
          <a:solidFill>
            <a:schemeClr val="tx1"/>
          </a:solidFill>
          <a:latin typeface="+mj-ea"/>
          <a:ea typeface="+mj-ea"/>
          <a:cs typeface="+mn-cs"/>
        </a:defRPr>
      </a:lvl1pPr>
      <a:lvl2pPr marL="685800" indent="-28829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FontTx/>
        <a:buBlip>
          <a:blip r:embed="rId14"/>
        </a:buBlip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30505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00000"/>
        </a:lnSpc>
        <a:spcBef>
          <a:spcPts val="500"/>
        </a:spcBef>
        <a:buClr>
          <a:schemeClr val="accent4"/>
        </a:buClr>
        <a:buSzPct val="100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3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7.xml"/><Relationship Id="rId1" Type="http://schemas.openxmlformats.org/officeDocument/2006/relationships/image" Target="../media/image9.png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4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4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4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3.xml"/></Relationships>
</file>

<file path=ppt/slides/_rels/slide33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3.xml"/><Relationship Id="rId4" Type="http://schemas.openxmlformats.org/officeDocument/2006/relationships/slideLayout" Target="../slideLayouts/slideLayout7.xml"/><Relationship Id="rId3" Type="http://schemas.openxmlformats.org/officeDocument/2006/relationships/image" Target="../media/image12.GIF"/><Relationship Id="rId2" Type="http://schemas.openxmlformats.org/officeDocument/2006/relationships/image" Target="../media/image11.GIF"/><Relationship Id="rId1" Type="http://schemas.openxmlformats.org/officeDocument/2006/relationships/image" Target="../media/image10.GIF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ctrTitle"/>
          </p:nvPr>
        </p:nvSpPr>
        <p:spPr>
          <a:xfrm>
            <a:off x="664421" y="1773237"/>
            <a:ext cx="8479580" cy="1655763"/>
          </a:xfrm>
        </p:spPr>
        <p:txBody>
          <a:bodyPr>
            <a:normAutofit/>
          </a:bodyPr>
          <a:lstStyle/>
          <a:p>
            <a:r>
              <a:rPr lang="en-US" altLang="zh-CN"/>
              <a:t>14. </a:t>
            </a:r>
            <a:r>
              <a:rPr lang="zh-CN" altLang="en-US" dirty="0"/>
              <a:t>算法</a:t>
            </a:r>
            <a:r>
              <a:rPr lang="en-US" altLang="zh-CN" dirty="0"/>
              <a:t>——</a:t>
            </a:r>
            <a:r>
              <a:rPr lang="zh-CN" altLang="en-US" dirty="0"/>
              <a:t>查找与排序</a:t>
            </a:r>
            <a:r>
              <a:rPr lang="en-US" altLang="zh-CN" dirty="0"/>
              <a:t>	</a:t>
            </a:r>
            <a:endParaRPr lang="en-US" dirty="0"/>
          </a:p>
        </p:txBody>
      </p:sp>
      <p:sp>
        <p:nvSpPr>
          <p:cNvPr id="6" name="副标题 5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 </a:t>
            </a:r>
            <a:r>
              <a:rPr lang="zh-CN" altLang="en-US" dirty="0"/>
              <a:t>查找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zh-CN" altLang="en-US" dirty="0"/>
              <a:t>顺序查找</a:t>
            </a:r>
            <a:endParaRPr lang="en-US" altLang="zh-CN" dirty="0"/>
          </a:p>
          <a:p>
            <a:pPr lvl="1"/>
            <a:r>
              <a:rPr lang="zh-CN" altLang="en-US" dirty="0"/>
              <a:t>适用范围：一般针对无序表的查找</a:t>
            </a:r>
            <a:endParaRPr lang="en-US" altLang="zh-CN" dirty="0"/>
          </a:p>
          <a:p>
            <a:pPr lvl="1"/>
            <a:r>
              <a:rPr lang="zh-CN" altLang="en-US" dirty="0"/>
              <a:t>方法：从数组的第一个元素开始，将被查找数与数组元素进行比较，直到找到或确定不存在为止</a:t>
            </a:r>
            <a:endParaRPr lang="en-US" altLang="zh-CN" dirty="0"/>
          </a:p>
          <a:p>
            <a:r>
              <a:rPr lang="zh-CN" altLang="en-US" dirty="0"/>
              <a:t>折半查找</a:t>
            </a:r>
            <a:endParaRPr lang="en-US" altLang="zh-CN" dirty="0"/>
          </a:p>
          <a:p>
            <a:pPr lvl="1"/>
            <a:r>
              <a:rPr lang="zh-CN" altLang="en-US" dirty="0"/>
              <a:t>适用范围：有序表</a:t>
            </a:r>
            <a:endParaRPr lang="en-US" altLang="zh-CN" dirty="0"/>
          </a:p>
          <a:p>
            <a:pPr lvl="2"/>
            <a:r>
              <a:rPr lang="zh-CN" altLang="en-US" dirty="0"/>
              <a:t>设置变量</a:t>
            </a:r>
            <a:r>
              <a:rPr lang="en-US" altLang="zh-CN" dirty="0"/>
              <a:t>low</a:t>
            </a:r>
            <a:r>
              <a:rPr lang="zh-CN" altLang="en-US" dirty="0"/>
              <a:t>和</a:t>
            </a:r>
            <a:r>
              <a:rPr lang="en-US" altLang="zh-CN" dirty="0"/>
              <a:t>high</a:t>
            </a:r>
            <a:r>
              <a:rPr lang="zh-CN" altLang="en-US" dirty="0"/>
              <a:t>分别指向查找数据段的起止位置，用</a:t>
            </a:r>
            <a:r>
              <a:rPr lang="en-US" altLang="zh-CN" dirty="0"/>
              <a:t>mid</a:t>
            </a:r>
            <a:r>
              <a:rPr lang="zh-CN" altLang="en-US" dirty="0"/>
              <a:t>指向中间位置，</a:t>
            </a:r>
            <a:endParaRPr lang="en-US" altLang="zh-CN" dirty="0"/>
          </a:p>
          <a:p>
            <a:pPr lvl="2"/>
            <a:r>
              <a:rPr lang="zh-CN" altLang="en-US" dirty="0"/>
              <a:t>将被查找数与</a:t>
            </a:r>
            <a:r>
              <a:rPr lang="en-US" altLang="zh-CN" dirty="0"/>
              <a:t>mid</a:t>
            </a:r>
            <a:r>
              <a:rPr lang="zh-CN" altLang="en-US" dirty="0"/>
              <a:t>位置指向的数进行比较</a:t>
            </a:r>
            <a:endParaRPr lang="en-US" altLang="zh-CN" dirty="0"/>
          </a:p>
          <a:p>
            <a:pPr lvl="2"/>
            <a:r>
              <a:rPr lang="zh-CN" altLang="en-US" dirty="0"/>
              <a:t>若被查找数大于</a:t>
            </a:r>
            <a:r>
              <a:rPr lang="en-US" altLang="zh-CN" dirty="0"/>
              <a:t>mid</a:t>
            </a:r>
            <a:r>
              <a:rPr lang="zh-CN" altLang="en-US" dirty="0"/>
              <a:t>位置指向的数，则将</a:t>
            </a:r>
            <a:r>
              <a:rPr lang="en-US" altLang="zh-CN" dirty="0"/>
              <a:t>low</a:t>
            </a:r>
            <a:r>
              <a:rPr lang="zh-CN" altLang="en-US" dirty="0"/>
              <a:t>与</a:t>
            </a:r>
            <a:r>
              <a:rPr lang="en-US" altLang="zh-CN" dirty="0"/>
              <a:t>mid</a:t>
            </a:r>
            <a:r>
              <a:rPr lang="zh-CN" altLang="en-US" dirty="0"/>
              <a:t>之间的数折掉， </a:t>
            </a:r>
            <a:r>
              <a:rPr lang="en-US" altLang="zh-CN" dirty="0"/>
              <a:t>low</a:t>
            </a:r>
            <a:r>
              <a:rPr lang="zh-CN" altLang="en-US" dirty="0"/>
              <a:t>定位于</a:t>
            </a:r>
            <a:r>
              <a:rPr lang="en-US" altLang="zh-CN" dirty="0"/>
              <a:t>mid+1</a:t>
            </a:r>
            <a:r>
              <a:rPr lang="zh-CN" altLang="en-US" dirty="0"/>
              <a:t>位置；</a:t>
            </a:r>
            <a:endParaRPr lang="en-US" altLang="zh-CN" dirty="0"/>
          </a:p>
          <a:p>
            <a:pPr lvl="2"/>
            <a:r>
              <a:rPr lang="zh-CN" altLang="en-US" dirty="0"/>
              <a:t>若被查找数小于</a:t>
            </a:r>
            <a:r>
              <a:rPr lang="en-US" altLang="zh-CN" dirty="0"/>
              <a:t>mid</a:t>
            </a:r>
            <a:r>
              <a:rPr lang="zh-CN" altLang="en-US" dirty="0"/>
              <a:t>位置指向的数，则将</a:t>
            </a:r>
            <a:r>
              <a:rPr lang="en-US" altLang="zh-CN" dirty="0"/>
              <a:t>mid</a:t>
            </a:r>
            <a:r>
              <a:rPr lang="zh-CN" altLang="en-US" dirty="0"/>
              <a:t> 与</a:t>
            </a:r>
            <a:r>
              <a:rPr lang="en-US" altLang="zh-CN" dirty="0"/>
              <a:t>high</a:t>
            </a:r>
            <a:r>
              <a:rPr lang="zh-CN" altLang="en-US" dirty="0"/>
              <a:t>之间的数折掉， </a:t>
            </a:r>
            <a:r>
              <a:rPr lang="en-US" altLang="zh-CN" dirty="0"/>
              <a:t>high</a:t>
            </a:r>
            <a:r>
              <a:rPr lang="zh-CN" altLang="en-US" dirty="0"/>
              <a:t>定位于</a:t>
            </a:r>
            <a:r>
              <a:rPr lang="en-US" altLang="zh-CN" dirty="0"/>
              <a:t>mid-1</a:t>
            </a:r>
            <a:r>
              <a:rPr lang="zh-CN" altLang="en-US" dirty="0"/>
              <a:t>位置；</a:t>
            </a:r>
            <a:endParaRPr lang="en-US" altLang="zh-CN" dirty="0"/>
          </a:p>
          <a:p>
            <a:pPr lvl="2"/>
            <a:r>
              <a:rPr lang="zh-CN" altLang="en-US" dirty="0"/>
              <a:t>继续求</a:t>
            </a:r>
            <a:r>
              <a:rPr lang="en-US" altLang="zh-CN" dirty="0"/>
              <a:t>mid</a:t>
            </a:r>
            <a:r>
              <a:rPr lang="zh-CN" altLang="en-US" dirty="0"/>
              <a:t>位置，并比较被查找数与</a:t>
            </a:r>
            <a:r>
              <a:rPr lang="en-US" altLang="zh-CN" dirty="0"/>
              <a:t>mid</a:t>
            </a:r>
            <a:r>
              <a:rPr lang="zh-CN" altLang="en-US" dirty="0"/>
              <a:t>位置指向的数，直到找到或确定不存在为止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6.1.1 </a:t>
            </a:r>
            <a:r>
              <a:rPr lang="zh-CN" altLang="en-US" dirty="0"/>
              <a:t>顺序查找</a:t>
            </a:r>
            <a:endParaRPr lang="zh-CN" altLang="en-US" dirty="0"/>
          </a:p>
        </p:txBody>
      </p:sp>
      <p:graphicFrame>
        <p:nvGraphicFramePr>
          <p:cNvPr id="5" name="表格 4"/>
          <p:cNvGraphicFramePr>
            <a:graphicFrameLocks noGrp="1"/>
          </p:cNvGraphicFramePr>
          <p:nvPr/>
        </p:nvGraphicFramePr>
        <p:xfrm>
          <a:off x="1477039" y="1805147"/>
          <a:ext cx="6096000" cy="457200"/>
        </p:xfrm>
        <a:graphic>
          <a:graphicData uri="http://schemas.openxmlformats.org/drawingml/2006/table">
            <a:tbl>
              <a:tblPr firstRow="1" bandRow="1"/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6" name="组合 23"/>
          <p:cNvGrpSpPr/>
          <p:nvPr/>
        </p:nvGrpSpPr>
        <p:grpSpPr bwMode="auto">
          <a:xfrm>
            <a:off x="1705639" y="2338547"/>
            <a:ext cx="762000" cy="766763"/>
            <a:chOff x="2743200" y="4114800"/>
            <a:chExt cx="762000" cy="766465"/>
          </a:xfrm>
        </p:grpSpPr>
        <p:sp>
          <p:nvSpPr>
            <p:cNvPr id="7" name="TextBox 31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8" name="上箭头 7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9" name="TextBox 8"/>
          <p:cNvSpPr txBox="1">
            <a:spLocks noChangeArrowheads="1"/>
          </p:cNvSpPr>
          <p:nvPr/>
        </p:nvSpPr>
        <p:spPr bwMode="auto">
          <a:xfrm>
            <a:off x="1477039" y="1271747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x=34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0" name="组合 23"/>
          <p:cNvGrpSpPr/>
          <p:nvPr/>
        </p:nvGrpSpPr>
        <p:grpSpPr bwMode="auto">
          <a:xfrm>
            <a:off x="2620039" y="2333785"/>
            <a:ext cx="762000" cy="766762"/>
            <a:chOff x="2743200" y="4114800"/>
            <a:chExt cx="762000" cy="766465"/>
          </a:xfrm>
        </p:grpSpPr>
        <p:sp>
          <p:nvSpPr>
            <p:cNvPr id="11" name="TextBox 317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2" name="上箭头 11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3" name="组合 23"/>
          <p:cNvGrpSpPr/>
          <p:nvPr/>
        </p:nvGrpSpPr>
        <p:grpSpPr bwMode="auto">
          <a:xfrm>
            <a:off x="3686839" y="2338547"/>
            <a:ext cx="762000" cy="766763"/>
            <a:chOff x="2743200" y="4114800"/>
            <a:chExt cx="762000" cy="766465"/>
          </a:xfrm>
        </p:grpSpPr>
        <p:sp>
          <p:nvSpPr>
            <p:cNvPr id="14" name="TextBox 320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5" name="上箭头 14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6" name="组合 23"/>
          <p:cNvGrpSpPr/>
          <p:nvPr/>
        </p:nvGrpSpPr>
        <p:grpSpPr bwMode="auto">
          <a:xfrm>
            <a:off x="4601239" y="2333784"/>
            <a:ext cx="762000" cy="766763"/>
            <a:chOff x="2743200" y="4114800"/>
            <a:chExt cx="762000" cy="766465"/>
          </a:xfrm>
        </p:grpSpPr>
        <p:sp>
          <p:nvSpPr>
            <p:cNvPr id="17" name="TextBox 32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i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8" name="上箭头 17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pic>
        <p:nvPicPr>
          <p:cNvPr id="19" name="图片 18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001039" y="3287330"/>
            <a:ext cx="4627824" cy="3570670"/>
          </a:xfrm>
          <a:prstGeom prst="rect">
            <a:avLst/>
          </a:prstGeom>
        </p:spPr>
      </p:pic>
      <p:sp>
        <p:nvSpPr>
          <p:cNvPr id="20" name="矩形 19"/>
          <p:cNvSpPr/>
          <p:nvPr/>
        </p:nvSpPr>
        <p:spPr>
          <a:xfrm>
            <a:off x="1413432" y="3405465"/>
            <a:ext cx="210841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zh-CN" altLang="en-US" dirty="0">
                <a:solidFill>
                  <a:srgbClr val="0033CC"/>
                </a:solidFill>
                <a:latin typeface="Arial" panose="020B0604020202020204"/>
                <a:ea typeface="Arial Unicode MS" pitchFamily="34" charset="-122"/>
                <a:cs typeface="Arial Unicode MS" pitchFamily="34" charset="-122"/>
              </a:rPr>
              <a:t>参考代码：</a:t>
            </a:r>
            <a:endParaRPr lang="zh-CN" altLang="en-US" dirty="0">
              <a:solidFill>
                <a:srgbClr val="0033CC"/>
              </a:solidFill>
              <a:latin typeface="Arial" panose="020B0604020202020204"/>
              <a:ea typeface="Arial Unicode MS" pitchFamily="34" charset="-122"/>
              <a:cs typeface="Arial Unicode MS" pitchFamily="3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6.1.2 </a:t>
            </a:r>
            <a:r>
              <a:rPr lang="zh-CN" altLang="en-US" dirty="0"/>
              <a:t>二分查找</a:t>
            </a:r>
            <a:endParaRPr lang="zh-CN" altLang="en-US" dirty="0"/>
          </a:p>
        </p:txBody>
      </p:sp>
      <p:graphicFrame>
        <p:nvGraphicFramePr>
          <p:cNvPr id="6" name="表格 5"/>
          <p:cNvGraphicFramePr>
            <a:graphicFrameLocks noGrp="1"/>
          </p:cNvGraphicFramePr>
          <p:nvPr/>
        </p:nvGraphicFramePr>
        <p:xfrm>
          <a:off x="2959089" y="2023689"/>
          <a:ext cx="6096000" cy="457200"/>
        </p:xfrm>
        <a:graphic>
          <a:graphicData uri="http://schemas.openxmlformats.org/drawingml/2006/table">
            <a:tbl>
              <a:tblPr firstRow="1" bandRow="1"/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Constantia" panose="02030602050306030303"/>
                        </a:defRPr>
                      </a:lvl9pPr>
                    </a:lstStyle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ysClr val="windowText" lastClr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</a:tr>
            </a:tbl>
          </a:graphicData>
        </a:graphic>
      </p:graphicFrame>
      <p:grpSp>
        <p:nvGrpSpPr>
          <p:cNvPr id="7" name="组合 23"/>
          <p:cNvGrpSpPr/>
          <p:nvPr/>
        </p:nvGrpSpPr>
        <p:grpSpPr bwMode="auto">
          <a:xfrm>
            <a:off x="3187689" y="2557089"/>
            <a:ext cx="762000" cy="766763"/>
            <a:chOff x="2743200" y="4114800"/>
            <a:chExt cx="762000" cy="766465"/>
          </a:xfrm>
        </p:grpSpPr>
        <p:sp>
          <p:nvSpPr>
            <p:cNvPr id="8" name="TextBox 259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CC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9" name="上箭头 8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0" name="TextBox 9"/>
          <p:cNvSpPr txBox="1">
            <a:spLocks noChangeArrowheads="1"/>
          </p:cNvSpPr>
          <p:nvPr/>
        </p:nvSpPr>
        <p:spPr bwMode="auto">
          <a:xfrm>
            <a:off x="2022985" y="1407665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 dirty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x=34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11" name="组合 23"/>
          <p:cNvGrpSpPr/>
          <p:nvPr/>
        </p:nvGrpSpPr>
        <p:grpSpPr bwMode="auto">
          <a:xfrm>
            <a:off x="8153400" y="2559010"/>
            <a:ext cx="990600" cy="766763"/>
            <a:chOff x="2743200" y="4114800"/>
            <a:chExt cx="990600" cy="766465"/>
          </a:xfrm>
        </p:grpSpPr>
        <p:sp>
          <p:nvSpPr>
            <p:cNvPr id="12" name="TextBox 26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9906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3" name="上箭头 12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14" name="组合 23"/>
          <p:cNvGrpSpPr/>
          <p:nvPr/>
        </p:nvGrpSpPr>
        <p:grpSpPr bwMode="auto">
          <a:xfrm>
            <a:off x="5168889" y="2557089"/>
            <a:ext cx="762000" cy="766763"/>
            <a:chOff x="2743200" y="4114800"/>
            <a:chExt cx="762000" cy="766465"/>
          </a:xfrm>
        </p:grpSpPr>
        <p:sp>
          <p:nvSpPr>
            <p:cNvPr id="15" name="TextBox 14"/>
            <p:cNvSpPr txBox="1"/>
            <p:nvPr/>
          </p:nvSpPr>
          <p:spPr>
            <a:xfrm>
              <a:off x="2743200" y="4419482"/>
              <a:ext cx="762000" cy="4617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CCA62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mid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CCA6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16" name="上箭头 15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17" name="TextBox 271"/>
          <p:cNvSpPr txBox="1">
            <a:spLocks noChangeArrowheads="1"/>
          </p:cNvSpPr>
          <p:nvPr/>
        </p:nvSpPr>
        <p:spPr bwMode="auto">
          <a:xfrm>
            <a:off x="2959089" y="1414089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0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8" name="TextBox 272"/>
          <p:cNvSpPr txBox="1">
            <a:spLocks noChangeArrowheads="1"/>
          </p:cNvSpPr>
          <p:nvPr/>
        </p:nvSpPr>
        <p:spPr bwMode="auto">
          <a:xfrm>
            <a:off x="3949689" y="1414089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19" name="TextBox 273"/>
          <p:cNvSpPr txBox="1">
            <a:spLocks noChangeArrowheads="1"/>
          </p:cNvSpPr>
          <p:nvPr/>
        </p:nvSpPr>
        <p:spPr bwMode="auto">
          <a:xfrm>
            <a:off x="5016489" y="1414089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2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0" name="TextBox 274"/>
          <p:cNvSpPr txBox="1">
            <a:spLocks noChangeArrowheads="1"/>
          </p:cNvSpPr>
          <p:nvPr/>
        </p:nvSpPr>
        <p:spPr bwMode="auto">
          <a:xfrm>
            <a:off x="6007089" y="1414089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3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1" name="TextBox 275"/>
          <p:cNvSpPr txBox="1">
            <a:spLocks noChangeArrowheads="1"/>
          </p:cNvSpPr>
          <p:nvPr/>
        </p:nvSpPr>
        <p:spPr bwMode="auto">
          <a:xfrm>
            <a:off x="7073889" y="1414089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4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sp>
        <p:nvSpPr>
          <p:cNvPr id="22" name="TextBox 276"/>
          <p:cNvSpPr txBox="1">
            <a:spLocks noChangeArrowheads="1"/>
          </p:cNvSpPr>
          <p:nvPr/>
        </p:nvSpPr>
        <p:spPr bwMode="auto">
          <a:xfrm>
            <a:off x="8064489" y="1414089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endParaRPr kumimoji="0" lang="zh-CN" altLang="en-US" sz="2400" b="1" i="0" u="none" strike="noStrike" kern="0" cap="none" spc="0" normalizeH="0" baseline="0" noProof="0">
              <a:ln>
                <a:noFill/>
              </a:ln>
              <a:solidFill>
                <a:srgbClr val="FF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  <p:grpSp>
        <p:nvGrpSpPr>
          <p:cNvPr id="23" name="组合 23"/>
          <p:cNvGrpSpPr/>
          <p:nvPr/>
        </p:nvGrpSpPr>
        <p:grpSpPr bwMode="auto">
          <a:xfrm>
            <a:off x="5930889" y="2557089"/>
            <a:ext cx="762000" cy="766763"/>
            <a:chOff x="2743200" y="4114800"/>
            <a:chExt cx="762000" cy="766465"/>
          </a:xfrm>
        </p:grpSpPr>
        <p:sp>
          <p:nvSpPr>
            <p:cNvPr id="24" name="TextBox 278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CC00CC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low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CC00CC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5" name="上箭头 24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6" name="组合 23"/>
          <p:cNvGrpSpPr/>
          <p:nvPr/>
        </p:nvGrpSpPr>
        <p:grpSpPr bwMode="auto">
          <a:xfrm>
            <a:off x="7226289" y="2557089"/>
            <a:ext cx="762000" cy="766763"/>
            <a:chOff x="2743200" y="4114800"/>
            <a:chExt cx="762000" cy="766465"/>
          </a:xfrm>
        </p:grpSpPr>
        <p:sp>
          <p:nvSpPr>
            <p:cNvPr id="27" name="TextBox 26"/>
            <p:cNvSpPr txBox="1"/>
            <p:nvPr/>
          </p:nvSpPr>
          <p:spPr>
            <a:xfrm>
              <a:off x="2743200" y="4419482"/>
              <a:ext cx="762000" cy="4617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CCA62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mid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CCA6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28" name="上箭头 27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29" name="组合 23"/>
          <p:cNvGrpSpPr/>
          <p:nvPr/>
        </p:nvGrpSpPr>
        <p:grpSpPr bwMode="auto">
          <a:xfrm>
            <a:off x="6464289" y="2557089"/>
            <a:ext cx="838200" cy="766763"/>
            <a:chOff x="2743200" y="4114800"/>
            <a:chExt cx="838200" cy="766465"/>
          </a:xfrm>
        </p:grpSpPr>
        <p:sp>
          <p:nvSpPr>
            <p:cNvPr id="30" name="TextBox 284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8382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>
                  <a:ln>
                    <a:noFill/>
                  </a:ln>
                  <a:solidFill>
                    <a:srgbClr val="FF0000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high</a:t>
              </a:r>
              <a:endParaRPr kumimoji="0" lang="zh-CN" altLang="en-US" sz="2400" b="1" i="0" u="none" strike="noStrike" kern="0" cap="none" spc="0" normalizeH="0" baseline="0" noProof="0">
                <a:ln>
                  <a:noFill/>
                </a:ln>
                <a:solidFill>
                  <a:srgbClr val="FF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1" name="上箭头 30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grpSp>
        <p:nvGrpSpPr>
          <p:cNvPr id="32" name="组合 23"/>
          <p:cNvGrpSpPr/>
          <p:nvPr/>
        </p:nvGrpSpPr>
        <p:grpSpPr bwMode="auto">
          <a:xfrm>
            <a:off x="6235689" y="3776289"/>
            <a:ext cx="762000" cy="766763"/>
            <a:chOff x="2743200" y="4114800"/>
            <a:chExt cx="762000" cy="766465"/>
          </a:xfrm>
        </p:grpSpPr>
        <p:sp>
          <p:nvSpPr>
            <p:cNvPr id="33" name="TextBox 32"/>
            <p:cNvSpPr txBox="1"/>
            <p:nvPr/>
          </p:nvSpPr>
          <p:spPr>
            <a:xfrm>
              <a:off x="2743200" y="4419482"/>
              <a:ext cx="762000" cy="461783"/>
            </a:xfrm>
            <a:prstGeom prst="rect">
              <a:avLst/>
            </a:prstGeom>
            <a:noFill/>
          </p:spPr>
          <p:txBody>
            <a:bodyPr>
              <a:spAutoFit/>
            </a:bodyPr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r>
                <a:rPr kumimoji="0" lang="en-US" altLang="zh-CN" sz="2400" b="1" i="0" u="none" strike="noStrike" kern="0" cap="none" spc="0" normalizeH="0" baseline="0" noProof="0" dirty="0">
                  <a:ln>
                    <a:noFill/>
                  </a:ln>
                  <a:solidFill>
                    <a:srgbClr val="7CCA62"/>
                  </a:solidFill>
                  <a:effectLst/>
                  <a:uLnTx/>
                  <a:uFillTx/>
                  <a:latin typeface="Arial" panose="020B0604020202020204" pitchFamily="34" charset="0"/>
                  <a:ea typeface="宋体" panose="02010600030101010101" pitchFamily="2" charset="-122"/>
                </a:rPr>
                <a:t>mid</a:t>
              </a:r>
              <a:endPara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7CCA62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endParaRPr>
            </a:p>
          </p:txBody>
        </p:sp>
        <p:sp>
          <p:nvSpPr>
            <p:cNvPr id="34" name="上箭头 33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  <a:solidFill>
              <a:srgbClr val="0F6FC6"/>
            </a:solidFill>
            <a:ln w="25400" cap="flat" cmpd="sng" algn="ctr">
              <a:solidFill>
                <a:srgbClr val="0F6FC6">
                  <a:shade val="50000"/>
                </a:srgbClr>
              </a:solidFill>
              <a:prstDash val="solid"/>
            </a:ln>
            <a:effectLst/>
          </p:spPr>
          <p:txBody>
            <a:bodyPr anchor="ctr"/>
            <a:lstStyle/>
            <a:p>
              <a:pPr marL="0" marR="0" lvl="0" indent="0" algn="ctr" defTabSz="91440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defRPr/>
              </a:pPr>
              <a:endParaRPr kumimoji="0" lang="zh-CN" altLang="en-US" sz="1800" b="0" i="0" u="none" strike="noStrike" kern="0" cap="none" spc="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onstantia" panose="02030602050306030303"/>
                <a:ea typeface="宋体" panose="02010600030101010101" pitchFamily="2" charset="-122"/>
                <a:cs typeface="+mn-cs"/>
              </a:endParaRPr>
            </a:p>
          </p:txBody>
        </p:sp>
      </p:grpSp>
      <p:sp>
        <p:nvSpPr>
          <p:cNvPr id="35" name="矩形 34"/>
          <p:cNvSpPr/>
          <p:nvPr/>
        </p:nvSpPr>
        <p:spPr>
          <a:xfrm>
            <a:off x="4940289" y="3776289"/>
            <a:ext cx="1143000" cy="533400"/>
          </a:xfrm>
          <a:prstGeom prst="rect">
            <a:avLst/>
          </a:prstGeom>
          <a:solidFill>
            <a:srgbClr val="0F6FC6"/>
          </a:solidFill>
          <a:ln w="2540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34&gt; 22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6" name="矩形 35"/>
          <p:cNvSpPr/>
          <p:nvPr/>
        </p:nvSpPr>
        <p:spPr>
          <a:xfrm>
            <a:off x="7226289" y="3700089"/>
            <a:ext cx="1143000" cy="533400"/>
          </a:xfrm>
          <a:prstGeom prst="rect">
            <a:avLst/>
          </a:prstGeom>
          <a:solidFill>
            <a:srgbClr val="0F6FC6"/>
          </a:solidFill>
          <a:ln w="2540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34&lt;45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sp>
        <p:nvSpPr>
          <p:cNvPr id="37" name="矩形 36"/>
          <p:cNvSpPr/>
          <p:nvPr/>
        </p:nvSpPr>
        <p:spPr>
          <a:xfrm>
            <a:off x="6159489" y="4690689"/>
            <a:ext cx="1143000" cy="533400"/>
          </a:xfrm>
          <a:prstGeom prst="rect">
            <a:avLst/>
          </a:prstGeom>
          <a:solidFill>
            <a:srgbClr val="0F6FC6"/>
          </a:solidFill>
          <a:ln w="25400" cap="flat" cmpd="sng" algn="ctr">
            <a:solidFill>
              <a:srgbClr val="0F6FC6">
                <a:shade val="50000"/>
              </a:srgbClr>
            </a:solidFill>
            <a:prstDash val="solid"/>
          </a:ln>
          <a:effectLst/>
        </p:spPr>
        <p:txBody>
          <a:bodyPr anchor="ctr"/>
          <a:lstStyle/>
          <a:p>
            <a:pPr marL="0" marR="0" lvl="0" indent="0" algn="ctr" defTabSz="9144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altLang="zh-CN" sz="1800" b="0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Arial" panose="020B0604020202020204"/>
                <a:ea typeface="宋体" panose="02010600030101010101" pitchFamily="2" charset="-122"/>
                <a:cs typeface="+mn-cs"/>
              </a:rPr>
              <a:t>34=34</a:t>
            </a:r>
            <a:endParaRPr kumimoji="0" lang="zh-CN" altLang="en-US" sz="180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Arial" panose="020B0604020202020204"/>
              <a:ea typeface="宋体" panose="02010600030101010101" pitchFamily="2" charset="-122"/>
              <a:cs typeface="+mn-cs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1792" y="3211572"/>
            <a:ext cx="3360253" cy="3646428"/>
          </a:xfrm>
          <a:prstGeom prst="rect">
            <a:avLst/>
          </a:prstGeom>
        </p:spPr>
      </p:pic>
      <p:sp>
        <p:nvSpPr>
          <p:cNvPr id="4" name="矩形 3"/>
          <p:cNvSpPr/>
          <p:nvPr/>
        </p:nvSpPr>
        <p:spPr>
          <a:xfrm>
            <a:off x="270302" y="2725485"/>
            <a:ext cx="13388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dirty="0">
                <a:solidFill>
                  <a:srgbClr val="0033CC"/>
                </a:solidFill>
                <a:latin typeface="Arial" panose="020B0604020202020204"/>
                <a:ea typeface="Arial Unicode MS" pitchFamily="34" charset="-122"/>
                <a:cs typeface="Arial Unicode MS" pitchFamily="34" charset="-122"/>
              </a:rPr>
              <a:t>核心代码：</a:t>
            </a:r>
            <a:endParaRPr lang="zh-CN" altLang="en-US" dirty="0">
              <a:solidFill>
                <a:srgbClr val="0033CC"/>
              </a:solidFill>
              <a:latin typeface="Arial" panose="020B0604020202020204"/>
              <a:ea typeface="Arial Unicode MS" pitchFamily="34" charset="-122"/>
              <a:cs typeface="Arial Unicode MS" pitchFamily="34" charset="-122"/>
            </a:endParaRPr>
          </a:p>
        </p:txBody>
      </p:sp>
      <p:sp>
        <p:nvSpPr>
          <p:cNvPr id="5" name="文本框 4"/>
          <p:cNvSpPr txBox="1"/>
          <p:nvPr/>
        </p:nvSpPr>
        <p:spPr>
          <a:xfrm>
            <a:off x="2114089" y="3478692"/>
            <a:ext cx="208962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这里如果改成“ </a:t>
            </a:r>
            <a:r>
              <a:rPr lang="en-US" altLang="zh-CN" sz="2400" b="1" dirty="0"/>
              <a:t>&lt;</a:t>
            </a:r>
            <a:r>
              <a:rPr lang="zh-CN" altLang="en-US" sz="2400" b="1" dirty="0"/>
              <a:t>“会怎么样？</a:t>
            </a:r>
            <a:endParaRPr lang="zh-CN" altLang="en-US" sz="2400" b="1" dirty="0"/>
          </a:p>
        </p:txBody>
      </p:sp>
      <p:sp>
        <p:nvSpPr>
          <p:cNvPr id="38" name="文本框 37"/>
          <p:cNvSpPr txBox="1"/>
          <p:nvPr/>
        </p:nvSpPr>
        <p:spPr>
          <a:xfrm>
            <a:off x="2482009" y="5304279"/>
            <a:ext cx="256781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 dirty="0"/>
              <a:t>这里如果改成</a:t>
            </a:r>
            <a:r>
              <a:rPr lang="en-US" altLang="zh-CN" sz="2400" b="1" dirty="0"/>
              <a:t>low=mid</a:t>
            </a:r>
            <a:r>
              <a:rPr lang="zh-CN" altLang="en-US" sz="2400" b="1" dirty="0"/>
              <a:t>会怎么样？</a:t>
            </a:r>
            <a:endParaRPr lang="zh-CN" altLang="en-US" sz="2400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35" grpId="0" animBg="1"/>
      <p:bldP spid="36" grpId="0" animBg="1"/>
      <p:bldP spid="37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算法的效率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082079" y="4090102"/>
            <a:ext cx="7148547" cy="2051753"/>
          </a:xfrm>
          <a:prstGeom prst="rect">
            <a:avLst/>
          </a:prstGeom>
          <a:solidFill>
            <a:srgbClr val="273A4F">
              <a:lumMod val="20000"/>
              <a:lumOff val="80000"/>
            </a:srgbClr>
          </a:solidFill>
          <a:ln w="28575" cap="flat" cmpd="sng" algn="ctr">
            <a:solidFill>
              <a:srgbClr val="C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1187657" y="2204864"/>
            <a:ext cx="7148547" cy="768917"/>
          </a:xfrm>
          <a:prstGeom prst="rect">
            <a:avLst/>
          </a:prstGeom>
          <a:solidFill>
            <a:srgbClr val="FFC32B">
              <a:lumMod val="20000"/>
              <a:lumOff val="80000"/>
            </a:srgbClr>
          </a:solidFill>
          <a:ln w="28575" cap="flat" cmpd="sng" algn="ctr">
            <a:solidFill>
              <a:srgbClr val="C00000"/>
            </a:solidFill>
            <a:prstDash val="sysDot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Arial" panose="020B0604020202020204" pitchFamily="34" charset="0"/>
              <a:ea typeface="微软雅黑" panose="020B0503020204020204" pitchFamily="34" charset="-122"/>
              <a:cs typeface="+mn-cs"/>
              <a:sym typeface="Arial" panose="020B0604020202020204" pitchFamily="34" charset="0"/>
            </a:endParaRPr>
          </a:p>
        </p:txBody>
      </p:sp>
      <p:sp>
        <p:nvSpPr>
          <p:cNvPr id="6" name="内容占位符 1"/>
          <p:cNvSpPr txBox="1"/>
          <p:nvPr/>
        </p:nvSpPr>
        <p:spPr>
          <a:xfrm>
            <a:off x="653502" y="1575915"/>
            <a:ext cx="7732076" cy="1711585"/>
          </a:xfrm>
          <a:prstGeom prst="rect">
            <a:avLst/>
          </a:prstGeom>
          <a:ln w="28575">
            <a:noFill/>
          </a:ln>
        </p:spPr>
        <p:txBody>
          <a:bodyPr vert="horz" lIns="91424" tIns="45712" rIns="91424" bIns="45712" rtlCol="0">
            <a:noAutofit/>
          </a:bodyPr>
          <a:lstStyle>
            <a:lvl1pPr marL="0" indent="4572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1200"/>
              </a:spcBef>
            </a:pP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顺序查找的平均时间性能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7" name="矩形 6"/>
          <p:cNvSpPr/>
          <p:nvPr/>
        </p:nvSpPr>
        <p:spPr>
          <a:xfrm>
            <a:off x="1106571" y="2308687"/>
            <a:ext cx="6936152" cy="52322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spcBef>
                <a:spcPts val="1200"/>
              </a:spcBef>
            </a:pPr>
            <a:r>
              <a:rPr lang="zh-CN" altLang="pt-BR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（</a:t>
            </a:r>
            <a:r>
              <a:rPr lang="pt-BR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1 + 2 + 3 + … + n ) / n = ( n + 1 ) / 2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8" name="内容占位符 1"/>
          <p:cNvSpPr txBox="1"/>
          <p:nvPr/>
        </p:nvSpPr>
        <p:spPr>
          <a:xfrm>
            <a:off x="652198" y="3422069"/>
            <a:ext cx="7733380" cy="645924"/>
          </a:xfrm>
          <a:prstGeom prst="rect">
            <a:avLst/>
          </a:prstGeom>
          <a:ln w="28575">
            <a:noFill/>
          </a:ln>
        </p:spPr>
        <p:txBody>
          <a:bodyPr vert="horz" lIns="91424" tIns="45712" rIns="91424" bIns="45712" rtlCol="0">
            <a:noAutofit/>
          </a:bodyPr>
          <a:lstStyle>
            <a:lvl1pPr marL="0" indent="4572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1200"/>
              </a:spcBef>
            </a:pPr>
            <a:r>
              <a:rPr lang="zh-CN" altLang="en-US" sz="2800" dirty="0">
                <a:solidFill>
                  <a:srgbClr val="FFC32B">
                    <a:lumMod val="50000"/>
                  </a:srgb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二分查找的最坏情况的时间性能</a:t>
            </a:r>
            <a:endParaRPr lang="zh-CN" altLang="en-US" sz="2800" dirty="0">
              <a:solidFill>
                <a:srgbClr val="FFC32B">
                  <a:lumMod val="50000"/>
                </a:srgbClr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9" name="内容占位符 1"/>
          <p:cNvSpPr txBox="1"/>
          <p:nvPr/>
        </p:nvSpPr>
        <p:spPr>
          <a:xfrm>
            <a:off x="1106571" y="4065389"/>
            <a:ext cx="5553661" cy="2167368"/>
          </a:xfrm>
          <a:prstGeom prst="rect">
            <a:avLst/>
          </a:prstGeom>
          <a:ln w="28575">
            <a:noFill/>
          </a:ln>
        </p:spPr>
        <p:txBody>
          <a:bodyPr vert="horz" lIns="91424" tIns="45712" rIns="91424" bIns="45712" rtlCol="0">
            <a:noAutofit/>
          </a:bodyPr>
          <a:lstStyle>
            <a:lvl1pPr marL="0" indent="4572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1200"/>
              </a:spcBef>
            </a:pPr>
            <a:r>
              <a:rPr lang="pt-BR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 n / 2 / 2 … / 2 / 2 = 1</a:t>
            </a:r>
            <a:endParaRPr lang="pt-BR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spcBef>
                <a:spcPts val="1200"/>
              </a:spcBef>
            </a:pPr>
            <a:endParaRPr lang="pt-BR" altLang="zh-CN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  <a:p>
            <a:pPr indent="0">
              <a:spcBef>
                <a:spcPts val="1200"/>
              </a:spcBef>
            </a:pPr>
            <a:r>
              <a:rPr lang="pt-BR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k=log</a:t>
            </a:r>
            <a:r>
              <a:rPr lang="pt-BR" altLang="zh-CN" sz="2800" baseline="-250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2</a:t>
            </a:r>
            <a:r>
              <a:rPr lang="pt-BR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n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Text Box 6"/>
          <p:cNvSpPr txBox="1">
            <a:spLocks noChangeArrowheads="1"/>
          </p:cNvSpPr>
          <p:nvPr/>
        </p:nvSpPr>
        <p:spPr bwMode="auto">
          <a:xfrm>
            <a:off x="2759271" y="5138028"/>
            <a:ext cx="876625" cy="523220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zh-CN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K</a:t>
            </a:r>
            <a:r>
              <a:rPr lang="zh-CN" altLang="en-US" sz="2800" dirty="0">
                <a:solidFill>
                  <a:srgbClr val="000000"/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次</a:t>
            </a: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1" name="右大括号 10"/>
          <p:cNvSpPr/>
          <p:nvPr/>
        </p:nvSpPr>
        <p:spPr>
          <a:xfrm rot="5400000">
            <a:off x="2879811" y="3739816"/>
            <a:ext cx="360040" cy="2160240"/>
          </a:xfrm>
          <a:prstGeom prst="rightBrace">
            <a:avLst/>
          </a:prstGeom>
          <a:noFill/>
          <a:ln w="28575" cap="flat" cmpd="sng" algn="ctr">
            <a:solidFill>
              <a:srgbClr val="0070C0"/>
            </a:solidFill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kumimoji="0" lang="zh-CN" altLang="en-US" sz="18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Times New Roman" panose="02020603050405020304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搜索算法的效率</a:t>
            </a:r>
            <a:endParaRPr lang="zh-CN" altLang="en-US" dirty="0"/>
          </a:p>
        </p:txBody>
      </p:sp>
      <p:graphicFrame>
        <p:nvGraphicFramePr>
          <p:cNvPr id="4" name="内容占位符 3"/>
          <p:cNvGraphicFramePr/>
          <p:nvPr/>
        </p:nvGraphicFramePr>
        <p:xfrm>
          <a:off x="827584" y="2132856"/>
          <a:ext cx="7068570" cy="3461639"/>
        </p:xfrm>
        <a:graphic>
          <a:graphicData uri="http://schemas.openxmlformats.org/drawingml/2006/table">
            <a:tbl>
              <a:tblPr firstRow="1" bandRow="1"/>
              <a:tblGrid>
                <a:gridCol w="5008862"/>
                <a:gridCol w="2059708"/>
              </a:tblGrid>
              <a:tr h="319262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127000" algn="l">
                        <a:lnSpc>
                          <a:spcPts val="15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2800" kern="1000" dirty="0"/>
                    </a:p>
                    <a:p>
                      <a:pPr indent="127000" algn="l">
                        <a:lnSpc>
                          <a:spcPts val="15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kern="1000" dirty="0"/>
                        <a:t>           n</a:t>
                      </a:r>
                      <a:endParaRPr 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1442" marR="51442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/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b="1" kern="1200">
                          <a:solidFill>
                            <a:schemeClr val="lt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indent="127000" algn="l">
                        <a:lnSpc>
                          <a:spcPts val="15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endParaRPr lang="en-US" sz="2800" kern="1000" dirty="0"/>
                    </a:p>
                    <a:p>
                      <a:pPr indent="127000" algn="l">
                        <a:lnSpc>
                          <a:spcPts val="15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kern="1000" dirty="0"/>
                        <a:t>l</a:t>
                      </a:r>
                      <a:r>
                        <a:rPr lang="en-US" altLang="zh-CN" sz="2800" kern="1000" dirty="0"/>
                        <a:t>og</a:t>
                      </a:r>
                      <a:r>
                        <a:rPr lang="en-US" altLang="zh-CN" sz="2800" kern="1000" baseline="-25000" dirty="0"/>
                        <a:t>2</a:t>
                      </a:r>
                      <a:r>
                        <a:rPr lang="en-US" sz="2800" kern="1000" dirty="0"/>
                        <a:t>n</a:t>
                      </a:r>
                      <a:endParaRPr 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1442" marR="51442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381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/>
                    </a:solidFill>
                  </a:tcPr>
                </a:tc>
              </a:tr>
              <a:tr h="502837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R="405130" indent="579120" algn="l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kern="1000" dirty="0"/>
                        <a:t>10</a:t>
                      </a:r>
                      <a:endParaRPr 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1442" marR="51442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R="821690" indent="127000" algn="l">
                        <a:lnSpc>
                          <a:spcPct val="150000"/>
                        </a:lnSpc>
                        <a:spcBef>
                          <a:spcPts val="1800"/>
                        </a:spcBef>
                        <a:spcAft>
                          <a:spcPts val="120"/>
                        </a:spcAft>
                      </a:pPr>
                      <a:r>
                        <a:rPr lang="en-US" sz="2800" kern="1000" dirty="0"/>
                        <a:t>3</a:t>
                      </a:r>
                      <a:endParaRPr 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1442" marR="51442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381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40000"/>
                      </a:srgbClr>
                    </a:solidFill>
                  </a:tcPr>
                </a:tc>
              </a:tr>
              <a:tr h="502837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R="405130" indent="579120" algn="l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kern="1000" dirty="0"/>
                        <a:t>100</a:t>
                      </a:r>
                      <a:endParaRPr 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1442" marR="51442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R="821690" indent="127000" algn="l">
                        <a:lnSpc>
                          <a:spcPct val="150000"/>
                        </a:lnSpc>
                        <a:spcBef>
                          <a:spcPts val="1800"/>
                        </a:spcBef>
                        <a:spcAft>
                          <a:spcPts val="120"/>
                        </a:spcAft>
                      </a:pPr>
                      <a:r>
                        <a:rPr lang="en-US" sz="2800" kern="1000" dirty="0"/>
                        <a:t>7</a:t>
                      </a:r>
                      <a:endParaRPr 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1442" marR="51442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20000"/>
                      </a:srgbClr>
                    </a:solidFill>
                  </a:tcPr>
                </a:tc>
              </a:tr>
              <a:tr h="502837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R="405130" indent="579120" algn="l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sz="2800" kern="1000" dirty="0"/>
                        <a:t>1000</a:t>
                      </a:r>
                      <a:endParaRPr 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1442" marR="51442" marT="0" marB="0" anchor="ctr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R="821690" indent="127000" algn="l">
                        <a:lnSpc>
                          <a:spcPct val="150000"/>
                        </a:lnSpc>
                        <a:spcBef>
                          <a:spcPts val="1800"/>
                        </a:spcBef>
                        <a:spcAft>
                          <a:spcPts val="120"/>
                        </a:spcAft>
                      </a:pPr>
                      <a:r>
                        <a:rPr lang="en-US" sz="2800" kern="1000" dirty="0"/>
                        <a:t>10</a:t>
                      </a:r>
                      <a:endParaRPr 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 marL="51442" marR="51442" marT="0" marB="0"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40000"/>
                      </a:srgbClr>
                    </a:solidFill>
                  </a:tcPr>
                </a:tc>
              </a:tr>
              <a:tr h="515259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R="405130" indent="579120" algn="l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</a:pPr>
                      <a:r>
                        <a:rPr lang="en-US" altLang="zh-CN" sz="2800" kern="1000" dirty="0"/>
                        <a:t>1 000</a:t>
                      </a:r>
                      <a:r>
                        <a:rPr lang="en-US" altLang="zh-CN" sz="2800" kern="1000" baseline="0" dirty="0"/>
                        <a:t> </a:t>
                      </a:r>
                      <a:r>
                        <a:rPr lang="en-US" altLang="zh-CN" sz="2800" kern="1000" dirty="0"/>
                        <a:t>000</a:t>
                      </a:r>
                      <a:endParaRPr lang="zh-CN" alt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2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algn="l"/>
                      <a:r>
                        <a:rPr lang="en-US" altLang="zh-CN" sz="2800" dirty="0"/>
                        <a:t> 20</a:t>
                      </a:r>
                      <a:endParaRPr lang="zh-CN" altLang="en-US" sz="2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20000"/>
                      </a:srgbClr>
                    </a:solidFill>
                  </a:tcPr>
                </a:tc>
              </a:tr>
              <a:tr h="515259"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405130" indent="57912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120"/>
                        </a:spcBef>
                        <a:spcAft>
                          <a:spcPts val="12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kern="1000" dirty="0"/>
                        <a:t>1 000 000 000</a:t>
                      </a:r>
                      <a:endParaRPr lang="zh-CN" altLang="zh-CN" sz="2800" kern="1000" dirty="0">
                        <a:latin typeface="+mn-ea"/>
                        <a:ea typeface="+mn-ea"/>
                        <a:cs typeface="Times New Roman" panose="02020603050405020304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40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1pPr>
                      <a:lvl2pPr marL="3429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2pPr>
                      <a:lvl3pPr marL="6858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3pPr>
                      <a:lvl4pPr marL="10287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4pPr>
                      <a:lvl5pPr marL="13716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5pPr>
                      <a:lvl6pPr marL="17145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6pPr>
                      <a:lvl7pPr marL="20574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7pPr>
                      <a:lvl8pPr marL="24003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8pPr>
                      <a:lvl9pPr marL="2743200" algn="l" defTabSz="685800" rtl="0" eaLnBrk="1" latinLnBrk="0" hangingPunct="1">
                        <a:defRPr sz="1350" kern="1200">
                          <a:solidFill>
                            <a:schemeClr val="dk1"/>
                          </a:solidFill>
                          <a:latin typeface="Times New Roman" panose="02020603050405020304"/>
                          <a:ea typeface="微软雅黑" panose="020B0503020204020204" pitchFamily="34" charset="-122"/>
                        </a:defRPr>
                      </a:lvl9pPr>
                    </a:lstStyle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800" dirty="0"/>
                        <a:t> 30</a:t>
                      </a:r>
                      <a:endParaRPr lang="zh-CN" altLang="en-US" sz="2800" dirty="0">
                        <a:latin typeface="+mn-ea"/>
                        <a:ea typeface="+mn-ea"/>
                      </a:endParaRPr>
                    </a:p>
                  </a:txBody>
                  <a:tcPr>
                    <a:lnL w="12700" cmpd="sng">
                      <a:solidFill>
                        <a:srgbClr val="FFFFFF"/>
                      </a:solidFill>
                    </a:lnL>
                    <a:lnR w="12700" cmpd="sng">
                      <a:solidFill>
                        <a:srgbClr val="FFFFFF"/>
                      </a:solidFill>
                    </a:lnR>
                    <a:lnT w="12700" cmpd="sng">
                      <a:solidFill>
                        <a:srgbClr val="FFFFFF"/>
                      </a:solidFill>
                    </a:lnT>
                    <a:lnB w="12700" cmpd="sng">
                      <a:solidFill>
                        <a:srgbClr val="FFFFFF"/>
                      </a:solidFill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C32B">
                        <a:tint val="40000"/>
                      </a:srgbClr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#1552 </a:t>
            </a:r>
            <a:r>
              <a:rPr lang="zh-CN" altLang="en-US" dirty="0"/>
              <a:t>新二分查找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59293" y="1736702"/>
            <a:ext cx="5545478" cy="4589378"/>
          </a:xfrm>
        </p:spPr>
        <p:txBody>
          <a:bodyPr>
            <a:normAutofit/>
          </a:bodyPr>
          <a:lstStyle/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本题考察选手应用二分查找的能力。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给出一个从小到大排序的有序数组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，长度为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n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，和一个整数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，请找出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在数组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中的位置，如果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不存在，请返回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-1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。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若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在数组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a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中出现多次，则返回第一个</a:t>
            </a:r>
            <a:r>
              <a:rPr lang="en-US" altLang="zh-CN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x</a:t>
            </a:r>
            <a:r>
              <a:rPr lang="zh-CN" altLang="en-US" b="0" i="0" dirty="0">
                <a:solidFill>
                  <a:schemeClr val="tx1"/>
                </a:solidFill>
                <a:effectLst/>
                <a:latin typeface="Open Sans" panose="020B0606030504020204" pitchFamily="34" charset="0"/>
              </a:rPr>
              <a:t>出现的位置。</a:t>
            </a:r>
            <a:endParaRPr lang="zh-CN" altLang="en-US" b="0" i="0" dirty="0">
              <a:solidFill>
                <a:schemeClr val="tx1"/>
              </a:solidFill>
              <a:effectLst/>
              <a:latin typeface="Open Sans" panose="020B0606030504020204" pitchFamily="34" charset="0"/>
            </a:endParaRPr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426" y="94218"/>
            <a:ext cx="2470575" cy="6313692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 </a:t>
            </a:r>
            <a:r>
              <a:rPr lang="zh-CN" altLang="en-US" dirty="0"/>
              <a:t>排序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选择排序</a:t>
            </a:r>
            <a:endParaRPr lang="en-US" altLang="zh-CN" dirty="0"/>
          </a:p>
          <a:p>
            <a:r>
              <a:rPr lang="zh-CN" altLang="en-US" dirty="0"/>
              <a:t>冒泡排序</a:t>
            </a:r>
            <a:endParaRPr lang="en-US" altLang="zh-CN" dirty="0"/>
          </a:p>
          <a:p>
            <a:r>
              <a:rPr lang="zh-CN" altLang="en-US" dirty="0"/>
              <a:t>插入排序</a:t>
            </a:r>
            <a:endParaRPr lang="en-US" altLang="zh-CN" dirty="0"/>
          </a:p>
          <a:p>
            <a:r>
              <a:rPr lang="zh-CN" altLang="en-US" dirty="0">
                <a:solidFill>
                  <a:schemeClr val="tx1">
                    <a:lumMod val="50000"/>
                    <a:lumOff val="50000"/>
                  </a:schemeClr>
                </a:solidFill>
              </a:rPr>
              <a:t>快速排</a:t>
            </a:r>
            <a:r>
              <a:rPr lang="zh-CN" altLang="en-US">
                <a:solidFill>
                  <a:schemeClr val="tx1">
                    <a:lumMod val="50000"/>
                    <a:lumOff val="50000"/>
                  </a:schemeClr>
                </a:solidFill>
              </a:rPr>
              <a:t>序 （后半学期介绍）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6.2.1 </a:t>
            </a:r>
            <a:r>
              <a:rPr lang="zh-CN" altLang="en-US" dirty="0"/>
              <a:t>选择排序</a:t>
            </a:r>
            <a:endParaRPr lang="zh-CN" altLang="en-US" dirty="0"/>
          </a:p>
        </p:txBody>
      </p:sp>
      <p:sp>
        <p:nvSpPr>
          <p:cNvPr id="4" name="Rectangle 8"/>
          <p:cNvSpPr txBox="1">
            <a:spLocks noChangeArrowheads="1"/>
          </p:cNvSpPr>
          <p:nvPr/>
        </p:nvSpPr>
        <p:spPr bwMode="auto">
          <a:xfrm>
            <a:off x="914400" y="1654074"/>
            <a:ext cx="7315200" cy="3276600"/>
          </a:xfrm>
          <a:prstGeom prst="rect">
            <a:avLst/>
          </a:prstGeom>
          <a:noFill/>
          <a:ln>
            <a:solidFill>
              <a:srgbClr val="FF9900"/>
            </a:solidFill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0" tIns="45720" rIns="0" bIns="0" numCol="1" anchor="ctr" anchorCtr="1" compatLnSpc="1"/>
          <a:lstStyle>
            <a:lvl1pPr algn="l" rtl="0" eaLnBrk="0" fontAlgn="base" hangingPunct="0">
              <a:spcBef>
                <a:spcPct val="0"/>
              </a:spcBef>
              <a:spcAft>
                <a:spcPct val="0"/>
              </a:spcAft>
              <a:defRPr sz="5000" kern="1200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  <a:ea typeface="隶书" panose="02010509060101010101" pitchFamily="49" charset="-122"/>
              </a:defRPr>
            </a:lvl2pPr>
            <a:lvl3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  <a:ea typeface="隶书" panose="02010509060101010101" pitchFamily="49" charset="-122"/>
              </a:defRPr>
            </a:lvl3pPr>
            <a:lvl4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  <a:ea typeface="隶书" panose="02010509060101010101" pitchFamily="49" charset="-122"/>
              </a:defRPr>
            </a:lvl4pPr>
            <a:lvl5pPr algn="l" rtl="0" eaLnBrk="0" fontAlgn="base" hangingPunct="0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  <a:ea typeface="隶书" panose="02010509060101010101" pitchFamily="49" charset="-122"/>
              </a:defRPr>
            </a:lvl5pPr>
            <a:lvl6pPr marL="4572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  <a:ea typeface="隶书" panose="02010509060101010101" pitchFamily="49" charset="-122"/>
              </a:defRPr>
            </a:lvl6pPr>
            <a:lvl7pPr marL="9144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  <a:ea typeface="隶书" panose="02010509060101010101" pitchFamily="49" charset="-122"/>
              </a:defRPr>
            </a:lvl7pPr>
            <a:lvl8pPr marL="13716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  <a:ea typeface="隶书" panose="02010509060101010101" pitchFamily="49" charset="-122"/>
              </a:defRPr>
            </a:lvl8pPr>
            <a:lvl9pPr marL="1828800" algn="l" rtl="0" fontAlgn="base">
              <a:spcBef>
                <a:spcPct val="0"/>
              </a:spcBef>
              <a:spcAft>
                <a:spcPct val="0"/>
              </a:spcAft>
              <a:defRPr sz="5000">
                <a:solidFill>
                  <a:schemeClr val="tx2"/>
                </a:solidFill>
                <a:latin typeface="Calibri" panose="020F0502020204030204" pitchFamily="34" charset="0"/>
                <a:ea typeface="隶书" panose="02010509060101010101" pitchFamily="49" charset="-122"/>
              </a:defRPr>
            </a:lvl9pPr>
          </a:lstStyle>
          <a:p>
            <a:pPr>
              <a:defRPr/>
            </a:pPr>
            <a:r>
              <a:rPr lang="zh-CN" altLang="en-US" sz="32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从所有的数中找出最小的一个，将其放在最前面；接着在余下的数中找出最小的一个，将其放在第二位，依次类推，数列由前往后逐渐成型。</a:t>
            </a:r>
            <a:endParaRPr lang="zh-CN" altLang="en-US" sz="32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Rectangle 10"/>
          <p:cNvSpPr>
            <a:spLocks noChangeArrowheads="1"/>
          </p:cNvSpPr>
          <p:nvPr/>
        </p:nvSpPr>
        <p:spPr bwMode="auto">
          <a:xfrm>
            <a:off x="448747" y="1654074"/>
            <a:ext cx="457200" cy="3276600"/>
          </a:xfrm>
          <a:prstGeom prst="rect">
            <a:avLst/>
          </a:prstGeom>
          <a:solidFill>
            <a:srgbClr val="FF9900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思</a:t>
            </a:r>
            <a:endParaRPr lang="zh-CN" altLang="en-US" sz="32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algn="ctr" fontAlgn="base">
              <a:spcBef>
                <a:spcPct val="0"/>
              </a:spcBef>
              <a:spcAft>
                <a:spcPct val="0"/>
              </a:spcAft>
              <a:defRPr/>
            </a:pPr>
            <a:r>
              <a:rPr lang="zh-CN" altLang="en-US" sz="32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路</a:t>
            </a:r>
            <a:endParaRPr lang="zh-CN" altLang="en-US" sz="16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7" name="Text Box 11"/>
          <p:cNvSpPr txBox="1">
            <a:spLocks noChangeArrowheads="1"/>
          </p:cNvSpPr>
          <p:nvPr/>
        </p:nvSpPr>
        <p:spPr bwMode="auto">
          <a:xfrm>
            <a:off x="190500" y="5203926"/>
            <a:ext cx="8763000" cy="954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 type="none" w="sm" len="sm"/>
                <a:tailEnd type="none" w="sm" len="sm"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marL="0" marR="0" lvl="0" indent="0" defTabSz="914400" eaLnBrk="1" fontAlgn="base" latinLnBrk="0" hangingPunct="1">
              <a:lnSpc>
                <a:spcPct val="100000"/>
              </a:lnSpc>
              <a:spcBef>
                <a:spcPct val="5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下面以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6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个数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(22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34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10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5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89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、</a:t>
            </a:r>
            <a:r>
              <a:rPr kumimoji="0" lang="en-US" altLang="zh-CN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45)</a:t>
            </a:r>
            <a:r>
              <a:rPr kumimoji="0" lang="zh-CN" altLang="en-US" sz="2800" b="1" i="0" u="none" strike="noStrike" kern="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 panose="020B0604020202020204" pitchFamily="34" charset="0"/>
                <a:ea typeface="宋体" panose="02010600030101010101" pitchFamily="2" charset="-122"/>
              </a:rPr>
              <a:t>为例，用图示说明。</a:t>
            </a:r>
            <a:endParaRPr kumimoji="0" lang="zh-CN" altLang="en-US" sz="2800" b="1" i="0" u="none" strike="noStrike" kern="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6"/>
          <p:cNvSpPr txBox="1">
            <a:spLocks noGrp="1"/>
          </p:cNvSpPr>
          <p:nvPr/>
        </p:nvSpPr>
        <p:spPr>
          <a:xfrm>
            <a:off x="8748713" y="6381750"/>
            <a:ext cx="395287" cy="4762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61B5067B-8770-4A0C-BD68-C34B1F3055B4}" type="slidenum">
              <a:rPr lang="en-US" altLang="zh-CN" sz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rPr>
            </a:fld>
            <a:endParaRPr lang="en-US" altLang="zh-CN" sz="1200">
              <a:solidFill>
                <a:schemeClr val="tx2">
                  <a:shade val="9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6147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274638"/>
            <a:ext cx="8991600" cy="563562"/>
          </a:xfrm>
          <a:solidFill>
            <a:srgbClr val="FFC489"/>
          </a:solidFill>
        </p:spPr>
        <p:txBody>
          <a:bodyPr/>
          <a:lstStyle/>
          <a:p>
            <a:r>
              <a:rPr lang="zh-CN" altLang="en-US" sz="2800" dirty="0"/>
              <a:t>第一轮：先找出序列中最小的一个放在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=0</a:t>
            </a:r>
            <a:r>
              <a:rPr lang="zh-CN" altLang="en-US" sz="2800" dirty="0"/>
              <a:t>位置。</a:t>
            </a:r>
            <a:endParaRPr lang="zh-CN" altLang="en-US" sz="28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600200" y="1524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164" name="TextBox 17"/>
          <p:cNvSpPr txBox="1">
            <a:spLocks noChangeArrowheads="1"/>
          </p:cNvSpPr>
          <p:nvPr/>
        </p:nvSpPr>
        <p:spPr bwMode="auto">
          <a:xfrm>
            <a:off x="762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165" name="TextBox 18"/>
          <p:cNvSpPr txBox="1">
            <a:spLocks noChangeArrowheads="1"/>
          </p:cNvSpPr>
          <p:nvPr/>
        </p:nvSpPr>
        <p:spPr bwMode="auto">
          <a:xfrm>
            <a:off x="1752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166" name="TextBox 19"/>
          <p:cNvSpPr txBox="1">
            <a:spLocks noChangeArrowheads="1"/>
          </p:cNvSpPr>
          <p:nvPr/>
        </p:nvSpPr>
        <p:spPr bwMode="auto">
          <a:xfrm>
            <a:off x="27432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167" name="TextBox 20"/>
          <p:cNvSpPr txBox="1">
            <a:spLocks noChangeArrowheads="1"/>
          </p:cNvSpPr>
          <p:nvPr/>
        </p:nvSpPr>
        <p:spPr bwMode="auto">
          <a:xfrm>
            <a:off x="3810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168" name="TextBox 21"/>
          <p:cNvSpPr txBox="1">
            <a:spLocks noChangeArrowheads="1"/>
          </p:cNvSpPr>
          <p:nvPr/>
        </p:nvSpPr>
        <p:spPr bwMode="auto">
          <a:xfrm>
            <a:off x="4800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169" name="TextBox 22"/>
          <p:cNvSpPr txBox="1">
            <a:spLocks noChangeArrowheads="1"/>
          </p:cNvSpPr>
          <p:nvPr/>
        </p:nvSpPr>
        <p:spPr bwMode="auto">
          <a:xfrm>
            <a:off x="58674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6170" name="TextBox 23"/>
          <p:cNvSpPr txBox="1">
            <a:spLocks noChangeArrowheads="1"/>
          </p:cNvSpPr>
          <p:nvPr/>
        </p:nvSpPr>
        <p:spPr bwMode="auto">
          <a:xfrm>
            <a:off x="6858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16002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0" y="20574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i=0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1600200" y="20574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33"/>
          <p:cNvGrpSpPr/>
          <p:nvPr/>
        </p:nvGrpSpPr>
        <p:grpSpPr bwMode="auto">
          <a:xfrm>
            <a:off x="1447800" y="3048000"/>
            <a:ext cx="1143000" cy="766763"/>
            <a:chOff x="1447800" y="4114800"/>
            <a:chExt cx="1143000" cy="766465"/>
          </a:xfrm>
        </p:grpSpPr>
        <p:sp>
          <p:nvSpPr>
            <p:cNvPr id="6237" name="TextBox 27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min=i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9" name="上箭头 28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" name="组合 32"/>
          <p:cNvGrpSpPr/>
          <p:nvPr/>
        </p:nvGrpSpPr>
        <p:grpSpPr bwMode="auto">
          <a:xfrm>
            <a:off x="2743200" y="3048000"/>
            <a:ext cx="762000" cy="766763"/>
            <a:chOff x="2743200" y="4114800"/>
            <a:chExt cx="762000" cy="766465"/>
          </a:xfrm>
        </p:grpSpPr>
        <p:sp>
          <p:nvSpPr>
            <p:cNvPr id="6235" name="TextBox 29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31" name="上箭头 30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2" name="矩形 31"/>
          <p:cNvSpPr/>
          <p:nvPr/>
        </p:nvSpPr>
        <p:spPr>
          <a:xfrm>
            <a:off x="1752600" y="4343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34?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4" name="组合 34"/>
          <p:cNvGrpSpPr/>
          <p:nvPr/>
        </p:nvGrpSpPr>
        <p:grpSpPr bwMode="auto">
          <a:xfrm>
            <a:off x="3810000" y="2971800"/>
            <a:ext cx="762000" cy="766763"/>
            <a:chOff x="2743200" y="4114800"/>
            <a:chExt cx="762000" cy="766465"/>
          </a:xfrm>
        </p:grpSpPr>
        <p:sp>
          <p:nvSpPr>
            <p:cNvPr id="6233" name="TextBox 35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37" name="上箭头 36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8" name="矩形 37"/>
          <p:cNvSpPr/>
          <p:nvPr/>
        </p:nvSpPr>
        <p:spPr>
          <a:xfrm>
            <a:off x="3505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10?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5" name="组合 38"/>
          <p:cNvGrpSpPr/>
          <p:nvPr/>
        </p:nvGrpSpPr>
        <p:grpSpPr bwMode="auto">
          <a:xfrm>
            <a:off x="3352800" y="3581400"/>
            <a:ext cx="1143000" cy="766763"/>
            <a:chOff x="1447800" y="4114800"/>
            <a:chExt cx="1143000" cy="766465"/>
          </a:xfrm>
        </p:grpSpPr>
        <p:sp>
          <p:nvSpPr>
            <p:cNvPr id="6231" name="TextBox 39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41" name="上箭头 40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6" name="组合 41"/>
          <p:cNvGrpSpPr/>
          <p:nvPr/>
        </p:nvGrpSpPr>
        <p:grpSpPr bwMode="auto">
          <a:xfrm>
            <a:off x="4876800" y="3048000"/>
            <a:ext cx="762000" cy="766763"/>
            <a:chOff x="2743200" y="4114800"/>
            <a:chExt cx="762000" cy="766465"/>
          </a:xfrm>
        </p:grpSpPr>
        <p:sp>
          <p:nvSpPr>
            <p:cNvPr id="6229" name="TextBox 42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44" name="上箭头 43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5" name="矩形 44"/>
          <p:cNvSpPr/>
          <p:nvPr/>
        </p:nvSpPr>
        <p:spPr>
          <a:xfrm>
            <a:off x="47244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10&gt; 5?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7" name="组合 45"/>
          <p:cNvGrpSpPr/>
          <p:nvPr/>
        </p:nvGrpSpPr>
        <p:grpSpPr bwMode="auto">
          <a:xfrm>
            <a:off x="4419600" y="3581400"/>
            <a:ext cx="1143000" cy="766763"/>
            <a:chOff x="1447800" y="4114800"/>
            <a:chExt cx="1143000" cy="766465"/>
          </a:xfrm>
        </p:grpSpPr>
        <p:sp>
          <p:nvSpPr>
            <p:cNvPr id="6227" name="TextBox 46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48" name="上箭头 47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8" name="组合 48"/>
          <p:cNvGrpSpPr/>
          <p:nvPr/>
        </p:nvGrpSpPr>
        <p:grpSpPr bwMode="auto">
          <a:xfrm>
            <a:off x="5867400" y="3048000"/>
            <a:ext cx="762000" cy="766763"/>
            <a:chOff x="2743200" y="4114800"/>
            <a:chExt cx="762000" cy="766465"/>
          </a:xfrm>
        </p:grpSpPr>
        <p:sp>
          <p:nvSpPr>
            <p:cNvPr id="6225" name="TextBox 49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1" name="上箭头 50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2" name="矩形 51"/>
          <p:cNvSpPr/>
          <p:nvPr/>
        </p:nvSpPr>
        <p:spPr>
          <a:xfrm>
            <a:off x="5791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5&gt; 89?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9" name="组合 52"/>
          <p:cNvGrpSpPr/>
          <p:nvPr/>
        </p:nvGrpSpPr>
        <p:grpSpPr bwMode="auto">
          <a:xfrm>
            <a:off x="6858000" y="3124200"/>
            <a:ext cx="762000" cy="766763"/>
            <a:chOff x="2743200" y="4114800"/>
            <a:chExt cx="762000" cy="766465"/>
          </a:xfrm>
        </p:grpSpPr>
        <p:sp>
          <p:nvSpPr>
            <p:cNvPr id="6223" name="TextBox 5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5" name="上箭头 54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6" name="矩形 55"/>
          <p:cNvSpPr/>
          <p:nvPr/>
        </p:nvSpPr>
        <p:spPr>
          <a:xfrm>
            <a:off x="6934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5&gt; 45?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1600200" y="571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10" name="组合 77"/>
          <p:cNvGrpSpPr/>
          <p:nvPr/>
        </p:nvGrpSpPr>
        <p:grpSpPr bwMode="auto">
          <a:xfrm>
            <a:off x="2208213" y="5257800"/>
            <a:ext cx="2898775" cy="458788"/>
            <a:chOff x="2209006" y="5257800"/>
            <a:chExt cx="2897188" cy="457994"/>
          </a:xfrm>
        </p:grpSpPr>
        <p:cxnSp>
          <p:nvCxnSpPr>
            <p:cNvPr id="73" name="直接连接符 72"/>
            <p:cNvCxnSpPr/>
            <p:nvPr/>
          </p:nvCxnSpPr>
          <p:spPr>
            <a:xfrm>
              <a:off x="2210592" y="5257800"/>
              <a:ext cx="2894015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/>
            <p:nvPr/>
          </p:nvCxnSpPr>
          <p:spPr>
            <a:xfrm rot="5400000">
              <a:off x="1981595" y="5486796"/>
              <a:ext cx="456409" cy="1586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/>
          </p:nvCxnSpPr>
          <p:spPr>
            <a:xfrm rot="5400000">
              <a:off x="4877196" y="5486796"/>
              <a:ext cx="456409" cy="1587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矩形 79"/>
          <p:cNvSpPr/>
          <p:nvPr/>
        </p:nvSpPr>
        <p:spPr>
          <a:xfrm>
            <a:off x="228600" y="5029200"/>
            <a:ext cx="1295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min!=</a:t>
            </a:r>
            <a:r>
              <a:rPr lang="en-US" altLang="zh-CN" dirty="0" err="1"/>
              <a:t>i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>
                      <p:stCondLst>
                        <p:cond delay="indefinite"/>
                      </p:stCondLst>
                      <p:childTnLst>
                        <p:par>
                          <p:cTn id="84" fill="hold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9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9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>
                      <p:stCondLst>
                        <p:cond delay="indefinite"/>
                      </p:stCondLst>
                      <p:childTnLst>
                        <p:par>
                          <p:cTn id="98" fill="hold">
                            <p:stCondLst>
                              <p:cond delay="0"/>
                            </p:stCondLst>
                            <p:childTnLst>
                              <p:par>
                                <p:cTn id="9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0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2" grpId="0" animBg="1"/>
      <p:bldP spid="38" grpId="0" animBg="1"/>
      <p:bldP spid="45" grpId="0" animBg="1"/>
      <p:bldP spid="52" grpId="0" animBg="1"/>
      <p:bldP spid="56" grpId="0" animBg="1"/>
      <p:bldP spid="80" grpId="0" animBg="1"/>
      <p:bldP spid="80" grpId="1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6"/>
          <p:cNvSpPr txBox="1">
            <a:spLocks noGrp="1"/>
          </p:cNvSpPr>
          <p:nvPr/>
        </p:nvSpPr>
        <p:spPr>
          <a:xfrm>
            <a:off x="8748713" y="6381750"/>
            <a:ext cx="395287" cy="4762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CF482BE1-3173-4365-B176-6411160F1E3B}" type="slidenum">
              <a:rPr lang="en-US" altLang="zh-CN" sz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rPr>
            </a:fld>
            <a:endParaRPr lang="en-US" altLang="zh-CN" sz="1200">
              <a:solidFill>
                <a:schemeClr val="tx2">
                  <a:shade val="9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7171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274638"/>
            <a:ext cx="8991600" cy="563562"/>
          </a:xfrm>
          <a:solidFill>
            <a:srgbClr val="FFC489"/>
          </a:solidFill>
        </p:spPr>
        <p:txBody>
          <a:bodyPr/>
          <a:lstStyle/>
          <a:p>
            <a:r>
              <a:rPr lang="zh-CN" altLang="en-US" sz="2800" dirty="0"/>
              <a:t>第二轮：找出序列中次小的一个放在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=1</a:t>
            </a:r>
            <a:r>
              <a:rPr lang="zh-CN" altLang="en-US" sz="2800" dirty="0"/>
              <a:t>位置。</a:t>
            </a:r>
            <a:endParaRPr lang="zh-CN" altLang="en-US" sz="28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600200" y="1524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188" name="TextBox 17"/>
          <p:cNvSpPr txBox="1">
            <a:spLocks noChangeArrowheads="1"/>
          </p:cNvSpPr>
          <p:nvPr/>
        </p:nvSpPr>
        <p:spPr bwMode="auto">
          <a:xfrm>
            <a:off x="762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189" name="TextBox 18"/>
          <p:cNvSpPr txBox="1">
            <a:spLocks noChangeArrowheads="1"/>
          </p:cNvSpPr>
          <p:nvPr/>
        </p:nvSpPr>
        <p:spPr bwMode="auto">
          <a:xfrm>
            <a:off x="1752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190" name="TextBox 19"/>
          <p:cNvSpPr txBox="1">
            <a:spLocks noChangeArrowheads="1"/>
          </p:cNvSpPr>
          <p:nvPr/>
        </p:nvSpPr>
        <p:spPr bwMode="auto">
          <a:xfrm>
            <a:off x="27432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191" name="TextBox 20"/>
          <p:cNvSpPr txBox="1">
            <a:spLocks noChangeArrowheads="1"/>
          </p:cNvSpPr>
          <p:nvPr/>
        </p:nvSpPr>
        <p:spPr bwMode="auto">
          <a:xfrm>
            <a:off x="3810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192" name="TextBox 21"/>
          <p:cNvSpPr txBox="1">
            <a:spLocks noChangeArrowheads="1"/>
          </p:cNvSpPr>
          <p:nvPr/>
        </p:nvSpPr>
        <p:spPr bwMode="auto">
          <a:xfrm>
            <a:off x="4800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193" name="TextBox 22"/>
          <p:cNvSpPr txBox="1">
            <a:spLocks noChangeArrowheads="1"/>
          </p:cNvSpPr>
          <p:nvPr/>
        </p:nvSpPr>
        <p:spPr bwMode="auto">
          <a:xfrm>
            <a:off x="58674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194" name="TextBox 23"/>
          <p:cNvSpPr txBox="1">
            <a:spLocks noChangeArrowheads="1"/>
          </p:cNvSpPr>
          <p:nvPr/>
        </p:nvSpPr>
        <p:spPr bwMode="auto">
          <a:xfrm>
            <a:off x="6858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16002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0" y="20574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i=1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2667000" y="20574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33"/>
          <p:cNvGrpSpPr/>
          <p:nvPr/>
        </p:nvGrpSpPr>
        <p:grpSpPr bwMode="auto">
          <a:xfrm>
            <a:off x="2362200" y="3048000"/>
            <a:ext cx="1143000" cy="766763"/>
            <a:chOff x="1447800" y="4114800"/>
            <a:chExt cx="1143000" cy="766465"/>
          </a:xfrm>
        </p:grpSpPr>
        <p:sp>
          <p:nvSpPr>
            <p:cNvPr id="7254" name="TextBox 27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min=i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9" name="上箭头 28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" name="组合 34"/>
          <p:cNvGrpSpPr/>
          <p:nvPr/>
        </p:nvGrpSpPr>
        <p:grpSpPr bwMode="auto">
          <a:xfrm>
            <a:off x="3810000" y="2971800"/>
            <a:ext cx="762000" cy="766763"/>
            <a:chOff x="2743200" y="4114800"/>
            <a:chExt cx="762000" cy="766465"/>
          </a:xfrm>
        </p:grpSpPr>
        <p:sp>
          <p:nvSpPr>
            <p:cNvPr id="7252" name="TextBox 35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37" name="上箭头 36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38" name="矩形 37"/>
          <p:cNvSpPr/>
          <p:nvPr/>
        </p:nvSpPr>
        <p:spPr>
          <a:xfrm>
            <a:off x="3505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34&gt; 10?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4" name="组合 38"/>
          <p:cNvGrpSpPr/>
          <p:nvPr/>
        </p:nvGrpSpPr>
        <p:grpSpPr bwMode="auto">
          <a:xfrm>
            <a:off x="3352800" y="3581400"/>
            <a:ext cx="1143000" cy="766763"/>
            <a:chOff x="1447800" y="4114800"/>
            <a:chExt cx="1143000" cy="766465"/>
          </a:xfrm>
        </p:grpSpPr>
        <p:sp>
          <p:nvSpPr>
            <p:cNvPr id="7250" name="TextBox 39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41" name="上箭头 40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5" name="组合 41"/>
          <p:cNvGrpSpPr/>
          <p:nvPr/>
        </p:nvGrpSpPr>
        <p:grpSpPr bwMode="auto">
          <a:xfrm>
            <a:off x="4876800" y="3048000"/>
            <a:ext cx="762000" cy="766763"/>
            <a:chOff x="2743200" y="4114800"/>
            <a:chExt cx="762000" cy="766465"/>
          </a:xfrm>
        </p:grpSpPr>
        <p:sp>
          <p:nvSpPr>
            <p:cNvPr id="7248" name="TextBox 42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44" name="上箭头 43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5" name="矩形 44"/>
          <p:cNvSpPr/>
          <p:nvPr/>
        </p:nvSpPr>
        <p:spPr>
          <a:xfrm>
            <a:off x="47244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10&gt; 22?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6" name="组合 48"/>
          <p:cNvGrpSpPr/>
          <p:nvPr/>
        </p:nvGrpSpPr>
        <p:grpSpPr bwMode="auto">
          <a:xfrm>
            <a:off x="5867400" y="3048000"/>
            <a:ext cx="762000" cy="766763"/>
            <a:chOff x="2743200" y="4114800"/>
            <a:chExt cx="762000" cy="766465"/>
          </a:xfrm>
        </p:grpSpPr>
        <p:sp>
          <p:nvSpPr>
            <p:cNvPr id="7246" name="TextBox 49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1" name="上箭头 50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2" name="矩形 51"/>
          <p:cNvSpPr/>
          <p:nvPr/>
        </p:nvSpPr>
        <p:spPr>
          <a:xfrm>
            <a:off x="5791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10&gt; 89?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7" name="组合 52"/>
          <p:cNvGrpSpPr/>
          <p:nvPr/>
        </p:nvGrpSpPr>
        <p:grpSpPr bwMode="auto">
          <a:xfrm>
            <a:off x="6858000" y="3124200"/>
            <a:ext cx="762000" cy="766763"/>
            <a:chOff x="2743200" y="4114800"/>
            <a:chExt cx="762000" cy="766465"/>
          </a:xfrm>
        </p:grpSpPr>
        <p:sp>
          <p:nvSpPr>
            <p:cNvPr id="7244" name="TextBox 5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5" name="上箭头 54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6" name="矩形 55"/>
          <p:cNvSpPr/>
          <p:nvPr/>
        </p:nvSpPr>
        <p:spPr>
          <a:xfrm>
            <a:off x="6934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10&gt; 45?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1600200" y="571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8" name="组合 77"/>
          <p:cNvGrpSpPr/>
          <p:nvPr/>
        </p:nvGrpSpPr>
        <p:grpSpPr bwMode="auto">
          <a:xfrm>
            <a:off x="3200400" y="5257800"/>
            <a:ext cx="990600" cy="458788"/>
            <a:chOff x="2209006" y="5257800"/>
            <a:chExt cx="2897188" cy="457994"/>
          </a:xfrm>
        </p:grpSpPr>
        <p:cxnSp>
          <p:nvCxnSpPr>
            <p:cNvPr id="73" name="直接连接符 72"/>
            <p:cNvCxnSpPr/>
            <p:nvPr/>
          </p:nvCxnSpPr>
          <p:spPr>
            <a:xfrm>
              <a:off x="2209006" y="5257800"/>
              <a:ext cx="28971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/>
            <p:nvPr/>
          </p:nvCxnSpPr>
          <p:spPr>
            <a:xfrm rot="5400000">
              <a:off x="1980802" y="5487590"/>
              <a:ext cx="456409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/>
          </p:nvCxnSpPr>
          <p:spPr>
            <a:xfrm rot="5400000">
              <a:off x="4877990" y="5487590"/>
              <a:ext cx="456409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矩形 79"/>
          <p:cNvSpPr/>
          <p:nvPr/>
        </p:nvSpPr>
        <p:spPr>
          <a:xfrm>
            <a:off x="228600" y="5029200"/>
            <a:ext cx="1295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min != </a:t>
            </a:r>
            <a:r>
              <a:rPr lang="en-US" altLang="zh-CN" dirty="0" err="1"/>
              <a:t>i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1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72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38" grpId="0" animBg="1"/>
      <p:bldP spid="45" grpId="0" animBg="1"/>
      <p:bldP spid="52" grpId="0" animBg="1"/>
      <p:bldP spid="56" grpId="0" animBg="1"/>
      <p:bldP spid="80" grpId="0" animBg="1"/>
      <p:bldP spid="80" grpId="1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6"/>
          <p:cNvSpPr txBox="1">
            <a:spLocks noGrp="1"/>
          </p:cNvSpPr>
          <p:nvPr/>
        </p:nvSpPr>
        <p:spPr>
          <a:xfrm>
            <a:off x="8748713" y="6381750"/>
            <a:ext cx="395287" cy="4762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70844388-0ABB-48C8-9B92-C5927EE89A3D}" type="slidenum">
              <a:rPr lang="en-US" altLang="zh-CN" sz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rPr>
            </a:fld>
            <a:endParaRPr lang="en-US" altLang="zh-CN" sz="1200">
              <a:solidFill>
                <a:schemeClr val="tx2">
                  <a:shade val="9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8195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274638"/>
            <a:ext cx="8991600" cy="563562"/>
          </a:xfrm>
          <a:solidFill>
            <a:srgbClr val="FFC489"/>
          </a:solidFill>
        </p:spPr>
        <p:txBody>
          <a:bodyPr/>
          <a:lstStyle/>
          <a:p>
            <a:r>
              <a:rPr lang="zh-CN" altLang="en-US" sz="2800" dirty="0"/>
              <a:t>第三轮：找出序列中第三小的放在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=2</a:t>
            </a:r>
            <a:r>
              <a:rPr lang="zh-CN" altLang="en-US" sz="2800" dirty="0"/>
              <a:t>位置。</a:t>
            </a:r>
            <a:endParaRPr lang="zh-CN" altLang="en-US" sz="28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600200" y="1524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212" name="TextBox 17"/>
          <p:cNvSpPr txBox="1">
            <a:spLocks noChangeArrowheads="1"/>
          </p:cNvSpPr>
          <p:nvPr/>
        </p:nvSpPr>
        <p:spPr bwMode="auto">
          <a:xfrm>
            <a:off x="762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213" name="TextBox 18"/>
          <p:cNvSpPr txBox="1">
            <a:spLocks noChangeArrowheads="1"/>
          </p:cNvSpPr>
          <p:nvPr/>
        </p:nvSpPr>
        <p:spPr bwMode="auto">
          <a:xfrm>
            <a:off x="1752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214" name="TextBox 19"/>
          <p:cNvSpPr txBox="1">
            <a:spLocks noChangeArrowheads="1"/>
          </p:cNvSpPr>
          <p:nvPr/>
        </p:nvSpPr>
        <p:spPr bwMode="auto">
          <a:xfrm>
            <a:off x="27432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215" name="TextBox 20"/>
          <p:cNvSpPr txBox="1">
            <a:spLocks noChangeArrowheads="1"/>
          </p:cNvSpPr>
          <p:nvPr/>
        </p:nvSpPr>
        <p:spPr bwMode="auto">
          <a:xfrm>
            <a:off x="3810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216" name="TextBox 21"/>
          <p:cNvSpPr txBox="1">
            <a:spLocks noChangeArrowheads="1"/>
          </p:cNvSpPr>
          <p:nvPr/>
        </p:nvSpPr>
        <p:spPr bwMode="auto">
          <a:xfrm>
            <a:off x="4800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217" name="TextBox 22"/>
          <p:cNvSpPr txBox="1">
            <a:spLocks noChangeArrowheads="1"/>
          </p:cNvSpPr>
          <p:nvPr/>
        </p:nvSpPr>
        <p:spPr bwMode="auto">
          <a:xfrm>
            <a:off x="58674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218" name="TextBox 23"/>
          <p:cNvSpPr txBox="1">
            <a:spLocks noChangeArrowheads="1"/>
          </p:cNvSpPr>
          <p:nvPr/>
        </p:nvSpPr>
        <p:spPr bwMode="auto">
          <a:xfrm>
            <a:off x="6858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16002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0" y="20574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i=2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3657600" y="20574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33"/>
          <p:cNvGrpSpPr/>
          <p:nvPr/>
        </p:nvGrpSpPr>
        <p:grpSpPr bwMode="auto">
          <a:xfrm>
            <a:off x="3276600" y="3048000"/>
            <a:ext cx="1143000" cy="766763"/>
            <a:chOff x="1447800" y="4114800"/>
            <a:chExt cx="1143000" cy="766465"/>
          </a:xfrm>
        </p:grpSpPr>
        <p:sp>
          <p:nvSpPr>
            <p:cNvPr id="8274" name="TextBox 27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min=i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9" name="上箭头 28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" name="组合 41"/>
          <p:cNvGrpSpPr/>
          <p:nvPr/>
        </p:nvGrpSpPr>
        <p:grpSpPr bwMode="auto">
          <a:xfrm>
            <a:off x="4876800" y="3048000"/>
            <a:ext cx="762000" cy="766763"/>
            <a:chOff x="2743200" y="4114800"/>
            <a:chExt cx="762000" cy="766465"/>
          </a:xfrm>
        </p:grpSpPr>
        <p:sp>
          <p:nvSpPr>
            <p:cNvPr id="8272" name="TextBox 42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44" name="上箭头 43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45" name="矩形 44"/>
          <p:cNvSpPr/>
          <p:nvPr/>
        </p:nvSpPr>
        <p:spPr>
          <a:xfrm>
            <a:off x="47244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34&gt; 22?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4" name="组合 48"/>
          <p:cNvGrpSpPr/>
          <p:nvPr/>
        </p:nvGrpSpPr>
        <p:grpSpPr bwMode="auto">
          <a:xfrm>
            <a:off x="5867400" y="3048000"/>
            <a:ext cx="762000" cy="766763"/>
            <a:chOff x="2743200" y="4114800"/>
            <a:chExt cx="762000" cy="766465"/>
          </a:xfrm>
        </p:grpSpPr>
        <p:sp>
          <p:nvSpPr>
            <p:cNvPr id="8270" name="TextBox 49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1" name="上箭头 50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2" name="矩形 51"/>
          <p:cNvSpPr/>
          <p:nvPr/>
        </p:nvSpPr>
        <p:spPr>
          <a:xfrm>
            <a:off x="5791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89?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5" name="组合 52"/>
          <p:cNvGrpSpPr/>
          <p:nvPr/>
        </p:nvGrpSpPr>
        <p:grpSpPr bwMode="auto">
          <a:xfrm>
            <a:off x="6858000" y="3124200"/>
            <a:ext cx="762000" cy="766763"/>
            <a:chOff x="2743200" y="4114800"/>
            <a:chExt cx="762000" cy="766465"/>
          </a:xfrm>
        </p:grpSpPr>
        <p:sp>
          <p:nvSpPr>
            <p:cNvPr id="8268" name="TextBox 5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5" name="上箭头 54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6" name="矩形 55"/>
          <p:cNvSpPr/>
          <p:nvPr/>
        </p:nvSpPr>
        <p:spPr>
          <a:xfrm>
            <a:off x="6934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45?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1600200" y="571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pSp>
        <p:nvGrpSpPr>
          <p:cNvPr id="6" name="组合 77"/>
          <p:cNvGrpSpPr/>
          <p:nvPr/>
        </p:nvGrpSpPr>
        <p:grpSpPr bwMode="auto">
          <a:xfrm>
            <a:off x="4191000" y="5257800"/>
            <a:ext cx="990600" cy="458788"/>
            <a:chOff x="2209006" y="5257800"/>
            <a:chExt cx="2897188" cy="457994"/>
          </a:xfrm>
        </p:grpSpPr>
        <p:cxnSp>
          <p:nvCxnSpPr>
            <p:cNvPr id="73" name="直接连接符 72"/>
            <p:cNvCxnSpPr/>
            <p:nvPr/>
          </p:nvCxnSpPr>
          <p:spPr>
            <a:xfrm>
              <a:off x="2209006" y="5257800"/>
              <a:ext cx="28971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5" name="直接箭头连接符 74"/>
            <p:cNvCxnSpPr/>
            <p:nvPr/>
          </p:nvCxnSpPr>
          <p:spPr>
            <a:xfrm rot="5400000">
              <a:off x="1980802" y="5487590"/>
              <a:ext cx="456409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77" name="直接箭头连接符 76"/>
            <p:cNvCxnSpPr/>
            <p:nvPr/>
          </p:nvCxnSpPr>
          <p:spPr>
            <a:xfrm rot="5400000">
              <a:off x="4877990" y="5487590"/>
              <a:ext cx="456409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80" name="矩形 79"/>
          <p:cNvSpPr/>
          <p:nvPr/>
        </p:nvSpPr>
        <p:spPr>
          <a:xfrm>
            <a:off x="228600" y="5029200"/>
            <a:ext cx="1295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min != </a:t>
            </a:r>
            <a:r>
              <a:rPr lang="en-US" altLang="zh-CN" dirty="0" err="1"/>
              <a:t>i</a:t>
            </a:r>
            <a:r>
              <a:rPr lang="en-US" altLang="zh-CN" dirty="0"/>
              <a:t>?</a:t>
            </a:r>
            <a:endParaRPr lang="zh-CN" altLang="en-US" dirty="0"/>
          </a:p>
        </p:txBody>
      </p:sp>
      <p:grpSp>
        <p:nvGrpSpPr>
          <p:cNvPr id="7" name="组合 33"/>
          <p:cNvGrpSpPr/>
          <p:nvPr/>
        </p:nvGrpSpPr>
        <p:grpSpPr bwMode="auto">
          <a:xfrm>
            <a:off x="4419600" y="3429000"/>
            <a:ext cx="1143000" cy="766763"/>
            <a:chOff x="1447800" y="4114800"/>
            <a:chExt cx="1143000" cy="766465"/>
          </a:xfrm>
        </p:grpSpPr>
        <p:sp>
          <p:nvSpPr>
            <p:cNvPr id="8263" name="TextBox 46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48" name="上箭头 47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>
                      <p:stCondLst>
                        <p:cond delay="indefinite"/>
                      </p:stCondLst>
                      <p:childTnLst>
                        <p:par>
                          <p:cTn id="66" fill="hold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45" grpId="0" animBg="1"/>
      <p:bldP spid="52" grpId="0" animBg="1"/>
      <p:bldP spid="56" grpId="0" animBg="1"/>
      <p:bldP spid="80" grpId="0" animBg="1"/>
      <p:bldP spid="80" grpId="1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6"/>
          <p:cNvSpPr txBox="1">
            <a:spLocks noGrp="1"/>
          </p:cNvSpPr>
          <p:nvPr/>
        </p:nvSpPr>
        <p:spPr>
          <a:xfrm>
            <a:off x="8748713" y="6381750"/>
            <a:ext cx="395287" cy="4762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4296BEC9-B438-4DF4-A760-252C683AD994}" type="slidenum">
              <a:rPr lang="en-US" altLang="zh-CN" sz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rPr>
            </a:fld>
            <a:endParaRPr lang="en-US" altLang="zh-CN" sz="1200">
              <a:solidFill>
                <a:schemeClr val="tx2">
                  <a:shade val="9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9219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274638"/>
            <a:ext cx="8991600" cy="563562"/>
          </a:xfrm>
          <a:solidFill>
            <a:srgbClr val="FFC489"/>
          </a:solidFill>
        </p:spPr>
        <p:txBody>
          <a:bodyPr/>
          <a:lstStyle/>
          <a:p>
            <a:r>
              <a:rPr lang="zh-CN" altLang="en-US" sz="2800" dirty="0"/>
              <a:t>第四轮：找出序列中第四小的放在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=3</a:t>
            </a:r>
            <a:r>
              <a:rPr lang="zh-CN" altLang="en-US" sz="2800" dirty="0"/>
              <a:t>位置。</a:t>
            </a:r>
            <a:endParaRPr lang="zh-CN" altLang="en-US" sz="28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600200" y="1524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9236" name="TextBox 17"/>
          <p:cNvSpPr txBox="1">
            <a:spLocks noChangeArrowheads="1"/>
          </p:cNvSpPr>
          <p:nvPr/>
        </p:nvSpPr>
        <p:spPr bwMode="auto">
          <a:xfrm>
            <a:off x="762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9237" name="TextBox 18"/>
          <p:cNvSpPr txBox="1">
            <a:spLocks noChangeArrowheads="1"/>
          </p:cNvSpPr>
          <p:nvPr/>
        </p:nvSpPr>
        <p:spPr bwMode="auto">
          <a:xfrm>
            <a:off x="1752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9238" name="TextBox 19"/>
          <p:cNvSpPr txBox="1">
            <a:spLocks noChangeArrowheads="1"/>
          </p:cNvSpPr>
          <p:nvPr/>
        </p:nvSpPr>
        <p:spPr bwMode="auto">
          <a:xfrm>
            <a:off x="27432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9239" name="TextBox 20"/>
          <p:cNvSpPr txBox="1">
            <a:spLocks noChangeArrowheads="1"/>
          </p:cNvSpPr>
          <p:nvPr/>
        </p:nvSpPr>
        <p:spPr bwMode="auto">
          <a:xfrm>
            <a:off x="3810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9240" name="TextBox 21"/>
          <p:cNvSpPr txBox="1">
            <a:spLocks noChangeArrowheads="1"/>
          </p:cNvSpPr>
          <p:nvPr/>
        </p:nvSpPr>
        <p:spPr bwMode="auto">
          <a:xfrm>
            <a:off x="4800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9241" name="TextBox 22"/>
          <p:cNvSpPr txBox="1">
            <a:spLocks noChangeArrowheads="1"/>
          </p:cNvSpPr>
          <p:nvPr/>
        </p:nvSpPr>
        <p:spPr bwMode="auto">
          <a:xfrm>
            <a:off x="58674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9242" name="TextBox 23"/>
          <p:cNvSpPr txBox="1">
            <a:spLocks noChangeArrowheads="1"/>
          </p:cNvSpPr>
          <p:nvPr/>
        </p:nvSpPr>
        <p:spPr bwMode="auto">
          <a:xfrm>
            <a:off x="6858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16002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0" y="20574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i=3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4648200" y="20574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33"/>
          <p:cNvGrpSpPr/>
          <p:nvPr/>
        </p:nvGrpSpPr>
        <p:grpSpPr bwMode="auto">
          <a:xfrm>
            <a:off x="4419600" y="3048000"/>
            <a:ext cx="1143000" cy="766763"/>
            <a:chOff x="1447800" y="4114800"/>
            <a:chExt cx="1143000" cy="766465"/>
          </a:xfrm>
        </p:grpSpPr>
        <p:sp>
          <p:nvSpPr>
            <p:cNvPr id="9287" name="TextBox 27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min=i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9" name="上箭头 28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" name="组合 48"/>
          <p:cNvGrpSpPr/>
          <p:nvPr/>
        </p:nvGrpSpPr>
        <p:grpSpPr bwMode="auto">
          <a:xfrm>
            <a:off x="5867400" y="3048000"/>
            <a:ext cx="762000" cy="766763"/>
            <a:chOff x="2743200" y="4114800"/>
            <a:chExt cx="762000" cy="766465"/>
          </a:xfrm>
        </p:grpSpPr>
        <p:sp>
          <p:nvSpPr>
            <p:cNvPr id="9285" name="TextBox 49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1" name="上箭头 50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2" name="矩形 51"/>
          <p:cNvSpPr/>
          <p:nvPr/>
        </p:nvSpPr>
        <p:spPr>
          <a:xfrm>
            <a:off x="5791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34&gt; 89?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4" name="组合 52"/>
          <p:cNvGrpSpPr/>
          <p:nvPr/>
        </p:nvGrpSpPr>
        <p:grpSpPr bwMode="auto">
          <a:xfrm>
            <a:off x="6858000" y="3124200"/>
            <a:ext cx="762000" cy="766763"/>
            <a:chOff x="2743200" y="4114800"/>
            <a:chExt cx="762000" cy="766465"/>
          </a:xfrm>
        </p:grpSpPr>
        <p:sp>
          <p:nvSpPr>
            <p:cNvPr id="9283" name="TextBox 5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5" name="上箭头 54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6" name="矩形 55"/>
          <p:cNvSpPr/>
          <p:nvPr/>
        </p:nvSpPr>
        <p:spPr>
          <a:xfrm>
            <a:off x="6934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34&gt; 45?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1600200" y="571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0" name="矩形 79"/>
          <p:cNvSpPr/>
          <p:nvPr/>
        </p:nvSpPr>
        <p:spPr>
          <a:xfrm>
            <a:off x="228600" y="5029200"/>
            <a:ext cx="1295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min != </a:t>
            </a:r>
            <a:r>
              <a:rPr lang="en-US" altLang="zh-CN" dirty="0" err="1"/>
              <a:t>i</a:t>
            </a:r>
            <a:r>
              <a:rPr lang="en-US" altLang="zh-CN" dirty="0"/>
              <a:t>?</a:t>
            </a:r>
            <a:endParaRPr lang="zh-CN" altLang="en-US" dirty="0"/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52" grpId="0" animBg="1"/>
      <p:bldP spid="56" grpId="0" animBg="1"/>
      <p:bldP spid="80" grpId="0" animBg="1"/>
      <p:bldP spid="80" grpId="1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灯片编号占位符 6"/>
          <p:cNvSpPr txBox="1">
            <a:spLocks noGrp="1"/>
          </p:cNvSpPr>
          <p:nvPr/>
        </p:nvSpPr>
        <p:spPr>
          <a:xfrm>
            <a:off x="8748713" y="6381750"/>
            <a:ext cx="395287" cy="476250"/>
          </a:xfrm>
          <a:prstGeom prst="rect">
            <a:avLst/>
          </a:prstGeom>
          <a:noFill/>
        </p:spPr>
        <p:txBody>
          <a:bodyPr lIns="0" tIns="0" rIns="0" bIns="0" anchor="b"/>
          <a:lstStyle/>
          <a:p>
            <a:pPr algn="r" fontAlgn="auto">
              <a:spcBef>
                <a:spcPts val="0"/>
              </a:spcBef>
              <a:spcAft>
                <a:spcPts val="0"/>
              </a:spcAft>
              <a:defRPr/>
            </a:pPr>
            <a:fld id="{38C35FD2-9D8B-47B5-8595-41BCE413008D}" type="slidenum">
              <a:rPr lang="en-US" altLang="zh-CN" sz="1200">
                <a:solidFill>
                  <a:schemeClr val="tx2">
                    <a:shade val="90000"/>
                  </a:schemeClr>
                </a:solidFill>
                <a:latin typeface="+mn-lt"/>
                <a:ea typeface="+mn-ea"/>
              </a:rPr>
            </a:fld>
            <a:endParaRPr lang="en-US" altLang="zh-CN" sz="1200">
              <a:solidFill>
                <a:schemeClr val="tx2">
                  <a:shade val="90000"/>
                </a:schemeClr>
              </a:solidFill>
              <a:latin typeface="+mn-lt"/>
              <a:ea typeface="+mn-ea"/>
            </a:endParaRPr>
          </a:p>
        </p:txBody>
      </p:sp>
      <p:sp>
        <p:nvSpPr>
          <p:cNvPr id="10243" name="Rectangle 2"/>
          <p:cNvSpPr>
            <a:spLocks noGrp="1" noChangeArrowheads="1"/>
          </p:cNvSpPr>
          <p:nvPr>
            <p:ph type="title" idx="4294967295"/>
          </p:nvPr>
        </p:nvSpPr>
        <p:spPr>
          <a:xfrm>
            <a:off x="76200" y="274638"/>
            <a:ext cx="8991600" cy="563562"/>
          </a:xfrm>
          <a:solidFill>
            <a:srgbClr val="FFC489"/>
          </a:solidFill>
        </p:spPr>
        <p:txBody>
          <a:bodyPr/>
          <a:lstStyle/>
          <a:p>
            <a:r>
              <a:rPr lang="zh-CN" altLang="en-US" sz="2800" dirty="0"/>
              <a:t>第五轮：找出序列中第五小的放在</a:t>
            </a:r>
            <a:r>
              <a:rPr lang="en-US" altLang="zh-CN" sz="2800" dirty="0" err="1"/>
              <a:t>i</a:t>
            </a:r>
            <a:r>
              <a:rPr lang="en-US" altLang="zh-CN" sz="2800" dirty="0"/>
              <a:t>=4</a:t>
            </a:r>
            <a:r>
              <a:rPr lang="zh-CN" altLang="en-US" sz="2800" dirty="0"/>
              <a:t>位置。</a:t>
            </a:r>
            <a:endParaRPr lang="zh-CN" altLang="en-US" sz="2800" dirty="0"/>
          </a:p>
        </p:txBody>
      </p:sp>
      <p:graphicFrame>
        <p:nvGraphicFramePr>
          <p:cNvPr id="17" name="表格 16"/>
          <p:cNvGraphicFramePr>
            <a:graphicFrameLocks noGrp="1"/>
          </p:cNvGraphicFramePr>
          <p:nvPr/>
        </p:nvGraphicFramePr>
        <p:xfrm>
          <a:off x="1600200" y="1524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0260" name="TextBox 17"/>
          <p:cNvSpPr txBox="1">
            <a:spLocks noChangeArrowheads="1"/>
          </p:cNvSpPr>
          <p:nvPr/>
        </p:nvSpPr>
        <p:spPr bwMode="auto">
          <a:xfrm>
            <a:off x="762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0261" name="TextBox 18"/>
          <p:cNvSpPr txBox="1">
            <a:spLocks noChangeArrowheads="1"/>
          </p:cNvSpPr>
          <p:nvPr/>
        </p:nvSpPr>
        <p:spPr bwMode="auto">
          <a:xfrm>
            <a:off x="1752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0262" name="TextBox 19"/>
          <p:cNvSpPr txBox="1">
            <a:spLocks noChangeArrowheads="1"/>
          </p:cNvSpPr>
          <p:nvPr/>
        </p:nvSpPr>
        <p:spPr bwMode="auto">
          <a:xfrm>
            <a:off x="27432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0263" name="TextBox 20"/>
          <p:cNvSpPr txBox="1">
            <a:spLocks noChangeArrowheads="1"/>
          </p:cNvSpPr>
          <p:nvPr/>
        </p:nvSpPr>
        <p:spPr bwMode="auto">
          <a:xfrm>
            <a:off x="3810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0264" name="TextBox 21"/>
          <p:cNvSpPr txBox="1">
            <a:spLocks noChangeArrowheads="1"/>
          </p:cNvSpPr>
          <p:nvPr/>
        </p:nvSpPr>
        <p:spPr bwMode="auto">
          <a:xfrm>
            <a:off x="48006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0265" name="TextBox 22"/>
          <p:cNvSpPr txBox="1">
            <a:spLocks noChangeArrowheads="1"/>
          </p:cNvSpPr>
          <p:nvPr/>
        </p:nvSpPr>
        <p:spPr bwMode="auto">
          <a:xfrm>
            <a:off x="58674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0266" name="TextBox 23"/>
          <p:cNvSpPr txBox="1">
            <a:spLocks noChangeArrowheads="1"/>
          </p:cNvSpPr>
          <p:nvPr/>
        </p:nvSpPr>
        <p:spPr bwMode="auto">
          <a:xfrm>
            <a:off x="6858000" y="990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25" name="表格 24"/>
          <p:cNvGraphicFramePr>
            <a:graphicFrameLocks noGrp="1"/>
          </p:cNvGraphicFramePr>
          <p:nvPr/>
        </p:nvGraphicFramePr>
        <p:xfrm>
          <a:off x="16002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TextBox 25"/>
          <p:cNvSpPr txBox="1">
            <a:spLocks noChangeArrowheads="1"/>
          </p:cNvSpPr>
          <p:nvPr/>
        </p:nvSpPr>
        <p:spPr bwMode="auto">
          <a:xfrm>
            <a:off x="0" y="20574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i=4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7" name="TextBox 26"/>
          <p:cNvSpPr txBox="1">
            <a:spLocks noChangeArrowheads="1"/>
          </p:cNvSpPr>
          <p:nvPr/>
        </p:nvSpPr>
        <p:spPr bwMode="auto">
          <a:xfrm>
            <a:off x="5638800" y="20574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33"/>
          <p:cNvGrpSpPr/>
          <p:nvPr/>
        </p:nvGrpSpPr>
        <p:grpSpPr bwMode="auto">
          <a:xfrm>
            <a:off x="5486400" y="3048000"/>
            <a:ext cx="1143000" cy="766763"/>
            <a:chOff x="1447800" y="4114800"/>
            <a:chExt cx="1143000" cy="766465"/>
          </a:xfrm>
        </p:grpSpPr>
        <p:sp>
          <p:nvSpPr>
            <p:cNvPr id="10314" name="TextBox 27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min=i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9" name="上箭头 28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3" name="组合 52"/>
          <p:cNvGrpSpPr/>
          <p:nvPr/>
        </p:nvGrpSpPr>
        <p:grpSpPr bwMode="auto">
          <a:xfrm>
            <a:off x="6858000" y="3124200"/>
            <a:ext cx="762000" cy="766763"/>
            <a:chOff x="2743200" y="4114800"/>
            <a:chExt cx="762000" cy="766465"/>
          </a:xfrm>
        </p:grpSpPr>
        <p:sp>
          <p:nvSpPr>
            <p:cNvPr id="10312" name="TextBox 53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5" name="上箭头 54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6" name="矩形 55"/>
          <p:cNvSpPr/>
          <p:nvPr/>
        </p:nvSpPr>
        <p:spPr>
          <a:xfrm>
            <a:off x="6934200" y="4343400"/>
            <a:ext cx="990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89&gt; 45?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57" name="表格 56"/>
          <p:cNvGraphicFramePr>
            <a:graphicFrameLocks noGrp="1"/>
          </p:cNvGraphicFramePr>
          <p:nvPr/>
        </p:nvGraphicFramePr>
        <p:xfrm>
          <a:off x="1600200" y="571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80" name="矩形 79"/>
          <p:cNvSpPr/>
          <p:nvPr/>
        </p:nvSpPr>
        <p:spPr>
          <a:xfrm>
            <a:off x="228600" y="5029200"/>
            <a:ext cx="1295400" cy="6096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/>
              <a:t>min != </a:t>
            </a:r>
            <a:r>
              <a:rPr lang="en-US" altLang="zh-CN" dirty="0" err="1"/>
              <a:t>i</a:t>
            </a:r>
            <a:r>
              <a:rPr lang="en-US" altLang="zh-CN" dirty="0"/>
              <a:t>?</a:t>
            </a:r>
            <a:endParaRPr lang="zh-CN" altLang="en-US" dirty="0"/>
          </a:p>
        </p:txBody>
      </p:sp>
      <p:grpSp>
        <p:nvGrpSpPr>
          <p:cNvPr id="4" name="组合 33"/>
          <p:cNvGrpSpPr/>
          <p:nvPr/>
        </p:nvGrpSpPr>
        <p:grpSpPr bwMode="auto">
          <a:xfrm>
            <a:off x="6400800" y="3352800"/>
            <a:ext cx="1143000" cy="766763"/>
            <a:chOff x="1447800" y="4114800"/>
            <a:chExt cx="1143000" cy="766465"/>
          </a:xfrm>
        </p:grpSpPr>
        <p:sp>
          <p:nvSpPr>
            <p:cNvPr id="10310" name="TextBox 31"/>
            <p:cNvSpPr txBox="1">
              <a:spLocks noChangeArrowheads="1"/>
            </p:cNvSpPr>
            <p:nvPr/>
          </p:nvSpPr>
          <p:spPr bwMode="auto">
            <a:xfrm>
              <a:off x="1447800" y="4419600"/>
              <a:ext cx="1143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min=i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33" name="上箭头 32"/>
            <p:cNvSpPr/>
            <p:nvPr/>
          </p:nvSpPr>
          <p:spPr>
            <a:xfrm>
              <a:off x="19812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grpSp>
        <p:nvGrpSpPr>
          <p:cNvPr id="5" name="组合 77"/>
          <p:cNvGrpSpPr/>
          <p:nvPr/>
        </p:nvGrpSpPr>
        <p:grpSpPr bwMode="auto">
          <a:xfrm>
            <a:off x="6096000" y="5257800"/>
            <a:ext cx="990600" cy="458788"/>
            <a:chOff x="2209006" y="5257800"/>
            <a:chExt cx="2897188" cy="457994"/>
          </a:xfrm>
        </p:grpSpPr>
        <p:cxnSp>
          <p:nvCxnSpPr>
            <p:cNvPr id="35" name="直接连接符 34"/>
            <p:cNvCxnSpPr/>
            <p:nvPr/>
          </p:nvCxnSpPr>
          <p:spPr>
            <a:xfrm>
              <a:off x="2209006" y="5257800"/>
              <a:ext cx="2897188" cy="0"/>
            </a:xfrm>
            <a:prstGeom prst="line">
              <a:avLst/>
            </a:prstGeom>
            <a:ln w="38100"/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6" name="直接箭头连接符 35"/>
            <p:cNvCxnSpPr/>
            <p:nvPr/>
          </p:nvCxnSpPr>
          <p:spPr>
            <a:xfrm rot="5400000">
              <a:off x="1980802" y="5487590"/>
              <a:ext cx="456409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37" name="直接箭头连接符 36"/>
            <p:cNvCxnSpPr/>
            <p:nvPr/>
          </p:nvCxnSpPr>
          <p:spPr>
            <a:xfrm rot="5400000">
              <a:off x="4877990" y="5487590"/>
              <a:ext cx="456409" cy="0"/>
            </a:xfrm>
            <a:prstGeom prst="straightConnector1">
              <a:avLst/>
            </a:prstGeom>
            <a:ln w="38100">
              <a:tailEnd type="arrow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8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/>
      <p:bldP spid="27" grpId="0"/>
      <p:bldP spid="56" grpId="0" animBg="1"/>
      <p:bldP spid="80" grpId="0" animBg="1"/>
      <p:bldP spid="80" grpId="1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430113" y="828932"/>
            <a:ext cx="8283773" cy="5904078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int  main()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[10],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, j, temp, min;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("Please input 10 numbers:\n");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10 - 1;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min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for(j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+ 1; j &lt; 10;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 			if(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[min] &gt;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[j])	min = j;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if (min !=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)	//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将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min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和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zh-CN" alt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位置的数进行交换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{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temp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 =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[min];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	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[min] = temp;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("The sorted numbers:\n");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= 0; 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("%4d", 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sz="16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6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标题 2"/>
          <p:cNvSpPr txBox="1"/>
          <p:nvPr/>
        </p:nvSpPr>
        <p:spPr>
          <a:xfrm>
            <a:off x="430113" y="287454"/>
            <a:ext cx="7886700" cy="9360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gradFill>
                  <a:gsLst>
                    <a:gs pos="0">
                      <a:srgbClr val="CC33CC"/>
                    </a:gs>
                    <a:gs pos="62000">
                      <a:srgbClr val="101C9E"/>
                    </a:gs>
                  </a:gsLst>
                  <a:lin ang="81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选择排序的核心代码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5509549" y="-48231"/>
            <a:ext cx="3204337" cy="175432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课后任务：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修改代码，支持对长度为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zh-CN" altLang="en-US" dirty="0">
                <a:solidFill>
                  <a:srgbClr val="FF0000"/>
                </a:solidFill>
              </a:rPr>
              <a:t>数组（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[0] ~ 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[n-1] </a:t>
            </a:r>
            <a:r>
              <a:rPr lang="zh-CN" altLang="en-US" dirty="0">
                <a:solidFill>
                  <a:srgbClr val="FF0000"/>
                </a:solidFill>
              </a:rPr>
              <a:t>进行选择排序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对数组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zh-CN" altLang="en-US" dirty="0">
                <a:solidFill>
                  <a:srgbClr val="FF0000"/>
                </a:solidFill>
              </a:rPr>
              <a:t>下标</a:t>
            </a:r>
            <a:r>
              <a:rPr lang="en-US" altLang="zh-CN" dirty="0" err="1">
                <a:solidFill>
                  <a:srgbClr val="FF0000"/>
                </a:solidFill>
              </a:rPr>
              <a:t>i~j</a:t>
            </a:r>
            <a:r>
              <a:rPr lang="zh-CN" altLang="en-US" dirty="0">
                <a:solidFill>
                  <a:srgbClr val="FF0000"/>
                </a:solidFill>
              </a:rPr>
              <a:t>范围内的元素（即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] ~ 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[j])</a:t>
            </a:r>
            <a:r>
              <a:rPr lang="zh-CN" altLang="en-US" dirty="0">
                <a:solidFill>
                  <a:srgbClr val="FF0000"/>
                </a:solidFill>
              </a:rPr>
              <a:t>排序</a:t>
            </a:r>
            <a:endParaRPr 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7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选择排序的效率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32000" y="1535837"/>
            <a:ext cx="8280000" cy="4764163"/>
          </a:xfrm>
        </p:spPr>
        <p:txBody>
          <a:bodyPr/>
          <a:lstStyle/>
          <a:p>
            <a:r>
              <a:rPr lang="zh-CN" altLang="en-US" dirty="0">
                <a:solidFill>
                  <a:srgbClr val="000000"/>
                </a:solidFill>
              </a:rPr>
              <a:t>对</a:t>
            </a:r>
            <a:r>
              <a:rPr lang="en-US" altLang="zh-CN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个元素的排序来说，找出第一个元素要比较</a:t>
            </a:r>
            <a:r>
              <a:rPr lang="en-US" altLang="zh-CN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次，找出第二个元素比较</a:t>
            </a:r>
            <a:r>
              <a:rPr lang="en-US" altLang="zh-CN" dirty="0">
                <a:solidFill>
                  <a:srgbClr val="000000"/>
                </a:solidFill>
              </a:rPr>
              <a:t>n-1</a:t>
            </a:r>
            <a:r>
              <a:rPr lang="zh-CN" altLang="en-US" dirty="0">
                <a:solidFill>
                  <a:srgbClr val="000000"/>
                </a:solidFill>
              </a:rPr>
              <a:t>次，</a:t>
            </a:r>
            <a:r>
              <a:rPr lang="en-US" altLang="zh-CN" dirty="0">
                <a:solidFill>
                  <a:srgbClr val="000000"/>
                </a:solidFill>
              </a:rPr>
              <a:t>…</a:t>
            </a:r>
            <a:r>
              <a:rPr lang="zh-CN" altLang="en-US" dirty="0">
                <a:solidFill>
                  <a:srgbClr val="000000"/>
                </a:solidFill>
              </a:rPr>
              <a:t>，找出第</a:t>
            </a:r>
            <a:r>
              <a:rPr lang="en-US" altLang="zh-CN" dirty="0">
                <a:solidFill>
                  <a:srgbClr val="000000"/>
                </a:solidFill>
              </a:rPr>
              <a:t>n</a:t>
            </a:r>
            <a:r>
              <a:rPr lang="zh-CN" altLang="en-US" dirty="0">
                <a:solidFill>
                  <a:srgbClr val="000000"/>
                </a:solidFill>
              </a:rPr>
              <a:t>个元素比较一次。因此，总的比较次数为：</a:t>
            </a:r>
            <a:endParaRPr lang="zh-CN" altLang="en-US" dirty="0">
              <a:solidFill>
                <a:srgbClr val="000000"/>
              </a:solidFill>
            </a:endParaRPr>
          </a:p>
          <a:p>
            <a:endParaRPr lang="en-US" dirty="0"/>
          </a:p>
        </p:txBody>
      </p:sp>
      <p:sp>
        <p:nvSpPr>
          <p:cNvPr id="9" name="内容占位符 1"/>
          <p:cNvSpPr txBox="1"/>
          <p:nvPr/>
        </p:nvSpPr>
        <p:spPr>
          <a:xfrm>
            <a:off x="653502" y="2187418"/>
            <a:ext cx="8032998" cy="1853084"/>
          </a:xfrm>
          <a:prstGeom prst="rect">
            <a:avLst/>
          </a:prstGeom>
          <a:ln w="28575">
            <a:noFill/>
          </a:ln>
        </p:spPr>
        <p:txBody>
          <a:bodyPr vert="horz" lIns="91424" tIns="45712" rIns="91424" bIns="45712" rtlCol="0">
            <a:noAutofit/>
          </a:bodyPr>
          <a:lstStyle>
            <a:lvl1pPr marL="0" indent="4572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indent="0">
              <a:spcBef>
                <a:spcPts val="1200"/>
              </a:spcBef>
            </a:pPr>
            <a:endParaRPr lang="zh-CN" altLang="en-US" sz="2800" dirty="0">
              <a:solidFill>
                <a:srgbClr val="0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10" name="内容占位符 1"/>
          <p:cNvSpPr txBox="1"/>
          <p:nvPr/>
        </p:nvSpPr>
        <p:spPr>
          <a:xfrm>
            <a:off x="555501" y="3113960"/>
            <a:ext cx="8032998" cy="1332714"/>
          </a:xfrm>
          <a:prstGeom prst="rect">
            <a:avLst/>
          </a:prstGeom>
          <a:solidFill>
            <a:srgbClr val="FFC32B">
              <a:lumMod val="20000"/>
              <a:lumOff val="80000"/>
            </a:srgbClr>
          </a:solidFill>
          <a:ln w="28575">
            <a:solidFill>
              <a:srgbClr val="FF0000"/>
            </a:solidFill>
          </a:ln>
        </p:spPr>
        <p:txBody>
          <a:bodyPr vert="horz" lIns="91424" tIns="45712" rIns="91424" bIns="45712" rtlCol="0">
            <a:noAutofit/>
          </a:bodyPr>
          <a:lstStyle>
            <a:lvl1pPr marL="0" indent="457200" algn="l" defTabSz="914400" rtl="0" eaLnBrk="1" latinLnBrk="0" hangingPunct="1">
              <a:lnSpc>
                <a:spcPct val="130000"/>
              </a:lnSpc>
              <a:spcBef>
                <a:spcPts val="0"/>
              </a:spcBef>
              <a:buFont typeface="Arial" panose="020B0604020202020204" pitchFamily="34" charset="0"/>
              <a:buNone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 1 + 2 + 3 + … + n = n ( n + 1 ) / 2</a:t>
            </a:r>
            <a:endParaRPr kumimoji="0" lang="en-US" altLang="zh-CN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3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defRPr/>
            </a:pP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则称时间复杂性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*</a:t>
            </a:r>
            <a:r>
              <a:rPr kumimoji="0" lang="zh-CN" altLang="en-US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为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O(n</a:t>
            </a:r>
            <a:r>
              <a:rPr kumimoji="0" lang="en-US" altLang="zh-CN" sz="2800" b="0" i="0" u="none" strike="noStrike" kern="1200" cap="none" spc="0" normalizeH="0" baseline="3000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2</a:t>
            </a:r>
            <a:r>
              <a:rPr kumimoji="0" lang="en-US" altLang="zh-CN" sz="2800" b="0" i="0" u="none" strike="noStrike" kern="1200" cap="none" spc="0" normalizeH="0" baseline="0" noProof="0" dirty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微软雅黑" panose="020B0503020204020204" pitchFamily="34" charset="-122"/>
                <a:ea typeface="微软雅黑" panose="020B0503020204020204" pitchFamily="34" charset="-122"/>
                <a:cs typeface="+mn-cs"/>
              </a:rPr>
              <a:t>)</a:t>
            </a:r>
            <a:endParaRPr kumimoji="0" lang="zh-CN" altLang="en-US" sz="2800" b="0" i="0" u="none" strike="noStrike" kern="1200" cap="none" spc="0" normalizeH="0" baseline="0" noProof="0" dirty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微软雅黑" panose="020B0503020204020204" pitchFamily="34" charset="-122"/>
              <a:ea typeface="微软雅黑" panose="020B0503020204020204" pitchFamily="34" charset="-122"/>
              <a:cs typeface="+mn-cs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练习：</a:t>
            </a:r>
            <a:r>
              <a:rPr lang="en-US" altLang="zh-CN" dirty="0"/>
              <a:t>#453 </a:t>
            </a:r>
            <a:r>
              <a:rPr lang="zh-CN" altLang="en-US" dirty="0"/>
              <a:t>数组排序</a:t>
            </a:r>
            <a:endParaRPr lang="zh-CN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l"/>
            <a:r>
              <a:rPr lang="zh-CN" altLang="en-US" sz="2800" b="0" i="0" dirty="0">
                <a:effectLst/>
                <a:latin typeface="Open Sans" panose="020B0606030504020204" pitchFamily="34" charset="0"/>
              </a:rPr>
              <a:t>对输入的整数数组</a:t>
            </a:r>
            <a:r>
              <a:rPr lang="en-US" altLang="zh-CN" sz="2800" b="0" i="0" dirty="0">
                <a:effectLst/>
                <a:latin typeface="Open Sans" panose="020B0606030504020204" pitchFamily="34" charset="0"/>
              </a:rPr>
              <a:t>,</a:t>
            </a:r>
            <a:r>
              <a:rPr lang="zh-CN" altLang="en-US" sz="2800" b="0" i="0" dirty="0">
                <a:effectLst/>
                <a:latin typeface="Open Sans" panose="020B0606030504020204" pitchFamily="34" charset="0"/>
              </a:rPr>
              <a:t>按从小到大的顺序进行排序。</a:t>
            </a:r>
            <a:endParaRPr lang="zh-CN" altLang="en-US" sz="28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sz="2800" b="0" i="0" dirty="0">
                <a:effectLst/>
                <a:latin typeface="Open Sans" panose="020B0606030504020204" pitchFamily="34" charset="0"/>
              </a:rPr>
              <a:t>两行输入：</a:t>
            </a:r>
            <a:endParaRPr lang="zh-CN" altLang="en-US" sz="28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sz="2800" b="0" i="0" dirty="0">
                <a:effectLst/>
                <a:latin typeface="Open Sans" panose="020B0606030504020204" pitchFamily="34" charset="0"/>
              </a:rPr>
              <a:t>第一行输入数组长度</a:t>
            </a:r>
            <a:r>
              <a:rPr lang="en-US" altLang="zh-CN" sz="2800" b="0" i="0" dirty="0">
                <a:effectLst/>
                <a:latin typeface="Open Sans" panose="020B0606030504020204" pitchFamily="34" charset="0"/>
              </a:rPr>
              <a:t>n</a:t>
            </a:r>
            <a:r>
              <a:rPr lang="zh-CN" altLang="en-US" sz="2800" b="0" i="0" dirty="0">
                <a:effectLst/>
                <a:latin typeface="Open Sans" panose="020B0606030504020204" pitchFamily="34" charset="0"/>
              </a:rPr>
              <a:t>（</a:t>
            </a:r>
            <a:r>
              <a:rPr lang="en-US" altLang="zh-CN" sz="2800" b="0" i="0" dirty="0">
                <a:effectLst/>
                <a:latin typeface="Open Sans" panose="020B0606030504020204" pitchFamily="34" charset="0"/>
              </a:rPr>
              <a:t>1≤n≤200</a:t>
            </a:r>
            <a:r>
              <a:rPr lang="zh-CN" altLang="en-US" sz="2800" b="0" i="0" dirty="0">
                <a:effectLst/>
                <a:latin typeface="Open Sans" panose="020B0606030504020204" pitchFamily="34" charset="0"/>
              </a:rPr>
              <a:t>）</a:t>
            </a:r>
            <a:endParaRPr lang="zh-CN" altLang="en-US" sz="28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sz="2800" b="0" i="0" dirty="0">
                <a:effectLst/>
                <a:latin typeface="Open Sans" panose="020B0606030504020204" pitchFamily="34" charset="0"/>
              </a:rPr>
              <a:t>第二行输入数组中每个元素的值，用空格分隔。</a:t>
            </a:r>
            <a:endParaRPr lang="zh-CN" altLang="en-US" sz="28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zh-CN" altLang="en-US" sz="2800" b="0" i="0" dirty="0">
                <a:effectLst/>
                <a:latin typeface="Open Sans" panose="020B0606030504020204" pitchFamily="34" charset="0"/>
              </a:rPr>
              <a:t>输出为空格分隔的排好序的列表。</a:t>
            </a:r>
            <a:endParaRPr lang="zh-CN" altLang="en-US" sz="2800" b="0" i="0" dirty="0">
              <a:effectLst/>
              <a:latin typeface="Open Sans" panose="020B0606030504020204" pitchFamily="34" charset="0"/>
            </a:endParaRPr>
          </a:p>
          <a:p>
            <a:endParaRPr lang="zh-CN" altLang="en-US" sz="2800" dirty="0"/>
          </a:p>
        </p:txBody>
      </p:sp>
      <p:sp>
        <p:nvSpPr>
          <p:cNvPr id="5" name="TextBox 4"/>
          <p:cNvSpPr txBox="1"/>
          <p:nvPr/>
        </p:nvSpPr>
        <p:spPr>
          <a:xfrm>
            <a:off x="1588688" y="4482716"/>
            <a:ext cx="2551312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0" i="0" dirty="0">
                <a:effectLst/>
                <a:latin typeface="Open Sans" panose="020B0606030504020204" pitchFamily="34" charset="0"/>
              </a:rPr>
              <a:t>输入样例：</a:t>
            </a:r>
            <a:endParaRPr lang="zh-CN" altLang="en-US" sz="3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sz="3200" b="0" i="0" dirty="0">
                <a:effectLst/>
                <a:latin typeface="Open Sans" panose="020B0606030504020204" pitchFamily="34" charset="0"/>
              </a:rPr>
              <a:t>5</a:t>
            </a:r>
            <a:endParaRPr lang="en-US" altLang="zh-CN" sz="3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sz="3200" b="0" i="0" dirty="0">
                <a:effectLst/>
                <a:latin typeface="Open Sans" panose="020B0606030504020204" pitchFamily="34" charset="0"/>
              </a:rPr>
              <a:t>5 4 3 2 1</a:t>
            </a:r>
            <a:endParaRPr lang="en-US" altLang="zh-CN" sz="3200" b="0" i="0" dirty="0">
              <a:effectLst/>
              <a:latin typeface="Open Sans" panose="020B0606030504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4854871" y="4482716"/>
            <a:ext cx="2700441" cy="10772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zh-CN" altLang="en-US" sz="3200" b="0" i="0" dirty="0">
                <a:effectLst/>
                <a:latin typeface="Open Sans" panose="020B0606030504020204" pitchFamily="34" charset="0"/>
              </a:rPr>
              <a:t>输出样例</a:t>
            </a:r>
            <a:r>
              <a:rPr lang="zh-CN" altLang="en-US" sz="3200" dirty="0">
                <a:latin typeface="Open Sans" panose="020B0606030504020204" pitchFamily="34" charset="0"/>
              </a:rPr>
              <a:t>：</a:t>
            </a:r>
            <a:endParaRPr lang="zh-CN" altLang="en-US" sz="3200" b="0" i="0" dirty="0">
              <a:effectLst/>
              <a:latin typeface="Open Sans" panose="020B0606030504020204" pitchFamily="34" charset="0"/>
            </a:endParaRPr>
          </a:p>
          <a:p>
            <a:pPr algn="l"/>
            <a:r>
              <a:rPr lang="en-US" altLang="zh-CN" sz="3200" b="0" i="0" dirty="0">
                <a:effectLst/>
                <a:latin typeface="Open Sans" panose="020B0606030504020204" pitchFamily="34" charset="0"/>
              </a:rPr>
              <a:t>1 2 3 4 5</a:t>
            </a:r>
            <a:endParaRPr lang="en-US" altLang="zh-CN" sz="3200" b="0" i="0" dirty="0">
              <a:effectLst/>
              <a:latin typeface="Open Sans" panose="020B0606030504020204" pitchFamily="34" charset="0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6.2.2 </a:t>
            </a:r>
            <a:r>
              <a:rPr lang="zh-CN" altLang="en-US" dirty="0"/>
              <a:t>冒泡排序</a:t>
            </a:r>
            <a:endParaRPr lang="zh-CN" altLang="en-US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447800" y="1828800"/>
            <a:ext cx="7315200" cy="3886200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</a:ln>
        </p:spPr>
        <p:txBody>
          <a:bodyPr anchor="ctr"/>
          <a:lstStyle/>
          <a:p>
            <a:pPr>
              <a:defRPr/>
            </a:pP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对相邻两个数进行比较，将较小的调到前面，两两比较一轮之后，最大的一个数被放置在最后面；接着从头开始重复执行以上操作，次大的数被放置在倒数第二位，依次类推，数列由后往前逐渐成型。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04800" y="1828800"/>
            <a:ext cx="1066800" cy="3886200"/>
          </a:xfrm>
          <a:prstGeom prst="rect">
            <a:avLst/>
          </a:prstGeom>
          <a:solidFill>
            <a:srgbClr val="FF9900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思</a:t>
            </a:r>
            <a:endParaRPr lang="zh-CN" altLang="en-US" sz="40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algn="ctr">
              <a:defRPr/>
            </a:pPr>
            <a:r>
              <a:rPr lang="zh-CN" altLang="en-US"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路</a:t>
            </a:r>
            <a:endParaRPr lang="zh-CN" altLang="en-US" sz="20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304800" y="304800"/>
            <a:ext cx="83820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冒泡法的核心：小数上浮，大数下沉。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冒泡法第一轮：使最大的数放在最后一个位置上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95400" y="190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5379" name="TextBox 10"/>
          <p:cNvSpPr txBox="1">
            <a:spLocks noChangeArrowheads="1"/>
          </p:cNvSpPr>
          <p:nvPr/>
        </p:nvSpPr>
        <p:spPr bwMode="auto">
          <a:xfrm>
            <a:off x="457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5380" name="TextBox 11"/>
          <p:cNvSpPr txBox="1">
            <a:spLocks noChangeArrowheads="1"/>
          </p:cNvSpPr>
          <p:nvPr/>
        </p:nvSpPr>
        <p:spPr bwMode="auto">
          <a:xfrm>
            <a:off x="1447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5381" name="TextBox 12"/>
          <p:cNvSpPr txBox="1">
            <a:spLocks noChangeArrowheads="1"/>
          </p:cNvSpPr>
          <p:nvPr/>
        </p:nvSpPr>
        <p:spPr bwMode="auto">
          <a:xfrm>
            <a:off x="24384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5382" name="TextBox 13"/>
          <p:cNvSpPr txBox="1">
            <a:spLocks noChangeArrowheads="1"/>
          </p:cNvSpPr>
          <p:nvPr/>
        </p:nvSpPr>
        <p:spPr bwMode="auto">
          <a:xfrm>
            <a:off x="3505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5383" name="TextBox 14"/>
          <p:cNvSpPr txBox="1">
            <a:spLocks noChangeArrowheads="1"/>
          </p:cNvSpPr>
          <p:nvPr/>
        </p:nvSpPr>
        <p:spPr bwMode="auto">
          <a:xfrm>
            <a:off x="4495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5384" name="TextBox 15"/>
          <p:cNvSpPr txBox="1">
            <a:spLocks noChangeArrowheads="1"/>
          </p:cNvSpPr>
          <p:nvPr/>
        </p:nvSpPr>
        <p:spPr bwMode="auto">
          <a:xfrm>
            <a:off x="55626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5385" name="TextBox 16"/>
          <p:cNvSpPr txBox="1">
            <a:spLocks noChangeArrowheads="1"/>
          </p:cNvSpPr>
          <p:nvPr/>
        </p:nvSpPr>
        <p:spPr bwMode="auto">
          <a:xfrm>
            <a:off x="6553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2954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" name="TextBox 18"/>
          <p:cNvSpPr txBox="1">
            <a:spLocks noChangeArrowheads="1"/>
          </p:cNvSpPr>
          <p:nvPr/>
        </p:nvSpPr>
        <p:spPr bwMode="auto">
          <a:xfrm>
            <a:off x="7315200" y="31242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i=5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-76200" y="22098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23"/>
          <p:cNvGrpSpPr/>
          <p:nvPr/>
        </p:nvGrpSpPr>
        <p:grpSpPr bwMode="auto">
          <a:xfrm>
            <a:off x="1447800" y="3048000"/>
            <a:ext cx="762000" cy="766763"/>
            <a:chOff x="2743200" y="4114800"/>
            <a:chExt cx="762000" cy="766465"/>
          </a:xfrm>
        </p:grpSpPr>
        <p:sp>
          <p:nvSpPr>
            <p:cNvPr id="15444" name="TextBox 24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6" name="上箭头 25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16002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34?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3" name="组合 49"/>
          <p:cNvGrpSpPr/>
          <p:nvPr/>
        </p:nvGrpSpPr>
        <p:grpSpPr bwMode="auto">
          <a:xfrm>
            <a:off x="2514600" y="3048000"/>
            <a:ext cx="762000" cy="766763"/>
            <a:chOff x="2743200" y="4114800"/>
            <a:chExt cx="762000" cy="766465"/>
          </a:xfrm>
        </p:grpSpPr>
        <p:sp>
          <p:nvSpPr>
            <p:cNvPr id="15442" name="TextBox 50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2" name="上箭头 51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3" name="矩形 52"/>
          <p:cNvSpPr/>
          <p:nvPr/>
        </p:nvSpPr>
        <p:spPr>
          <a:xfrm>
            <a:off x="28194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34&gt; 10?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54" name="矩形 53"/>
          <p:cNvSpPr/>
          <p:nvPr/>
        </p:nvSpPr>
        <p:spPr>
          <a:xfrm>
            <a:off x="25908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55" name="矩形 54"/>
          <p:cNvSpPr/>
          <p:nvPr/>
        </p:nvSpPr>
        <p:spPr>
          <a:xfrm>
            <a:off x="35052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4" name="组合 55"/>
          <p:cNvGrpSpPr/>
          <p:nvPr/>
        </p:nvGrpSpPr>
        <p:grpSpPr bwMode="auto">
          <a:xfrm>
            <a:off x="3505200" y="3048000"/>
            <a:ext cx="762000" cy="766763"/>
            <a:chOff x="2743200" y="4114800"/>
            <a:chExt cx="762000" cy="766465"/>
          </a:xfrm>
        </p:grpSpPr>
        <p:sp>
          <p:nvSpPr>
            <p:cNvPr id="15440" name="TextBox 56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8" name="上箭头 57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9" name="矩形 58"/>
          <p:cNvSpPr/>
          <p:nvPr/>
        </p:nvSpPr>
        <p:spPr>
          <a:xfrm>
            <a:off x="41148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34&gt; 5?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60" name="矩形 59"/>
          <p:cNvSpPr/>
          <p:nvPr/>
        </p:nvSpPr>
        <p:spPr>
          <a:xfrm>
            <a:off x="45720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35052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5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5" name="组合 61"/>
          <p:cNvGrpSpPr/>
          <p:nvPr/>
        </p:nvGrpSpPr>
        <p:grpSpPr bwMode="auto">
          <a:xfrm>
            <a:off x="4533900" y="3066176"/>
            <a:ext cx="762000" cy="766763"/>
            <a:chOff x="2743200" y="4114800"/>
            <a:chExt cx="762000" cy="766465"/>
          </a:xfrm>
        </p:grpSpPr>
        <p:sp>
          <p:nvSpPr>
            <p:cNvPr id="15438" name="TextBox 62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64" name="上箭头 63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9" name="矩形 68"/>
          <p:cNvSpPr/>
          <p:nvPr/>
        </p:nvSpPr>
        <p:spPr>
          <a:xfrm>
            <a:off x="53340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34&gt; 89?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6" name="组合 69"/>
          <p:cNvGrpSpPr/>
          <p:nvPr/>
        </p:nvGrpSpPr>
        <p:grpSpPr bwMode="auto">
          <a:xfrm>
            <a:off x="5562600" y="3048000"/>
            <a:ext cx="762000" cy="766763"/>
            <a:chOff x="2743200" y="4114800"/>
            <a:chExt cx="762000" cy="766465"/>
          </a:xfrm>
        </p:grpSpPr>
        <p:sp>
          <p:nvSpPr>
            <p:cNvPr id="15436" name="TextBox 70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72" name="上箭头 71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77" name="矩形 76"/>
          <p:cNvSpPr/>
          <p:nvPr/>
        </p:nvSpPr>
        <p:spPr>
          <a:xfrm>
            <a:off x="66294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89&gt; 45?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55626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45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83" name="矩形 82"/>
          <p:cNvSpPr/>
          <p:nvPr/>
        </p:nvSpPr>
        <p:spPr>
          <a:xfrm>
            <a:off x="65532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89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1447800" y="54102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>
                      <p:stCondLst>
                        <p:cond delay="indefinite"/>
                      </p:stCondLst>
                      <p:childTnLst>
                        <p:par>
                          <p:cTn id="82" fill="hold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>
                      <p:stCondLst>
                        <p:cond delay="indefinite"/>
                      </p:stCondLst>
                      <p:childTnLst>
                        <p:par>
                          <p:cTn id="86" fill="hold">
                            <p:stCondLst>
                              <p:cond delay="0"/>
                            </p:stCondLst>
                            <p:childTnLst>
                              <p:par>
                                <p:cTn id="8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/>
      <p:bldP spid="20" grpId="0"/>
      <p:bldP spid="27" grpId="0" animBg="1"/>
      <p:bldP spid="53" grpId="0" animBg="1"/>
      <p:bldP spid="54" grpId="0" animBg="1"/>
      <p:bldP spid="55" grpId="0" animBg="1"/>
      <p:bldP spid="59" grpId="0" animBg="1"/>
      <p:bldP spid="60" grpId="0" animBg="1"/>
      <p:bldP spid="61" grpId="0" animBg="1"/>
      <p:bldP spid="69" grpId="0" animBg="1"/>
      <p:bldP spid="77" grpId="0" animBg="1"/>
      <p:bldP spid="82" grpId="0" animBg="1"/>
      <p:bldP spid="83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304800" y="304800"/>
            <a:ext cx="83820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冒泡法的核心：小数上浮，大数下沉。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冒泡法第二轮：使次大的数放在倒数第二个位置上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95400" y="190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6403" name="TextBox 10"/>
          <p:cNvSpPr txBox="1">
            <a:spLocks noChangeArrowheads="1"/>
          </p:cNvSpPr>
          <p:nvPr/>
        </p:nvSpPr>
        <p:spPr bwMode="auto">
          <a:xfrm>
            <a:off x="457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6404" name="TextBox 11"/>
          <p:cNvSpPr txBox="1">
            <a:spLocks noChangeArrowheads="1"/>
          </p:cNvSpPr>
          <p:nvPr/>
        </p:nvSpPr>
        <p:spPr bwMode="auto">
          <a:xfrm>
            <a:off x="1447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6405" name="TextBox 12"/>
          <p:cNvSpPr txBox="1">
            <a:spLocks noChangeArrowheads="1"/>
          </p:cNvSpPr>
          <p:nvPr/>
        </p:nvSpPr>
        <p:spPr bwMode="auto">
          <a:xfrm>
            <a:off x="24384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6406" name="TextBox 13"/>
          <p:cNvSpPr txBox="1">
            <a:spLocks noChangeArrowheads="1"/>
          </p:cNvSpPr>
          <p:nvPr/>
        </p:nvSpPr>
        <p:spPr bwMode="auto">
          <a:xfrm>
            <a:off x="3505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6407" name="TextBox 14"/>
          <p:cNvSpPr txBox="1">
            <a:spLocks noChangeArrowheads="1"/>
          </p:cNvSpPr>
          <p:nvPr/>
        </p:nvSpPr>
        <p:spPr bwMode="auto">
          <a:xfrm>
            <a:off x="4495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6408" name="TextBox 15"/>
          <p:cNvSpPr txBox="1">
            <a:spLocks noChangeArrowheads="1"/>
          </p:cNvSpPr>
          <p:nvPr/>
        </p:nvSpPr>
        <p:spPr bwMode="auto">
          <a:xfrm>
            <a:off x="55626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6409" name="TextBox 16"/>
          <p:cNvSpPr txBox="1">
            <a:spLocks noChangeArrowheads="1"/>
          </p:cNvSpPr>
          <p:nvPr/>
        </p:nvSpPr>
        <p:spPr bwMode="auto">
          <a:xfrm>
            <a:off x="6553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2954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8954" name="TextBox 18"/>
          <p:cNvSpPr txBox="1">
            <a:spLocks noChangeArrowheads="1"/>
          </p:cNvSpPr>
          <p:nvPr/>
        </p:nvSpPr>
        <p:spPr bwMode="auto">
          <a:xfrm>
            <a:off x="7315200" y="31242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i=4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-76200" y="22098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23"/>
          <p:cNvGrpSpPr/>
          <p:nvPr/>
        </p:nvGrpSpPr>
        <p:grpSpPr bwMode="auto">
          <a:xfrm>
            <a:off x="1447800" y="3048000"/>
            <a:ext cx="762000" cy="766763"/>
            <a:chOff x="2743200" y="4114800"/>
            <a:chExt cx="762000" cy="766465"/>
          </a:xfrm>
        </p:grpSpPr>
        <p:sp>
          <p:nvSpPr>
            <p:cNvPr id="16462" name="TextBox 24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6" name="上箭头 25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16002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10?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3" name="组合 49"/>
          <p:cNvGrpSpPr/>
          <p:nvPr/>
        </p:nvGrpSpPr>
        <p:grpSpPr bwMode="auto">
          <a:xfrm>
            <a:off x="2514600" y="3048000"/>
            <a:ext cx="762000" cy="766763"/>
            <a:chOff x="2743200" y="4114800"/>
            <a:chExt cx="762000" cy="766465"/>
          </a:xfrm>
        </p:grpSpPr>
        <p:sp>
          <p:nvSpPr>
            <p:cNvPr id="16460" name="TextBox 50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2" name="上箭头 51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3" name="矩形 52"/>
          <p:cNvSpPr/>
          <p:nvPr/>
        </p:nvSpPr>
        <p:spPr>
          <a:xfrm>
            <a:off x="28194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5?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4" name="组合 55"/>
          <p:cNvGrpSpPr/>
          <p:nvPr/>
        </p:nvGrpSpPr>
        <p:grpSpPr bwMode="auto">
          <a:xfrm>
            <a:off x="3505200" y="3048000"/>
            <a:ext cx="762000" cy="766763"/>
            <a:chOff x="2743200" y="4114800"/>
            <a:chExt cx="762000" cy="766465"/>
          </a:xfrm>
        </p:grpSpPr>
        <p:sp>
          <p:nvSpPr>
            <p:cNvPr id="16458" name="TextBox 56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8" name="上箭头 57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9" name="矩形 58"/>
          <p:cNvSpPr/>
          <p:nvPr/>
        </p:nvSpPr>
        <p:spPr>
          <a:xfrm>
            <a:off x="41148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34?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240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5" name="组合 61"/>
          <p:cNvGrpSpPr/>
          <p:nvPr/>
        </p:nvGrpSpPr>
        <p:grpSpPr bwMode="auto">
          <a:xfrm>
            <a:off x="4572000" y="3124200"/>
            <a:ext cx="762000" cy="766763"/>
            <a:chOff x="2743200" y="4114800"/>
            <a:chExt cx="762000" cy="766465"/>
          </a:xfrm>
        </p:grpSpPr>
        <p:sp>
          <p:nvSpPr>
            <p:cNvPr id="16456" name="TextBox 62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64" name="上箭头 63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69" name="矩形 68"/>
          <p:cNvSpPr/>
          <p:nvPr/>
        </p:nvSpPr>
        <p:spPr>
          <a:xfrm>
            <a:off x="53340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34&gt; 45?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1447800" y="54102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" name="矩形 40"/>
          <p:cNvSpPr/>
          <p:nvPr/>
        </p:nvSpPr>
        <p:spPr>
          <a:xfrm>
            <a:off x="25908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42" name="矩形 41"/>
          <p:cNvSpPr/>
          <p:nvPr/>
        </p:nvSpPr>
        <p:spPr>
          <a:xfrm>
            <a:off x="25908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5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43" name="矩形 42"/>
          <p:cNvSpPr/>
          <p:nvPr/>
        </p:nvSpPr>
        <p:spPr>
          <a:xfrm>
            <a:off x="35814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</a:t>
            </a:r>
            <a:endParaRPr lang="zh-CN" altLang="en-US" dirty="0">
              <a:latin typeface="Arial" panose="020B06040202020202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8954" grpId="0"/>
      <p:bldP spid="20" grpId="0"/>
      <p:bldP spid="27" grpId="0" animBg="1"/>
      <p:bldP spid="53" grpId="0" animBg="1"/>
      <p:bldP spid="59" grpId="0" animBg="1"/>
      <p:bldP spid="61" grpId="0" animBg="1"/>
      <p:bldP spid="69" grpId="0" animBg="1"/>
      <p:bldP spid="41" grpId="0" animBg="1"/>
      <p:bldP spid="42" grpId="0" animBg="1"/>
      <p:bldP spid="43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0" y="304800"/>
            <a:ext cx="89916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冒泡法的核心：小数上浮，大数下沉。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冒泡法第三轮：使第三大的数放在倒数第三个位置上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95400" y="190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7427" name="TextBox 10"/>
          <p:cNvSpPr txBox="1">
            <a:spLocks noChangeArrowheads="1"/>
          </p:cNvSpPr>
          <p:nvPr/>
        </p:nvSpPr>
        <p:spPr bwMode="auto">
          <a:xfrm>
            <a:off x="457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7428" name="TextBox 11"/>
          <p:cNvSpPr txBox="1">
            <a:spLocks noChangeArrowheads="1"/>
          </p:cNvSpPr>
          <p:nvPr/>
        </p:nvSpPr>
        <p:spPr bwMode="auto">
          <a:xfrm>
            <a:off x="1447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7429" name="TextBox 12"/>
          <p:cNvSpPr txBox="1">
            <a:spLocks noChangeArrowheads="1"/>
          </p:cNvSpPr>
          <p:nvPr/>
        </p:nvSpPr>
        <p:spPr bwMode="auto">
          <a:xfrm>
            <a:off x="24384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7430" name="TextBox 13"/>
          <p:cNvSpPr txBox="1">
            <a:spLocks noChangeArrowheads="1"/>
          </p:cNvSpPr>
          <p:nvPr/>
        </p:nvSpPr>
        <p:spPr bwMode="auto">
          <a:xfrm>
            <a:off x="3505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7431" name="TextBox 14"/>
          <p:cNvSpPr txBox="1">
            <a:spLocks noChangeArrowheads="1"/>
          </p:cNvSpPr>
          <p:nvPr/>
        </p:nvSpPr>
        <p:spPr bwMode="auto">
          <a:xfrm>
            <a:off x="4495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7432" name="TextBox 15"/>
          <p:cNvSpPr txBox="1">
            <a:spLocks noChangeArrowheads="1"/>
          </p:cNvSpPr>
          <p:nvPr/>
        </p:nvSpPr>
        <p:spPr bwMode="auto">
          <a:xfrm>
            <a:off x="55626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7433" name="TextBox 16"/>
          <p:cNvSpPr txBox="1">
            <a:spLocks noChangeArrowheads="1"/>
          </p:cNvSpPr>
          <p:nvPr/>
        </p:nvSpPr>
        <p:spPr bwMode="auto">
          <a:xfrm>
            <a:off x="6553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2954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9978" name="TextBox 18"/>
          <p:cNvSpPr txBox="1">
            <a:spLocks noChangeArrowheads="1"/>
          </p:cNvSpPr>
          <p:nvPr/>
        </p:nvSpPr>
        <p:spPr bwMode="auto">
          <a:xfrm>
            <a:off x="7315200" y="31242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i=3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-76200" y="22098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23"/>
          <p:cNvGrpSpPr/>
          <p:nvPr/>
        </p:nvGrpSpPr>
        <p:grpSpPr bwMode="auto">
          <a:xfrm>
            <a:off x="1447800" y="3048000"/>
            <a:ext cx="762000" cy="766763"/>
            <a:chOff x="2743200" y="4114800"/>
            <a:chExt cx="762000" cy="766465"/>
          </a:xfrm>
        </p:grpSpPr>
        <p:sp>
          <p:nvSpPr>
            <p:cNvPr id="17480" name="TextBox 24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6" name="上箭头 25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16002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10&gt; 5?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3" name="组合 49"/>
          <p:cNvGrpSpPr/>
          <p:nvPr/>
        </p:nvGrpSpPr>
        <p:grpSpPr bwMode="auto">
          <a:xfrm>
            <a:off x="2514600" y="3048000"/>
            <a:ext cx="762000" cy="766763"/>
            <a:chOff x="2743200" y="4114800"/>
            <a:chExt cx="762000" cy="766465"/>
          </a:xfrm>
        </p:grpSpPr>
        <p:sp>
          <p:nvSpPr>
            <p:cNvPr id="17478" name="TextBox 50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2" name="上箭头 51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3" name="矩形 52"/>
          <p:cNvSpPr/>
          <p:nvPr/>
        </p:nvSpPr>
        <p:spPr>
          <a:xfrm>
            <a:off x="28194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10&gt; 22?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4" name="组合 55"/>
          <p:cNvGrpSpPr/>
          <p:nvPr/>
        </p:nvGrpSpPr>
        <p:grpSpPr bwMode="auto">
          <a:xfrm>
            <a:off x="3505200" y="3048000"/>
            <a:ext cx="762000" cy="766763"/>
            <a:chOff x="2743200" y="4114800"/>
            <a:chExt cx="762000" cy="766465"/>
          </a:xfrm>
        </p:grpSpPr>
        <p:sp>
          <p:nvSpPr>
            <p:cNvPr id="17476" name="TextBox 56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8" name="上箭头 57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9" name="矩形 58"/>
          <p:cNvSpPr/>
          <p:nvPr/>
        </p:nvSpPr>
        <p:spPr>
          <a:xfrm>
            <a:off x="41148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22&gt; 34?</a:t>
            </a:r>
            <a:endParaRPr lang="zh-CN" altLang="en-US" dirty="0">
              <a:latin typeface="Arial" panose="020B0604020202020204"/>
            </a:endParaRPr>
          </a:p>
        </p:txBody>
      </p:sp>
      <p:sp>
        <p:nvSpPr>
          <p:cNvPr id="61" name="矩形 60"/>
          <p:cNvSpPr/>
          <p:nvPr/>
        </p:nvSpPr>
        <p:spPr>
          <a:xfrm>
            <a:off x="15240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5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1447800" y="54102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5" name="矩形 34"/>
          <p:cNvSpPr/>
          <p:nvPr/>
        </p:nvSpPr>
        <p:spPr>
          <a:xfrm>
            <a:off x="2514600" y="2514600"/>
            <a:ext cx="6096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</a:t>
            </a:r>
            <a:endParaRPr lang="zh-CN" altLang="en-US" dirty="0">
              <a:latin typeface="Arial" panose="020B0604020202020204"/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9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9978" grpId="0"/>
      <p:bldP spid="20" grpId="0"/>
      <p:bldP spid="27" grpId="0" animBg="1"/>
      <p:bldP spid="53" grpId="0" animBg="1"/>
      <p:bldP spid="59" grpId="0" animBg="1"/>
      <p:bldP spid="61" grpId="0" animBg="1"/>
      <p:bldP spid="3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0" y="304800"/>
            <a:ext cx="89916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冒泡法的核心：小数上浮，大数下沉。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冒泡法第四轮：使第四大的数放在倒数第四个位置上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95400" y="190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8451" name="TextBox 10"/>
          <p:cNvSpPr txBox="1">
            <a:spLocks noChangeArrowheads="1"/>
          </p:cNvSpPr>
          <p:nvPr/>
        </p:nvSpPr>
        <p:spPr bwMode="auto">
          <a:xfrm>
            <a:off x="457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8452" name="TextBox 11"/>
          <p:cNvSpPr txBox="1">
            <a:spLocks noChangeArrowheads="1"/>
          </p:cNvSpPr>
          <p:nvPr/>
        </p:nvSpPr>
        <p:spPr bwMode="auto">
          <a:xfrm>
            <a:off x="1447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8453" name="TextBox 12"/>
          <p:cNvSpPr txBox="1">
            <a:spLocks noChangeArrowheads="1"/>
          </p:cNvSpPr>
          <p:nvPr/>
        </p:nvSpPr>
        <p:spPr bwMode="auto">
          <a:xfrm>
            <a:off x="24384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8454" name="TextBox 13"/>
          <p:cNvSpPr txBox="1">
            <a:spLocks noChangeArrowheads="1"/>
          </p:cNvSpPr>
          <p:nvPr/>
        </p:nvSpPr>
        <p:spPr bwMode="auto">
          <a:xfrm>
            <a:off x="3505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8455" name="TextBox 14"/>
          <p:cNvSpPr txBox="1">
            <a:spLocks noChangeArrowheads="1"/>
          </p:cNvSpPr>
          <p:nvPr/>
        </p:nvSpPr>
        <p:spPr bwMode="auto">
          <a:xfrm>
            <a:off x="4495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8456" name="TextBox 15"/>
          <p:cNvSpPr txBox="1">
            <a:spLocks noChangeArrowheads="1"/>
          </p:cNvSpPr>
          <p:nvPr/>
        </p:nvSpPr>
        <p:spPr bwMode="auto">
          <a:xfrm>
            <a:off x="55626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8457" name="TextBox 16"/>
          <p:cNvSpPr txBox="1">
            <a:spLocks noChangeArrowheads="1"/>
          </p:cNvSpPr>
          <p:nvPr/>
        </p:nvSpPr>
        <p:spPr bwMode="auto">
          <a:xfrm>
            <a:off x="6553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2954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1002" name="TextBox 18"/>
          <p:cNvSpPr txBox="1">
            <a:spLocks noChangeArrowheads="1"/>
          </p:cNvSpPr>
          <p:nvPr/>
        </p:nvSpPr>
        <p:spPr bwMode="auto">
          <a:xfrm>
            <a:off x="7315200" y="31242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i=2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-76200" y="22098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23"/>
          <p:cNvGrpSpPr/>
          <p:nvPr/>
        </p:nvGrpSpPr>
        <p:grpSpPr bwMode="auto">
          <a:xfrm>
            <a:off x="1447800" y="3048000"/>
            <a:ext cx="762000" cy="766763"/>
            <a:chOff x="2743200" y="4114800"/>
            <a:chExt cx="762000" cy="766465"/>
          </a:xfrm>
        </p:grpSpPr>
        <p:sp>
          <p:nvSpPr>
            <p:cNvPr id="18498" name="TextBox 24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6" name="上箭头 25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16002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5&gt; 10?</a:t>
            </a:r>
            <a:endParaRPr lang="zh-CN" altLang="en-US" dirty="0">
              <a:latin typeface="Arial" panose="020B0604020202020204"/>
            </a:endParaRPr>
          </a:p>
        </p:txBody>
      </p:sp>
      <p:grpSp>
        <p:nvGrpSpPr>
          <p:cNvPr id="3" name="组合 49"/>
          <p:cNvGrpSpPr/>
          <p:nvPr/>
        </p:nvGrpSpPr>
        <p:grpSpPr bwMode="auto">
          <a:xfrm>
            <a:off x="2514600" y="3048000"/>
            <a:ext cx="762000" cy="766763"/>
            <a:chOff x="2743200" y="4114800"/>
            <a:chExt cx="762000" cy="766465"/>
          </a:xfrm>
        </p:grpSpPr>
        <p:sp>
          <p:nvSpPr>
            <p:cNvPr id="18496" name="TextBox 50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52" name="上箭头 51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53" name="矩形 52"/>
          <p:cNvSpPr/>
          <p:nvPr/>
        </p:nvSpPr>
        <p:spPr>
          <a:xfrm>
            <a:off x="28194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10&gt; 22?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1447800" y="54102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1002" grpId="0"/>
      <p:bldP spid="20" grpId="0"/>
      <p:bldP spid="27" grpId="0" animBg="1"/>
      <p:bldP spid="53" grpId="0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65" name="Rectangle 13"/>
          <p:cNvSpPr>
            <a:spLocks noChangeArrowheads="1"/>
          </p:cNvSpPr>
          <p:nvPr/>
        </p:nvSpPr>
        <p:spPr bwMode="auto">
          <a:xfrm>
            <a:off x="0" y="304800"/>
            <a:ext cx="89916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冒泡法的核心：小数上浮，大数下沉。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冒泡法第五轮：使第五大的数放在倒数第五个位置上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0" name="表格 9"/>
          <p:cNvGraphicFramePr>
            <a:graphicFrameLocks noGrp="1"/>
          </p:cNvGraphicFramePr>
          <p:nvPr/>
        </p:nvGraphicFramePr>
        <p:xfrm>
          <a:off x="1295400" y="19050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19475" name="TextBox 10"/>
          <p:cNvSpPr txBox="1">
            <a:spLocks noChangeArrowheads="1"/>
          </p:cNvSpPr>
          <p:nvPr/>
        </p:nvSpPr>
        <p:spPr bwMode="auto">
          <a:xfrm>
            <a:off x="457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9476" name="TextBox 11"/>
          <p:cNvSpPr txBox="1">
            <a:spLocks noChangeArrowheads="1"/>
          </p:cNvSpPr>
          <p:nvPr/>
        </p:nvSpPr>
        <p:spPr bwMode="auto">
          <a:xfrm>
            <a:off x="1447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0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9477" name="TextBox 12"/>
          <p:cNvSpPr txBox="1">
            <a:spLocks noChangeArrowheads="1"/>
          </p:cNvSpPr>
          <p:nvPr/>
        </p:nvSpPr>
        <p:spPr bwMode="auto">
          <a:xfrm>
            <a:off x="24384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9478" name="TextBox 13"/>
          <p:cNvSpPr txBox="1">
            <a:spLocks noChangeArrowheads="1"/>
          </p:cNvSpPr>
          <p:nvPr/>
        </p:nvSpPr>
        <p:spPr bwMode="auto">
          <a:xfrm>
            <a:off x="3505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9479" name="TextBox 14"/>
          <p:cNvSpPr txBox="1">
            <a:spLocks noChangeArrowheads="1"/>
          </p:cNvSpPr>
          <p:nvPr/>
        </p:nvSpPr>
        <p:spPr bwMode="auto">
          <a:xfrm>
            <a:off x="44958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9480" name="TextBox 15"/>
          <p:cNvSpPr txBox="1">
            <a:spLocks noChangeArrowheads="1"/>
          </p:cNvSpPr>
          <p:nvPr/>
        </p:nvSpPr>
        <p:spPr bwMode="auto">
          <a:xfrm>
            <a:off x="55626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9481" name="TextBox 16"/>
          <p:cNvSpPr txBox="1">
            <a:spLocks noChangeArrowheads="1"/>
          </p:cNvSpPr>
          <p:nvPr/>
        </p:nvSpPr>
        <p:spPr bwMode="auto">
          <a:xfrm>
            <a:off x="6553200" y="1371600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5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1295400" y="25146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2026" name="TextBox 18"/>
          <p:cNvSpPr txBox="1">
            <a:spLocks noChangeArrowheads="1"/>
          </p:cNvSpPr>
          <p:nvPr/>
        </p:nvSpPr>
        <p:spPr bwMode="auto">
          <a:xfrm>
            <a:off x="7315200" y="3124200"/>
            <a:ext cx="16764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zh-CN" altLang="en-US" sz="2400" b="1">
                <a:solidFill>
                  <a:srgbClr val="FF0000"/>
                </a:solidFill>
              </a:rPr>
              <a:t>排</a:t>
            </a:r>
            <a:r>
              <a:rPr lang="en-US" altLang="zh-CN" sz="2400" b="1">
                <a:solidFill>
                  <a:srgbClr val="FF0000"/>
                </a:solidFill>
              </a:rPr>
              <a:t>i=1</a:t>
            </a:r>
            <a:r>
              <a:rPr lang="zh-CN" altLang="en-US" sz="2400" b="1">
                <a:solidFill>
                  <a:srgbClr val="FF0000"/>
                </a:solidFill>
              </a:rPr>
              <a:t>位置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20" name="TextBox 19"/>
          <p:cNvSpPr txBox="1">
            <a:spLocks noChangeArrowheads="1"/>
          </p:cNvSpPr>
          <p:nvPr/>
        </p:nvSpPr>
        <p:spPr bwMode="auto">
          <a:xfrm>
            <a:off x="-76200" y="2209800"/>
            <a:ext cx="990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i=4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grpSp>
        <p:nvGrpSpPr>
          <p:cNvPr id="2" name="组合 23"/>
          <p:cNvGrpSpPr/>
          <p:nvPr/>
        </p:nvGrpSpPr>
        <p:grpSpPr bwMode="auto">
          <a:xfrm>
            <a:off x="1447800" y="3048000"/>
            <a:ext cx="762000" cy="766763"/>
            <a:chOff x="2743200" y="4114800"/>
            <a:chExt cx="762000" cy="766465"/>
          </a:xfrm>
        </p:grpSpPr>
        <p:sp>
          <p:nvSpPr>
            <p:cNvPr id="19518" name="TextBox 24"/>
            <p:cNvSpPr txBox="1">
              <a:spLocks noChangeArrowheads="1"/>
            </p:cNvSpPr>
            <p:nvPr/>
          </p:nvSpPr>
          <p:spPr bwMode="auto">
            <a:xfrm>
              <a:off x="2743200" y="4419600"/>
              <a:ext cx="762000" cy="4616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 eaLnBrk="0" hangingPunct="0"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/>
              <a:r>
                <a:rPr lang="en-US" altLang="zh-CN" sz="2400" b="1">
                  <a:solidFill>
                    <a:srgbClr val="FF0000"/>
                  </a:solidFill>
                </a:rPr>
                <a:t>j</a:t>
              </a:r>
              <a:endParaRPr lang="zh-CN" altLang="en-US" sz="2400" b="1">
                <a:solidFill>
                  <a:srgbClr val="FF0000"/>
                </a:solidFill>
              </a:endParaRPr>
            </a:p>
          </p:txBody>
        </p:sp>
        <p:sp>
          <p:nvSpPr>
            <p:cNvPr id="26" name="上箭头 25"/>
            <p:cNvSpPr/>
            <p:nvPr/>
          </p:nvSpPr>
          <p:spPr>
            <a:xfrm>
              <a:off x="2971800" y="4114800"/>
              <a:ext cx="228600" cy="380852"/>
            </a:xfrm>
            <a:prstGeom prst="upArrow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>
                <a:defRPr/>
              </a:pPr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1600200" y="3962400"/>
            <a:ext cx="1143000" cy="5334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r>
              <a:rPr lang="en-US" altLang="zh-CN" dirty="0">
                <a:latin typeface="Arial" panose="020B0604020202020204"/>
              </a:rPr>
              <a:t>5&gt; 10?</a:t>
            </a:r>
            <a:endParaRPr lang="zh-CN" altLang="en-US" dirty="0">
              <a:latin typeface="Arial" panose="020B0604020202020204"/>
            </a:endParaRPr>
          </a:p>
        </p:txBody>
      </p:sp>
      <p:graphicFrame>
        <p:nvGraphicFramePr>
          <p:cNvPr id="84" name="表格 83"/>
          <p:cNvGraphicFramePr>
            <a:graphicFrameLocks noGrp="1"/>
          </p:cNvGraphicFramePr>
          <p:nvPr/>
        </p:nvGraphicFramePr>
        <p:xfrm>
          <a:off x="1447800" y="5410200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2026" grpId="0"/>
      <p:bldP spid="20" grpId="0"/>
      <p:bldP spid="27" grpId="0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392682" y="1124744"/>
            <a:ext cx="8283773" cy="5616624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int main(void)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{	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int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[10],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, j, temp;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("Please input 10 numbers:\n");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for (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10;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7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for 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&lt; 10 - 1;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++){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	for ( j = 0;  j&lt; 10 -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- 1;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		if(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[j] &gt;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[j+1])	{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			temp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[j];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[j] =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[j+1];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			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[j+1] = temp;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		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	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9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("The sorted numbers:\n");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for (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 = 0; 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&lt; 10;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++)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("%4d", 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arr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[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]);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</a:t>
            </a:r>
            <a:r>
              <a:rPr lang="en-US" altLang="zh-CN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("\n");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	return 0;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标题 2"/>
          <p:cNvSpPr txBox="1"/>
          <p:nvPr/>
        </p:nvSpPr>
        <p:spPr>
          <a:xfrm>
            <a:off x="628650" y="365126"/>
            <a:ext cx="7886700" cy="9360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gradFill>
                  <a:gsLst>
                    <a:gs pos="0">
                      <a:srgbClr val="CC33CC"/>
                    </a:gs>
                    <a:gs pos="62000">
                      <a:srgbClr val="101C9E"/>
                    </a:gs>
                  </a:gsLst>
                  <a:lin ang="81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冒泡排序的核心代码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5391565" y="-24303"/>
            <a:ext cx="320433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dirty="0">
                <a:solidFill>
                  <a:srgbClr val="FF0000"/>
                </a:solidFill>
              </a:rPr>
              <a:t>课后任务：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修改代码，支持对长度为</a:t>
            </a:r>
            <a:r>
              <a:rPr lang="en-US" altLang="zh-CN" dirty="0">
                <a:solidFill>
                  <a:srgbClr val="FF0000"/>
                </a:solidFill>
              </a:rPr>
              <a:t>n</a:t>
            </a:r>
            <a:r>
              <a:rPr lang="zh-CN" altLang="en-US" dirty="0">
                <a:solidFill>
                  <a:srgbClr val="FF0000"/>
                </a:solidFill>
              </a:rPr>
              <a:t>的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zh-CN" altLang="en-US" dirty="0">
                <a:solidFill>
                  <a:srgbClr val="FF0000"/>
                </a:solidFill>
              </a:rPr>
              <a:t>数组（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[0] ~ 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[n-1] </a:t>
            </a:r>
            <a:r>
              <a:rPr lang="zh-CN" altLang="en-US" dirty="0">
                <a:solidFill>
                  <a:srgbClr val="FF0000"/>
                </a:solidFill>
              </a:rPr>
              <a:t>进行选择排序</a:t>
            </a:r>
            <a:endParaRPr lang="en-US" altLang="zh-CN" dirty="0">
              <a:solidFill>
                <a:srgbClr val="FF0000"/>
              </a:solidFill>
            </a:endParaRPr>
          </a:p>
          <a:p>
            <a:pPr marL="342900" indent="-342900">
              <a:buAutoNum type="arabicPeriod"/>
            </a:pPr>
            <a:r>
              <a:rPr lang="zh-CN" altLang="en-US" dirty="0">
                <a:solidFill>
                  <a:srgbClr val="FF0000"/>
                </a:solidFill>
              </a:rPr>
              <a:t>对数组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zh-CN" altLang="en-US" dirty="0">
                <a:solidFill>
                  <a:srgbClr val="FF0000"/>
                </a:solidFill>
              </a:rPr>
              <a:t>下标</a:t>
            </a:r>
            <a:r>
              <a:rPr lang="en-US" altLang="zh-CN" dirty="0" err="1">
                <a:solidFill>
                  <a:srgbClr val="FF0000"/>
                </a:solidFill>
              </a:rPr>
              <a:t>i~j</a:t>
            </a:r>
            <a:r>
              <a:rPr lang="zh-CN" altLang="en-US" dirty="0">
                <a:solidFill>
                  <a:srgbClr val="FF0000"/>
                </a:solidFill>
              </a:rPr>
              <a:t>范围内的元素（即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</a:t>
            </a:r>
            <a:r>
              <a:rPr lang="en-US" altLang="zh-CN" dirty="0" err="1">
                <a:solidFill>
                  <a:srgbClr val="FF0000"/>
                </a:solidFill>
              </a:rPr>
              <a:t>i</a:t>
            </a:r>
            <a:r>
              <a:rPr lang="en-US" altLang="zh-CN" dirty="0">
                <a:solidFill>
                  <a:srgbClr val="FF0000"/>
                </a:solidFill>
              </a:rPr>
              <a:t>] ~ </a:t>
            </a:r>
            <a:r>
              <a:rPr lang="en-US" altLang="zh-CN" dirty="0" err="1">
                <a:solidFill>
                  <a:srgbClr val="FF0000"/>
                </a:solidFill>
              </a:rPr>
              <a:t>arr</a:t>
            </a:r>
            <a:r>
              <a:rPr lang="en-US" altLang="zh-CN" dirty="0">
                <a:solidFill>
                  <a:srgbClr val="FF0000"/>
                </a:solidFill>
              </a:rPr>
              <a:t>[j])</a:t>
            </a:r>
            <a:r>
              <a:rPr lang="zh-CN" altLang="en-US" dirty="0">
                <a:solidFill>
                  <a:srgbClr val="FF0000"/>
                </a:solidFill>
              </a:rPr>
              <a:t>排序</a:t>
            </a:r>
            <a:r>
              <a:rPr lang="zh-CN" altLang="en-US" dirty="0"/>
              <a:t>，</a:t>
            </a:r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冒泡排序的效率</a:t>
            </a:r>
            <a:r>
              <a:rPr lang="en-US" altLang="zh-CN" baseline="30000" dirty="0"/>
              <a:t>*</a:t>
            </a:r>
            <a:endParaRPr lang="zh-CN" altLang="en-US" baseline="30000" dirty="0"/>
          </a:p>
        </p:txBody>
      </p:sp>
      <p:pic>
        <p:nvPicPr>
          <p:cNvPr id="5123" name="Picture 3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2621" y="1818131"/>
            <a:ext cx="8378757" cy="3564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6.2.3 </a:t>
            </a:r>
            <a:r>
              <a:rPr lang="zh-CN" altLang="en-US" dirty="0"/>
              <a:t>插入排序</a:t>
            </a:r>
            <a:endParaRPr lang="zh-CN" altLang="en-US" dirty="0"/>
          </a:p>
        </p:txBody>
      </p:sp>
      <p:sp>
        <p:nvSpPr>
          <p:cNvPr id="5" name="Rectangle 7"/>
          <p:cNvSpPr>
            <a:spLocks noChangeArrowheads="1"/>
          </p:cNvSpPr>
          <p:nvPr/>
        </p:nvSpPr>
        <p:spPr bwMode="auto">
          <a:xfrm>
            <a:off x="1447800" y="1828800"/>
            <a:ext cx="7315200" cy="3886200"/>
          </a:xfrm>
          <a:prstGeom prst="rect">
            <a:avLst/>
          </a:prstGeom>
          <a:noFill/>
          <a:ln w="9525">
            <a:solidFill>
              <a:srgbClr val="FF9900"/>
            </a:solidFill>
            <a:miter lim="800000"/>
          </a:ln>
        </p:spPr>
        <p:txBody>
          <a:bodyPr anchor="ctr"/>
          <a:lstStyle/>
          <a:p>
            <a:pPr>
              <a:defRPr/>
            </a:pPr>
            <a:r>
              <a:rPr lang="zh-CN" altLang="en-US" sz="3600" b="1" dirty="0">
                <a:solidFill>
                  <a:srgbClr val="0000FF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楷体_GB2312" pitchFamily="49" charset="-122"/>
                <a:ea typeface="楷体_GB2312" pitchFamily="49" charset="-122"/>
              </a:rPr>
              <a:t>逐步构建有序序列，对于未排序数据中的第一个，在已排序序列中从后向前扫描，找到相应位置并插入。扫描过程中，需要反复把已排序元素逐步向后挪位，为最新元素提供插入空间</a:t>
            </a:r>
            <a:endParaRPr lang="zh-CN" altLang="en-US" sz="3600" b="1" dirty="0">
              <a:solidFill>
                <a:srgbClr val="0000FF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6" name="Rectangle 9"/>
          <p:cNvSpPr>
            <a:spLocks noChangeArrowheads="1"/>
          </p:cNvSpPr>
          <p:nvPr/>
        </p:nvSpPr>
        <p:spPr bwMode="auto">
          <a:xfrm>
            <a:off x="304800" y="1828800"/>
            <a:ext cx="1066800" cy="3886200"/>
          </a:xfrm>
          <a:prstGeom prst="rect">
            <a:avLst/>
          </a:prstGeom>
          <a:solidFill>
            <a:srgbClr val="FF9900"/>
          </a:solidFill>
          <a:ln w="12700" cap="sq">
            <a:solidFill>
              <a:srgbClr val="FFFFFF"/>
            </a:solidFill>
            <a:miter lim="800000"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 algn="ctr">
              <a:defRPr/>
            </a:pPr>
            <a:r>
              <a:rPr lang="zh-CN" altLang="en-US"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思</a:t>
            </a:r>
            <a:endParaRPr lang="zh-CN" altLang="en-US" sz="40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  <a:p>
            <a:pPr algn="ctr">
              <a:defRPr/>
            </a:pPr>
            <a:r>
              <a:rPr lang="zh-CN" altLang="en-US" sz="4000" b="1">
                <a:solidFill>
                  <a:srgbClr val="FFFFFF"/>
                </a:solidFill>
                <a:effectLst>
                  <a:outerShdw blurRad="38100" dist="38100" dir="2700000" algn="tl">
                    <a:srgbClr val="000000"/>
                  </a:outerShdw>
                </a:effectLst>
                <a:latin typeface="楷体_GB2312" pitchFamily="49" charset="-122"/>
                <a:ea typeface="楷体_GB2312" pitchFamily="49" charset="-122"/>
              </a:rPr>
              <a:t>路</a:t>
            </a:r>
            <a:endParaRPr lang="zh-CN" altLang="en-US" sz="2000" b="1">
              <a:solidFill>
                <a:srgbClr val="FFFFFF"/>
              </a:solidFill>
              <a:effectLst>
                <a:outerShdw blurRad="38100" dist="38100" dir="2700000" algn="tl">
                  <a:srgbClr val="000000"/>
                </a:outerShdw>
              </a:effectLst>
              <a:latin typeface="楷体_GB2312" pitchFamily="49" charset="-122"/>
              <a:ea typeface="楷体_GB2312" pitchFamily="49" charset="-122"/>
            </a:endParaRPr>
          </a:p>
        </p:txBody>
      </p:sp>
      <p:sp>
        <p:nvSpPr>
          <p:cNvPr id="2" name="矩形 1"/>
          <p:cNvSpPr/>
          <p:nvPr/>
        </p:nvSpPr>
        <p:spPr>
          <a:xfrm>
            <a:off x="5924442" y="5842818"/>
            <a:ext cx="2031325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dirty="0"/>
              <a:t>代码课后自行完成</a:t>
            </a:r>
            <a:endParaRPr lang="en-US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矩形 23"/>
          <p:cNvSpPr/>
          <p:nvPr/>
        </p:nvSpPr>
        <p:spPr>
          <a:xfrm>
            <a:off x="1258645" y="1802715"/>
            <a:ext cx="1081143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06945"/>
            <a:ext cx="8230387" cy="899650"/>
          </a:xfrm>
        </p:spPr>
        <p:txBody>
          <a:bodyPr/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graphicFrame>
        <p:nvGraphicFramePr>
          <p:cNvPr id="4" name="表格 3"/>
          <p:cNvGraphicFramePr>
            <a:graphicFrameLocks noGrp="1"/>
          </p:cNvGraphicFramePr>
          <p:nvPr/>
        </p:nvGraphicFramePr>
        <p:xfrm>
          <a:off x="1295400" y="1858994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5" name="TextBox 11"/>
          <p:cNvSpPr txBox="1">
            <a:spLocks noChangeArrowheads="1"/>
          </p:cNvSpPr>
          <p:nvPr/>
        </p:nvSpPr>
        <p:spPr bwMode="auto">
          <a:xfrm>
            <a:off x="1447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6" name="TextBox 12"/>
          <p:cNvSpPr txBox="1">
            <a:spLocks noChangeArrowheads="1"/>
          </p:cNvSpPr>
          <p:nvPr/>
        </p:nvSpPr>
        <p:spPr bwMode="auto">
          <a:xfrm>
            <a:off x="24384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7" name="TextBox 13"/>
          <p:cNvSpPr txBox="1">
            <a:spLocks noChangeArrowheads="1"/>
          </p:cNvSpPr>
          <p:nvPr/>
        </p:nvSpPr>
        <p:spPr bwMode="auto">
          <a:xfrm>
            <a:off x="3505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8" name="TextBox 14"/>
          <p:cNvSpPr txBox="1">
            <a:spLocks noChangeArrowheads="1"/>
          </p:cNvSpPr>
          <p:nvPr/>
        </p:nvSpPr>
        <p:spPr bwMode="auto">
          <a:xfrm>
            <a:off x="4495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9" name="TextBox 15"/>
          <p:cNvSpPr txBox="1">
            <a:spLocks noChangeArrowheads="1"/>
          </p:cNvSpPr>
          <p:nvPr/>
        </p:nvSpPr>
        <p:spPr bwMode="auto">
          <a:xfrm>
            <a:off x="55626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10" name="TextBox 16"/>
          <p:cNvSpPr txBox="1">
            <a:spLocks noChangeArrowheads="1"/>
          </p:cNvSpPr>
          <p:nvPr/>
        </p:nvSpPr>
        <p:spPr bwMode="auto">
          <a:xfrm>
            <a:off x="6553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5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0" y="279745"/>
            <a:ext cx="89916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插入法的核心：将未排序的数往排好序的数中插入。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插入法第一轮：第一个数排好了序，将第二个数插入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26" name="任意多边形: 形状 25"/>
          <p:cNvSpPr/>
          <p:nvPr/>
        </p:nvSpPr>
        <p:spPr>
          <a:xfrm>
            <a:off x="1899920" y="2338010"/>
            <a:ext cx="934720" cy="112333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221890" y="3103315"/>
            <a:ext cx="2097382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1258645" y="3159594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" name="箭头: 下 2"/>
          <p:cNvSpPr/>
          <p:nvPr/>
        </p:nvSpPr>
        <p:spPr>
          <a:xfrm>
            <a:off x="4229100" y="2458670"/>
            <a:ext cx="457200" cy="4755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文本框 39"/>
          <p:cNvSpPr txBox="1"/>
          <p:nvPr/>
        </p:nvSpPr>
        <p:spPr>
          <a:xfrm>
            <a:off x="2837673" y="3835501"/>
            <a:ext cx="32400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前两个数排好了序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41" name="文本框 40"/>
          <p:cNvSpPr txBox="1"/>
          <p:nvPr/>
        </p:nvSpPr>
        <p:spPr>
          <a:xfrm>
            <a:off x="2410902" y="2491085"/>
            <a:ext cx="84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Key=34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7" grpId="0" animBg="1"/>
      <p:bldP spid="3" grpId="0" animBg="1"/>
      <p:bldP spid="40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矩形 36"/>
          <p:cNvSpPr/>
          <p:nvPr/>
        </p:nvSpPr>
        <p:spPr>
          <a:xfrm>
            <a:off x="1263288" y="1819746"/>
            <a:ext cx="2097382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2" name="表格 31"/>
          <p:cNvGraphicFramePr>
            <a:graphicFrameLocks noGrp="1"/>
          </p:cNvGraphicFramePr>
          <p:nvPr/>
        </p:nvGraphicFramePr>
        <p:xfrm>
          <a:off x="1295400" y="1858994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任意多边形: 形状 25"/>
          <p:cNvSpPr/>
          <p:nvPr/>
        </p:nvSpPr>
        <p:spPr>
          <a:xfrm rot="231759">
            <a:off x="3087267" y="2310785"/>
            <a:ext cx="768545" cy="203236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4367668" y="6711739"/>
            <a:ext cx="2114475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06945"/>
            <a:ext cx="8230387" cy="899650"/>
          </a:xfrm>
        </p:spPr>
        <p:txBody>
          <a:bodyPr/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0" y="279745"/>
            <a:ext cx="89916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插入法的核心：将未排序的数往排好序的数中插入。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插入法第二轮：前两个数排好了序，将第三个数插入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3160416" y="596085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插入法第二轮：前两个数排好了序，将第三个数插入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4449246" y="674436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13160416" y="734500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插入法第三轮：前三个数排好了序，将第四个数插入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4449246" y="812851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13185223" y="872915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插入法第四轮：前四个数排好了序，将第五个数插入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4449246" y="9551214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任意多边形: 形状 26"/>
          <p:cNvSpPr/>
          <p:nvPr/>
        </p:nvSpPr>
        <p:spPr>
          <a:xfrm>
            <a:off x="10830560" y="2809852"/>
            <a:ext cx="934720" cy="112333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1177038" y="3125685"/>
            <a:ext cx="3153662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1258616" y="3158312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30" name="文本框 29"/>
          <p:cNvSpPr txBox="1"/>
          <p:nvPr/>
        </p:nvSpPr>
        <p:spPr>
          <a:xfrm>
            <a:off x="2837673" y="3835501"/>
            <a:ext cx="32400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前三个数排好了序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11"/>
          <p:cNvSpPr txBox="1">
            <a:spLocks noChangeArrowheads="1"/>
          </p:cNvSpPr>
          <p:nvPr/>
        </p:nvSpPr>
        <p:spPr bwMode="auto">
          <a:xfrm>
            <a:off x="1447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4" name="TextBox 12"/>
          <p:cNvSpPr txBox="1">
            <a:spLocks noChangeArrowheads="1"/>
          </p:cNvSpPr>
          <p:nvPr/>
        </p:nvSpPr>
        <p:spPr bwMode="auto">
          <a:xfrm>
            <a:off x="24384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5" name="TextBox 13"/>
          <p:cNvSpPr txBox="1">
            <a:spLocks noChangeArrowheads="1"/>
          </p:cNvSpPr>
          <p:nvPr/>
        </p:nvSpPr>
        <p:spPr bwMode="auto">
          <a:xfrm>
            <a:off x="3505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6" name="TextBox 14"/>
          <p:cNvSpPr txBox="1">
            <a:spLocks noChangeArrowheads="1"/>
          </p:cNvSpPr>
          <p:nvPr/>
        </p:nvSpPr>
        <p:spPr bwMode="auto">
          <a:xfrm>
            <a:off x="4495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9" name="TextBox 15"/>
          <p:cNvSpPr txBox="1">
            <a:spLocks noChangeArrowheads="1"/>
          </p:cNvSpPr>
          <p:nvPr/>
        </p:nvSpPr>
        <p:spPr bwMode="auto">
          <a:xfrm>
            <a:off x="55626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6553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5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graphicFrame>
        <p:nvGraphicFramePr>
          <p:cNvPr id="43" name="表格 42"/>
          <p:cNvGraphicFramePr>
            <a:graphicFrameLocks noGrp="1"/>
          </p:cNvGraphicFramePr>
          <p:nvPr/>
        </p:nvGraphicFramePr>
        <p:xfrm>
          <a:off x="1258616" y="3158312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4" name="文本框 43"/>
          <p:cNvSpPr txBox="1"/>
          <p:nvPr/>
        </p:nvSpPr>
        <p:spPr>
          <a:xfrm>
            <a:off x="1295400" y="2795805"/>
            <a:ext cx="279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比</a:t>
            </a:r>
            <a:r>
              <a:rPr lang="en-US" altLang="zh-CN" b="1" dirty="0"/>
              <a:t>Key</a:t>
            </a:r>
            <a:r>
              <a:rPr lang="zh-CN" altLang="en-US" b="1" dirty="0"/>
              <a:t>大的数字往后挪一位</a:t>
            </a:r>
            <a:endParaRPr lang="zh-CN" altLang="en-US" b="1" dirty="0"/>
          </a:p>
        </p:txBody>
      </p:sp>
      <p:sp>
        <p:nvSpPr>
          <p:cNvPr id="45" name="箭头: 下 44"/>
          <p:cNvSpPr/>
          <p:nvPr/>
        </p:nvSpPr>
        <p:spPr>
          <a:xfrm>
            <a:off x="4229100" y="2458670"/>
            <a:ext cx="457200" cy="4755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3047801" y="2527315"/>
            <a:ext cx="84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Key=10</a:t>
            </a:r>
            <a:endParaRPr lang="zh-CN" altLang="en-US" b="1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6" grpId="0" animBg="1"/>
      <p:bldP spid="28" grpId="0" animBg="1"/>
      <p:bldP spid="30" grpId="0"/>
      <p:bldP spid="44" grpId="0"/>
      <p:bldP spid="45" grpId="0" animBg="1"/>
      <p:bldP spid="46" grpId="0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矩形 46"/>
          <p:cNvSpPr/>
          <p:nvPr/>
        </p:nvSpPr>
        <p:spPr>
          <a:xfrm>
            <a:off x="1298013" y="3629868"/>
            <a:ext cx="4122348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4367668" y="6711739"/>
            <a:ext cx="2114475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06945"/>
            <a:ext cx="8230387" cy="899650"/>
          </a:xfrm>
        </p:spPr>
        <p:txBody>
          <a:bodyPr/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0" y="279745"/>
            <a:ext cx="89916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插入法的核心：将未排序的数往排好序的数中插入。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插入法第三轮：前三个数排好了序，将第四个数插入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3160416" y="596085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插入法第二轮：前两个数排好了序，将第三个数插入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4449246" y="674436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13160416" y="734500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插入法第三轮：前三个数排好了序，将第四个数插入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4449246" y="812851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13185223" y="872915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插入法第四轮：前四个数排好了序，将第五个数插入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4449246" y="9551214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任意多边形: 形状 26"/>
          <p:cNvSpPr/>
          <p:nvPr/>
        </p:nvSpPr>
        <p:spPr>
          <a:xfrm>
            <a:off x="10830560" y="2809852"/>
            <a:ext cx="934720" cy="112333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837672" y="4409541"/>
            <a:ext cx="32400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前四个数排好了序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11"/>
          <p:cNvSpPr txBox="1">
            <a:spLocks noChangeArrowheads="1"/>
          </p:cNvSpPr>
          <p:nvPr/>
        </p:nvSpPr>
        <p:spPr bwMode="auto">
          <a:xfrm>
            <a:off x="1447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4" name="TextBox 12"/>
          <p:cNvSpPr txBox="1">
            <a:spLocks noChangeArrowheads="1"/>
          </p:cNvSpPr>
          <p:nvPr/>
        </p:nvSpPr>
        <p:spPr bwMode="auto">
          <a:xfrm>
            <a:off x="24384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5" name="TextBox 13"/>
          <p:cNvSpPr txBox="1">
            <a:spLocks noChangeArrowheads="1"/>
          </p:cNvSpPr>
          <p:nvPr/>
        </p:nvSpPr>
        <p:spPr bwMode="auto">
          <a:xfrm>
            <a:off x="3505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6" name="TextBox 14"/>
          <p:cNvSpPr txBox="1">
            <a:spLocks noChangeArrowheads="1"/>
          </p:cNvSpPr>
          <p:nvPr/>
        </p:nvSpPr>
        <p:spPr bwMode="auto">
          <a:xfrm>
            <a:off x="4495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9" name="TextBox 15"/>
          <p:cNvSpPr txBox="1">
            <a:spLocks noChangeArrowheads="1"/>
          </p:cNvSpPr>
          <p:nvPr/>
        </p:nvSpPr>
        <p:spPr bwMode="auto">
          <a:xfrm>
            <a:off x="55626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6553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5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294176" y="2971901"/>
            <a:ext cx="279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比</a:t>
            </a:r>
            <a:r>
              <a:rPr lang="en-US" altLang="zh-CN" b="1" dirty="0"/>
              <a:t>Key</a:t>
            </a:r>
            <a:r>
              <a:rPr lang="zh-CN" altLang="en-US" b="1" dirty="0"/>
              <a:t>大的数字往后挪一位</a:t>
            </a:r>
            <a:endParaRPr lang="zh-CN" altLang="en-US" b="1" dirty="0"/>
          </a:p>
        </p:txBody>
      </p:sp>
      <p:sp>
        <p:nvSpPr>
          <p:cNvPr id="45" name="箭头: 下 44"/>
          <p:cNvSpPr/>
          <p:nvPr/>
        </p:nvSpPr>
        <p:spPr>
          <a:xfrm>
            <a:off x="4229099" y="2970858"/>
            <a:ext cx="457200" cy="4755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4434570" y="2538158"/>
            <a:ext cx="73206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Key=5</a:t>
            </a:r>
            <a:endParaRPr lang="zh-CN" altLang="en-US" b="1" dirty="0"/>
          </a:p>
        </p:txBody>
      </p:sp>
      <p:sp>
        <p:nvSpPr>
          <p:cNvPr id="31" name="矩形 30"/>
          <p:cNvSpPr/>
          <p:nvPr/>
        </p:nvSpPr>
        <p:spPr>
          <a:xfrm>
            <a:off x="1212598" y="1825205"/>
            <a:ext cx="3153662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1294176" y="1857832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graphicFrame>
        <p:nvGraphicFramePr>
          <p:cNvPr id="40" name="表格 39"/>
          <p:cNvGraphicFramePr>
            <a:graphicFrameLocks noGrp="1"/>
          </p:cNvGraphicFramePr>
          <p:nvPr/>
        </p:nvGraphicFramePr>
        <p:xfrm>
          <a:off x="1294176" y="1857832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任意多边形: 形状 25"/>
          <p:cNvSpPr/>
          <p:nvPr/>
        </p:nvSpPr>
        <p:spPr>
          <a:xfrm rot="231759">
            <a:off x="4003225" y="2312727"/>
            <a:ext cx="768545" cy="203236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1315282" y="3667208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7" grpId="0" animBg="1"/>
      <p:bldP spid="30" grpId="0"/>
      <p:bldP spid="44" grpId="0"/>
      <p:bldP spid="45" grpId="0" animBg="1"/>
      <p:bldP spid="46" grpId="0"/>
      <p:bldP spid="26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4367668" y="6711739"/>
            <a:ext cx="2114475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06945"/>
            <a:ext cx="8230387" cy="899650"/>
          </a:xfrm>
        </p:spPr>
        <p:txBody>
          <a:bodyPr/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0" y="279745"/>
            <a:ext cx="89916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插入法的核心：将未排序的数往排好序的数中插入。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插入法第四轮：前四个数排好了序，将第五个数插入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3160416" y="596085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插入法第二轮：前两个数排好了序，将第三个数插入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4449246" y="674436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13160416" y="734500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插入法第三轮：前三个数排好了序，将第四个数插入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4449246" y="812851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13185223" y="872915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插入法第四轮：前四个数排好了序，将第五个数插入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4449246" y="9551214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任意多边形: 形状 26"/>
          <p:cNvSpPr/>
          <p:nvPr/>
        </p:nvSpPr>
        <p:spPr>
          <a:xfrm>
            <a:off x="10830560" y="2809852"/>
            <a:ext cx="934720" cy="112333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837672" y="4409541"/>
            <a:ext cx="32400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前五个数排好了序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11"/>
          <p:cNvSpPr txBox="1">
            <a:spLocks noChangeArrowheads="1"/>
          </p:cNvSpPr>
          <p:nvPr/>
        </p:nvSpPr>
        <p:spPr bwMode="auto">
          <a:xfrm>
            <a:off x="1447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4" name="TextBox 12"/>
          <p:cNvSpPr txBox="1">
            <a:spLocks noChangeArrowheads="1"/>
          </p:cNvSpPr>
          <p:nvPr/>
        </p:nvSpPr>
        <p:spPr bwMode="auto">
          <a:xfrm>
            <a:off x="24384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5" name="TextBox 13"/>
          <p:cNvSpPr txBox="1">
            <a:spLocks noChangeArrowheads="1"/>
          </p:cNvSpPr>
          <p:nvPr/>
        </p:nvSpPr>
        <p:spPr bwMode="auto">
          <a:xfrm>
            <a:off x="3505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6" name="TextBox 14"/>
          <p:cNvSpPr txBox="1">
            <a:spLocks noChangeArrowheads="1"/>
          </p:cNvSpPr>
          <p:nvPr/>
        </p:nvSpPr>
        <p:spPr bwMode="auto">
          <a:xfrm>
            <a:off x="4495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9" name="TextBox 15"/>
          <p:cNvSpPr txBox="1">
            <a:spLocks noChangeArrowheads="1"/>
          </p:cNvSpPr>
          <p:nvPr/>
        </p:nvSpPr>
        <p:spPr bwMode="auto">
          <a:xfrm>
            <a:off x="55626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6553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5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294176" y="2971901"/>
            <a:ext cx="279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比</a:t>
            </a:r>
            <a:r>
              <a:rPr lang="en-US" altLang="zh-CN" b="1" dirty="0"/>
              <a:t>Key</a:t>
            </a:r>
            <a:r>
              <a:rPr lang="zh-CN" altLang="en-US" b="1" dirty="0"/>
              <a:t>大的数字往后挪一位</a:t>
            </a:r>
            <a:endParaRPr lang="zh-CN" altLang="en-US" b="1" dirty="0"/>
          </a:p>
        </p:txBody>
      </p:sp>
      <p:sp>
        <p:nvSpPr>
          <p:cNvPr id="45" name="箭头: 下 44"/>
          <p:cNvSpPr/>
          <p:nvPr/>
        </p:nvSpPr>
        <p:spPr>
          <a:xfrm>
            <a:off x="4229099" y="2970858"/>
            <a:ext cx="457200" cy="4755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文本框 45"/>
          <p:cNvSpPr txBox="1"/>
          <p:nvPr/>
        </p:nvSpPr>
        <p:spPr>
          <a:xfrm>
            <a:off x="5051279" y="2596342"/>
            <a:ext cx="84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Key=89</a:t>
            </a:r>
            <a:endParaRPr lang="zh-CN" altLang="en-US" b="1" dirty="0"/>
          </a:p>
        </p:txBody>
      </p:sp>
      <p:sp>
        <p:nvSpPr>
          <p:cNvPr id="28" name="矩形 27"/>
          <p:cNvSpPr/>
          <p:nvPr/>
        </p:nvSpPr>
        <p:spPr>
          <a:xfrm>
            <a:off x="1277693" y="1821388"/>
            <a:ext cx="4122348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29" name="表格 28"/>
          <p:cNvGraphicFramePr>
            <a:graphicFrameLocks noGrp="1"/>
          </p:cNvGraphicFramePr>
          <p:nvPr/>
        </p:nvGraphicFramePr>
        <p:xfrm>
          <a:off x="1294962" y="1858728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6" name="任意多边形: 形状 25"/>
          <p:cNvSpPr/>
          <p:nvPr/>
        </p:nvSpPr>
        <p:spPr>
          <a:xfrm rot="231759">
            <a:off x="5033037" y="2336404"/>
            <a:ext cx="768545" cy="203236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矩形 31"/>
          <p:cNvSpPr/>
          <p:nvPr/>
        </p:nvSpPr>
        <p:spPr>
          <a:xfrm>
            <a:off x="1294176" y="3604303"/>
            <a:ext cx="5162504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7" name="表格 36"/>
          <p:cNvGraphicFramePr>
            <a:graphicFrameLocks noGrp="1"/>
          </p:cNvGraphicFramePr>
          <p:nvPr/>
        </p:nvGraphicFramePr>
        <p:xfrm>
          <a:off x="1311445" y="3641643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4" grpId="0"/>
      <p:bldP spid="45" grpId="0" animBg="1"/>
      <p:bldP spid="46" grpId="0"/>
      <p:bldP spid="26" grpId="0" animBg="1"/>
      <p:bldP spid="32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矩形 24"/>
          <p:cNvSpPr/>
          <p:nvPr/>
        </p:nvSpPr>
        <p:spPr>
          <a:xfrm>
            <a:off x="14367668" y="6711739"/>
            <a:ext cx="2114475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32000" y="406945"/>
            <a:ext cx="8230387" cy="899650"/>
          </a:xfrm>
        </p:spPr>
        <p:txBody>
          <a:bodyPr/>
          <a:lstStyle/>
          <a:p>
            <a:r>
              <a:rPr lang="en-US" altLang="zh-CN" dirty="0"/>
              <a:t>v</a:t>
            </a:r>
            <a:endParaRPr lang="zh-CN" altLang="en-US" dirty="0"/>
          </a:p>
        </p:txBody>
      </p:sp>
      <p:sp>
        <p:nvSpPr>
          <p:cNvPr id="11" name="Rectangle 13"/>
          <p:cNvSpPr>
            <a:spLocks noChangeArrowheads="1"/>
          </p:cNvSpPr>
          <p:nvPr/>
        </p:nvSpPr>
        <p:spPr bwMode="auto">
          <a:xfrm>
            <a:off x="0" y="279745"/>
            <a:ext cx="8991600" cy="99060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插入法的核心：将未排序的数往排好序的数中插入。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插入法第五轮：前五个数排好了序，将第六个数插入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13160416" y="596085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插入法第二轮：前两个数排好了序，将第三个数插入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13" name="表格 12"/>
          <p:cNvGraphicFramePr>
            <a:graphicFrameLocks noGrp="1"/>
          </p:cNvGraphicFramePr>
          <p:nvPr/>
        </p:nvGraphicFramePr>
        <p:xfrm>
          <a:off x="14449246" y="674436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0" name="Rectangle 13"/>
          <p:cNvSpPr>
            <a:spLocks noChangeArrowheads="1"/>
          </p:cNvSpPr>
          <p:nvPr/>
        </p:nvSpPr>
        <p:spPr bwMode="auto">
          <a:xfrm>
            <a:off x="13160416" y="734500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插入法第三轮：前三个数排好了序，将第四个数插入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1" name="表格 20"/>
          <p:cNvGraphicFramePr>
            <a:graphicFrameLocks noGrp="1"/>
          </p:cNvGraphicFramePr>
          <p:nvPr/>
        </p:nvGraphicFramePr>
        <p:xfrm>
          <a:off x="14449246" y="8128516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2" name="Rectangle 13"/>
          <p:cNvSpPr>
            <a:spLocks noChangeArrowheads="1"/>
          </p:cNvSpPr>
          <p:nvPr/>
        </p:nvSpPr>
        <p:spPr bwMode="auto">
          <a:xfrm>
            <a:off x="13185223" y="8729151"/>
            <a:ext cx="8991600" cy="640080"/>
          </a:xfrm>
          <a:prstGeom prst="rect">
            <a:avLst/>
          </a:prstGeom>
          <a:solidFill>
            <a:srgbClr val="FFC489"/>
          </a:solidFill>
          <a:ln w="9525">
            <a:noFill/>
            <a:miter lim="800000"/>
          </a:ln>
        </p:spPr>
        <p:txBody>
          <a:bodyPr/>
          <a:lstStyle/>
          <a:p>
            <a:pPr marL="342900" indent="-342900">
              <a:spcBef>
                <a:spcPct val="20000"/>
              </a:spcBef>
              <a:buFontTx/>
              <a:buChar char="•"/>
              <a:defRPr/>
            </a:pPr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插入法第四轮：前四个数排好了序，将第五个数插入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graphicFrame>
        <p:nvGraphicFramePr>
          <p:cNvPr id="23" name="表格 22"/>
          <p:cNvGraphicFramePr>
            <a:graphicFrameLocks noGrp="1"/>
          </p:cNvGraphicFramePr>
          <p:nvPr/>
        </p:nvGraphicFramePr>
        <p:xfrm>
          <a:off x="14449246" y="9551214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27" name="任意多边形: 形状 26"/>
          <p:cNvSpPr/>
          <p:nvPr/>
        </p:nvSpPr>
        <p:spPr>
          <a:xfrm>
            <a:off x="10830560" y="2809852"/>
            <a:ext cx="934720" cy="112333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0" name="文本框 29"/>
          <p:cNvSpPr txBox="1"/>
          <p:nvPr/>
        </p:nvSpPr>
        <p:spPr>
          <a:xfrm>
            <a:off x="2837672" y="4409541"/>
            <a:ext cx="324005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800" b="1" dirty="0">
                <a:solidFill>
                  <a:schemeClr val="bg2">
                    <a:lumMod val="25000"/>
                  </a:schemeClr>
                </a:solidFill>
                <a:latin typeface="Arial" panose="020B0604020202020204" pitchFamily="34" charset="0"/>
              </a:rPr>
              <a:t>所有数都排好了序</a:t>
            </a:r>
            <a:endParaRPr lang="zh-CN" altLang="en-US" sz="2800" b="1" dirty="0">
              <a:solidFill>
                <a:schemeClr val="bg2">
                  <a:lumMod val="25000"/>
                </a:schemeClr>
              </a:solidFill>
              <a:latin typeface="Arial" panose="020B0604020202020204" pitchFamily="34" charset="0"/>
            </a:endParaRPr>
          </a:p>
        </p:txBody>
      </p:sp>
      <p:sp>
        <p:nvSpPr>
          <p:cNvPr id="33" name="TextBox 11"/>
          <p:cNvSpPr txBox="1">
            <a:spLocks noChangeArrowheads="1"/>
          </p:cNvSpPr>
          <p:nvPr/>
        </p:nvSpPr>
        <p:spPr bwMode="auto">
          <a:xfrm>
            <a:off x="1447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0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34" name="TextBox 12"/>
          <p:cNvSpPr txBox="1">
            <a:spLocks noChangeArrowheads="1"/>
          </p:cNvSpPr>
          <p:nvPr/>
        </p:nvSpPr>
        <p:spPr bwMode="auto">
          <a:xfrm>
            <a:off x="24384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1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5" name="TextBox 13"/>
          <p:cNvSpPr txBox="1">
            <a:spLocks noChangeArrowheads="1"/>
          </p:cNvSpPr>
          <p:nvPr/>
        </p:nvSpPr>
        <p:spPr bwMode="auto">
          <a:xfrm>
            <a:off x="3505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2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6" name="TextBox 14"/>
          <p:cNvSpPr txBox="1">
            <a:spLocks noChangeArrowheads="1"/>
          </p:cNvSpPr>
          <p:nvPr/>
        </p:nvSpPr>
        <p:spPr bwMode="auto">
          <a:xfrm>
            <a:off x="44958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3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39" name="TextBox 15"/>
          <p:cNvSpPr txBox="1">
            <a:spLocks noChangeArrowheads="1"/>
          </p:cNvSpPr>
          <p:nvPr/>
        </p:nvSpPr>
        <p:spPr bwMode="auto">
          <a:xfrm>
            <a:off x="55626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>
                <a:solidFill>
                  <a:srgbClr val="FF0000"/>
                </a:solidFill>
              </a:rPr>
              <a:t>4</a:t>
            </a:r>
            <a:endParaRPr lang="zh-CN" altLang="en-US" sz="2400" b="1">
              <a:solidFill>
                <a:srgbClr val="FF0000"/>
              </a:solidFill>
            </a:endParaRPr>
          </a:p>
        </p:txBody>
      </p:sp>
      <p:sp>
        <p:nvSpPr>
          <p:cNvPr id="41" name="TextBox 16"/>
          <p:cNvSpPr txBox="1">
            <a:spLocks noChangeArrowheads="1"/>
          </p:cNvSpPr>
          <p:nvPr/>
        </p:nvSpPr>
        <p:spPr bwMode="auto">
          <a:xfrm>
            <a:off x="6553200" y="1425103"/>
            <a:ext cx="609600" cy="461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 algn="ctr" eaLnBrk="1" hangingPunct="1"/>
            <a:r>
              <a:rPr lang="en-US" altLang="zh-CN" sz="2400" b="1" dirty="0">
                <a:solidFill>
                  <a:srgbClr val="FF0000"/>
                </a:solidFill>
              </a:rPr>
              <a:t>5</a:t>
            </a:r>
            <a:endParaRPr lang="zh-CN" altLang="en-US" sz="2400" b="1" dirty="0">
              <a:solidFill>
                <a:srgbClr val="FF0000"/>
              </a:solidFill>
            </a:endParaRPr>
          </a:p>
        </p:txBody>
      </p:sp>
      <p:sp>
        <p:nvSpPr>
          <p:cNvPr id="44" name="文本框 43"/>
          <p:cNvSpPr txBox="1"/>
          <p:nvPr/>
        </p:nvSpPr>
        <p:spPr>
          <a:xfrm>
            <a:off x="1294176" y="2971901"/>
            <a:ext cx="279493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b="1" dirty="0"/>
              <a:t>比</a:t>
            </a:r>
            <a:r>
              <a:rPr lang="en-US" altLang="zh-CN" b="1" dirty="0"/>
              <a:t>Key</a:t>
            </a:r>
            <a:r>
              <a:rPr lang="zh-CN" altLang="en-US" b="1" dirty="0"/>
              <a:t>大的数字往后挪一位</a:t>
            </a:r>
            <a:endParaRPr lang="zh-CN" altLang="en-US" b="1" dirty="0"/>
          </a:p>
        </p:txBody>
      </p:sp>
      <p:sp>
        <p:nvSpPr>
          <p:cNvPr id="45" name="箭头: 下 44"/>
          <p:cNvSpPr/>
          <p:nvPr/>
        </p:nvSpPr>
        <p:spPr>
          <a:xfrm>
            <a:off x="4229099" y="2970858"/>
            <a:ext cx="457200" cy="47551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矩形 30"/>
          <p:cNvSpPr/>
          <p:nvPr/>
        </p:nvSpPr>
        <p:spPr>
          <a:xfrm>
            <a:off x="1275888" y="1821223"/>
            <a:ext cx="5162504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38" name="表格 37"/>
          <p:cNvGraphicFramePr>
            <a:graphicFrameLocks noGrp="1"/>
          </p:cNvGraphicFramePr>
          <p:nvPr/>
        </p:nvGraphicFramePr>
        <p:xfrm>
          <a:off x="1293157" y="1858563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46" name="文本框 45"/>
          <p:cNvSpPr txBox="1"/>
          <p:nvPr/>
        </p:nvSpPr>
        <p:spPr>
          <a:xfrm>
            <a:off x="6072362" y="2569057"/>
            <a:ext cx="84747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b="1" dirty="0"/>
              <a:t>Key=45</a:t>
            </a:r>
            <a:endParaRPr lang="zh-CN" altLang="en-US" b="1" dirty="0"/>
          </a:p>
        </p:txBody>
      </p:sp>
      <p:sp>
        <p:nvSpPr>
          <p:cNvPr id="26" name="任意多边形: 形状 25"/>
          <p:cNvSpPr/>
          <p:nvPr/>
        </p:nvSpPr>
        <p:spPr>
          <a:xfrm rot="231759">
            <a:off x="6054120" y="2309119"/>
            <a:ext cx="768545" cy="203236"/>
          </a:xfrm>
          <a:custGeom>
            <a:avLst/>
            <a:gdLst>
              <a:gd name="connsiteX0" fmla="*/ 934720 w 934720"/>
              <a:gd name="connsiteY0" fmla="*/ 0 h 112333"/>
              <a:gd name="connsiteX1" fmla="*/ 502920 w 934720"/>
              <a:gd name="connsiteY1" fmla="*/ 111760 h 112333"/>
              <a:gd name="connsiteX2" fmla="*/ 0 w 934720"/>
              <a:gd name="connsiteY2" fmla="*/ 35560 h 11233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4720" h="112333">
                <a:moveTo>
                  <a:pt x="934720" y="0"/>
                </a:moveTo>
                <a:cubicBezTo>
                  <a:pt x="796713" y="52916"/>
                  <a:pt x="658707" y="105833"/>
                  <a:pt x="502920" y="111760"/>
                </a:cubicBezTo>
                <a:cubicBezTo>
                  <a:pt x="347133" y="117687"/>
                  <a:pt x="173566" y="76623"/>
                  <a:pt x="0" y="35560"/>
                </a:cubicBezTo>
              </a:path>
            </a:pathLst>
          </a:custGeom>
          <a:noFill/>
          <a:ln w="57150">
            <a:headEnd type="none" w="med" len="med"/>
            <a:tailEnd type="arrow" w="med" len="me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0" name="矩形 39"/>
          <p:cNvSpPr/>
          <p:nvPr/>
        </p:nvSpPr>
        <p:spPr>
          <a:xfrm>
            <a:off x="1275887" y="3604303"/>
            <a:ext cx="6190777" cy="542168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aphicFrame>
        <p:nvGraphicFramePr>
          <p:cNvPr id="42" name="表格 41"/>
          <p:cNvGraphicFramePr>
            <a:graphicFrameLocks noGrp="1"/>
          </p:cNvGraphicFramePr>
          <p:nvPr/>
        </p:nvGraphicFramePr>
        <p:xfrm>
          <a:off x="1293157" y="3641643"/>
          <a:ext cx="6096000" cy="45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6000"/>
                <a:gridCol w="1016000"/>
                <a:gridCol w="1016000"/>
                <a:gridCol w="1016000"/>
                <a:gridCol w="1016000"/>
                <a:gridCol w="1016000"/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10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22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34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45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defRPr/>
                      </a:pPr>
                      <a:r>
                        <a:rPr lang="en-US" altLang="zh-CN" sz="2400" dirty="0">
                          <a:solidFill>
                            <a:srgbClr val="0033CC"/>
                          </a:solidFill>
                          <a:latin typeface="Arial" panose="020B0604020202020204"/>
                          <a:ea typeface="Arial Unicode MS" pitchFamily="34" charset="-122"/>
                          <a:cs typeface="Arial Unicode MS" pitchFamily="34" charset="-122"/>
                        </a:rPr>
                        <a:t>89</a:t>
                      </a:r>
                      <a:endParaRPr lang="zh-CN" altLang="en-US" sz="2400" dirty="0">
                        <a:solidFill>
                          <a:srgbClr val="0033CC"/>
                        </a:solidFill>
                        <a:latin typeface="Arial" panose="020B0604020202020204"/>
                        <a:ea typeface="Arial Unicode MS" pitchFamily="34" charset="-122"/>
                        <a:cs typeface="Arial Unicode MS" pitchFamily="34" charset="-122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0" grpId="0"/>
      <p:bldP spid="44" grpId="0"/>
      <p:bldP spid="45" grpId="0" animBg="1"/>
      <p:bldP spid="46" grpId="0"/>
      <p:bldP spid="26" grpId="0" animBg="1"/>
      <p:bldP spid="40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圆角矩形 1"/>
          <p:cNvSpPr/>
          <p:nvPr/>
        </p:nvSpPr>
        <p:spPr>
          <a:xfrm>
            <a:off x="628650" y="1301126"/>
            <a:ext cx="7587537" cy="4701722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// 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数组待排序的区域：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[left, right]</a:t>
            </a:r>
            <a:endParaRPr lang="en-US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  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, j, key;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  // left ~ j：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已有序；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i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待插入元素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= left +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&lt;= right;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++)	//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key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j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-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        // </a:t>
            </a:r>
            <a:r>
              <a:rPr lang="en-US" sz="2000" dirty="0" err="1">
                <a:solidFill>
                  <a:srgbClr val="008000"/>
                </a:solidFill>
                <a:latin typeface="Consolas" panose="020B0609020204030204" pitchFamily="49" charset="0"/>
              </a:rPr>
              <a:t>left~j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的范围内从后往前找到</a:t>
            </a:r>
            <a:r>
              <a:rPr 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key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应该插入的位置</a:t>
            </a:r>
            <a:endParaRPr lang="en-US" altLang="zh-CN" sz="2000" dirty="0">
              <a:solidFill>
                <a:srgbClr val="008000"/>
              </a:solidFill>
              <a:latin typeface="Consolas" panose="020B0609020204030204" pitchFamily="49" charset="0"/>
            </a:endParaRPr>
          </a:p>
          <a:p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	// 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比较过的元素往后移动</a:t>
            </a:r>
            <a:r>
              <a:rPr lang="en-US" altLang="zh-CN" sz="2000" dirty="0">
                <a:solidFill>
                  <a:srgbClr val="008000"/>
                </a:solidFill>
                <a:latin typeface="Consolas" panose="020B0609020204030204" pitchFamily="49" charset="0"/>
              </a:rPr>
              <a:t>1</a:t>
            </a:r>
            <a:r>
              <a:rPr lang="zh-CN" altLang="en-US" sz="2000" dirty="0">
                <a:solidFill>
                  <a:srgbClr val="008000"/>
                </a:solidFill>
                <a:latin typeface="Consolas" panose="020B0609020204030204" pitchFamily="49" charset="0"/>
              </a:rPr>
              <a:t>位</a:t>
            </a:r>
            <a:endParaRPr lang="zh-CN" alt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zh-CN" alt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 ((j &gt;= left) &amp;&amp; (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[j] &gt; key))       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{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[j +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[j];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    j--;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}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    </a:t>
            </a:r>
            <a:r>
              <a:rPr lang="en-US" sz="2000" dirty="0" err="1">
                <a:solidFill>
                  <a:srgbClr val="000000"/>
                </a:solidFill>
                <a:latin typeface="Consolas" panose="020B0609020204030204" pitchFamily="49" charset="0"/>
              </a:rPr>
              <a:t>arr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[j + </a:t>
            </a:r>
            <a:r>
              <a:rPr lang="en-US" sz="2000" dirty="0">
                <a:solidFill>
                  <a:srgbClr val="098658"/>
                </a:solidFill>
                <a:latin typeface="Consolas" panose="020B0609020204030204" pitchFamily="49" charset="0"/>
              </a:rPr>
              <a:t>1</a:t>
            </a:r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] = key;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r>
              <a:rPr lang="en-US" sz="2000" dirty="0">
                <a:solidFill>
                  <a:srgbClr val="000000"/>
                </a:solidFill>
                <a:latin typeface="Consolas" panose="020B0609020204030204" pitchFamily="49" charset="0"/>
              </a:rPr>
              <a:t>    }</a:t>
            </a:r>
            <a:endParaRPr lang="en-US" sz="20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3" name="标题 2"/>
          <p:cNvSpPr txBox="1"/>
          <p:nvPr/>
        </p:nvSpPr>
        <p:spPr>
          <a:xfrm>
            <a:off x="628650" y="365126"/>
            <a:ext cx="7886700" cy="936000"/>
          </a:xfrm>
          <a:prstGeom prst="rect">
            <a:avLst/>
          </a:prstGeom>
        </p:spPr>
        <p:txBody>
          <a:bodyPr/>
          <a:lstStyle>
            <a:lvl1pPr algn="l" defTabSz="6858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gradFill>
                  <a:gsLst>
                    <a:gs pos="0">
                      <a:srgbClr val="CC33CC"/>
                    </a:gs>
                    <a:gs pos="62000">
                      <a:srgbClr val="101C9E"/>
                    </a:gs>
                  </a:gsLst>
                  <a:lin ang="8100000" scaled="1"/>
                </a:gradFill>
                <a:latin typeface="微软雅黑" panose="020B0503020204020204" pitchFamily="34" charset="-122"/>
                <a:ea typeface="微软雅黑" panose="020B0503020204020204" pitchFamily="34" charset="-122"/>
                <a:cs typeface="+mj-cs"/>
              </a:defRPr>
            </a:lvl1pPr>
          </a:lstStyle>
          <a:p>
            <a:r>
              <a:rPr lang="zh-CN" altLang="en-US" dirty="0"/>
              <a:t>插入排序的核心代码</a:t>
            </a:r>
            <a:endParaRPr lang="zh-CN" altLang="en-US" dirty="0"/>
          </a:p>
        </p:txBody>
      </p:sp>
      <p:sp>
        <p:nvSpPr>
          <p:cNvPr id="4" name="文本框 3"/>
          <p:cNvSpPr txBox="1"/>
          <p:nvPr/>
        </p:nvSpPr>
        <p:spPr>
          <a:xfrm>
            <a:off x="4879691" y="365126"/>
            <a:ext cx="4264309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800" dirty="0"/>
              <a:t>最坏</a:t>
            </a:r>
            <a:r>
              <a:rPr lang="en-US" altLang="zh-CN" sz="2800" dirty="0"/>
              <a:t>/</a:t>
            </a:r>
            <a:r>
              <a:rPr lang="zh-CN" altLang="en-US" sz="2800" dirty="0"/>
              <a:t>最好时间复杂度是？</a:t>
            </a:r>
            <a:endParaRPr lang="zh-CN" altLang="en-US" sz="2800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508" name="Picture 4" descr="âéæ©æåºâçå¾çæç´¢ç»æ"/>
          <p:cNvPicPr>
            <a:picLocks noChangeAspect="1" noChangeArrowheads="1" noCrop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552" y="332656"/>
            <a:ext cx="2404888" cy="240488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0" name="Picture 6" descr="Bubble sort animation.gif"/>
          <p:cNvPicPr>
            <a:picLocks noChangeAspect="1" noChangeArrowheads="1" noCrop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83414" y="2060848"/>
            <a:ext cx="266700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512" name="Picture 8" descr="Insertion sort animation.gif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163596" y="3933056"/>
            <a:ext cx="2667000" cy="22574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/>
          <p:cNvSpPr txBox="1"/>
          <p:nvPr/>
        </p:nvSpPr>
        <p:spPr>
          <a:xfrm>
            <a:off x="805503" y="4159156"/>
            <a:ext cx="2520280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600" dirty="0"/>
              <a:t>冒泡排序</a:t>
            </a:r>
            <a:endParaRPr lang="en-US" altLang="zh-C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600" dirty="0"/>
              <a:t>插入排序</a:t>
            </a:r>
            <a:endParaRPr lang="en-US" altLang="zh-CN" sz="36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zh-CN" altLang="en-US" sz="3600" dirty="0"/>
              <a:t>选择排序</a:t>
            </a:r>
            <a:endParaRPr lang="en-US" altLang="zh-CN" sz="3600" dirty="0"/>
          </a:p>
          <a:p>
            <a:endParaRPr 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6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5" dur="2000"/>
                                        <p:tgtEl>
                                          <p:spTgt spid="215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768839"/>
          </a:xfrm>
        </p:spPr>
        <p:txBody>
          <a:bodyPr/>
          <a:lstStyle/>
          <a:p>
            <a:r>
              <a:rPr lang="zh-CN" altLang="en-US" dirty="0"/>
              <a:t>排序和查找算法应用举例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322479"/>
            <a:ext cx="8280000" cy="4977522"/>
          </a:xfrm>
        </p:spPr>
        <p:txBody>
          <a:bodyPr/>
          <a:lstStyle/>
          <a:p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选择排序</a:t>
            </a:r>
            <a:r>
              <a:rPr lang="zh-CN" altLang="en-US" dirty="0"/>
              <a:t>将通讯录按学号信息排序</a:t>
            </a:r>
            <a:endParaRPr lang="zh-CN" altLang="en-US" dirty="0"/>
          </a:p>
        </p:txBody>
      </p:sp>
      <p:sp>
        <p:nvSpPr>
          <p:cNvPr id="5" name="圆角矩形 4"/>
          <p:cNvSpPr/>
          <p:nvPr/>
        </p:nvSpPr>
        <p:spPr>
          <a:xfrm>
            <a:off x="481613" y="1799915"/>
            <a:ext cx="8230387" cy="4752528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#include &lt;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stdio.h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enum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bai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chaoxian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tujia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} Nation;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 int year; int month; int day; } Date;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typedef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struct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char name[20];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char sex;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char class;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Nation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nation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age;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Date birthday;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 Student;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int main()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char nations[][10] = {"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bai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 "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chaoxian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 "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 "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tujia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", "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yao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"};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Student students[] =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{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{2021123456, "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ZhangSan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", 'F', 'T',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han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18, {2003, 8, 1}},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{2021200834, "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LiSi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", 'M', 'D',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yao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19, {2002, 6, 25}},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};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圆角矩形 4"/>
          <p:cNvSpPr/>
          <p:nvPr/>
        </p:nvSpPr>
        <p:spPr>
          <a:xfrm>
            <a:off x="372705" y="776984"/>
            <a:ext cx="8242485" cy="5039922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j, min;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Student temp;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for (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0;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 - 1;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 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min =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for (j =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+ 1; j &lt;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if (students[min].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&gt; students[j].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min = j;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if (min !=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temp = students[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students[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 = students[min];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students[min] = temp;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for (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= 0;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&lt;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(Student);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("%d %s %c %c %s %d %d-%d-%d\n",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].name,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].sex, 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].class,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nations[students[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].nation], 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].age,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birthday.year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birthday.month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students[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birthday.day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br>
              <a:rPr lang="en-US" altLang="zh-CN" sz="1100" dirty="0"/>
            </a:br>
            <a:endParaRPr lang="en-US" altLang="zh-CN" sz="1100" dirty="0"/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排序和查找算法应用举例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2. </a:t>
            </a:r>
            <a:r>
              <a:rPr lang="zh-CN" altLang="en-US" dirty="0"/>
              <a:t>使用</a:t>
            </a:r>
            <a:r>
              <a:rPr lang="zh-CN" altLang="en-US" dirty="0">
                <a:solidFill>
                  <a:srgbClr val="FF0000"/>
                </a:solidFill>
              </a:rPr>
              <a:t>冒泡排序</a:t>
            </a:r>
            <a:r>
              <a:rPr lang="zh-CN" altLang="en-US" dirty="0"/>
              <a:t>将通讯录按姓名信息排序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197776" y="2111541"/>
            <a:ext cx="8640960" cy="3126842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</a:t>
            </a:r>
            <a:r>
              <a:rPr lang="en-US" altLang="zh-CN" sz="15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, j;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latin typeface="Courier New" panose="02070309020205020404" pitchFamily="49" charset="0"/>
                <a:cs typeface="Courier New" panose="02070309020205020404" pitchFamily="49" charset="0"/>
              </a:rPr>
              <a:t>  Student temp;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for (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0; 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 - 1; 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{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for (j = 0; j &lt; 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 - 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- 1; </a:t>
            </a:r>
            <a:r>
              <a:rPr lang="en-US" altLang="zh-CN" sz="15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if (</a:t>
            </a:r>
            <a:r>
              <a:rPr lang="en-US" altLang="zh-CN" sz="1500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strcmp</a:t>
            </a:r>
            <a:r>
              <a:rPr lang="en-US" altLang="zh-CN" sz="1500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(students[j].name, students[j + 1].name) &gt; 0</a:t>
            </a: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{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temp = students[j];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students[j] = students[j + 1];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students[j + 1] = temp;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}</a:t>
            </a:r>
            <a:endParaRPr lang="en-US" altLang="zh-CN" sz="15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5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}</a:t>
            </a:r>
            <a:endParaRPr lang="en-US" altLang="zh-CN" sz="15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4" name="箭头: 右 3"/>
          <p:cNvSpPr/>
          <p:nvPr/>
        </p:nvSpPr>
        <p:spPr>
          <a:xfrm>
            <a:off x="1163256" y="3429000"/>
            <a:ext cx="231494" cy="24596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62073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排序和查找算法应用举例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255521"/>
            <a:ext cx="8280000" cy="5044480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多字段排序</a:t>
            </a:r>
            <a:r>
              <a:rPr lang="en-US" altLang="zh-CN" dirty="0"/>
              <a:t>——</a:t>
            </a:r>
            <a:r>
              <a:rPr lang="zh-CN" altLang="en-US" dirty="0"/>
              <a:t>按生日排序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251520" y="1731469"/>
            <a:ext cx="8640960" cy="4968552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j;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int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is_big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encode1, encode2;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Student temp;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for (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0;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 - 1;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for (j = 0; j &lt;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 -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- 1;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   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encode1 = students[j].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birthday.year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* 10000 + students[j].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birthday.month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* 100 +</a:t>
            </a:r>
            <a:r>
              <a:rPr lang="en-US" altLang="zh-CN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</a:t>
            </a:r>
            <a:endParaRPr lang="en-US" altLang="zh-CN" sz="1100" b="1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students[j].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birthday.day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b="1" u="sng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           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encode2 = students[j+1].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birthday.year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* 10000 + students[j+1].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birthday.month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* 100 +</a:t>
            </a:r>
            <a:endParaRPr lang="en-US" altLang="zh-CN" sz="1100" b="1" u="sng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b="1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students[j + 1].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birthday.day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b="1" u="sng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7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if (encode1 &lt; encode2)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temp = students[j];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students[j] = students[j + 1];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students[j + 1] = temp;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线形标注 2 6"/>
          <p:cNvSpPr/>
          <p:nvPr/>
        </p:nvSpPr>
        <p:spPr>
          <a:xfrm>
            <a:off x="6084168" y="5085184"/>
            <a:ext cx="2554858" cy="7200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3432"/>
              <a:gd name="adj6" fmla="val -447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巧用自定义编码</a:t>
            </a:r>
            <a:endParaRPr lang="en-US" altLang="zh-CN" dirty="0"/>
          </a:p>
          <a:p>
            <a:pPr algn="ctr"/>
            <a:r>
              <a:rPr lang="zh-CN" altLang="en-US" dirty="0"/>
              <a:t>进行多字段排序</a:t>
            </a:r>
            <a:endParaRPr lang="zh-CN" altLang="en-US" dirty="0"/>
          </a:p>
        </p:txBody>
      </p:sp>
      <p:sp>
        <p:nvSpPr>
          <p:cNvPr id="9" name="云形 8"/>
          <p:cNvSpPr/>
          <p:nvPr/>
        </p:nvSpPr>
        <p:spPr>
          <a:xfrm>
            <a:off x="5745745" y="229216"/>
            <a:ext cx="3231704" cy="115212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360000" rtlCol="0" anchor="ctr"/>
          <a:lstStyle/>
          <a:p>
            <a:r>
              <a:rPr lang="zh-CN" altLang="en-US" dirty="0"/>
              <a:t>适用场景：各字段类型相同且取值范围固定</a:t>
            </a:r>
            <a:endParaRPr lang="en-US" altLang="zh-CN" dirty="0"/>
          </a:p>
          <a:p>
            <a:pPr algn="ctr"/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9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460366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排序和查找算法应用举例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002535"/>
            <a:ext cx="8280000" cy="5297465"/>
          </a:xfrm>
        </p:spPr>
        <p:txBody>
          <a:bodyPr/>
          <a:lstStyle/>
          <a:p>
            <a:r>
              <a:rPr lang="en-US" altLang="zh-CN" dirty="0"/>
              <a:t>3. </a:t>
            </a:r>
            <a:r>
              <a:rPr lang="zh-CN" altLang="en-US" dirty="0"/>
              <a:t>多字段排序</a:t>
            </a:r>
            <a:r>
              <a:rPr lang="en-US" altLang="zh-CN" dirty="0"/>
              <a:t>——</a:t>
            </a:r>
            <a:r>
              <a:rPr lang="zh-CN" altLang="en-US" dirty="0"/>
              <a:t>按生日排序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251520" y="1597446"/>
            <a:ext cx="8640960" cy="5215930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j;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int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is_big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diff_year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diff_month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diff_day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Student temp;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for (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0;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 - 1;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for (j = 0; j &lt;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 -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- 1;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j++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diff_year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students[j].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birthday.year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- students[j + 1].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birthday.year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         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diff_month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students[j].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birthday.month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- students[j + 1].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birthday.month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           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diff_day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students[j].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birthday.day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- students[j + 1].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birthday.day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7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is_big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(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diff_year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!= 0 ? 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diff_year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0 : </a:t>
            </a:r>
            <a:endParaRPr lang="en-US" altLang="zh-CN" sz="1100" b="1" u="sng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                           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diff_month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!= 0 ? 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diff_month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0 : </a:t>
            </a:r>
            <a:r>
              <a:rPr lang="en-US" altLang="zh-CN" sz="1100" b="1" u="sng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diff_day</a:t>
            </a:r>
            <a:r>
              <a:rPr lang="en-US" altLang="zh-CN" sz="1100" b="1" u="sng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0));</a:t>
            </a:r>
            <a:endParaRPr lang="en-US" altLang="zh-CN" sz="1100" b="1" u="sng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6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if (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is_big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temp = students[j];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students[j] = students[j + 1];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    students[j + 1] = temp;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5" name="线形标注 2 4"/>
          <p:cNvSpPr/>
          <p:nvPr/>
        </p:nvSpPr>
        <p:spPr>
          <a:xfrm>
            <a:off x="6084168" y="5409788"/>
            <a:ext cx="2554858" cy="720080"/>
          </a:xfrm>
          <a:prstGeom prst="border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113432"/>
              <a:gd name="adj6" fmla="val -44768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dirty="0"/>
              <a:t>巧用逻辑表达式</a:t>
            </a:r>
            <a:endParaRPr lang="en-US" altLang="zh-CN" dirty="0"/>
          </a:p>
          <a:p>
            <a:pPr algn="ctr"/>
            <a:r>
              <a:rPr lang="zh-CN" altLang="en-US" dirty="0"/>
              <a:t>进行多字段排序</a:t>
            </a:r>
            <a:endParaRPr lang="zh-CN" altLang="en-US" dirty="0"/>
          </a:p>
        </p:txBody>
      </p:sp>
      <p:sp>
        <p:nvSpPr>
          <p:cNvPr id="8" name="云形 7"/>
          <p:cNvSpPr/>
          <p:nvPr/>
        </p:nvSpPr>
        <p:spPr>
          <a:xfrm>
            <a:off x="5745745" y="1021382"/>
            <a:ext cx="3231704" cy="1152128"/>
          </a:xfrm>
          <a:prstGeom prst="cloud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tIns="180000" rtlCol="0" anchor="ctr"/>
          <a:lstStyle/>
          <a:p>
            <a:r>
              <a:rPr lang="zh-CN" altLang="en-US" dirty="0"/>
              <a:t>相比于自定义编码的方式更为通用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432000" y="432000"/>
            <a:ext cx="8230387" cy="515451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排序和查找算法应用举例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32000" y="1134737"/>
            <a:ext cx="8280000" cy="5165263"/>
          </a:xfrm>
        </p:spPr>
        <p:txBody>
          <a:bodyPr/>
          <a:lstStyle/>
          <a:p>
            <a:r>
              <a:rPr lang="en-US" altLang="zh-CN" dirty="0"/>
              <a:t>4. </a:t>
            </a:r>
            <a:r>
              <a:rPr lang="zh-CN" altLang="en-US" dirty="0"/>
              <a:t>顺序查找学号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51309" y="1691488"/>
            <a:ext cx="8311078" cy="4608512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found = -1;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for (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= 0;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(Student) - 1; 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++)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if (students[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== 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found = 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    break;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 (found &gt;= 0) 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("%d %s %c %c %s %d %d-%d-%d\n",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students[found].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students[found].name,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students[found].sex, students[found].class,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nations[students[found].nation], students[found].age,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students[found].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birthday.year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students[found].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birthday.month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 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         students[found].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birthday.day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 startAt="21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} else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printf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("not found\n");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排序和查找算法应用举例</a:t>
            </a:r>
            <a:endParaRPr lang="zh-CN" altLang="en-US" dirty="0"/>
          </a:p>
        </p:txBody>
      </p:sp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5. </a:t>
            </a:r>
            <a:r>
              <a:rPr lang="zh-CN" altLang="en-US" dirty="0"/>
              <a:t>折半查找学号</a:t>
            </a:r>
            <a:endParaRPr lang="zh-CN" altLang="en-US" dirty="0"/>
          </a:p>
          <a:p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251520" y="2060848"/>
            <a:ext cx="8640960" cy="4176464"/>
          </a:xfrm>
          <a:prstGeom prst="roundRect">
            <a:avLst>
              <a:gd name="adj" fmla="val 1628"/>
            </a:avLst>
          </a:prstGeom>
          <a:solidFill>
            <a:sysClr val="window" lastClr="FFFFFF"/>
          </a:solidFill>
          <a:ln w="12700" cap="flat" cmpd="sng" algn="ctr">
            <a:solidFill>
              <a:srgbClr val="E84C22"/>
            </a:solidFill>
            <a:prstDash val="solid"/>
            <a:miter lim="800000"/>
          </a:ln>
          <a:effectLst/>
        </p:spPr>
        <p:txBody>
          <a:bodyPr rtlCol="0" anchor="t"/>
          <a:lstStyle/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i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, found = -1;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low = 0, high =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(students) / 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sizeof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(Student) - 1;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  int mid;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scanf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("%d", &amp;</a:t>
            </a:r>
            <a:r>
              <a:rPr lang="en-US" altLang="zh-CN" sz="1100" dirty="0" err="1"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latin typeface="Courier New" panose="02070309020205020404" pitchFamily="49" charset="0"/>
                <a:cs typeface="Courier New" panose="02070309020205020404" pitchFamily="49" charset="0"/>
              </a:rPr>
              <a:t>);</a:t>
            </a: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while (low &lt;= high)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mid = (low + high) / 2;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if (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&gt; students[mid].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low = mid + 1;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else if (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&lt; students[mid].</a:t>
            </a:r>
            <a:r>
              <a:rPr lang="en-US" altLang="zh-CN" sz="1100" dirty="0" err="1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sno</a:t>
            </a: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high = mid - 1;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else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{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found = mid;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    break;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     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r>
              <a:rPr lang="en-US" altLang="zh-CN" sz="1100" dirty="0">
                <a:solidFill>
                  <a:srgbClr val="FF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  }</a:t>
            </a: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228600" indent="-228600" algn="just" fontAlgn="base">
              <a:lnSpc>
                <a:spcPct val="125000"/>
              </a:lnSpc>
              <a:spcBef>
                <a:spcPct val="0"/>
              </a:spcBef>
              <a:spcAft>
                <a:spcPct val="0"/>
              </a:spcAft>
              <a:buClr>
                <a:schemeClr val="bg1">
                  <a:lumMod val="65000"/>
                </a:schemeClr>
              </a:buClr>
              <a:buFont typeface="+mj-lt"/>
              <a:buAutoNum type="arabicPeriod"/>
              <a:defRPr/>
            </a:pPr>
            <a:endParaRPr lang="en-US" altLang="zh-CN" sz="1100" dirty="0">
              <a:solidFill>
                <a:srgbClr val="FF000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课程PPT模板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雅黑-Calibri">
      <a:majorFont>
        <a:latin typeface="Calibri"/>
        <a:ea typeface="微软雅黑"/>
        <a:cs typeface=""/>
      </a:majorFont>
      <a:minorFont>
        <a:latin typeface="Calibri Light"/>
        <a:ea typeface="微软雅黑 Light"/>
        <a:cs typeface="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8954</Words>
  <Application>WPS 演示</Application>
  <PresentationFormat>On-screen Show (4:3)</PresentationFormat>
  <Paragraphs>1645</Paragraphs>
  <Slides>40</Slides>
  <Notes>26</Notes>
  <HiddenSlides>0</HiddenSlides>
  <MMClips>0</MMClips>
  <ScaleCrop>false</ScaleCrop>
  <HeadingPairs>
    <vt:vector size="6" baseType="variant">
      <vt:variant>
        <vt:lpstr>已用的字体</vt:lpstr>
      </vt:variant>
      <vt:variant>
        <vt:i4>21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40</vt:i4>
      </vt:variant>
    </vt:vector>
  </HeadingPairs>
  <TitlesOfParts>
    <vt:vector size="62" baseType="lpstr">
      <vt:lpstr>Arial</vt:lpstr>
      <vt:lpstr>宋体</vt:lpstr>
      <vt:lpstr>Wingdings</vt:lpstr>
      <vt:lpstr>Calibri</vt:lpstr>
      <vt:lpstr>Lato</vt:lpstr>
      <vt:lpstr>Constantia</vt:lpstr>
      <vt:lpstr>Arial</vt:lpstr>
      <vt:lpstr>Arial Unicode MS</vt:lpstr>
      <vt:lpstr>Consolas</vt:lpstr>
      <vt:lpstr>微软雅黑</vt:lpstr>
      <vt:lpstr>Times New Roman</vt:lpstr>
      <vt:lpstr>Open Sans</vt:lpstr>
      <vt:lpstr>Segoe Print</vt:lpstr>
      <vt:lpstr>隶书</vt:lpstr>
      <vt:lpstr>楷体_GB2312</vt:lpstr>
      <vt:lpstr>新宋体</vt:lpstr>
      <vt:lpstr>Calibri Light</vt:lpstr>
      <vt:lpstr>微软雅黑 Light</vt:lpstr>
      <vt:lpstr>Arial Unicode MS</vt:lpstr>
      <vt:lpstr>等线</vt:lpstr>
      <vt:lpstr>Courier New</vt:lpstr>
      <vt:lpstr>课程PPT模板</vt:lpstr>
      <vt:lpstr>14. 算法——查找与排序	</vt:lpstr>
      <vt:lpstr>6.1 查找</vt:lpstr>
      <vt:lpstr>6.1.1 顺序查找</vt:lpstr>
      <vt:lpstr>6.1.2 二分查找</vt:lpstr>
      <vt:lpstr>算法的效率</vt:lpstr>
      <vt:lpstr>搜索算法的效率</vt:lpstr>
      <vt:lpstr>练习：#1552 新二分查找</vt:lpstr>
      <vt:lpstr>6.2 排序</vt:lpstr>
      <vt:lpstr>6.2.1 选择排序</vt:lpstr>
      <vt:lpstr>第一轮：先找出序列中最小的一个放在i=0位置。</vt:lpstr>
      <vt:lpstr>第二轮：找出序列中次小的一个放在i=1位置。</vt:lpstr>
      <vt:lpstr>第三轮：找出序列中第三小的放在i=2位置。</vt:lpstr>
      <vt:lpstr>第四轮：找出序列中第四小的放在i=3位置。</vt:lpstr>
      <vt:lpstr>第五轮：找出序列中第五小的放在i=4位置。</vt:lpstr>
      <vt:lpstr>PowerPoint 演示文稿</vt:lpstr>
      <vt:lpstr>选择排序的效率</vt:lpstr>
      <vt:lpstr>练习：#453 数组排序</vt:lpstr>
      <vt:lpstr>6.2.2 冒泡排序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冒泡排序的效率*</vt:lpstr>
      <vt:lpstr>6.2.3 插入排序</vt:lpstr>
      <vt:lpstr>v</vt:lpstr>
      <vt:lpstr>v</vt:lpstr>
      <vt:lpstr>v</vt:lpstr>
      <vt:lpstr>v</vt:lpstr>
      <vt:lpstr>v</vt:lpstr>
      <vt:lpstr>PowerPoint 演示文稿</vt:lpstr>
      <vt:lpstr>PowerPoint 演示文稿</vt:lpstr>
      <vt:lpstr>排序和查找算法应用举例</vt:lpstr>
      <vt:lpstr>PowerPoint 演示文稿</vt:lpstr>
      <vt:lpstr>排序和查找算法应用举例</vt:lpstr>
      <vt:lpstr>排序和查找算法应用举例</vt:lpstr>
      <vt:lpstr>排序和查找算法应用举例</vt:lpstr>
      <vt:lpstr>排序和查找算法应用举例</vt:lpstr>
      <vt:lpstr>排序和查找算法应用举例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程序设计 I</dc:title>
  <dc:creator>sun hui</dc:creator>
  <cp:lastModifiedBy>Yi.</cp:lastModifiedBy>
  <cp:revision>1108</cp:revision>
  <dcterms:created xsi:type="dcterms:W3CDTF">2020-10-14T02:47:00Z</dcterms:created>
  <dcterms:modified xsi:type="dcterms:W3CDTF">2025-10-28T05:58:28Z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729F943748AD45DC926AB10DB2047DF9</vt:lpwstr>
  </property>
  <property fmtid="{D5CDD505-2E9C-101B-9397-08002B2CF9AE}" pid="3" name="KSOProductBuildVer">
    <vt:lpwstr>2052-11.1.0.12173</vt:lpwstr>
  </property>
</Properties>
</file>